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9850"/>
  <p:notesSz cx="9144000" cy="5149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332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33234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4695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4695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24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52741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3323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33234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4695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4695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2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9454"/>
            <a:ext cx="7290054" cy="1126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6617"/>
            <a:ext cx="3566160" cy="3021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6617"/>
            <a:ext cx="3566160" cy="3021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28418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6745"/>
            <a:ext cx="3566160" cy="61798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8589"/>
            <a:ext cx="3566160" cy="2509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6745"/>
            <a:ext cx="3566160" cy="61798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8589"/>
            <a:ext cx="3566160" cy="2509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1032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404092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218495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4068"/>
            <a:ext cx="3291840" cy="1304629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982"/>
            <a:ext cx="4258818" cy="389328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5220"/>
            <a:ext cx="3291840" cy="282520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22315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4696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33233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4696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33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92287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2206"/>
            <a:ext cx="1971675" cy="4062659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2206"/>
            <a:ext cx="5686425" cy="40626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925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573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33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3386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9454"/>
            <a:ext cx="7290054" cy="112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6617"/>
            <a:ext cx="7290055" cy="302124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9019"/>
            <a:ext cx="1615607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9019"/>
            <a:ext cx="4426094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9019"/>
            <a:ext cx="730250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20508"/>
            <a:ext cx="0" cy="6866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21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0579" y="182321"/>
            <a:ext cx="2290445" cy="5232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spc="-5" dirty="0"/>
              <a:t>Maintenance</a:t>
            </a:r>
            <a:endParaRPr sz="32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51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268" y="785317"/>
            <a:ext cx="8780145" cy="315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4475" algn="l"/>
              </a:tabLst>
            </a:pPr>
            <a:r>
              <a:rPr sz="3300" spc="10" dirty="0">
                <a:latin typeface="Calibri"/>
                <a:cs typeface="Calibri"/>
              </a:rPr>
              <a:t>Maintenance</a:t>
            </a:r>
            <a:r>
              <a:rPr sz="3300" spc="-45" dirty="0">
                <a:latin typeface="Calibri"/>
                <a:cs typeface="Calibri"/>
              </a:rPr>
              <a:t> </a:t>
            </a:r>
            <a:r>
              <a:rPr sz="3300" spc="10" dirty="0">
                <a:latin typeface="Calibri"/>
                <a:cs typeface="Calibri"/>
              </a:rPr>
              <a:t>of</a:t>
            </a:r>
            <a:r>
              <a:rPr sz="3300" spc="-10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any</a:t>
            </a:r>
            <a:r>
              <a:rPr sz="3300" spc="-1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software:</a:t>
            </a:r>
            <a:endParaRPr sz="3300">
              <a:latin typeface="Calibri"/>
              <a:cs typeface="Calibri"/>
            </a:endParaRPr>
          </a:p>
          <a:p>
            <a:pPr marL="514984" marR="5080" indent="-192405">
              <a:lnSpc>
                <a:spcPct val="120100"/>
              </a:lnSpc>
              <a:spcBef>
                <a:spcPts val="1764"/>
              </a:spcBef>
            </a:pPr>
            <a:r>
              <a:rPr sz="3000" spc="-1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Requires</a:t>
            </a:r>
            <a:r>
              <a:rPr sz="3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C00000"/>
                </a:solidFill>
                <a:latin typeface="Calibri"/>
                <a:cs typeface="Calibri"/>
              </a:rPr>
              <a:t>much</a:t>
            </a:r>
            <a:r>
              <a:rPr sz="3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sz="30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Calibri"/>
                <a:cs typeface="Calibri"/>
              </a:rPr>
              <a:t>effort</a:t>
            </a:r>
            <a:r>
              <a:rPr sz="3000" dirty="0">
                <a:solidFill>
                  <a:srgbClr val="C00000"/>
                </a:solidFill>
                <a:latin typeface="Calibri"/>
                <a:cs typeface="Calibri"/>
              </a:rPr>
              <a:t> than</a:t>
            </a:r>
            <a:r>
              <a:rPr sz="30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30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Calibri"/>
                <a:cs typeface="Calibri"/>
              </a:rPr>
              <a:t>effort</a:t>
            </a:r>
            <a:r>
              <a:rPr sz="3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3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develop </a:t>
            </a:r>
            <a:r>
              <a:rPr sz="3000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30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product</a:t>
            </a:r>
            <a:r>
              <a:rPr sz="30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30" dirty="0">
                <a:solidFill>
                  <a:srgbClr val="C00000"/>
                </a:solidFill>
                <a:latin typeface="Calibri"/>
                <a:cs typeface="Calibri"/>
              </a:rPr>
              <a:t>itself.</a:t>
            </a:r>
            <a:endParaRPr sz="3000">
              <a:latin typeface="Calibri"/>
              <a:cs typeface="Calibri"/>
            </a:endParaRPr>
          </a:p>
          <a:p>
            <a:pPr marL="514984" marR="50165" indent="-192405">
              <a:lnSpc>
                <a:spcPct val="120100"/>
              </a:lnSpc>
              <a:spcBef>
                <a:spcPts val="1610"/>
              </a:spcBef>
            </a:pPr>
            <a:r>
              <a:rPr sz="3000" spc="-1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Development </a:t>
            </a:r>
            <a:r>
              <a:rPr sz="3000" spc="-25" dirty="0">
                <a:solidFill>
                  <a:srgbClr val="C00000"/>
                </a:solidFill>
                <a:latin typeface="Calibri"/>
                <a:cs typeface="Calibri"/>
              </a:rPr>
              <a:t>effort </a:t>
            </a:r>
            <a:r>
              <a:rPr sz="3000" spc="-15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maintenance </a:t>
            </a:r>
            <a:r>
              <a:rPr sz="3000" spc="-25" dirty="0">
                <a:solidFill>
                  <a:srgbClr val="C00000"/>
                </a:solidFill>
                <a:latin typeface="Calibri"/>
                <a:cs typeface="Calibri"/>
              </a:rPr>
              <a:t>effort </a:t>
            </a:r>
            <a:r>
              <a:rPr sz="3000" dirty="0">
                <a:solidFill>
                  <a:srgbClr val="C00000"/>
                </a:solidFill>
                <a:latin typeface="Calibri"/>
                <a:cs typeface="Calibri"/>
              </a:rPr>
              <a:t>is typically </a:t>
            </a:r>
            <a:r>
              <a:rPr sz="3000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40:60.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7010" y="172034"/>
            <a:ext cx="39249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Types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15" dirty="0"/>
              <a:t>Maintenance?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52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556825"/>
            <a:ext cx="6790690" cy="373380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45110" algn="l"/>
              </a:tabLst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Corrective</a:t>
            </a:r>
            <a:r>
              <a:rPr sz="24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maintenance:</a:t>
            </a:r>
            <a:endParaRPr sz="24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810"/>
              </a:spcBef>
              <a:buFont typeface="Arial MT"/>
              <a:buChar char="–"/>
              <a:tabLst>
                <a:tab pos="516255" algn="l"/>
              </a:tabLst>
            </a:pPr>
            <a:r>
              <a:rPr sz="2000" spc="-15" dirty="0">
                <a:latin typeface="Calibri"/>
                <a:cs typeface="Calibri"/>
              </a:rPr>
              <a:t>Correct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errors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were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discovered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during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product</a:t>
            </a:r>
            <a:endParaRPr sz="2000">
              <a:latin typeface="Calibri"/>
              <a:cs typeface="Calibri"/>
            </a:endParaRPr>
          </a:p>
          <a:p>
            <a:pPr marL="51562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development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phases.</a:t>
            </a:r>
            <a:endParaRPr sz="20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4475" algn="l"/>
                <a:tab pos="245110" algn="l"/>
              </a:tabLst>
            </a:pPr>
            <a:r>
              <a:rPr sz="2300" b="1" spc="-20" dirty="0">
                <a:solidFill>
                  <a:srgbClr val="C00000"/>
                </a:solidFill>
                <a:latin typeface="Calibri"/>
                <a:cs typeface="Calibri"/>
              </a:rPr>
              <a:t>Perfective</a:t>
            </a:r>
            <a:r>
              <a:rPr sz="23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C00000"/>
                </a:solidFill>
                <a:latin typeface="Calibri"/>
                <a:cs typeface="Calibri"/>
              </a:rPr>
              <a:t>maintenance:</a:t>
            </a:r>
            <a:endParaRPr sz="23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830"/>
              </a:spcBef>
              <a:buFont typeface="Arial MT"/>
              <a:buChar char="–"/>
              <a:tabLst>
                <a:tab pos="516255" algn="l"/>
              </a:tabLst>
            </a:pPr>
            <a:r>
              <a:rPr sz="2000" spc="-15" dirty="0">
                <a:latin typeface="Calibri"/>
                <a:cs typeface="Calibri"/>
              </a:rPr>
              <a:t>Improve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implementation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795"/>
              </a:spcBef>
              <a:buFont typeface="Arial MT"/>
              <a:buChar char="–"/>
              <a:tabLst>
                <a:tab pos="516255" algn="l"/>
              </a:tabLst>
            </a:pPr>
            <a:r>
              <a:rPr sz="2000" spc="-5" dirty="0">
                <a:latin typeface="Calibri"/>
                <a:cs typeface="Calibri"/>
              </a:rPr>
              <a:t>enhance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functionalities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4475" algn="l"/>
                <a:tab pos="245110" algn="l"/>
              </a:tabLst>
            </a:pPr>
            <a:r>
              <a:rPr sz="2300" b="1" spc="-5" dirty="0">
                <a:solidFill>
                  <a:srgbClr val="C00000"/>
                </a:solidFill>
                <a:latin typeface="Calibri"/>
                <a:cs typeface="Calibri"/>
              </a:rPr>
              <a:t>Adaptive</a:t>
            </a:r>
            <a:r>
              <a:rPr sz="23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C00000"/>
                </a:solidFill>
                <a:latin typeface="Calibri"/>
                <a:cs typeface="Calibri"/>
              </a:rPr>
              <a:t>maintenance:</a:t>
            </a:r>
            <a:endParaRPr sz="23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830"/>
              </a:spcBef>
              <a:buFont typeface="Arial MT"/>
              <a:buChar char="–"/>
              <a:tabLst>
                <a:tab pos="516255" algn="l"/>
              </a:tabLst>
            </a:pPr>
            <a:r>
              <a:rPr sz="2000" spc="-20" dirty="0">
                <a:latin typeface="Calibri"/>
                <a:cs typeface="Calibri"/>
              </a:rPr>
              <a:t>Port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software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environment,</a:t>
            </a:r>
            <a:endParaRPr sz="2000">
              <a:latin typeface="Calibri"/>
              <a:cs typeface="Calibri"/>
            </a:endParaRPr>
          </a:p>
          <a:p>
            <a:pPr marL="789940" lvl="2" indent="-15621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790575" algn="l"/>
              </a:tabLst>
            </a:pPr>
            <a:r>
              <a:rPr sz="1800" dirty="0">
                <a:latin typeface="Calibri"/>
                <a:cs typeface="Calibri"/>
              </a:rPr>
              <a:t>e.g.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new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new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operating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9210" y="269570"/>
            <a:ext cx="400557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/>
              <a:t>Iterative</a:t>
            </a:r>
            <a:r>
              <a:rPr sz="3000" spc="-20" dirty="0"/>
              <a:t> </a:t>
            </a:r>
            <a:r>
              <a:rPr sz="3000" spc="-30" dirty="0"/>
              <a:t>Waterfall</a:t>
            </a:r>
            <a:r>
              <a:rPr sz="3000" spc="-50" dirty="0"/>
              <a:t> </a:t>
            </a:r>
            <a:r>
              <a:rPr sz="3000" spc="-5" dirty="0"/>
              <a:t>Model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53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963878"/>
            <a:ext cx="8924290" cy="297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5110" algn="l"/>
              </a:tabLst>
            </a:pPr>
            <a:r>
              <a:rPr sz="3000" spc="-5" dirty="0">
                <a:latin typeface="Calibri"/>
                <a:cs typeface="Calibri"/>
              </a:rPr>
              <a:t>Classical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waterfall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model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5" dirty="0">
                <a:latin typeface="Calibri"/>
                <a:cs typeface="Calibri"/>
              </a:rPr>
              <a:t>idealistic:</a:t>
            </a:r>
            <a:endParaRPr sz="3000">
              <a:latin typeface="Calibri"/>
              <a:cs typeface="Calibri"/>
            </a:endParaRPr>
          </a:p>
          <a:p>
            <a:pPr marL="515620" marR="1656080" indent="-192405">
              <a:lnSpc>
                <a:spcPct val="126000"/>
              </a:lnSpc>
              <a:spcBef>
                <a:spcPts val="1260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Assumes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that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no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defect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introduced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during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any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development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activity.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04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practice:</a:t>
            </a:r>
            <a:endParaRPr sz="27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790575" algn="l"/>
              </a:tabLst>
            </a:pPr>
            <a:r>
              <a:rPr sz="2450" spc="-15" dirty="0">
                <a:latin typeface="Calibri"/>
                <a:cs typeface="Calibri"/>
              </a:rPr>
              <a:t>Defects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do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get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introduced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almost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every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phase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life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cycle.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6664" y="214959"/>
            <a:ext cx="5368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Iterative</a:t>
            </a:r>
            <a:r>
              <a:rPr sz="3600" spc="-50" dirty="0"/>
              <a:t> </a:t>
            </a:r>
            <a:r>
              <a:rPr sz="3600" spc="-30" dirty="0"/>
              <a:t>Waterfall</a:t>
            </a:r>
            <a:r>
              <a:rPr sz="3600" spc="-25" dirty="0"/>
              <a:t> </a:t>
            </a:r>
            <a:r>
              <a:rPr sz="3600" dirty="0"/>
              <a:t>Model</a:t>
            </a:r>
            <a:r>
              <a:rPr sz="3600" spc="-40" dirty="0"/>
              <a:t> </a:t>
            </a:r>
            <a:r>
              <a:rPr sz="1100" spc="-10" dirty="0"/>
              <a:t>(CONT.)</a:t>
            </a:r>
            <a:endParaRPr sz="11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54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1016584"/>
            <a:ext cx="8836660" cy="302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5110" algn="l"/>
              </a:tabLst>
            </a:pPr>
            <a:r>
              <a:rPr sz="3000" spc="-20" dirty="0">
                <a:latin typeface="Calibri"/>
                <a:cs typeface="Calibri"/>
              </a:rPr>
              <a:t>Defects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usually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get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detected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much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later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life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cycle:</a:t>
            </a:r>
            <a:endParaRPr sz="3000">
              <a:latin typeface="Calibri"/>
              <a:cs typeface="Calibri"/>
            </a:endParaRPr>
          </a:p>
          <a:p>
            <a:pPr marL="515620" marR="539750" indent="-192405">
              <a:lnSpc>
                <a:spcPct val="126000"/>
              </a:lnSpc>
              <a:spcBef>
                <a:spcPts val="1865"/>
              </a:spcBef>
            </a:pPr>
            <a:r>
              <a:rPr sz="2700" spc="-10" dirty="0">
                <a:latin typeface="Arial MT"/>
                <a:cs typeface="Arial MT"/>
              </a:rPr>
              <a:t>–</a:t>
            </a:r>
            <a:r>
              <a:rPr sz="2700" spc="-10" dirty="0">
                <a:latin typeface="Calibri"/>
                <a:cs typeface="Calibri"/>
              </a:rPr>
              <a:t>For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example,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design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defect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might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go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unnoticed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till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coding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testing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phase.</a:t>
            </a:r>
            <a:endParaRPr sz="2700">
              <a:latin typeface="Calibri"/>
              <a:cs typeface="Calibri"/>
            </a:endParaRPr>
          </a:p>
          <a:p>
            <a:pPr marL="515620" marR="80010" indent="-192405">
              <a:lnSpc>
                <a:spcPct val="126000"/>
              </a:lnSpc>
              <a:spcBef>
                <a:spcPts val="1800"/>
              </a:spcBef>
            </a:pPr>
            <a:r>
              <a:rPr sz="2700" spc="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later</a:t>
            </a:r>
            <a:r>
              <a:rPr sz="27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phase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which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defect</a:t>
            </a:r>
            <a:r>
              <a:rPr sz="270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gets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detected,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700" b="1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more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expensive</a:t>
            </a:r>
            <a:r>
              <a:rPr sz="27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its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removal</a:t>
            </a:r>
            <a:r>
              <a:rPr sz="2700" b="1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---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 why?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1229" y="271652"/>
            <a:ext cx="481139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Iterative</a:t>
            </a:r>
            <a:r>
              <a:rPr spc="25" dirty="0"/>
              <a:t> </a:t>
            </a:r>
            <a:r>
              <a:rPr spc="-30" dirty="0"/>
              <a:t>Waterfall</a:t>
            </a:r>
            <a:r>
              <a:rPr spc="-10" dirty="0"/>
              <a:t> Model</a:t>
            </a:r>
            <a:r>
              <a:rPr spc="40" dirty="0"/>
              <a:t> </a:t>
            </a:r>
            <a:r>
              <a:rPr sz="1050" dirty="0"/>
              <a:t>(CONT.)</a:t>
            </a:r>
            <a:endParaRPr sz="1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55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773633"/>
            <a:ext cx="8163559" cy="33883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245110" algn="l"/>
              </a:tabLst>
            </a:pPr>
            <a:r>
              <a:rPr sz="2700" dirty="0">
                <a:latin typeface="Calibri"/>
                <a:cs typeface="Calibri"/>
              </a:rPr>
              <a:t>Once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defect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detected: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220"/>
              </a:spcBef>
            </a:pPr>
            <a:r>
              <a:rPr sz="2450" spc="35" dirty="0">
                <a:latin typeface="Arial MT"/>
                <a:cs typeface="Arial MT"/>
              </a:rPr>
              <a:t>–</a:t>
            </a:r>
            <a:r>
              <a:rPr sz="2450" spc="35" dirty="0">
                <a:latin typeface="Calibri"/>
                <a:cs typeface="Calibri"/>
              </a:rPr>
              <a:t>The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phase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which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it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occurred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needs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reworked.</a:t>
            </a:r>
            <a:endParaRPr sz="2450">
              <a:latin typeface="Calibri"/>
              <a:cs typeface="Calibri"/>
            </a:endParaRPr>
          </a:p>
          <a:p>
            <a:pPr marL="515620" marR="5080" indent="-192405">
              <a:lnSpc>
                <a:spcPct val="120100"/>
              </a:lnSpc>
              <a:spcBef>
                <a:spcPts val="1605"/>
              </a:spcBef>
            </a:pPr>
            <a:r>
              <a:rPr sz="2450" dirty="0">
                <a:latin typeface="Arial MT"/>
                <a:cs typeface="Arial MT"/>
              </a:rPr>
              <a:t>– </a:t>
            </a:r>
            <a:r>
              <a:rPr sz="2450" spc="-15" dirty="0">
                <a:latin typeface="Calibri"/>
                <a:cs typeface="Calibri"/>
              </a:rPr>
              <a:t>Redo </a:t>
            </a:r>
            <a:r>
              <a:rPr sz="2450" spc="-5" dirty="0">
                <a:latin typeface="Calibri"/>
                <a:cs typeface="Calibri"/>
              </a:rPr>
              <a:t>some of the </a:t>
            </a:r>
            <a:r>
              <a:rPr sz="2450" spc="-10" dirty="0">
                <a:latin typeface="Calibri"/>
                <a:cs typeface="Calibri"/>
              </a:rPr>
              <a:t>work </a:t>
            </a:r>
            <a:r>
              <a:rPr sz="2450" dirty="0">
                <a:latin typeface="Calibri"/>
                <a:cs typeface="Calibri"/>
              </a:rPr>
              <a:t>done during </a:t>
            </a:r>
            <a:r>
              <a:rPr sz="2450" spc="-5" dirty="0">
                <a:latin typeface="Calibri"/>
                <a:cs typeface="Calibri"/>
              </a:rPr>
              <a:t>that </a:t>
            </a:r>
            <a:r>
              <a:rPr sz="2450" dirty="0">
                <a:latin typeface="Calibri"/>
                <a:cs typeface="Calibri"/>
              </a:rPr>
              <a:t>and </a:t>
            </a:r>
            <a:r>
              <a:rPr sz="2450" spc="-5" dirty="0">
                <a:latin typeface="Calibri"/>
                <a:cs typeface="Calibri"/>
              </a:rPr>
              <a:t>all subsequent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phases.</a:t>
            </a:r>
            <a:endParaRPr sz="2450">
              <a:latin typeface="Calibri"/>
              <a:cs typeface="Calibri"/>
            </a:endParaRPr>
          </a:p>
          <a:p>
            <a:pPr marL="244475" marR="160655" indent="-232410">
              <a:lnSpc>
                <a:spcPct val="120800"/>
              </a:lnSpc>
              <a:spcBef>
                <a:spcPts val="1565"/>
              </a:spcBef>
              <a:buFont typeface="Arial MT"/>
              <a:buChar char="•"/>
              <a:tabLst>
                <a:tab pos="245110" algn="l"/>
              </a:tabLst>
            </a:pPr>
            <a:r>
              <a:rPr sz="2700" spc="-25" dirty="0">
                <a:latin typeface="Calibri"/>
                <a:cs typeface="Calibri"/>
              </a:rPr>
              <a:t>Therefore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need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feedback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paths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classical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waterfall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model.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2587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Iterative</a:t>
            </a:r>
            <a:r>
              <a:rPr spc="20" dirty="0"/>
              <a:t> </a:t>
            </a:r>
            <a:r>
              <a:rPr spc="-30" dirty="0"/>
              <a:t>Waterfall</a:t>
            </a:r>
            <a:r>
              <a:rPr spc="-15" dirty="0"/>
              <a:t> </a:t>
            </a:r>
            <a:r>
              <a:rPr spc="-10" dirty="0"/>
              <a:t>Model</a:t>
            </a:r>
            <a:r>
              <a:rPr spc="20" dirty="0"/>
              <a:t> </a:t>
            </a:r>
            <a:r>
              <a:rPr sz="1050" dirty="0"/>
              <a:t>(CONT.)</a:t>
            </a:r>
            <a:endParaRPr sz="1050"/>
          </a:p>
        </p:txBody>
      </p:sp>
      <p:grpSp>
        <p:nvGrpSpPr>
          <p:cNvPr id="3" name="object 3"/>
          <p:cNvGrpSpPr/>
          <p:nvPr/>
        </p:nvGrpSpPr>
        <p:grpSpPr>
          <a:xfrm>
            <a:off x="1721929" y="1215961"/>
            <a:ext cx="2252980" cy="442595"/>
            <a:chOff x="1721929" y="1215961"/>
            <a:chExt cx="2252980" cy="442595"/>
          </a:xfrm>
        </p:grpSpPr>
        <p:sp>
          <p:nvSpPr>
            <p:cNvPr id="4" name="object 4"/>
            <p:cNvSpPr/>
            <p:nvPr/>
          </p:nvSpPr>
          <p:spPr>
            <a:xfrm>
              <a:off x="1741932" y="1235963"/>
              <a:ext cx="2212975" cy="402590"/>
            </a:xfrm>
            <a:custGeom>
              <a:avLst/>
              <a:gdLst/>
              <a:ahLst/>
              <a:cxnLst/>
              <a:rect l="l" t="t" r="r" b="b"/>
              <a:pathLst>
                <a:path w="2212975" h="402589">
                  <a:moveTo>
                    <a:pt x="2212848" y="1270"/>
                  </a:moveTo>
                  <a:lnTo>
                    <a:pt x="2212721" y="1270"/>
                  </a:lnTo>
                  <a:lnTo>
                    <a:pt x="2212721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401320"/>
                  </a:lnTo>
                  <a:lnTo>
                    <a:pt x="381" y="401320"/>
                  </a:lnTo>
                  <a:lnTo>
                    <a:pt x="381" y="402590"/>
                  </a:lnTo>
                  <a:lnTo>
                    <a:pt x="2212454" y="402590"/>
                  </a:lnTo>
                  <a:lnTo>
                    <a:pt x="2212454" y="401320"/>
                  </a:lnTo>
                  <a:lnTo>
                    <a:pt x="2212848" y="401320"/>
                  </a:lnTo>
                  <a:lnTo>
                    <a:pt x="2212848" y="12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1932" y="1235963"/>
              <a:ext cx="2212975" cy="402590"/>
            </a:xfrm>
            <a:custGeom>
              <a:avLst/>
              <a:gdLst/>
              <a:ahLst/>
              <a:cxnLst/>
              <a:rect l="l" t="t" r="r" b="b"/>
              <a:pathLst>
                <a:path w="2212975" h="402589">
                  <a:moveTo>
                    <a:pt x="0" y="1650"/>
                  </a:moveTo>
                  <a:lnTo>
                    <a:pt x="0" y="762"/>
                  </a:lnTo>
                  <a:lnTo>
                    <a:pt x="762" y="0"/>
                  </a:lnTo>
                  <a:lnTo>
                    <a:pt x="1650" y="0"/>
                  </a:lnTo>
                  <a:lnTo>
                    <a:pt x="2211197" y="0"/>
                  </a:lnTo>
                  <a:lnTo>
                    <a:pt x="2212085" y="0"/>
                  </a:lnTo>
                  <a:lnTo>
                    <a:pt x="2212847" y="762"/>
                  </a:lnTo>
                  <a:lnTo>
                    <a:pt x="2212847" y="1650"/>
                  </a:lnTo>
                  <a:lnTo>
                    <a:pt x="2212847" y="400685"/>
                  </a:lnTo>
                  <a:lnTo>
                    <a:pt x="2212847" y="401574"/>
                  </a:lnTo>
                  <a:lnTo>
                    <a:pt x="2212085" y="402336"/>
                  </a:lnTo>
                  <a:lnTo>
                    <a:pt x="2211197" y="402336"/>
                  </a:lnTo>
                  <a:lnTo>
                    <a:pt x="1650" y="402336"/>
                  </a:lnTo>
                  <a:lnTo>
                    <a:pt x="762" y="402336"/>
                  </a:lnTo>
                  <a:lnTo>
                    <a:pt x="0" y="401574"/>
                  </a:lnTo>
                  <a:lnTo>
                    <a:pt x="0" y="400685"/>
                  </a:lnTo>
                  <a:lnTo>
                    <a:pt x="0" y="1650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8324" y="592835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05"/>
              </a:lnSpc>
            </a:pPr>
            <a:r>
              <a:rPr sz="1900" b="1" spc="-5" dirty="0">
                <a:latin typeface="Comic Sans MS"/>
                <a:cs typeface="Comic Sans MS"/>
              </a:rPr>
              <a:t>Feasibility</a:t>
            </a:r>
            <a:r>
              <a:rPr sz="1900" b="1" spc="30" dirty="0">
                <a:latin typeface="Comic Sans MS"/>
                <a:cs typeface="Comic Sans MS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Study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4123" y="1203401"/>
            <a:ext cx="17881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36930" algn="l"/>
              </a:tabLst>
            </a:pPr>
            <a:r>
              <a:rPr sz="1900" b="1" dirty="0">
                <a:latin typeface="Comic Sans MS"/>
                <a:cs typeface="Comic Sans MS"/>
              </a:rPr>
              <a:t>R</a:t>
            </a:r>
            <a:r>
              <a:rPr sz="1900" b="1" spc="-10" dirty="0">
                <a:latin typeface="Comic Sans MS"/>
                <a:cs typeface="Comic Sans MS"/>
              </a:rPr>
              <a:t>eq</a:t>
            </a:r>
            <a:r>
              <a:rPr sz="1900" b="1" spc="-5" dirty="0">
                <a:latin typeface="Comic Sans MS"/>
                <a:cs typeface="Comic Sans MS"/>
              </a:rPr>
              <a:t>.</a:t>
            </a:r>
            <a:r>
              <a:rPr sz="1900" b="1" dirty="0">
                <a:latin typeface="Comic Sans MS"/>
                <a:cs typeface="Comic Sans MS"/>
              </a:rPr>
              <a:t>	</a:t>
            </a:r>
            <a:r>
              <a:rPr sz="1900" b="1" spc="-10" dirty="0">
                <a:latin typeface="Comic Sans MS"/>
                <a:cs typeface="Comic Sans MS"/>
              </a:rPr>
              <a:t>Ana</a:t>
            </a:r>
            <a:r>
              <a:rPr sz="1900" b="1" spc="-5" dirty="0">
                <a:latin typeface="Comic Sans MS"/>
                <a:cs typeface="Comic Sans MS"/>
              </a:rPr>
              <a:t>l</a:t>
            </a:r>
            <a:r>
              <a:rPr sz="1900" b="1" dirty="0">
                <a:latin typeface="Comic Sans MS"/>
                <a:cs typeface="Comic Sans MS"/>
              </a:rPr>
              <a:t>y</a:t>
            </a:r>
            <a:r>
              <a:rPr sz="1900" b="1" spc="-15" dirty="0">
                <a:latin typeface="Comic Sans MS"/>
                <a:cs typeface="Comic Sans MS"/>
              </a:rPr>
              <a:t>s</a:t>
            </a:r>
            <a:r>
              <a:rPr sz="1900" b="1" spc="-10" dirty="0">
                <a:latin typeface="Comic Sans MS"/>
                <a:cs typeface="Comic Sans MS"/>
              </a:rPr>
              <a:t>is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3076" y="1882139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7395">
              <a:lnSpc>
                <a:spcPts val="2130"/>
              </a:lnSpc>
            </a:pPr>
            <a:r>
              <a:rPr sz="1900" b="1" spc="-10" dirty="0">
                <a:latin typeface="Comic Sans MS"/>
                <a:cs typeface="Comic Sans MS"/>
              </a:rPr>
              <a:t>Design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4220" y="2528316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265">
              <a:lnSpc>
                <a:spcPts val="2120"/>
              </a:lnSpc>
            </a:pPr>
            <a:r>
              <a:rPr sz="1900" b="1" spc="-10" dirty="0">
                <a:latin typeface="Comic Sans MS"/>
                <a:cs typeface="Comic Sans MS"/>
              </a:rPr>
              <a:t>Coding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2315" y="3174491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1985">
              <a:lnSpc>
                <a:spcPts val="2120"/>
              </a:lnSpc>
            </a:pPr>
            <a:r>
              <a:rPr sz="1900" b="1" spc="-10" dirty="0">
                <a:latin typeface="Comic Sans MS"/>
                <a:cs typeface="Comic Sans MS"/>
              </a:rPr>
              <a:t>Testing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3459" y="3820667"/>
            <a:ext cx="2212975" cy="399415"/>
          </a:xfrm>
          <a:prstGeom prst="rect">
            <a:avLst/>
          </a:prstGeom>
          <a:solidFill>
            <a:srgbClr val="FFFF99"/>
          </a:solidFill>
          <a:ln w="40385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5609">
              <a:lnSpc>
                <a:spcPts val="2120"/>
              </a:lnSpc>
            </a:pPr>
            <a:r>
              <a:rPr sz="1900" b="1" spc="-10" dirty="0">
                <a:latin typeface="Comic Sans MS"/>
                <a:cs typeface="Comic Sans MS"/>
              </a:rPr>
              <a:t>Maintenance</a:t>
            </a:r>
            <a:endParaRPr sz="19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28971" y="2106167"/>
            <a:ext cx="349250" cy="422275"/>
            <a:chOff x="4728971" y="2106167"/>
            <a:chExt cx="349250" cy="422275"/>
          </a:xfrm>
        </p:grpSpPr>
        <p:sp>
          <p:nvSpPr>
            <p:cNvPr id="13" name="object 13"/>
            <p:cNvSpPr/>
            <p:nvPr/>
          </p:nvSpPr>
          <p:spPr>
            <a:xfrm>
              <a:off x="4728971" y="2125979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59095" y="2125979"/>
              <a:ext cx="119380" cy="402590"/>
            </a:xfrm>
            <a:custGeom>
              <a:avLst/>
              <a:gdLst/>
              <a:ahLst/>
              <a:cxnLst/>
              <a:rect l="l" t="t" r="r" b="b"/>
              <a:pathLst>
                <a:path w="119379" h="402589">
                  <a:moveTo>
                    <a:pt x="39624" y="283463"/>
                  </a:moveTo>
                  <a:lnTo>
                    <a:pt x="0" y="283463"/>
                  </a:lnTo>
                  <a:lnTo>
                    <a:pt x="59436" y="402336"/>
                  </a:lnTo>
                  <a:lnTo>
                    <a:pt x="108965" y="303275"/>
                  </a:lnTo>
                  <a:lnTo>
                    <a:pt x="39624" y="303275"/>
                  </a:lnTo>
                  <a:lnTo>
                    <a:pt x="39624" y="283463"/>
                  </a:lnTo>
                  <a:close/>
                </a:path>
                <a:path w="119379" h="402589">
                  <a:moveTo>
                    <a:pt x="79248" y="0"/>
                  </a:moveTo>
                  <a:lnTo>
                    <a:pt x="39624" y="0"/>
                  </a:lnTo>
                  <a:lnTo>
                    <a:pt x="39624" y="303275"/>
                  </a:lnTo>
                  <a:lnTo>
                    <a:pt x="79248" y="303275"/>
                  </a:lnTo>
                  <a:lnTo>
                    <a:pt x="79248" y="0"/>
                  </a:lnTo>
                  <a:close/>
                </a:path>
                <a:path w="119379" h="402589">
                  <a:moveTo>
                    <a:pt x="118871" y="283463"/>
                  </a:moveTo>
                  <a:lnTo>
                    <a:pt x="79248" y="283463"/>
                  </a:lnTo>
                  <a:lnTo>
                    <a:pt x="79248" y="303275"/>
                  </a:lnTo>
                  <a:lnTo>
                    <a:pt x="108965" y="303275"/>
                  </a:lnTo>
                  <a:lnTo>
                    <a:pt x="118871" y="283463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497067" y="2752344"/>
            <a:ext cx="351155" cy="422275"/>
            <a:chOff x="5497067" y="2752344"/>
            <a:chExt cx="351155" cy="422275"/>
          </a:xfrm>
        </p:grpSpPr>
        <p:sp>
          <p:nvSpPr>
            <p:cNvPr id="16" name="object 16"/>
            <p:cNvSpPr/>
            <p:nvPr/>
          </p:nvSpPr>
          <p:spPr>
            <a:xfrm>
              <a:off x="5497067" y="2772156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29350" y="2772029"/>
              <a:ext cx="119380" cy="402590"/>
            </a:xfrm>
            <a:custGeom>
              <a:avLst/>
              <a:gdLst/>
              <a:ahLst/>
              <a:cxnLst/>
              <a:rect l="l" t="t" r="r" b="b"/>
              <a:pathLst>
                <a:path w="119379" h="402589">
                  <a:moveTo>
                    <a:pt x="39601" y="283760"/>
                  </a:moveTo>
                  <a:lnTo>
                    <a:pt x="0" y="284099"/>
                  </a:lnTo>
                  <a:lnTo>
                    <a:pt x="60325" y="402463"/>
                  </a:lnTo>
                  <a:lnTo>
                    <a:pt x="108844" y="303530"/>
                  </a:lnTo>
                  <a:lnTo>
                    <a:pt x="39750" y="303530"/>
                  </a:lnTo>
                  <a:lnTo>
                    <a:pt x="39601" y="283760"/>
                  </a:lnTo>
                  <a:close/>
                </a:path>
                <a:path w="119379" h="402589">
                  <a:moveTo>
                    <a:pt x="118872" y="283082"/>
                  </a:moveTo>
                  <a:lnTo>
                    <a:pt x="39601" y="283760"/>
                  </a:lnTo>
                  <a:lnTo>
                    <a:pt x="39750" y="303530"/>
                  </a:lnTo>
                  <a:lnTo>
                    <a:pt x="79375" y="303275"/>
                  </a:lnTo>
                  <a:lnTo>
                    <a:pt x="79225" y="283421"/>
                  </a:lnTo>
                  <a:lnTo>
                    <a:pt x="118705" y="283421"/>
                  </a:lnTo>
                  <a:lnTo>
                    <a:pt x="118872" y="283082"/>
                  </a:lnTo>
                  <a:close/>
                </a:path>
                <a:path w="119379" h="402589">
                  <a:moveTo>
                    <a:pt x="118705" y="283421"/>
                  </a:moveTo>
                  <a:lnTo>
                    <a:pt x="79225" y="283421"/>
                  </a:lnTo>
                  <a:lnTo>
                    <a:pt x="79375" y="303275"/>
                  </a:lnTo>
                  <a:lnTo>
                    <a:pt x="39750" y="303530"/>
                  </a:lnTo>
                  <a:lnTo>
                    <a:pt x="108844" y="303530"/>
                  </a:lnTo>
                  <a:lnTo>
                    <a:pt x="118705" y="283421"/>
                  </a:lnTo>
                  <a:close/>
                </a:path>
                <a:path w="119379" h="402589">
                  <a:moveTo>
                    <a:pt x="77088" y="0"/>
                  </a:moveTo>
                  <a:lnTo>
                    <a:pt x="37464" y="253"/>
                  </a:lnTo>
                  <a:lnTo>
                    <a:pt x="39601" y="283760"/>
                  </a:lnTo>
                  <a:lnTo>
                    <a:pt x="79225" y="283421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271259" y="3316223"/>
            <a:ext cx="346075" cy="504825"/>
            <a:chOff x="6271259" y="3316223"/>
            <a:chExt cx="346075" cy="504825"/>
          </a:xfrm>
        </p:grpSpPr>
        <p:sp>
          <p:nvSpPr>
            <p:cNvPr id="19" name="object 19"/>
            <p:cNvSpPr/>
            <p:nvPr/>
          </p:nvSpPr>
          <p:spPr>
            <a:xfrm>
              <a:off x="6271259" y="3336035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0" y="0"/>
                  </a:moveTo>
                  <a:lnTo>
                    <a:pt x="286512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98335" y="3336035"/>
              <a:ext cx="119380" cy="485140"/>
            </a:xfrm>
            <a:custGeom>
              <a:avLst/>
              <a:gdLst/>
              <a:ahLst/>
              <a:cxnLst/>
              <a:rect l="l" t="t" r="r" b="b"/>
              <a:pathLst>
                <a:path w="119379" h="485139">
                  <a:moveTo>
                    <a:pt x="39623" y="365759"/>
                  </a:moveTo>
                  <a:lnTo>
                    <a:pt x="0" y="365759"/>
                  </a:lnTo>
                  <a:lnTo>
                    <a:pt x="59436" y="484631"/>
                  </a:lnTo>
                  <a:lnTo>
                    <a:pt x="108965" y="385572"/>
                  </a:lnTo>
                  <a:lnTo>
                    <a:pt x="39623" y="385572"/>
                  </a:lnTo>
                  <a:lnTo>
                    <a:pt x="39623" y="365759"/>
                  </a:lnTo>
                  <a:close/>
                </a:path>
                <a:path w="119379" h="485139">
                  <a:moveTo>
                    <a:pt x="79247" y="0"/>
                  </a:moveTo>
                  <a:lnTo>
                    <a:pt x="39623" y="0"/>
                  </a:lnTo>
                  <a:lnTo>
                    <a:pt x="39623" y="385572"/>
                  </a:lnTo>
                  <a:lnTo>
                    <a:pt x="79247" y="385572"/>
                  </a:lnTo>
                  <a:lnTo>
                    <a:pt x="79247" y="0"/>
                  </a:lnTo>
                  <a:close/>
                </a:path>
                <a:path w="119379" h="485139">
                  <a:moveTo>
                    <a:pt x="118871" y="365759"/>
                  </a:moveTo>
                  <a:lnTo>
                    <a:pt x="79247" y="365759"/>
                  </a:lnTo>
                  <a:lnTo>
                    <a:pt x="79247" y="385572"/>
                  </a:lnTo>
                  <a:lnTo>
                    <a:pt x="108965" y="385572"/>
                  </a:lnTo>
                  <a:lnTo>
                    <a:pt x="118871" y="36575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298575" y="813815"/>
            <a:ext cx="3528060" cy="3267710"/>
            <a:chOff x="1298575" y="813815"/>
            <a:chExt cx="3528060" cy="3267710"/>
          </a:xfrm>
        </p:grpSpPr>
        <p:sp>
          <p:nvSpPr>
            <p:cNvPr id="22" name="object 22"/>
            <p:cNvSpPr/>
            <p:nvPr/>
          </p:nvSpPr>
          <p:spPr>
            <a:xfrm>
              <a:off x="3284220" y="833627"/>
              <a:ext cx="289560" cy="3175"/>
            </a:xfrm>
            <a:custGeom>
              <a:avLst/>
              <a:gdLst/>
              <a:ahLst/>
              <a:cxnLst/>
              <a:rect l="l" t="t" r="r" b="b"/>
              <a:pathLst>
                <a:path w="289560" h="3175">
                  <a:moveTo>
                    <a:pt x="-19812" y="1524"/>
                  </a:moveTo>
                  <a:lnTo>
                    <a:pt x="309371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14344" y="833627"/>
              <a:ext cx="119380" cy="402590"/>
            </a:xfrm>
            <a:custGeom>
              <a:avLst/>
              <a:gdLst/>
              <a:ahLst/>
              <a:cxnLst/>
              <a:rect l="l" t="t" r="r" b="b"/>
              <a:pathLst>
                <a:path w="119379" h="402590">
                  <a:moveTo>
                    <a:pt x="39623" y="283463"/>
                  </a:moveTo>
                  <a:lnTo>
                    <a:pt x="0" y="283463"/>
                  </a:lnTo>
                  <a:lnTo>
                    <a:pt x="59435" y="402336"/>
                  </a:lnTo>
                  <a:lnTo>
                    <a:pt x="108965" y="303275"/>
                  </a:lnTo>
                  <a:lnTo>
                    <a:pt x="39623" y="303275"/>
                  </a:lnTo>
                  <a:lnTo>
                    <a:pt x="39623" y="283463"/>
                  </a:lnTo>
                  <a:close/>
                </a:path>
                <a:path w="119379" h="402590">
                  <a:moveTo>
                    <a:pt x="79247" y="0"/>
                  </a:moveTo>
                  <a:lnTo>
                    <a:pt x="39623" y="0"/>
                  </a:lnTo>
                  <a:lnTo>
                    <a:pt x="39623" y="303275"/>
                  </a:lnTo>
                  <a:lnTo>
                    <a:pt x="79247" y="303275"/>
                  </a:lnTo>
                  <a:lnTo>
                    <a:pt x="79247" y="0"/>
                  </a:lnTo>
                  <a:close/>
                </a:path>
                <a:path w="119379" h="402590">
                  <a:moveTo>
                    <a:pt x="118871" y="283463"/>
                  </a:moveTo>
                  <a:lnTo>
                    <a:pt x="79247" y="283463"/>
                  </a:lnTo>
                  <a:lnTo>
                    <a:pt x="79247" y="303275"/>
                  </a:lnTo>
                  <a:lnTo>
                    <a:pt x="108965" y="303275"/>
                  </a:lnTo>
                  <a:lnTo>
                    <a:pt x="118871" y="283463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57827" y="1479803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37942" y="1479803"/>
              <a:ext cx="1565910" cy="2581910"/>
            </a:xfrm>
            <a:custGeom>
              <a:avLst/>
              <a:gdLst/>
              <a:ahLst/>
              <a:cxnLst/>
              <a:rect l="l" t="t" r="r" b="b"/>
              <a:pathLst>
                <a:path w="1565910" h="2581910">
                  <a:moveTo>
                    <a:pt x="121412" y="923671"/>
                  </a:moveTo>
                  <a:lnTo>
                    <a:pt x="111493" y="903732"/>
                  </a:lnTo>
                  <a:lnTo>
                    <a:pt x="62230" y="804672"/>
                  </a:lnTo>
                  <a:lnTo>
                    <a:pt x="2540" y="923417"/>
                  </a:lnTo>
                  <a:lnTo>
                    <a:pt x="42252" y="923505"/>
                  </a:lnTo>
                  <a:lnTo>
                    <a:pt x="39522" y="2462758"/>
                  </a:lnTo>
                  <a:lnTo>
                    <a:pt x="39497" y="2482570"/>
                  </a:lnTo>
                  <a:lnTo>
                    <a:pt x="39522" y="2462758"/>
                  </a:lnTo>
                  <a:lnTo>
                    <a:pt x="0" y="2462682"/>
                  </a:lnTo>
                  <a:lnTo>
                    <a:pt x="59182" y="2581656"/>
                  </a:lnTo>
                  <a:lnTo>
                    <a:pt x="108940" y="2482634"/>
                  </a:lnTo>
                  <a:lnTo>
                    <a:pt x="118872" y="2462885"/>
                  </a:lnTo>
                  <a:lnTo>
                    <a:pt x="79146" y="2462834"/>
                  </a:lnTo>
                  <a:lnTo>
                    <a:pt x="81876" y="923594"/>
                  </a:lnTo>
                  <a:lnTo>
                    <a:pt x="121412" y="923671"/>
                  </a:lnTo>
                  <a:close/>
                </a:path>
                <a:path w="1565910" h="2581910">
                  <a:moveTo>
                    <a:pt x="795274" y="1569720"/>
                  </a:moveTo>
                  <a:lnTo>
                    <a:pt x="785355" y="1549908"/>
                  </a:lnTo>
                  <a:lnTo>
                    <a:pt x="735838" y="1450848"/>
                  </a:lnTo>
                  <a:lnTo>
                    <a:pt x="676402" y="1569720"/>
                  </a:lnTo>
                  <a:lnTo>
                    <a:pt x="716026" y="1569720"/>
                  </a:lnTo>
                  <a:lnTo>
                    <a:pt x="716026" y="2462784"/>
                  </a:lnTo>
                  <a:lnTo>
                    <a:pt x="676402" y="2462784"/>
                  </a:lnTo>
                  <a:lnTo>
                    <a:pt x="735838" y="2581656"/>
                  </a:lnTo>
                  <a:lnTo>
                    <a:pt x="785355" y="2482596"/>
                  </a:lnTo>
                  <a:lnTo>
                    <a:pt x="795274" y="2462784"/>
                  </a:lnTo>
                  <a:lnTo>
                    <a:pt x="755650" y="2462784"/>
                  </a:lnTo>
                  <a:lnTo>
                    <a:pt x="755650" y="1569720"/>
                  </a:lnTo>
                  <a:lnTo>
                    <a:pt x="795274" y="1569720"/>
                  </a:lnTo>
                  <a:close/>
                </a:path>
                <a:path w="1565910" h="2581910">
                  <a:moveTo>
                    <a:pt x="1468882" y="283464"/>
                  </a:moveTo>
                  <a:lnTo>
                    <a:pt x="1429258" y="283464"/>
                  </a:lnTo>
                  <a:lnTo>
                    <a:pt x="1429258" y="0"/>
                  </a:lnTo>
                  <a:lnTo>
                    <a:pt x="1389634" y="0"/>
                  </a:lnTo>
                  <a:lnTo>
                    <a:pt x="1389634" y="283464"/>
                  </a:lnTo>
                  <a:lnTo>
                    <a:pt x="1350010" y="283464"/>
                  </a:lnTo>
                  <a:lnTo>
                    <a:pt x="1409446" y="402336"/>
                  </a:lnTo>
                  <a:lnTo>
                    <a:pt x="1458976" y="303276"/>
                  </a:lnTo>
                  <a:lnTo>
                    <a:pt x="1468882" y="283464"/>
                  </a:lnTo>
                  <a:close/>
                </a:path>
                <a:path w="1565910" h="2581910">
                  <a:moveTo>
                    <a:pt x="1565656" y="2216277"/>
                  </a:moveTo>
                  <a:lnTo>
                    <a:pt x="1555648" y="2195957"/>
                  </a:lnTo>
                  <a:lnTo>
                    <a:pt x="1506982" y="2097024"/>
                  </a:lnTo>
                  <a:lnTo>
                    <a:pt x="1446784" y="2215515"/>
                  </a:lnTo>
                  <a:lnTo>
                    <a:pt x="1486408" y="2215781"/>
                  </a:lnTo>
                  <a:lnTo>
                    <a:pt x="1484871" y="2462669"/>
                  </a:lnTo>
                  <a:lnTo>
                    <a:pt x="1445260" y="2462415"/>
                  </a:lnTo>
                  <a:lnTo>
                    <a:pt x="1503934" y="2581656"/>
                  </a:lnTo>
                  <a:lnTo>
                    <a:pt x="1554187" y="2482723"/>
                  </a:lnTo>
                  <a:lnTo>
                    <a:pt x="1564132" y="2463165"/>
                  </a:lnTo>
                  <a:lnTo>
                    <a:pt x="1524495" y="2462923"/>
                  </a:lnTo>
                  <a:lnTo>
                    <a:pt x="1526032" y="2216035"/>
                  </a:lnTo>
                  <a:lnTo>
                    <a:pt x="1565656" y="2216277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54835" y="4061459"/>
              <a:ext cx="3472179" cy="0"/>
            </a:xfrm>
            <a:custGeom>
              <a:avLst/>
              <a:gdLst/>
              <a:ahLst/>
              <a:cxnLst/>
              <a:rect l="l" t="t" r="r" b="b"/>
              <a:pathLst>
                <a:path w="3472179">
                  <a:moveTo>
                    <a:pt x="3471672" y="0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8575" y="995171"/>
              <a:ext cx="890269" cy="3066415"/>
            </a:xfrm>
            <a:custGeom>
              <a:avLst/>
              <a:gdLst/>
              <a:ahLst/>
              <a:cxnLst/>
              <a:rect l="l" t="t" r="r" b="b"/>
              <a:pathLst>
                <a:path w="890269" h="3066415">
                  <a:moveTo>
                    <a:pt x="121666" y="118872"/>
                  </a:moveTo>
                  <a:lnTo>
                    <a:pt x="111772" y="99060"/>
                  </a:lnTo>
                  <a:lnTo>
                    <a:pt x="62357" y="0"/>
                  </a:lnTo>
                  <a:lnTo>
                    <a:pt x="2794" y="118872"/>
                  </a:lnTo>
                  <a:lnTo>
                    <a:pt x="42392" y="118872"/>
                  </a:lnTo>
                  <a:lnTo>
                    <a:pt x="39636" y="2947403"/>
                  </a:lnTo>
                  <a:lnTo>
                    <a:pt x="0" y="2947352"/>
                  </a:lnTo>
                  <a:lnTo>
                    <a:pt x="59309" y="3066288"/>
                  </a:lnTo>
                  <a:lnTo>
                    <a:pt x="108953" y="2967240"/>
                  </a:lnTo>
                  <a:lnTo>
                    <a:pt x="118872" y="2947479"/>
                  </a:lnTo>
                  <a:lnTo>
                    <a:pt x="79260" y="2947441"/>
                  </a:lnTo>
                  <a:lnTo>
                    <a:pt x="82016" y="118872"/>
                  </a:lnTo>
                  <a:lnTo>
                    <a:pt x="121666" y="118872"/>
                  </a:lnTo>
                  <a:close/>
                </a:path>
                <a:path w="890269" h="3066415">
                  <a:moveTo>
                    <a:pt x="889889" y="762000"/>
                  </a:moveTo>
                  <a:lnTo>
                    <a:pt x="879983" y="742188"/>
                  </a:lnTo>
                  <a:lnTo>
                    <a:pt x="830453" y="643128"/>
                  </a:lnTo>
                  <a:lnTo>
                    <a:pt x="771017" y="762000"/>
                  </a:lnTo>
                  <a:lnTo>
                    <a:pt x="810641" y="762000"/>
                  </a:lnTo>
                  <a:lnTo>
                    <a:pt x="810641" y="2947416"/>
                  </a:lnTo>
                  <a:lnTo>
                    <a:pt x="771017" y="2947416"/>
                  </a:lnTo>
                  <a:lnTo>
                    <a:pt x="830453" y="3066288"/>
                  </a:lnTo>
                  <a:lnTo>
                    <a:pt x="879983" y="2967228"/>
                  </a:lnTo>
                  <a:lnTo>
                    <a:pt x="889889" y="2947416"/>
                  </a:lnTo>
                  <a:lnTo>
                    <a:pt x="850265" y="2947416"/>
                  </a:lnTo>
                  <a:lnTo>
                    <a:pt x="850265" y="762000"/>
                  </a:lnTo>
                  <a:lnTo>
                    <a:pt x="889889" y="76200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433307" y="479338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56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4185" y="227533"/>
            <a:ext cx="484441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Phase</a:t>
            </a:r>
            <a:r>
              <a:rPr sz="2800" spc="-50" dirty="0"/>
              <a:t> </a:t>
            </a:r>
            <a:r>
              <a:rPr sz="2800" spc="-5" dirty="0"/>
              <a:t>Containment</a:t>
            </a:r>
            <a:r>
              <a:rPr sz="2800" spc="-70" dirty="0"/>
              <a:t> </a:t>
            </a:r>
            <a:r>
              <a:rPr sz="2800" dirty="0"/>
              <a:t>of</a:t>
            </a:r>
            <a:r>
              <a:rPr sz="2800" spc="-25" dirty="0"/>
              <a:t> </a:t>
            </a:r>
            <a:r>
              <a:rPr sz="2800" dirty="0"/>
              <a:t>Errors</a:t>
            </a:r>
            <a:r>
              <a:rPr sz="2800" spc="-25" dirty="0"/>
              <a:t> </a:t>
            </a:r>
            <a:r>
              <a:rPr sz="1200" spc="-5" dirty="0"/>
              <a:t>(Cont...)</a:t>
            </a:r>
            <a:endParaRPr sz="1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57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463402"/>
            <a:ext cx="8974455" cy="3909060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964"/>
              </a:spcBef>
              <a:buFont typeface="Arial MT"/>
              <a:buChar char="•"/>
              <a:tabLst>
                <a:tab pos="245110" algn="l"/>
              </a:tabLst>
            </a:pPr>
            <a:r>
              <a:rPr sz="2700" b="1" spc="-5" dirty="0">
                <a:solidFill>
                  <a:srgbClr val="000099"/>
                </a:solidFill>
                <a:latin typeface="Calibri"/>
                <a:cs typeface="Calibri"/>
              </a:rPr>
              <a:t>Errors</a:t>
            </a:r>
            <a:r>
              <a:rPr sz="2700" b="1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99"/>
                </a:solidFill>
                <a:latin typeface="Calibri"/>
                <a:cs typeface="Calibri"/>
              </a:rPr>
              <a:t>should</a:t>
            </a:r>
            <a:r>
              <a:rPr sz="2700" b="1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sz="2700" b="1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99"/>
                </a:solidFill>
                <a:latin typeface="Calibri"/>
                <a:cs typeface="Calibri"/>
              </a:rPr>
              <a:t>detected:</a:t>
            </a:r>
            <a:endParaRPr sz="27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670"/>
              </a:spcBef>
              <a:buFont typeface="Symbol"/>
              <a:buChar char=""/>
              <a:tabLst>
                <a:tab pos="516255" algn="l"/>
              </a:tabLst>
            </a:pPr>
            <a:r>
              <a:rPr sz="2450" b="1" spc="-5" dirty="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sz="2450" b="1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2450" b="1" spc="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99"/>
                </a:solidFill>
                <a:latin typeface="Calibri"/>
                <a:cs typeface="Calibri"/>
              </a:rPr>
              <a:t>same</a:t>
            </a:r>
            <a:r>
              <a:rPr sz="2450" b="1" spc="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99"/>
                </a:solidFill>
                <a:latin typeface="Calibri"/>
                <a:cs typeface="Calibri"/>
              </a:rPr>
              <a:t>phase</a:t>
            </a:r>
            <a:r>
              <a:rPr sz="2450" b="1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sz="2450" b="1" spc="-2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99"/>
                </a:solidFill>
                <a:latin typeface="Calibri"/>
                <a:cs typeface="Calibri"/>
              </a:rPr>
              <a:t>which</a:t>
            </a:r>
            <a:r>
              <a:rPr sz="2450" b="1" spc="-15" dirty="0">
                <a:solidFill>
                  <a:srgbClr val="000099"/>
                </a:solidFill>
                <a:latin typeface="Calibri"/>
                <a:cs typeface="Calibri"/>
              </a:rPr>
              <a:t> they</a:t>
            </a:r>
            <a:r>
              <a:rPr sz="2450" b="1" spc="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99"/>
                </a:solidFill>
                <a:latin typeface="Calibri"/>
                <a:cs typeface="Calibri"/>
              </a:rPr>
              <a:t>are</a:t>
            </a:r>
            <a:r>
              <a:rPr sz="2450" b="1" spc="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99"/>
                </a:solidFill>
                <a:latin typeface="Calibri"/>
                <a:cs typeface="Calibri"/>
              </a:rPr>
              <a:t>introduced.</a:t>
            </a:r>
            <a:endParaRPr sz="245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245110" algn="l"/>
              </a:tabLst>
            </a:pPr>
            <a:r>
              <a:rPr sz="2700" spc="-10" dirty="0">
                <a:latin typeface="Calibri"/>
                <a:cs typeface="Calibri"/>
              </a:rPr>
              <a:t>For </a:t>
            </a:r>
            <a:r>
              <a:rPr sz="2700" spc="-15" dirty="0">
                <a:latin typeface="Calibri"/>
                <a:cs typeface="Calibri"/>
              </a:rPr>
              <a:t>example:</a:t>
            </a:r>
            <a:endParaRPr sz="27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670"/>
              </a:spcBef>
              <a:buFont typeface="Symbol"/>
              <a:buChar char=""/>
              <a:tabLst>
                <a:tab pos="516255" algn="l"/>
                <a:tab pos="3336290" algn="l"/>
              </a:tabLst>
            </a:pPr>
            <a:r>
              <a:rPr sz="2450" spc="-5" dirty="0">
                <a:latin typeface="Calibri"/>
                <a:cs typeface="Calibri"/>
              </a:rPr>
              <a:t>If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design </a:t>
            </a:r>
            <a:r>
              <a:rPr sz="2450" spc="-10" dirty="0">
                <a:latin typeface="Calibri"/>
                <a:cs typeface="Calibri"/>
              </a:rPr>
              <a:t>problem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is	</a:t>
            </a:r>
            <a:r>
              <a:rPr sz="2450" spc="-15" dirty="0">
                <a:latin typeface="Calibri"/>
                <a:cs typeface="Calibri"/>
              </a:rPr>
              <a:t>detected</a:t>
            </a:r>
            <a:r>
              <a:rPr sz="2450" spc="-10" dirty="0">
                <a:latin typeface="Calibri"/>
                <a:cs typeface="Calibri"/>
              </a:rPr>
              <a:t> in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the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design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phase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itself,</a:t>
            </a:r>
            <a:endParaRPr sz="2450">
              <a:latin typeface="Calibri"/>
              <a:cs typeface="Calibri"/>
            </a:endParaRPr>
          </a:p>
          <a:p>
            <a:pPr marL="789940" lvl="2" indent="-156210">
              <a:lnSpc>
                <a:spcPct val="100000"/>
              </a:lnSpc>
              <a:spcBef>
                <a:spcPts val="1635"/>
              </a:spcBef>
              <a:buFont typeface="Symbol"/>
              <a:buChar char=""/>
              <a:tabLst>
                <a:tab pos="790575" algn="l"/>
              </a:tabLst>
            </a:pP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problem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can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be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taken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care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of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much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more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easily</a:t>
            </a:r>
            <a:endParaRPr sz="2150">
              <a:latin typeface="Calibri"/>
              <a:cs typeface="Calibri"/>
            </a:endParaRPr>
          </a:p>
          <a:p>
            <a:pPr marL="789940" marR="5080" lvl="2" indent="-155575">
              <a:lnSpc>
                <a:spcPct val="115399"/>
              </a:lnSpc>
              <a:spcBef>
                <a:spcPts val="1200"/>
              </a:spcBef>
              <a:buFont typeface="Symbol"/>
              <a:buChar char=""/>
              <a:tabLst>
                <a:tab pos="790575" algn="l"/>
              </a:tabLst>
            </a:pPr>
            <a:r>
              <a:rPr sz="2150" spc="15" dirty="0">
                <a:latin typeface="Calibri"/>
                <a:cs typeface="Calibri"/>
              </a:rPr>
              <a:t>Than </a:t>
            </a:r>
            <a:r>
              <a:rPr sz="2150" dirty="0">
                <a:latin typeface="Calibri"/>
                <a:cs typeface="Calibri"/>
              </a:rPr>
              <a:t>say </a:t>
            </a:r>
            <a:r>
              <a:rPr sz="2150" spc="5" dirty="0">
                <a:latin typeface="Calibri"/>
                <a:cs typeface="Calibri"/>
              </a:rPr>
              <a:t>if it </a:t>
            </a:r>
            <a:r>
              <a:rPr sz="2150" spc="10" dirty="0">
                <a:latin typeface="Calibri"/>
                <a:cs typeface="Calibri"/>
              </a:rPr>
              <a:t>is </a:t>
            </a:r>
            <a:r>
              <a:rPr sz="2150" spc="5" dirty="0">
                <a:latin typeface="Calibri"/>
                <a:cs typeface="Calibri"/>
              </a:rPr>
              <a:t>identified at the </a:t>
            </a:r>
            <a:r>
              <a:rPr sz="2150" spc="10" dirty="0">
                <a:latin typeface="Calibri"/>
                <a:cs typeface="Calibri"/>
              </a:rPr>
              <a:t>end of </a:t>
            </a:r>
            <a:r>
              <a:rPr sz="2150" spc="5" dirty="0">
                <a:latin typeface="Calibri"/>
                <a:cs typeface="Calibri"/>
              </a:rPr>
              <a:t>the </a:t>
            </a:r>
            <a:r>
              <a:rPr sz="2150" dirty="0">
                <a:latin typeface="Calibri"/>
                <a:cs typeface="Calibri"/>
              </a:rPr>
              <a:t>integration </a:t>
            </a:r>
            <a:r>
              <a:rPr sz="2150" spc="15" dirty="0">
                <a:latin typeface="Calibri"/>
                <a:cs typeface="Calibri"/>
              </a:rPr>
              <a:t>and </a:t>
            </a:r>
            <a:r>
              <a:rPr sz="2150" spc="-10" dirty="0">
                <a:latin typeface="Calibri"/>
                <a:cs typeface="Calibri"/>
              </a:rPr>
              <a:t>system </a:t>
            </a:r>
            <a:r>
              <a:rPr sz="2150" dirty="0">
                <a:latin typeface="Calibri"/>
                <a:cs typeface="Calibri"/>
              </a:rPr>
              <a:t>testing </a:t>
            </a:r>
            <a:r>
              <a:rPr sz="2150" spc="-47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phase.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189" y="228345"/>
            <a:ext cx="463677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5" dirty="0"/>
              <a:t>Phase</a:t>
            </a:r>
            <a:r>
              <a:rPr sz="3050" spc="-40" dirty="0"/>
              <a:t> </a:t>
            </a:r>
            <a:r>
              <a:rPr sz="3050" spc="-5" dirty="0"/>
              <a:t>Containment</a:t>
            </a:r>
            <a:r>
              <a:rPr sz="3050" spc="-80" dirty="0"/>
              <a:t> </a:t>
            </a:r>
            <a:r>
              <a:rPr sz="3050" spc="5" dirty="0"/>
              <a:t>of</a:t>
            </a:r>
            <a:r>
              <a:rPr sz="3050" spc="-15" dirty="0"/>
              <a:t> </a:t>
            </a:r>
            <a:r>
              <a:rPr sz="3050" spc="-5" dirty="0"/>
              <a:t>Errors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58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261" y="801153"/>
            <a:ext cx="8754110" cy="332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97790" indent="-231775">
              <a:lnSpc>
                <a:spcPct val="1102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  <a:tab pos="648970" algn="l"/>
                <a:tab pos="1944370" algn="l"/>
              </a:tabLst>
            </a:pPr>
            <a:r>
              <a:rPr sz="2450" spc="-10" dirty="0">
                <a:latin typeface="Calibri"/>
                <a:cs typeface="Calibri"/>
              </a:rPr>
              <a:t>Reason: rework must </a:t>
            </a:r>
            <a:r>
              <a:rPr sz="2450" spc="-5" dirty="0">
                <a:latin typeface="Calibri"/>
                <a:cs typeface="Calibri"/>
              </a:rPr>
              <a:t>be </a:t>
            </a:r>
            <a:r>
              <a:rPr sz="2450" spc="-10" dirty="0">
                <a:latin typeface="Calibri"/>
                <a:cs typeface="Calibri"/>
              </a:rPr>
              <a:t>carried </a:t>
            </a:r>
            <a:r>
              <a:rPr sz="2450" dirty="0">
                <a:latin typeface="Calibri"/>
                <a:cs typeface="Calibri"/>
              </a:rPr>
              <a:t>out </a:t>
            </a:r>
            <a:r>
              <a:rPr sz="2450" spc="-5" dirty="0">
                <a:latin typeface="Calibri"/>
                <a:cs typeface="Calibri"/>
              </a:rPr>
              <a:t>not only </a:t>
            </a:r>
            <a:r>
              <a:rPr sz="2450" spc="-20" dirty="0">
                <a:latin typeface="Calibri"/>
                <a:cs typeface="Calibri"/>
              </a:rPr>
              <a:t>to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5" dirty="0">
                <a:latin typeface="Calibri"/>
                <a:cs typeface="Calibri"/>
              </a:rPr>
              <a:t>design </a:t>
            </a:r>
            <a:r>
              <a:rPr sz="2450" dirty="0">
                <a:latin typeface="Calibri"/>
                <a:cs typeface="Calibri"/>
              </a:rPr>
              <a:t>but </a:t>
            </a:r>
            <a:r>
              <a:rPr sz="2450" spc="-10" dirty="0">
                <a:latin typeface="Calibri"/>
                <a:cs typeface="Calibri"/>
              </a:rPr>
              <a:t>also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	</a:t>
            </a:r>
            <a:r>
              <a:rPr sz="2450" spc="-10" dirty="0">
                <a:latin typeface="Calibri"/>
                <a:cs typeface="Calibri"/>
              </a:rPr>
              <a:t>code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	</a:t>
            </a:r>
            <a:r>
              <a:rPr sz="2450" spc="-15" dirty="0">
                <a:latin typeface="Calibri"/>
                <a:cs typeface="Calibri"/>
              </a:rPr>
              <a:t>test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phases.</a:t>
            </a:r>
            <a:endParaRPr sz="2450">
              <a:latin typeface="Calibri"/>
              <a:cs typeface="Calibri"/>
            </a:endParaRPr>
          </a:p>
          <a:p>
            <a:pPr marL="243840" marR="5080" indent="-231775">
              <a:lnSpc>
                <a:spcPct val="110300"/>
              </a:lnSpc>
              <a:spcBef>
                <a:spcPts val="795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The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principle of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detecting </a:t>
            </a:r>
            <a:r>
              <a:rPr sz="2450" spc="-15" dirty="0">
                <a:solidFill>
                  <a:srgbClr val="000099"/>
                </a:solidFill>
                <a:latin typeface="Calibri"/>
                <a:cs typeface="Calibri"/>
              </a:rPr>
              <a:t>errors </a:t>
            </a: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as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close </a:t>
            </a:r>
            <a:r>
              <a:rPr sz="2450" spc="-20" dirty="0">
                <a:solidFill>
                  <a:srgbClr val="000099"/>
                </a:solidFill>
                <a:latin typeface="Calibri"/>
                <a:cs typeface="Calibri"/>
              </a:rPr>
              <a:t>to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its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point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of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introduction </a:t>
            </a:r>
            <a:r>
              <a:rPr sz="2450" spc="-5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possible:</a:t>
            </a:r>
            <a:endParaRPr sz="2450">
              <a:latin typeface="Calibri"/>
              <a:cs typeface="Calibri"/>
            </a:endParaRPr>
          </a:p>
          <a:p>
            <a:pPr marL="515620" lvl="1" indent="-193040">
              <a:lnSpc>
                <a:spcPct val="100000"/>
              </a:lnSpc>
              <a:spcBef>
                <a:spcPts val="1080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sz="2150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99"/>
                </a:solidFill>
                <a:latin typeface="Calibri"/>
                <a:cs typeface="Calibri"/>
              </a:rPr>
              <a:t>known</a:t>
            </a:r>
            <a:r>
              <a:rPr sz="2150" spc="-3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sz="2150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C3300"/>
                </a:solidFill>
                <a:latin typeface="Arial Black"/>
                <a:cs typeface="Arial Black"/>
              </a:rPr>
              <a:t>phase</a:t>
            </a:r>
            <a:r>
              <a:rPr sz="2800" spc="-30" dirty="0">
                <a:solidFill>
                  <a:srgbClr val="CC3300"/>
                </a:solidFill>
                <a:latin typeface="Arial Black"/>
                <a:cs typeface="Arial Black"/>
              </a:rPr>
              <a:t> </a:t>
            </a:r>
            <a:r>
              <a:rPr sz="2800" dirty="0">
                <a:solidFill>
                  <a:srgbClr val="CC3300"/>
                </a:solidFill>
                <a:latin typeface="Arial Black"/>
                <a:cs typeface="Arial Black"/>
              </a:rPr>
              <a:t>containment</a:t>
            </a:r>
            <a:r>
              <a:rPr sz="2800" spc="-75" dirty="0">
                <a:solidFill>
                  <a:srgbClr val="CC3300"/>
                </a:solidFill>
                <a:latin typeface="Arial Black"/>
                <a:cs typeface="Arial Black"/>
              </a:rPr>
              <a:t> </a:t>
            </a:r>
            <a:r>
              <a:rPr sz="2800" spc="5" dirty="0">
                <a:solidFill>
                  <a:srgbClr val="CC3300"/>
                </a:solidFill>
                <a:latin typeface="Arial Black"/>
                <a:cs typeface="Arial Black"/>
              </a:rPr>
              <a:t>of</a:t>
            </a:r>
            <a:r>
              <a:rPr sz="2800" spc="145" dirty="0">
                <a:solidFill>
                  <a:srgbClr val="CC3300"/>
                </a:solidFill>
                <a:latin typeface="Arial Black"/>
                <a:cs typeface="Arial Black"/>
              </a:rPr>
              <a:t> </a:t>
            </a:r>
            <a:r>
              <a:rPr sz="2800" spc="35" dirty="0">
                <a:solidFill>
                  <a:srgbClr val="CC3300"/>
                </a:solidFill>
                <a:latin typeface="Arial Black"/>
                <a:cs typeface="Arial Black"/>
              </a:rPr>
              <a:t>errors</a:t>
            </a:r>
            <a:r>
              <a:rPr sz="2150" spc="35" dirty="0">
                <a:solidFill>
                  <a:srgbClr val="CC3300"/>
                </a:solidFill>
                <a:latin typeface="Arial Black"/>
                <a:cs typeface="Arial Black"/>
              </a:rPr>
              <a:t>.</a:t>
            </a:r>
            <a:endParaRPr sz="2150">
              <a:latin typeface="Arial Black"/>
              <a:cs typeface="Arial Black"/>
            </a:endParaRPr>
          </a:p>
          <a:p>
            <a:pPr marL="243840" indent="-231775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spc="-15" dirty="0">
                <a:latin typeface="Calibri"/>
                <a:cs typeface="Calibri"/>
              </a:rPr>
              <a:t>Iterative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waterfall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model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far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10" dirty="0">
                <a:latin typeface="Calibri"/>
                <a:cs typeface="Calibri"/>
              </a:rPr>
              <a:t>most</a:t>
            </a:r>
            <a:r>
              <a:rPr sz="2450" spc="-5" dirty="0">
                <a:latin typeface="Calibri"/>
                <a:cs typeface="Calibri"/>
              </a:rPr>
              <a:t> widely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used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model.</a:t>
            </a:r>
            <a:endParaRPr sz="2450">
              <a:latin typeface="Calibri"/>
              <a:cs typeface="Calibri"/>
            </a:endParaRPr>
          </a:p>
          <a:p>
            <a:pPr marL="515620" lvl="1" indent="-193040">
              <a:lnSpc>
                <a:spcPct val="100000"/>
              </a:lnSpc>
              <a:spcBef>
                <a:spcPts val="1130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spc="15" dirty="0">
                <a:latin typeface="Calibri"/>
                <a:cs typeface="Calibri"/>
              </a:rPr>
              <a:t>Almost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every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other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model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is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derived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from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waterfall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model.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2587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Iterative</a:t>
            </a:r>
            <a:r>
              <a:rPr spc="20" dirty="0"/>
              <a:t> </a:t>
            </a:r>
            <a:r>
              <a:rPr spc="-30" dirty="0"/>
              <a:t>Waterfall</a:t>
            </a:r>
            <a:r>
              <a:rPr spc="-15" dirty="0"/>
              <a:t> </a:t>
            </a:r>
            <a:r>
              <a:rPr spc="-10" dirty="0"/>
              <a:t>Model</a:t>
            </a:r>
            <a:r>
              <a:rPr spc="20" dirty="0"/>
              <a:t> </a:t>
            </a:r>
            <a:r>
              <a:rPr sz="1050" dirty="0"/>
              <a:t>(CONT.)</a:t>
            </a:r>
            <a:endParaRPr sz="1050"/>
          </a:p>
        </p:txBody>
      </p:sp>
      <p:grpSp>
        <p:nvGrpSpPr>
          <p:cNvPr id="3" name="object 3"/>
          <p:cNvGrpSpPr/>
          <p:nvPr/>
        </p:nvGrpSpPr>
        <p:grpSpPr>
          <a:xfrm>
            <a:off x="1721929" y="1215961"/>
            <a:ext cx="2252980" cy="442595"/>
            <a:chOff x="1721929" y="1215961"/>
            <a:chExt cx="2252980" cy="442595"/>
          </a:xfrm>
        </p:grpSpPr>
        <p:sp>
          <p:nvSpPr>
            <p:cNvPr id="4" name="object 4"/>
            <p:cNvSpPr/>
            <p:nvPr/>
          </p:nvSpPr>
          <p:spPr>
            <a:xfrm>
              <a:off x="1741932" y="1235963"/>
              <a:ext cx="2212975" cy="402590"/>
            </a:xfrm>
            <a:custGeom>
              <a:avLst/>
              <a:gdLst/>
              <a:ahLst/>
              <a:cxnLst/>
              <a:rect l="l" t="t" r="r" b="b"/>
              <a:pathLst>
                <a:path w="2212975" h="402589">
                  <a:moveTo>
                    <a:pt x="2212848" y="1270"/>
                  </a:moveTo>
                  <a:lnTo>
                    <a:pt x="2212721" y="1270"/>
                  </a:lnTo>
                  <a:lnTo>
                    <a:pt x="2212721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401320"/>
                  </a:lnTo>
                  <a:lnTo>
                    <a:pt x="381" y="401320"/>
                  </a:lnTo>
                  <a:lnTo>
                    <a:pt x="381" y="402590"/>
                  </a:lnTo>
                  <a:lnTo>
                    <a:pt x="2212454" y="402590"/>
                  </a:lnTo>
                  <a:lnTo>
                    <a:pt x="2212454" y="401320"/>
                  </a:lnTo>
                  <a:lnTo>
                    <a:pt x="2212848" y="401320"/>
                  </a:lnTo>
                  <a:lnTo>
                    <a:pt x="2212848" y="12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1932" y="1235963"/>
              <a:ext cx="2212975" cy="402590"/>
            </a:xfrm>
            <a:custGeom>
              <a:avLst/>
              <a:gdLst/>
              <a:ahLst/>
              <a:cxnLst/>
              <a:rect l="l" t="t" r="r" b="b"/>
              <a:pathLst>
                <a:path w="2212975" h="402589">
                  <a:moveTo>
                    <a:pt x="0" y="1650"/>
                  </a:moveTo>
                  <a:lnTo>
                    <a:pt x="0" y="762"/>
                  </a:lnTo>
                  <a:lnTo>
                    <a:pt x="762" y="0"/>
                  </a:lnTo>
                  <a:lnTo>
                    <a:pt x="1650" y="0"/>
                  </a:lnTo>
                  <a:lnTo>
                    <a:pt x="2211197" y="0"/>
                  </a:lnTo>
                  <a:lnTo>
                    <a:pt x="2212085" y="0"/>
                  </a:lnTo>
                  <a:lnTo>
                    <a:pt x="2212847" y="762"/>
                  </a:lnTo>
                  <a:lnTo>
                    <a:pt x="2212847" y="1650"/>
                  </a:lnTo>
                  <a:lnTo>
                    <a:pt x="2212847" y="400685"/>
                  </a:lnTo>
                  <a:lnTo>
                    <a:pt x="2212847" y="401574"/>
                  </a:lnTo>
                  <a:lnTo>
                    <a:pt x="2212085" y="402336"/>
                  </a:lnTo>
                  <a:lnTo>
                    <a:pt x="2211197" y="402336"/>
                  </a:lnTo>
                  <a:lnTo>
                    <a:pt x="1650" y="402336"/>
                  </a:lnTo>
                  <a:lnTo>
                    <a:pt x="762" y="402336"/>
                  </a:lnTo>
                  <a:lnTo>
                    <a:pt x="0" y="401574"/>
                  </a:lnTo>
                  <a:lnTo>
                    <a:pt x="0" y="400685"/>
                  </a:lnTo>
                  <a:lnTo>
                    <a:pt x="0" y="1650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8324" y="592835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05"/>
              </a:lnSpc>
            </a:pPr>
            <a:r>
              <a:rPr sz="1900" b="1" spc="-5" dirty="0">
                <a:latin typeface="Comic Sans MS"/>
                <a:cs typeface="Comic Sans MS"/>
              </a:rPr>
              <a:t>Feasibility</a:t>
            </a:r>
            <a:r>
              <a:rPr sz="1900" b="1" spc="30" dirty="0">
                <a:latin typeface="Comic Sans MS"/>
                <a:cs typeface="Comic Sans MS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Study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4123" y="1203401"/>
            <a:ext cx="17881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36930" algn="l"/>
              </a:tabLst>
            </a:pPr>
            <a:r>
              <a:rPr sz="1900" b="1" dirty="0">
                <a:latin typeface="Comic Sans MS"/>
                <a:cs typeface="Comic Sans MS"/>
              </a:rPr>
              <a:t>R</a:t>
            </a:r>
            <a:r>
              <a:rPr sz="1900" b="1" spc="-10" dirty="0">
                <a:latin typeface="Comic Sans MS"/>
                <a:cs typeface="Comic Sans MS"/>
              </a:rPr>
              <a:t>eq</a:t>
            </a:r>
            <a:r>
              <a:rPr sz="1900" b="1" spc="-5" dirty="0">
                <a:latin typeface="Comic Sans MS"/>
                <a:cs typeface="Comic Sans MS"/>
              </a:rPr>
              <a:t>.</a:t>
            </a:r>
            <a:r>
              <a:rPr sz="1900" b="1" dirty="0">
                <a:latin typeface="Comic Sans MS"/>
                <a:cs typeface="Comic Sans MS"/>
              </a:rPr>
              <a:t>	</a:t>
            </a:r>
            <a:r>
              <a:rPr sz="1900" b="1" spc="-10" dirty="0">
                <a:latin typeface="Comic Sans MS"/>
                <a:cs typeface="Comic Sans MS"/>
              </a:rPr>
              <a:t>Ana</a:t>
            </a:r>
            <a:r>
              <a:rPr sz="1900" b="1" spc="-5" dirty="0">
                <a:latin typeface="Comic Sans MS"/>
                <a:cs typeface="Comic Sans MS"/>
              </a:rPr>
              <a:t>l</a:t>
            </a:r>
            <a:r>
              <a:rPr sz="1900" b="1" dirty="0">
                <a:latin typeface="Comic Sans MS"/>
                <a:cs typeface="Comic Sans MS"/>
              </a:rPr>
              <a:t>y</a:t>
            </a:r>
            <a:r>
              <a:rPr sz="1900" b="1" spc="-15" dirty="0">
                <a:latin typeface="Comic Sans MS"/>
                <a:cs typeface="Comic Sans MS"/>
              </a:rPr>
              <a:t>s</a:t>
            </a:r>
            <a:r>
              <a:rPr sz="1900" b="1" spc="-10" dirty="0">
                <a:latin typeface="Comic Sans MS"/>
                <a:cs typeface="Comic Sans MS"/>
              </a:rPr>
              <a:t>is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3076" y="1882139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7395">
              <a:lnSpc>
                <a:spcPts val="2130"/>
              </a:lnSpc>
            </a:pPr>
            <a:r>
              <a:rPr sz="1900" b="1" spc="-10" dirty="0">
                <a:latin typeface="Comic Sans MS"/>
                <a:cs typeface="Comic Sans MS"/>
              </a:rPr>
              <a:t>Design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4220" y="2528316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265">
              <a:lnSpc>
                <a:spcPts val="2120"/>
              </a:lnSpc>
            </a:pPr>
            <a:r>
              <a:rPr sz="1900" b="1" spc="-10" dirty="0">
                <a:latin typeface="Comic Sans MS"/>
                <a:cs typeface="Comic Sans MS"/>
              </a:rPr>
              <a:t>Coding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2315" y="3174491"/>
            <a:ext cx="2212975" cy="402590"/>
          </a:xfrm>
          <a:prstGeom prst="rect">
            <a:avLst/>
          </a:prstGeom>
          <a:solidFill>
            <a:srgbClr val="FFFF99"/>
          </a:solidFill>
          <a:ln w="40386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1985">
              <a:lnSpc>
                <a:spcPts val="2120"/>
              </a:lnSpc>
            </a:pPr>
            <a:r>
              <a:rPr sz="1900" b="1" spc="-10" dirty="0">
                <a:latin typeface="Comic Sans MS"/>
                <a:cs typeface="Comic Sans MS"/>
              </a:rPr>
              <a:t>Testing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3459" y="3820667"/>
            <a:ext cx="2212975" cy="399415"/>
          </a:xfrm>
          <a:prstGeom prst="rect">
            <a:avLst/>
          </a:prstGeom>
          <a:solidFill>
            <a:srgbClr val="FFFF99"/>
          </a:solidFill>
          <a:ln w="40385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5609">
              <a:lnSpc>
                <a:spcPts val="2120"/>
              </a:lnSpc>
            </a:pPr>
            <a:r>
              <a:rPr sz="1900" b="1" spc="-10" dirty="0">
                <a:latin typeface="Comic Sans MS"/>
                <a:cs typeface="Comic Sans MS"/>
              </a:rPr>
              <a:t>Maintenance</a:t>
            </a:r>
            <a:endParaRPr sz="19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28971" y="2106167"/>
            <a:ext cx="349250" cy="422275"/>
            <a:chOff x="4728971" y="2106167"/>
            <a:chExt cx="349250" cy="422275"/>
          </a:xfrm>
        </p:grpSpPr>
        <p:sp>
          <p:nvSpPr>
            <p:cNvPr id="13" name="object 13"/>
            <p:cNvSpPr/>
            <p:nvPr/>
          </p:nvSpPr>
          <p:spPr>
            <a:xfrm>
              <a:off x="4728971" y="2125979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59095" y="2125979"/>
              <a:ext cx="119380" cy="402590"/>
            </a:xfrm>
            <a:custGeom>
              <a:avLst/>
              <a:gdLst/>
              <a:ahLst/>
              <a:cxnLst/>
              <a:rect l="l" t="t" r="r" b="b"/>
              <a:pathLst>
                <a:path w="119379" h="402589">
                  <a:moveTo>
                    <a:pt x="39624" y="283463"/>
                  </a:moveTo>
                  <a:lnTo>
                    <a:pt x="0" y="283463"/>
                  </a:lnTo>
                  <a:lnTo>
                    <a:pt x="59436" y="402336"/>
                  </a:lnTo>
                  <a:lnTo>
                    <a:pt x="108965" y="303275"/>
                  </a:lnTo>
                  <a:lnTo>
                    <a:pt x="39624" y="303275"/>
                  </a:lnTo>
                  <a:lnTo>
                    <a:pt x="39624" y="283463"/>
                  </a:lnTo>
                  <a:close/>
                </a:path>
                <a:path w="119379" h="402589">
                  <a:moveTo>
                    <a:pt x="79248" y="0"/>
                  </a:moveTo>
                  <a:lnTo>
                    <a:pt x="39624" y="0"/>
                  </a:lnTo>
                  <a:lnTo>
                    <a:pt x="39624" y="303275"/>
                  </a:lnTo>
                  <a:lnTo>
                    <a:pt x="79248" y="303275"/>
                  </a:lnTo>
                  <a:lnTo>
                    <a:pt x="79248" y="0"/>
                  </a:lnTo>
                  <a:close/>
                </a:path>
                <a:path w="119379" h="402589">
                  <a:moveTo>
                    <a:pt x="118871" y="283463"/>
                  </a:moveTo>
                  <a:lnTo>
                    <a:pt x="79248" y="283463"/>
                  </a:lnTo>
                  <a:lnTo>
                    <a:pt x="79248" y="303275"/>
                  </a:lnTo>
                  <a:lnTo>
                    <a:pt x="108965" y="303275"/>
                  </a:lnTo>
                  <a:lnTo>
                    <a:pt x="118871" y="283463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497067" y="2752344"/>
            <a:ext cx="351155" cy="422275"/>
            <a:chOff x="5497067" y="2752344"/>
            <a:chExt cx="351155" cy="422275"/>
          </a:xfrm>
        </p:grpSpPr>
        <p:sp>
          <p:nvSpPr>
            <p:cNvPr id="16" name="object 16"/>
            <p:cNvSpPr/>
            <p:nvPr/>
          </p:nvSpPr>
          <p:spPr>
            <a:xfrm>
              <a:off x="5497067" y="2772156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29350" y="2772029"/>
              <a:ext cx="119380" cy="402590"/>
            </a:xfrm>
            <a:custGeom>
              <a:avLst/>
              <a:gdLst/>
              <a:ahLst/>
              <a:cxnLst/>
              <a:rect l="l" t="t" r="r" b="b"/>
              <a:pathLst>
                <a:path w="119379" h="402589">
                  <a:moveTo>
                    <a:pt x="39601" y="283760"/>
                  </a:moveTo>
                  <a:lnTo>
                    <a:pt x="0" y="284099"/>
                  </a:lnTo>
                  <a:lnTo>
                    <a:pt x="60325" y="402463"/>
                  </a:lnTo>
                  <a:lnTo>
                    <a:pt x="108844" y="303530"/>
                  </a:lnTo>
                  <a:lnTo>
                    <a:pt x="39750" y="303530"/>
                  </a:lnTo>
                  <a:lnTo>
                    <a:pt x="39601" y="283760"/>
                  </a:lnTo>
                  <a:close/>
                </a:path>
                <a:path w="119379" h="402589">
                  <a:moveTo>
                    <a:pt x="118872" y="283082"/>
                  </a:moveTo>
                  <a:lnTo>
                    <a:pt x="39601" y="283760"/>
                  </a:lnTo>
                  <a:lnTo>
                    <a:pt x="39750" y="303530"/>
                  </a:lnTo>
                  <a:lnTo>
                    <a:pt x="79375" y="303275"/>
                  </a:lnTo>
                  <a:lnTo>
                    <a:pt x="79225" y="283421"/>
                  </a:lnTo>
                  <a:lnTo>
                    <a:pt x="118705" y="283421"/>
                  </a:lnTo>
                  <a:lnTo>
                    <a:pt x="118872" y="283082"/>
                  </a:lnTo>
                  <a:close/>
                </a:path>
                <a:path w="119379" h="402589">
                  <a:moveTo>
                    <a:pt x="118705" y="283421"/>
                  </a:moveTo>
                  <a:lnTo>
                    <a:pt x="79225" y="283421"/>
                  </a:lnTo>
                  <a:lnTo>
                    <a:pt x="79375" y="303275"/>
                  </a:lnTo>
                  <a:lnTo>
                    <a:pt x="39750" y="303530"/>
                  </a:lnTo>
                  <a:lnTo>
                    <a:pt x="108844" y="303530"/>
                  </a:lnTo>
                  <a:lnTo>
                    <a:pt x="118705" y="283421"/>
                  </a:lnTo>
                  <a:close/>
                </a:path>
                <a:path w="119379" h="402589">
                  <a:moveTo>
                    <a:pt x="77088" y="0"/>
                  </a:moveTo>
                  <a:lnTo>
                    <a:pt x="37464" y="253"/>
                  </a:lnTo>
                  <a:lnTo>
                    <a:pt x="39601" y="283760"/>
                  </a:lnTo>
                  <a:lnTo>
                    <a:pt x="79225" y="283421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271259" y="3316223"/>
            <a:ext cx="346075" cy="504825"/>
            <a:chOff x="6271259" y="3316223"/>
            <a:chExt cx="346075" cy="504825"/>
          </a:xfrm>
        </p:grpSpPr>
        <p:sp>
          <p:nvSpPr>
            <p:cNvPr id="19" name="object 19"/>
            <p:cNvSpPr/>
            <p:nvPr/>
          </p:nvSpPr>
          <p:spPr>
            <a:xfrm>
              <a:off x="6271259" y="3336035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0" y="0"/>
                  </a:moveTo>
                  <a:lnTo>
                    <a:pt x="286512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98335" y="3336035"/>
              <a:ext cx="119380" cy="485140"/>
            </a:xfrm>
            <a:custGeom>
              <a:avLst/>
              <a:gdLst/>
              <a:ahLst/>
              <a:cxnLst/>
              <a:rect l="l" t="t" r="r" b="b"/>
              <a:pathLst>
                <a:path w="119379" h="485139">
                  <a:moveTo>
                    <a:pt x="39623" y="365759"/>
                  </a:moveTo>
                  <a:lnTo>
                    <a:pt x="0" y="365759"/>
                  </a:lnTo>
                  <a:lnTo>
                    <a:pt x="59436" y="484631"/>
                  </a:lnTo>
                  <a:lnTo>
                    <a:pt x="108965" y="385572"/>
                  </a:lnTo>
                  <a:lnTo>
                    <a:pt x="39623" y="385572"/>
                  </a:lnTo>
                  <a:lnTo>
                    <a:pt x="39623" y="365759"/>
                  </a:lnTo>
                  <a:close/>
                </a:path>
                <a:path w="119379" h="485139">
                  <a:moveTo>
                    <a:pt x="79247" y="0"/>
                  </a:moveTo>
                  <a:lnTo>
                    <a:pt x="39623" y="0"/>
                  </a:lnTo>
                  <a:lnTo>
                    <a:pt x="39623" y="385572"/>
                  </a:lnTo>
                  <a:lnTo>
                    <a:pt x="79247" y="385572"/>
                  </a:lnTo>
                  <a:lnTo>
                    <a:pt x="79247" y="0"/>
                  </a:lnTo>
                  <a:close/>
                </a:path>
                <a:path w="119379" h="485139">
                  <a:moveTo>
                    <a:pt x="118871" y="365759"/>
                  </a:moveTo>
                  <a:lnTo>
                    <a:pt x="79247" y="365759"/>
                  </a:lnTo>
                  <a:lnTo>
                    <a:pt x="79247" y="385572"/>
                  </a:lnTo>
                  <a:lnTo>
                    <a:pt x="108965" y="385572"/>
                  </a:lnTo>
                  <a:lnTo>
                    <a:pt x="118871" y="36575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298575" y="813815"/>
            <a:ext cx="3528060" cy="3267710"/>
            <a:chOff x="1298575" y="813815"/>
            <a:chExt cx="3528060" cy="3267710"/>
          </a:xfrm>
        </p:grpSpPr>
        <p:sp>
          <p:nvSpPr>
            <p:cNvPr id="22" name="object 22"/>
            <p:cNvSpPr/>
            <p:nvPr/>
          </p:nvSpPr>
          <p:spPr>
            <a:xfrm>
              <a:off x="3284220" y="833627"/>
              <a:ext cx="289560" cy="3175"/>
            </a:xfrm>
            <a:custGeom>
              <a:avLst/>
              <a:gdLst/>
              <a:ahLst/>
              <a:cxnLst/>
              <a:rect l="l" t="t" r="r" b="b"/>
              <a:pathLst>
                <a:path w="289560" h="3175">
                  <a:moveTo>
                    <a:pt x="-19812" y="1524"/>
                  </a:moveTo>
                  <a:lnTo>
                    <a:pt x="309371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14344" y="833627"/>
              <a:ext cx="119380" cy="402590"/>
            </a:xfrm>
            <a:custGeom>
              <a:avLst/>
              <a:gdLst/>
              <a:ahLst/>
              <a:cxnLst/>
              <a:rect l="l" t="t" r="r" b="b"/>
              <a:pathLst>
                <a:path w="119379" h="402590">
                  <a:moveTo>
                    <a:pt x="39623" y="283463"/>
                  </a:moveTo>
                  <a:lnTo>
                    <a:pt x="0" y="283463"/>
                  </a:lnTo>
                  <a:lnTo>
                    <a:pt x="59435" y="402336"/>
                  </a:lnTo>
                  <a:lnTo>
                    <a:pt x="108965" y="303275"/>
                  </a:lnTo>
                  <a:lnTo>
                    <a:pt x="39623" y="303275"/>
                  </a:lnTo>
                  <a:lnTo>
                    <a:pt x="39623" y="283463"/>
                  </a:lnTo>
                  <a:close/>
                </a:path>
                <a:path w="119379" h="402590">
                  <a:moveTo>
                    <a:pt x="79247" y="0"/>
                  </a:moveTo>
                  <a:lnTo>
                    <a:pt x="39623" y="0"/>
                  </a:lnTo>
                  <a:lnTo>
                    <a:pt x="39623" y="303275"/>
                  </a:lnTo>
                  <a:lnTo>
                    <a:pt x="79247" y="303275"/>
                  </a:lnTo>
                  <a:lnTo>
                    <a:pt x="79247" y="0"/>
                  </a:lnTo>
                  <a:close/>
                </a:path>
                <a:path w="119379" h="402590">
                  <a:moveTo>
                    <a:pt x="118871" y="283463"/>
                  </a:moveTo>
                  <a:lnTo>
                    <a:pt x="79247" y="283463"/>
                  </a:lnTo>
                  <a:lnTo>
                    <a:pt x="79247" y="303275"/>
                  </a:lnTo>
                  <a:lnTo>
                    <a:pt x="108965" y="303275"/>
                  </a:lnTo>
                  <a:lnTo>
                    <a:pt x="118871" y="283463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57827" y="1479803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37942" y="1479803"/>
              <a:ext cx="1565910" cy="2581910"/>
            </a:xfrm>
            <a:custGeom>
              <a:avLst/>
              <a:gdLst/>
              <a:ahLst/>
              <a:cxnLst/>
              <a:rect l="l" t="t" r="r" b="b"/>
              <a:pathLst>
                <a:path w="1565910" h="2581910">
                  <a:moveTo>
                    <a:pt x="121412" y="923671"/>
                  </a:moveTo>
                  <a:lnTo>
                    <a:pt x="111493" y="903732"/>
                  </a:lnTo>
                  <a:lnTo>
                    <a:pt x="62230" y="804672"/>
                  </a:lnTo>
                  <a:lnTo>
                    <a:pt x="2540" y="923417"/>
                  </a:lnTo>
                  <a:lnTo>
                    <a:pt x="42252" y="923505"/>
                  </a:lnTo>
                  <a:lnTo>
                    <a:pt x="39522" y="2462758"/>
                  </a:lnTo>
                  <a:lnTo>
                    <a:pt x="39497" y="2482570"/>
                  </a:lnTo>
                  <a:lnTo>
                    <a:pt x="39522" y="2462758"/>
                  </a:lnTo>
                  <a:lnTo>
                    <a:pt x="0" y="2462682"/>
                  </a:lnTo>
                  <a:lnTo>
                    <a:pt x="59182" y="2581656"/>
                  </a:lnTo>
                  <a:lnTo>
                    <a:pt x="108940" y="2482634"/>
                  </a:lnTo>
                  <a:lnTo>
                    <a:pt x="118872" y="2462885"/>
                  </a:lnTo>
                  <a:lnTo>
                    <a:pt x="79146" y="2462834"/>
                  </a:lnTo>
                  <a:lnTo>
                    <a:pt x="81876" y="923594"/>
                  </a:lnTo>
                  <a:lnTo>
                    <a:pt x="121412" y="923671"/>
                  </a:lnTo>
                  <a:close/>
                </a:path>
                <a:path w="1565910" h="2581910">
                  <a:moveTo>
                    <a:pt x="795274" y="1569720"/>
                  </a:moveTo>
                  <a:lnTo>
                    <a:pt x="785355" y="1549908"/>
                  </a:lnTo>
                  <a:lnTo>
                    <a:pt x="735838" y="1450848"/>
                  </a:lnTo>
                  <a:lnTo>
                    <a:pt x="676402" y="1569720"/>
                  </a:lnTo>
                  <a:lnTo>
                    <a:pt x="716026" y="1569720"/>
                  </a:lnTo>
                  <a:lnTo>
                    <a:pt x="716026" y="2462784"/>
                  </a:lnTo>
                  <a:lnTo>
                    <a:pt x="676402" y="2462784"/>
                  </a:lnTo>
                  <a:lnTo>
                    <a:pt x="735838" y="2581656"/>
                  </a:lnTo>
                  <a:lnTo>
                    <a:pt x="785355" y="2482596"/>
                  </a:lnTo>
                  <a:lnTo>
                    <a:pt x="795274" y="2462784"/>
                  </a:lnTo>
                  <a:lnTo>
                    <a:pt x="755650" y="2462784"/>
                  </a:lnTo>
                  <a:lnTo>
                    <a:pt x="755650" y="1569720"/>
                  </a:lnTo>
                  <a:lnTo>
                    <a:pt x="795274" y="1569720"/>
                  </a:lnTo>
                  <a:close/>
                </a:path>
                <a:path w="1565910" h="2581910">
                  <a:moveTo>
                    <a:pt x="1468882" y="283464"/>
                  </a:moveTo>
                  <a:lnTo>
                    <a:pt x="1429258" y="283464"/>
                  </a:lnTo>
                  <a:lnTo>
                    <a:pt x="1429258" y="0"/>
                  </a:lnTo>
                  <a:lnTo>
                    <a:pt x="1389634" y="0"/>
                  </a:lnTo>
                  <a:lnTo>
                    <a:pt x="1389634" y="283464"/>
                  </a:lnTo>
                  <a:lnTo>
                    <a:pt x="1350010" y="283464"/>
                  </a:lnTo>
                  <a:lnTo>
                    <a:pt x="1409446" y="402336"/>
                  </a:lnTo>
                  <a:lnTo>
                    <a:pt x="1458976" y="303276"/>
                  </a:lnTo>
                  <a:lnTo>
                    <a:pt x="1468882" y="283464"/>
                  </a:lnTo>
                  <a:close/>
                </a:path>
                <a:path w="1565910" h="2581910">
                  <a:moveTo>
                    <a:pt x="1565656" y="2216277"/>
                  </a:moveTo>
                  <a:lnTo>
                    <a:pt x="1555648" y="2195957"/>
                  </a:lnTo>
                  <a:lnTo>
                    <a:pt x="1506982" y="2097024"/>
                  </a:lnTo>
                  <a:lnTo>
                    <a:pt x="1446784" y="2215515"/>
                  </a:lnTo>
                  <a:lnTo>
                    <a:pt x="1486408" y="2215781"/>
                  </a:lnTo>
                  <a:lnTo>
                    <a:pt x="1484871" y="2462669"/>
                  </a:lnTo>
                  <a:lnTo>
                    <a:pt x="1445260" y="2462415"/>
                  </a:lnTo>
                  <a:lnTo>
                    <a:pt x="1503934" y="2581656"/>
                  </a:lnTo>
                  <a:lnTo>
                    <a:pt x="1554187" y="2482723"/>
                  </a:lnTo>
                  <a:lnTo>
                    <a:pt x="1564132" y="2463165"/>
                  </a:lnTo>
                  <a:lnTo>
                    <a:pt x="1524495" y="2462923"/>
                  </a:lnTo>
                  <a:lnTo>
                    <a:pt x="1526032" y="2216035"/>
                  </a:lnTo>
                  <a:lnTo>
                    <a:pt x="1565656" y="2216277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54835" y="4061459"/>
              <a:ext cx="3472179" cy="0"/>
            </a:xfrm>
            <a:custGeom>
              <a:avLst/>
              <a:gdLst/>
              <a:ahLst/>
              <a:cxnLst/>
              <a:rect l="l" t="t" r="r" b="b"/>
              <a:pathLst>
                <a:path w="3472179">
                  <a:moveTo>
                    <a:pt x="3471672" y="0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8575" y="995171"/>
              <a:ext cx="890269" cy="3066415"/>
            </a:xfrm>
            <a:custGeom>
              <a:avLst/>
              <a:gdLst/>
              <a:ahLst/>
              <a:cxnLst/>
              <a:rect l="l" t="t" r="r" b="b"/>
              <a:pathLst>
                <a:path w="890269" h="3066415">
                  <a:moveTo>
                    <a:pt x="121666" y="118872"/>
                  </a:moveTo>
                  <a:lnTo>
                    <a:pt x="111772" y="99060"/>
                  </a:lnTo>
                  <a:lnTo>
                    <a:pt x="62357" y="0"/>
                  </a:lnTo>
                  <a:lnTo>
                    <a:pt x="2794" y="118872"/>
                  </a:lnTo>
                  <a:lnTo>
                    <a:pt x="42392" y="118872"/>
                  </a:lnTo>
                  <a:lnTo>
                    <a:pt x="39636" y="2947403"/>
                  </a:lnTo>
                  <a:lnTo>
                    <a:pt x="0" y="2947352"/>
                  </a:lnTo>
                  <a:lnTo>
                    <a:pt x="59309" y="3066288"/>
                  </a:lnTo>
                  <a:lnTo>
                    <a:pt x="108953" y="2967240"/>
                  </a:lnTo>
                  <a:lnTo>
                    <a:pt x="118872" y="2947479"/>
                  </a:lnTo>
                  <a:lnTo>
                    <a:pt x="79260" y="2947441"/>
                  </a:lnTo>
                  <a:lnTo>
                    <a:pt x="82016" y="118872"/>
                  </a:lnTo>
                  <a:lnTo>
                    <a:pt x="121666" y="118872"/>
                  </a:lnTo>
                  <a:close/>
                </a:path>
                <a:path w="890269" h="3066415">
                  <a:moveTo>
                    <a:pt x="889889" y="762000"/>
                  </a:moveTo>
                  <a:lnTo>
                    <a:pt x="879983" y="742188"/>
                  </a:lnTo>
                  <a:lnTo>
                    <a:pt x="830453" y="643128"/>
                  </a:lnTo>
                  <a:lnTo>
                    <a:pt x="771017" y="762000"/>
                  </a:lnTo>
                  <a:lnTo>
                    <a:pt x="810641" y="762000"/>
                  </a:lnTo>
                  <a:lnTo>
                    <a:pt x="810641" y="2947416"/>
                  </a:lnTo>
                  <a:lnTo>
                    <a:pt x="771017" y="2947416"/>
                  </a:lnTo>
                  <a:lnTo>
                    <a:pt x="830453" y="3066288"/>
                  </a:lnTo>
                  <a:lnTo>
                    <a:pt x="879983" y="2967228"/>
                  </a:lnTo>
                  <a:lnTo>
                    <a:pt x="889889" y="2947416"/>
                  </a:lnTo>
                  <a:lnTo>
                    <a:pt x="850265" y="2947416"/>
                  </a:lnTo>
                  <a:lnTo>
                    <a:pt x="850265" y="762000"/>
                  </a:lnTo>
                  <a:lnTo>
                    <a:pt x="889889" y="76200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433307" y="479338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602" y="280872"/>
            <a:ext cx="36912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solidFill>
                  <a:srgbClr val="000000"/>
                </a:solidFill>
              </a:rPr>
              <a:t>Waterfall</a:t>
            </a:r>
            <a:r>
              <a:rPr sz="3600" spc="-8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Strengths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615" y="905520"/>
            <a:ext cx="8491220" cy="3121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1600200" indent="-344805">
              <a:lnSpc>
                <a:spcPct val="1201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25" dirty="0">
                <a:latin typeface="Calibri"/>
                <a:cs typeface="Calibri"/>
              </a:rPr>
              <a:t>Easy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understand,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easy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use,</a:t>
            </a:r>
            <a:r>
              <a:rPr sz="2800" dirty="0">
                <a:latin typeface="Calibri"/>
                <a:cs typeface="Calibri"/>
              </a:rPr>
              <a:t> especially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inexperienced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staff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Calibri"/>
                <a:cs typeface="Calibri"/>
              </a:rPr>
              <a:t>Milestones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well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understood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team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0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0" dirty="0">
                <a:latin typeface="Calibri"/>
                <a:cs typeface="Calibri"/>
              </a:rPr>
              <a:t>Provides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stability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during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5" dirty="0">
                <a:latin typeface="Calibri"/>
                <a:cs typeface="Calibri"/>
              </a:rPr>
              <a:t>Facilitates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strong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control</a:t>
            </a:r>
            <a:r>
              <a:rPr sz="2800" spc="-5" dirty="0">
                <a:latin typeface="Calibri"/>
                <a:cs typeface="Calibri"/>
              </a:rPr>
              <a:t> (plan,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staff, </a:t>
            </a:r>
            <a:r>
              <a:rPr sz="2800" spc="-10" dirty="0">
                <a:latin typeface="Calibri"/>
                <a:cs typeface="Calibri"/>
              </a:rPr>
              <a:t>track)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5689" y="299669"/>
            <a:ext cx="36887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solidFill>
                  <a:srgbClr val="000000"/>
                </a:solidFill>
              </a:rPr>
              <a:t>Waterfall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Deficiencies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945398"/>
            <a:ext cx="8339455" cy="304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201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known</a:t>
            </a:r>
            <a:r>
              <a:rPr sz="2800" spc="-15" dirty="0">
                <a:latin typeface="Calibri"/>
                <a:cs typeface="Calibri"/>
              </a:rPr>
              <a:t> upfront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– 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in</a:t>
            </a:r>
            <a:r>
              <a:rPr sz="28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most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 projects</a:t>
            </a:r>
            <a:r>
              <a:rPr sz="2800" b="1" spc="-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requirement</a:t>
            </a:r>
            <a:r>
              <a:rPr sz="2800" b="1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change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occurs</a:t>
            </a:r>
            <a:r>
              <a:rPr sz="2800" b="1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after</a:t>
            </a:r>
            <a:r>
              <a:rPr sz="28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project</a:t>
            </a:r>
            <a:r>
              <a:rPr sz="28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start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Calibri"/>
                <a:cs typeface="Calibri"/>
              </a:rPr>
              <a:t>Can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give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false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impression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progress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5" dirty="0">
                <a:latin typeface="Calibri"/>
                <a:cs typeface="Calibri"/>
              </a:rPr>
              <a:t>Integration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 one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big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end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0" dirty="0">
                <a:latin typeface="Calibri"/>
                <a:cs typeface="Calibri"/>
              </a:rPr>
              <a:t>Little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opportunity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pre-view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2813" y="326593"/>
            <a:ext cx="5586730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10" dirty="0">
                <a:solidFill>
                  <a:srgbClr val="000000"/>
                </a:solidFill>
              </a:rPr>
              <a:t>When</a:t>
            </a:r>
            <a:r>
              <a:rPr sz="3050" spc="-60" dirty="0">
                <a:solidFill>
                  <a:srgbClr val="000000"/>
                </a:solidFill>
              </a:rPr>
              <a:t> </a:t>
            </a:r>
            <a:r>
              <a:rPr sz="3050" spc="-10" dirty="0">
                <a:solidFill>
                  <a:srgbClr val="000000"/>
                </a:solidFill>
              </a:rPr>
              <a:t>to</a:t>
            </a:r>
            <a:r>
              <a:rPr sz="3050" spc="-20" dirty="0">
                <a:solidFill>
                  <a:srgbClr val="000000"/>
                </a:solidFill>
              </a:rPr>
              <a:t> </a:t>
            </a:r>
            <a:r>
              <a:rPr sz="3050" spc="10" dirty="0">
                <a:solidFill>
                  <a:srgbClr val="000000"/>
                </a:solidFill>
              </a:rPr>
              <a:t>use</a:t>
            </a:r>
            <a:r>
              <a:rPr sz="3050" spc="-30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the</a:t>
            </a:r>
            <a:r>
              <a:rPr sz="3050" spc="-30" dirty="0">
                <a:solidFill>
                  <a:srgbClr val="000000"/>
                </a:solidFill>
              </a:rPr>
              <a:t> </a:t>
            </a:r>
            <a:r>
              <a:rPr sz="3050" spc="-25" dirty="0">
                <a:solidFill>
                  <a:srgbClr val="000000"/>
                </a:solidFill>
              </a:rPr>
              <a:t>Waterfall</a:t>
            </a:r>
            <a:r>
              <a:rPr sz="3050" spc="-1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Model?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307340" y="1148918"/>
            <a:ext cx="8304530" cy="398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10" dirty="0">
                <a:latin typeface="Calibri"/>
                <a:cs typeface="Calibri"/>
              </a:rPr>
              <a:t>Requirements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well </a:t>
            </a:r>
            <a:r>
              <a:rPr sz="3000" dirty="0">
                <a:latin typeface="Calibri"/>
                <a:cs typeface="Calibri"/>
              </a:rPr>
              <a:t>known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stable</a:t>
            </a:r>
            <a:endParaRPr sz="3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30" dirty="0">
                <a:latin typeface="Calibri"/>
                <a:cs typeface="Calibri"/>
              </a:rPr>
              <a:t>Technology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15" dirty="0">
                <a:latin typeface="Calibri"/>
                <a:cs typeface="Calibri"/>
              </a:rPr>
              <a:t>understood</a:t>
            </a:r>
            <a:endParaRPr sz="3000">
              <a:latin typeface="Calibri"/>
              <a:cs typeface="Calibri"/>
            </a:endParaRPr>
          </a:p>
          <a:p>
            <a:pPr marL="356870" marR="474980" indent="-344805">
              <a:lnSpc>
                <a:spcPct val="124700"/>
              </a:lnSpc>
              <a:spcBef>
                <a:spcPts val="151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10" dirty="0">
                <a:latin typeface="Calibri"/>
                <a:cs typeface="Calibri"/>
              </a:rPr>
              <a:t>Development </a:t>
            </a:r>
            <a:r>
              <a:rPr sz="3000" spc="-5" dirty="0">
                <a:latin typeface="Calibri"/>
                <a:cs typeface="Calibri"/>
              </a:rPr>
              <a:t>team </a:t>
            </a:r>
            <a:r>
              <a:rPr sz="3000" spc="-25" dirty="0">
                <a:latin typeface="Calibri"/>
                <a:cs typeface="Calibri"/>
              </a:rPr>
              <a:t>have </a:t>
            </a:r>
            <a:r>
              <a:rPr sz="3000" spc="-10" dirty="0">
                <a:latin typeface="Calibri"/>
                <a:cs typeface="Calibri"/>
              </a:rPr>
              <a:t>experience </a:t>
            </a:r>
            <a:r>
              <a:rPr sz="3000" spc="-5" dirty="0">
                <a:latin typeface="Calibri"/>
                <a:cs typeface="Calibri"/>
              </a:rPr>
              <a:t>with </a:t>
            </a:r>
            <a:r>
              <a:rPr sz="3000" dirty="0">
                <a:latin typeface="Calibri"/>
                <a:cs typeface="Calibri"/>
              </a:rPr>
              <a:t>similar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projects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200" b="1" spc="-15" dirty="0">
                <a:solidFill>
                  <a:srgbClr val="888888"/>
                </a:solidFill>
                <a:latin typeface="Calibri"/>
                <a:cs typeface="Calibri"/>
              </a:rPr>
              <a:t>62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1789" y="373456"/>
            <a:ext cx="48025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Classical</a:t>
            </a:r>
            <a:r>
              <a:rPr dirty="0"/>
              <a:t> </a:t>
            </a:r>
            <a:r>
              <a:rPr spc="-35" dirty="0"/>
              <a:t>Waterfall</a:t>
            </a:r>
            <a:r>
              <a:rPr spc="-5" dirty="0"/>
              <a:t> </a:t>
            </a:r>
            <a:r>
              <a:rPr spc="-10" dirty="0"/>
              <a:t>Model</a:t>
            </a:r>
            <a:r>
              <a:rPr spc="35" dirty="0"/>
              <a:t> </a:t>
            </a:r>
            <a:r>
              <a:rPr sz="1050" dirty="0"/>
              <a:t>(CONT.)</a:t>
            </a:r>
            <a:endParaRPr sz="1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1132712"/>
            <a:ext cx="8919845" cy="2594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15" dirty="0">
                <a:latin typeface="Calibri"/>
                <a:cs typeface="Calibri"/>
              </a:rPr>
              <a:t>Irrespective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life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cycle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model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actually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followed:</a:t>
            </a:r>
            <a:endParaRPr sz="3200">
              <a:latin typeface="Calibri"/>
              <a:cs typeface="Calibri"/>
            </a:endParaRPr>
          </a:p>
          <a:p>
            <a:pPr marL="515620" marR="254635" indent="-192405">
              <a:lnSpc>
                <a:spcPct val="130100"/>
              </a:lnSpc>
              <a:spcBef>
                <a:spcPts val="167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documents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should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reflect 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classical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waterfall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tabLst>
                <a:tab pos="4913630" algn="l"/>
              </a:tabLst>
            </a:pPr>
            <a:r>
              <a:rPr sz="2800" spc="-10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800" b="1" spc="-10" dirty="0">
                <a:solidFill>
                  <a:srgbClr val="000099"/>
                </a:solidFill>
                <a:latin typeface="Calibri"/>
                <a:cs typeface="Calibri"/>
              </a:rPr>
              <a:t>Facilitates</a:t>
            </a:r>
            <a:r>
              <a:rPr sz="2800" b="1" spc="-6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99"/>
                </a:solidFill>
                <a:latin typeface="Calibri"/>
                <a:cs typeface="Calibri"/>
              </a:rPr>
              <a:t>comprehension</a:t>
            </a:r>
            <a:r>
              <a:rPr sz="2800" b="1" spc="-5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99"/>
                </a:solidFill>
                <a:latin typeface="Calibri"/>
                <a:cs typeface="Calibri"/>
              </a:rPr>
              <a:t>of	</a:t>
            </a:r>
            <a:r>
              <a:rPr sz="2800" b="1" spc="5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2800" b="1" spc="-5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99"/>
                </a:solidFill>
                <a:latin typeface="Calibri"/>
                <a:cs typeface="Calibri"/>
              </a:rPr>
              <a:t>documents.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9414" y="401193"/>
            <a:ext cx="480187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Classical</a:t>
            </a:r>
            <a:r>
              <a:rPr spc="-15" dirty="0"/>
              <a:t> </a:t>
            </a:r>
            <a:r>
              <a:rPr spc="-30" dirty="0"/>
              <a:t>Waterfall</a:t>
            </a:r>
            <a:r>
              <a:rPr spc="-10" dirty="0"/>
              <a:t> Model</a:t>
            </a:r>
            <a:r>
              <a:rPr spc="65" dirty="0"/>
              <a:t> </a:t>
            </a:r>
            <a:r>
              <a:rPr sz="1050" dirty="0"/>
              <a:t>(CONT.)</a:t>
            </a:r>
            <a:endParaRPr sz="1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706" y="1177239"/>
            <a:ext cx="8769985" cy="284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3000" spc="-10" dirty="0">
                <a:solidFill>
                  <a:srgbClr val="800000"/>
                </a:solidFill>
                <a:latin typeface="Calibri"/>
                <a:cs typeface="Calibri"/>
              </a:rPr>
              <a:t>Metaphor</a:t>
            </a:r>
            <a:r>
              <a:rPr sz="3000" spc="-2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800000"/>
                </a:solidFill>
                <a:latin typeface="Calibri"/>
                <a:cs typeface="Calibri"/>
              </a:rPr>
              <a:t>of</a:t>
            </a:r>
            <a:r>
              <a:rPr sz="3000" spc="-10" dirty="0">
                <a:solidFill>
                  <a:srgbClr val="800000"/>
                </a:solidFill>
                <a:latin typeface="Calibri"/>
                <a:cs typeface="Calibri"/>
              </a:rPr>
              <a:t> mathematical</a:t>
            </a:r>
            <a:r>
              <a:rPr sz="3000" spc="-7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800000"/>
                </a:solidFill>
                <a:latin typeface="Calibri"/>
                <a:cs typeface="Calibri"/>
              </a:rPr>
              <a:t>theorem</a:t>
            </a:r>
            <a:r>
              <a:rPr sz="3000" spc="-6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800000"/>
                </a:solidFill>
                <a:latin typeface="Calibri"/>
                <a:cs typeface="Calibri"/>
              </a:rPr>
              <a:t>proving:</a:t>
            </a:r>
            <a:endParaRPr sz="3000">
              <a:latin typeface="Calibri"/>
              <a:cs typeface="Calibri"/>
            </a:endParaRPr>
          </a:p>
          <a:p>
            <a:pPr marL="514984" marR="789305" indent="-192405">
              <a:lnSpc>
                <a:spcPct val="120800"/>
              </a:lnSpc>
              <a:spcBef>
                <a:spcPts val="1839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mathematician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presents</a:t>
            </a:r>
            <a:r>
              <a:rPr sz="2700" spc="8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proof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single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chain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deductions,</a:t>
            </a:r>
            <a:endParaRPr sz="2700">
              <a:latin typeface="Calibri"/>
              <a:cs typeface="Calibri"/>
            </a:endParaRPr>
          </a:p>
          <a:p>
            <a:pPr marL="789940" marR="5080" lvl="1" indent="-155575">
              <a:lnSpc>
                <a:spcPct val="120100"/>
              </a:lnSpc>
              <a:spcBef>
                <a:spcPts val="1870"/>
              </a:spcBef>
              <a:buFont typeface="Arial MT"/>
              <a:buChar char="•"/>
              <a:tabLst>
                <a:tab pos="789940" algn="l"/>
                <a:tab pos="3761104" algn="l"/>
              </a:tabLst>
            </a:pPr>
            <a:r>
              <a:rPr sz="2450" spc="-20" dirty="0">
                <a:latin typeface="Calibri"/>
                <a:cs typeface="Calibri"/>
              </a:rPr>
              <a:t>Even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though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proof	</a:t>
            </a:r>
            <a:r>
              <a:rPr sz="2450" spc="-10" dirty="0">
                <a:latin typeface="Calibri"/>
                <a:cs typeface="Calibri"/>
              </a:rPr>
              <a:t>might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have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come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from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convoluted</a:t>
            </a:r>
            <a:r>
              <a:rPr sz="2450" spc="-10" dirty="0">
                <a:latin typeface="Calibri"/>
                <a:cs typeface="Calibri"/>
              </a:rPr>
              <a:t> set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partial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attempts,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blind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alleys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backtracks.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2414" y="4702860"/>
            <a:ext cx="61087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15" dirty="0">
                <a:latin typeface="Arial MT"/>
                <a:cs typeface="Arial MT"/>
              </a:rPr>
              <a:t>7</a:t>
            </a:r>
            <a:r>
              <a:rPr sz="1000" spc="5" dirty="0">
                <a:latin typeface="Arial MT"/>
                <a:cs typeface="Arial MT"/>
              </a:rPr>
              <a:t>/</a:t>
            </a:r>
            <a:r>
              <a:rPr sz="1000" spc="15" dirty="0">
                <a:latin typeface="Arial MT"/>
                <a:cs typeface="Arial MT"/>
              </a:rPr>
              <a:t>18</a:t>
            </a:r>
            <a:r>
              <a:rPr sz="1000" spc="5" dirty="0">
                <a:latin typeface="Arial MT"/>
                <a:cs typeface="Arial MT"/>
              </a:rPr>
              <a:t>/</a:t>
            </a:r>
            <a:r>
              <a:rPr sz="1000" spc="15" dirty="0">
                <a:latin typeface="Arial MT"/>
                <a:cs typeface="Arial MT"/>
              </a:rPr>
              <a:t>2020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1051" y="1354835"/>
            <a:ext cx="4197350" cy="171323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298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0"/>
              </a:spcBef>
            </a:pPr>
            <a:r>
              <a:rPr sz="6600" dirty="0">
                <a:solidFill>
                  <a:srgbClr val="0000FF"/>
                </a:solidFill>
              </a:rPr>
              <a:t>V</a:t>
            </a:r>
            <a:r>
              <a:rPr sz="6600" spc="-45" dirty="0">
                <a:solidFill>
                  <a:srgbClr val="0000FF"/>
                </a:solidFill>
              </a:rPr>
              <a:t> </a:t>
            </a:r>
            <a:r>
              <a:rPr sz="6600" spc="-5" dirty="0">
                <a:solidFill>
                  <a:srgbClr val="0000FF"/>
                </a:solidFill>
              </a:rPr>
              <a:t>Model</a:t>
            </a:r>
            <a:endParaRPr sz="6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0438" y="126949"/>
            <a:ext cx="1805939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8634" algn="l"/>
              </a:tabLst>
            </a:pPr>
            <a:r>
              <a:rPr sz="3750" spc="-5" dirty="0">
                <a:solidFill>
                  <a:srgbClr val="000000"/>
                </a:solidFill>
              </a:rPr>
              <a:t>V	</a:t>
            </a:r>
            <a:r>
              <a:rPr sz="3750" spc="-10" dirty="0">
                <a:solidFill>
                  <a:srgbClr val="000000"/>
                </a:solidFill>
              </a:rPr>
              <a:t>Mod</a:t>
            </a:r>
            <a:r>
              <a:rPr sz="3750" dirty="0">
                <a:solidFill>
                  <a:srgbClr val="000000"/>
                </a:solidFill>
              </a:rPr>
              <a:t>e</a:t>
            </a:r>
            <a:r>
              <a:rPr sz="3750" spc="-5" dirty="0">
                <a:solidFill>
                  <a:srgbClr val="000000"/>
                </a:solidFill>
              </a:rPr>
              <a:t>l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501482"/>
            <a:ext cx="7796530" cy="3905885"/>
          </a:xfrm>
          <a:prstGeom prst="rect">
            <a:avLst/>
          </a:prstGeom>
        </p:spPr>
        <p:txBody>
          <a:bodyPr vert="horz" wrap="square" lIns="0" tIns="2800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22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variant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Waterfall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10"/>
              </a:spcBef>
              <a:buFont typeface="Arial MT"/>
              <a:buChar char="–"/>
              <a:tabLst>
                <a:tab pos="756920" algn="l"/>
                <a:tab pos="2535555" algn="l"/>
              </a:tabLst>
            </a:pPr>
            <a:r>
              <a:rPr sz="2700" spc="-10" dirty="0">
                <a:latin typeface="Calibri"/>
                <a:cs typeface="Calibri"/>
              </a:rPr>
              <a:t>emphasizes	</a:t>
            </a:r>
            <a:r>
              <a:rPr sz="2700" spc="-5" dirty="0">
                <a:latin typeface="Calibri"/>
                <a:cs typeface="Calibri"/>
              </a:rPr>
              <a:t>verification</a:t>
            </a:r>
            <a:r>
              <a:rPr sz="2700" dirty="0">
                <a:latin typeface="Calibri"/>
                <a:cs typeface="Calibri"/>
              </a:rPr>
              <a:t> and</a:t>
            </a:r>
            <a:r>
              <a:rPr sz="2700" spc="-5" dirty="0">
                <a:latin typeface="Calibri"/>
                <a:cs typeface="Calibri"/>
              </a:rPr>
              <a:t> validation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75"/>
              </a:spcBef>
              <a:buFont typeface="Arial MT"/>
              <a:buChar char="–"/>
              <a:tabLst>
                <a:tab pos="756920" algn="l"/>
              </a:tabLst>
            </a:pPr>
            <a:r>
              <a:rPr sz="2700" dirty="0">
                <a:latin typeface="Calibri"/>
                <a:cs typeface="Calibri"/>
              </a:rPr>
              <a:t>V&amp;V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activities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are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spread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over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entire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life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cycle.</a:t>
            </a:r>
            <a:endParaRPr sz="27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8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3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every</a:t>
            </a:r>
            <a:r>
              <a:rPr sz="3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phase</a:t>
            </a:r>
            <a:r>
              <a:rPr sz="3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 development:</a:t>
            </a:r>
            <a:endParaRPr sz="3000">
              <a:latin typeface="Calibri"/>
              <a:cs typeface="Calibri"/>
            </a:endParaRPr>
          </a:p>
          <a:p>
            <a:pPr marL="756285" marR="756285" lvl="1" indent="-287020">
              <a:lnSpc>
                <a:spcPct val="121500"/>
              </a:lnSpc>
              <a:spcBef>
                <a:spcPts val="1215"/>
              </a:spcBef>
              <a:buFont typeface="Arial MT"/>
              <a:buChar char="–"/>
              <a:tabLst>
                <a:tab pos="756920" algn="l"/>
                <a:tab pos="1892935" algn="l"/>
              </a:tabLst>
            </a:pPr>
            <a:r>
              <a:rPr sz="2700" spc="-35" dirty="0">
                <a:solidFill>
                  <a:srgbClr val="0000FF"/>
                </a:solidFill>
                <a:latin typeface="Calibri"/>
                <a:cs typeface="Calibri"/>
              </a:rPr>
              <a:t>Testing	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activities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27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planned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parallel</a:t>
            </a:r>
            <a:r>
              <a:rPr sz="27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with </a:t>
            </a:r>
            <a:r>
              <a:rPr sz="2700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development.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200" y="722375"/>
            <a:ext cx="3108960" cy="3221355"/>
          </a:xfrm>
          <a:custGeom>
            <a:avLst/>
            <a:gdLst/>
            <a:ahLst/>
            <a:cxnLst/>
            <a:rect l="l" t="t" r="r" b="b"/>
            <a:pathLst>
              <a:path w="3108960" h="3221354">
                <a:moveTo>
                  <a:pt x="0" y="0"/>
                </a:moveTo>
                <a:lnTo>
                  <a:pt x="3108960" y="3221101"/>
                </a:lnTo>
              </a:path>
            </a:pathLst>
          </a:custGeom>
          <a:ln w="7315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53000" y="591311"/>
            <a:ext cx="3048000" cy="3352800"/>
          </a:xfrm>
          <a:custGeom>
            <a:avLst/>
            <a:gdLst/>
            <a:ahLst/>
            <a:cxnLst/>
            <a:rect l="l" t="t" r="r" b="b"/>
            <a:pathLst>
              <a:path w="3048000" h="3352800">
                <a:moveTo>
                  <a:pt x="3048000" y="0"/>
                </a:moveTo>
                <a:lnTo>
                  <a:pt x="0" y="3352800"/>
                </a:lnTo>
              </a:path>
            </a:pathLst>
          </a:custGeom>
          <a:ln w="7315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000" y="438911"/>
            <a:ext cx="1914525" cy="57658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250190">
              <a:lnSpc>
                <a:spcPct val="100000"/>
              </a:lnSpc>
            </a:pPr>
            <a:r>
              <a:rPr sz="1350" dirty="0">
                <a:solidFill>
                  <a:srgbClr val="000000"/>
                </a:solidFill>
              </a:rPr>
              <a:t>Project </a:t>
            </a:r>
            <a:r>
              <a:rPr sz="1350" spc="5" dirty="0">
                <a:solidFill>
                  <a:srgbClr val="000000"/>
                </a:solidFill>
              </a:rPr>
              <a:t>Planning</a:t>
            </a:r>
            <a:endParaRPr sz="135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48856" y="438911"/>
            <a:ext cx="1838325" cy="57658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2095">
              <a:lnSpc>
                <a:spcPts val="1375"/>
              </a:lnSpc>
            </a:pPr>
            <a:r>
              <a:rPr sz="1350" b="1" spc="5" dirty="0">
                <a:latin typeface="Calibri"/>
                <a:cs typeface="Calibri"/>
              </a:rPr>
              <a:t>Production,</a:t>
            </a:r>
            <a:endParaRPr sz="1350">
              <a:latin typeface="Calibri"/>
              <a:cs typeface="Calibri"/>
            </a:endParaRPr>
          </a:p>
          <a:p>
            <a:pPr marL="252095">
              <a:lnSpc>
                <a:spcPts val="1525"/>
              </a:lnSpc>
            </a:pPr>
            <a:r>
              <a:rPr sz="1350" b="1" dirty="0">
                <a:latin typeface="Calibri"/>
                <a:cs typeface="Calibri"/>
              </a:rPr>
              <a:t>Operation</a:t>
            </a:r>
            <a:r>
              <a:rPr sz="1350" b="1" spc="-60" dirty="0">
                <a:latin typeface="Calibri"/>
                <a:cs typeface="Calibri"/>
              </a:rPr>
              <a:t> </a:t>
            </a:r>
            <a:r>
              <a:rPr sz="1350" b="1" spc="10" dirty="0">
                <a:latin typeface="Calibri"/>
                <a:cs typeface="Calibri"/>
              </a:rPr>
              <a:t>&amp;</a:t>
            </a:r>
            <a:endParaRPr sz="1350">
              <a:latin typeface="Calibri"/>
              <a:cs typeface="Calibri"/>
            </a:endParaRPr>
          </a:p>
          <a:p>
            <a:pPr marL="252095">
              <a:lnSpc>
                <a:spcPts val="1565"/>
              </a:lnSpc>
            </a:pPr>
            <a:r>
              <a:rPr sz="1350" b="1" spc="5" dirty="0">
                <a:latin typeface="Calibri"/>
                <a:cs typeface="Calibri"/>
              </a:rPr>
              <a:t>Maintenance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3375" y="1295399"/>
            <a:ext cx="2390140" cy="692150"/>
          </a:xfrm>
          <a:prstGeom prst="rect">
            <a:avLst/>
          </a:prstGeom>
          <a:solidFill>
            <a:srgbClr val="FFFF99"/>
          </a:solidFill>
          <a:ln w="24383">
            <a:solidFill>
              <a:srgbClr val="385D89"/>
            </a:solidFill>
          </a:ln>
        </p:spPr>
        <p:txBody>
          <a:bodyPr vert="horz" wrap="square" lIns="0" tIns="143510" rIns="0" bIns="0" rtlCol="0">
            <a:spAutoFit/>
          </a:bodyPr>
          <a:lstStyle/>
          <a:p>
            <a:pPr marL="250190" marR="1120775">
              <a:lnSpc>
                <a:spcPts val="1540"/>
              </a:lnSpc>
              <a:spcBef>
                <a:spcPts val="1130"/>
              </a:spcBef>
            </a:pPr>
            <a:r>
              <a:rPr sz="1350" b="1" spc="-20" dirty="0">
                <a:latin typeface="Calibri"/>
                <a:cs typeface="Calibri"/>
              </a:rPr>
              <a:t>R</a:t>
            </a:r>
            <a:r>
              <a:rPr sz="1350" b="1" spc="10" dirty="0">
                <a:latin typeface="Calibri"/>
                <a:cs typeface="Calibri"/>
              </a:rPr>
              <a:t>equ</a:t>
            </a:r>
            <a:r>
              <a:rPr sz="1350" b="1" dirty="0">
                <a:latin typeface="Calibri"/>
                <a:cs typeface="Calibri"/>
              </a:rPr>
              <a:t>i</a:t>
            </a:r>
            <a:r>
              <a:rPr sz="1350" b="1" spc="-25" dirty="0">
                <a:latin typeface="Calibri"/>
                <a:cs typeface="Calibri"/>
              </a:rPr>
              <a:t>r</a:t>
            </a:r>
            <a:r>
              <a:rPr sz="1350" b="1" spc="10" dirty="0">
                <a:latin typeface="Calibri"/>
                <a:cs typeface="Calibri"/>
              </a:rPr>
              <a:t>e</a:t>
            </a:r>
            <a:r>
              <a:rPr sz="1350" b="1" dirty="0">
                <a:latin typeface="Calibri"/>
                <a:cs typeface="Calibri"/>
              </a:rPr>
              <a:t>m</a:t>
            </a:r>
            <a:r>
              <a:rPr sz="1350" b="1" spc="10" dirty="0">
                <a:latin typeface="Calibri"/>
                <a:cs typeface="Calibri"/>
              </a:rPr>
              <a:t>e</a:t>
            </a:r>
            <a:r>
              <a:rPr sz="1350" b="1" spc="-10" dirty="0">
                <a:latin typeface="Calibri"/>
                <a:cs typeface="Calibri"/>
              </a:rPr>
              <a:t>n</a:t>
            </a:r>
            <a:r>
              <a:rPr sz="1350" b="1" spc="5" dirty="0">
                <a:latin typeface="Calibri"/>
                <a:cs typeface="Calibri"/>
              </a:rPr>
              <a:t>ts  Specification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3432" y="1295399"/>
            <a:ext cx="2188845" cy="59436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450850">
              <a:lnSpc>
                <a:spcPct val="100000"/>
              </a:lnSpc>
            </a:pPr>
            <a:r>
              <a:rPr sz="1350" b="1" spc="-5" dirty="0">
                <a:latin typeface="Calibri"/>
                <a:cs typeface="Calibri"/>
              </a:rPr>
              <a:t>System</a:t>
            </a:r>
            <a:r>
              <a:rPr sz="1350" b="1" spc="280" dirty="0">
                <a:latin typeface="Calibri"/>
                <a:cs typeface="Calibri"/>
              </a:rPr>
              <a:t> </a:t>
            </a:r>
            <a:r>
              <a:rPr sz="1350" b="1" spc="-15" dirty="0">
                <a:latin typeface="Calibri"/>
                <a:cs typeface="Calibri"/>
              </a:rPr>
              <a:t>Testing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2600" y="2273807"/>
            <a:ext cx="2118360" cy="478790"/>
          </a:xfrm>
          <a:prstGeom prst="rect">
            <a:avLst/>
          </a:prstGeom>
          <a:solidFill>
            <a:srgbClr val="FFFF99"/>
          </a:solidFill>
          <a:ln w="24383">
            <a:solidFill>
              <a:srgbClr val="385D89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935"/>
              </a:spcBef>
            </a:pPr>
            <a:r>
              <a:rPr sz="1350" b="1" spc="5" dirty="0">
                <a:latin typeface="Calibri"/>
                <a:cs typeface="Calibri"/>
              </a:rPr>
              <a:t>High</a:t>
            </a:r>
            <a:r>
              <a:rPr sz="1350" b="1" spc="-20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Level</a:t>
            </a:r>
            <a:r>
              <a:rPr sz="1350" b="1" spc="-10" dirty="0">
                <a:latin typeface="Calibri"/>
                <a:cs typeface="Calibri"/>
              </a:rPr>
              <a:t> </a:t>
            </a:r>
            <a:r>
              <a:rPr sz="1350" b="1" spc="5" dirty="0">
                <a:latin typeface="Calibri"/>
                <a:cs typeface="Calibri"/>
              </a:rPr>
              <a:t>Design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1200" y="2258567"/>
            <a:ext cx="1920239" cy="47879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955"/>
              </a:spcBef>
            </a:pPr>
            <a:r>
              <a:rPr sz="1350" b="1" spc="-5" dirty="0">
                <a:latin typeface="Calibri"/>
                <a:cs typeface="Calibri"/>
              </a:rPr>
              <a:t>Integration</a:t>
            </a:r>
            <a:r>
              <a:rPr sz="1350" b="1" spc="-25" dirty="0">
                <a:latin typeface="Calibri"/>
                <a:cs typeface="Calibri"/>
              </a:rPr>
              <a:t> </a:t>
            </a:r>
            <a:r>
              <a:rPr sz="1350" b="1" spc="-15" dirty="0">
                <a:latin typeface="Calibri"/>
                <a:cs typeface="Calibri"/>
              </a:rPr>
              <a:t>Testing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767" y="3002279"/>
            <a:ext cx="1911350" cy="478790"/>
          </a:xfrm>
          <a:prstGeom prst="rect">
            <a:avLst/>
          </a:prstGeom>
          <a:solidFill>
            <a:srgbClr val="FFFF99"/>
          </a:solidFill>
          <a:ln w="24383">
            <a:solidFill>
              <a:srgbClr val="385D89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940"/>
              </a:spcBef>
            </a:pPr>
            <a:r>
              <a:rPr sz="1350" b="1" spc="5" dirty="0">
                <a:latin typeface="Calibri"/>
                <a:cs typeface="Calibri"/>
              </a:rPr>
              <a:t>Detailed</a:t>
            </a:r>
            <a:r>
              <a:rPr sz="1350" b="1" spc="-40" dirty="0">
                <a:latin typeface="Calibri"/>
                <a:cs typeface="Calibri"/>
              </a:rPr>
              <a:t> </a:t>
            </a:r>
            <a:r>
              <a:rPr sz="1350" b="1" spc="5" dirty="0">
                <a:latin typeface="Calibri"/>
                <a:cs typeface="Calibri"/>
              </a:rPr>
              <a:t>Design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0784" y="3023616"/>
            <a:ext cx="1706880" cy="47879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940"/>
              </a:spcBef>
            </a:pPr>
            <a:r>
              <a:rPr sz="1350" b="1" spc="5" dirty="0">
                <a:latin typeface="Calibri"/>
                <a:cs typeface="Calibri"/>
              </a:rPr>
              <a:t>Unit</a:t>
            </a:r>
            <a:r>
              <a:rPr sz="1350" b="1" spc="-45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testing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8703" y="3694176"/>
            <a:ext cx="1521460" cy="478790"/>
          </a:xfrm>
          <a:prstGeom prst="rect">
            <a:avLst/>
          </a:prstGeom>
          <a:solidFill>
            <a:srgbClr val="FFFF99"/>
          </a:solidFill>
          <a:ln w="24383">
            <a:solidFill>
              <a:srgbClr val="385D89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770"/>
              </a:spcBef>
            </a:pPr>
            <a:r>
              <a:rPr sz="1600" b="1" dirty="0">
                <a:latin typeface="Calibri"/>
                <a:cs typeface="Calibri"/>
              </a:rPr>
              <a:t>Coding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77541" y="594042"/>
            <a:ext cx="4173854" cy="2778125"/>
          </a:xfrm>
          <a:custGeom>
            <a:avLst/>
            <a:gdLst/>
            <a:ahLst/>
            <a:cxnLst/>
            <a:rect l="l" t="t" r="r" b="b"/>
            <a:pathLst>
              <a:path w="4173854" h="2778125">
                <a:moveTo>
                  <a:pt x="231267" y="162369"/>
                </a:moveTo>
                <a:lnTo>
                  <a:pt x="231140" y="104457"/>
                </a:lnTo>
                <a:lnTo>
                  <a:pt x="173228" y="104584"/>
                </a:lnTo>
                <a:lnTo>
                  <a:pt x="173355" y="162496"/>
                </a:lnTo>
                <a:lnTo>
                  <a:pt x="231267" y="162369"/>
                </a:lnTo>
                <a:close/>
              </a:path>
              <a:path w="4173854" h="2778125">
                <a:moveTo>
                  <a:pt x="260032" y="238480"/>
                </a:moveTo>
                <a:lnTo>
                  <a:pt x="164934" y="162623"/>
                </a:lnTo>
                <a:lnTo>
                  <a:pt x="115379" y="133781"/>
                </a:lnTo>
                <a:lnTo>
                  <a:pt x="115366" y="133235"/>
                </a:lnTo>
                <a:lnTo>
                  <a:pt x="164414" y="104584"/>
                </a:lnTo>
                <a:lnTo>
                  <a:pt x="245745" y="57086"/>
                </a:lnTo>
                <a:lnTo>
                  <a:pt x="254279" y="49466"/>
                </a:lnTo>
                <a:lnTo>
                  <a:pt x="259092" y="39471"/>
                </a:lnTo>
                <a:lnTo>
                  <a:pt x="259829" y="28371"/>
                </a:lnTo>
                <a:lnTo>
                  <a:pt x="256159" y="17462"/>
                </a:lnTo>
                <a:lnTo>
                  <a:pt x="248462" y="8928"/>
                </a:lnTo>
                <a:lnTo>
                  <a:pt x="238442" y="4114"/>
                </a:lnTo>
                <a:lnTo>
                  <a:pt x="227368" y="3378"/>
                </a:lnTo>
                <a:lnTo>
                  <a:pt x="216535" y="7048"/>
                </a:lnTo>
                <a:lnTo>
                  <a:pt x="0" y="133667"/>
                </a:lnTo>
                <a:lnTo>
                  <a:pt x="216662" y="259778"/>
                </a:lnTo>
                <a:lnTo>
                  <a:pt x="227558" y="263537"/>
                </a:lnTo>
                <a:lnTo>
                  <a:pt x="238658" y="262813"/>
                </a:lnTo>
                <a:lnTo>
                  <a:pt x="248666" y="257975"/>
                </a:lnTo>
                <a:lnTo>
                  <a:pt x="256286" y="249364"/>
                </a:lnTo>
                <a:lnTo>
                  <a:pt x="260032" y="238480"/>
                </a:lnTo>
                <a:close/>
              </a:path>
              <a:path w="4173854" h="2778125">
                <a:moveTo>
                  <a:pt x="347091" y="162242"/>
                </a:moveTo>
                <a:lnTo>
                  <a:pt x="346964" y="104330"/>
                </a:lnTo>
                <a:lnTo>
                  <a:pt x="289052" y="104457"/>
                </a:lnTo>
                <a:lnTo>
                  <a:pt x="289179" y="162369"/>
                </a:lnTo>
                <a:lnTo>
                  <a:pt x="347091" y="162242"/>
                </a:lnTo>
                <a:close/>
              </a:path>
              <a:path w="4173854" h="2778125">
                <a:moveTo>
                  <a:pt x="462915" y="162242"/>
                </a:moveTo>
                <a:lnTo>
                  <a:pt x="462788" y="104330"/>
                </a:lnTo>
                <a:lnTo>
                  <a:pt x="404876" y="104330"/>
                </a:lnTo>
                <a:lnTo>
                  <a:pt x="405003" y="162242"/>
                </a:lnTo>
                <a:lnTo>
                  <a:pt x="462915" y="162242"/>
                </a:lnTo>
                <a:close/>
              </a:path>
              <a:path w="4173854" h="2778125">
                <a:moveTo>
                  <a:pt x="578726" y="162115"/>
                </a:moveTo>
                <a:lnTo>
                  <a:pt x="578612" y="104203"/>
                </a:lnTo>
                <a:lnTo>
                  <a:pt x="520700" y="104203"/>
                </a:lnTo>
                <a:lnTo>
                  <a:pt x="520827" y="162115"/>
                </a:lnTo>
                <a:lnTo>
                  <a:pt x="578726" y="162115"/>
                </a:lnTo>
                <a:close/>
              </a:path>
              <a:path w="4173854" h="2778125">
                <a:moveTo>
                  <a:pt x="694563" y="161988"/>
                </a:moveTo>
                <a:lnTo>
                  <a:pt x="694436" y="104076"/>
                </a:lnTo>
                <a:lnTo>
                  <a:pt x="636524" y="104076"/>
                </a:lnTo>
                <a:lnTo>
                  <a:pt x="636638" y="161988"/>
                </a:lnTo>
                <a:lnTo>
                  <a:pt x="694563" y="161988"/>
                </a:lnTo>
                <a:close/>
              </a:path>
              <a:path w="4173854" h="2778125">
                <a:moveTo>
                  <a:pt x="810387" y="161861"/>
                </a:moveTo>
                <a:lnTo>
                  <a:pt x="810260" y="103949"/>
                </a:lnTo>
                <a:lnTo>
                  <a:pt x="752348" y="104076"/>
                </a:lnTo>
                <a:lnTo>
                  <a:pt x="752475" y="161988"/>
                </a:lnTo>
                <a:lnTo>
                  <a:pt x="810387" y="161861"/>
                </a:lnTo>
                <a:close/>
              </a:path>
              <a:path w="4173854" h="2778125">
                <a:moveTo>
                  <a:pt x="926211" y="161734"/>
                </a:moveTo>
                <a:lnTo>
                  <a:pt x="926084" y="103822"/>
                </a:lnTo>
                <a:lnTo>
                  <a:pt x="868172" y="103949"/>
                </a:lnTo>
                <a:lnTo>
                  <a:pt x="868299" y="161861"/>
                </a:lnTo>
                <a:lnTo>
                  <a:pt x="926211" y="161734"/>
                </a:lnTo>
                <a:close/>
              </a:path>
              <a:path w="4173854" h="2778125">
                <a:moveTo>
                  <a:pt x="1042035" y="161607"/>
                </a:moveTo>
                <a:lnTo>
                  <a:pt x="1041908" y="103695"/>
                </a:lnTo>
                <a:lnTo>
                  <a:pt x="983996" y="103822"/>
                </a:lnTo>
                <a:lnTo>
                  <a:pt x="984123" y="161734"/>
                </a:lnTo>
                <a:lnTo>
                  <a:pt x="1042035" y="161607"/>
                </a:lnTo>
                <a:close/>
              </a:path>
              <a:path w="4173854" h="2778125">
                <a:moveTo>
                  <a:pt x="1048131" y="1018603"/>
                </a:moveTo>
                <a:lnTo>
                  <a:pt x="990219" y="1018603"/>
                </a:lnTo>
                <a:lnTo>
                  <a:pt x="990092" y="1076515"/>
                </a:lnTo>
                <a:lnTo>
                  <a:pt x="1048004" y="1076515"/>
                </a:lnTo>
                <a:lnTo>
                  <a:pt x="1048131" y="1018603"/>
                </a:lnTo>
                <a:close/>
              </a:path>
              <a:path w="4173854" h="2778125">
                <a:moveTo>
                  <a:pt x="1076947" y="942632"/>
                </a:moveTo>
                <a:lnTo>
                  <a:pt x="1073277" y="931735"/>
                </a:lnTo>
                <a:lnTo>
                  <a:pt x="1065593" y="923124"/>
                </a:lnTo>
                <a:lnTo>
                  <a:pt x="1055598" y="918273"/>
                </a:lnTo>
                <a:lnTo>
                  <a:pt x="1044536" y="917524"/>
                </a:lnTo>
                <a:lnTo>
                  <a:pt x="1033653" y="921194"/>
                </a:lnTo>
                <a:lnTo>
                  <a:pt x="816864" y="1047305"/>
                </a:lnTo>
                <a:lnTo>
                  <a:pt x="1033272" y="1173924"/>
                </a:lnTo>
                <a:lnTo>
                  <a:pt x="1044168" y="1177683"/>
                </a:lnTo>
                <a:lnTo>
                  <a:pt x="1055268" y="1176972"/>
                </a:lnTo>
                <a:lnTo>
                  <a:pt x="1075918" y="1141641"/>
                </a:lnTo>
                <a:lnTo>
                  <a:pt x="981151" y="1076388"/>
                </a:lnTo>
                <a:lnTo>
                  <a:pt x="932230" y="1047750"/>
                </a:lnTo>
                <a:lnTo>
                  <a:pt x="932243" y="1047242"/>
                </a:lnTo>
                <a:lnTo>
                  <a:pt x="981697" y="1018476"/>
                </a:lnTo>
                <a:lnTo>
                  <a:pt x="1062736" y="971359"/>
                </a:lnTo>
                <a:lnTo>
                  <a:pt x="1071346" y="963688"/>
                </a:lnTo>
                <a:lnTo>
                  <a:pt x="1076198" y="953693"/>
                </a:lnTo>
                <a:lnTo>
                  <a:pt x="1076947" y="942632"/>
                </a:lnTo>
                <a:close/>
              </a:path>
              <a:path w="4173854" h="2778125">
                <a:moveTo>
                  <a:pt x="1157859" y="161607"/>
                </a:moveTo>
                <a:lnTo>
                  <a:pt x="1157732" y="103695"/>
                </a:lnTo>
                <a:lnTo>
                  <a:pt x="1099820" y="103695"/>
                </a:lnTo>
                <a:lnTo>
                  <a:pt x="1099947" y="161607"/>
                </a:lnTo>
                <a:lnTo>
                  <a:pt x="1157859" y="161607"/>
                </a:lnTo>
                <a:close/>
              </a:path>
              <a:path w="4173854" h="2778125">
                <a:moveTo>
                  <a:pt x="1163955" y="1018857"/>
                </a:moveTo>
                <a:lnTo>
                  <a:pt x="1106043" y="1018730"/>
                </a:lnTo>
                <a:lnTo>
                  <a:pt x="1105916" y="1076642"/>
                </a:lnTo>
                <a:lnTo>
                  <a:pt x="1163828" y="1076769"/>
                </a:lnTo>
                <a:lnTo>
                  <a:pt x="1163955" y="1018857"/>
                </a:lnTo>
                <a:close/>
              </a:path>
              <a:path w="4173854" h="2778125">
                <a:moveTo>
                  <a:pt x="1273683" y="161480"/>
                </a:moveTo>
                <a:lnTo>
                  <a:pt x="1273556" y="103568"/>
                </a:lnTo>
                <a:lnTo>
                  <a:pt x="1215644" y="103568"/>
                </a:lnTo>
                <a:lnTo>
                  <a:pt x="1215771" y="161480"/>
                </a:lnTo>
                <a:lnTo>
                  <a:pt x="1273683" y="161480"/>
                </a:lnTo>
                <a:close/>
              </a:path>
              <a:path w="4173854" h="2778125">
                <a:moveTo>
                  <a:pt x="1279779" y="1018984"/>
                </a:moveTo>
                <a:lnTo>
                  <a:pt x="1221867" y="1018857"/>
                </a:lnTo>
                <a:lnTo>
                  <a:pt x="1221740" y="1076769"/>
                </a:lnTo>
                <a:lnTo>
                  <a:pt x="1279652" y="1076896"/>
                </a:lnTo>
                <a:lnTo>
                  <a:pt x="1279779" y="1018984"/>
                </a:lnTo>
                <a:close/>
              </a:path>
              <a:path w="4173854" h="2778125">
                <a:moveTo>
                  <a:pt x="1389507" y="161353"/>
                </a:moveTo>
                <a:lnTo>
                  <a:pt x="1389380" y="103441"/>
                </a:lnTo>
                <a:lnTo>
                  <a:pt x="1331468" y="103441"/>
                </a:lnTo>
                <a:lnTo>
                  <a:pt x="1331595" y="161353"/>
                </a:lnTo>
                <a:lnTo>
                  <a:pt x="1389507" y="161353"/>
                </a:lnTo>
                <a:close/>
              </a:path>
              <a:path w="4173854" h="2778125">
                <a:moveTo>
                  <a:pt x="1395603" y="1019111"/>
                </a:moveTo>
                <a:lnTo>
                  <a:pt x="1337691" y="1019111"/>
                </a:lnTo>
                <a:lnTo>
                  <a:pt x="1337564" y="1077023"/>
                </a:lnTo>
                <a:lnTo>
                  <a:pt x="1395476" y="1077023"/>
                </a:lnTo>
                <a:lnTo>
                  <a:pt x="1395603" y="1019111"/>
                </a:lnTo>
                <a:close/>
              </a:path>
              <a:path w="4173854" h="2778125">
                <a:moveTo>
                  <a:pt x="1425956" y="1890077"/>
                </a:moveTo>
                <a:lnTo>
                  <a:pt x="1368044" y="1890077"/>
                </a:lnTo>
                <a:lnTo>
                  <a:pt x="1368044" y="1947989"/>
                </a:lnTo>
                <a:lnTo>
                  <a:pt x="1425956" y="1947989"/>
                </a:lnTo>
                <a:lnTo>
                  <a:pt x="1425956" y="1890077"/>
                </a:lnTo>
                <a:close/>
              </a:path>
              <a:path w="4173854" h="2778125">
                <a:moveTo>
                  <a:pt x="1454721" y="1813979"/>
                </a:moveTo>
                <a:lnTo>
                  <a:pt x="1450975" y="1803082"/>
                </a:lnTo>
                <a:lnTo>
                  <a:pt x="1443355" y="1794497"/>
                </a:lnTo>
                <a:lnTo>
                  <a:pt x="1433360" y="1789684"/>
                </a:lnTo>
                <a:lnTo>
                  <a:pt x="1422298" y="1788985"/>
                </a:lnTo>
                <a:lnTo>
                  <a:pt x="1411478" y="1792668"/>
                </a:lnTo>
                <a:lnTo>
                  <a:pt x="1194816" y="1919033"/>
                </a:lnTo>
                <a:lnTo>
                  <a:pt x="1411478" y="2045398"/>
                </a:lnTo>
                <a:lnTo>
                  <a:pt x="1422298" y="2049094"/>
                </a:lnTo>
                <a:lnTo>
                  <a:pt x="1433360" y="2048395"/>
                </a:lnTo>
                <a:lnTo>
                  <a:pt x="1443355" y="2043582"/>
                </a:lnTo>
                <a:lnTo>
                  <a:pt x="1450975" y="2034984"/>
                </a:lnTo>
                <a:lnTo>
                  <a:pt x="1454721" y="2024100"/>
                </a:lnTo>
                <a:lnTo>
                  <a:pt x="1453997" y="2013038"/>
                </a:lnTo>
                <a:lnTo>
                  <a:pt x="1449158" y="2003044"/>
                </a:lnTo>
                <a:lnTo>
                  <a:pt x="1440561" y="1995360"/>
                </a:lnTo>
                <a:lnTo>
                  <a:pt x="1359344" y="1947989"/>
                </a:lnTo>
                <a:lnTo>
                  <a:pt x="1310132" y="1919287"/>
                </a:lnTo>
                <a:lnTo>
                  <a:pt x="1310132" y="1918792"/>
                </a:lnTo>
                <a:lnTo>
                  <a:pt x="1359344" y="1890077"/>
                </a:lnTo>
                <a:lnTo>
                  <a:pt x="1440561" y="1842706"/>
                </a:lnTo>
                <a:lnTo>
                  <a:pt x="1449158" y="1835035"/>
                </a:lnTo>
                <a:lnTo>
                  <a:pt x="1453997" y="1825040"/>
                </a:lnTo>
                <a:lnTo>
                  <a:pt x="1454721" y="1813979"/>
                </a:lnTo>
                <a:close/>
              </a:path>
              <a:path w="4173854" h="2778125">
                <a:moveTo>
                  <a:pt x="1505331" y="161226"/>
                </a:moveTo>
                <a:lnTo>
                  <a:pt x="1505204" y="103314"/>
                </a:lnTo>
                <a:lnTo>
                  <a:pt x="1447292" y="103441"/>
                </a:lnTo>
                <a:lnTo>
                  <a:pt x="1447419" y="161353"/>
                </a:lnTo>
                <a:lnTo>
                  <a:pt x="1505331" y="161226"/>
                </a:lnTo>
                <a:close/>
              </a:path>
              <a:path w="4173854" h="2778125">
                <a:moveTo>
                  <a:pt x="1511427" y="1019238"/>
                </a:moveTo>
                <a:lnTo>
                  <a:pt x="1453515" y="1019238"/>
                </a:lnTo>
                <a:lnTo>
                  <a:pt x="1453388" y="1077150"/>
                </a:lnTo>
                <a:lnTo>
                  <a:pt x="1511300" y="1077150"/>
                </a:lnTo>
                <a:lnTo>
                  <a:pt x="1511427" y="1019238"/>
                </a:lnTo>
                <a:close/>
              </a:path>
              <a:path w="4173854" h="2778125">
                <a:moveTo>
                  <a:pt x="1541780" y="1890077"/>
                </a:moveTo>
                <a:lnTo>
                  <a:pt x="1483868" y="1890077"/>
                </a:lnTo>
                <a:lnTo>
                  <a:pt x="1483868" y="1947989"/>
                </a:lnTo>
                <a:lnTo>
                  <a:pt x="1541780" y="1947989"/>
                </a:lnTo>
                <a:lnTo>
                  <a:pt x="1541780" y="1890077"/>
                </a:lnTo>
                <a:close/>
              </a:path>
              <a:path w="4173854" h="2778125">
                <a:moveTo>
                  <a:pt x="1621155" y="161099"/>
                </a:moveTo>
                <a:lnTo>
                  <a:pt x="1621028" y="103187"/>
                </a:lnTo>
                <a:lnTo>
                  <a:pt x="1563116" y="103314"/>
                </a:lnTo>
                <a:lnTo>
                  <a:pt x="1563243" y="161226"/>
                </a:lnTo>
                <a:lnTo>
                  <a:pt x="1621155" y="161099"/>
                </a:lnTo>
                <a:close/>
              </a:path>
              <a:path w="4173854" h="2778125">
                <a:moveTo>
                  <a:pt x="1627251" y="1019492"/>
                </a:moveTo>
                <a:lnTo>
                  <a:pt x="1569339" y="1019365"/>
                </a:lnTo>
                <a:lnTo>
                  <a:pt x="1569212" y="1077277"/>
                </a:lnTo>
                <a:lnTo>
                  <a:pt x="1627124" y="1077404"/>
                </a:lnTo>
                <a:lnTo>
                  <a:pt x="1627251" y="1019492"/>
                </a:lnTo>
                <a:close/>
              </a:path>
              <a:path w="4173854" h="2778125">
                <a:moveTo>
                  <a:pt x="1657604" y="1890077"/>
                </a:moveTo>
                <a:lnTo>
                  <a:pt x="1599692" y="1890077"/>
                </a:lnTo>
                <a:lnTo>
                  <a:pt x="1599692" y="1947989"/>
                </a:lnTo>
                <a:lnTo>
                  <a:pt x="1657604" y="1947989"/>
                </a:lnTo>
                <a:lnTo>
                  <a:pt x="1657604" y="1890077"/>
                </a:lnTo>
                <a:close/>
              </a:path>
              <a:path w="4173854" h="2778125">
                <a:moveTo>
                  <a:pt x="1736979" y="160972"/>
                </a:moveTo>
                <a:lnTo>
                  <a:pt x="1736852" y="103060"/>
                </a:lnTo>
                <a:lnTo>
                  <a:pt x="1678940" y="103187"/>
                </a:lnTo>
                <a:lnTo>
                  <a:pt x="1679067" y="161099"/>
                </a:lnTo>
                <a:lnTo>
                  <a:pt x="1736979" y="160972"/>
                </a:lnTo>
                <a:close/>
              </a:path>
              <a:path w="4173854" h="2778125">
                <a:moveTo>
                  <a:pt x="1743075" y="1019619"/>
                </a:moveTo>
                <a:lnTo>
                  <a:pt x="1685163" y="1019492"/>
                </a:lnTo>
                <a:lnTo>
                  <a:pt x="1685036" y="1077404"/>
                </a:lnTo>
                <a:lnTo>
                  <a:pt x="1742948" y="1077531"/>
                </a:lnTo>
                <a:lnTo>
                  <a:pt x="1743075" y="1019619"/>
                </a:lnTo>
                <a:close/>
              </a:path>
              <a:path w="4173854" h="2778125">
                <a:moveTo>
                  <a:pt x="1773428" y="1890077"/>
                </a:moveTo>
                <a:lnTo>
                  <a:pt x="1715516" y="1890077"/>
                </a:lnTo>
                <a:lnTo>
                  <a:pt x="1715516" y="1947989"/>
                </a:lnTo>
                <a:lnTo>
                  <a:pt x="1773428" y="1947989"/>
                </a:lnTo>
                <a:lnTo>
                  <a:pt x="1773428" y="1890077"/>
                </a:lnTo>
                <a:close/>
              </a:path>
              <a:path w="4173854" h="2778125">
                <a:moveTo>
                  <a:pt x="1800860" y="2618549"/>
                </a:moveTo>
                <a:lnTo>
                  <a:pt x="1742948" y="2618549"/>
                </a:lnTo>
                <a:lnTo>
                  <a:pt x="1742948" y="2676461"/>
                </a:lnTo>
                <a:lnTo>
                  <a:pt x="1800860" y="2676461"/>
                </a:lnTo>
                <a:lnTo>
                  <a:pt x="1800860" y="2618549"/>
                </a:lnTo>
                <a:close/>
              </a:path>
              <a:path w="4173854" h="2778125">
                <a:moveTo>
                  <a:pt x="1829625" y="2542451"/>
                </a:moveTo>
                <a:lnTo>
                  <a:pt x="1825879" y="2531554"/>
                </a:lnTo>
                <a:lnTo>
                  <a:pt x="1818259" y="2522969"/>
                </a:lnTo>
                <a:lnTo>
                  <a:pt x="1808264" y="2518156"/>
                </a:lnTo>
                <a:lnTo>
                  <a:pt x="1797202" y="2517457"/>
                </a:lnTo>
                <a:lnTo>
                  <a:pt x="1786382" y="2521140"/>
                </a:lnTo>
                <a:lnTo>
                  <a:pt x="1569720" y="2647505"/>
                </a:lnTo>
                <a:lnTo>
                  <a:pt x="1786382" y="2773870"/>
                </a:lnTo>
                <a:lnTo>
                  <a:pt x="1797202" y="2777566"/>
                </a:lnTo>
                <a:lnTo>
                  <a:pt x="1808264" y="2776855"/>
                </a:lnTo>
                <a:lnTo>
                  <a:pt x="1818259" y="2772054"/>
                </a:lnTo>
                <a:lnTo>
                  <a:pt x="1825879" y="2763456"/>
                </a:lnTo>
                <a:lnTo>
                  <a:pt x="1829625" y="2752572"/>
                </a:lnTo>
                <a:lnTo>
                  <a:pt x="1828901" y="2741511"/>
                </a:lnTo>
                <a:lnTo>
                  <a:pt x="1824062" y="2731516"/>
                </a:lnTo>
                <a:lnTo>
                  <a:pt x="1815465" y="2723832"/>
                </a:lnTo>
                <a:lnTo>
                  <a:pt x="1734248" y="2676461"/>
                </a:lnTo>
                <a:lnTo>
                  <a:pt x="1685036" y="2647759"/>
                </a:lnTo>
                <a:lnTo>
                  <a:pt x="1685036" y="2647264"/>
                </a:lnTo>
                <a:lnTo>
                  <a:pt x="1734248" y="2618549"/>
                </a:lnTo>
                <a:lnTo>
                  <a:pt x="1815465" y="2571178"/>
                </a:lnTo>
                <a:lnTo>
                  <a:pt x="1824062" y="2563507"/>
                </a:lnTo>
                <a:lnTo>
                  <a:pt x="1828901" y="2553512"/>
                </a:lnTo>
                <a:lnTo>
                  <a:pt x="1829625" y="2542451"/>
                </a:lnTo>
                <a:close/>
              </a:path>
              <a:path w="4173854" h="2778125">
                <a:moveTo>
                  <a:pt x="1852803" y="160972"/>
                </a:moveTo>
                <a:lnTo>
                  <a:pt x="1852676" y="103060"/>
                </a:lnTo>
                <a:lnTo>
                  <a:pt x="1794764" y="103060"/>
                </a:lnTo>
                <a:lnTo>
                  <a:pt x="1794891" y="160972"/>
                </a:lnTo>
                <a:lnTo>
                  <a:pt x="1852803" y="160972"/>
                </a:lnTo>
                <a:close/>
              </a:path>
              <a:path w="4173854" h="2778125">
                <a:moveTo>
                  <a:pt x="1858899" y="1019746"/>
                </a:moveTo>
                <a:lnTo>
                  <a:pt x="1800987" y="1019746"/>
                </a:lnTo>
                <a:lnTo>
                  <a:pt x="1800860" y="1077658"/>
                </a:lnTo>
                <a:lnTo>
                  <a:pt x="1858772" y="1077658"/>
                </a:lnTo>
                <a:lnTo>
                  <a:pt x="1858899" y="1019746"/>
                </a:lnTo>
                <a:close/>
              </a:path>
              <a:path w="4173854" h="2778125">
                <a:moveTo>
                  <a:pt x="1889252" y="1890077"/>
                </a:moveTo>
                <a:lnTo>
                  <a:pt x="1831340" y="1890077"/>
                </a:lnTo>
                <a:lnTo>
                  <a:pt x="1831340" y="1947989"/>
                </a:lnTo>
                <a:lnTo>
                  <a:pt x="1889252" y="1947989"/>
                </a:lnTo>
                <a:lnTo>
                  <a:pt x="1889252" y="1890077"/>
                </a:lnTo>
                <a:close/>
              </a:path>
              <a:path w="4173854" h="2778125">
                <a:moveTo>
                  <a:pt x="1916684" y="2618549"/>
                </a:moveTo>
                <a:lnTo>
                  <a:pt x="1858772" y="2618549"/>
                </a:lnTo>
                <a:lnTo>
                  <a:pt x="1858772" y="2676461"/>
                </a:lnTo>
                <a:lnTo>
                  <a:pt x="1916684" y="2676461"/>
                </a:lnTo>
                <a:lnTo>
                  <a:pt x="1916684" y="2618549"/>
                </a:lnTo>
                <a:close/>
              </a:path>
              <a:path w="4173854" h="2778125">
                <a:moveTo>
                  <a:pt x="1968627" y="160845"/>
                </a:moveTo>
                <a:lnTo>
                  <a:pt x="1968500" y="102933"/>
                </a:lnTo>
                <a:lnTo>
                  <a:pt x="1910588" y="102933"/>
                </a:lnTo>
                <a:lnTo>
                  <a:pt x="1910715" y="160845"/>
                </a:lnTo>
                <a:lnTo>
                  <a:pt x="1968627" y="160845"/>
                </a:lnTo>
                <a:close/>
              </a:path>
              <a:path w="4173854" h="2778125">
                <a:moveTo>
                  <a:pt x="1974723" y="1019873"/>
                </a:moveTo>
                <a:lnTo>
                  <a:pt x="1916811" y="1019873"/>
                </a:lnTo>
                <a:lnTo>
                  <a:pt x="1916684" y="1077785"/>
                </a:lnTo>
                <a:lnTo>
                  <a:pt x="1974596" y="1077785"/>
                </a:lnTo>
                <a:lnTo>
                  <a:pt x="1974723" y="1019873"/>
                </a:lnTo>
                <a:close/>
              </a:path>
              <a:path w="4173854" h="2778125">
                <a:moveTo>
                  <a:pt x="2005076" y="1890077"/>
                </a:moveTo>
                <a:lnTo>
                  <a:pt x="1947164" y="1890077"/>
                </a:lnTo>
                <a:lnTo>
                  <a:pt x="1947164" y="1947989"/>
                </a:lnTo>
                <a:lnTo>
                  <a:pt x="2005076" y="1947989"/>
                </a:lnTo>
                <a:lnTo>
                  <a:pt x="2005076" y="1890077"/>
                </a:lnTo>
                <a:close/>
              </a:path>
              <a:path w="4173854" h="2778125">
                <a:moveTo>
                  <a:pt x="2032508" y="2618549"/>
                </a:moveTo>
                <a:lnTo>
                  <a:pt x="1974596" y="2618549"/>
                </a:lnTo>
                <a:lnTo>
                  <a:pt x="1974596" y="2676461"/>
                </a:lnTo>
                <a:lnTo>
                  <a:pt x="2032508" y="2676461"/>
                </a:lnTo>
                <a:lnTo>
                  <a:pt x="2032508" y="2618549"/>
                </a:lnTo>
                <a:close/>
              </a:path>
              <a:path w="4173854" h="2778125">
                <a:moveTo>
                  <a:pt x="2084451" y="160718"/>
                </a:moveTo>
                <a:lnTo>
                  <a:pt x="2084324" y="102806"/>
                </a:lnTo>
                <a:lnTo>
                  <a:pt x="2026412" y="102806"/>
                </a:lnTo>
                <a:lnTo>
                  <a:pt x="2026539" y="160718"/>
                </a:lnTo>
                <a:lnTo>
                  <a:pt x="2084451" y="160718"/>
                </a:lnTo>
                <a:close/>
              </a:path>
              <a:path w="4173854" h="2778125">
                <a:moveTo>
                  <a:pt x="2090547" y="1020127"/>
                </a:moveTo>
                <a:lnTo>
                  <a:pt x="2032635" y="1020000"/>
                </a:lnTo>
                <a:lnTo>
                  <a:pt x="2032508" y="1077912"/>
                </a:lnTo>
                <a:lnTo>
                  <a:pt x="2090420" y="1078039"/>
                </a:lnTo>
                <a:lnTo>
                  <a:pt x="2090547" y="1020127"/>
                </a:lnTo>
                <a:close/>
              </a:path>
              <a:path w="4173854" h="2778125">
                <a:moveTo>
                  <a:pt x="2120900" y="1890077"/>
                </a:moveTo>
                <a:lnTo>
                  <a:pt x="2062988" y="1890077"/>
                </a:lnTo>
                <a:lnTo>
                  <a:pt x="2062988" y="1947989"/>
                </a:lnTo>
                <a:lnTo>
                  <a:pt x="2120900" y="1947989"/>
                </a:lnTo>
                <a:lnTo>
                  <a:pt x="2120900" y="1890077"/>
                </a:lnTo>
                <a:close/>
              </a:path>
              <a:path w="4173854" h="2778125">
                <a:moveTo>
                  <a:pt x="2148332" y="2618549"/>
                </a:moveTo>
                <a:lnTo>
                  <a:pt x="2090420" y="2618549"/>
                </a:lnTo>
                <a:lnTo>
                  <a:pt x="2090420" y="2676461"/>
                </a:lnTo>
                <a:lnTo>
                  <a:pt x="2148332" y="2676461"/>
                </a:lnTo>
                <a:lnTo>
                  <a:pt x="2148332" y="2618549"/>
                </a:lnTo>
                <a:close/>
              </a:path>
              <a:path w="4173854" h="2778125">
                <a:moveTo>
                  <a:pt x="2200275" y="160591"/>
                </a:moveTo>
                <a:lnTo>
                  <a:pt x="2200148" y="102679"/>
                </a:lnTo>
                <a:lnTo>
                  <a:pt x="2142236" y="102806"/>
                </a:lnTo>
                <a:lnTo>
                  <a:pt x="2142363" y="160718"/>
                </a:lnTo>
                <a:lnTo>
                  <a:pt x="2200275" y="160591"/>
                </a:lnTo>
                <a:close/>
              </a:path>
              <a:path w="4173854" h="2778125">
                <a:moveTo>
                  <a:pt x="2206371" y="1020254"/>
                </a:moveTo>
                <a:lnTo>
                  <a:pt x="2148459" y="1020127"/>
                </a:lnTo>
                <a:lnTo>
                  <a:pt x="2148332" y="1078039"/>
                </a:lnTo>
                <a:lnTo>
                  <a:pt x="2206244" y="1078166"/>
                </a:lnTo>
                <a:lnTo>
                  <a:pt x="2206371" y="1020254"/>
                </a:lnTo>
                <a:close/>
              </a:path>
              <a:path w="4173854" h="2778125">
                <a:moveTo>
                  <a:pt x="2236724" y="1890077"/>
                </a:moveTo>
                <a:lnTo>
                  <a:pt x="2178812" y="1890077"/>
                </a:lnTo>
                <a:lnTo>
                  <a:pt x="2178812" y="1947989"/>
                </a:lnTo>
                <a:lnTo>
                  <a:pt x="2236724" y="1947989"/>
                </a:lnTo>
                <a:lnTo>
                  <a:pt x="2236724" y="1890077"/>
                </a:lnTo>
                <a:close/>
              </a:path>
              <a:path w="4173854" h="2778125">
                <a:moveTo>
                  <a:pt x="2264156" y="2618549"/>
                </a:moveTo>
                <a:lnTo>
                  <a:pt x="2206244" y="2618549"/>
                </a:lnTo>
                <a:lnTo>
                  <a:pt x="2206244" y="2676461"/>
                </a:lnTo>
                <a:lnTo>
                  <a:pt x="2264156" y="2676461"/>
                </a:lnTo>
                <a:lnTo>
                  <a:pt x="2264156" y="2618549"/>
                </a:lnTo>
                <a:close/>
              </a:path>
              <a:path w="4173854" h="2778125">
                <a:moveTo>
                  <a:pt x="2316099" y="160464"/>
                </a:moveTo>
                <a:lnTo>
                  <a:pt x="2315972" y="102552"/>
                </a:lnTo>
                <a:lnTo>
                  <a:pt x="2258060" y="102679"/>
                </a:lnTo>
                <a:lnTo>
                  <a:pt x="2258187" y="160591"/>
                </a:lnTo>
                <a:lnTo>
                  <a:pt x="2316099" y="160464"/>
                </a:lnTo>
                <a:close/>
              </a:path>
              <a:path w="4173854" h="2778125">
                <a:moveTo>
                  <a:pt x="2322195" y="1020381"/>
                </a:moveTo>
                <a:lnTo>
                  <a:pt x="2264283" y="1020381"/>
                </a:lnTo>
                <a:lnTo>
                  <a:pt x="2264156" y="1078293"/>
                </a:lnTo>
                <a:lnTo>
                  <a:pt x="2322068" y="1078293"/>
                </a:lnTo>
                <a:lnTo>
                  <a:pt x="2322195" y="1020381"/>
                </a:lnTo>
                <a:close/>
              </a:path>
              <a:path w="4173854" h="2778125">
                <a:moveTo>
                  <a:pt x="2352548" y="1890077"/>
                </a:moveTo>
                <a:lnTo>
                  <a:pt x="2294636" y="1890077"/>
                </a:lnTo>
                <a:lnTo>
                  <a:pt x="2294636" y="1947989"/>
                </a:lnTo>
                <a:lnTo>
                  <a:pt x="2352548" y="1947989"/>
                </a:lnTo>
                <a:lnTo>
                  <a:pt x="2352548" y="1890077"/>
                </a:lnTo>
                <a:close/>
              </a:path>
              <a:path w="4173854" h="2778125">
                <a:moveTo>
                  <a:pt x="2379980" y="2618549"/>
                </a:moveTo>
                <a:lnTo>
                  <a:pt x="2322068" y="2618549"/>
                </a:lnTo>
                <a:lnTo>
                  <a:pt x="2322068" y="2676461"/>
                </a:lnTo>
                <a:lnTo>
                  <a:pt x="2379980" y="2676461"/>
                </a:lnTo>
                <a:lnTo>
                  <a:pt x="2379980" y="2618549"/>
                </a:lnTo>
                <a:close/>
              </a:path>
              <a:path w="4173854" h="2778125">
                <a:moveTo>
                  <a:pt x="2431923" y="160464"/>
                </a:moveTo>
                <a:lnTo>
                  <a:pt x="2431796" y="102552"/>
                </a:lnTo>
                <a:lnTo>
                  <a:pt x="2373884" y="102552"/>
                </a:lnTo>
                <a:lnTo>
                  <a:pt x="2374011" y="160464"/>
                </a:lnTo>
                <a:lnTo>
                  <a:pt x="2431923" y="160464"/>
                </a:lnTo>
                <a:close/>
              </a:path>
              <a:path w="4173854" h="2778125">
                <a:moveTo>
                  <a:pt x="2438019" y="1020508"/>
                </a:moveTo>
                <a:lnTo>
                  <a:pt x="2380107" y="1020508"/>
                </a:lnTo>
                <a:lnTo>
                  <a:pt x="2379980" y="1078420"/>
                </a:lnTo>
                <a:lnTo>
                  <a:pt x="2437892" y="1078420"/>
                </a:lnTo>
                <a:lnTo>
                  <a:pt x="2438019" y="1020508"/>
                </a:lnTo>
                <a:close/>
              </a:path>
              <a:path w="4173854" h="2778125">
                <a:moveTo>
                  <a:pt x="2468372" y="1890077"/>
                </a:moveTo>
                <a:lnTo>
                  <a:pt x="2410460" y="1890077"/>
                </a:lnTo>
                <a:lnTo>
                  <a:pt x="2410460" y="1947989"/>
                </a:lnTo>
                <a:lnTo>
                  <a:pt x="2468372" y="1947989"/>
                </a:lnTo>
                <a:lnTo>
                  <a:pt x="2468372" y="1890077"/>
                </a:lnTo>
                <a:close/>
              </a:path>
              <a:path w="4173854" h="2778125">
                <a:moveTo>
                  <a:pt x="2495804" y="2618549"/>
                </a:moveTo>
                <a:lnTo>
                  <a:pt x="2437892" y="2618549"/>
                </a:lnTo>
                <a:lnTo>
                  <a:pt x="2437892" y="2676461"/>
                </a:lnTo>
                <a:lnTo>
                  <a:pt x="2495804" y="2676461"/>
                </a:lnTo>
                <a:lnTo>
                  <a:pt x="2495804" y="2618549"/>
                </a:lnTo>
                <a:close/>
              </a:path>
              <a:path w="4173854" h="2778125">
                <a:moveTo>
                  <a:pt x="2547747" y="160337"/>
                </a:moveTo>
                <a:lnTo>
                  <a:pt x="2547620" y="102425"/>
                </a:lnTo>
                <a:lnTo>
                  <a:pt x="2489708" y="102425"/>
                </a:lnTo>
                <a:lnTo>
                  <a:pt x="2489835" y="160337"/>
                </a:lnTo>
                <a:lnTo>
                  <a:pt x="2547747" y="160337"/>
                </a:lnTo>
                <a:close/>
              </a:path>
              <a:path w="4173854" h="2778125">
                <a:moveTo>
                  <a:pt x="2553843" y="1020762"/>
                </a:moveTo>
                <a:lnTo>
                  <a:pt x="2495931" y="1020635"/>
                </a:lnTo>
                <a:lnTo>
                  <a:pt x="2495804" y="1078547"/>
                </a:lnTo>
                <a:lnTo>
                  <a:pt x="2553716" y="1078674"/>
                </a:lnTo>
                <a:lnTo>
                  <a:pt x="2553843" y="1020762"/>
                </a:lnTo>
                <a:close/>
              </a:path>
              <a:path w="4173854" h="2778125">
                <a:moveTo>
                  <a:pt x="2584196" y="1890077"/>
                </a:moveTo>
                <a:lnTo>
                  <a:pt x="2526284" y="1890077"/>
                </a:lnTo>
                <a:lnTo>
                  <a:pt x="2526284" y="1947989"/>
                </a:lnTo>
                <a:lnTo>
                  <a:pt x="2584196" y="1947989"/>
                </a:lnTo>
                <a:lnTo>
                  <a:pt x="2584196" y="1890077"/>
                </a:lnTo>
                <a:close/>
              </a:path>
              <a:path w="4173854" h="2778125">
                <a:moveTo>
                  <a:pt x="2611628" y="2618549"/>
                </a:moveTo>
                <a:lnTo>
                  <a:pt x="2553716" y="2618549"/>
                </a:lnTo>
                <a:lnTo>
                  <a:pt x="2553716" y="2676461"/>
                </a:lnTo>
                <a:lnTo>
                  <a:pt x="2611628" y="2676461"/>
                </a:lnTo>
                <a:lnTo>
                  <a:pt x="2611628" y="2618549"/>
                </a:lnTo>
                <a:close/>
              </a:path>
              <a:path w="4173854" h="2778125">
                <a:moveTo>
                  <a:pt x="2663571" y="160210"/>
                </a:moveTo>
                <a:lnTo>
                  <a:pt x="2663444" y="102298"/>
                </a:lnTo>
                <a:lnTo>
                  <a:pt x="2605532" y="102298"/>
                </a:lnTo>
                <a:lnTo>
                  <a:pt x="2605659" y="160210"/>
                </a:lnTo>
                <a:lnTo>
                  <a:pt x="2663571" y="160210"/>
                </a:lnTo>
                <a:close/>
              </a:path>
              <a:path w="4173854" h="2778125">
                <a:moveTo>
                  <a:pt x="2669667" y="1020889"/>
                </a:moveTo>
                <a:lnTo>
                  <a:pt x="2611755" y="1020762"/>
                </a:lnTo>
                <a:lnTo>
                  <a:pt x="2611628" y="1078674"/>
                </a:lnTo>
                <a:lnTo>
                  <a:pt x="2669540" y="1078801"/>
                </a:lnTo>
                <a:lnTo>
                  <a:pt x="2669667" y="1020889"/>
                </a:lnTo>
                <a:close/>
              </a:path>
              <a:path w="4173854" h="2778125">
                <a:moveTo>
                  <a:pt x="2700020" y="1890077"/>
                </a:moveTo>
                <a:lnTo>
                  <a:pt x="2642108" y="1890077"/>
                </a:lnTo>
                <a:lnTo>
                  <a:pt x="2642108" y="1947989"/>
                </a:lnTo>
                <a:lnTo>
                  <a:pt x="2700020" y="1947989"/>
                </a:lnTo>
                <a:lnTo>
                  <a:pt x="2700020" y="1890077"/>
                </a:lnTo>
                <a:close/>
              </a:path>
              <a:path w="4173854" h="2778125">
                <a:moveTo>
                  <a:pt x="2779395" y="160083"/>
                </a:moveTo>
                <a:lnTo>
                  <a:pt x="2779268" y="102171"/>
                </a:lnTo>
                <a:lnTo>
                  <a:pt x="2721356" y="102171"/>
                </a:lnTo>
                <a:lnTo>
                  <a:pt x="2721483" y="160083"/>
                </a:lnTo>
                <a:lnTo>
                  <a:pt x="2779395" y="160083"/>
                </a:lnTo>
                <a:close/>
              </a:path>
              <a:path w="4173854" h="2778125">
                <a:moveTo>
                  <a:pt x="2785491" y="1021016"/>
                </a:moveTo>
                <a:lnTo>
                  <a:pt x="2727579" y="1021016"/>
                </a:lnTo>
                <a:lnTo>
                  <a:pt x="2727452" y="1078928"/>
                </a:lnTo>
                <a:lnTo>
                  <a:pt x="2785364" y="1078928"/>
                </a:lnTo>
                <a:lnTo>
                  <a:pt x="2785491" y="1021016"/>
                </a:lnTo>
                <a:close/>
              </a:path>
              <a:path w="4173854" h="2778125">
                <a:moveTo>
                  <a:pt x="2815844" y="1890077"/>
                </a:moveTo>
                <a:lnTo>
                  <a:pt x="2757932" y="1890077"/>
                </a:lnTo>
                <a:lnTo>
                  <a:pt x="2757932" y="1947989"/>
                </a:lnTo>
                <a:lnTo>
                  <a:pt x="2815844" y="1947989"/>
                </a:lnTo>
                <a:lnTo>
                  <a:pt x="2815844" y="1890077"/>
                </a:lnTo>
                <a:close/>
              </a:path>
              <a:path w="4173854" h="2778125">
                <a:moveTo>
                  <a:pt x="2834513" y="2647505"/>
                </a:moveTo>
                <a:lnTo>
                  <a:pt x="2791637" y="2622486"/>
                </a:lnTo>
                <a:lnTo>
                  <a:pt x="2784894" y="2618549"/>
                </a:lnTo>
                <a:lnTo>
                  <a:pt x="2617978" y="2521140"/>
                </a:lnTo>
                <a:lnTo>
                  <a:pt x="2607068" y="2517457"/>
                </a:lnTo>
                <a:lnTo>
                  <a:pt x="2595969" y="2518156"/>
                </a:lnTo>
                <a:lnTo>
                  <a:pt x="2585974" y="2522969"/>
                </a:lnTo>
                <a:lnTo>
                  <a:pt x="2578354" y="2531554"/>
                </a:lnTo>
                <a:lnTo>
                  <a:pt x="2574594" y="2542451"/>
                </a:lnTo>
                <a:lnTo>
                  <a:pt x="2575318" y="2553512"/>
                </a:lnTo>
                <a:lnTo>
                  <a:pt x="2580157" y="2563507"/>
                </a:lnTo>
                <a:lnTo>
                  <a:pt x="2588768" y="2571178"/>
                </a:lnTo>
                <a:lnTo>
                  <a:pt x="2669959" y="2618549"/>
                </a:lnTo>
                <a:lnTo>
                  <a:pt x="2669540" y="2618549"/>
                </a:lnTo>
                <a:lnTo>
                  <a:pt x="2669540" y="2676461"/>
                </a:lnTo>
                <a:lnTo>
                  <a:pt x="2669959" y="2676461"/>
                </a:lnTo>
                <a:lnTo>
                  <a:pt x="2588768" y="2723832"/>
                </a:lnTo>
                <a:lnTo>
                  <a:pt x="2580157" y="2731516"/>
                </a:lnTo>
                <a:lnTo>
                  <a:pt x="2575318" y="2741511"/>
                </a:lnTo>
                <a:lnTo>
                  <a:pt x="2574594" y="2752572"/>
                </a:lnTo>
                <a:lnTo>
                  <a:pt x="2578354" y="2763456"/>
                </a:lnTo>
                <a:lnTo>
                  <a:pt x="2585974" y="2772054"/>
                </a:lnTo>
                <a:lnTo>
                  <a:pt x="2595969" y="2776855"/>
                </a:lnTo>
                <a:lnTo>
                  <a:pt x="2607068" y="2777566"/>
                </a:lnTo>
                <a:lnTo>
                  <a:pt x="2617978" y="2773870"/>
                </a:lnTo>
                <a:lnTo>
                  <a:pt x="2784894" y="2676461"/>
                </a:lnTo>
                <a:lnTo>
                  <a:pt x="2791637" y="2672524"/>
                </a:lnTo>
                <a:lnTo>
                  <a:pt x="2834513" y="2647505"/>
                </a:lnTo>
                <a:close/>
              </a:path>
              <a:path w="4173854" h="2778125">
                <a:moveTo>
                  <a:pt x="2895219" y="159956"/>
                </a:moveTo>
                <a:lnTo>
                  <a:pt x="2895092" y="102044"/>
                </a:lnTo>
                <a:lnTo>
                  <a:pt x="2837180" y="102171"/>
                </a:lnTo>
                <a:lnTo>
                  <a:pt x="2837307" y="160083"/>
                </a:lnTo>
                <a:lnTo>
                  <a:pt x="2895219" y="159956"/>
                </a:lnTo>
                <a:close/>
              </a:path>
              <a:path w="4173854" h="2778125">
                <a:moveTo>
                  <a:pt x="2901315" y="1021143"/>
                </a:moveTo>
                <a:lnTo>
                  <a:pt x="2843403" y="1021143"/>
                </a:lnTo>
                <a:lnTo>
                  <a:pt x="2843276" y="1079055"/>
                </a:lnTo>
                <a:lnTo>
                  <a:pt x="2901188" y="1079055"/>
                </a:lnTo>
                <a:lnTo>
                  <a:pt x="2901315" y="1021143"/>
                </a:lnTo>
                <a:close/>
              </a:path>
              <a:path w="4173854" h="2778125">
                <a:moveTo>
                  <a:pt x="2931668" y="1890077"/>
                </a:moveTo>
                <a:lnTo>
                  <a:pt x="2873756" y="1890077"/>
                </a:lnTo>
                <a:lnTo>
                  <a:pt x="2873756" y="1947989"/>
                </a:lnTo>
                <a:lnTo>
                  <a:pt x="2931668" y="1947989"/>
                </a:lnTo>
                <a:lnTo>
                  <a:pt x="2931668" y="1890077"/>
                </a:lnTo>
                <a:close/>
              </a:path>
              <a:path w="4173854" h="2778125">
                <a:moveTo>
                  <a:pt x="3011043" y="159829"/>
                </a:moveTo>
                <a:lnTo>
                  <a:pt x="3010916" y="101917"/>
                </a:lnTo>
                <a:lnTo>
                  <a:pt x="2953004" y="102044"/>
                </a:lnTo>
                <a:lnTo>
                  <a:pt x="2953131" y="159956"/>
                </a:lnTo>
                <a:lnTo>
                  <a:pt x="3011043" y="159829"/>
                </a:lnTo>
                <a:close/>
              </a:path>
              <a:path w="4173854" h="2778125">
                <a:moveTo>
                  <a:pt x="3017139" y="1021397"/>
                </a:moveTo>
                <a:lnTo>
                  <a:pt x="2959227" y="1021270"/>
                </a:lnTo>
                <a:lnTo>
                  <a:pt x="2959100" y="1079182"/>
                </a:lnTo>
                <a:lnTo>
                  <a:pt x="3017012" y="1079309"/>
                </a:lnTo>
                <a:lnTo>
                  <a:pt x="3017139" y="1021397"/>
                </a:lnTo>
                <a:close/>
              </a:path>
              <a:path w="4173854" h="2778125">
                <a:moveTo>
                  <a:pt x="3115818" y="1919033"/>
                </a:moveTo>
                <a:lnTo>
                  <a:pt x="3066199" y="1890077"/>
                </a:lnTo>
                <a:lnTo>
                  <a:pt x="2899283" y="1792668"/>
                </a:lnTo>
                <a:lnTo>
                  <a:pt x="2888373" y="1788985"/>
                </a:lnTo>
                <a:lnTo>
                  <a:pt x="2877274" y="1789696"/>
                </a:lnTo>
                <a:lnTo>
                  <a:pt x="2867279" y="1794497"/>
                </a:lnTo>
                <a:lnTo>
                  <a:pt x="2859659" y="1803082"/>
                </a:lnTo>
                <a:lnTo>
                  <a:pt x="2855899" y="1813979"/>
                </a:lnTo>
                <a:lnTo>
                  <a:pt x="2856623" y="1825040"/>
                </a:lnTo>
                <a:lnTo>
                  <a:pt x="2861462" y="1835035"/>
                </a:lnTo>
                <a:lnTo>
                  <a:pt x="2870073" y="1842706"/>
                </a:lnTo>
                <a:lnTo>
                  <a:pt x="2989580" y="1912429"/>
                </a:lnTo>
                <a:lnTo>
                  <a:pt x="2989580" y="1925650"/>
                </a:lnTo>
                <a:lnTo>
                  <a:pt x="2870073" y="1995360"/>
                </a:lnTo>
                <a:lnTo>
                  <a:pt x="2861462" y="2003044"/>
                </a:lnTo>
                <a:lnTo>
                  <a:pt x="2856623" y="2013038"/>
                </a:lnTo>
                <a:lnTo>
                  <a:pt x="2855899" y="2024100"/>
                </a:lnTo>
                <a:lnTo>
                  <a:pt x="2859659" y="2034984"/>
                </a:lnTo>
                <a:lnTo>
                  <a:pt x="2867279" y="2043582"/>
                </a:lnTo>
                <a:lnTo>
                  <a:pt x="2877274" y="2048383"/>
                </a:lnTo>
                <a:lnTo>
                  <a:pt x="2888373" y="2049094"/>
                </a:lnTo>
                <a:lnTo>
                  <a:pt x="2899283" y="2045398"/>
                </a:lnTo>
                <a:lnTo>
                  <a:pt x="3066199" y="1947989"/>
                </a:lnTo>
                <a:lnTo>
                  <a:pt x="3115818" y="1919033"/>
                </a:lnTo>
                <a:close/>
              </a:path>
              <a:path w="4173854" h="2778125">
                <a:moveTo>
                  <a:pt x="3126867" y="159829"/>
                </a:moveTo>
                <a:lnTo>
                  <a:pt x="3126740" y="101917"/>
                </a:lnTo>
                <a:lnTo>
                  <a:pt x="3068828" y="101917"/>
                </a:lnTo>
                <a:lnTo>
                  <a:pt x="3068955" y="159829"/>
                </a:lnTo>
                <a:lnTo>
                  <a:pt x="3126867" y="159829"/>
                </a:lnTo>
                <a:close/>
              </a:path>
              <a:path w="4173854" h="2778125">
                <a:moveTo>
                  <a:pt x="3132963" y="1021524"/>
                </a:moveTo>
                <a:lnTo>
                  <a:pt x="3075051" y="1021397"/>
                </a:lnTo>
                <a:lnTo>
                  <a:pt x="3074924" y="1079309"/>
                </a:lnTo>
                <a:lnTo>
                  <a:pt x="3132836" y="1079436"/>
                </a:lnTo>
                <a:lnTo>
                  <a:pt x="3132963" y="1021524"/>
                </a:lnTo>
                <a:close/>
              </a:path>
              <a:path w="4173854" h="2778125">
                <a:moveTo>
                  <a:pt x="3242691" y="159702"/>
                </a:moveTo>
                <a:lnTo>
                  <a:pt x="3242564" y="101790"/>
                </a:lnTo>
                <a:lnTo>
                  <a:pt x="3184652" y="101790"/>
                </a:lnTo>
                <a:lnTo>
                  <a:pt x="3184779" y="159702"/>
                </a:lnTo>
                <a:lnTo>
                  <a:pt x="3242691" y="159702"/>
                </a:lnTo>
                <a:close/>
              </a:path>
              <a:path w="4173854" h="2778125">
                <a:moveTo>
                  <a:pt x="3248787" y="1021651"/>
                </a:moveTo>
                <a:lnTo>
                  <a:pt x="3190875" y="1021651"/>
                </a:lnTo>
                <a:lnTo>
                  <a:pt x="3190748" y="1079563"/>
                </a:lnTo>
                <a:lnTo>
                  <a:pt x="3248660" y="1079563"/>
                </a:lnTo>
                <a:lnTo>
                  <a:pt x="3248787" y="1021651"/>
                </a:lnTo>
                <a:close/>
              </a:path>
              <a:path w="4173854" h="2778125">
                <a:moveTo>
                  <a:pt x="3358515" y="159575"/>
                </a:moveTo>
                <a:lnTo>
                  <a:pt x="3358388" y="101663"/>
                </a:lnTo>
                <a:lnTo>
                  <a:pt x="3300476" y="101663"/>
                </a:lnTo>
                <a:lnTo>
                  <a:pt x="3300603" y="159575"/>
                </a:lnTo>
                <a:lnTo>
                  <a:pt x="3358515" y="159575"/>
                </a:lnTo>
                <a:close/>
              </a:path>
              <a:path w="4173854" h="2778125">
                <a:moveTo>
                  <a:pt x="3447161" y="1050861"/>
                </a:moveTo>
                <a:lnTo>
                  <a:pt x="3404400" y="1025842"/>
                </a:lnTo>
                <a:lnTo>
                  <a:pt x="3397453" y="1021778"/>
                </a:lnTo>
                <a:lnTo>
                  <a:pt x="3230753" y="924242"/>
                </a:lnTo>
                <a:lnTo>
                  <a:pt x="3219856" y="920496"/>
                </a:lnTo>
                <a:lnTo>
                  <a:pt x="3208794" y="921219"/>
                </a:lnTo>
                <a:lnTo>
                  <a:pt x="3198799" y="926058"/>
                </a:lnTo>
                <a:lnTo>
                  <a:pt x="3191129" y="934656"/>
                </a:lnTo>
                <a:lnTo>
                  <a:pt x="3187433" y="945502"/>
                </a:lnTo>
                <a:lnTo>
                  <a:pt x="3188144" y="956564"/>
                </a:lnTo>
                <a:lnTo>
                  <a:pt x="3192945" y="966597"/>
                </a:lnTo>
                <a:lnTo>
                  <a:pt x="3201543" y="974280"/>
                </a:lnTo>
                <a:lnTo>
                  <a:pt x="3306661" y="1035735"/>
                </a:lnTo>
                <a:lnTo>
                  <a:pt x="3306597" y="1065707"/>
                </a:lnTo>
                <a:lnTo>
                  <a:pt x="3201289" y="1126934"/>
                </a:lnTo>
                <a:lnTo>
                  <a:pt x="3192678" y="1134554"/>
                </a:lnTo>
                <a:lnTo>
                  <a:pt x="3187839" y="1144549"/>
                </a:lnTo>
                <a:lnTo>
                  <a:pt x="3187115" y="1155611"/>
                </a:lnTo>
                <a:lnTo>
                  <a:pt x="3190875" y="1166431"/>
                </a:lnTo>
                <a:lnTo>
                  <a:pt x="3198482" y="1175054"/>
                </a:lnTo>
                <a:lnTo>
                  <a:pt x="3208477" y="1179893"/>
                </a:lnTo>
                <a:lnTo>
                  <a:pt x="3219539" y="1180655"/>
                </a:lnTo>
                <a:lnTo>
                  <a:pt x="3230372" y="1176972"/>
                </a:lnTo>
                <a:lnTo>
                  <a:pt x="3397593" y="1079690"/>
                </a:lnTo>
                <a:lnTo>
                  <a:pt x="3404362" y="1075753"/>
                </a:lnTo>
                <a:lnTo>
                  <a:pt x="3447161" y="1050861"/>
                </a:lnTo>
                <a:close/>
              </a:path>
              <a:path w="4173854" h="2778125">
                <a:moveTo>
                  <a:pt x="3474339" y="159448"/>
                </a:moveTo>
                <a:lnTo>
                  <a:pt x="3474212" y="101536"/>
                </a:lnTo>
                <a:lnTo>
                  <a:pt x="3416300" y="101536"/>
                </a:lnTo>
                <a:lnTo>
                  <a:pt x="3416427" y="159448"/>
                </a:lnTo>
                <a:lnTo>
                  <a:pt x="3474339" y="159448"/>
                </a:lnTo>
                <a:close/>
              </a:path>
              <a:path w="4173854" h="2778125">
                <a:moveTo>
                  <a:pt x="3590163" y="159321"/>
                </a:moveTo>
                <a:lnTo>
                  <a:pt x="3590036" y="101409"/>
                </a:lnTo>
                <a:lnTo>
                  <a:pt x="3532124" y="101536"/>
                </a:lnTo>
                <a:lnTo>
                  <a:pt x="3532251" y="159448"/>
                </a:lnTo>
                <a:lnTo>
                  <a:pt x="3590163" y="159321"/>
                </a:lnTo>
                <a:close/>
              </a:path>
              <a:path w="4173854" h="2778125">
                <a:moveTo>
                  <a:pt x="3705987" y="159194"/>
                </a:moveTo>
                <a:lnTo>
                  <a:pt x="3705860" y="101282"/>
                </a:lnTo>
                <a:lnTo>
                  <a:pt x="3647948" y="101409"/>
                </a:lnTo>
                <a:lnTo>
                  <a:pt x="3648075" y="159321"/>
                </a:lnTo>
                <a:lnTo>
                  <a:pt x="3705987" y="159194"/>
                </a:lnTo>
                <a:close/>
              </a:path>
              <a:path w="4173854" h="2778125">
                <a:moveTo>
                  <a:pt x="3821811" y="159194"/>
                </a:moveTo>
                <a:lnTo>
                  <a:pt x="3821684" y="101282"/>
                </a:lnTo>
                <a:lnTo>
                  <a:pt x="3763772" y="101282"/>
                </a:lnTo>
                <a:lnTo>
                  <a:pt x="3763899" y="159194"/>
                </a:lnTo>
                <a:lnTo>
                  <a:pt x="3821811" y="159194"/>
                </a:lnTo>
                <a:close/>
              </a:path>
              <a:path w="4173854" h="2778125">
                <a:moveTo>
                  <a:pt x="3937635" y="159067"/>
                </a:moveTo>
                <a:lnTo>
                  <a:pt x="3937508" y="101155"/>
                </a:lnTo>
                <a:lnTo>
                  <a:pt x="3879583" y="101155"/>
                </a:lnTo>
                <a:lnTo>
                  <a:pt x="3879723" y="159067"/>
                </a:lnTo>
                <a:lnTo>
                  <a:pt x="3937635" y="159067"/>
                </a:lnTo>
                <a:close/>
              </a:path>
              <a:path w="4173854" h="2778125">
                <a:moveTo>
                  <a:pt x="4173855" y="129857"/>
                </a:moveTo>
                <a:lnTo>
                  <a:pt x="4124096" y="100901"/>
                </a:lnTo>
                <a:lnTo>
                  <a:pt x="4059021" y="63030"/>
                </a:lnTo>
                <a:lnTo>
                  <a:pt x="4059021" y="129984"/>
                </a:lnTo>
                <a:lnTo>
                  <a:pt x="4053395" y="133261"/>
                </a:lnTo>
                <a:lnTo>
                  <a:pt x="4053382" y="126707"/>
                </a:lnTo>
                <a:lnTo>
                  <a:pt x="4059021" y="129984"/>
                </a:lnTo>
                <a:lnTo>
                  <a:pt x="4059021" y="63030"/>
                </a:lnTo>
                <a:lnTo>
                  <a:pt x="3957180" y="3746"/>
                </a:lnTo>
                <a:lnTo>
                  <a:pt x="3946283" y="0"/>
                </a:lnTo>
                <a:lnTo>
                  <a:pt x="3935184" y="723"/>
                </a:lnTo>
                <a:lnTo>
                  <a:pt x="3925189" y="5562"/>
                </a:lnTo>
                <a:lnTo>
                  <a:pt x="3917556" y="14160"/>
                </a:lnTo>
                <a:lnTo>
                  <a:pt x="3913809" y="25057"/>
                </a:lnTo>
                <a:lnTo>
                  <a:pt x="3914533" y="36118"/>
                </a:lnTo>
                <a:lnTo>
                  <a:pt x="3919372" y="46113"/>
                </a:lnTo>
                <a:lnTo>
                  <a:pt x="3927983" y="53784"/>
                </a:lnTo>
                <a:lnTo>
                  <a:pt x="4009212" y="101028"/>
                </a:lnTo>
                <a:lnTo>
                  <a:pt x="3995420" y="101028"/>
                </a:lnTo>
                <a:lnTo>
                  <a:pt x="3995547" y="158940"/>
                </a:lnTo>
                <a:lnTo>
                  <a:pt x="4009428" y="158940"/>
                </a:lnTo>
                <a:lnTo>
                  <a:pt x="3928110" y="206438"/>
                </a:lnTo>
                <a:lnTo>
                  <a:pt x="3919563" y="214058"/>
                </a:lnTo>
                <a:lnTo>
                  <a:pt x="3914749" y="224066"/>
                </a:lnTo>
                <a:lnTo>
                  <a:pt x="3914013" y="235165"/>
                </a:lnTo>
                <a:lnTo>
                  <a:pt x="3917683" y="246062"/>
                </a:lnTo>
                <a:lnTo>
                  <a:pt x="3925379" y="254609"/>
                </a:lnTo>
                <a:lnTo>
                  <a:pt x="3935412" y="259397"/>
                </a:lnTo>
                <a:lnTo>
                  <a:pt x="3946474" y="260108"/>
                </a:lnTo>
                <a:lnTo>
                  <a:pt x="3957307" y="256349"/>
                </a:lnTo>
                <a:lnTo>
                  <a:pt x="4124058" y="158940"/>
                </a:lnTo>
                <a:lnTo>
                  <a:pt x="4124274" y="158813"/>
                </a:lnTo>
                <a:lnTo>
                  <a:pt x="4173855" y="12985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889" y="219913"/>
            <a:ext cx="27603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V</a:t>
            </a:r>
            <a:r>
              <a:rPr sz="3600" spc="-5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Model</a:t>
            </a:r>
            <a:r>
              <a:rPr sz="3600" spc="-55" dirty="0">
                <a:solidFill>
                  <a:srgbClr val="000000"/>
                </a:solidFill>
              </a:rPr>
              <a:t> </a:t>
            </a:r>
            <a:r>
              <a:rPr sz="3600" spc="-15" dirty="0">
                <a:solidFill>
                  <a:srgbClr val="000000"/>
                </a:solidFill>
              </a:rPr>
              <a:t>Steps</a:t>
            </a:r>
            <a:endParaRPr sz="36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784935"/>
            <a:ext cx="4226560" cy="31934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b="1" spc="5" dirty="0">
                <a:latin typeface="Calibri"/>
                <a:cs typeface="Calibri"/>
              </a:rPr>
              <a:t>Planning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23215" marR="5080" indent="-311150">
              <a:lnSpc>
                <a:spcPts val="286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dirty="0"/>
              <a:t>	</a:t>
            </a:r>
            <a:r>
              <a:rPr sz="2700" b="1" spc="-5" dirty="0">
                <a:latin typeface="Calibri"/>
                <a:cs typeface="Calibri"/>
              </a:rPr>
              <a:t>Requirements</a:t>
            </a:r>
            <a:r>
              <a:rPr sz="2700" b="1" spc="-10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Analysis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spc="10" dirty="0">
                <a:latin typeface="Calibri"/>
                <a:cs typeface="Calibri"/>
              </a:rPr>
              <a:t>and </a:t>
            </a:r>
            <a:r>
              <a:rPr sz="2700" b="1" spc="-59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Specification</a:t>
            </a:r>
            <a:endParaRPr sz="27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0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b="1" dirty="0">
                <a:latin typeface="Calibri"/>
                <a:cs typeface="Calibri"/>
              </a:rPr>
              <a:t>High-level</a:t>
            </a:r>
            <a:r>
              <a:rPr sz="2700" b="1" spc="-1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Design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36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b="1" dirty="0">
                <a:latin typeface="Calibri"/>
                <a:cs typeface="Calibri"/>
              </a:rPr>
              <a:t>Detailed</a:t>
            </a:r>
            <a:r>
              <a:rPr sz="2700" b="1" spc="-8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Design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1173" y="1590243"/>
            <a:ext cx="3535679" cy="23907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20" dirty="0">
                <a:solidFill>
                  <a:srgbClr val="0000FF"/>
                </a:solidFill>
                <a:latin typeface="Calibri"/>
                <a:cs typeface="Calibri"/>
              </a:rPr>
              <a:t>System</a:t>
            </a:r>
            <a:r>
              <a:rPr sz="28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test</a:t>
            </a:r>
            <a:r>
              <a:rPr sz="28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FF"/>
              </a:buClr>
              <a:buFont typeface="Arial MT"/>
              <a:buChar char="•"/>
            </a:pPr>
            <a:endParaRPr sz="4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Integration</a:t>
            </a:r>
            <a:r>
              <a:rPr sz="28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65" dirty="0">
                <a:solidFill>
                  <a:srgbClr val="0000FF"/>
                </a:solidFill>
                <a:latin typeface="Calibri"/>
                <a:cs typeface="Calibri"/>
              </a:rPr>
              <a:t>Test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dsign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00FF"/>
              </a:buClr>
              <a:buFont typeface="Arial MT"/>
              <a:buChar char="•"/>
            </a:pPr>
            <a:endParaRPr sz="23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Unit</a:t>
            </a:r>
            <a:r>
              <a:rPr sz="28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test</a:t>
            </a:r>
            <a:r>
              <a:rPr sz="28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4923" y="1507235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123" y="2488691"/>
            <a:ext cx="8153400" cy="6350"/>
          </a:xfrm>
          <a:custGeom>
            <a:avLst/>
            <a:gdLst/>
            <a:ahLst/>
            <a:cxnLst/>
            <a:rect l="l" t="t" r="r" b="b"/>
            <a:pathLst>
              <a:path w="8153400" h="6350">
                <a:moveTo>
                  <a:pt x="0" y="0"/>
                </a:moveTo>
                <a:lnTo>
                  <a:pt x="8153400" y="6095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123" y="3412235"/>
            <a:ext cx="8153400" cy="67310"/>
          </a:xfrm>
          <a:custGeom>
            <a:avLst/>
            <a:gdLst/>
            <a:ahLst/>
            <a:cxnLst/>
            <a:rect l="l" t="t" r="r" b="b"/>
            <a:pathLst>
              <a:path w="8153400" h="67310">
                <a:moveTo>
                  <a:pt x="0" y="0"/>
                </a:moveTo>
                <a:lnTo>
                  <a:pt x="8153400" y="67056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6979" y="221690"/>
            <a:ext cx="3130550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10" dirty="0">
                <a:solidFill>
                  <a:srgbClr val="000000"/>
                </a:solidFill>
              </a:rPr>
              <a:t>V</a:t>
            </a:r>
            <a:r>
              <a:rPr sz="3050" spc="-4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Model:</a:t>
            </a:r>
            <a:r>
              <a:rPr sz="3050" spc="-55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Strengths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84301"/>
            <a:ext cx="8395335" cy="342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Calibri"/>
                <a:cs typeface="Calibri"/>
              </a:rPr>
              <a:t>Starting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from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early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stages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software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development:</a:t>
            </a:r>
            <a:endParaRPr sz="3000">
              <a:latin typeface="Calibri"/>
              <a:cs typeface="Calibri"/>
            </a:endParaRPr>
          </a:p>
          <a:p>
            <a:pPr marL="518795" marR="132715" indent="-287020">
              <a:lnSpc>
                <a:spcPct val="126000"/>
              </a:lnSpc>
              <a:spcBef>
                <a:spcPts val="2055"/>
              </a:spcBef>
              <a:tabLst>
                <a:tab pos="597535" algn="l"/>
              </a:tabLst>
            </a:pPr>
            <a:r>
              <a:rPr sz="2700" spc="5" dirty="0">
                <a:latin typeface="Arial MT"/>
                <a:cs typeface="Arial MT"/>
              </a:rPr>
              <a:t>–		</a:t>
            </a:r>
            <a:r>
              <a:rPr sz="2700" b="1" dirty="0">
                <a:solidFill>
                  <a:srgbClr val="6600CC"/>
                </a:solidFill>
                <a:latin typeface="Calibri"/>
                <a:cs typeface="Calibri"/>
              </a:rPr>
              <a:t>Emphasizes</a:t>
            </a:r>
            <a:r>
              <a:rPr sz="2700" b="1" spc="1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planning</a:t>
            </a:r>
            <a:r>
              <a:rPr sz="2700" b="1" spc="-15" dirty="0">
                <a:solidFill>
                  <a:srgbClr val="6600CC"/>
                </a:solidFill>
                <a:latin typeface="Calibri"/>
                <a:cs typeface="Calibri"/>
              </a:rPr>
              <a:t> for</a:t>
            </a:r>
            <a:r>
              <a:rPr sz="2700" b="1" spc="-5" dirty="0">
                <a:solidFill>
                  <a:srgbClr val="6600CC"/>
                </a:solidFill>
                <a:latin typeface="Calibri"/>
                <a:cs typeface="Calibri"/>
              </a:rPr>
              <a:t> verification</a:t>
            </a:r>
            <a:r>
              <a:rPr sz="2700" b="1" spc="2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and </a:t>
            </a:r>
            <a:r>
              <a:rPr sz="2700" b="1" spc="-5" dirty="0">
                <a:solidFill>
                  <a:srgbClr val="6600CC"/>
                </a:solidFill>
                <a:latin typeface="Calibri"/>
                <a:cs typeface="Calibri"/>
              </a:rPr>
              <a:t>validation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 of </a:t>
            </a:r>
            <a:r>
              <a:rPr sz="2700" b="1" spc="-60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the</a:t>
            </a:r>
            <a:r>
              <a:rPr sz="2700" b="1" spc="1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6600CC"/>
                </a:solidFill>
                <a:latin typeface="Calibri"/>
                <a:cs typeface="Calibri"/>
              </a:rPr>
              <a:t>software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15" dirty="0">
                <a:latin typeface="Calibri"/>
                <a:cs typeface="Calibri"/>
              </a:rPr>
              <a:t>Each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deliverable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made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testable</a:t>
            </a:r>
            <a:endParaRPr sz="3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25" dirty="0">
                <a:latin typeface="Calibri"/>
                <a:cs typeface="Calibri"/>
              </a:rPr>
              <a:t>Easy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use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0329" y="284429"/>
            <a:ext cx="3773170" cy="5232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45134" algn="l"/>
              </a:tabLst>
            </a:pPr>
            <a:r>
              <a:rPr sz="3250" spc="5" dirty="0">
                <a:solidFill>
                  <a:srgbClr val="000000"/>
                </a:solidFill>
              </a:rPr>
              <a:t>V	</a:t>
            </a:r>
            <a:r>
              <a:rPr sz="3250" dirty="0">
                <a:solidFill>
                  <a:srgbClr val="000000"/>
                </a:solidFill>
              </a:rPr>
              <a:t>Model</a:t>
            </a:r>
            <a:r>
              <a:rPr sz="3250" spc="-75" dirty="0">
                <a:solidFill>
                  <a:srgbClr val="000000"/>
                </a:solidFill>
              </a:rPr>
              <a:t> </a:t>
            </a:r>
            <a:r>
              <a:rPr sz="3250" spc="-10" dirty="0">
                <a:solidFill>
                  <a:srgbClr val="000000"/>
                </a:solidFill>
              </a:rPr>
              <a:t>Weaknesses</a:t>
            </a:r>
            <a:endParaRPr sz="325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610" y="949909"/>
            <a:ext cx="61214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Calibri"/>
                <a:cs typeface="Calibri"/>
              </a:rPr>
              <a:t>Does </a:t>
            </a:r>
            <a:r>
              <a:rPr sz="2800" spc="-10" dirty="0">
                <a:latin typeface="Calibri"/>
                <a:cs typeface="Calibri"/>
              </a:rPr>
              <a:t>not </a:t>
            </a:r>
            <a:r>
              <a:rPr sz="2800" spc="-5" dirty="0">
                <a:latin typeface="Calibri"/>
                <a:cs typeface="Calibri"/>
              </a:rPr>
              <a:t>support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overlapping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phases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610" y="1681683"/>
            <a:ext cx="56610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Calibri"/>
                <a:cs typeface="Calibri"/>
              </a:rPr>
              <a:t>Does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 </a:t>
            </a:r>
            <a:r>
              <a:rPr sz="2800" spc="-5" dirty="0">
                <a:latin typeface="Calibri"/>
                <a:cs typeface="Calibri"/>
              </a:rPr>
              <a:t>handle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" dirty="0">
                <a:latin typeface="Calibri"/>
                <a:cs typeface="Calibri"/>
              </a:rPr>
              <a:t> phases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610" y="2317571"/>
            <a:ext cx="5525770" cy="108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236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  <a:tab pos="2705735" algn="l"/>
              </a:tabLst>
            </a:pPr>
            <a:r>
              <a:rPr sz="2800" dirty="0">
                <a:latin typeface="Calibri"/>
                <a:cs typeface="Calibri"/>
              </a:rPr>
              <a:t>Does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easily	</a:t>
            </a:r>
            <a:r>
              <a:rPr sz="2800" spc="-10" dirty="0">
                <a:latin typeface="Calibri"/>
                <a:cs typeface="Calibri"/>
              </a:rPr>
              <a:t>accommodate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later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changes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610" y="3679342"/>
            <a:ext cx="7785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Calibri"/>
                <a:cs typeface="Calibri"/>
              </a:rPr>
              <a:t>Does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provide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support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effective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risk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handling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29528" y="1514855"/>
            <a:ext cx="2707005" cy="1917064"/>
          </a:xfrm>
          <a:custGeom>
            <a:avLst/>
            <a:gdLst/>
            <a:ahLst/>
            <a:cxnLst/>
            <a:rect l="l" t="t" r="r" b="b"/>
            <a:pathLst>
              <a:path w="2707004" h="1917064">
                <a:moveTo>
                  <a:pt x="0" y="76200"/>
                </a:moveTo>
                <a:lnTo>
                  <a:pt x="1315339" y="1916810"/>
                </a:lnTo>
              </a:path>
              <a:path w="2707004" h="1917064">
                <a:moveTo>
                  <a:pt x="2706878" y="0"/>
                </a:moveTo>
                <a:lnTo>
                  <a:pt x="1417320" y="1915921"/>
                </a:lnTo>
              </a:path>
            </a:pathLst>
          </a:custGeom>
          <a:ln w="7315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75959" y="1429511"/>
            <a:ext cx="807720" cy="329565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2075" marR="366395" indent="81915">
              <a:lnSpc>
                <a:spcPts val="770"/>
              </a:lnSpc>
              <a:spcBef>
                <a:spcPts val="500"/>
              </a:spcBef>
            </a:pPr>
            <a:r>
              <a:rPr sz="700" b="1" spc="-20" dirty="0">
                <a:latin typeface="Calibri"/>
                <a:cs typeface="Calibri"/>
              </a:rPr>
              <a:t>P</a:t>
            </a:r>
            <a:r>
              <a:rPr sz="700" b="1" spc="-15" dirty="0">
                <a:latin typeface="Calibri"/>
                <a:cs typeface="Calibri"/>
              </a:rPr>
              <a:t>r</a:t>
            </a:r>
            <a:r>
              <a:rPr sz="700" b="1" dirty="0">
                <a:latin typeface="Calibri"/>
                <a:cs typeface="Calibri"/>
              </a:rPr>
              <a:t>o</a:t>
            </a:r>
            <a:r>
              <a:rPr sz="700" b="1" spc="-15" dirty="0">
                <a:latin typeface="Calibri"/>
                <a:cs typeface="Calibri"/>
              </a:rPr>
              <a:t>j</a:t>
            </a:r>
            <a:r>
              <a:rPr sz="700" b="1" dirty="0">
                <a:latin typeface="Calibri"/>
                <a:cs typeface="Calibri"/>
              </a:rPr>
              <a:t>e</a:t>
            </a:r>
            <a:r>
              <a:rPr sz="700" b="1" spc="-10" dirty="0">
                <a:latin typeface="Calibri"/>
                <a:cs typeface="Calibri"/>
              </a:rPr>
              <a:t>c</a:t>
            </a:r>
            <a:r>
              <a:rPr sz="700" b="1" spc="-5" dirty="0">
                <a:latin typeface="Calibri"/>
                <a:cs typeface="Calibri"/>
              </a:rPr>
              <a:t>t  Planning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48471" y="1429511"/>
            <a:ext cx="780415" cy="329565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77800" marR="107950">
              <a:lnSpc>
                <a:spcPct val="92900"/>
              </a:lnSpc>
              <a:spcBef>
                <a:spcPts val="90"/>
              </a:spcBef>
            </a:pPr>
            <a:r>
              <a:rPr sz="700" b="1" spc="-5" dirty="0">
                <a:latin typeface="Calibri"/>
                <a:cs typeface="Calibri"/>
              </a:rPr>
              <a:t>Production, </a:t>
            </a:r>
            <a:r>
              <a:rPr sz="700" b="1" dirty="0">
                <a:latin typeface="Calibri"/>
                <a:cs typeface="Calibri"/>
              </a:rPr>
              <a:t> </a:t>
            </a:r>
            <a:r>
              <a:rPr sz="700" b="1" spc="-5" dirty="0">
                <a:latin typeface="Calibri"/>
                <a:cs typeface="Calibri"/>
              </a:rPr>
              <a:t>Operation &amp; </a:t>
            </a:r>
            <a:r>
              <a:rPr sz="700" b="1" dirty="0">
                <a:latin typeface="Calibri"/>
                <a:cs typeface="Calibri"/>
              </a:rPr>
              <a:t> </a:t>
            </a:r>
            <a:r>
              <a:rPr sz="700" b="1" spc="-15" dirty="0">
                <a:latin typeface="Calibri"/>
                <a:cs typeface="Calibri"/>
              </a:rPr>
              <a:t>Ma</a:t>
            </a:r>
            <a:r>
              <a:rPr sz="700" b="1" spc="-10" dirty="0">
                <a:latin typeface="Calibri"/>
                <a:cs typeface="Calibri"/>
              </a:rPr>
              <a:t>i</a:t>
            </a:r>
            <a:r>
              <a:rPr sz="700" b="1" spc="5" dirty="0">
                <a:latin typeface="Calibri"/>
                <a:cs typeface="Calibri"/>
              </a:rPr>
              <a:t>n</a:t>
            </a:r>
            <a:r>
              <a:rPr sz="700" b="1" spc="-5" dirty="0">
                <a:latin typeface="Calibri"/>
                <a:cs typeface="Calibri"/>
              </a:rPr>
              <a:t>t</a:t>
            </a:r>
            <a:r>
              <a:rPr sz="700" b="1" dirty="0">
                <a:latin typeface="Calibri"/>
                <a:cs typeface="Calibri"/>
              </a:rPr>
              <a:t>e</a:t>
            </a:r>
            <a:r>
              <a:rPr sz="700" b="1" spc="5" dirty="0">
                <a:latin typeface="Calibri"/>
                <a:cs typeface="Calibri"/>
              </a:rPr>
              <a:t>n</a:t>
            </a:r>
            <a:r>
              <a:rPr sz="700" b="1" spc="-15" dirty="0">
                <a:latin typeface="Calibri"/>
                <a:cs typeface="Calibri"/>
              </a:rPr>
              <a:t>a</a:t>
            </a:r>
            <a:r>
              <a:rPr sz="700" b="1" spc="5" dirty="0">
                <a:latin typeface="Calibri"/>
                <a:cs typeface="Calibri"/>
              </a:rPr>
              <a:t>n</a:t>
            </a:r>
            <a:r>
              <a:rPr sz="700" b="1" spc="-10" dirty="0">
                <a:latin typeface="Calibri"/>
                <a:cs typeface="Calibri"/>
              </a:rPr>
              <a:t>c</a:t>
            </a:r>
            <a:r>
              <a:rPr sz="700" b="1" spc="-5" dirty="0">
                <a:latin typeface="Calibri"/>
                <a:cs typeface="Calibri"/>
              </a:rPr>
              <a:t>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9215" y="1920239"/>
            <a:ext cx="1012190" cy="39370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550">
              <a:latin typeface="Times New Roman"/>
              <a:cs typeface="Times New Roman"/>
            </a:endParaRPr>
          </a:p>
          <a:p>
            <a:pPr marL="175895">
              <a:lnSpc>
                <a:spcPts val="805"/>
              </a:lnSpc>
            </a:pPr>
            <a:r>
              <a:rPr sz="700" b="1" spc="-5" dirty="0">
                <a:latin typeface="Calibri"/>
                <a:cs typeface="Calibri"/>
              </a:rPr>
              <a:t>Requirements</a:t>
            </a:r>
            <a:endParaRPr sz="700">
              <a:latin typeface="Calibri"/>
              <a:cs typeface="Calibri"/>
            </a:endParaRPr>
          </a:p>
          <a:p>
            <a:pPr marL="175895">
              <a:lnSpc>
                <a:spcPts val="805"/>
              </a:lnSpc>
            </a:pPr>
            <a:r>
              <a:rPr sz="700" b="1" spc="-5" dirty="0">
                <a:latin typeface="Calibri"/>
                <a:cs typeface="Calibri"/>
              </a:rPr>
              <a:t>Specification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3671" y="1920239"/>
            <a:ext cx="927100" cy="338455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</a:pPr>
            <a:r>
              <a:rPr sz="700" b="1" dirty="0">
                <a:latin typeface="Calibri"/>
                <a:cs typeface="Calibri"/>
              </a:rPr>
              <a:t>System</a:t>
            </a:r>
            <a:r>
              <a:rPr sz="700" b="1" spc="100" dirty="0">
                <a:latin typeface="Calibri"/>
                <a:cs typeface="Calibri"/>
              </a:rPr>
              <a:t> </a:t>
            </a:r>
            <a:r>
              <a:rPr sz="700" b="1" spc="-5" dirty="0">
                <a:latin typeface="Calibri"/>
                <a:cs typeface="Calibri"/>
              </a:rPr>
              <a:t>Testing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3535" y="2478023"/>
            <a:ext cx="896619" cy="27432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595"/>
              </a:spcBef>
            </a:pPr>
            <a:r>
              <a:rPr sz="700" b="1" spc="-5" dirty="0">
                <a:latin typeface="Calibri"/>
                <a:cs typeface="Calibri"/>
              </a:rPr>
              <a:t>High Level</a:t>
            </a:r>
            <a:r>
              <a:rPr sz="700" b="1" spc="-35" dirty="0">
                <a:latin typeface="Calibri"/>
                <a:cs typeface="Calibri"/>
              </a:rPr>
              <a:t> </a:t>
            </a:r>
            <a:r>
              <a:rPr sz="700" b="1" spc="-5" dirty="0">
                <a:latin typeface="Calibri"/>
                <a:cs typeface="Calibri"/>
              </a:rPr>
              <a:t>Design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3464" y="2468879"/>
            <a:ext cx="810895" cy="27432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73050" marR="189865" indent="-73660">
              <a:lnSpc>
                <a:spcPts val="790"/>
              </a:lnSpc>
              <a:spcBef>
                <a:spcPts val="260"/>
              </a:spcBef>
            </a:pPr>
            <a:r>
              <a:rPr sz="700" b="1" dirty="0">
                <a:latin typeface="Calibri"/>
                <a:cs typeface="Calibri"/>
              </a:rPr>
              <a:t>I</a:t>
            </a:r>
            <a:r>
              <a:rPr sz="700" b="1" spc="5" dirty="0">
                <a:latin typeface="Calibri"/>
                <a:cs typeface="Calibri"/>
              </a:rPr>
              <a:t>n</a:t>
            </a:r>
            <a:r>
              <a:rPr sz="700" b="1" spc="-5" dirty="0">
                <a:latin typeface="Calibri"/>
                <a:cs typeface="Calibri"/>
              </a:rPr>
              <a:t>t</a:t>
            </a:r>
            <a:r>
              <a:rPr sz="700" b="1" dirty="0">
                <a:latin typeface="Calibri"/>
                <a:cs typeface="Calibri"/>
              </a:rPr>
              <a:t>eg</a:t>
            </a:r>
            <a:r>
              <a:rPr sz="700" b="1" spc="-15" dirty="0">
                <a:latin typeface="Calibri"/>
                <a:cs typeface="Calibri"/>
              </a:rPr>
              <a:t>ra</a:t>
            </a:r>
            <a:r>
              <a:rPr sz="700" b="1" spc="-5" dirty="0">
                <a:latin typeface="Calibri"/>
                <a:cs typeface="Calibri"/>
              </a:rPr>
              <a:t>t</a:t>
            </a:r>
            <a:r>
              <a:rPr sz="700" b="1" spc="-10" dirty="0">
                <a:latin typeface="Calibri"/>
                <a:cs typeface="Calibri"/>
              </a:rPr>
              <a:t>i</a:t>
            </a:r>
            <a:r>
              <a:rPr sz="700" b="1" dirty="0">
                <a:latin typeface="Calibri"/>
                <a:cs typeface="Calibri"/>
              </a:rPr>
              <a:t>o</a:t>
            </a:r>
            <a:r>
              <a:rPr sz="700" b="1" spc="-5" dirty="0">
                <a:latin typeface="Calibri"/>
                <a:cs typeface="Calibri"/>
              </a:rPr>
              <a:t>n  Testing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0423" y="2895600"/>
            <a:ext cx="807720" cy="27178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585"/>
              </a:spcBef>
            </a:pPr>
            <a:r>
              <a:rPr sz="700" b="1" spc="-5" dirty="0">
                <a:latin typeface="Calibri"/>
                <a:cs typeface="Calibri"/>
              </a:rPr>
              <a:t>Detailed</a:t>
            </a:r>
            <a:r>
              <a:rPr sz="700" b="1" spc="-20" dirty="0">
                <a:latin typeface="Calibri"/>
                <a:cs typeface="Calibri"/>
              </a:rPr>
              <a:t> </a:t>
            </a:r>
            <a:r>
              <a:rPr sz="700" b="1" spc="-5" dirty="0">
                <a:latin typeface="Calibri"/>
                <a:cs typeface="Calibri"/>
              </a:rPr>
              <a:t>Design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4592" y="2904744"/>
            <a:ext cx="722630" cy="27432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610"/>
              </a:spcBef>
            </a:pPr>
            <a:r>
              <a:rPr sz="700" b="1" spc="-5" dirty="0">
                <a:latin typeface="Calibri"/>
                <a:cs typeface="Calibri"/>
              </a:rPr>
              <a:t>Unit</a:t>
            </a:r>
            <a:r>
              <a:rPr sz="700" b="1" spc="-30" dirty="0">
                <a:latin typeface="Calibri"/>
                <a:cs typeface="Calibri"/>
              </a:rPr>
              <a:t> </a:t>
            </a:r>
            <a:r>
              <a:rPr sz="700" b="1" dirty="0">
                <a:latin typeface="Calibri"/>
                <a:cs typeface="Calibri"/>
              </a:rPr>
              <a:t>testing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90231" y="3288791"/>
            <a:ext cx="643255" cy="274320"/>
          </a:xfrm>
          <a:prstGeom prst="rect">
            <a:avLst/>
          </a:prstGeom>
          <a:solidFill>
            <a:srgbClr val="FFFF99"/>
          </a:solidFill>
          <a:ln w="24384">
            <a:solidFill>
              <a:srgbClr val="385D89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sz="800" b="1" spc="-5" dirty="0">
                <a:latin typeface="Calibri"/>
                <a:cs typeface="Calibri"/>
              </a:rPr>
              <a:t>Coding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85077" y="1462798"/>
            <a:ext cx="1766570" cy="1698625"/>
          </a:xfrm>
          <a:custGeom>
            <a:avLst/>
            <a:gdLst/>
            <a:ahLst/>
            <a:cxnLst/>
            <a:rect l="l" t="t" r="r" b="b"/>
            <a:pathLst>
              <a:path w="1766570" h="1698625">
                <a:moveTo>
                  <a:pt x="231267" y="160642"/>
                </a:moveTo>
                <a:lnTo>
                  <a:pt x="231140" y="102730"/>
                </a:lnTo>
                <a:lnTo>
                  <a:pt x="173228" y="102730"/>
                </a:lnTo>
                <a:lnTo>
                  <a:pt x="173355" y="160642"/>
                </a:lnTo>
                <a:lnTo>
                  <a:pt x="231267" y="160642"/>
                </a:lnTo>
                <a:close/>
              </a:path>
              <a:path w="1766570" h="1698625">
                <a:moveTo>
                  <a:pt x="260032" y="236740"/>
                </a:moveTo>
                <a:lnTo>
                  <a:pt x="164934" y="160896"/>
                </a:lnTo>
                <a:lnTo>
                  <a:pt x="115379" y="132054"/>
                </a:lnTo>
                <a:lnTo>
                  <a:pt x="115366" y="131559"/>
                </a:lnTo>
                <a:lnTo>
                  <a:pt x="164477" y="102857"/>
                </a:lnTo>
                <a:lnTo>
                  <a:pt x="245745" y="55359"/>
                </a:lnTo>
                <a:lnTo>
                  <a:pt x="259778" y="26581"/>
                </a:lnTo>
                <a:lnTo>
                  <a:pt x="256032" y="15735"/>
                </a:lnTo>
                <a:lnTo>
                  <a:pt x="248399" y="7137"/>
                </a:lnTo>
                <a:lnTo>
                  <a:pt x="238404" y="2298"/>
                </a:lnTo>
                <a:lnTo>
                  <a:pt x="227304" y="1574"/>
                </a:lnTo>
                <a:lnTo>
                  <a:pt x="216408" y="5321"/>
                </a:lnTo>
                <a:lnTo>
                  <a:pt x="0" y="131940"/>
                </a:lnTo>
                <a:lnTo>
                  <a:pt x="216789" y="258051"/>
                </a:lnTo>
                <a:lnTo>
                  <a:pt x="227672" y="261734"/>
                </a:lnTo>
                <a:lnTo>
                  <a:pt x="238721" y="260997"/>
                </a:lnTo>
                <a:lnTo>
                  <a:pt x="248678" y="256184"/>
                </a:lnTo>
                <a:lnTo>
                  <a:pt x="256286" y="247637"/>
                </a:lnTo>
                <a:lnTo>
                  <a:pt x="260032" y="236740"/>
                </a:lnTo>
                <a:close/>
              </a:path>
              <a:path w="1766570" h="1698625">
                <a:moveTo>
                  <a:pt x="347091" y="160515"/>
                </a:moveTo>
                <a:lnTo>
                  <a:pt x="346964" y="102603"/>
                </a:lnTo>
                <a:lnTo>
                  <a:pt x="289052" y="102603"/>
                </a:lnTo>
                <a:lnTo>
                  <a:pt x="289179" y="160515"/>
                </a:lnTo>
                <a:lnTo>
                  <a:pt x="347091" y="160515"/>
                </a:lnTo>
                <a:close/>
              </a:path>
              <a:path w="1766570" h="1698625">
                <a:moveTo>
                  <a:pt x="462915" y="160388"/>
                </a:moveTo>
                <a:lnTo>
                  <a:pt x="462788" y="102476"/>
                </a:lnTo>
                <a:lnTo>
                  <a:pt x="404876" y="102476"/>
                </a:lnTo>
                <a:lnTo>
                  <a:pt x="405003" y="160388"/>
                </a:lnTo>
                <a:lnTo>
                  <a:pt x="462915" y="160388"/>
                </a:lnTo>
                <a:close/>
              </a:path>
              <a:path w="1766570" h="1698625">
                <a:moveTo>
                  <a:pt x="578739" y="625462"/>
                </a:moveTo>
                <a:lnTo>
                  <a:pt x="520827" y="625462"/>
                </a:lnTo>
                <a:lnTo>
                  <a:pt x="520700" y="683374"/>
                </a:lnTo>
                <a:lnTo>
                  <a:pt x="578612" y="683374"/>
                </a:lnTo>
                <a:lnTo>
                  <a:pt x="578739" y="625462"/>
                </a:lnTo>
                <a:close/>
              </a:path>
              <a:path w="1766570" h="1698625">
                <a:moveTo>
                  <a:pt x="578739" y="160261"/>
                </a:moveTo>
                <a:lnTo>
                  <a:pt x="578612" y="102349"/>
                </a:lnTo>
                <a:lnTo>
                  <a:pt x="520700" y="102349"/>
                </a:lnTo>
                <a:lnTo>
                  <a:pt x="520827" y="160261"/>
                </a:lnTo>
                <a:lnTo>
                  <a:pt x="578739" y="160261"/>
                </a:lnTo>
                <a:close/>
              </a:path>
              <a:path w="1766570" h="1698625">
                <a:moveTo>
                  <a:pt x="607555" y="549490"/>
                </a:moveTo>
                <a:lnTo>
                  <a:pt x="603885" y="538594"/>
                </a:lnTo>
                <a:lnTo>
                  <a:pt x="596265" y="529983"/>
                </a:lnTo>
                <a:lnTo>
                  <a:pt x="586257" y="525132"/>
                </a:lnTo>
                <a:lnTo>
                  <a:pt x="575157" y="524383"/>
                </a:lnTo>
                <a:lnTo>
                  <a:pt x="564261" y="528053"/>
                </a:lnTo>
                <a:lnTo>
                  <a:pt x="347472" y="654037"/>
                </a:lnTo>
                <a:lnTo>
                  <a:pt x="563880" y="780783"/>
                </a:lnTo>
                <a:lnTo>
                  <a:pt x="574713" y="784542"/>
                </a:lnTo>
                <a:lnTo>
                  <a:pt x="585787" y="783831"/>
                </a:lnTo>
                <a:lnTo>
                  <a:pt x="606488" y="748499"/>
                </a:lnTo>
                <a:lnTo>
                  <a:pt x="511860" y="683247"/>
                </a:lnTo>
                <a:lnTo>
                  <a:pt x="462838" y="654507"/>
                </a:lnTo>
                <a:lnTo>
                  <a:pt x="462851" y="653999"/>
                </a:lnTo>
                <a:lnTo>
                  <a:pt x="462902" y="629145"/>
                </a:lnTo>
                <a:lnTo>
                  <a:pt x="462851" y="653999"/>
                </a:lnTo>
                <a:lnTo>
                  <a:pt x="512419" y="625208"/>
                </a:lnTo>
                <a:lnTo>
                  <a:pt x="593344" y="578218"/>
                </a:lnTo>
                <a:lnTo>
                  <a:pt x="601954" y="570547"/>
                </a:lnTo>
                <a:lnTo>
                  <a:pt x="606806" y="560552"/>
                </a:lnTo>
                <a:lnTo>
                  <a:pt x="607555" y="549490"/>
                </a:lnTo>
                <a:close/>
              </a:path>
              <a:path w="1766570" h="1698625">
                <a:moveTo>
                  <a:pt x="694563" y="625716"/>
                </a:moveTo>
                <a:lnTo>
                  <a:pt x="636651" y="625589"/>
                </a:lnTo>
                <a:lnTo>
                  <a:pt x="636524" y="683501"/>
                </a:lnTo>
                <a:lnTo>
                  <a:pt x="694436" y="683628"/>
                </a:lnTo>
                <a:lnTo>
                  <a:pt x="694563" y="625716"/>
                </a:lnTo>
                <a:close/>
              </a:path>
              <a:path w="1766570" h="1698625">
                <a:moveTo>
                  <a:pt x="694563" y="160007"/>
                </a:moveTo>
                <a:lnTo>
                  <a:pt x="694436" y="102095"/>
                </a:lnTo>
                <a:lnTo>
                  <a:pt x="636524" y="102222"/>
                </a:lnTo>
                <a:lnTo>
                  <a:pt x="636651" y="160134"/>
                </a:lnTo>
                <a:lnTo>
                  <a:pt x="694563" y="160007"/>
                </a:lnTo>
                <a:close/>
              </a:path>
              <a:path w="1766570" h="1698625">
                <a:moveTo>
                  <a:pt x="737108" y="1124953"/>
                </a:moveTo>
                <a:lnTo>
                  <a:pt x="679196" y="1124953"/>
                </a:lnTo>
                <a:lnTo>
                  <a:pt x="679196" y="1182865"/>
                </a:lnTo>
                <a:lnTo>
                  <a:pt x="737108" y="1182865"/>
                </a:lnTo>
                <a:lnTo>
                  <a:pt x="737108" y="1124953"/>
                </a:lnTo>
                <a:close/>
              </a:path>
              <a:path w="1766570" h="1698625">
                <a:moveTo>
                  <a:pt x="765873" y="1048854"/>
                </a:moveTo>
                <a:lnTo>
                  <a:pt x="762127" y="1037958"/>
                </a:lnTo>
                <a:lnTo>
                  <a:pt x="754507" y="1029373"/>
                </a:lnTo>
                <a:lnTo>
                  <a:pt x="744512" y="1024559"/>
                </a:lnTo>
                <a:lnTo>
                  <a:pt x="733450" y="1023861"/>
                </a:lnTo>
                <a:lnTo>
                  <a:pt x="722630" y="1027544"/>
                </a:lnTo>
                <a:lnTo>
                  <a:pt x="505968" y="1153909"/>
                </a:lnTo>
                <a:lnTo>
                  <a:pt x="722630" y="1280274"/>
                </a:lnTo>
                <a:lnTo>
                  <a:pt x="733450" y="1283970"/>
                </a:lnTo>
                <a:lnTo>
                  <a:pt x="744512" y="1283258"/>
                </a:lnTo>
                <a:lnTo>
                  <a:pt x="754507" y="1278458"/>
                </a:lnTo>
                <a:lnTo>
                  <a:pt x="762127" y="1269860"/>
                </a:lnTo>
                <a:lnTo>
                  <a:pt x="765873" y="1258976"/>
                </a:lnTo>
                <a:lnTo>
                  <a:pt x="765149" y="1247914"/>
                </a:lnTo>
                <a:lnTo>
                  <a:pt x="760310" y="1237919"/>
                </a:lnTo>
                <a:lnTo>
                  <a:pt x="751713" y="1230236"/>
                </a:lnTo>
                <a:lnTo>
                  <a:pt x="670496" y="1182865"/>
                </a:lnTo>
                <a:lnTo>
                  <a:pt x="621284" y="1154163"/>
                </a:lnTo>
                <a:lnTo>
                  <a:pt x="621284" y="1153668"/>
                </a:lnTo>
                <a:lnTo>
                  <a:pt x="670496" y="1124953"/>
                </a:lnTo>
                <a:lnTo>
                  <a:pt x="751713" y="1077582"/>
                </a:lnTo>
                <a:lnTo>
                  <a:pt x="760310" y="1069911"/>
                </a:lnTo>
                <a:lnTo>
                  <a:pt x="765149" y="1059916"/>
                </a:lnTo>
                <a:lnTo>
                  <a:pt x="765873" y="1048854"/>
                </a:lnTo>
                <a:close/>
              </a:path>
              <a:path w="1766570" h="1698625">
                <a:moveTo>
                  <a:pt x="810387" y="625970"/>
                </a:moveTo>
                <a:lnTo>
                  <a:pt x="752475" y="625843"/>
                </a:lnTo>
                <a:lnTo>
                  <a:pt x="752348" y="683755"/>
                </a:lnTo>
                <a:lnTo>
                  <a:pt x="810260" y="683882"/>
                </a:lnTo>
                <a:lnTo>
                  <a:pt x="810387" y="625970"/>
                </a:lnTo>
                <a:close/>
              </a:path>
              <a:path w="1766570" h="1698625">
                <a:moveTo>
                  <a:pt x="810387" y="159880"/>
                </a:moveTo>
                <a:lnTo>
                  <a:pt x="810260" y="101968"/>
                </a:lnTo>
                <a:lnTo>
                  <a:pt x="752348" y="102095"/>
                </a:lnTo>
                <a:lnTo>
                  <a:pt x="752475" y="160007"/>
                </a:lnTo>
                <a:lnTo>
                  <a:pt x="810387" y="159880"/>
                </a:lnTo>
                <a:close/>
              </a:path>
              <a:path w="1766570" h="1698625">
                <a:moveTo>
                  <a:pt x="852932" y="1124953"/>
                </a:moveTo>
                <a:lnTo>
                  <a:pt x="795020" y="1124953"/>
                </a:lnTo>
                <a:lnTo>
                  <a:pt x="795020" y="1182865"/>
                </a:lnTo>
                <a:lnTo>
                  <a:pt x="852932" y="1182865"/>
                </a:lnTo>
                <a:lnTo>
                  <a:pt x="852932" y="1124953"/>
                </a:lnTo>
                <a:close/>
              </a:path>
              <a:path w="1766570" h="1698625">
                <a:moveTo>
                  <a:pt x="895604" y="1539481"/>
                </a:moveTo>
                <a:lnTo>
                  <a:pt x="837692" y="1539481"/>
                </a:lnTo>
                <a:lnTo>
                  <a:pt x="837692" y="1597393"/>
                </a:lnTo>
                <a:lnTo>
                  <a:pt x="895604" y="1597393"/>
                </a:lnTo>
                <a:lnTo>
                  <a:pt x="895604" y="1539481"/>
                </a:lnTo>
                <a:close/>
              </a:path>
              <a:path w="1766570" h="1698625">
                <a:moveTo>
                  <a:pt x="924369" y="1463382"/>
                </a:moveTo>
                <a:lnTo>
                  <a:pt x="920623" y="1452486"/>
                </a:lnTo>
                <a:lnTo>
                  <a:pt x="913003" y="1443901"/>
                </a:lnTo>
                <a:lnTo>
                  <a:pt x="903008" y="1439087"/>
                </a:lnTo>
                <a:lnTo>
                  <a:pt x="891946" y="1438389"/>
                </a:lnTo>
                <a:lnTo>
                  <a:pt x="881126" y="1442072"/>
                </a:lnTo>
                <a:lnTo>
                  <a:pt x="664464" y="1568437"/>
                </a:lnTo>
                <a:lnTo>
                  <a:pt x="881126" y="1694802"/>
                </a:lnTo>
                <a:lnTo>
                  <a:pt x="891946" y="1698498"/>
                </a:lnTo>
                <a:lnTo>
                  <a:pt x="903008" y="1697786"/>
                </a:lnTo>
                <a:lnTo>
                  <a:pt x="913003" y="1692986"/>
                </a:lnTo>
                <a:lnTo>
                  <a:pt x="920623" y="1684388"/>
                </a:lnTo>
                <a:lnTo>
                  <a:pt x="924369" y="1673504"/>
                </a:lnTo>
                <a:lnTo>
                  <a:pt x="923645" y="1662442"/>
                </a:lnTo>
                <a:lnTo>
                  <a:pt x="918806" y="1652447"/>
                </a:lnTo>
                <a:lnTo>
                  <a:pt x="910209" y="1644764"/>
                </a:lnTo>
                <a:lnTo>
                  <a:pt x="828992" y="1597393"/>
                </a:lnTo>
                <a:lnTo>
                  <a:pt x="779780" y="1568691"/>
                </a:lnTo>
                <a:lnTo>
                  <a:pt x="779780" y="1568196"/>
                </a:lnTo>
                <a:lnTo>
                  <a:pt x="828992" y="1539481"/>
                </a:lnTo>
                <a:lnTo>
                  <a:pt x="910209" y="1492110"/>
                </a:lnTo>
                <a:lnTo>
                  <a:pt x="918806" y="1484439"/>
                </a:lnTo>
                <a:lnTo>
                  <a:pt x="923645" y="1474444"/>
                </a:lnTo>
                <a:lnTo>
                  <a:pt x="924369" y="1463382"/>
                </a:lnTo>
                <a:close/>
              </a:path>
              <a:path w="1766570" h="1698625">
                <a:moveTo>
                  <a:pt x="926211" y="626097"/>
                </a:moveTo>
                <a:lnTo>
                  <a:pt x="868299" y="626097"/>
                </a:lnTo>
                <a:lnTo>
                  <a:pt x="868172" y="684009"/>
                </a:lnTo>
                <a:lnTo>
                  <a:pt x="926084" y="684009"/>
                </a:lnTo>
                <a:lnTo>
                  <a:pt x="926211" y="626097"/>
                </a:lnTo>
                <a:close/>
              </a:path>
              <a:path w="1766570" h="1698625">
                <a:moveTo>
                  <a:pt x="926211" y="159753"/>
                </a:moveTo>
                <a:lnTo>
                  <a:pt x="926084" y="101841"/>
                </a:lnTo>
                <a:lnTo>
                  <a:pt x="868172" y="101968"/>
                </a:lnTo>
                <a:lnTo>
                  <a:pt x="868299" y="159880"/>
                </a:lnTo>
                <a:lnTo>
                  <a:pt x="926211" y="159753"/>
                </a:lnTo>
                <a:close/>
              </a:path>
              <a:path w="1766570" h="1698625">
                <a:moveTo>
                  <a:pt x="968756" y="1124953"/>
                </a:moveTo>
                <a:lnTo>
                  <a:pt x="910844" y="1124953"/>
                </a:lnTo>
                <a:lnTo>
                  <a:pt x="910844" y="1182865"/>
                </a:lnTo>
                <a:lnTo>
                  <a:pt x="968756" y="1182865"/>
                </a:lnTo>
                <a:lnTo>
                  <a:pt x="968756" y="1124953"/>
                </a:lnTo>
                <a:close/>
              </a:path>
              <a:path w="1766570" h="1698625">
                <a:moveTo>
                  <a:pt x="1011428" y="1539481"/>
                </a:moveTo>
                <a:lnTo>
                  <a:pt x="953516" y="1539481"/>
                </a:lnTo>
                <a:lnTo>
                  <a:pt x="953516" y="1597393"/>
                </a:lnTo>
                <a:lnTo>
                  <a:pt x="1011428" y="1597393"/>
                </a:lnTo>
                <a:lnTo>
                  <a:pt x="1011428" y="1539481"/>
                </a:lnTo>
                <a:close/>
              </a:path>
              <a:path w="1766570" h="1698625">
                <a:moveTo>
                  <a:pt x="1042035" y="626351"/>
                </a:moveTo>
                <a:lnTo>
                  <a:pt x="984123" y="626224"/>
                </a:lnTo>
                <a:lnTo>
                  <a:pt x="983996" y="684136"/>
                </a:lnTo>
                <a:lnTo>
                  <a:pt x="1041908" y="684263"/>
                </a:lnTo>
                <a:lnTo>
                  <a:pt x="1042035" y="626351"/>
                </a:lnTo>
                <a:close/>
              </a:path>
              <a:path w="1766570" h="1698625">
                <a:moveTo>
                  <a:pt x="1042035" y="159626"/>
                </a:moveTo>
                <a:lnTo>
                  <a:pt x="1041908" y="101714"/>
                </a:lnTo>
                <a:lnTo>
                  <a:pt x="983996" y="101841"/>
                </a:lnTo>
                <a:lnTo>
                  <a:pt x="984123" y="159753"/>
                </a:lnTo>
                <a:lnTo>
                  <a:pt x="1042035" y="159626"/>
                </a:lnTo>
                <a:close/>
              </a:path>
              <a:path w="1766570" h="1698625">
                <a:moveTo>
                  <a:pt x="1084580" y="1124953"/>
                </a:moveTo>
                <a:lnTo>
                  <a:pt x="1026668" y="1124953"/>
                </a:lnTo>
                <a:lnTo>
                  <a:pt x="1026668" y="1182865"/>
                </a:lnTo>
                <a:lnTo>
                  <a:pt x="1084580" y="1182865"/>
                </a:lnTo>
                <a:lnTo>
                  <a:pt x="1084580" y="1124953"/>
                </a:lnTo>
                <a:close/>
              </a:path>
              <a:path w="1766570" h="1698625">
                <a:moveTo>
                  <a:pt x="1157859" y="626605"/>
                </a:moveTo>
                <a:lnTo>
                  <a:pt x="1099947" y="626478"/>
                </a:lnTo>
                <a:lnTo>
                  <a:pt x="1099820" y="684390"/>
                </a:lnTo>
                <a:lnTo>
                  <a:pt x="1157732" y="684517"/>
                </a:lnTo>
                <a:lnTo>
                  <a:pt x="1157859" y="626605"/>
                </a:lnTo>
                <a:close/>
              </a:path>
              <a:path w="1766570" h="1698625">
                <a:moveTo>
                  <a:pt x="1157859" y="159499"/>
                </a:moveTo>
                <a:lnTo>
                  <a:pt x="1157732" y="101587"/>
                </a:lnTo>
                <a:lnTo>
                  <a:pt x="1099820" y="101587"/>
                </a:lnTo>
                <a:lnTo>
                  <a:pt x="1099947" y="159499"/>
                </a:lnTo>
                <a:lnTo>
                  <a:pt x="1157859" y="159499"/>
                </a:lnTo>
                <a:close/>
              </a:path>
              <a:path w="1766570" h="1698625">
                <a:moveTo>
                  <a:pt x="1199769" y="1568437"/>
                </a:moveTo>
                <a:lnTo>
                  <a:pt x="1156868" y="1543418"/>
                </a:lnTo>
                <a:lnTo>
                  <a:pt x="1150112" y="1539481"/>
                </a:lnTo>
                <a:lnTo>
                  <a:pt x="983107" y="1442072"/>
                </a:lnTo>
                <a:lnTo>
                  <a:pt x="972210" y="1438389"/>
                </a:lnTo>
                <a:lnTo>
                  <a:pt x="961148" y="1439087"/>
                </a:lnTo>
                <a:lnTo>
                  <a:pt x="951153" y="1443901"/>
                </a:lnTo>
                <a:lnTo>
                  <a:pt x="943483" y="1452486"/>
                </a:lnTo>
                <a:lnTo>
                  <a:pt x="939800" y="1463382"/>
                </a:lnTo>
                <a:lnTo>
                  <a:pt x="940536" y="1474444"/>
                </a:lnTo>
                <a:lnTo>
                  <a:pt x="945349" y="1484439"/>
                </a:lnTo>
                <a:lnTo>
                  <a:pt x="953897" y="1492110"/>
                </a:lnTo>
                <a:lnTo>
                  <a:pt x="1069340" y="1559458"/>
                </a:lnTo>
                <a:lnTo>
                  <a:pt x="1069340" y="1577428"/>
                </a:lnTo>
                <a:lnTo>
                  <a:pt x="953897" y="1644764"/>
                </a:lnTo>
                <a:lnTo>
                  <a:pt x="945349" y="1652447"/>
                </a:lnTo>
                <a:lnTo>
                  <a:pt x="940536" y="1662442"/>
                </a:lnTo>
                <a:lnTo>
                  <a:pt x="939800" y="1673504"/>
                </a:lnTo>
                <a:lnTo>
                  <a:pt x="943483" y="1684388"/>
                </a:lnTo>
                <a:lnTo>
                  <a:pt x="951153" y="1692986"/>
                </a:lnTo>
                <a:lnTo>
                  <a:pt x="961148" y="1697786"/>
                </a:lnTo>
                <a:lnTo>
                  <a:pt x="972210" y="1698498"/>
                </a:lnTo>
                <a:lnTo>
                  <a:pt x="983107" y="1694802"/>
                </a:lnTo>
                <a:lnTo>
                  <a:pt x="1150112" y="1597393"/>
                </a:lnTo>
                <a:lnTo>
                  <a:pt x="1156868" y="1593456"/>
                </a:lnTo>
                <a:lnTo>
                  <a:pt x="1199769" y="1568437"/>
                </a:lnTo>
                <a:close/>
              </a:path>
              <a:path w="1766570" h="1698625">
                <a:moveTo>
                  <a:pt x="1273683" y="626732"/>
                </a:moveTo>
                <a:lnTo>
                  <a:pt x="1215771" y="626732"/>
                </a:lnTo>
                <a:lnTo>
                  <a:pt x="1215644" y="684644"/>
                </a:lnTo>
                <a:lnTo>
                  <a:pt x="1273556" y="684644"/>
                </a:lnTo>
                <a:lnTo>
                  <a:pt x="1273683" y="626732"/>
                </a:lnTo>
                <a:close/>
              </a:path>
              <a:path w="1766570" h="1698625">
                <a:moveTo>
                  <a:pt x="1273683" y="159372"/>
                </a:moveTo>
                <a:lnTo>
                  <a:pt x="1273556" y="101460"/>
                </a:lnTo>
                <a:lnTo>
                  <a:pt x="1215644" y="101460"/>
                </a:lnTo>
                <a:lnTo>
                  <a:pt x="1215771" y="159372"/>
                </a:lnTo>
                <a:lnTo>
                  <a:pt x="1273683" y="159372"/>
                </a:lnTo>
                <a:close/>
              </a:path>
              <a:path w="1766570" h="1698625">
                <a:moveTo>
                  <a:pt x="1318895" y="1153909"/>
                </a:moveTo>
                <a:lnTo>
                  <a:pt x="1269238" y="1124953"/>
                </a:lnTo>
                <a:lnTo>
                  <a:pt x="1102233" y="1027544"/>
                </a:lnTo>
                <a:lnTo>
                  <a:pt x="1091336" y="1023861"/>
                </a:lnTo>
                <a:lnTo>
                  <a:pt x="1080274" y="1024559"/>
                </a:lnTo>
                <a:lnTo>
                  <a:pt x="1070279" y="1029373"/>
                </a:lnTo>
                <a:lnTo>
                  <a:pt x="1062609" y="1037958"/>
                </a:lnTo>
                <a:lnTo>
                  <a:pt x="1058926" y="1048854"/>
                </a:lnTo>
                <a:lnTo>
                  <a:pt x="1059662" y="1059916"/>
                </a:lnTo>
                <a:lnTo>
                  <a:pt x="1064475" y="1069911"/>
                </a:lnTo>
                <a:lnTo>
                  <a:pt x="1073023" y="1077582"/>
                </a:lnTo>
                <a:lnTo>
                  <a:pt x="1154226" y="1124953"/>
                </a:lnTo>
                <a:lnTo>
                  <a:pt x="1142492" y="1124953"/>
                </a:lnTo>
                <a:lnTo>
                  <a:pt x="1142492" y="1182865"/>
                </a:lnTo>
                <a:lnTo>
                  <a:pt x="1154226" y="1182865"/>
                </a:lnTo>
                <a:lnTo>
                  <a:pt x="1200404" y="1155941"/>
                </a:lnTo>
                <a:lnTo>
                  <a:pt x="1200404" y="1151890"/>
                </a:lnTo>
                <a:lnTo>
                  <a:pt x="1203858" y="1153909"/>
                </a:lnTo>
                <a:lnTo>
                  <a:pt x="1200404" y="1155941"/>
                </a:lnTo>
                <a:lnTo>
                  <a:pt x="1073023" y="1230236"/>
                </a:lnTo>
                <a:lnTo>
                  <a:pt x="1064475" y="1237919"/>
                </a:lnTo>
                <a:lnTo>
                  <a:pt x="1059662" y="1247914"/>
                </a:lnTo>
                <a:lnTo>
                  <a:pt x="1058926" y="1258976"/>
                </a:lnTo>
                <a:lnTo>
                  <a:pt x="1062609" y="1269860"/>
                </a:lnTo>
                <a:lnTo>
                  <a:pt x="1070279" y="1278458"/>
                </a:lnTo>
                <a:lnTo>
                  <a:pt x="1080274" y="1283258"/>
                </a:lnTo>
                <a:lnTo>
                  <a:pt x="1091336" y="1283970"/>
                </a:lnTo>
                <a:lnTo>
                  <a:pt x="1102233" y="1280274"/>
                </a:lnTo>
                <a:lnTo>
                  <a:pt x="1269238" y="1182865"/>
                </a:lnTo>
                <a:lnTo>
                  <a:pt x="1318895" y="1153909"/>
                </a:lnTo>
                <a:close/>
              </a:path>
              <a:path w="1766570" h="1698625">
                <a:moveTo>
                  <a:pt x="1389507" y="159245"/>
                </a:moveTo>
                <a:lnTo>
                  <a:pt x="1389380" y="101333"/>
                </a:lnTo>
                <a:lnTo>
                  <a:pt x="1331468" y="101333"/>
                </a:lnTo>
                <a:lnTo>
                  <a:pt x="1331595" y="159245"/>
                </a:lnTo>
                <a:lnTo>
                  <a:pt x="1389507" y="159245"/>
                </a:lnTo>
                <a:close/>
              </a:path>
              <a:path w="1766570" h="1698625">
                <a:moveTo>
                  <a:pt x="1460500" y="656069"/>
                </a:moveTo>
                <a:lnTo>
                  <a:pt x="1410614" y="626859"/>
                </a:lnTo>
                <a:lnTo>
                  <a:pt x="1244092" y="529323"/>
                </a:lnTo>
                <a:lnTo>
                  <a:pt x="1233195" y="525576"/>
                </a:lnTo>
                <a:lnTo>
                  <a:pt x="1222133" y="526300"/>
                </a:lnTo>
                <a:lnTo>
                  <a:pt x="1212138" y="531139"/>
                </a:lnTo>
                <a:lnTo>
                  <a:pt x="1204468" y="539737"/>
                </a:lnTo>
                <a:lnTo>
                  <a:pt x="1200708" y="550583"/>
                </a:lnTo>
                <a:lnTo>
                  <a:pt x="1201420" y="561644"/>
                </a:lnTo>
                <a:lnTo>
                  <a:pt x="1206207" y="571677"/>
                </a:lnTo>
                <a:lnTo>
                  <a:pt x="1214755" y="579361"/>
                </a:lnTo>
                <a:lnTo>
                  <a:pt x="1331544" y="647712"/>
                </a:lnTo>
                <a:lnTo>
                  <a:pt x="1331506" y="664032"/>
                </a:lnTo>
                <a:lnTo>
                  <a:pt x="1214501" y="732015"/>
                </a:lnTo>
                <a:lnTo>
                  <a:pt x="1205890" y="739622"/>
                </a:lnTo>
                <a:lnTo>
                  <a:pt x="1201051" y="749579"/>
                </a:lnTo>
                <a:lnTo>
                  <a:pt x="1200327" y="760628"/>
                </a:lnTo>
                <a:lnTo>
                  <a:pt x="1204087" y="771512"/>
                </a:lnTo>
                <a:lnTo>
                  <a:pt x="1211681" y="780135"/>
                </a:lnTo>
                <a:lnTo>
                  <a:pt x="1221638" y="784974"/>
                </a:lnTo>
                <a:lnTo>
                  <a:pt x="1232687" y="785736"/>
                </a:lnTo>
                <a:lnTo>
                  <a:pt x="1243584" y="782053"/>
                </a:lnTo>
                <a:lnTo>
                  <a:pt x="1410855" y="684898"/>
                </a:lnTo>
                <a:lnTo>
                  <a:pt x="1460500" y="656069"/>
                </a:lnTo>
                <a:close/>
              </a:path>
              <a:path w="1766570" h="1698625">
                <a:moveTo>
                  <a:pt x="1505331" y="159118"/>
                </a:moveTo>
                <a:lnTo>
                  <a:pt x="1505204" y="101206"/>
                </a:lnTo>
                <a:lnTo>
                  <a:pt x="1447292" y="101206"/>
                </a:lnTo>
                <a:lnTo>
                  <a:pt x="1447419" y="159118"/>
                </a:lnTo>
                <a:lnTo>
                  <a:pt x="1505331" y="159118"/>
                </a:lnTo>
                <a:close/>
              </a:path>
              <a:path w="1766570" h="1698625">
                <a:moveTo>
                  <a:pt x="1766062" y="129781"/>
                </a:moveTo>
                <a:lnTo>
                  <a:pt x="1716493" y="100952"/>
                </a:lnTo>
                <a:lnTo>
                  <a:pt x="1651050" y="62890"/>
                </a:lnTo>
                <a:lnTo>
                  <a:pt x="1651050" y="129959"/>
                </a:lnTo>
                <a:lnTo>
                  <a:pt x="1621129" y="147447"/>
                </a:lnTo>
                <a:lnTo>
                  <a:pt x="1621040" y="112483"/>
                </a:lnTo>
                <a:lnTo>
                  <a:pt x="1651050" y="129959"/>
                </a:lnTo>
                <a:lnTo>
                  <a:pt x="1651050" y="62890"/>
                </a:lnTo>
                <a:lnTo>
                  <a:pt x="1549273" y="3670"/>
                </a:lnTo>
                <a:lnTo>
                  <a:pt x="1538363" y="0"/>
                </a:lnTo>
                <a:lnTo>
                  <a:pt x="1527263" y="749"/>
                </a:lnTo>
                <a:lnTo>
                  <a:pt x="1517269" y="5600"/>
                </a:lnTo>
                <a:lnTo>
                  <a:pt x="1509649" y="14211"/>
                </a:lnTo>
                <a:lnTo>
                  <a:pt x="1505966" y="25044"/>
                </a:lnTo>
                <a:lnTo>
                  <a:pt x="1506728" y="36106"/>
                </a:lnTo>
                <a:lnTo>
                  <a:pt x="1511566" y="46101"/>
                </a:lnTo>
                <a:lnTo>
                  <a:pt x="1520190" y="53708"/>
                </a:lnTo>
                <a:lnTo>
                  <a:pt x="1601343" y="101003"/>
                </a:lnTo>
                <a:lnTo>
                  <a:pt x="1563116" y="101079"/>
                </a:lnTo>
                <a:lnTo>
                  <a:pt x="1563243" y="158991"/>
                </a:lnTo>
                <a:lnTo>
                  <a:pt x="1601495" y="158915"/>
                </a:lnTo>
                <a:lnTo>
                  <a:pt x="1520317" y="206362"/>
                </a:lnTo>
                <a:lnTo>
                  <a:pt x="1511719" y="214058"/>
                </a:lnTo>
                <a:lnTo>
                  <a:pt x="1506918" y="224078"/>
                </a:lnTo>
                <a:lnTo>
                  <a:pt x="1506207" y="235153"/>
                </a:lnTo>
                <a:lnTo>
                  <a:pt x="1509903" y="245986"/>
                </a:lnTo>
                <a:lnTo>
                  <a:pt x="1517586" y="254596"/>
                </a:lnTo>
                <a:lnTo>
                  <a:pt x="1527619" y="259435"/>
                </a:lnTo>
                <a:lnTo>
                  <a:pt x="1538681" y="260159"/>
                </a:lnTo>
                <a:lnTo>
                  <a:pt x="1549527" y="256400"/>
                </a:lnTo>
                <a:lnTo>
                  <a:pt x="1716316" y="158864"/>
                </a:lnTo>
                <a:lnTo>
                  <a:pt x="1766062" y="12978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7573" y="248234"/>
            <a:ext cx="3608704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41905" algn="l"/>
              </a:tabLst>
            </a:pPr>
            <a:r>
              <a:rPr sz="3050" spc="10" dirty="0">
                <a:solidFill>
                  <a:srgbClr val="000000"/>
                </a:solidFill>
              </a:rPr>
              <a:t>When</a:t>
            </a:r>
            <a:r>
              <a:rPr sz="3050" spc="-50" dirty="0">
                <a:solidFill>
                  <a:srgbClr val="000000"/>
                </a:solidFill>
              </a:rPr>
              <a:t> </a:t>
            </a:r>
            <a:r>
              <a:rPr sz="3050" spc="-10" dirty="0">
                <a:solidFill>
                  <a:srgbClr val="000000"/>
                </a:solidFill>
              </a:rPr>
              <a:t>to </a:t>
            </a:r>
            <a:r>
              <a:rPr sz="3050" spc="10" dirty="0">
                <a:solidFill>
                  <a:srgbClr val="000000"/>
                </a:solidFill>
              </a:rPr>
              <a:t>use</a:t>
            </a:r>
            <a:r>
              <a:rPr sz="3050" spc="-20" dirty="0">
                <a:solidFill>
                  <a:srgbClr val="000000"/>
                </a:solidFill>
              </a:rPr>
              <a:t> </a:t>
            </a:r>
            <a:r>
              <a:rPr sz="3050" spc="10" dirty="0">
                <a:solidFill>
                  <a:srgbClr val="000000"/>
                </a:solidFill>
              </a:rPr>
              <a:t>V	</a:t>
            </a:r>
            <a:r>
              <a:rPr sz="3050" spc="5" dirty="0">
                <a:solidFill>
                  <a:srgbClr val="000000"/>
                </a:solidFill>
              </a:rPr>
              <a:t>Model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858" y="974547"/>
            <a:ext cx="8461375" cy="2907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15" dirty="0">
                <a:latin typeface="Calibri"/>
                <a:cs typeface="Calibri"/>
              </a:rPr>
              <a:t>Natural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choice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for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systems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requiring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reliability:</a:t>
            </a:r>
            <a:endParaRPr sz="3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900"/>
              </a:spcBef>
            </a:pPr>
            <a:r>
              <a:rPr sz="2700" spc="5" dirty="0">
                <a:latin typeface="Arial MT"/>
                <a:cs typeface="Arial MT"/>
              </a:rPr>
              <a:t>– </a:t>
            </a:r>
            <a:r>
              <a:rPr sz="2700" spc="-5" dirty="0">
                <a:latin typeface="Calibri"/>
                <a:cs typeface="Calibri"/>
              </a:rPr>
              <a:t>Embedded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control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applications,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safety-critical</a:t>
            </a:r>
            <a:r>
              <a:rPr sz="2700" spc="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software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Calibri"/>
                <a:cs typeface="Calibri"/>
              </a:rPr>
              <a:t>All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requirements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known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up-front</a:t>
            </a:r>
            <a:endParaRPr sz="3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Calibri"/>
                <a:cs typeface="Calibri"/>
              </a:rPr>
              <a:t>Solution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technology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known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2414" y="4702860"/>
            <a:ext cx="61087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15" dirty="0">
                <a:latin typeface="Arial MT"/>
                <a:cs typeface="Arial MT"/>
              </a:rPr>
              <a:t>7</a:t>
            </a:r>
            <a:r>
              <a:rPr sz="1000" spc="5" dirty="0">
                <a:latin typeface="Arial MT"/>
                <a:cs typeface="Arial MT"/>
              </a:rPr>
              <a:t>/</a:t>
            </a:r>
            <a:r>
              <a:rPr sz="1000" spc="15" dirty="0">
                <a:latin typeface="Arial MT"/>
                <a:cs typeface="Arial MT"/>
              </a:rPr>
              <a:t>18</a:t>
            </a:r>
            <a:r>
              <a:rPr sz="1000" spc="5" dirty="0">
                <a:latin typeface="Arial MT"/>
                <a:cs typeface="Arial MT"/>
              </a:rPr>
              <a:t>/</a:t>
            </a:r>
            <a:r>
              <a:rPr sz="1000" spc="15" dirty="0">
                <a:latin typeface="Arial MT"/>
                <a:cs typeface="Arial MT"/>
              </a:rPr>
              <a:t>2020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7923" y="1431035"/>
            <a:ext cx="5858510" cy="167640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37909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2985"/>
              </a:spcBef>
              <a:tabLst>
                <a:tab pos="3856990" algn="l"/>
              </a:tabLst>
            </a:pPr>
            <a:r>
              <a:rPr sz="5500" spc="-20" dirty="0">
                <a:solidFill>
                  <a:srgbClr val="0000FF"/>
                </a:solidFill>
              </a:rPr>
              <a:t>Prototyping	</a:t>
            </a:r>
            <a:r>
              <a:rPr sz="5500" spc="-10" dirty="0">
                <a:solidFill>
                  <a:srgbClr val="0000FF"/>
                </a:solidFill>
              </a:rPr>
              <a:t>Model</a:t>
            </a:r>
            <a:endParaRPr sz="5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175" y="137236"/>
            <a:ext cx="36093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Prototyping</a:t>
            </a:r>
            <a:r>
              <a:rPr sz="3600" spc="-55" dirty="0"/>
              <a:t> </a:t>
            </a:r>
            <a:r>
              <a:rPr sz="3600" dirty="0"/>
              <a:t>Model</a:t>
            </a:r>
            <a:endParaRPr sz="360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684" y="625297"/>
            <a:ext cx="478536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derivative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waterfall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684" y="1229055"/>
            <a:ext cx="551053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4475" algn="l"/>
                <a:tab pos="1355725" algn="l"/>
              </a:tabLst>
            </a:pPr>
            <a:r>
              <a:rPr sz="2800" spc="-20" dirty="0">
                <a:latin typeface="Calibri"/>
                <a:cs typeface="Calibri"/>
              </a:rPr>
              <a:t>Before	</a:t>
            </a:r>
            <a:r>
              <a:rPr sz="2800" spc="-5" dirty="0">
                <a:latin typeface="Calibri"/>
                <a:cs typeface="Calibri"/>
              </a:rPr>
              <a:t>starting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actual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580" y="1832813"/>
            <a:ext cx="58972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–</a:t>
            </a:r>
            <a:r>
              <a:rPr sz="2000" spc="-1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A</a:t>
            </a:r>
            <a:r>
              <a:rPr sz="200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Calibri"/>
                <a:cs typeface="Calibri"/>
              </a:rPr>
              <a:t>working</a:t>
            </a:r>
            <a:r>
              <a:rPr sz="2000" spc="2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Calibri"/>
                <a:cs typeface="Calibri"/>
              </a:rPr>
              <a:t>prototype</a:t>
            </a:r>
            <a:r>
              <a:rPr sz="2000" spc="-2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800000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800000"/>
                </a:solidFill>
                <a:latin typeface="Calibri"/>
                <a:cs typeface="Calibri"/>
              </a:rPr>
              <a:t>system</a:t>
            </a:r>
            <a:r>
              <a:rPr sz="2000" spc="6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should</a:t>
            </a:r>
            <a:r>
              <a:rPr sz="2000" spc="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Calibri"/>
                <a:cs typeface="Calibri"/>
              </a:rPr>
              <a:t>first</a:t>
            </a:r>
            <a:r>
              <a:rPr sz="2000" spc="3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be</a:t>
            </a:r>
            <a:r>
              <a:rPr sz="2000" spc="2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Calibri"/>
                <a:cs typeface="Calibri"/>
              </a:rPr>
              <a:t>built.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684" y="2090674"/>
            <a:ext cx="7280275" cy="2278380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dirty="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99"/>
                </a:solidFill>
                <a:latin typeface="Calibri"/>
                <a:cs typeface="Calibri"/>
              </a:rPr>
              <a:t>prototype</a:t>
            </a:r>
            <a:r>
              <a:rPr sz="2800" spc="-2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sz="2800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rgbClr val="000099"/>
                </a:solidFill>
                <a:latin typeface="Calibri"/>
                <a:cs typeface="Calibri"/>
              </a:rPr>
              <a:t> toy</a:t>
            </a:r>
            <a:r>
              <a:rPr sz="2800" spc="-10" dirty="0">
                <a:solidFill>
                  <a:srgbClr val="000099"/>
                </a:solidFill>
                <a:latin typeface="Calibri"/>
                <a:cs typeface="Calibri"/>
              </a:rPr>
              <a:t> implementation</a:t>
            </a:r>
            <a:r>
              <a:rPr sz="2800" spc="-4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99"/>
                </a:solidFill>
                <a:latin typeface="Calibri"/>
                <a:cs typeface="Calibri"/>
              </a:rPr>
              <a:t>of a</a:t>
            </a:r>
            <a:r>
              <a:rPr sz="2800" spc="-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99"/>
                </a:solidFill>
                <a:latin typeface="Calibri"/>
                <a:cs typeface="Calibri"/>
              </a:rPr>
              <a:t>system</a:t>
            </a:r>
            <a:r>
              <a:rPr sz="2800" spc="-15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410"/>
              </a:spcBef>
            </a:pPr>
            <a:r>
              <a:rPr sz="2400" spc="15" dirty="0">
                <a:latin typeface="Arial MT"/>
                <a:cs typeface="Arial MT"/>
              </a:rPr>
              <a:t>–</a:t>
            </a:r>
            <a:r>
              <a:rPr sz="2400" spc="15" dirty="0">
                <a:latin typeface="Calibri"/>
                <a:cs typeface="Calibri"/>
              </a:rPr>
              <a:t>Limited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capabilities,</a:t>
            </a:r>
            <a:endParaRPr sz="24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325"/>
              </a:spcBef>
            </a:pPr>
            <a:r>
              <a:rPr sz="2400" spc="40" dirty="0">
                <a:latin typeface="Arial MT"/>
                <a:cs typeface="Arial MT"/>
              </a:rPr>
              <a:t>–</a:t>
            </a:r>
            <a:r>
              <a:rPr sz="2400" spc="40" dirty="0">
                <a:latin typeface="Calibri"/>
                <a:cs typeface="Calibri"/>
              </a:rPr>
              <a:t>Low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reliability,</a:t>
            </a:r>
            <a:endParaRPr sz="24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345"/>
              </a:spcBef>
            </a:pPr>
            <a:r>
              <a:rPr sz="2400" spc="10" dirty="0">
                <a:latin typeface="Arial MT"/>
                <a:cs typeface="Arial MT"/>
              </a:rPr>
              <a:t>–</a:t>
            </a:r>
            <a:r>
              <a:rPr sz="2400" spc="10" dirty="0">
                <a:latin typeface="Calibri"/>
                <a:cs typeface="Calibri"/>
              </a:rPr>
              <a:t>Inefficient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performance.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53265" y="679513"/>
            <a:ext cx="3611245" cy="1914525"/>
            <a:chOff x="5553265" y="679513"/>
            <a:chExt cx="3611245" cy="1914525"/>
          </a:xfrm>
        </p:grpSpPr>
        <p:sp>
          <p:nvSpPr>
            <p:cNvPr id="8" name="object 8"/>
            <p:cNvSpPr/>
            <p:nvPr/>
          </p:nvSpPr>
          <p:spPr>
            <a:xfrm>
              <a:off x="7819644" y="2324353"/>
              <a:ext cx="1324610" cy="250190"/>
            </a:xfrm>
            <a:custGeom>
              <a:avLst/>
              <a:gdLst/>
              <a:ahLst/>
              <a:cxnLst/>
              <a:rect l="l" t="t" r="r" b="b"/>
              <a:pathLst>
                <a:path w="1324609" h="250189">
                  <a:moveTo>
                    <a:pt x="1324356" y="0"/>
                  </a:moveTo>
                  <a:lnTo>
                    <a:pt x="0" y="0"/>
                  </a:lnTo>
                  <a:lnTo>
                    <a:pt x="0" y="248920"/>
                  </a:lnTo>
                  <a:lnTo>
                    <a:pt x="381" y="248920"/>
                  </a:lnTo>
                  <a:lnTo>
                    <a:pt x="381" y="250190"/>
                  </a:lnTo>
                  <a:lnTo>
                    <a:pt x="1324356" y="250190"/>
                  </a:lnTo>
                  <a:lnTo>
                    <a:pt x="1324356" y="248920"/>
                  </a:lnTo>
                  <a:lnTo>
                    <a:pt x="132435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19644" y="2324099"/>
              <a:ext cx="1324610" cy="1270"/>
            </a:xfrm>
            <a:custGeom>
              <a:avLst/>
              <a:gdLst/>
              <a:ahLst/>
              <a:cxnLst/>
              <a:rect l="l" t="t" r="r" b="b"/>
              <a:pathLst>
                <a:path w="1324609" h="1269">
                  <a:moveTo>
                    <a:pt x="-19811" y="508"/>
                  </a:moveTo>
                  <a:lnTo>
                    <a:pt x="1344167" y="508"/>
                  </a:lnTo>
                </a:path>
              </a:pathLst>
            </a:custGeom>
            <a:ln w="40640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19644" y="2325115"/>
              <a:ext cx="1324610" cy="248920"/>
            </a:xfrm>
            <a:custGeom>
              <a:avLst/>
              <a:gdLst/>
              <a:ahLst/>
              <a:cxnLst/>
              <a:rect l="l" t="t" r="r" b="b"/>
              <a:pathLst>
                <a:path w="1324609" h="248919">
                  <a:moveTo>
                    <a:pt x="1324355" y="248919"/>
                  </a:moveTo>
                  <a:lnTo>
                    <a:pt x="1015" y="248919"/>
                  </a:lnTo>
                  <a:lnTo>
                    <a:pt x="507" y="248919"/>
                  </a:lnTo>
                  <a:lnTo>
                    <a:pt x="0" y="248412"/>
                  </a:lnTo>
                  <a:lnTo>
                    <a:pt x="0" y="247903"/>
                  </a:lnTo>
                  <a:lnTo>
                    <a:pt x="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50252" y="1915413"/>
              <a:ext cx="1350645" cy="252729"/>
            </a:xfrm>
            <a:custGeom>
              <a:avLst/>
              <a:gdLst/>
              <a:ahLst/>
              <a:cxnLst/>
              <a:rect l="l" t="t" r="r" b="b"/>
              <a:pathLst>
                <a:path w="1350645" h="252730">
                  <a:moveTo>
                    <a:pt x="1350264" y="1270"/>
                  </a:moveTo>
                  <a:lnTo>
                    <a:pt x="1350137" y="1270"/>
                  </a:lnTo>
                  <a:lnTo>
                    <a:pt x="1350137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2730"/>
                  </a:lnTo>
                  <a:lnTo>
                    <a:pt x="1350264" y="252730"/>
                  </a:lnTo>
                  <a:lnTo>
                    <a:pt x="1350264" y="12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50252" y="1915667"/>
              <a:ext cx="1350645" cy="253365"/>
            </a:xfrm>
            <a:custGeom>
              <a:avLst/>
              <a:gdLst/>
              <a:ahLst/>
              <a:cxnLst/>
              <a:rect l="l" t="t" r="r" b="b"/>
              <a:pathLst>
                <a:path w="1350645" h="253364">
                  <a:moveTo>
                    <a:pt x="0" y="1016"/>
                  </a:moveTo>
                  <a:lnTo>
                    <a:pt x="0" y="507"/>
                  </a:lnTo>
                  <a:lnTo>
                    <a:pt x="507" y="0"/>
                  </a:lnTo>
                  <a:lnTo>
                    <a:pt x="1016" y="0"/>
                  </a:lnTo>
                  <a:lnTo>
                    <a:pt x="1349248" y="0"/>
                  </a:lnTo>
                  <a:lnTo>
                    <a:pt x="1349755" y="0"/>
                  </a:lnTo>
                  <a:lnTo>
                    <a:pt x="1350264" y="507"/>
                  </a:lnTo>
                  <a:lnTo>
                    <a:pt x="1350264" y="1016"/>
                  </a:lnTo>
                  <a:lnTo>
                    <a:pt x="1350264" y="251968"/>
                  </a:lnTo>
                  <a:lnTo>
                    <a:pt x="1350264" y="252475"/>
                  </a:lnTo>
                  <a:lnTo>
                    <a:pt x="1349755" y="252983"/>
                  </a:lnTo>
                  <a:lnTo>
                    <a:pt x="1349248" y="252983"/>
                  </a:lnTo>
                  <a:lnTo>
                    <a:pt x="1016" y="252983"/>
                  </a:lnTo>
                  <a:lnTo>
                    <a:pt x="507" y="252983"/>
                  </a:lnTo>
                  <a:lnTo>
                    <a:pt x="0" y="252475"/>
                  </a:lnTo>
                  <a:lnTo>
                    <a:pt x="0" y="251968"/>
                  </a:lnTo>
                  <a:lnTo>
                    <a:pt x="0" y="1016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77812" y="1510283"/>
              <a:ext cx="1353820" cy="252729"/>
            </a:xfrm>
            <a:custGeom>
              <a:avLst/>
              <a:gdLst/>
              <a:ahLst/>
              <a:cxnLst/>
              <a:rect l="l" t="t" r="r" b="b"/>
              <a:pathLst>
                <a:path w="1353820" h="252730">
                  <a:moveTo>
                    <a:pt x="135331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2730"/>
                  </a:lnTo>
                  <a:lnTo>
                    <a:pt x="1353312" y="252730"/>
                  </a:lnTo>
                  <a:lnTo>
                    <a:pt x="1353312" y="1270"/>
                  </a:lnTo>
                  <a:lnTo>
                    <a:pt x="135331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77812" y="1510283"/>
              <a:ext cx="1353820" cy="253365"/>
            </a:xfrm>
            <a:custGeom>
              <a:avLst/>
              <a:gdLst/>
              <a:ahLst/>
              <a:cxnLst/>
              <a:rect l="l" t="t" r="r" b="b"/>
              <a:pathLst>
                <a:path w="1353820" h="253364">
                  <a:moveTo>
                    <a:pt x="0" y="1015"/>
                  </a:moveTo>
                  <a:lnTo>
                    <a:pt x="0" y="507"/>
                  </a:lnTo>
                  <a:lnTo>
                    <a:pt x="508" y="0"/>
                  </a:lnTo>
                  <a:lnTo>
                    <a:pt x="1016" y="0"/>
                  </a:lnTo>
                  <a:lnTo>
                    <a:pt x="1352296" y="0"/>
                  </a:lnTo>
                  <a:lnTo>
                    <a:pt x="1352804" y="0"/>
                  </a:lnTo>
                  <a:lnTo>
                    <a:pt x="1353312" y="507"/>
                  </a:lnTo>
                  <a:lnTo>
                    <a:pt x="1353312" y="1015"/>
                  </a:lnTo>
                  <a:lnTo>
                    <a:pt x="1353312" y="251967"/>
                  </a:lnTo>
                  <a:lnTo>
                    <a:pt x="1353312" y="252475"/>
                  </a:lnTo>
                  <a:lnTo>
                    <a:pt x="1352804" y="252984"/>
                  </a:lnTo>
                  <a:lnTo>
                    <a:pt x="1352296" y="252984"/>
                  </a:lnTo>
                  <a:lnTo>
                    <a:pt x="1016" y="252984"/>
                  </a:lnTo>
                  <a:lnTo>
                    <a:pt x="508" y="252984"/>
                  </a:lnTo>
                  <a:lnTo>
                    <a:pt x="0" y="252475"/>
                  </a:lnTo>
                  <a:lnTo>
                    <a:pt x="0" y="251967"/>
                  </a:lnTo>
                  <a:lnTo>
                    <a:pt x="0" y="1015"/>
                  </a:lnTo>
                  <a:close/>
                </a:path>
              </a:pathLst>
            </a:custGeom>
            <a:ln w="39623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8420" y="1105153"/>
              <a:ext cx="1353820" cy="252729"/>
            </a:xfrm>
            <a:custGeom>
              <a:avLst/>
              <a:gdLst/>
              <a:ahLst/>
              <a:cxnLst/>
              <a:rect l="l" t="t" r="r" b="b"/>
              <a:pathLst>
                <a:path w="1353820" h="252730">
                  <a:moveTo>
                    <a:pt x="135331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2730"/>
                  </a:lnTo>
                  <a:lnTo>
                    <a:pt x="1353312" y="252730"/>
                  </a:lnTo>
                  <a:lnTo>
                    <a:pt x="1353312" y="1270"/>
                  </a:lnTo>
                  <a:lnTo>
                    <a:pt x="135331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8420" y="1104899"/>
              <a:ext cx="1353820" cy="253365"/>
            </a:xfrm>
            <a:custGeom>
              <a:avLst/>
              <a:gdLst/>
              <a:ahLst/>
              <a:cxnLst/>
              <a:rect l="l" t="t" r="r" b="b"/>
              <a:pathLst>
                <a:path w="1353820" h="253365">
                  <a:moveTo>
                    <a:pt x="0" y="1015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015" y="0"/>
                  </a:lnTo>
                  <a:lnTo>
                    <a:pt x="1352296" y="0"/>
                  </a:lnTo>
                  <a:lnTo>
                    <a:pt x="1352803" y="0"/>
                  </a:lnTo>
                  <a:lnTo>
                    <a:pt x="1353311" y="508"/>
                  </a:lnTo>
                  <a:lnTo>
                    <a:pt x="1353311" y="1015"/>
                  </a:lnTo>
                  <a:lnTo>
                    <a:pt x="1353311" y="251968"/>
                  </a:lnTo>
                  <a:lnTo>
                    <a:pt x="1353311" y="252475"/>
                  </a:lnTo>
                  <a:lnTo>
                    <a:pt x="1352803" y="252984"/>
                  </a:lnTo>
                  <a:lnTo>
                    <a:pt x="1352296" y="252984"/>
                  </a:lnTo>
                  <a:lnTo>
                    <a:pt x="1015" y="252984"/>
                  </a:lnTo>
                  <a:lnTo>
                    <a:pt x="507" y="252984"/>
                  </a:lnTo>
                  <a:lnTo>
                    <a:pt x="0" y="252475"/>
                  </a:lnTo>
                  <a:lnTo>
                    <a:pt x="0" y="251968"/>
                  </a:lnTo>
                  <a:lnTo>
                    <a:pt x="0" y="1015"/>
                  </a:lnTo>
                  <a:close/>
                </a:path>
              </a:pathLst>
            </a:custGeom>
            <a:ln w="39623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73268" y="700023"/>
              <a:ext cx="1716405" cy="252729"/>
            </a:xfrm>
            <a:custGeom>
              <a:avLst/>
              <a:gdLst/>
              <a:ahLst/>
              <a:cxnLst/>
              <a:rect l="l" t="t" r="r" b="b"/>
              <a:pathLst>
                <a:path w="1716404" h="252730">
                  <a:moveTo>
                    <a:pt x="1716024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114" y="252730"/>
                  </a:lnTo>
                  <a:lnTo>
                    <a:pt x="1715897" y="252730"/>
                  </a:lnTo>
                  <a:lnTo>
                    <a:pt x="1715897" y="251460"/>
                  </a:lnTo>
                  <a:lnTo>
                    <a:pt x="1716024" y="251460"/>
                  </a:lnTo>
                  <a:lnTo>
                    <a:pt x="17160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73268" y="699515"/>
              <a:ext cx="1716405" cy="253365"/>
            </a:xfrm>
            <a:custGeom>
              <a:avLst/>
              <a:gdLst/>
              <a:ahLst/>
              <a:cxnLst/>
              <a:rect l="l" t="t" r="r" b="b"/>
              <a:pathLst>
                <a:path w="1716404" h="253365">
                  <a:moveTo>
                    <a:pt x="0" y="1016"/>
                  </a:moveTo>
                  <a:lnTo>
                    <a:pt x="0" y="508"/>
                  </a:lnTo>
                  <a:lnTo>
                    <a:pt x="508" y="0"/>
                  </a:lnTo>
                  <a:lnTo>
                    <a:pt x="1016" y="0"/>
                  </a:lnTo>
                  <a:lnTo>
                    <a:pt x="1715008" y="0"/>
                  </a:lnTo>
                  <a:lnTo>
                    <a:pt x="1715515" y="0"/>
                  </a:lnTo>
                  <a:lnTo>
                    <a:pt x="1716024" y="508"/>
                  </a:lnTo>
                  <a:lnTo>
                    <a:pt x="1716024" y="1016"/>
                  </a:lnTo>
                  <a:lnTo>
                    <a:pt x="1716024" y="251968"/>
                  </a:lnTo>
                  <a:lnTo>
                    <a:pt x="1716024" y="252475"/>
                  </a:lnTo>
                  <a:lnTo>
                    <a:pt x="1715515" y="252984"/>
                  </a:lnTo>
                  <a:lnTo>
                    <a:pt x="1715008" y="252984"/>
                  </a:lnTo>
                  <a:lnTo>
                    <a:pt x="1016" y="252984"/>
                  </a:lnTo>
                  <a:lnTo>
                    <a:pt x="508" y="252984"/>
                  </a:lnTo>
                  <a:lnTo>
                    <a:pt x="0" y="252475"/>
                  </a:lnTo>
                  <a:lnTo>
                    <a:pt x="0" y="251968"/>
                  </a:lnTo>
                  <a:lnTo>
                    <a:pt x="0" y="1016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08701" y="695706"/>
            <a:ext cx="15640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omic Sans MS"/>
                <a:cs typeface="Comic Sans MS"/>
              </a:rPr>
              <a:t>Prototype</a:t>
            </a:r>
            <a:r>
              <a:rPr sz="1100" b="1" spc="-110" dirty="0">
                <a:latin typeface="Comic Sans MS"/>
                <a:cs typeface="Comic Sans MS"/>
              </a:rPr>
              <a:t> </a:t>
            </a:r>
            <a:r>
              <a:rPr sz="1100" b="1" spc="-5" dirty="0">
                <a:latin typeface="Comic Sans MS"/>
                <a:cs typeface="Comic Sans MS"/>
              </a:rPr>
              <a:t>Construction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33996" y="1092834"/>
            <a:ext cx="45974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latin typeface="Comic Sans MS"/>
                <a:cs typeface="Comic Sans MS"/>
              </a:rPr>
              <a:t>Design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62190" y="1498853"/>
            <a:ext cx="45339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5" dirty="0">
                <a:latin typeface="Comic Sans MS"/>
                <a:cs typeface="Comic Sans MS"/>
              </a:rPr>
              <a:t>C</a:t>
            </a:r>
            <a:r>
              <a:rPr sz="1100" b="1" spc="-5" dirty="0">
                <a:latin typeface="Comic Sans MS"/>
                <a:cs typeface="Comic Sans MS"/>
              </a:rPr>
              <a:t>oding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13726" y="1904492"/>
            <a:ext cx="5232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Comic Sans MS"/>
                <a:cs typeface="Comic Sans MS"/>
              </a:rPr>
              <a:t>Testing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2976" y="2311400"/>
            <a:ext cx="86486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mic Sans MS"/>
                <a:cs typeface="Comic Sans MS"/>
              </a:rPr>
              <a:t>Maintenance</a:t>
            </a:r>
            <a:endParaRPr sz="1100">
              <a:latin typeface="Comic Sans MS"/>
              <a:cs typeface="Comic Sans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83680" y="832103"/>
            <a:ext cx="2355215" cy="1661160"/>
            <a:chOff x="6583680" y="832103"/>
            <a:chExt cx="2355215" cy="1661160"/>
          </a:xfrm>
        </p:grpSpPr>
        <p:sp>
          <p:nvSpPr>
            <p:cNvPr id="25" name="object 25"/>
            <p:cNvSpPr/>
            <p:nvPr/>
          </p:nvSpPr>
          <p:spPr>
            <a:xfrm>
              <a:off x="7292340" y="851915"/>
              <a:ext cx="173990" cy="0"/>
            </a:xfrm>
            <a:custGeom>
              <a:avLst/>
              <a:gdLst/>
              <a:ahLst/>
              <a:cxnLst/>
              <a:rect l="l" t="t" r="r" b="b"/>
              <a:pathLst>
                <a:path w="173990">
                  <a:moveTo>
                    <a:pt x="0" y="0"/>
                  </a:moveTo>
                  <a:lnTo>
                    <a:pt x="17373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08291" y="851661"/>
              <a:ext cx="119380" cy="253365"/>
            </a:xfrm>
            <a:custGeom>
              <a:avLst/>
              <a:gdLst/>
              <a:ahLst/>
              <a:cxnLst/>
              <a:rect l="l" t="t" r="r" b="b"/>
              <a:pathLst>
                <a:path w="119379" h="253365">
                  <a:moveTo>
                    <a:pt x="39632" y="134619"/>
                  </a:moveTo>
                  <a:lnTo>
                    <a:pt x="0" y="135127"/>
                  </a:lnTo>
                  <a:lnTo>
                    <a:pt x="60832" y="253237"/>
                  </a:lnTo>
                  <a:lnTo>
                    <a:pt x="108767" y="154432"/>
                  </a:lnTo>
                  <a:lnTo>
                    <a:pt x="39877" y="154432"/>
                  </a:lnTo>
                  <a:lnTo>
                    <a:pt x="39632" y="134619"/>
                  </a:lnTo>
                  <a:close/>
                </a:path>
                <a:path w="119379" h="253365">
                  <a:moveTo>
                    <a:pt x="79256" y="134111"/>
                  </a:moveTo>
                  <a:lnTo>
                    <a:pt x="39632" y="134619"/>
                  </a:lnTo>
                  <a:lnTo>
                    <a:pt x="39877" y="154432"/>
                  </a:lnTo>
                  <a:lnTo>
                    <a:pt x="79501" y="153924"/>
                  </a:lnTo>
                  <a:lnTo>
                    <a:pt x="79256" y="134111"/>
                  </a:lnTo>
                  <a:close/>
                </a:path>
                <a:path w="119379" h="253365">
                  <a:moveTo>
                    <a:pt x="118872" y="133603"/>
                  </a:moveTo>
                  <a:lnTo>
                    <a:pt x="79256" y="134111"/>
                  </a:lnTo>
                  <a:lnTo>
                    <a:pt x="79501" y="153924"/>
                  </a:lnTo>
                  <a:lnTo>
                    <a:pt x="39877" y="154432"/>
                  </a:lnTo>
                  <a:lnTo>
                    <a:pt x="108767" y="154432"/>
                  </a:lnTo>
                  <a:lnTo>
                    <a:pt x="118872" y="133603"/>
                  </a:lnTo>
                  <a:close/>
                </a:path>
                <a:path w="119379" h="253365">
                  <a:moveTo>
                    <a:pt x="77597" y="0"/>
                  </a:moveTo>
                  <a:lnTo>
                    <a:pt x="37973" y="508"/>
                  </a:lnTo>
                  <a:lnTo>
                    <a:pt x="39632" y="134619"/>
                  </a:lnTo>
                  <a:lnTo>
                    <a:pt x="79256" y="134111"/>
                  </a:lnTo>
                  <a:lnTo>
                    <a:pt x="77597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61732" y="1257299"/>
              <a:ext cx="177165" cy="0"/>
            </a:xfrm>
            <a:custGeom>
              <a:avLst/>
              <a:gdLst/>
              <a:ahLst/>
              <a:cxnLst/>
              <a:rect l="l" t="t" r="r" b="b"/>
              <a:pathLst>
                <a:path w="177165">
                  <a:moveTo>
                    <a:pt x="0" y="0"/>
                  </a:moveTo>
                  <a:lnTo>
                    <a:pt x="176784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79080" y="1257299"/>
              <a:ext cx="119380" cy="253365"/>
            </a:xfrm>
            <a:custGeom>
              <a:avLst/>
              <a:gdLst/>
              <a:ahLst/>
              <a:cxnLst/>
              <a:rect l="l" t="t" r="r" b="b"/>
              <a:pathLst>
                <a:path w="119379" h="253365">
                  <a:moveTo>
                    <a:pt x="39624" y="134112"/>
                  </a:moveTo>
                  <a:lnTo>
                    <a:pt x="0" y="134112"/>
                  </a:lnTo>
                  <a:lnTo>
                    <a:pt x="59436" y="252984"/>
                  </a:lnTo>
                  <a:lnTo>
                    <a:pt x="108966" y="153924"/>
                  </a:lnTo>
                  <a:lnTo>
                    <a:pt x="39624" y="153924"/>
                  </a:lnTo>
                  <a:lnTo>
                    <a:pt x="39624" y="134112"/>
                  </a:lnTo>
                  <a:close/>
                </a:path>
                <a:path w="119379" h="253365">
                  <a:moveTo>
                    <a:pt x="79248" y="0"/>
                  </a:moveTo>
                  <a:lnTo>
                    <a:pt x="39624" y="0"/>
                  </a:lnTo>
                  <a:lnTo>
                    <a:pt x="39624" y="153924"/>
                  </a:lnTo>
                  <a:lnTo>
                    <a:pt x="79248" y="153924"/>
                  </a:lnTo>
                  <a:lnTo>
                    <a:pt x="79248" y="0"/>
                  </a:lnTo>
                  <a:close/>
                </a:path>
                <a:path w="119379" h="253365">
                  <a:moveTo>
                    <a:pt x="118872" y="134112"/>
                  </a:moveTo>
                  <a:lnTo>
                    <a:pt x="79248" y="134112"/>
                  </a:lnTo>
                  <a:lnTo>
                    <a:pt x="79248" y="153924"/>
                  </a:lnTo>
                  <a:lnTo>
                    <a:pt x="108966" y="153924"/>
                  </a:lnTo>
                  <a:lnTo>
                    <a:pt x="118872" y="134112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31124" y="1662683"/>
              <a:ext cx="177165" cy="0"/>
            </a:xfrm>
            <a:custGeom>
              <a:avLst/>
              <a:gdLst/>
              <a:ahLst/>
              <a:cxnLst/>
              <a:rect l="l" t="t" r="r" b="b"/>
              <a:pathLst>
                <a:path w="177165">
                  <a:moveTo>
                    <a:pt x="0" y="0"/>
                  </a:moveTo>
                  <a:lnTo>
                    <a:pt x="176783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348472" y="1662683"/>
              <a:ext cx="119380" cy="253365"/>
            </a:xfrm>
            <a:custGeom>
              <a:avLst/>
              <a:gdLst/>
              <a:ahLst/>
              <a:cxnLst/>
              <a:rect l="l" t="t" r="r" b="b"/>
              <a:pathLst>
                <a:path w="119379" h="253364">
                  <a:moveTo>
                    <a:pt x="39624" y="134112"/>
                  </a:moveTo>
                  <a:lnTo>
                    <a:pt x="0" y="134112"/>
                  </a:lnTo>
                  <a:lnTo>
                    <a:pt x="59435" y="252983"/>
                  </a:lnTo>
                  <a:lnTo>
                    <a:pt x="108966" y="153924"/>
                  </a:lnTo>
                  <a:lnTo>
                    <a:pt x="39624" y="153924"/>
                  </a:lnTo>
                  <a:lnTo>
                    <a:pt x="39624" y="134112"/>
                  </a:lnTo>
                  <a:close/>
                </a:path>
                <a:path w="119379" h="253364">
                  <a:moveTo>
                    <a:pt x="79248" y="0"/>
                  </a:moveTo>
                  <a:lnTo>
                    <a:pt x="39624" y="0"/>
                  </a:lnTo>
                  <a:lnTo>
                    <a:pt x="39624" y="153924"/>
                  </a:lnTo>
                  <a:lnTo>
                    <a:pt x="79248" y="153924"/>
                  </a:lnTo>
                  <a:lnTo>
                    <a:pt x="79248" y="0"/>
                  </a:lnTo>
                  <a:close/>
                </a:path>
                <a:path w="119379" h="253364">
                  <a:moveTo>
                    <a:pt x="118872" y="134112"/>
                  </a:moveTo>
                  <a:lnTo>
                    <a:pt x="79248" y="134112"/>
                  </a:lnTo>
                  <a:lnTo>
                    <a:pt x="79248" y="153924"/>
                  </a:lnTo>
                  <a:lnTo>
                    <a:pt x="108966" y="153924"/>
                  </a:lnTo>
                  <a:lnTo>
                    <a:pt x="118872" y="134112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03564" y="2016251"/>
              <a:ext cx="173990" cy="3175"/>
            </a:xfrm>
            <a:custGeom>
              <a:avLst/>
              <a:gdLst/>
              <a:ahLst/>
              <a:cxnLst/>
              <a:rect l="l" t="t" r="r" b="b"/>
              <a:pathLst>
                <a:path w="173990" h="3175">
                  <a:moveTo>
                    <a:pt x="-19811" y="1524"/>
                  </a:moveTo>
                  <a:lnTo>
                    <a:pt x="193547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83680" y="1357883"/>
              <a:ext cx="2355215" cy="1118870"/>
            </a:xfrm>
            <a:custGeom>
              <a:avLst/>
              <a:gdLst/>
              <a:ahLst/>
              <a:cxnLst/>
              <a:rect l="l" t="t" r="r" b="b"/>
              <a:pathLst>
                <a:path w="2355215" h="1118870">
                  <a:moveTo>
                    <a:pt x="118872" y="118872"/>
                  </a:moveTo>
                  <a:lnTo>
                    <a:pt x="108966" y="99060"/>
                  </a:lnTo>
                  <a:lnTo>
                    <a:pt x="59436" y="0"/>
                  </a:lnTo>
                  <a:lnTo>
                    <a:pt x="0" y="118872"/>
                  </a:lnTo>
                  <a:lnTo>
                    <a:pt x="39624" y="118872"/>
                  </a:lnTo>
                  <a:lnTo>
                    <a:pt x="39624" y="999744"/>
                  </a:lnTo>
                  <a:lnTo>
                    <a:pt x="0" y="999744"/>
                  </a:lnTo>
                  <a:lnTo>
                    <a:pt x="59436" y="1118616"/>
                  </a:lnTo>
                  <a:lnTo>
                    <a:pt x="108966" y="1019556"/>
                  </a:lnTo>
                  <a:lnTo>
                    <a:pt x="118872" y="999744"/>
                  </a:lnTo>
                  <a:lnTo>
                    <a:pt x="79248" y="999744"/>
                  </a:lnTo>
                  <a:lnTo>
                    <a:pt x="79248" y="118872"/>
                  </a:lnTo>
                  <a:lnTo>
                    <a:pt x="118872" y="118872"/>
                  </a:lnTo>
                  <a:close/>
                </a:path>
                <a:path w="2355215" h="1118870">
                  <a:moveTo>
                    <a:pt x="532892" y="524522"/>
                  </a:moveTo>
                  <a:lnTo>
                    <a:pt x="522897" y="504317"/>
                  </a:lnTo>
                  <a:lnTo>
                    <a:pt x="473964" y="405384"/>
                  </a:lnTo>
                  <a:lnTo>
                    <a:pt x="414020" y="524002"/>
                  </a:lnTo>
                  <a:lnTo>
                    <a:pt x="453682" y="524179"/>
                  </a:lnTo>
                  <a:lnTo>
                    <a:pt x="451561" y="999667"/>
                  </a:lnTo>
                  <a:lnTo>
                    <a:pt x="411988" y="999490"/>
                  </a:lnTo>
                  <a:lnTo>
                    <a:pt x="470916" y="1118616"/>
                  </a:lnTo>
                  <a:lnTo>
                    <a:pt x="520903" y="1019683"/>
                  </a:lnTo>
                  <a:lnTo>
                    <a:pt x="530860" y="999998"/>
                  </a:lnTo>
                  <a:lnTo>
                    <a:pt x="491185" y="999832"/>
                  </a:lnTo>
                  <a:lnTo>
                    <a:pt x="493306" y="524344"/>
                  </a:lnTo>
                  <a:lnTo>
                    <a:pt x="532892" y="524522"/>
                  </a:lnTo>
                  <a:close/>
                </a:path>
                <a:path w="2355215" h="1118870">
                  <a:moveTo>
                    <a:pt x="1002792" y="929640"/>
                  </a:moveTo>
                  <a:lnTo>
                    <a:pt x="992886" y="909828"/>
                  </a:lnTo>
                  <a:lnTo>
                    <a:pt x="943356" y="810768"/>
                  </a:lnTo>
                  <a:lnTo>
                    <a:pt x="883920" y="929640"/>
                  </a:lnTo>
                  <a:lnTo>
                    <a:pt x="923544" y="929640"/>
                  </a:lnTo>
                  <a:lnTo>
                    <a:pt x="923544" y="999744"/>
                  </a:lnTo>
                  <a:lnTo>
                    <a:pt x="883920" y="999744"/>
                  </a:lnTo>
                  <a:lnTo>
                    <a:pt x="943356" y="1118616"/>
                  </a:lnTo>
                  <a:lnTo>
                    <a:pt x="992886" y="1019556"/>
                  </a:lnTo>
                  <a:lnTo>
                    <a:pt x="1002792" y="999744"/>
                  </a:lnTo>
                  <a:lnTo>
                    <a:pt x="963168" y="999744"/>
                  </a:lnTo>
                  <a:lnTo>
                    <a:pt x="963168" y="929640"/>
                  </a:lnTo>
                  <a:lnTo>
                    <a:pt x="1002792" y="929640"/>
                  </a:lnTo>
                  <a:close/>
                </a:path>
                <a:path w="2355215" h="1118870">
                  <a:moveTo>
                    <a:pt x="2354961" y="846709"/>
                  </a:moveTo>
                  <a:lnTo>
                    <a:pt x="2315260" y="847140"/>
                  </a:lnTo>
                  <a:lnTo>
                    <a:pt x="2313432" y="658114"/>
                  </a:lnTo>
                  <a:lnTo>
                    <a:pt x="2273808" y="658622"/>
                  </a:lnTo>
                  <a:lnTo>
                    <a:pt x="2275636" y="847559"/>
                  </a:lnTo>
                  <a:lnTo>
                    <a:pt x="2236089" y="847979"/>
                  </a:lnTo>
                  <a:lnTo>
                    <a:pt x="2296668" y="966216"/>
                  </a:lnTo>
                  <a:lnTo>
                    <a:pt x="2344851" y="867410"/>
                  </a:lnTo>
                  <a:lnTo>
                    <a:pt x="2354961" y="84670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43116" y="2464308"/>
              <a:ext cx="1179830" cy="9525"/>
            </a:xfrm>
            <a:custGeom>
              <a:avLst/>
              <a:gdLst/>
              <a:ahLst/>
              <a:cxnLst/>
              <a:rect l="l" t="t" r="r" b="b"/>
              <a:pathLst>
                <a:path w="1179829" h="9525">
                  <a:moveTo>
                    <a:pt x="1179576" y="9143"/>
                  </a:moveTo>
                  <a:lnTo>
                    <a:pt x="0" y="0"/>
                  </a:lnTo>
                </a:path>
              </a:pathLst>
            </a:custGeom>
            <a:ln w="39623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5301" y="165303"/>
            <a:ext cx="509968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0" dirty="0">
                <a:solidFill>
                  <a:srgbClr val="000000"/>
                </a:solidFill>
              </a:rPr>
              <a:t>Reasons</a:t>
            </a:r>
            <a:r>
              <a:rPr sz="4000" spc="-75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for</a:t>
            </a:r>
            <a:r>
              <a:rPr sz="4000" spc="-15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prototyping</a:t>
            </a:r>
            <a:endParaRPr sz="400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518" y="826135"/>
            <a:ext cx="865378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Learning</a:t>
            </a:r>
            <a:r>
              <a:rPr sz="32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32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doing:</a:t>
            </a:r>
            <a:r>
              <a:rPr sz="32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useful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where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requirements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518" y="1224485"/>
            <a:ext cx="4709795" cy="127571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80"/>
              </a:spcBef>
            </a:pPr>
            <a:r>
              <a:rPr sz="3200" spc="-5" dirty="0">
                <a:latin typeface="Calibri"/>
                <a:cs typeface="Calibri"/>
              </a:rPr>
              <a:t>only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partially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known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Improved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 communication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518" y="2471531"/>
            <a:ext cx="6012815" cy="190690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Improved</a:t>
            </a:r>
            <a:r>
              <a:rPr sz="32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user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involvement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Reduced</a:t>
            </a:r>
            <a:r>
              <a:rPr sz="32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need</a:t>
            </a:r>
            <a:r>
              <a:rPr sz="32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C00000"/>
                </a:solidFill>
                <a:latin typeface="Calibri"/>
                <a:cs typeface="Calibri"/>
              </a:rPr>
              <a:t>documentation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Reduced</a:t>
            </a: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C00000"/>
                </a:solidFill>
                <a:latin typeface="Calibri"/>
                <a:cs typeface="Calibri"/>
              </a:rPr>
              <a:t>maintenance</a:t>
            </a:r>
            <a:r>
              <a:rPr sz="32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costs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10721" y="1334833"/>
            <a:ext cx="4088129" cy="2478405"/>
            <a:chOff x="5010721" y="1334833"/>
            <a:chExt cx="4088129" cy="2478405"/>
          </a:xfrm>
        </p:grpSpPr>
        <p:sp>
          <p:nvSpPr>
            <p:cNvPr id="7" name="object 7"/>
            <p:cNvSpPr/>
            <p:nvPr/>
          </p:nvSpPr>
          <p:spPr>
            <a:xfrm>
              <a:off x="7557516" y="3463543"/>
              <a:ext cx="1521460" cy="330200"/>
            </a:xfrm>
            <a:custGeom>
              <a:avLst/>
              <a:gdLst/>
              <a:ahLst/>
              <a:cxnLst/>
              <a:rect l="l" t="t" r="r" b="b"/>
              <a:pathLst>
                <a:path w="1521459" h="330200">
                  <a:moveTo>
                    <a:pt x="1520952" y="1270"/>
                  </a:moveTo>
                  <a:lnTo>
                    <a:pt x="1520444" y="1270"/>
                  </a:lnTo>
                  <a:lnTo>
                    <a:pt x="1520444" y="0"/>
                  </a:lnTo>
                  <a:lnTo>
                    <a:pt x="508" y="0"/>
                  </a:lnTo>
                  <a:lnTo>
                    <a:pt x="508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28930"/>
                  </a:lnTo>
                  <a:lnTo>
                    <a:pt x="508" y="328930"/>
                  </a:lnTo>
                  <a:lnTo>
                    <a:pt x="508" y="330200"/>
                  </a:lnTo>
                  <a:lnTo>
                    <a:pt x="1520444" y="330200"/>
                  </a:lnTo>
                  <a:lnTo>
                    <a:pt x="1520444" y="328930"/>
                  </a:lnTo>
                  <a:lnTo>
                    <a:pt x="1520952" y="328930"/>
                  </a:lnTo>
                  <a:lnTo>
                    <a:pt x="1520952" y="2540"/>
                  </a:lnTo>
                  <a:lnTo>
                    <a:pt x="1520952" y="12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57516" y="3464051"/>
              <a:ext cx="1521460" cy="329565"/>
            </a:xfrm>
            <a:custGeom>
              <a:avLst/>
              <a:gdLst/>
              <a:ahLst/>
              <a:cxnLst/>
              <a:rect l="l" t="t" r="r" b="b"/>
              <a:pathLst>
                <a:path w="1521459" h="329564">
                  <a:moveTo>
                    <a:pt x="0" y="1397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397" y="0"/>
                  </a:lnTo>
                  <a:lnTo>
                    <a:pt x="1519554" y="0"/>
                  </a:lnTo>
                  <a:lnTo>
                    <a:pt x="1520316" y="0"/>
                  </a:lnTo>
                  <a:lnTo>
                    <a:pt x="1520952" y="635"/>
                  </a:lnTo>
                  <a:lnTo>
                    <a:pt x="1520952" y="1397"/>
                  </a:lnTo>
                  <a:lnTo>
                    <a:pt x="1520952" y="327787"/>
                  </a:lnTo>
                  <a:lnTo>
                    <a:pt x="1520952" y="328549"/>
                  </a:lnTo>
                  <a:lnTo>
                    <a:pt x="1520316" y="329184"/>
                  </a:lnTo>
                  <a:lnTo>
                    <a:pt x="1519554" y="329184"/>
                  </a:lnTo>
                  <a:lnTo>
                    <a:pt x="1397" y="329184"/>
                  </a:lnTo>
                  <a:lnTo>
                    <a:pt x="634" y="329184"/>
                  </a:lnTo>
                  <a:lnTo>
                    <a:pt x="0" y="328549"/>
                  </a:lnTo>
                  <a:lnTo>
                    <a:pt x="0" y="327787"/>
                  </a:lnTo>
                  <a:lnTo>
                    <a:pt x="0" y="1397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30212" y="2936493"/>
              <a:ext cx="1518285" cy="328930"/>
            </a:xfrm>
            <a:custGeom>
              <a:avLst/>
              <a:gdLst/>
              <a:ahLst/>
              <a:cxnLst/>
              <a:rect l="l" t="t" r="r" b="b"/>
              <a:pathLst>
                <a:path w="1518284" h="328929">
                  <a:moveTo>
                    <a:pt x="1517904" y="1270"/>
                  </a:moveTo>
                  <a:lnTo>
                    <a:pt x="1517650" y="1270"/>
                  </a:lnTo>
                  <a:lnTo>
                    <a:pt x="1517650" y="0"/>
                  </a:lnTo>
                  <a:lnTo>
                    <a:pt x="254" y="0"/>
                  </a:lnTo>
                  <a:lnTo>
                    <a:pt x="254" y="1270"/>
                  </a:lnTo>
                  <a:lnTo>
                    <a:pt x="0" y="1270"/>
                  </a:lnTo>
                  <a:lnTo>
                    <a:pt x="0" y="328930"/>
                  </a:lnTo>
                  <a:lnTo>
                    <a:pt x="1517904" y="328930"/>
                  </a:lnTo>
                  <a:lnTo>
                    <a:pt x="1517904" y="12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30212" y="2936747"/>
              <a:ext cx="1518285" cy="329565"/>
            </a:xfrm>
            <a:custGeom>
              <a:avLst/>
              <a:gdLst/>
              <a:ahLst/>
              <a:cxnLst/>
              <a:rect l="l" t="t" r="r" b="b"/>
              <a:pathLst>
                <a:path w="1518284" h="329564">
                  <a:moveTo>
                    <a:pt x="0" y="1396"/>
                  </a:moveTo>
                  <a:lnTo>
                    <a:pt x="0" y="634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516507" y="0"/>
                  </a:lnTo>
                  <a:lnTo>
                    <a:pt x="1517269" y="0"/>
                  </a:lnTo>
                  <a:lnTo>
                    <a:pt x="1517904" y="634"/>
                  </a:lnTo>
                  <a:lnTo>
                    <a:pt x="1517904" y="1396"/>
                  </a:lnTo>
                  <a:lnTo>
                    <a:pt x="1517904" y="327787"/>
                  </a:lnTo>
                  <a:lnTo>
                    <a:pt x="1517904" y="328549"/>
                  </a:lnTo>
                  <a:lnTo>
                    <a:pt x="1517269" y="329183"/>
                  </a:lnTo>
                  <a:lnTo>
                    <a:pt x="1516507" y="329183"/>
                  </a:lnTo>
                  <a:lnTo>
                    <a:pt x="1397" y="329183"/>
                  </a:lnTo>
                  <a:lnTo>
                    <a:pt x="635" y="329183"/>
                  </a:lnTo>
                  <a:lnTo>
                    <a:pt x="0" y="328549"/>
                  </a:lnTo>
                  <a:lnTo>
                    <a:pt x="0" y="327787"/>
                  </a:lnTo>
                  <a:lnTo>
                    <a:pt x="0" y="1396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99860" y="2409443"/>
              <a:ext cx="1521460" cy="328930"/>
            </a:xfrm>
            <a:custGeom>
              <a:avLst/>
              <a:gdLst/>
              <a:ahLst/>
              <a:cxnLst/>
              <a:rect l="l" t="t" r="r" b="b"/>
              <a:pathLst>
                <a:path w="1521459" h="328930">
                  <a:moveTo>
                    <a:pt x="152095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28930"/>
                  </a:lnTo>
                  <a:lnTo>
                    <a:pt x="1520952" y="328930"/>
                  </a:lnTo>
                  <a:lnTo>
                    <a:pt x="1520952" y="1270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99860" y="2409443"/>
              <a:ext cx="1521460" cy="329565"/>
            </a:xfrm>
            <a:custGeom>
              <a:avLst/>
              <a:gdLst/>
              <a:ahLst/>
              <a:cxnLst/>
              <a:rect l="l" t="t" r="r" b="b"/>
              <a:pathLst>
                <a:path w="1521459" h="329564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519555" y="0"/>
                  </a:lnTo>
                  <a:lnTo>
                    <a:pt x="1520316" y="0"/>
                  </a:lnTo>
                  <a:lnTo>
                    <a:pt x="1520951" y="635"/>
                  </a:lnTo>
                  <a:lnTo>
                    <a:pt x="1520951" y="1397"/>
                  </a:lnTo>
                  <a:lnTo>
                    <a:pt x="1520951" y="327787"/>
                  </a:lnTo>
                  <a:lnTo>
                    <a:pt x="1520951" y="328549"/>
                  </a:lnTo>
                  <a:lnTo>
                    <a:pt x="1520316" y="329184"/>
                  </a:lnTo>
                  <a:lnTo>
                    <a:pt x="1519555" y="329184"/>
                  </a:lnTo>
                  <a:lnTo>
                    <a:pt x="1397" y="329184"/>
                  </a:lnTo>
                  <a:lnTo>
                    <a:pt x="635" y="329184"/>
                  </a:lnTo>
                  <a:lnTo>
                    <a:pt x="0" y="328549"/>
                  </a:lnTo>
                  <a:lnTo>
                    <a:pt x="0" y="327787"/>
                  </a:lnTo>
                  <a:lnTo>
                    <a:pt x="0" y="1397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69508" y="1882393"/>
              <a:ext cx="1521460" cy="328930"/>
            </a:xfrm>
            <a:custGeom>
              <a:avLst/>
              <a:gdLst/>
              <a:ahLst/>
              <a:cxnLst/>
              <a:rect l="l" t="t" r="r" b="b"/>
              <a:pathLst>
                <a:path w="1521459" h="328930">
                  <a:moveTo>
                    <a:pt x="152095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28930"/>
                  </a:lnTo>
                  <a:lnTo>
                    <a:pt x="1520952" y="328930"/>
                  </a:lnTo>
                  <a:lnTo>
                    <a:pt x="1520952" y="1270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69508" y="1882139"/>
              <a:ext cx="1521460" cy="329565"/>
            </a:xfrm>
            <a:custGeom>
              <a:avLst/>
              <a:gdLst/>
              <a:ahLst/>
              <a:cxnLst/>
              <a:rect l="l" t="t" r="r" b="b"/>
              <a:pathLst>
                <a:path w="1521459" h="329564">
                  <a:moveTo>
                    <a:pt x="0" y="1397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396" y="0"/>
                  </a:lnTo>
                  <a:lnTo>
                    <a:pt x="1519555" y="0"/>
                  </a:lnTo>
                  <a:lnTo>
                    <a:pt x="1520316" y="0"/>
                  </a:lnTo>
                  <a:lnTo>
                    <a:pt x="1520951" y="635"/>
                  </a:lnTo>
                  <a:lnTo>
                    <a:pt x="1520951" y="1397"/>
                  </a:lnTo>
                  <a:lnTo>
                    <a:pt x="1520951" y="327787"/>
                  </a:lnTo>
                  <a:lnTo>
                    <a:pt x="1520951" y="328549"/>
                  </a:lnTo>
                  <a:lnTo>
                    <a:pt x="1520316" y="329184"/>
                  </a:lnTo>
                  <a:lnTo>
                    <a:pt x="1519555" y="329184"/>
                  </a:lnTo>
                  <a:lnTo>
                    <a:pt x="1396" y="329184"/>
                  </a:lnTo>
                  <a:lnTo>
                    <a:pt x="634" y="329184"/>
                  </a:lnTo>
                  <a:lnTo>
                    <a:pt x="0" y="328549"/>
                  </a:lnTo>
                  <a:lnTo>
                    <a:pt x="0" y="327787"/>
                  </a:lnTo>
                  <a:lnTo>
                    <a:pt x="0" y="1397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30724" y="1355343"/>
              <a:ext cx="1929764" cy="328930"/>
            </a:xfrm>
            <a:custGeom>
              <a:avLst/>
              <a:gdLst/>
              <a:ahLst/>
              <a:cxnLst/>
              <a:rect l="l" t="t" r="r" b="b"/>
              <a:pathLst>
                <a:path w="1929765" h="328930">
                  <a:moveTo>
                    <a:pt x="1929384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27660"/>
                  </a:lnTo>
                  <a:lnTo>
                    <a:pt x="254" y="327660"/>
                  </a:lnTo>
                  <a:lnTo>
                    <a:pt x="254" y="328930"/>
                  </a:lnTo>
                  <a:lnTo>
                    <a:pt x="1929130" y="328930"/>
                  </a:lnTo>
                  <a:lnTo>
                    <a:pt x="1929130" y="327660"/>
                  </a:lnTo>
                  <a:lnTo>
                    <a:pt x="1929384" y="327660"/>
                  </a:lnTo>
                  <a:lnTo>
                    <a:pt x="1929384" y="1270"/>
                  </a:lnTo>
                  <a:lnTo>
                    <a:pt x="19293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30724" y="1354835"/>
              <a:ext cx="1929764" cy="329565"/>
            </a:xfrm>
            <a:custGeom>
              <a:avLst/>
              <a:gdLst/>
              <a:ahLst/>
              <a:cxnLst/>
              <a:rect l="l" t="t" r="r" b="b"/>
              <a:pathLst>
                <a:path w="1929765" h="329564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927986" y="0"/>
                  </a:lnTo>
                  <a:lnTo>
                    <a:pt x="1928749" y="0"/>
                  </a:lnTo>
                  <a:lnTo>
                    <a:pt x="1929383" y="635"/>
                  </a:lnTo>
                  <a:lnTo>
                    <a:pt x="1929383" y="1397"/>
                  </a:lnTo>
                  <a:lnTo>
                    <a:pt x="1929383" y="327787"/>
                  </a:lnTo>
                  <a:lnTo>
                    <a:pt x="1929383" y="328549"/>
                  </a:lnTo>
                  <a:lnTo>
                    <a:pt x="1928749" y="329184"/>
                  </a:lnTo>
                  <a:lnTo>
                    <a:pt x="1927986" y="329184"/>
                  </a:lnTo>
                  <a:lnTo>
                    <a:pt x="1397" y="329184"/>
                  </a:lnTo>
                  <a:lnTo>
                    <a:pt x="635" y="329184"/>
                  </a:lnTo>
                  <a:lnTo>
                    <a:pt x="0" y="328549"/>
                  </a:lnTo>
                  <a:lnTo>
                    <a:pt x="0" y="327787"/>
                  </a:lnTo>
                  <a:lnTo>
                    <a:pt x="0" y="1397"/>
                  </a:lnTo>
                  <a:close/>
                </a:path>
              </a:pathLst>
            </a:custGeom>
            <a:ln w="39623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70475" y="1351228"/>
            <a:ext cx="170433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mic Sans MS"/>
                <a:cs typeface="Comic Sans MS"/>
              </a:rPr>
              <a:t>Prototype</a:t>
            </a:r>
            <a:r>
              <a:rPr sz="1200" b="1" spc="-100" dirty="0">
                <a:latin typeface="Comic Sans MS"/>
                <a:cs typeface="Comic Sans MS"/>
              </a:rPr>
              <a:t> </a:t>
            </a:r>
            <a:r>
              <a:rPr sz="1200" b="1" spc="-5" dirty="0">
                <a:latin typeface="Comic Sans MS"/>
                <a:cs typeface="Comic Sans MS"/>
              </a:rPr>
              <a:t>Construction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17893" y="1864867"/>
            <a:ext cx="5734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Comic Sans MS"/>
                <a:cs typeface="Comic Sans MS"/>
              </a:rPr>
              <a:t>D</a:t>
            </a:r>
            <a:r>
              <a:rPr sz="1400" b="1" spc="-15" dirty="0">
                <a:latin typeface="Comic Sans MS"/>
                <a:cs typeface="Comic Sans MS"/>
              </a:rPr>
              <a:t>e</a:t>
            </a:r>
            <a:r>
              <a:rPr sz="1400" b="1" spc="-5" dirty="0">
                <a:latin typeface="Comic Sans MS"/>
                <a:cs typeface="Comic Sans MS"/>
              </a:rPr>
              <a:t>s</a:t>
            </a:r>
            <a:r>
              <a:rPr sz="1400" b="1" spc="-15" dirty="0">
                <a:latin typeface="Comic Sans MS"/>
                <a:cs typeface="Comic Sans MS"/>
              </a:rPr>
              <a:t>i</a:t>
            </a:r>
            <a:r>
              <a:rPr sz="1400" b="1" dirty="0">
                <a:latin typeface="Comic Sans MS"/>
                <a:cs typeface="Comic Sans MS"/>
              </a:rPr>
              <a:t>g</a:t>
            </a:r>
            <a:r>
              <a:rPr sz="1400" b="1" spc="-5" dirty="0">
                <a:latin typeface="Comic Sans MS"/>
                <a:cs typeface="Comic Sans MS"/>
              </a:rPr>
              <a:t>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3303" y="2392172"/>
            <a:ext cx="5670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Comic Sans MS"/>
                <a:cs typeface="Comic Sans MS"/>
              </a:rPr>
              <a:t>C</a:t>
            </a:r>
            <a:r>
              <a:rPr sz="1400" b="1" spc="5" dirty="0">
                <a:latin typeface="Comic Sans MS"/>
                <a:cs typeface="Comic Sans MS"/>
              </a:rPr>
              <a:t>o</a:t>
            </a:r>
            <a:r>
              <a:rPr sz="1400" b="1" spc="-10" dirty="0">
                <a:latin typeface="Comic Sans MS"/>
                <a:cs typeface="Comic Sans MS"/>
              </a:rPr>
              <a:t>d</a:t>
            </a:r>
            <a:r>
              <a:rPr sz="1400" b="1" spc="-15" dirty="0">
                <a:latin typeface="Comic Sans MS"/>
                <a:cs typeface="Comic Sans MS"/>
              </a:rPr>
              <a:t>in</a:t>
            </a:r>
            <a:r>
              <a:rPr sz="1400" b="1" spc="-5" dirty="0">
                <a:latin typeface="Comic Sans MS"/>
                <a:cs typeface="Comic Sans MS"/>
              </a:rPr>
              <a:t>g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6936" y="2919475"/>
            <a:ext cx="647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5" dirty="0">
                <a:latin typeface="Comic Sans MS"/>
                <a:cs typeface="Comic Sans MS"/>
              </a:rPr>
              <a:t>Testin</a:t>
            </a:r>
            <a:r>
              <a:rPr sz="1400" b="1" spc="-5" dirty="0">
                <a:latin typeface="Comic Sans MS"/>
                <a:cs typeface="Comic Sans MS"/>
              </a:rPr>
              <a:t>g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1841" y="3447745"/>
            <a:ext cx="10725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5" dirty="0">
                <a:latin typeface="Comic Sans MS"/>
                <a:cs typeface="Comic Sans MS"/>
              </a:rPr>
              <a:t>Maintenance</a:t>
            </a:r>
            <a:endParaRPr sz="1400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5247" y="1533143"/>
            <a:ext cx="2633980" cy="2148840"/>
            <a:chOff x="6175247" y="1533143"/>
            <a:chExt cx="2633980" cy="2148840"/>
          </a:xfrm>
        </p:grpSpPr>
        <p:sp>
          <p:nvSpPr>
            <p:cNvPr id="23" name="object 23"/>
            <p:cNvSpPr/>
            <p:nvPr/>
          </p:nvSpPr>
          <p:spPr>
            <a:xfrm>
              <a:off x="6963155" y="1552955"/>
              <a:ext cx="198120" cy="0"/>
            </a:xfrm>
            <a:custGeom>
              <a:avLst/>
              <a:gdLst/>
              <a:ahLst/>
              <a:cxnLst/>
              <a:rect l="l" t="t" r="r" b="b"/>
              <a:pathLst>
                <a:path w="198120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1839" y="1552955"/>
              <a:ext cx="119380" cy="329565"/>
            </a:xfrm>
            <a:custGeom>
              <a:avLst/>
              <a:gdLst/>
              <a:ahLst/>
              <a:cxnLst/>
              <a:rect l="l" t="t" r="r" b="b"/>
              <a:pathLst>
                <a:path w="119379" h="329564">
                  <a:moveTo>
                    <a:pt x="39624" y="210312"/>
                  </a:moveTo>
                  <a:lnTo>
                    <a:pt x="0" y="210312"/>
                  </a:lnTo>
                  <a:lnTo>
                    <a:pt x="59435" y="329183"/>
                  </a:lnTo>
                  <a:lnTo>
                    <a:pt x="108965" y="230123"/>
                  </a:lnTo>
                  <a:lnTo>
                    <a:pt x="39624" y="230123"/>
                  </a:lnTo>
                  <a:lnTo>
                    <a:pt x="39624" y="210312"/>
                  </a:lnTo>
                  <a:close/>
                </a:path>
                <a:path w="119379" h="329564">
                  <a:moveTo>
                    <a:pt x="79248" y="0"/>
                  </a:moveTo>
                  <a:lnTo>
                    <a:pt x="39624" y="0"/>
                  </a:lnTo>
                  <a:lnTo>
                    <a:pt x="39624" y="230123"/>
                  </a:lnTo>
                  <a:lnTo>
                    <a:pt x="79248" y="230123"/>
                  </a:lnTo>
                  <a:lnTo>
                    <a:pt x="79248" y="0"/>
                  </a:lnTo>
                  <a:close/>
                </a:path>
                <a:path w="119379" h="329564">
                  <a:moveTo>
                    <a:pt x="118871" y="210312"/>
                  </a:moveTo>
                  <a:lnTo>
                    <a:pt x="79248" y="210312"/>
                  </a:lnTo>
                  <a:lnTo>
                    <a:pt x="79248" y="230123"/>
                  </a:lnTo>
                  <a:lnTo>
                    <a:pt x="108965" y="230123"/>
                  </a:lnTo>
                  <a:lnTo>
                    <a:pt x="118871" y="210312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93507" y="2080259"/>
              <a:ext cx="198120" cy="0"/>
            </a:xfrm>
            <a:custGeom>
              <a:avLst/>
              <a:gdLst/>
              <a:ahLst/>
              <a:cxnLst/>
              <a:rect l="l" t="t" r="r" b="b"/>
              <a:pathLst>
                <a:path w="198120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32191" y="2080259"/>
              <a:ext cx="119380" cy="329565"/>
            </a:xfrm>
            <a:custGeom>
              <a:avLst/>
              <a:gdLst/>
              <a:ahLst/>
              <a:cxnLst/>
              <a:rect l="l" t="t" r="r" b="b"/>
              <a:pathLst>
                <a:path w="119379" h="329564">
                  <a:moveTo>
                    <a:pt x="39624" y="210312"/>
                  </a:moveTo>
                  <a:lnTo>
                    <a:pt x="0" y="210312"/>
                  </a:lnTo>
                  <a:lnTo>
                    <a:pt x="59435" y="329183"/>
                  </a:lnTo>
                  <a:lnTo>
                    <a:pt x="108966" y="230124"/>
                  </a:lnTo>
                  <a:lnTo>
                    <a:pt x="39624" y="230124"/>
                  </a:lnTo>
                  <a:lnTo>
                    <a:pt x="39624" y="210312"/>
                  </a:lnTo>
                  <a:close/>
                </a:path>
                <a:path w="119379" h="329564">
                  <a:moveTo>
                    <a:pt x="79248" y="0"/>
                  </a:moveTo>
                  <a:lnTo>
                    <a:pt x="39624" y="0"/>
                  </a:lnTo>
                  <a:lnTo>
                    <a:pt x="39624" y="230124"/>
                  </a:lnTo>
                  <a:lnTo>
                    <a:pt x="79248" y="230124"/>
                  </a:lnTo>
                  <a:lnTo>
                    <a:pt x="79248" y="0"/>
                  </a:lnTo>
                  <a:close/>
                </a:path>
                <a:path w="119379" h="329564">
                  <a:moveTo>
                    <a:pt x="118872" y="210312"/>
                  </a:moveTo>
                  <a:lnTo>
                    <a:pt x="79248" y="210312"/>
                  </a:lnTo>
                  <a:lnTo>
                    <a:pt x="79248" y="230124"/>
                  </a:lnTo>
                  <a:lnTo>
                    <a:pt x="108966" y="230124"/>
                  </a:lnTo>
                  <a:lnTo>
                    <a:pt x="118872" y="210312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0811" y="2607563"/>
              <a:ext cx="198120" cy="0"/>
            </a:xfrm>
            <a:custGeom>
              <a:avLst/>
              <a:gdLst/>
              <a:ahLst/>
              <a:cxnLst/>
              <a:rect l="l" t="t" r="r" b="b"/>
              <a:pathLst>
                <a:path w="198120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61400" y="2607436"/>
              <a:ext cx="119380" cy="329565"/>
            </a:xfrm>
            <a:custGeom>
              <a:avLst/>
              <a:gdLst/>
              <a:ahLst/>
              <a:cxnLst/>
              <a:rect l="l" t="t" r="r" b="b"/>
              <a:pathLst>
                <a:path w="119379" h="329564">
                  <a:moveTo>
                    <a:pt x="39692" y="210607"/>
                  </a:moveTo>
                  <a:lnTo>
                    <a:pt x="0" y="210947"/>
                  </a:lnTo>
                  <a:lnTo>
                    <a:pt x="60578" y="329311"/>
                  </a:lnTo>
                  <a:lnTo>
                    <a:pt x="108887" y="230378"/>
                  </a:lnTo>
                  <a:lnTo>
                    <a:pt x="39877" y="230378"/>
                  </a:lnTo>
                  <a:lnTo>
                    <a:pt x="39692" y="210607"/>
                  </a:lnTo>
                  <a:close/>
                </a:path>
                <a:path w="119379" h="329564">
                  <a:moveTo>
                    <a:pt x="79315" y="210269"/>
                  </a:moveTo>
                  <a:lnTo>
                    <a:pt x="39692" y="210607"/>
                  </a:lnTo>
                  <a:lnTo>
                    <a:pt x="39877" y="230378"/>
                  </a:lnTo>
                  <a:lnTo>
                    <a:pt x="79501" y="230124"/>
                  </a:lnTo>
                  <a:lnTo>
                    <a:pt x="79315" y="210269"/>
                  </a:lnTo>
                  <a:close/>
                </a:path>
                <a:path w="119379" h="329564">
                  <a:moveTo>
                    <a:pt x="118872" y="209931"/>
                  </a:moveTo>
                  <a:lnTo>
                    <a:pt x="79315" y="210269"/>
                  </a:lnTo>
                  <a:lnTo>
                    <a:pt x="79501" y="230124"/>
                  </a:lnTo>
                  <a:lnTo>
                    <a:pt x="39877" y="230378"/>
                  </a:lnTo>
                  <a:lnTo>
                    <a:pt x="108887" y="230378"/>
                  </a:lnTo>
                  <a:lnTo>
                    <a:pt x="118872" y="209931"/>
                  </a:lnTo>
                  <a:close/>
                </a:path>
                <a:path w="119379" h="329564">
                  <a:moveTo>
                    <a:pt x="77343" y="0"/>
                  </a:moveTo>
                  <a:lnTo>
                    <a:pt x="37719" y="254"/>
                  </a:lnTo>
                  <a:lnTo>
                    <a:pt x="39692" y="210607"/>
                  </a:lnTo>
                  <a:lnTo>
                    <a:pt x="79315" y="210269"/>
                  </a:lnTo>
                  <a:lnTo>
                    <a:pt x="77343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51163" y="3067811"/>
              <a:ext cx="198120" cy="3175"/>
            </a:xfrm>
            <a:custGeom>
              <a:avLst/>
              <a:gdLst/>
              <a:ahLst/>
              <a:cxnLst/>
              <a:rect l="l" t="t" r="r" b="b"/>
              <a:pathLst>
                <a:path w="198120" h="3175">
                  <a:moveTo>
                    <a:pt x="-19811" y="1524"/>
                  </a:moveTo>
                  <a:lnTo>
                    <a:pt x="217931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75248" y="2211323"/>
              <a:ext cx="2633980" cy="1450975"/>
            </a:xfrm>
            <a:custGeom>
              <a:avLst/>
              <a:gdLst/>
              <a:ahLst/>
              <a:cxnLst/>
              <a:rect l="l" t="t" r="r" b="b"/>
              <a:pathLst>
                <a:path w="2633979" h="1450975">
                  <a:moveTo>
                    <a:pt x="118872" y="118872"/>
                  </a:moveTo>
                  <a:lnTo>
                    <a:pt x="108966" y="99060"/>
                  </a:lnTo>
                  <a:lnTo>
                    <a:pt x="59436" y="0"/>
                  </a:lnTo>
                  <a:lnTo>
                    <a:pt x="0" y="118872"/>
                  </a:lnTo>
                  <a:lnTo>
                    <a:pt x="39624" y="118872"/>
                  </a:lnTo>
                  <a:lnTo>
                    <a:pt x="39624" y="1331976"/>
                  </a:lnTo>
                  <a:lnTo>
                    <a:pt x="0" y="1331976"/>
                  </a:lnTo>
                  <a:lnTo>
                    <a:pt x="59436" y="1450848"/>
                  </a:lnTo>
                  <a:lnTo>
                    <a:pt x="108966" y="1351788"/>
                  </a:lnTo>
                  <a:lnTo>
                    <a:pt x="118872" y="1331976"/>
                  </a:lnTo>
                  <a:lnTo>
                    <a:pt x="79248" y="1331976"/>
                  </a:lnTo>
                  <a:lnTo>
                    <a:pt x="79248" y="118872"/>
                  </a:lnTo>
                  <a:lnTo>
                    <a:pt x="118872" y="118872"/>
                  </a:lnTo>
                  <a:close/>
                </a:path>
                <a:path w="2633979" h="1450975">
                  <a:moveTo>
                    <a:pt x="584835" y="646430"/>
                  </a:moveTo>
                  <a:lnTo>
                    <a:pt x="574814" y="626237"/>
                  </a:lnTo>
                  <a:lnTo>
                    <a:pt x="525780" y="527304"/>
                  </a:lnTo>
                  <a:lnTo>
                    <a:pt x="465950" y="645922"/>
                  </a:lnTo>
                  <a:lnTo>
                    <a:pt x="505523" y="646099"/>
                  </a:lnTo>
                  <a:lnTo>
                    <a:pt x="503351" y="1331899"/>
                  </a:lnTo>
                  <a:lnTo>
                    <a:pt x="463677" y="1331722"/>
                  </a:lnTo>
                  <a:lnTo>
                    <a:pt x="522732" y="1450848"/>
                  </a:lnTo>
                  <a:lnTo>
                    <a:pt x="572617" y="1351915"/>
                  </a:lnTo>
                  <a:lnTo>
                    <a:pt x="582549" y="1332230"/>
                  </a:lnTo>
                  <a:lnTo>
                    <a:pt x="542975" y="1332064"/>
                  </a:lnTo>
                  <a:lnTo>
                    <a:pt x="545147" y="646264"/>
                  </a:lnTo>
                  <a:lnTo>
                    <a:pt x="584835" y="646430"/>
                  </a:lnTo>
                  <a:close/>
                </a:path>
                <a:path w="2633979" h="1450975">
                  <a:moveTo>
                    <a:pt x="1112520" y="1173480"/>
                  </a:moveTo>
                  <a:lnTo>
                    <a:pt x="1102614" y="1153668"/>
                  </a:lnTo>
                  <a:lnTo>
                    <a:pt x="1053084" y="1054608"/>
                  </a:lnTo>
                  <a:lnTo>
                    <a:pt x="993648" y="1173480"/>
                  </a:lnTo>
                  <a:lnTo>
                    <a:pt x="1033272" y="1173480"/>
                  </a:lnTo>
                  <a:lnTo>
                    <a:pt x="1033272" y="1331976"/>
                  </a:lnTo>
                  <a:lnTo>
                    <a:pt x="993648" y="1331976"/>
                  </a:lnTo>
                  <a:lnTo>
                    <a:pt x="1053084" y="1450848"/>
                  </a:lnTo>
                  <a:lnTo>
                    <a:pt x="1102614" y="1351788"/>
                  </a:lnTo>
                  <a:lnTo>
                    <a:pt x="1112520" y="1331976"/>
                  </a:lnTo>
                  <a:lnTo>
                    <a:pt x="1072896" y="1331976"/>
                  </a:lnTo>
                  <a:lnTo>
                    <a:pt x="1072896" y="1173480"/>
                  </a:lnTo>
                  <a:lnTo>
                    <a:pt x="1112520" y="1173480"/>
                  </a:lnTo>
                  <a:close/>
                </a:path>
                <a:path w="2633979" h="1450975">
                  <a:moveTo>
                    <a:pt x="2633472" y="1133856"/>
                  </a:moveTo>
                  <a:lnTo>
                    <a:pt x="2593848" y="1133856"/>
                  </a:lnTo>
                  <a:lnTo>
                    <a:pt x="2593848" y="856488"/>
                  </a:lnTo>
                  <a:lnTo>
                    <a:pt x="2554224" y="856488"/>
                  </a:lnTo>
                  <a:lnTo>
                    <a:pt x="2554224" y="1133856"/>
                  </a:lnTo>
                  <a:lnTo>
                    <a:pt x="2514600" y="1133856"/>
                  </a:lnTo>
                  <a:lnTo>
                    <a:pt x="2574036" y="1252728"/>
                  </a:lnTo>
                  <a:lnTo>
                    <a:pt x="2623566" y="1153668"/>
                  </a:lnTo>
                  <a:lnTo>
                    <a:pt x="2633472" y="1133856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34683" y="3646931"/>
              <a:ext cx="1325880" cy="15240"/>
            </a:xfrm>
            <a:custGeom>
              <a:avLst/>
              <a:gdLst/>
              <a:ahLst/>
              <a:cxnLst/>
              <a:rect l="l" t="t" r="r" b="b"/>
              <a:pathLst>
                <a:path w="1325879" h="15239">
                  <a:moveTo>
                    <a:pt x="1325880" y="15239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2457" y="147269"/>
            <a:ext cx="5798820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dirty="0">
                <a:solidFill>
                  <a:srgbClr val="000000"/>
                </a:solidFill>
              </a:rPr>
              <a:t>Reasons</a:t>
            </a:r>
            <a:r>
              <a:rPr sz="3050" spc="-30" dirty="0">
                <a:solidFill>
                  <a:srgbClr val="000000"/>
                </a:solidFill>
              </a:rPr>
              <a:t> </a:t>
            </a:r>
            <a:r>
              <a:rPr sz="3050" spc="-5" dirty="0">
                <a:solidFill>
                  <a:srgbClr val="000000"/>
                </a:solidFill>
              </a:rPr>
              <a:t>for</a:t>
            </a:r>
            <a:r>
              <a:rPr sz="3050" spc="-40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Developing</a:t>
            </a:r>
            <a:r>
              <a:rPr sz="3050" spc="-70" dirty="0">
                <a:solidFill>
                  <a:srgbClr val="000000"/>
                </a:solidFill>
              </a:rPr>
              <a:t> </a:t>
            </a:r>
            <a:r>
              <a:rPr sz="3050" spc="10" dirty="0">
                <a:solidFill>
                  <a:srgbClr val="000000"/>
                </a:solidFill>
              </a:rPr>
              <a:t>a</a:t>
            </a:r>
            <a:r>
              <a:rPr sz="3050" spc="-5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Prototype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23" y="452257"/>
            <a:ext cx="8094345" cy="395541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Illustrate</a:t>
            </a:r>
            <a:r>
              <a:rPr sz="2800" b="1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customer:</a:t>
            </a:r>
            <a:endParaRPr sz="2800">
              <a:latin typeface="Calibri"/>
              <a:cs typeface="Calibri"/>
            </a:endParaRPr>
          </a:p>
          <a:p>
            <a:pPr marL="515620" marR="5080" indent="-192405">
              <a:lnSpc>
                <a:spcPct val="110100"/>
              </a:lnSpc>
              <a:spcBef>
                <a:spcPts val="38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input </a:t>
            </a:r>
            <a:r>
              <a:rPr sz="2800" spc="-15" dirty="0">
                <a:latin typeface="Calibri"/>
                <a:cs typeface="Calibri"/>
              </a:rPr>
              <a:t>data </a:t>
            </a:r>
            <a:r>
              <a:rPr sz="2800" spc="-10" dirty="0">
                <a:latin typeface="Calibri"/>
                <a:cs typeface="Calibri"/>
              </a:rPr>
              <a:t>formats, </a:t>
            </a:r>
            <a:r>
              <a:rPr sz="2800" spc="-5" dirty="0">
                <a:latin typeface="Calibri"/>
                <a:cs typeface="Calibri"/>
              </a:rPr>
              <a:t>messages, reports, </a:t>
            </a:r>
            <a:r>
              <a:rPr sz="2800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interactive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dialogs.</a:t>
            </a:r>
            <a:endParaRPr sz="2800">
              <a:latin typeface="Calibri"/>
              <a:cs typeface="Calibri"/>
            </a:endParaRPr>
          </a:p>
          <a:p>
            <a:pPr marL="243840" marR="585470" indent="-231775">
              <a:lnSpc>
                <a:spcPct val="110100"/>
              </a:lnSpc>
              <a:spcBef>
                <a:spcPts val="409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Examine</a:t>
            </a:r>
            <a:r>
              <a:rPr sz="28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technical</a:t>
            </a:r>
            <a:r>
              <a:rPr sz="28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issues</a:t>
            </a:r>
            <a:r>
              <a:rPr sz="28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associated</a:t>
            </a:r>
            <a:r>
              <a:rPr sz="28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product </a:t>
            </a:r>
            <a:r>
              <a:rPr sz="2800" b="1" spc="-6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development: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745"/>
              </a:spcBef>
              <a:tabLst>
                <a:tab pos="4866640" algn="l"/>
              </a:tabLst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Often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major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decisions	depend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issues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like: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Response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controller,</a:t>
            </a:r>
            <a:endParaRPr sz="24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Efficiency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sorting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algorithm,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188" y="260045"/>
            <a:ext cx="4194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Prototyping</a:t>
            </a:r>
            <a:r>
              <a:rPr sz="3600" spc="-25" dirty="0"/>
              <a:t> </a:t>
            </a:r>
            <a:r>
              <a:rPr sz="3600" dirty="0"/>
              <a:t>Model</a:t>
            </a:r>
            <a:r>
              <a:rPr sz="3600" spc="-15" dirty="0"/>
              <a:t> </a:t>
            </a:r>
            <a:r>
              <a:rPr sz="1200" spc="-20" dirty="0"/>
              <a:t>(CONT.)</a:t>
            </a:r>
            <a:endParaRPr sz="1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326" y="1070813"/>
            <a:ext cx="8319134" cy="2942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5110" algn="l"/>
              </a:tabLst>
            </a:pPr>
            <a:r>
              <a:rPr sz="3600" dirty="0">
                <a:latin typeface="Calibri"/>
                <a:cs typeface="Calibri"/>
              </a:rPr>
              <a:t>Another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reason</a:t>
            </a:r>
            <a:r>
              <a:rPr sz="3600" spc="-25" dirty="0">
                <a:latin typeface="Calibri"/>
                <a:cs typeface="Calibri"/>
              </a:rPr>
              <a:t> for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developing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prototype:</a:t>
            </a:r>
            <a:endParaRPr sz="36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615"/>
              </a:spcBef>
            </a:pPr>
            <a:r>
              <a:rPr sz="3200" spc="-10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3200" b="1" spc="-10" dirty="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sz="3200" b="1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99"/>
                </a:solidFill>
                <a:latin typeface="Calibri"/>
                <a:cs typeface="Calibri"/>
              </a:rPr>
              <a:t>is impossible</a:t>
            </a:r>
            <a:r>
              <a:rPr sz="3200" b="1" spc="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sz="3200" b="1" spc="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45" dirty="0">
                <a:solidFill>
                  <a:srgbClr val="000099"/>
                </a:solidFill>
                <a:latin typeface="Calibri"/>
                <a:cs typeface="Calibri"/>
              </a:rPr>
              <a:t>“get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sz="3200" b="1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99"/>
                </a:solidFill>
                <a:latin typeface="Calibri"/>
                <a:cs typeface="Calibri"/>
              </a:rPr>
              <a:t>right”</a:t>
            </a:r>
            <a:r>
              <a:rPr sz="3200" b="1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3200" b="1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000099"/>
                </a:solidFill>
                <a:latin typeface="Calibri"/>
                <a:cs typeface="Calibri"/>
              </a:rPr>
              <a:t>first</a:t>
            </a:r>
            <a:r>
              <a:rPr sz="3200" b="1" spc="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99"/>
                </a:solidFill>
                <a:latin typeface="Calibri"/>
                <a:cs typeface="Calibri"/>
              </a:rPr>
              <a:t>time,</a:t>
            </a:r>
            <a:endParaRPr sz="32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545"/>
              </a:spcBef>
              <a:tabLst>
                <a:tab pos="5475605" algn="l"/>
              </a:tabLst>
            </a:pPr>
            <a:r>
              <a:rPr sz="3200" spc="-50" dirty="0">
                <a:latin typeface="Arial MT"/>
                <a:cs typeface="Arial MT"/>
              </a:rPr>
              <a:t>–</a:t>
            </a:r>
            <a:r>
              <a:rPr sz="3200" spc="-50" dirty="0">
                <a:latin typeface="Calibri"/>
                <a:cs typeface="Calibri"/>
              </a:rPr>
              <a:t>We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must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plan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throw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away	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25" dirty="0">
                <a:latin typeface="Calibri"/>
                <a:cs typeface="Calibri"/>
              </a:rPr>
              <a:t> first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version:</a:t>
            </a:r>
            <a:endParaRPr sz="32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2445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-10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want 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good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software.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0250" y="166192"/>
            <a:ext cx="3071495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dirty="0"/>
              <a:t>Prototyping</a:t>
            </a:r>
            <a:r>
              <a:rPr sz="3050" spc="-125" dirty="0"/>
              <a:t> </a:t>
            </a:r>
            <a:r>
              <a:rPr sz="3050" spc="10" dirty="0"/>
              <a:t>Model</a:t>
            </a:r>
            <a:endParaRPr sz="305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484895"/>
            <a:ext cx="5691505" cy="130619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245110" algn="l"/>
              </a:tabLst>
            </a:pPr>
            <a:r>
              <a:rPr sz="2800" spc="-5" dirty="0">
                <a:latin typeface="Calibri"/>
                <a:cs typeface="Calibri"/>
              </a:rPr>
              <a:t>Start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5" dirty="0">
                <a:latin typeface="Calibri"/>
                <a:cs typeface="Calibri"/>
              </a:rPr>
              <a:t> approximate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requirements.</a:t>
            </a:r>
            <a:endParaRPr sz="28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45110" algn="l"/>
              </a:tabLst>
            </a:pPr>
            <a:r>
              <a:rPr sz="2800" spc="5" dirty="0">
                <a:latin typeface="Calibri"/>
                <a:cs typeface="Calibri"/>
              </a:rPr>
              <a:t>Carry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quick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design.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11" y="1764696"/>
            <a:ext cx="6393180" cy="130746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45110" algn="l"/>
                <a:tab pos="4819015" algn="l"/>
              </a:tabLst>
            </a:pPr>
            <a:r>
              <a:rPr sz="2800" spc="-10" dirty="0">
                <a:latin typeface="Calibri"/>
                <a:cs typeface="Calibri"/>
              </a:rPr>
              <a:t>P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2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oty</a:t>
            </a:r>
            <a:r>
              <a:rPr sz="2800" spc="-10" dirty="0">
                <a:latin typeface="Calibri"/>
                <a:cs typeface="Calibri"/>
              </a:rPr>
              <a:t>p</a:t>
            </a:r>
            <a:r>
              <a:rPr sz="2800" spc="5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</a:t>
            </a:r>
            <a:r>
              <a:rPr sz="2800" dirty="0">
                <a:latin typeface="Calibri"/>
                <a:cs typeface="Calibri"/>
              </a:rPr>
              <a:t>ilt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</a:t>
            </a:r>
            <a:r>
              <a:rPr sz="2800" spc="-5" dirty="0">
                <a:latin typeface="Calibri"/>
                <a:cs typeface="Calibri"/>
              </a:rPr>
              <a:t>sin</a:t>
            </a:r>
            <a:r>
              <a:rPr sz="2800" dirty="0">
                <a:latin typeface="Calibri"/>
                <a:cs typeface="Calibri"/>
              </a:rPr>
              <a:t>g </a:t>
            </a:r>
            <a:r>
              <a:rPr sz="2800" spc="5" dirty="0">
                <a:latin typeface="Calibri"/>
                <a:cs typeface="Calibri"/>
              </a:rPr>
              <a:t>s</a:t>
            </a:r>
            <a:r>
              <a:rPr sz="2800" spc="-25" dirty="0">
                <a:latin typeface="Calibri"/>
                <a:cs typeface="Calibri"/>
              </a:rPr>
              <a:t>ev</a:t>
            </a:r>
            <a:r>
              <a:rPr sz="2800" spc="5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al	</a:t>
            </a:r>
            <a:r>
              <a:rPr sz="2800" spc="-5" dirty="0">
                <a:latin typeface="Calibri"/>
                <a:cs typeface="Calibri"/>
              </a:rPr>
              <a:t>shor</a:t>
            </a:r>
            <a:r>
              <a:rPr sz="2800" spc="10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15" dirty="0">
                <a:latin typeface="Calibri"/>
                <a:cs typeface="Calibri"/>
              </a:rPr>
              <a:t>cu</a:t>
            </a:r>
            <a:r>
              <a:rPr sz="2800" dirty="0">
                <a:latin typeface="Calibri"/>
                <a:cs typeface="Calibri"/>
              </a:rPr>
              <a:t>ts: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68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Short-cuts </a:t>
            </a:r>
            <a:r>
              <a:rPr sz="2800" spc="-10" dirty="0">
                <a:latin typeface="Calibri"/>
                <a:cs typeface="Calibri"/>
              </a:rPr>
              <a:t>might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involve: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8" y="3063747"/>
            <a:ext cx="8211820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67640" indent="-15557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168275" algn="l"/>
                <a:tab pos="3812540" algn="l"/>
              </a:tabLst>
            </a:pP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inefficient,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inaccurate,	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dummy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functions.</a:t>
            </a:r>
            <a:endParaRPr sz="24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168275" algn="l"/>
                <a:tab pos="481330" algn="l"/>
              </a:tabLst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	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table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look-up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rather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than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performing</a:t>
            </a:r>
            <a:r>
              <a:rPr sz="24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 actual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computations.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31950" y="2461958"/>
            <a:ext cx="1433195" cy="373380"/>
            <a:chOff x="7731950" y="2461958"/>
            <a:chExt cx="1433195" cy="373380"/>
          </a:xfrm>
        </p:grpSpPr>
        <p:sp>
          <p:nvSpPr>
            <p:cNvPr id="7" name="object 7"/>
            <p:cNvSpPr/>
            <p:nvPr/>
          </p:nvSpPr>
          <p:spPr>
            <a:xfrm>
              <a:off x="7752588" y="2482595"/>
              <a:ext cx="1391920" cy="1905"/>
            </a:xfrm>
            <a:custGeom>
              <a:avLst/>
              <a:gdLst/>
              <a:ahLst/>
              <a:cxnLst/>
              <a:rect l="l" t="t" r="r" b="b"/>
              <a:pathLst>
                <a:path w="1391920" h="1905">
                  <a:moveTo>
                    <a:pt x="-19811" y="698"/>
                  </a:moveTo>
                  <a:lnTo>
                    <a:pt x="1411223" y="698"/>
                  </a:lnTo>
                </a:path>
              </a:pathLst>
            </a:custGeom>
            <a:ln w="41020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2588" y="2483992"/>
              <a:ext cx="1391920" cy="330835"/>
            </a:xfrm>
            <a:custGeom>
              <a:avLst/>
              <a:gdLst/>
              <a:ahLst/>
              <a:cxnLst/>
              <a:rect l="l" t="t" r="r" b="b"/>
              <a:pathLst>
                <a:path w="1391920" h="330835">
                  <a:moveTo>
                    <a:pt x="1391411" y="330835"/>
                  </a:moveTo>
                  <a:lnTo>
                    <a:pt x="1396" y="330835"/>
                  </a:lnTo>
                  <a:lnTo>
                    <a:pt x="634" y="330835"/>
                  </a:lnTo>
                  <a:lnTo>
                    <a:pt x="0" y="330200"/>
                  </a:lnTo>
                  <a:lnTo>
                    <a:pt x="0" y="329438"/>
                  </a:lnTo>
                  <a:lnTo>
                    <a:pt x="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11723" y="345947"/>
            <a:ext cx="1786255" cy="332740"/>
          </a:xfrm>
          <a:prstGeom prst="rect">
            <a:avLst/>
          </a:prstGeom>
          <a:solidFill>
            <a:srgbClr val="FFFF99"/>
          </a:solidFill>
          <a:ln w="40258">
            <a:solidFill>
              <a:srgbClr val="0033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70"/>
              </a:spcBef>
            </a:pPr>
            <a:r>
              <a:rPr sz="1200" b="1" dirty="0">
                <a:latin typeface="Comic Sans MS"/>
                <a:cs typeface="Comic Sans MS"/>
              </a:rPr>
              <a:t>Prototype</a:t>
            </a:r>
            <a:r>
              <a:rPr sz="1200" b="1" spc="-85" dirty="0">
                <a:latin typeface="Comic Sans MS"/>
                <a:cs typeface="Comic Sans MS"/>
              </a:rPr>
              <a:t> </a:t>
            </a:r>
            <a:r>
              <a:rPr sz="1200" b="1" spc="-5" dirty="0">
                <a:latin typeface="Comic Sans MS"/>
                <a:cs typeface="Comic Sans MS"/>
              </a:rPr>
              <a:t>Construction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3452" y="879347"/>
            <a:ext cx="1405255" cy="332740"/>
          </a:xfrm>
          <a:prstGeom prst="rect">
            <a:avLst/>
          </a:prstGeom>
          <a:solidFill>
            <a:srgbClr val="FFFF99"/>
          </a:solidFill>
          <a:ln w="40258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8165">
              <a:lnSpc>
                <a:spcPts val="1639"/>
              </a:lnSpc>
            </a:pPr>
            <a:r>
              <a:rPr sz="1400" b="1" spc="-10" dirty="0">
                <a:latin typeface="Comic Sans MS"/>
                <a:cs typeface="Comic Sans MS"/>
              </a:rPr>
              <a:t>Design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71131" y="1412747"/>
            <a:ext cx="1408430" cy="332740"/>
          </a:xfrm>
          <a:prstGeom prst="rect">
            <a:avLst/>
          </a:prstGeom>
          <a:solidFill>
            <a:srgbClr val="FFFF99"/>
          </a:solidFill>
          <a:ln w="40258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6905">
              <a:lnSpc>
                <a:spcPts val="1639"/>
              </a:lnSpc>
            </a:pPr>
            <a:r>
              <a:rPr sz="1400" b="1" spc="-10" dirty="0">
                <a:latin typeface="Comic Sans MS"/>
                <a:cs typeface="Comic Sans MS"/>
              </a:rPr>
              <a:t>Coding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61859" y="1949195"/>
            <a:ext cx="1408430" cy="332740"/>
          </a:xfrm>
          <a:prstGeom prst="rect">
            <a:avLst/>
          </a:prstGeom>
          <a:solidFill>
            <a:srgbClr val="FFFF99"/>
          </a:solidFill>
          <a:ln w="40258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0695">
              <a:lnSpc>
                <a:spcPts val="1620"/>
              </a:lnSpc>
            </a:pPr>
            <a:r>
              <a:rPr sz="1400" b="1" spc="-15" dirty="0">
                <a:latin typeface="Comic Sans MS"/>
                <a:cs typeface="Comic Sans MS"/>
              </a:rPr>
              <a:t>Testing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72717" y="2503804"/>
            <a:ext cx="1371600" cy="291465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0" rIns="0" bIns="0" rtlCol="0">
            <a:spAutoFit/>
          </a:bodyPr>
          <a:lstStyle/>
          <a:p>
            <a:pPr marL="304800">
              <a:lnSpc>
                <a:spcPts val="1470"/>
              </a:lnSpc>
            </a:pPr>
            <a:r>
              <a:rPr sz="1400" b="1" spc="-10" dirty="0">
                <a:latin typeface="Comic Sans MS"/>
                <a:cs typeface="Comic Sans MS"/>
              </a:rPr>
              <a:t>Maintenance</a:t>
            </a:r>
            <a:endParaRPr sz="14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0900" y="527303"/>
            <a:ext cx="244475" cy="352425"/>
            <a:chOff x="7200900" y="527303"/>
            <a:chExt cx="244475" cy="352425"/>
          </a:xfrm>
        </p:grpSpPr>
        <p:sp>
          <p:nvSpPr>
            <p:cNvPr id="15" name="object 15"/>
            <p:cNvSpPr/>
            <p:nvPr/>
          </p:nvSpPr>
          <p:spPr>
            <a:xfrm>
              <a:off x="7200900" y="54711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26248" y="546988"/>
              <a:ext cx="119380" cy="332740"/>
            </a:xfrm>
            <a:custGeom>
              <a:avLst/>
              <a:gdLst/>
              <a:ahLst/>
              <a:cxnLst/>
              <a:rect l="l" t="t" r="r" b="b"/>
              <a:pathLst>
                <a:path w="119379" h="332740">
                  <a:moveTo>
                    <a:pt x="39694" y="213655"/>
                  </a:moveTo>
                  <a:lnTo>
                    <a:pt x="0" y="213995"/>
                  </a:lnTo>
                  <a:lnTo>
                    <a:pt x="60578" y="332359"/>
                  </a:lnTo>
                  <a:lnTo>
                    <a:pt x="108887" y="233425"/>
                  </a:lnTo>
                  <a:lnTo>
                    <a:pt x="39877" y="233425"/>
                  </a:lnTo>
                  <a:lnTo>
                    <a:pt x="39694" y="213655"/>
                  </a:lnTo>
                  <a:close/>
                </a:path>
                <a:path w="119379" h="332740">
                  <a:moveTo>
                    <a:pt x="79318" y="213317"/>
                  </a:moveTo>
                  <a:lnTo>
                    <a:pt x="39694" y="213655"/>
                  </a:lnTo>
                  <a:lnTo>
                    <a:pt x="39877" y="233425"/>
                  </a:lnTo>
                  <a:lnTo>
                    <a:pt x="79501" y="233172"/>
                  </a:lnTo>
                  <a:lnTo>
                    <a:pt x="79318" y="213317"/>
                  </a:lnTo>
                  <a:close/>
                </a:path>
                <a:path w="119379" h="332740">
                  <a:moveTo>
                    <a:pt x="118872" y="212979"/>
                  </a:moveTo>
                  <a:lnTo>
                    <a:pt x="79318" y="213317"/>
                  </a:lnTo>
                  <a:lnTo>
                    <a:pt x="79501" y="233172"/>
                  </a:lnTo>
                  <a:lnTo>
                    <a:pt x="39877" y="233425"/>
                  </a:lnTo>
                  <a:lnTo>
                    <a:pt x="108887" y="233425"/>
                  </a:lnTo>
                  <a:lnTo>
                    <a:pt x="118872" y="212979"/>
                  </a:lnTo>
                  <a:close/>
                </a:path>
                <a:path w="119379" h="332740">
                  <a:moveTo>
                    <a:pt x="77343" y="0"/>
                  </a:moveTo>
                  <a:lnTo>
                    <a:pt x="37719" y="254"/>
                  </a:lnTo>
                  <a:lnTo>
                    <a:pt x="39694" y="213655"/>
                  </a:lnTo>
                  <a:lnTo>
                    <a:pt x="79318" y="213317"/>
                  </a:lnTo>
                  <a:lnTo>
                    <a:pt x="77343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691628" y="1060703"/>
            <a:ext cx="244475" cy="352425"/>
            <a:chOff x="7691628" y="1060703"/>
            <a:chExt cx="244475" cy="352425"/>
          </a:xfrm>
        </p:grpSpPr>
        <p:sp>
          <p:nvSpPr>
            <p:cNvPr id="18" name="object 18"/>
            <p:cNvSpPr/>
            <p:nvPr/>
          </p:nvSpPr>
          <p:spPr>
            <a:xfrm>
              <a:off x="7691628" y="108051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16977" y="1080388"/>
              <a:ext cx="119380" cy="332740"/>
            </a:xfrm>
            <a:custGeom>
              <a:avLst/>
              <a:gdLst/>
              <a:ahLst/>
              <a:cxnLst/>
              <a:rect l="l" t="t" r="r" b="b"/>
              <a:pathLst>
                <a:path w="119379" h="332740">
                  <a:moveTo>
                    <a:pt x="39694" y="213655"/>
                  </a:moveTo>
                  <a:lnTo>
                    <a:pt x="0" y="213995"/>
                  </a:lnTo>
                  <a:lnTo>
                    <a:pt x="60578" y="332359"/>
                  </a:lnTo>
                  <a:lnTo>
                    <a:pt x="108887" y="233425"/>
                  </a:lnTo>
                  <a:lnTo>
                    <a:pt x="39877" y="233425"/>
                  </a:lnTo>
                  <a:lnTo>
                    <a:pt x="39694" y="213655"/>
                  </a:lnTo>
                  <a:close/>
                </a:path>
                <a:path w="119379" h="332740">
                  <a:moveTo>
                    <a:pt x="79318" y="213317"/>
                  </a:moveTo>
                  <a:lnTo>
                    <a:pt x="39694" y="213655"/>
                  </a:lnTo>
                  <a:lnTo>
                    <a:pt x="39877" y="233425"/>
                  </a:lnTo>
                  <a:lnTo>
                    <a:pt x="79501" y="233172"/>
                  </a:lnTo>
                  <a:lnTo>
                    <a:pt x="79318" y="213317"/>
                  </a:lnTo>
                  <a:close/>
                </a:path>
                <a:path w="119379" h="332740">
                  <a:moveTo>
                    <a:pt x="118872" y="212979"/>
                  </a:moveTo>
                  <a:lnTo>
                    <a:pt x="79318" y="213317"/>
                  </a:lnTo>
                  <a:lnTo>
                    <a:pt x="79501" y="233172"/>
                  </a:lnTo>
                  <a:lnTo>
                    <a:pt x="39877" y="233425"/>
                  </a:lnTo>
                  <a:lnTo>
                    <a:pt x="108887" y="233425"/>
                  </a:lnTo>
                  <a:lnTo>
                    <a:pt x="118872" y="212979"/>
                  </a:lnTo>
                  <a:close/>
                </a:path>
                <a:path w="119379" h="332740">
                  <a:moveTo>
                    <a:pt x="77343" y="0"/>
                  </a:moveTo>
                  <a:lnTo>
                    <a:pt x="37719" y="254"/>
                  </a:lnTo>
                  <a:lnTo>
                    <a:pt x="39694" y="213655"/>
                  </a:lnTo>
                  <a:lnTo>
                    <a:pt x="79318" y="213317"/>
                  </a:lnTo>
                  <a:lnTo>
                    <a:pt x="77343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162543" y="1594103"/>
            <a:ext cx="262255" cy="355600"/>
            <a:chOff x="8162543" y="1594103"/>
            <a:chExt cx="262255" cy="355600"/>
          </a:xfrm>
        </p:grpSpPr>
        <p:sp>
          <p:nvSpPr>
            <p:cNvPr id="21" name="object 21"/>
            <p:cNvSpPr/>
            <p:nvPr/>
          </p:nvSpPr>
          <p:spPr>
            <a:xfrm>
              <a:off x="8182355" y="1613915"/>
              <a:ext cx="182880" cy="3175"/>
            </a:xfrm>
            <a:custGeom>
              <a:avLst/>
              <a:gdLst/>
              <a:ahLst/>
              <a:cxnLst/>
              <a:rect l="l" t="t" r="r" b="b"/>
              <a:pathLst>
                <a:path w="182879" h="3175">
                  <a:moveTo>
                    <a:pt x="-19811" y="1524"/>
                  </a:moveTo>
                  <a:lnTo>
                    <a:pt x="202692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05799" y="1613915"/>
              <a:ext cx="119380" cy="335280"/>
            </a:xfrm>
            <a:custGeom>
              <a:avLst/>
              <a:gdLst/>
              <a:ahLst/>
              <a:cxnLst/>
              <a:rect l="l" t="t" r="r" b="b"/>
              <a:pathLst>
                <a:path w="119379" h="335280">
                  <a:moveTo>
                    <a:pt x="39624" y="216408"/>
                  </a:moveTo>
                  <a:lnTo>
                    <a:pt x="0" y="216408"/>
                  </a:lnTo>
                  <a:lnTo>
                    <a:pt x="59435" y="335280"/>
                  </a:lnTo>
                  <a:lnTo>
                    <a:pt x="108966" y="236220"/>
                  </a:lnTo>
                  <a:lnTo>
                    <a:pt x="39624" y="236220"/>
                  </a:lnTo>
                  <a:lnTo>
                    <a:pt x="39624" y="216408"/>
                  </a:lnTo>
                  <a:close/>
                </a:path>
                <a:path w="119379" h="335280">
                  <a:moveTo>
                    <a:pt x="79248" y="0"/>
                  </a:moveTo>
                  <a:lnTo>
                    <a:pt x="39624" y="0"/>
                  </a:lnTo>
                  <a:lnTo>
                    <a:pt x="39624" y="236220"/>
                  </a:lnTo>
                  <a:lnTo>
                    <a:pt x="79248" y="236220"/>
                  </a:lnTo>
                  <a:lnTo>
                    <a:pt x="79248" y="0"/>
                  </a:lnTo>
                  <a:close/>
                </a:path>
                <a:path w="119379" h="335280">
                  <a:moveTo>
                    <a:pt x="118872" y="216408"/>
                  </a:moveTo>
                  <a:lnTo>
                    <a:pt x="79248" y="216408"/>
                  </a:lnTo>
                  <a:lnTo>
                    <a:pt x="79248" y="236220"/>
                  </a:lnTo>
                  <a:lnTo>
                    <a:pt x="108966" y="236220"/>
                  </a:lnTo>
                  <a:lnTo>
                    <a:pt x="118872" y="216408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467855" y="1211579"/>
            <a:ext cx="2447925" cy="1489075"/>
            <a:chOff x="6467855" y="1211579"/>
            <a:chExt cx="2447925" cy="1489075"/>
          </a:xfrm>
        </p:grpSpPr>
        <p:sp>
          <p:nvSpPr>
            <p:cNvPr id="24" name="object 24"/>
            <p:cNvSpPr/>
            <p:nvPr/>
          </p:nvSpPr>
          <p:spPr>
            <a:xfrm>
              <a:off x="8673083" y="2080259"/>
              <a:ext cx="182880" cy="3175"/>
            </a:xfrm>
            <a:custGeom>
              <a:avLst/>
              <a:gdLst/>
              <a:ahLst/>
              <a:cxnLst/>
              <a:rect l="l" t="t" r="r" b="b"/>
              <a:pathLst>
                <a:path w="182879" h="3175">
                  <a:moveTo>
                    <a:pt x="-19811" y="1524"/>
                  </a:moveTo>
                  <a:lnTo>
                    <a:pt x="202692" y="1524"/>
                  </a:lnTo>
                </a:path>
              </a:pathLst>
            </a:custGeom>
            <a:ln w="42671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67856" y="1211579"/>
              <a:ext cx="2447925" cy="1472565"/>
            </a:xfrm>
            <a:custGeom>
              <a:avLst/>
              <a:gdLst/>
              <a:ahLst/>
              <a:cxnLst/>
              <a:rect l="l" t="t" r="r" b="b"/>
              <a:pathLst>
                <a:path w="2447925" h="1472564">
                  <a:moveTo>
                    <a:pt x="118872" y="118872"/>
                  </a:moveTo>
                  <a:lnTo>
                    <a:pt x="108966" y="99060"/>
                  </a:lnTo>
                  <a:lnTo>
                    <a:pt x="59436" y="0"/>
                  </a:lnTo>
                  <a:lnTo>
                    <a:pt x="0" y="118872"/>
                  </a:lnTo>
                  <a:lnTo>
                    <a:pt x="39624" y="118872"/>
                  </a:lnTo>
                  <a:lnTo>
                    <a:pt x="39624" y="1353324"/>
                  </a:lnTo>
                  <a:lnTo>
                    <a:pt x="0" y="1353324"/>
                  </a:lnTo>
                  <a:lnTo>
                    <a:pt x="59436" y="1472184"/>
                  </a:lnTo>
                  <a:lnTo>
                    <a:pt x="108966" y="1373124"/>
                  </a:lnTo>
                  <a:lnTo>
                    <a:pt x="118872" y="1353324"/>
                  </a:lnTo>
                  <a:lnTo>
                    <a:pt x="79248" y="1353324"/>
                  </a:lnTo>
                  <a:lnTo>
                    <a:pt x="79248" y="118872"/>
                  </a:lnTo>
                  <a:lnTo>
                    <a:pt x="118872" y="118872"/>
                  </a:lnTo>
                  <a:close/>
                </a:path>
                <a:path w="2447925" h="1472564">
                  <a:moveTo>
                    <a:pt x="548640" y="655320"/>
                  </a:moveTo>
                  <a:lnTo>
                    <a:pt x="538734" y="635508"/>
                  </a:lnTo>
                  <a:lnTo>
                    <a:pt x="489204" y="536448"/>
                  </a:lnTo>
                  <a:lnTo>
                    <a:pt x="429768" y="655320"/>
                  </a:lnTo>
                  <a:lnTo>
                    <a:pt x="469392" y="655320"/>
                  </a:lnTo>
                  <a:lnTo>
                    <a:pt x="469392" y="1353312"/>
                  </a:lnTo>
                  <a:lnTo>
                    <a:pt x="429768" y="1353312"/>
                  </a:lnTo>
                  <a:lnTo>
                    <a:pt x="489204" y="1472184"/>
                  </a:lnTo>
                  <a:lnTo>
                    <a:pt x="538734" y="1373124"/>
                  </a:lnTo>
                  <a:lnTo>
                    <a:pt x="548640" y="1353312"/>
                  </a:lnTo>
                  <a:lnTo>
                    <a:pt x="509016" y="1353312"/>
                  </a:lnTo>
                  <a:lnTo>
                    <a:pt x="509016" y="655320"/>
                  </a:lnTo>
                  <a:lnTo>
                    <a:pt x="548640" y="655320"/>
                  </a:lnTo>
                  <a:close/>
                </a:path>
                <a:path w="2447925" h="1472564">
                  <a:moveTo>
                    <a:pt x="1038479" y="1189228"/>
                  </a:moveTo>
                  <a:lnTo>
                    <a:pt x="1028446" y="1168781"/>
                  </a:lnTo>
                  <a:lnTo>
                    <a:pt x="979932" y="1069848"/>
                  </a:lnTo>
                  <a:lnTo>
                    <a:pt x="919607" y="1188212"/>
                  </a:lnTo>
                  <a:lnTo>
                    <a:pt x="959205" y="1188554"/>
                  </a:lnTo>
                  <a:lnTo>
                    <a:pt x="957973" y="1353146"/>
                  </a:lnTo>
                  <a:lnTo>
                    <a:pt x="918337" y="1352804"/>
                  </a:lnTo>
                  <a:lnTo>
                    <a:pt x="976884" y="1472184"/>
                  </a:lnTo>
                  <a:lnTo>
                    <a:pt x="1027303" y="1373251"/>
                  </a:lnTo>
                  <a:lnTo>
                    <a:pt x="1037209" y="1353820"/>
                  </a:lnTo>
                  <a:lnTo>
                    <a:pt x="997597" y="1353489"/>
                  </a:lnTo>
                  <a:lnTo>
                    <a:pt x="998829" y="1188897"/>
                  </a:lnTo>
                  <a:lnTo>
                    <a:pt x="1038479" y="1189228"/>
                  </a:lnTo>
                  <a:close/>
                </a:path>
                <a:path w="2447925" h="1472564">
                  <a:moveTo>
                    <a:pt x="2447544" y="1152144"/>
                  </a:moveTo>
                  <a:lnTo>
                    <a:pt x="2407920" y="1152144"/>
                  </a:lnTo>
                  <a:lnTo>
                    <a:pt x="2407920" y="868680"/>
                  </a:lnTo>
                  <a:lnTo>
                    <a:pt x="2368296" y="868680"/>
                  </a:lnTo>
                  <a:lnTo>
                    <a:pt x="2368296" y="1152144"/>
                  </a:lnTo>
                  <a:lnTo>
                    <a:pt x="2328672" y="1152144"/>
                  </a:lnTo>
                  <a:lnTo>
                    <a:pt x="2388108" y="1271016"/>
                  </a:lnTo>
                  <a:lnTo>
                    <a:pt x="2437638" y="1171956"/>
                  </a:lnTo>
                  <a:lnTo>
                    <a:pt x="2447544" y="1152144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27291" y="2668523"/>
              <a:ext cx="1225550" cy="12700"/>
            </a:xfrm>
            <a:custGeom>
              <a:avLst/>
              <a:gdLst/>
              <a:ahLst/>
              <a:cxnLst/>
              <a:rect l="l" t="t" r="r" b="b"/>
              <a:pathLst>
                <a:path w="1225550" h="12700">
                  <a:moveTo>
                    <a:pt x="1225296" y="12192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9846" y="271348"/>
            <a:ext cx="3647440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dirty="0"/>
              <a:t>Prototyping</a:t>
            </a:r>
            <a:r>
              <a:rPr sz="3050" spc="-100" dirty="0"/>
              <a:t> </a:t>
            </a:r>
            <a:r>
              <a:rPr sz="3050" spc="5" dirty="0"/>
              <a:t>Model</a:t>
            </a:r>
            <a:r>
              <a:rPr sz="3050" spc="-50" dirty="0"/>
              <a:t> </a:t>
            </a:r>
            <a:r>
              <a:rPr sz="1200" spc="-5" dirty="0"/>
              <a:t>(CONT.)</a:t>
            </a:r>
            <a:endParaRPr sz="120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6816" y="1325372"/>
            <a:ext cx="113347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Requirements</a:t>
            </a:r>
            <a:endParaRPr sz="1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Gathering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3929" y="1513712"/>
            <a:ext cx="111315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Quick</a:t>
            </a:r>
            <a:r>
              <a:rPr sz="1350" b="1" spc="-7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Design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5594" y="2265680"/>
            <a:ext cx="1133475" cy="4076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1370"/>
              </a:lnSpc>
              <a:spcBef>
                <a:spcPts val="370"/>
              </a:spcBef>
            </a:pP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Refine </a:t>
            </a:r>
            <a:r>
              <a:rPr sz="1350" b="1" spc="10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350" b="1" spc="-5" dirty="0">
                <a:solidFill>
                  <a:srgbClr val="0033CC"/>
                </a:solidFill>
                <a:latin typeface="Comic Sans MS"/>
                <a:cs typeface="Comic Sans MS"/>
              </a:rPr>
              <a:t>R</a:t>
            </a: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e</a:t>
            </a:r>
            <a:r>
              <a:rPr sz="1350" b="1" spc="15" dirty="0">
                <a:solidFill>
                  <a:srgbClr val="0033CC"/>
                </a:solidFill>
                <a:latin typeface="Comic Sans MS"/>
                <a:cs typeface="Comic Sans MS"/>
              </a:rPr>
              <a:t>q</a:t>
            </a:r>
            <a:r>
              <a:rPr sz="1350" b="1" spc="10" dirty="0">
                <a:solidFill>
                  <a:srgbClr val="0033CC"/>
                </a:solidFill>
                <a:latin typeface="Comic Sans MS"/>
                <a:cs typeface="Comic Sans MS"/>
              </a:rPr>
              <a:t>u</a:t>
            </a:r>
            <a:r>
              <a:rPr sz="1350" b="1" dirty="0">
                <a:solidFill>
                  <a:srgbClr val="0033CC"/>
                </a:solidFill>
                <a:latin typeface="Comic Sans MS"/>
                <a:cs typeface="Comic Sans MS"/>
              </a:rPr>
              <a:t>i</a:t>
            </a:r>
            <a:r>
              <a:rPr sz="1350" b="1" spc="-5" dirty="0">
                <a:solidFill>
                  <a:srgbClr val="0033CC"/>
                </a:solidFill>
                <a:latin typeface="Comic Sans MS"/>
                <a:cs typeface="Comic Sans MS"/>
              </a:rPr>
              <a:t>r</a:t>
            </a: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emen</a:t>
            </a:r>
            <a:r>
              <a:rPr sz="1350" b="1" dirty="0">
                <a:solidFill>
                  <a:srgbClr val="0033CC"/>
                </a:solidFill>
                <a:latin typeface="Comic Sans MS"/>
                <a:cs typeface="Comic Sans MS"/>
              </a:rPr>
              <a:t>ts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1233" y="497585"/>
            <a:ext cx="130429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Build</a:t>
            </a:r>
            <a:r>
              <a:rPr sz="1350" b="1" spc="-90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Prototype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4472" y="1242186"/>
            <a:ext cx="1112520" cy="58483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85200"/>
              </a:lnSpc>
              <a:spcBef>
                <a:spcPts val="355"/>
              </a:spcBef>
            </a:pP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Customer </a:t>
            </a:r>
            <a:r>
              <a:rPr sz="1350" b="1" spc="10" dirty="0">
                <a:solidFill>
                  <a:srgbClr val="0033CC"/>
                </a:solidFill>
                <a:latin typeface="Comic Sans MS"/>
                <a:cs typeface="Comic Sans MS"/>
              </a:rPr>
              <a:t> Evalua</a:t>
            </a:r>
            <a:r>
              <a:rPr sz="1350" b="1" dirty="0">
                <a:solidFill>
                  <a:srgbClr val="0033CC"/>
                </a:solidFill>
                <a:latin typeface="Comic Sans MS"/>
                <a:cs typeface="Comic Sans MS"/>
              </a:rPr>
              <a:t>t</a:t>
            </a: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ion</a:t>
            </a:r>
            <a:r>
              <a:rPr sz="1350" b="1" spc="-80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350" b="1" spc="5" dirty="0">
                <a:solidFill>
                  <a:srgbClr val="0033CC"/>
                </a:solidFill>
                <a:latin typeface="Comic Sans MS"/>
                <a:cs typeface="Comic Sans MS"/>
              </a:rPr>
              <a:t>of  Prototype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68652" y="1575053"/>
            <a:ext cx="454659" cy="119380"/>
          </a:xfrm>
          <a:custGeom>
            <a:avLst/>
            <a:gdLst/>
            <a:ahLst/>
            <a:cxnLst/>
            <a:rect l="l" t="t" r="r" b="b"/>
            <a:pathLst>
              <a:path w="454660" h="119380">
                <a:moveTo>
                  <a:pt x="335788" y="0"/>
                </a:moveTo>
                <a:lnTo>
                  <a:pt x="335534" y="39616"/>
                </a:lnTo>
                <a:lnTo>
                  <a:pt x="355346" y="39750"/>
                </a:lnTo>
                <a:lnTo>
                  <a:pt x="355092" y="79375"/>
                </a:lnTo>
                <a:lnTo>
                  <a:pt x="335279" y="79375"/>
                </a:lnTo>
                <a:lnTo>
                  <a:pt x="335026" y="118872"/>
                </a:lnTo>
                <a:lnTo>
                  <a:pt x="415302" y="79375"/>
                </a:lnTo>
                <a:lnTo>
                  <a:pt x="355092" y="79375"/>
                </a:lnTo>
                <a:lnTo>
                  <a:pt x="415576" y="79240"/>
                </a:lnTo>
                <a:lnTo>
                  <a:pt x="454279" y="60198"/>
                </a:lnTo>
                <a:lnTo>
                  <a:pt x="335788" y="0"/>
                </a:lnTo>
                <a:close/>
              </a:path>
              <a:path w="454660" h="119380">
                <a:moveTo>
                  <a:pt x="335534" y="39616"/>
                </a:moveTo>
                <a:lnTo>
                  <a:pt x="335280" y="79240"/>
                </a:lnTo>
                <a:lnTo>
                  <a:pt x="355092" y="79375"/>
                </a:lnTo>
                <a:lnTo>
                  <a:pt x="355346" y="39750"/>
                </a:lnTo>
                <a:lnTo>
                  <a:pt x="335534" y="39616"/>
                </a:lnTo>
                <a:close/>
              </a:path>
              <a:path w="454660" h="119380">
                <a:moveTo>
                  <a:pt x="254" y="37337"/>
                </a:moveTo>
                <a:lnTo>
                  <a:pt x="0" y="76962"/>
                </a:lnTo>
                <a:lnTo>
                  <a:pt x="335280" y="79240"/>
                </a:lnTo>
                <a:lnTo>
                  <a:pt x="335534" y="39616"/>
                </a:lnTo>
                <a:lnTo>
                  <a:pt x="254" y="37337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88844" y="775715"/>
            <a:ext cx="330200" cy="714375"/>
          </a:xfrm>
          <a:custGeom>
            <a:avLst/>
            <a:gdLst/>
            <a:ahLst/>
            <a:cxnLst/>
            <a:rect l="l" t="t" r="r" b="b"/>
            <a:pathLst>
              <a:path w="330200" h="714375">
                <a:moveTo>
                  <a:pt x="248503" y="88986"/>
                </a:moveTo>
                <a:lnTo>
                  <a:pt x="226949" y="122809"/>
                </a:lnTo>
                <a:lnTo>
                  <a:pt x="199517" y="167386"/>
                </a:lnTo>
                <a:lnTo>
                  <a:pt x="173355" y="212217"/>
                </a:lnTo>
                <a:lnTo>
                  <a:pt x="148589" y="257175"/>
                </a:lnTo>
                <a:lnTo>
                  <a:pt x="125603" y="302006"/>
                </a:lnTo>
                <a:lnTo>
                  <a:pt x="104648" y="347091"/>
                </a:lnTo>
                <a:lnTo>
                  <a:pt x="85979" y="392557"/>
                </a:lnTo>
                <a:lnTo>
                  <a:pt x="69723" y="437515"/>
                </a:lnTo>
                <a:lnTo>
                  <a:pt x="55118" y="482473"/>
                </a:lnTo>
                <a:lnTo>
                  <a:pt x="42291" y="527304"/>
                </a:lnTo>
                <a:lnTo>
                  <a:pt x="30480" y="572008"/>
                </a:lnTo>
                <a:lnTo>
                  <a:pt x="19812" y="616585"/>
                </a:lnTo>
                <a:lnTo>
                  <a:pt x="9779" y="661035"/>
                </a:lnTo>
                <a:lnTo>
                  <a:pt x="0" y="705485"/>
                </a:lnTo>
                <a:lnTo>
                  <a:pt x="38607" y="713994"/>
                </a:lnTo>
                <a:lnTo>
                  <a:pt x="48513" y="669544"/>
                </a:lnTo>
                <a:lnTo>
                  <a:pt x="58419" y="625348"/>
                </a:lnTo>
                <a:lnTo>
                  <a:pt x="69087" y="581279"/>
                </a:lnTo>
                <a:lnTo>
                  <a:pt x="80518" y="537337"/>
                </a:lnTo>
                <a:lnTo>
                  <a:pt x="93218" y="493395"/>
                </a:lnTo>
                <a:lnTo>
                  <a:pt x="107442" y="449834"/>
                </a:lnTo>
                <a:lnTo>
                  <a:pt x="123317" y="406019"/>
                </a:lnTo>
                <a:lnTo>
                  <a:pt x="141224" y="362712"/>
                </a:lnTo>
                <a:lnTo>
                  <a:pt x="161417" y="319024"/>
                </a:lnTo>
                <a:lnTo>
                  <a:pt x="183769" y="275082"/>
                </a:lnTo>
                <a:lnTo>
                  <a:pt x="208025" y="231267"/>
                </a:lnTo>
                <a:lnTo>
                  <a:pt x="233680" y="187452"/>
                </a:lnTo>
                <a:lnTo>
                  <a:pt x="260731" y="143510"/>
                </a:lnTo>
                <a:lnTo>
                  <a:pt x="281734" y="110576"/>
                </a:lnTo>
                <a:lnTo>
                  <a:pt x="248503" y="88986"/>
                </a:lnTo>
                <a:close/>
              </a:path>
              <a:path w="330200" h="714375">
                <a:moveTo>
                  <a:pt x="321548" y="72390"/>
                </a:moveTo>
                <a:lnTo>
                  <a:pt x="259080" y="72390"/>
                </a:lnTo>
                <a:lnTo>
                  <a:pt x="292481" y="93725"/>
                </a:lnTo>
                <a:lnTo>
                  <a:pt x="281734" y="110576"/>
                </a:lnTo>
                <a:lnTo>
                  <a:pt x="314832" y="132080"/>
                </a:lnTo>
                <a:lnTo>
                  <a:pt x="321548" y="72390"/>
                </a:lnTo>
                <a:close/>
              </a:path>
              <a:path w="330200" h="714375">
                <a:moveTo>
                  <a:pt x="259080" y="72390"/>
                </a:moveTo>
                <a:lnTo>
                  <a:pt x="248503" y="88986"/>
                </a:lnTo>
                <a:lnTo>
                  <a:pt x="281734" y="110576"/>
                </a:lnTo>
                <a:lnTo>
                  <a:pt x="292481" y="93725"/>
                </a:lnTo>
                <a:lnTo>
                  <a:pt x="259080" y="72390"/>
                </a:lnTo>
                <a:close/>
              </a:path>
              <a:path w="330200" h="714375">
                <a:moveTo>
                  <a:pt x="329692" y="0"/>
                </a:moveTo>
                <a:lnTo>
                  <a:pt x="215137" y="67310"/>
                </a:lnTo>
                <a:lnTo>
                  <a:pt x="248503" y="88986"/>
                </a:lnTo>
                <a:lnTo>
                  <a:pt x="259080" y="72390"/>
                </a:lnTo>
                <a:lnTo>
                  <a:pt x="321548" y="72390"/>
                </a:lnTo>
                <a:lnTo>
                  <a:pt x="329692" y="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25315" y="809497"/>
            <a:ext cx="426084" cy="447675"/>
          </a:xfrm>
          <a:custGeom>
            <a:avLst/>
            <a:gdLst/>
            <a:ahLst/>
            <a:cxnLst/>
            <a:rect l="l" t="t" r="r" b="b"/>
            <a:pathLst>
              <a:path w="426085" h="447675">
                <a:moveTo>
                  <a:pt x="347508" y="335287"/>
                </a:moveTo>
                <a:lnTo>
                  <a:pt x="309372" y="343280"/>
                </a:lnTo>
                <a:lnTo>
                  <a:pt x="391922" y="447421"/>
                </a:lnTo>
                <a:lnTo>
                  <a:pt x="416156" y="355218"/>
                </a:lnTo>
                <a:lnTo>
                  <a:pt x="352425" y="355218"/>
                </a:lnTo>
                <a:lnTo>
                  <a:pt x="347508" y="335287"/>
                </a:lnTo>
                <a:close/>
              </a:path>
              <a:path w="426085" h="447675">
                <a:moveTo>
                  <a:pt x="386286" y="327159"/>
                </a:moveTo>
                <a:lnTo>
                  <a:pt x="347508" y="335287"/>
                </a:lnTo>
                <a:lnTo>
                  <a:pt x="352425" y="355218"/>
                </a:lnTo>
                <a:lnTo>
                  <a:pt x="390906" y="345693"/>
                </a:lnTo>
                <a:lnTo>
                  <a:pt x="386286" y="327159"/>
                </a:lnTo>
                <a:close/>
              </a:path>
              <a:path w="426085" h="447675">
                <a:moveTo>
                  <a:pt x="425704" y="318897"/>
                </a:moveTo>
                <a:lnTo>
                  <a:pt x="386286" y="327159"/>
                </a:lnTo>
                <a:lnTo>
                  <a:pt x="390906" y="345693"/>
                </a:lnTo>
                <a:lnTo>
                  <a:pt x="352425" y="355218"/>
                </a:lnTo>
                <a:lnTo>
                  <a:pt x="416156" y="355218"/>
                </a:lnTo>
                <a:lnTo>
                  <a:pt x="425704" y="318897"/>
                </a:lnTo>
                <a:close/>
              </a:path>
              <a:path w="426085" h="447675">
                <a:moveTo>
                  <a:pt x="16256" y="0"/>
                </a:moveTo>
                <a:lnTo>
                  <a:pt x="0" y="36067"/>
                </a:lnTo>
                <a:lnTo>
                  <a:pt x="41910" y="54863"/>
                </a:lnTo>
                <a:lnTo>
                  <a:pt x="82931" y="73913"/>
                </a:lnTo>
                <a:lnTo>
                  <a:pt x="122809" y="93345"/>
                </a:lnTo>
                <a:lnTo>
                  <a:pt x="160655" y="113411"/>
                </a:lnTo>
                <a:lnTo>
                  <a:pt x="195961" y="134112"/>
                </a:lnTo>
                <a:lnTo>
                  <a:pt x="228219" y="156083"/>
                </a:lnTo>
                <a:lnTo>
                  <a:pt x="269875" y="191135"/>
                </a:lnTo>
                <a:lnTo>
                  <a:pt x="301751" y="229488"/>
                </a:lnTo>
                <a:lnTo>
                  <a:pt x="325500" y="271399"/>
                </a:lnTo>
                <a:lnTo>
                  <a:pt x="343026" y="317118"/>
                </a:lnTo>
                <a:lnTo>
                  <a:pt x="347508" y="335287"/>
                </a:lnTo>
                <a:lnTo>
                  <a:pt x="386286" y="327159"/>
                </a:lnTo>
                <a:lnTo>
                  <a:pt x="374776" y="287147"/>
                </a:lnTo>
                <a:lnTo>
                  <a:pt x="352806" y="237489"/>
                </a:lnTo>
                <a:lnTo>
                  <a:pt x="322453" y="190753"/>
                </a:lnTo>
                <a:lnTo>
                  <a:pt x="296799" y="162178"/>
                </a:lnTo>
                <a:lnTo>
                  <a:pt x="267208" y="135889"/>
                </a:lnTo>
                <a:lnTo>
                  <a:pt x="234187" y="111760"/>
                </a:lnTo>
                <a:lnTo>
                  <a:pt x="198247" y="89280"/>
                </a:lnTo>
                <a:lnTo>
                  <a:pt x="140081" y="57658"/>
                </a:lnTo>
                <a:lnTo>
                  <a:pt x="99568" y="37973"/>
                </a:lnTo>
                <a:lnTo>
                  <a:pt x="58166" y="18668"/>
                </a:lnTo>
                <a:lnTo>
                  <a:pt x="16256" y="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33444" y="1910206"/>
            <a:ext cx="454659" cy="465455"/>
          </a:xfrm>
          <a:custGeom>
            <a:avLst/>
            <a:gdLst/>
            <a:ahLst/>
            <a:cxnLst/>
            <a:rect l="l" t="t" r="r" b="b"/>
            <a:pathLst>
              <a:path w="454660" h="465455">
                <a:moveTo>
                  <a:pt x="78231" y="357759"/>
                </a:moveTo>
                <a:lnTo>
                  <a:pt x="0" y="465200"/>
                </a:lnTo>
                <a:lnTo>
                  <a:pt x="132841" y="463296"/>
                </a:lnTo>
                <a:lnTo>
                  <a:pt x="119304" y="437134"/>
                </a:lnTo>
                <a:lnTo>
                  <a:pt x="97281" y="437134"/>
                </a:lnTo>
                <a:lnTo>
                  <a:pt x="78739" y="402209"/>
                </a:lnTo>
                <a:lnTo>
                  <a:pt x="96373" y="392818"/>
                </a:lnTo>
                <a:lnTo>
                  <a:pt x="78231" y="357759"/>
                </a:lnTo>
                <a:close/>
              </a:path>
              <a:path w="454660" h="465455">
                <a:moveTo>
                  <a:pt x="96373" y="392818"/>
                </a:moveTo>
                <a:lnTo>
                  <a:pt x="78739" y="402209"/>
                </a:lnTo>
                <a:lnTo>
                  <a:pt x="97281" y="437134"/>
                </a:lnTo>
                <a:lnTo>
                  <a:pt x="114573" y="427991"/>
                </a:lnTo>
                <a:lnTo>
                  <a:pt x="96373" y="392818"/>
                </a:lnTo>
                <a:close/>
              </a:path>
              <a:path w="454660" h="465455">
                <a:moveTo>
                  <a:pt x="114573" y="427991"/>
                </a:moveTo>
                <a:lnTo>
                  <a:pt x="97281" y="437134"/>
                </a:lnTo>
                <a:lnTo>
                  <a:pt x="119304" y="437134"/>
                </a:lnTo>
                <a:lnTo>
                  <a:pt x="114573" y="427991"/>
                </a:lnTo>
                <a:close/>
              </a:path>
              <a:path w="454660" h="465455">
                <a:moveTo>
                  <a:pt x="416432" y="0"/>
                </a:moveTo>
                <a:lnTo>
                  <a:pt x="396113" y="69215"/>
                </a:lnTo>
                <a:lnTo>
                  <a:pt x="371982" y="135762"/>
                </a:lnTo>
                <a:lnTo>
                  <a:pt x="348995" y="182499"/>
                </a:lnTo>
                <a:lnTo>
                  <a:pt x="319785" y="226949"/>
                </a:lnTo>
                <a:lnTo>
                  <a:pt x="282701" y="268224"/>
                </a:lnTo>
                <a:lnTo>
                  <a:pt x="252729" y="294131"/>
                </a:lnTo>
                <a:lnTo>
                  <a:pt x="218947" y="319405"/>
                </a:lnTo>
                <a:lnTo>
                  <a:pt x="181990" y="343916"/>
                </a:lnTo>
                <a:lnTo>
                  <a:pt x="121665" y="379349"/>
                </a:lnTo>
                <a:lnTo>
                  <a:pt x="96373" y="392818"/>
                </a:lnTo>
                <a:lnTo>
                  <a:pt x="114573" y="427991"/>
                </a:lnTo>
                <a:lnTo>
                  <a:pt x="183260" y="389636"/>
                </a:lnTo>
                <a:lnTo>
                  <a:pt x="223011" y="364617"/>
                </a:lnTo>
                <a:lnTo>
                  <a:pt x="260603" y="338200"/>
                </a:lnTo>
                <a:lnTo>
                  <a:pt x="294893" y="310642"/>
                </a:lnTo>
                <a:lnTo>
                  <a:pt x="325500" y="281178"/>
                </a:lnTo>
                <a:lnTo>
                  <a:pt x="351916" y="250190"/>
                </a:lnTo>
                <a:lnTo>
                  <a:pt x="374141" y="217805"/>
                </a:lnTo>
                <a:lnTo>
                  <a:pt x="392938" y="184404"/>
                </a:lnTo>
                <a:lnTo>
                  <a:pt x="422401" y="115443"/>
                </a:lnTo>
                <a:lnTo>
                  <a:pt x="444626" y="45719"/>
                </a:lnTo>
                <a:lnTo>
                  <a:pt x="454532" y="10922"/>
                </a:lnTo>
                <a:lnTo>
                  <a:pt x="416432" y="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03322" y="1818131"/>
            <a:ext cx="555625" cy="576580"/>
          </a:xfrm>
          <a:custGeom>
            <a:avLst/>
            <a:gdLst/>
            <a:ahLst/>
            <a:cxnLst/>
            <a:rect l="l" t="t" r="r" b="b"/>
            <a:pathLst>
              <a:path w="555625" h="576580">
                <a:moveTo>
                  <a:pt x="76296" y="108184"/>
                </a:moveTo>
                <a:lnTo>
                  <a:pt x="38313" y="119448"/>
                </a:lnTo>
                <a:lnTo>
                  <a:pt x="56133" y="175005"/>
                </a:lnTo>
                <a:lnTo>
                  <a:pt x="65912" y="202183"/>
                </a:lnTo>
                <a:lnTo>
                  <a:pt x="86994" y="254888"/>
                </a:lnTo>
                <a:lnTo>
                  <a:pt x="110489" y="304545"/>
                </a:lnTo>
                <a:lnTo>
                  <a:pt x="137286" y="350900"/>
                </a:lnTo>
                <a:lnTo>
                  <a:pt x="167766" y="392683"/>
                </a:lnTo>
                <a:lnTo>
                  <a:pt x="202564" y="429513"/>
                </a:lnTo>
                <a:lnTo>
                  <a:pt x="241426" y="460628"/>
                </a:lnTo>
                <a:lnTo>
                  <a:pt x="283463" y="486663"/>
                </a:lnTo>
                <a:lnTo>
                  <a:pt x="327786" y="508634"/>
                </a:lnTo>
                <a:lnTo>
                  <a:pt x="374395" y="527176"/>
                </a:lnTo>
                <a:lnTo>
                  <a:pt x="446785" y="550417"/>
                </a:lnTo>
                <a:lnTo>
                  <a:pt x="495807" y="563879"/>
                </a:lnTo>
                <a:lnTo>
                  <a:pt x="545210" y="576579"/>
                </a:lnTo>
                <a:lnTo>
                  <a:pt x="555116" y="538225"/>
                </a:lnTo>
                <a:lnTo>
                  <a:pt x="505713" y="525398"/>
                </a:lnTo>
                <a:lnTo>
                  <a:pt x="457200" y="512190"/>
                </a:lnTo>
                <a:lnTo>
                  <a:pt x="410082" y="497585"/>
                </a:lnTo>
                <a:lnTo>
                  <a:pt x="364870" y="481202"/>
                </a:lnTo>
                <a:lnTo>
                  <a:pt x="322071" y="462152"/>
                </a:lnTo>
                <a:lnTo>
                  <a:pt x="282066" y="440054"/>
                </a:lnTo>
                <a:lnTo>
                  <a:pt x="245490" y="414019"/>
                </a:lnTo>
                <a:lnTo>
                  <a:pt x="212470" y="383539"/>
                </a:lnTo>
                <a:lnTo>
                  <a:pt x="183387" y="348106"/>
                </a:lnTo>
                <a:lnTo>
                  <a:pt x="157352" y="307593"/>
                </a:lnTo>
                <a:lnTo>
                  <a:pt x="133984" y="262508"/>
                </a:lnTo>
                <a:lnTo>
                  <a:pt x="112775" y="213613"/>
                </a:lnTo>
                <a:lnTo>
                  <a:pt x="93471" y="161670"/>
                </a:lnTo>
                <a:lnTo>
                  <a:pt x="76296" y="108184"/>
                </a:lnTo>
                <a:close/>
              </a:path>
              <a:path w="555625" h="576580">
                <a:moveTo>
                  <a:pt x="23113" y="0"/>
                </a:moveTo>
                <a:lnTo>
                  <a:pt x="0" y="130809"/>
                </a:lnTo>
                <a:lnTo>
                  <a:pt x="38313" y="119448"/>
                </a:lnTo>
                <a:lnTo>
                  <a:pt x="32384" y="100964"/>
                </a:lnTo>
                <a:lnTo>
                  <a:pt x="70103" y="88899"/>
                </a:lnTo>
                <a:lnTo>
                  <a:pt x="106312" y="88899"/>
                </a:lnTo>
                <a:lnTo>
                  <a:pt x="23113" y="0"/>
                </a:lnTo>
                <a:close/>
              </a:path>
              <a:path w="555625" h="576580">
                <a:moveTo>
                  <a:pt x="70103" y="88899"/>
                </a:moveTo>
                <a:lnTo>
                  <a:pt x="32384" y="100964"/>
                </a:lnTo>
                <a:lnTo>
                  <a:pt x="38313" y="119448"/>
                </a:lnTo>
                <a:lnTo>
                  <a:pt x="76296" y="108184"/>
                </a:lnTo>
                <a:lnTo>
                  <a:pt x="70103" y="88899"/>
                </a:lnTo>
                <a:close/>
              </a:path>
              <a:path w="555625" h="576580">
                <a:moveTo>
                  <a:pt x="106312" y="88899"/>
                </a:moveTo>
                <a:lnTo>
                  <a:pt x="70103" y="88899"/>
                </a:lnTo>
                <a:lnTo>
                  <a:pt x="76296" y="108184"/>
                </a:lnTo>
                <a:lnTo>
                  <a:pt x="113918" y="97027"/>
                </a:lnTo>
                <a:lnTo>
                  <a:pt x="106312" y="88899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87467" y="1545335"/>
            <a:ext cx="1295400" cy="119380"/>
          </a:xfrm>
          <a:custGeom>
            <a:avLst/>
            <a:gdLst/>
            <a:ahLst/>
            <a:cxnLst/>
            <a:rect l="l" t="t" r="r" b="b"/>
            <a:pathLst>
              <a:path w="1295400" h="119380">
                <a:moveTo>
                  <a:pt x="1176528" y="0"/>
                </a:moveTo>
                <a:lnTo>
                  <a:pt x="1176528" y="118872"/>
                </a:lnTo>
                <a:lnTo>
                  <a:pt x="1255776" y="79248"/>
                </a:lnTo>
                <a:lnTo>
                  <a:pt x="1196340" y="79248"/>
                </a:lnTo>
                <a:lnTo>
                  <a:pt x="1196340" y="39624"/>
                </a:lnTo>
                <a:lnTo>
                  <a:pt x="1255776" y="39624"/>
                </a:lnTo>
                <a:lnTo>
                  <a:pt x="1176528" y="0"/>
                </a:lnTo>
                <a:close/>
              </a:path>
              <a:path w="1295400" h="119380">
                <a:moveTo>
                  <a:pt x="1176528" y="39624"/>
                </a:moveTo>
                <a:lnTo>
                  <a:pt x="0" y="39624"/>
                </a:lnTo>
                <a:lnTo>
                  <a:pt x="0" y="79248"/>
                </a:lnTo>
                <a:lnTo>
                  <a:pt x="1176528" y="79248"/>
                </a:lnTo>
                <a:lnTo>
                  <a:pt x="1176528" y="39624"/>
                </a:lnTo>
                <a:close/>
              </a:path>
              <a:path w="1295400" h="119380">
                <a:moveTo>
                  <a:pt x="1255776" y="39624"/>
                </a:moveTo>
                <a:lnTo>
                  <a:pt x="1196340" y="39624"/>
                </a:lnTo>
                <a:lnTo>
                  <a:pt x="1196340" y="79248"/>
                </a:lnTo>
                <a:lnTo>
                  <a:pt x="1255776" y="79248"/>
                </a:lnTo>
                <a:lnTo>
                  <a:pt x="1295400" y="59436"/>
                </a:lnTo>
                <a:lnTo>
                  <a:pt x="1255776" y="39624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46114" y="1421714"/>
            <a:ext cx="668655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spc="20" dirty="0">
                <a:solidFill>
                  <a:srgbClr val="0033CC"/>
                </a:solidFill>
                <a:latin typeface="Comic Sans MS"/>
                <a:cs typeface="Comic Sans MS"/>
              </a:rPr>
              <a:t>D</a:t>
            </a:r>
            <a:r>
              <a:rPr sz="1600" b="1" spc="10" dirty="0">
                <a:solidFill>
                  <a:srgbClr val="0033CC"/>
                </a:solidFill>
                <a:latin typeface="Comic Sans MS"/>
                <a:cs typeface="Comic Sans MS"/>
              </a:rPr>
              <a:t>e</a:t>
            </a:r>
            <a:r>
              <a:rPr sz="1600" b="1" spc="15" dirty="0">
                <a:solidFill>
                  <a:srgbClr val="0033CC"/>
                </a:solidFill>
                <a:latin typeface="Comic Sans MS"/>
                <a:cs typeface="Comic Sans MS"/>
              </a:rPr>
              <a:t>s</a:t>
            </a:r>
            <a:r>
              <a:rPr sz="1600" b="1" dirty="0">
                <a:solidFill>
                  <a:srgbClr val="0033CC"/>
                </a:solidFill>
                <a:latin typeface="Comic Sans MS"/>
                <a:cs typeface="Comic Sans MS"/>
              </a:rPr>
              <a:t>i</a:t>
            </a:r>
            <a:r>
              <a:rPr sz="1600" b="1" spc="15" dirty="0">
                <a:solidFill>
                  <a:srgbClr val="0033CC"/>
                </a:solidFill>
                <a:latin typeface="Comic Sans MS"/>
                <a:cs typeface="Comic Sans MS"/>
              </a:rPr>
              <a:t>gn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17438" y="2355849"/>
            <a:ext cx="106743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15" dirty="0">
                <a:solidFill>
                  <a:srgbClr val="0033CC"/>
                </a:solidFill>
                <a:latin typeface="Comic Sans MS"/>
                <a:cs typeface="Comic Sans MS"/>
              </a:rPr>
              <a:t>Im</a:t>
            </a:r>
            <a:r>
              <a:rPr sz="1600" b="1" spc="5" dirty="0">
                <a:solidFill>
                  <a:srgbClr val="0033CC"/>
                </a:solidFill>
                <a:latin typeface="Comic Sans MS"/>
                <a:cs typeface="Comic Sans MS"/>
              </a:rPr>
              <a:t>p</a:t>
            </a:r>
            <a:r>
              <a:rPr sz="1600" b="1" spc="10" dirty="0">
                <a:solidFill>
                  <a:srgbClr val="0033CC"/>
                </a:solidFill>
                <a:latin typeface="Comic Sans MS"/>
                <a:cs typeface="Comic Sans MS"/>
              </a:rPr>
              <a:t>l</a:t>
            </a:r>
            <a:r>
              <a:rPr sz="1600" b="1" spc="15" dirty="0">
                <a:solidFill>
                  <a:srgbClr val="0033CC"/>
                </a:solidFill>
                <a:latin typeface="Comic Sans MS"/>
                <a:cs typeface="Comic Sans MS"/>
              </a:rPr>
              <a:t>eme</a:t>
            </a:r>
            <a:r>
              <a:rPr sz="1600" b="1" spc="25" dirty="0">
                <a:solidFill>
                  <a:srgbClr val="0033CC"/>
                </a:solidFill>
                <a:latin typeface="Comic Sans MS"/>
                <a:cs typeface="Comic Sans MS"/>
              </a:rPr>
              <a:t>n</a:t>
            </a:r>
            <a:r>
              <a:rPr sz="1600" b="1" spc="15" dirty="0">
                <a:solidFill>
                  <a:srgbClr val="0033CC"/>
                </a:solidFill>
                <a:latin typeface="Comic Sans MS"/>
                <a:cs typeface="Comic Sans MS"/>
              </a:rPr>
              <a:t>t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69253" y="3145916"/>
            <a:ext cx="871855" cy="1099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30"/>
              </a:spcBef>
            </a:pPr>
            <a:r>
              <a:rPr sz="1600" b="1" spc="10" dirty="0">
                <a:solidFill>
                  <a:srgbClr val="0033CC"/>
                </a:solidFill>
                <a:latin typeface="Comic Sans MS"/>
                <a:cs typeface="Comic Sans MS"/>
              </a:rPr>
              <a:t>Test</a:t>
            </a:r>
            <a:endParaRPr sz="1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600" b="1" spc="15" dirty="0">
                <a:solidFill>
                  <a:srgbClr val="0033CC"/>
                </a:solidFill>
                <a:latin typeface="Comic Sans MS"/>
                <a:cs typeface="Comic Sans MS"/>
              </a:rPr>
              <a:t>Mai</a:t>
            </a:r>
            <a:r>
              <a:rPr sz="1600" b="1" spc="20" dirty="0">
                <a:solidFill>
                  <a:srgbClr val="0033CC"/>
                </a:solidFill>
                <a:latin typeface="Comic Sans MS"/>
                <a:cs typeface="Comic Sans MS"/>
              </a:rPr>
              <a:t>n</a:t>
            </a:r>
            <a:r>
              <a:rPr sz="1600" b="1" spc="10" dirty="0">
                <a:solidFill>
                  <a:srgbClr val="0033CC"/>
                </a:solidFill>
                <a:latin typeface="Comic Sans MS"/>
                <a:cs typeface="Comic Sans MS"/>
              </a:rPr>
              <a:t>tain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43471" y="1818131"/>
            <a:ext cx="119380" cy="558165"/>
          </a:xfrm>
          <a:custGeom>
            <a:avLst/>
            <a:gdLst/>
            <a:ahLst/>
            <a:cxnLst/>
            <a:rect l="l" t="t" r="r" b="b"/>
            <a:pathLst>
              <a:path w="119379" h="558164">
                <a:moveTo>
                  <a:pt x="39624" y="438911"/>
                </a:moveTo>
                <a:lnTo>
                  <a:pt x="0" y="438911"/>
                </a:lnTo>
                <a:lnTo>
                  <a:pt x="59435" y="557783"/>
                </a:lnTo>
                <a:lnTo>
                  <a:pt x="108966" y="458723"/>
                </a:lnTo>
                <a:lnTo>
                  <a:pt x="39624" y="458723"/>
                </a:lnTo>
                <a:lnTo>
                  <a:pt x="39624" y="438911"/>
                </a:lnTo>
                <a:close/>
              </a:path>
              <a:path w="119379" h="558164">
                <a:moveTo>
                  <a:pt x="79248" y="0"/>
                </a:moveTo>
                <a:lnTo>
                  <a:pt x="39624" y="0"/>
                </a:lnTo>
                <a:lnTo>
                  <a:pt x="39624" y="458723"/>
                </a:lnTo>
                <a:lnTo>
                  <a:pt x="79248" y="458723"/>
                </a:lnTo>
                <a:lnTo>
                  <a:pt x="79248" y="0"/>
                </a:lnTo>
                <a:close/>
              </a:path>
              <a:path w="119379" h="558164">
                <a:moveTo>
                  <a:pt x="118872" y="438911"/>
                </a:moveTo>
                <a:lnTo>
                  <a:pt x="79248" y="438911"/>
                </a:lnTo>
                <a:lnTo>
                  <a:pt x="79248" y="458723"/>
                </a:lnTo>
                <a:lnTo>
                  <a:pt x="108966" y="458723"/>
                </a:lnTo>
                <a:lnTo>
                  <a:pt x="118872" y="438911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3471" y="2656331"/>
            <a:ext cx="119380" cy="561340"/>
          </a:xfrm>
          <a:custGeom>
            <a:avLst/>
            <a:gdLst/>
            <a:ahLst/>
            <a:cxnLst/>
            <a:rect l="l" t="t" r="r" b="b"/>
            <a:pathLst>
              <a:path w="119379" h="561339">
                <a:moveTo>
                  <a:pt x="39624" y="441960"/>
                </a:moveTo>
                <a:lnTo>
                  <a:pt x="0" y="441960"/>
                </a:lnTo>
                <a:lnTo>
                  <a:pt x="59435" y="560832"/>
                </a:lnTo>
                <a:lnTo>
                  <a:pt x="108966" y="461772"/>
                </a:lnTo>
                <a:lnTo>
                  <a:pt x="39624" y="461772"/>
                </a:lnTo>
                <a:lnTo>
                  <a:pt x="39624" y="441960"/>
                </a:lnTo>
                <a:close/>
              </a:path>
              <a:path w="119379" h="561339">
                <a:moveTo>
                  <a:pt x="79248" y="0"/>
                </a:moveTo>
                <a:lnTo>
                  <a:pt x="39624" y="0"/>
                </a:lnTo>
                <a:lnTo>
                  <a:pt x="39624" y="461772"/>
                </a:lnTo>
                <a:lnTo>
                  <a:pt x="79248" y="461772"/>
                </a:lnTo>
                <a:lnTo>
                  <a:pt x="79248" y="0"/>
                </a:lnTo>
                <a:close/>
              </a:path>
              <a:path w="119379" h="561339">
                <a:moveTo>
                  <a:pt x="118872" y="441960"/>
                </a:moveTo>
                <a:lnTo>
                  <a:pt x="79248" y="441960"/>
                </a:lnTo>
                <a:lnTo>
                  <a:pt x="79248" y="461772"/>
                </a:lnTo>
                <a:lnTo>
                  <a:pt x="108966" y="461772"/>
                </a:lnTo>
                <a:lnTo>
                  <a:pt x="118872" y="44196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43471" y="3491483"/>
            <a:ext cx="119380" cy="561340"/>
          </a:xfrm>
          <a:custGeom>
            <a:avLst/>
            <a:gdLst/>
            <a:ahLst/>
            <a:cxnLst/>
            <a:rect l="l" t="t" r="r" b="b"/>
            <a:pathLst>
              <a:path w="119379" h="561339">
                <a:moveTo>
                  <a:pt x="39624" y="441959"/>
                </a:moveTo>
                <a:lnTo>
                  <a:pt x="0" y="441959"/>
                </a:lnTo>
                <a:lnTo>
                  <a:pt x="59435" y="560831"/>
                </a:lnTo>
                <a:lnTo>
                  <a:pt x="108966" y="461771"/>
                </a:lnTo>
                <a:lnTo>
                  <a:pt x="39624" y="461771"/>
                </a:lnTo>
                <a:lnTo>
                  <a:pt x="39624" y="441959"/>
                </a:lnTo>
                <a:close/>
              </a:path>
              <a:path w="119379" h="561339">
                <a:moveTo>
                  <a:pt x="79248" y="0"/>
                </a:moveTo>
                <a:lnTo>
                  <a:pt x="39624" y="0"/>
                </a:lnTo>
                <a:lnTo>
                  <a:pt x="39624" y="461771"/>
                </a:lnTo>
                <a:lnTo>
                  <a:pt x="79248" y="461771"/>
                </a:lnTo>
                <a:lnTo>
                  <a:pt x="79248" y="0"/>
                </a:lnTo>
                <a:close/>
              </a:path>
              <a:path w="119379" h="561339">
                <a:moveTo>
                  <a:pt x="118872" y="441959"/>
                </a:moveTo>
                <a:lnTo>
                  <a:pt x="79248" y="441959"/>
                </a:lnTo>
                <a:lnTo>
                  <a:pt x="79248" y="461771"/>
                </a:lnTo>
                <a:lnTo>
                  <a:pt x="108966" y="461771"/>
                </a:lnTo>
                <a:lnTo>
                  <a:pt x="118872" y="441959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91480" y="1168247"/>
            <a:ext cx="944880" cy="6959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600" b="1" spc="15" dirty="0">
                <a:solidFill>
                  <a:srgbClr val="006600"/>
                </a:solidFill>
                <a:latin typeface="Comic Sans MS"/>
                <a:cs typeface="Comic Sans MS"/>
              </a:rPr>
              <a:t>C</a:t>
            </a:r>
            <a:r>
              <a:rPr sz="1600" b="1" dirty="0">
                <a:solidFill>
                  <a:srgbClr val="006600"/>
                </a:solidFill>
                <a:latin typeface="Comic Sans MS"/>
                <a:cs typeface="Comic Sans MS"/>
              </a:rPr>
              <a:t>u</a:t>
            </a:r>
            <a:r>
              <a:rPr sz="1600" b="1" spc="15" dirty="0">
                <a:solidFill>
                  <a:srgbClr val="006600"/>
                </a:solidFill>
                <a:latin typeface="Comic Sans MS"/>
                <a:cs typeface="Comic Sans MS"/>
              </a:rPr>
              <a:t>sto</a:t>
            </a:r>
            <a:r>
              <a:rPr sz="1600" b="1" spc="25" dirty="0">
                <a:solidFill>
                  <a:srgbClr val="006600"/>
                </a:solidFill>
                <a:latin typeface="Comic Sans MS"/>
                <a:cs typeface="Comic Sans MS"/>
              </a:rPr>
              <a:t>m</a:t>
            </a:r>
            <a:r>
              <a:rPr sz="1600" b="1" spc="10" dirty="0">
                <a:solidFill>
                  <a:srgbClr val="006600"/>
                </a:solidFill>
                <a:latin typeface="Comic Sans MS"/>
                <a:cs typeface="Comic Sans MS"/>
              </a:rPr>
              <a:t>er</a:t>
            </a:r>
            <a:endParaRPr sz="1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b="1" spc="10" dirty="0">
                <a:solidFill>
                  <a:srgbClr val="006600"/>
                </a:solidFill>
                <a:latin typeface="Comic Sans MS"/>
                <a:cs typeface="Comic Sans MS"/>
              </a:rPr>
              <a:t>satisfied</a:t>
            </a:r>
            <a:endParaRPr sz="1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1597" y="240918"/>
            <a:ext cx="33718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Prototyping</a:t>
            </a:r>
            <a:r>
              <a:rPr sz="2800" spc="-90" dirty="0"/>
              <a:t> </a:t>
            </a:r>
            <a:r>
              <a:rPr sz="2800" dirty="0"/>
              <a:t>Model</a:t>
            </a:r>
            <a:r>
              <a:rPr sz="2800" spc="-75" dirty="0"/>
              <a:t> </a:t>
            </a:r>
            <a:r>
              <a:rPr sz="1200" spc="-20" dirty="0"/>
              <a:t>(CONT.)</a:t>
            </a:r>
            <a:endParaRPr sz="120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79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685" y="691133"/>
            <a:ext cx="86506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developed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prototype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submitted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333" y="1224787"/>
            <a:ext cx="21215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" dirty="0">
                <a:latin typeface="Calibri"/>
                <a:cs typeface="Calibri"/>
              </a:rPr>
              <a:t>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evaluation: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581" y="1928825"/>
            <a:ext cx="81483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32630" algn="l"/>
              </a:tabLst>
            </a:pPr>
            <a:r>
              <a:rPr sz="2800" spc="5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b="1" spc="5" dirty="0">
                <a:solidFill>
                  <a:srgbClr val="0000CC"/>
                </a:solidFill>
                <a:latin typeface="Calibri"/>
                <a:cs typeface="Calibri"/>
              </a:rPr>
              <a:t>Based</a:t>
            </a:r>
            <a:r>
              <a:rPr sz="28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CC"/>
                </a:solidFill>
                <a:latin typeface="Calibri"/>
                <a:cs typeface="Calibri"/>
              </a:rPr>
              <a:t>on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user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feedback,	</a:t>
            </a:r>
            <a:r>
              <a:rPr sz="2800" b="1" spc="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800" b="1" spc="-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prototype</a:t>
            </a:r>
            <a:r>
              <a:rPr sz="2800" b="1" spc="-9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is</a:t>
            </a:r>
            <a:r>
              <a:rPr sz="28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refined.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685" y="2527945"/>
            <a:ext cx="8576310" cy="1797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1055370" indent="-192405">
              <a:lnSpc>
                <a:spcPct val="125099"/>
              </a:lnSpc>
              <a:spcBef>
                <a:spcPts val="95"/>
              </a:spcBef>
            </a:pPr>
            <a:r>
              <a:rPr sz="280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This</a:t>
            </a:r>
            <a:r>
              <a:rPr sz="28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continues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until</a:t>
            </a:r>
            <a:r>
              <a:rPr sz="2800" b="1" spc="-8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user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approves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sz="2800" b="1" spc="-6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prototype.</a:t>
            </a:r>
            <a:endParaRPr sz="28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2190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actual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using 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waterfall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13140" y="2354960"/>
            <a:ext cx="24701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T</a:t>
            </a:r>
            <a:r>
              <a:rPr sz="800" b="1" spc="-20" dirty="0">
                <a:solidFill>
                  <a:srgbClr val="0033CC"/>
                </a:solidFill>
                <a:latin typeface="Comic Sans MS"/>
                <a:cs typeface="Comic Sans MS"/>
              </a:rPr>
              <a:t>e</a:t>
            </a:r>
            <a:r>
              <a:rPr sz="800" b="1" spc="-5" dirty="0">
                <a:solidFill>
                  <a:srgbClr val="0033CC"/>
                </a:solidFill>
                <a:latin typeface="Comic Sans MS"/>
                <a:cs typeface="Comic Sans MS"/>
              </a:rPr>
              <a:t>st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0194" y="1364742"/>
            <a:ext cx="510540" cy="25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100"/>
              </a:spcBef>
            </a:pP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Require</a:t>
            </a:r>
            <a:r>
              <a:rPr sz="600" b="1" spc="-10" dirty="0">
                <a:solidFill>
                  <a:srgbClr val="0033CC"/>
                </a:solidFill>
                <a:latin typeface="Comic Sans MS"/>
                <a:cs typeface="Comic Sans MS"/>
              </a:rPr>
              <a:t>m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ents  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Gathering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1685" y="1487804"/>
            <a:ext cx="5010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Quick</a:t>
            </a:r>
            <a:r>
              <a:rPr sz="600" b="1" spc="-10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De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si</a:t>
            </a:r>
            <a:r>
              <a:rPr sz="600" b="1" spc="-10" dirty="0">
                <a:solidFill>
                  <a:srgbClr val="0033CC"/>
                </a:solidFill>
                <a:latin typeface="Comic Sans MS"/>
                <a:cs typeface="Comic Sans MS"/>
              </a:rPr>
              <a:t>g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n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3373" y="1886534"/>
            <a:ext cx="26035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Re</a:t>
            </a:r>
            <a:r>
              <a:rPr sz="600" b="1" spc="5" dirty="0">
                <a:solidFill>
                  <a:srgbClr val="0033CC"/>
                </a:solidFill>
                <a:latin typeface="Comic Sans MS"/>
                <a:cs typeface="Comic Sans MS"/>
              </a:rPr>
              <a:t>f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in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e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3373" y="1966341"/>
            <a:ext cx="5105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Requirements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39533" y="1052576"/>
            <a:ext cx="5861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5" dirty="0">
                <a:solidFill>
                  <a:srgbClr val="0033CC"/>
                </a:solidFill>
                <a:latin typeface="Comic Sans MS"/>
                <a:cs typeface="Comic Sans MS"/>
              </a:rPr>
              <a:t>B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uild</a:t>
            </a:r>
            <a:r>
              <a:rPr sz="600" b="1" spc="-1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600" b="1" spc="-10" dirty="0">
                <a:solidFill>
                  <a:srgbClr val="0033CC"/>
                </a:solidFill>
                <a:latin typeface="Comic Sans MS"/>
                <a:cs typeface="Comic Sans MS"/>
              </a:rPr>
              <a:t>P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ro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t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o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ty</a:t>
            </a:r>
            <a:r>
              <a:rPr sz="600" b="1" spc="-10" dirty="0">
                <a:solidFill>
                  <a:srgbClr val="0033CC"/>
                </a:solidFill>
                <a:latin typeface="Comic Sans MS"/>
                <a:cs typeface="Comic Sans MS"/>
              </a:rPr>
              <a:t>p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e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94575" y="1344929"/>
            <a:ext cx="502920" cy="2724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ct val="85000"/>
              </a:lnSpc>
              <a:spcBef>
                <a:spcPts val="204"/>
              </a:spcBef>
            </a:pPr>
            <a:r>
              <a:rPr sz="600" b="1" spc="-10" dirty="0">
                <a:solidFill>
                  <a:srgbClr val="0033CC"/>
                </a:solidFill>
                <a:latin typeface="Comic Sans MS"/>
                <a:cs typeface="Comic Sans MS"/>
              </a:rPr>
              <a:t>Customer 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600" b="1" spc="5" dirty="0">
                <a:solidFill>
                  <a:srgbClr val="0033CC"/>
                </a:solidFill>
                <a:latin typeface="Comic Sans MS"/>
                <a:cs typeface="Comic Sans MS"/>
              </a:rPr>
              <a:t>E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v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aluat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io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n</a:t>
            </a:r>
            <a:r>
              <a:rPr sz="600" b="1" spc="-2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o</a:t>
            </a:r>
            <a:r>
              <a:rPr sz="600" b="1" dirty="0">
                <a:solidFill>
                  <a:srgbClr val="0033CC"/>
                </a:solidFill>
                <a:latin typeface="Comic Sans MS"/>
                <a:cs typeface="Comic Sans MS"/>
              </a:rPr>
              <a:t>f  </a:t>
            </a:r>
            <a:r>
              <a:rPr sz="600" b="1" spc="-5" dirty="0">
                <a:solidFill>
                  <a:srgbClr val="0033CC"/>
                </a:solidFill>
                <a:latin typeface="Comic Sans MS"/>
                <a:cs typeface="Comic Sans MS"/>
              </a:rPr>
              <a:t>Prototype</a:t>
            </a:r>
            <a:endParaRPr sz="60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3302" y="1479676"/>
            <a:ext cx="222757" cy="11887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6843141" y="1083563"/>
            <a:ext cx="174625" cy="382270"/>
          </a:xfrm>
          <a:custGeom>
            <a:avLst/>
            <a:gdLst/>
            <a:ahLst/>
            <a:cxnLst/>
            <a:rect l="l" t="t" r="r" b="b"/>
            <a:pathLst>
              <a:path w="174625" h="382269">
                <a:moveTo>
                  <a:pt x="97155" y="92184"/>
                </a:moveTo>
                <a:lnTo>
                  <a:pt x="75056" y="133096"/>
                </a:lnTo>
                <a:lnTo>
                  <a:pt x="52831" y="181737"/>
                </a:lnTo>
                <a:lnTo>
                  <a:pt x="35051" y="230377"/>
                </a:lnTo>
                <a:lnTo>
                  <a:pt x="21208" y="278638"/>
                </a:lnTo>
                <a:lnTo>
                  <a:pt x="9905" y="326389"/>
                </a:lnTo>
                <a:lnTo>
                  <a:pt x="0" y="373634"/>
                </a:lnTo>
                <a:lnTo>
                  <a:pt x="38861" y="381888"/>
                </a:lnTo>
                <a:lnTo>
                  <a:pt x="48767" y="334645"/>
                </a:lnTo>
                <a:lnTo>
                  <a:pt x="53975" y="311276"/>
                </a:lnTo>
                <a:lnTo>
                  <a:pt x="66039" y="264922"/>
                </a:lnTo>
                <a:lnTo>
                  <a:pt x="80899" y="218948"/>
                </a:lnTo>
                <a:lnTo>
                  <a:pt x="99694" y="173227"/>
                </a:lnTo>
                <a:lnTo>
                  <a:pt x="122681" y="127126"/>
                </a:lnTo>
                <a:lnTo>
                  <a:pt x="131156" y="112441"/>
                </a:lnTo>
                <a:lnTo>
                  <a:pt x="97155" y="92184"/>
                </a:lnTo>
                <a:close/>
              </a:path>
              <a:path w="174625" h="382269">
                <a:moveTo>
                  <a:pt x="169142" y="75311"/>
                </a:moveTo>
                <a:lnTo>
                  <a:pt x="106806" y="75311"/>
                </a:lnTo>
                <a:lnTo>
                  <a:pt x="141224" y="94996"/>
                </a:lnTo>
                <a:lnTo>
                  <a:pt x="131156" y="112441"/>
                </a:lnTo>
                <a:lnTo>
                  <a:pt x="164973" y="132587"/>
                </a:lnTo>
                <a:lnTo>
                  <a:pt x="169142" y="75311"/>
                </a:lnTo>
                <a:close/>
              </a:path>
              <a:path w="174625" h="382269">
                <a:moveTo>
                  <a:pt x="106806" y="75311"/>
                </a:moveTo>
                <a:lnTo>
                  <a:pt x="97155" y="92184"/>
                </a:lnTo>
                <a:lnTo>
                  <a:pt x="131156" y="112441"/>
                </a:lnTo>
                <a:lnTo>
                  <a:pt x="141224" y="94996"/>
                </a:lnTo>
                <a:lnTo>
                  <a:pt x="106806" y="75311"/>
                </a:lnTo>
                <a:close/>
              </a:path>
              <a:path w="174625" h="382269">
                <a:moveTo>
                  <a:pt x="174625" y="0"/>
                </a:moveTo>
                <a:lnTo>
                  <a:pt x="62864" y="71755"/>
                </a:lnTo>
                <a:lnTo>
                  <a:pt x="97155" y="92184"/>
                </a:lnTo>
                <a:lnTo>
                  <a:pt x="106806" y="75311"/>
                </a:lnTo>
                <a:lnTo>
                  <a:pt x="169142" y="75311"/>
                </a:lnTo>
                <a:lnTo>
                  <a:pt x="174625" y="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7313" y="1093215"/>
            <a:ext cx="222630" cy="2461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6076" y="1684908"/>
            <a:ext cx="232282" cy="24574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6849109" y="1638300"/>
            <a:ext cx="287020" cy="311785"/>
          </a:xfrm>
          <a:custGeom>
            <a:avLst/>
            <a:gdLst/>
            <a:ahLst/>
            <a:cxnLst/>
            <a:rect l="l" t="t" r="r" b="b"/>
            <a:pathLst>
              <a:path w="287020" h="311785">
                <a:moveTo>
                  <a:pt x="75913" y="108061"/>
                </a:moveTo>
                <a:lnTo>
                  <a:pt x="38030" y="119476"/>
                </a:lnTo>
                <a:lnTo>
                  <a:pt x="39243" y="123444"/>
                </a:lnTo>
                <a:lnTo>
                  <a:pt x="50546" y="151002"/>
                </a:lnTo>
                <a:lnTo>
                  <a:pt x="69976" y="188849"/>
                </a:lnTo>
                <a:lnTo>
                  <a:pt x="94488" y="222250"/>
                </a:lnTo>
                <a:lnTo>
                  <a:pt x="123825" y="249174"/>
                </a:lnTo>
                <a:lnTo>
                  <a:pt x="156972" y="269875"/>
                </a:lnTo>
                <a:lnTo>
                  <a:pt x="203708" y="289813"/>
                </a:lnTo>
                <a:lnTo>
                  <a:pt x="252095" y="304800"/>
                </a:lnTo>
                <a:lnTo>
                  <a:pt x="276351" y="311531"/>
                </a:lnTo>
                <a:lnTo>
                  <a:pt x="286893" y="273304"/>
                </a:lnTo>
                <a:lnTo>
                  <a:pt x="262636" y="266700"/>
                </a:lnTo>
                <a:lnTo>
                  <a:pt x="239014" y="259715"/>
                </a:lnTo>
                <a:lnTo>
                  <a:pt x="194310" y="243712"/>
                </a:lnTo>
                <a:lnTo>
                  <a:pt x="154940" y="222758"/>
                </a:lnTo>
                <a:lnTo>
                  <a:pt x="123063" y="194945"/>
                </a:lnTo>
                <a:lnTo>
                  <a:pt x="97409" y="156972"/>
                </a:lnTo>
                <a:lnTo>
                  <a:pt x="76073" y="108585"/>
                </a:lnTo>
                <a:lnTo>
                  <a:pt x="75913" y="108061"/>
                </a:lnTo>
                <a:close/>
              </a:path>
              <a:path w="287020" h="311785">
                <a:moveTo>
                  <a:pt x="22606" y="0"/>
                </a:moveTo>
                <a:lnTo>
                  <a:pt x="0" y="130937"/>
                </a:lnTo>
                <a:lnTo>
                  <a:pt x="38030" y="119476"/>
                </a:lnTo>
                <a:lnTo>
                  <a:pt x="32258" y="100584"/>
                </a:lnTo>
                <a:lnTo>
                  <a:pt x="70104" y="89026"/>
                </a:lnTo>
                <a:lnTo>
                  <a:pt x="106602" y="89026"/>
                </a:lnTo>
                <a:lnTo>
                  <a:pt x="22606" y="0"/>
                </a:lnTo>
                <a:close/>
              </a:path>
              <a:path w="287020" h="311785">
                <a:moveTo>
                  <a:pt x="70104" y="89026"/>
                </a:moveTo>
                <a:lnTo>
                  <a:pt x="32258" y="100584"/>
                </a:lnTo>
                <a:lnTo>
                  <a:pt x="38030" y="119476"/>
                </a:lnTo>
                <a:lnTo>
                  <a:pt x="75913" y="108061"/>
                </a:lnTo>
                <a:lnTo>
                  <a:pt x="70104" y="89026"/>
                </a:lnTo>
                <a:close/>
              </a:path>
              <a:path w="287020" h="311785">
                <a:moveTo>
                  <a:pt x="106602" y="89026"/>
                </a:moveTo>
                <a:lnTo>
                  <a:pt x="70104" y="89026"/>
                </a:lnTo>
                <a:lnTo>
                  <a:pt x="75913" y="108061"/>
                </a:lnTo>
                <a:lnTo>
                  <a:pt x="113792" y="96647"/>
                </a:lnTo>
                <a:lnTo>
                  <a:pt x="106602" y="89026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35468" y="1466087"/>
            <a:ext cx="637540" cy="119380"/>
          </a:xfrm>
          <a:custGeom>
            <a:avLst/>
            <a:gdLst/>
            <a:ahLst/>
            <a:cxnLst/>
            <a:rect l="l" t="t" r="r" b="b"/>
            <a:pathLst>
              <a:path w="637540" h="119380">
                <a:moveTo>
                  <a:pt x="518159" y="0"/>
                </a:moveTo>
                <a:lnTo>
                  <a:pt x="518159" y="118872"/>
                </a:lnTo>
                <a:lnTo>
                  <a:pt x="597407" y="79248"/>
                </a:lnTo>
                <a:lnTo>
                  <a:pt x="537972" y="79248"/>
                </a:lnTo>
                <a:lnTo>
                  <a:pt x="537972" y="39624"/>
                </a:lnTo>
                <a:lnTo>
                  <a:pt x="597407" y="39624"/>
                </a:lnTo>
                <a:lnTo>
                  <a:pt x="518159" y="0"/>
                </a:lnTo>
                <a:close/>
              </a:path>
              <a:path w="637540" h="119380">
                <a:moveTo>
                  <a:pt x="518159" y="39624"/>
                </a:moveTo>
                <a:lnTo>
                  <a:pt x="0" y="39624"/>
                </a:lnTo>
                <a:lnTo>
                  <a:pt x="0" y="79248"/>
                </a:lnTo>
                <a:lnTo>
                  <a:pt x="518159" y="79248"/>
                </a:lnTo>
                <a:lnTo>
                  <a:pt x="518159" y="39624"/>
                </a:lnTo>
                <a:close/>
              </a:path>
              <a:path w="637540" h="119380">
                <a:moveTo>
                  <a:pt x="597407" y="39624"/>
                </a:moveTo>
                <a:lnTo>
                  <a:pt x="537972" y="39624"/>
                </a:lnTo>
                <a:lnTo>
                  <a:pt x="537972" y="79248"/>
                </a:lnTo>
                <a:lnTo>
                  <a:pt x="597407" y="79248"/>
                </a:lnTo>
                <a:lnTo>
                  <a:pt x="637031" y="59436"/>
                </a:lnTo>
                <a:lnTo>
                  <a:pt x="597407" y="39624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605773" y="1442085"/>
            <a:ext cx="33718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D</a:t>
            </a:r>
            <a:r>
              <a:rPr sz="800" b="1" spc="-20" dirty="0">
                <a:solidFill>
                  <a:srgbClr val="0033CC"/>
                </a:solidFill>
                <a:latin typeface="Comic Sans MS"/>
                <a:cs typeface="Comic Sans MS"/>
              </a:rPr>
              <a:t>e</a:t>
            </a:r>
            <a:r>
              <a:rPr sz="800" b="1" spc="-5" dirty="0">
                <a:solidFill>
                  <a:srgbClr val="0033CC"/>
                </a:solidFill>
                <a:latin typeface="Comic Sans MS"/>
                <a:cs typeface="Comic Sans MS"/>
              </a:rPr>
              <a:t>s</a:t>
            </a:r>
            <a:r>
              <a:rPr sz="800" b="1" spc="-15" dirty="0">
                <a:solidFill>
                  <a:srgbClr val="0033CC"/>
                </a:solidFill>
                <a:latin typeface="Comic Sans MS"/>
                <a:cs typeface="Comic Sans MS"/>
              </a:rPr>
              <a:t>i</a:t>
            </a:r>
            <a:r>
              <a:rPr sz="800" b="1" spc="5" dirty="0">
                <a:solidFill>
                  <a:srgbClr val="0033CC"/>
                </a:solidFill>
                <a:latin typeface="Comic Sans MS"/>
                <a:cs typeface="Comic Sans MS"/>
              </a:rPr>
              <a:t>g</a:t>
            </a:r>
            <a:r>
              <a:rPr sz="800" b="1" spc="-5" dirty="0">
                <a:solidFill>
                  <a:srgbClr val="0033CC"/>
                </a:solidFill>
                <a:latin typeface="Comic Sans MS"/>
                <a:cs typeface="Comic Sans MS"/>
              </a:rPr>
              <a:t>n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43976" y="1936191"/>
            <a:ext cx="53022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Implement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9630" y="2791713"/>
            <a:ext cx="43180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b="1" spc="-15" dirty="0">
                <a:solidFill>
                  <a:srgbClr val="0033CC"/>
                </a:solidFill>
                <a:latin typeface="Comic Sans MS"/>
                <a:cs typeface="Comic Sans MS"/>
              </a:rPr>
              <a:t>Main</a:t>
            </a:r>
            <a:r>
              <a:rPr sz="800" b="1" spc="5" dirty="0">
                <a:solidFill>
                  <a:srgbClr val="0033CC"/>
                </a:solidFill>
                <a:latin typeface="Comic Sans MS"/>
                <a:cs typeface="Comic Sans MS"/>
              </a:rPr>
              <a:t>t</a:t>
            </a:r>
            <a:r>
              <a:rPr sz="800" b="1" spc="-15" dirty="0">
                <a:solidFill>
                  <a:srgbClr val="0033CC"/>
                </a:solidFill>
                <a:latin typeface="Comic Sans MS"/>
                <a:cs typeface="Comic Sans MS"/>
              </a:rPr>
              <a:t>ai</a:t>
            </a:r>
            <a:r>
              <a:rPr sz="800" b="1" spc="-5" dirty="0">
                <a:solidFill>
                  <a:srgbClr val="0033CC"/>
                </a:solidFill>
                <a:latin typeface="Comic Sans MS"/>
                <a:cs typeface="Comic Sans MS"/>
              </a:rPr>
              <a:t>n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671559" y="1638300"/>
            <a:ext cx="119380" cy="295910"/>
          </a:xfrm>
          <a:custGeom>
            <a:avLst/>
            <a:gdLst/>
            <a:ahLst/>
            <a:cxnLst/>
            <a:rect l="l" t="t" r="r" b="b"/>
            <a:pathLst>
              <a:path w="119379" h="295910">
                <a:moveTo>
                  <a:pt x="39624" y="176784"/>
                </a:moveTo>
                <a:lnTo>
                  <a:pt x="0" y="176784"/>
                </a:lnTo>
                <a:lnTo>
                  <a:pt x="59436" y="295656"/>
                </a:lnTo>
                <a:lnTo>
                  <a:pt x="108966" y="196596"/>
                </a:lnTo>
                <a:lnTo>
                  <a:pt x="39624" y="196596"/>
                </a:lnTo>
                <a:lnTo>
                  <a:pt x="39624" y="176784"/>
                </a:lnTo>
                <a:close/>
              </a:path>
              <a:path w="119379" h="295910">
                <a:moveTo>
                  <a:pt x="79248" y="0"/>
                </a:moveTo>
                <a:lnTo>
                  <a:pt x="39624" y="0"/>
                </a:lnTo>
                <a:lnTo>
                  <a:pt x="39624" y="196596"/>
                </a:lnTo>
                <a:lnTo>
                  <a:pt x="79248" y="196596"/>
                </a:lnTo>
                <a:lnTo>
                  <a:pt x="79248" y="0"/>
                </a:lnTo>
                <a:close/>
              </a:path>
              <a:path w="119379" h="295910">
                <a:moveTo>
                  <a:pt x="118872" y="176784"/>
                </a:moveTo>
                <a:lnTo>
                  <a:pt x="79248" y="176784"/>
                </a:lnTo>
                <a:lnTo>
                  <a:pt x="79248" y="196596"/>
                </a:lnTo>
                <a:lnTo>
                  <a:pt x="108966" y="196596"/>
                </a:lnTo>
                <a:lnTo>
                  <a:pt x="118872" y="176784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71559" y="2080259"/>
            <a:ext cx="119380" cy="299085"/>
          </a:xfrm>
          <a:custGeom>
            <a:avLst/>
            <a:gdLst/>
            <a:ahLst/>
            <a:cxnLst/>
            <a:rect l="l" t="t" r="r" b="b"/>
            <a:pathLst>
              <a:path w="119379" h="299085">
                <a:moveTo>
                  <a:pt x="39624" y="179831"/>
                </a:moveTo>
                <a:lnTo>
                  <a:pt x="0" y="179831"/>
                </a:lnTo>
                <a:lnTo>
                  <a:pt x="59436" y="298703"/>
                </a:lnTo>
                <a:lnTo>
                  <a:pt x="108966" y="199644"/>
                </a:lnTo>
                <a:lnTo>
                  <a:pt x="39624" y="199644"/>
                </a:lnTo>
                <a:lnTo>
                  <a:pt x="39624" y="179831"/>
                </a:lnTo>
                <a:close/>
              </a:path>
              <a:path w="119379" h="299085">
                <a:moveTo>
                  <a:pt x="79248" y="0"/>
                </a:moveTo>
                <a:lnTo>
                  <a:pt x="39624" y="0"/>
                </a:lnTo>
                <a:lnTo>
                  <a:pt x="39624" y="199644"/>
                </a:lnTo>
                <a:lnTo>
                  <a:pt x="79248" y="199644"/>
                </a:lnTo>
                <a:lnTo>
                  <a:pt x="79248" y="0"/>
                </a:lnTo>
                <a:close/>
              </a:path>
              <a:path w="119379" h="299085">
                <a:moveTo>
                  <a:pt x="118872" y="179831"/>
                </a:moveTo>
                <a:lnTo>
                  <a:pt x="79248" y="179831"/>
                </a:lnTo>
                <a:lnTo>
                  <a:pt x="79248" y="199644"/>
                </a:lnTo>
                <a:lnTo>
                  <a:pt x="108966" y="199644"/>
                </a:lnTo>
                <a:lnTo>
                  <a:pt x="118872" y="179831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71559" y="2525267"/>
            <a:ext cx="119380" cy="295910"/>
          </a:xfrm>
          <a:custGeom>
            <a:avLst/>
            <a:gdLst/>
            <a:ahLst/>
            <a:cxnLst/>
            <a:rect l="l" t="t" r="r" b="b"/>
            <a:pathLst>
              <a:path w="119379" h="295910">
                <a:moveTo>
                  <a:pt x="39624" y="176783"/>
                </a:moveTo>
                <a:lnTo>
                  <a:pt x="0" y="176783"/>
                </a:lnTo>
                <a:lnTo>
                  <a:pt x="59436" y="295656"/>
                </a:lnTo>
                <a:lnTo>
                  <a:pt x="108966" y="196595"/>
                </a:lnTo>
                <a:lnTo>
                  <a:pt x="39624" y="196595"/>
                </a:lnTo>
                <a:lnTo>
                  <a:pt x="39624" y="176783"/>
                </a:lnTo>
                <a:close/>
              </a:path>
              <a:path w="119379" h="295910">
                <a:moveTo>
                  <a:pt x="79248" y="0"/>
                </a:moveTo>
                <a:lnTo>
                  <a:pt x="39624" y="0"/>
                </a:lnTo>
                <a:lnTo>
                  <a:pt x="39624" y="196595"/>
                </a:lnTo>
                <a:lnTo>
                  <a:pt x="79248" y="196595"/>
                </a:lnTo>
                <a:lnTo>
                  <a:pt x="79248" y="0"/>
                </a:lnTo>
                <a:close/>
              </a:path>
              <a:path w="119379" h="295910">
                <a:moveTo>
                  <a:pt x="118872" y="176783"/>
                </a:moveTo>
                <a:lnTo>
                  <a:pt x="79248" y="176783"/>
                </a:lnTo>
                <a:lnTo>
                  <a:pt x="79248" y="196595"/>
                </a:lnTo>
                <a:lnTo>
                  <a:pt x="108966" y="196595"/>
                </a:lnTo>
                <a:lnTo>
                  <a:pt x="118872" y="176783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988300" y="1350391"/>
            <a:ext cx="469900" cy="356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b="1" spc="-15" dirty="0">
                <a:solidFill>
                  <a:srgbClr val="006600"/>
                </a:solidFill>
                <a:latin typeface="Comic Sans MS"/>
                <a:cs typeface="Comic Sans MS"/>
              </a:rPr>
              <a:t>C</a:t>
            </a:r>
            <a:r>
              <a:rPr sz="800" b="1" spc="-10" dirty="0">
                <a:solidFill>
                  <a:srgbClr val="006600"/>
                </a:solidFill>
                <a:latin typeface="Comic Sans MS"/>
                <a:cs typeface="Comic Sans MS"/>
              </a:rPr>
              <a:t>u</a:t>
            </a:r>
            <a:r>
              <a:rPr sz="800" b="1" spc="-5" dirty="0">
                <a:solidFill>
                  <a:srgbClr val="006600"/>
                </a:solidFill>
                <a:latin typeface="Comic Sans MS"/>
                <a:cs typeface="Comic Sans MS"/>
              </a:rPr>
              <a:t>s</a:t>
            </a:r>
            <a:r>
              <a:rPr sz="800" b="1" dirty="0">
                <a:solidFill>
                  <a:srgbClr val="006600"/>
                </a:solidFill>
                <a:latin typeface="Comic Sans MS"/>
                <a:cs typeface="Comic Sans MS"/>
              </a:rPr>
              <a:t>t</a:t>
            </a:r>
            <a:r>
              <a:rPr sz="800" b="1" spc="-15" dirty="0">
                <a:solidFill>
                  <a:srgbClr val="006600"/>
                </a:solidFill>
                <a:latin typeface="Comic Sans MS"/>
                <a:cs typeface="Comic Sans MS"/>
              </a:rPr>
              <a:t>o</a:t>
            </a:r>
            <a:r>
              <a:rPr sz="800" b="1" spc="-5" dirty="0">
                <a:solidFill>
                  <a:srgbClr val="006600"/>
                </a:solidFill>
                <a:latin typeface="Comic Sans MS"/>
                <a:cs typeface="Comic Sans MS"/>
              </a:rPr>
              <a:t>m</a:t>
            </a:r>
            <a:r>
              <a:rPr sz="800" b="1" spc="-20" dirty="0">
                <a:solidFill>
                  <a:srgbClr val="006600"/>
                </a:solidFill>
                <a:latin typeface="Comic Sans MS"/>
                <a:cs typeface="Comic Sans MS"/>
              </a:rPr>
              <a:t>e</a:t>
            </a:r>
            <a:r>
              <a:rPr sz="800" b="1" spc="-5" dirty="0">
                <a:solidFill>
                  <a:srgbClr val="006600"/>
                </a:solidFill>
                <a:latin typeface="Comic Sans MS"/>
                <a:cs typeface="Comic Sans MS"/>
              </a:rPr>
              <a:t>r</a:t>
            </a:r>
            <a:endParaRPr sz="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800" b="1" spc="-10" dirty="0">
                <a:solidFill>
                  <a:srgbClr val="006600"/>
                </a:solidFill>
                <a:latin typeface="Comic Sans MS"/>
                <a:cs typeface="Comic Sans MS"/>
              </a:rPr>
              <a:t>satisfied</a:t>
            </a:r>
            <a:endParaRPr sz="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2685" y="147903"/>
            <a:ext cx="36087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Prototyping</a:t>
            </a:r>
            <a:r>
              <a:rPr sz="3600" spc="-60" dirty="0"/>
              <a:t> </a:t>
            </a:r>
            <a:r>
              <a:rPr sz="3600" dirty="0"/>
              <a:t>Model</a:t>
            </a:r>
            <a:endParaRPr sz="360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80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1686" y="512952"/>
            <a:ext cx="4521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b="1" spc="-10" dirty="0">
                <a:solidFill>
                  <a:srgbClr val="0033CC"/>
                </a:solidFill>
                <a:latin typeface="Calibri"/>
                <a:cs typeface="Calibri"/>
              </a:rPr>
              <a:t>(C</a:t>
            </a:r>
            <a:r>
              <a:rPr sz="1100" b="1" spc="-5" dirty="0">
                <a:solidFill>
                  <a:srgbClr val="0033CC"/>
                </a:solidFill>
                <a:latin typeface="Calibri"/>
                <a:cs typeface="Calibri"/>
              </a:rPr>
              <a:t>O</a:t>
            </a:r>
            <a:r>
              <a:rPr sz="1100" b="1" spc="-15" dirty="0">
                <a:solidFill>
                  <a:srgbClr val="0033CC"/>
                </a:solidFill>
                <a:latin typeface="Calibri"/>
                <a:cs typeface="Calibri"/>
              </a:rPr>
              <a:t>N</a:t>
            </a:r>
            <a:r>
              <a:rPr sz="1100" b="1" dirty="0">
                <a:solidFill>
                  <a:srgbClr val="0033CC"/>
                </a:solidFill>
                <a:latin typeface="Calibri"/>
                <a:cs typeface="Calibri"/>
              </a:rPr>
              <a:t>T</a:t>
            </a:r>
            <a:r>
              <a:rPr sz="1100" b="1" spc="-10" dirty="0">
                <a:solidFill>
                  <a:srgbClr val="0033CC"/>
                </a:solidFill>
                <a:latin typeface="Calibri"/>
                <a:cs typeface="Calibri"/>
              </a:rPr>
              <a:t>.</a:t>
            </a:r>
            <a:r>
              <a:rPr sz="1100" b="1" dirty="0">
                <a:solidFill>
                  <a:srgbClr val="0033CC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08" y="643392"/>
            <a:ext cx="601408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5080" indent="-231775">
              <a:lnSpc>
                <a:spcPct val="1201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10" dirty="0">
                <a:latin typeface="Calibri"/>
                <a:cs typeface="Calibri"/>
              </a:rPr>
              <a:t>Requirements </a:t>
            </a:r>
            <a:r>
              <a:rPr sz="2800" dirty="0">
                <a:latin typeface="Calibri"/>
                <a:cs typeface="Calibri"/>
              </a:rPr>
              <a:t>analysis and </a:t>
            </a:r>
            <a:r>
              <a:rPr sz="2800" spc="-5" dirty="0">
                <a:latin typeface="Calibri"/>
                <a:cs typeface="Calibri"/>
              </a:rPr>
              <a:t>specification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phase </a:t>
            </a:r>
            <a:r>
              <a:rPr sz="2800" spc="-5" dirty="0">
                <a:latin typeface="Calibri"/>
                <a:cs typeface="Calibri"/>
              </a:rPr>
              <a:t>becomes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redundant: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504" y="1867865"/>
            <a:ext cx="60191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89300" algn="l"/>
              </a:tabLst>
            </a:pPr>
            <a:r>
              <a:rPr sz="2400" spc="25" dirty="0">
                <a:latin typeface="Arial MT"/>
                <a:cs typeface="Arial MT"/>
              </a:rPr>
              <a:t>–</a:t>
            </a:r>
            <a:r>
              <a:rPr sz="2400" spc="25" dirty="0">
                <a:latin typeface="Calibri"/>
                <a:cs typeface="Calibri"/>
              </a:rPr>
              <a:t>Final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working </a:t>
            </a:r>
            <a:r>
              <a:rPr sz="2400" spc="-5" dirty="0">
                <a:latin typeface="Calibri"/>
                <a:cs typeface="Calibri"/>
              </a:rPr>
              <a:t>prototype	</a:t>
            </a:r>
            <a:r>
              <a:rPr sz="2400" spc="-10" dirty="0">
                <a:latin typeface="Calibri"/>
                <a:cs typeface="Calibri"/>
              </a:rPr>
              <a:t>(incorporating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08" y="2140920"/>
            <a:ext cx="8905875" cy="218630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410"/>
              </a:spcBef>
              <a:tabLst>
                <a:tab pos="4822190" algn="l"/>
              </a:tabLst>
            </a:pPr>
            <a:r>
              <a:rPr sz="2400" spc="-10" dirty="0">
                <a:latin typeface="Calibri"/>
                <a:cs typeface="Calibri"/>
              </a:rPr>
              <a:t>feedbacks)</a:t>
            </a:r>
            <a:r>
              <a:rPr sz="2400" spc="-5" dirty="0">
                <a:latin typeface="Calibri"/>
                <a:cs typeface="Calibri"/>
              </a:rPr>
              <a:t> serves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99"/>
                </a:solidFill>
                <a:latin typeface="Calibri"/>
                <a:cs typeface="Calibri"/>
              </a:rPr>
              <a:t>animated	requirements</a:t>
            </a:r>
            <a:r>
              <a:rPr sz="2400" b="1" spc="-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99"/>
                </a:solidFill>
                <a:latin typeface="Calibri"/>
                <a:cs typeface="Calibri"/>
              </a:rPr>
              <a:t>specification.</a:t>
            </a:r>
            <a:endParaRPr sz="2400">
              <a:latin typeface="Calibri"/>
              <a:cs typeface="Calibri"/>
            </a:endParaRPr>
          </a:p>
          <a:p>
            <a:pPr marL="231775" marR="47625" indent="-231775" algn="r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231775" algn="l"/>
              </a:tabLst>
            </a:pP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Design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prototype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usually</a:t>
            </a:r>
            <a:r>
              <a:rPr sz="2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thrown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away</a:t>
            </a:r>
            <a:r>
              <a:rPr sz="2800" spc="-3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80"/>
              </a:spcBef>
            </a:pPr>
            <a:r>
              <a:rPr sz="2400" spc="-15" dirty="0">
                <a:latin typeface="Arial MT"/>
                <a:cs typeface="Arial MT"/>
              </a:rPr>
              <a:t>–</a:t>
            </a:r>
            <a:r>
              <a:rPr sz="2400" spc="-15" dirty="0">
                <a:latin typeface="Calibri"/>
                <a:cs typeface="Calibri"/>
              </a:rPr>
              <a:t>However,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experience</a:t>
            </a:r>
            <a:r>
              <a:rPr sz="2400" spc="-10" dirty="0">
                <a:latin typeface="Calibri"/>
                <a:cs typeface="Calibri"/>
              </a:rPr>
              <a:t> gathered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prototype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endParaRPr sz="2400">
              <a:latin typeface="Calibri"/>
              <a:cs typeface="Calibri"/>
            </a:endParaRPr>
          </a:p>
          <a:p>
            <a:pPr marL="51562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17145" y="466153"/>
            <a:ext cx="2963545" cy="1975485"/>
            <a:chOff x="6117145" y="466153"/>
            <a:chExt cx="2963545" cy="1975485"/>
          </a:xfrm>
        </p:grpSpPr>
        <p:sp>
          <p:nvSpPr>
            <p:cNvPr id="8" name="object 8"/>
            <p:cNvSpPr/>
            <p:nvPr/>
          </p:nvSpPr>
          <p:spPr>
            <a:xfrm>
              <a:off x="7962900" y="2159253"/>
              <a:ext cx="1097280" cy="262890"/>
            </a:xfrm>
            <a:custGeom>
              <a:avLst/>
              <a:gdLst/>
              <a:ahLst/>
              <a:cxnLst/>
              <a:rect l="l" t="t" r="r" b="b"/>
              <a:pathLst>
                <a:path w="1097279" h="262889">
                  <a:moveTo>
                    <a:pt x="1097280" y="1270"/>
                  </a:moveTo>
                  <a:lnTo>
                    <a:pt x="1097153" y="1270"/>
                  </a:lnTo>
                  <a:lnTo>
                    <a:pt x="1097153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61620"/>
                  </a:lnTo>
                  <a:lnTo>
                    <a:pt x="381" y="261620"/>
                  </a:lnTo>
                  <a:lnTo>
                    <a:pt x="381" y="262890"/>
                  </a:lnTo>
                  <a:lnTo>
                    <a:pt x="1096899" y="262890"/>
                  </a:lnTo>
                  <a:lnTo>
                    <a:pt x="1096899" y="261620"/>
                  </a:lnTo>
                  <a:lnTo>
                    <a:pt x="1097280" y="261620"/>
                  </a:lnTo>
                  <a:lnTo>
                    <a:pt x="1097280" y="12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62900" y="2159508"/>
              <a:ext cx="1097280" cy="262255"/>
            </a:xfrm>
            <a:custGeom>
              <a:avLst/>
              <a:gdLst/>
              <a:ahLst/>
              <a:cxnLst/>
              <a:rect l="l" t="t" r="r" b="b"/>
              <a:pathLst>
                <a:path w="1097279" h="262255">
                  <a:moveTo>
                    <a:pt x="0" y="1143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143" y="0"/>
                  </a:lnTo>
                  <a:lnTo>
                    <a:pt x="1096136" y="0"/>
                  </a:lnTo>
                  <a:lnTo>
                    <a:pt x="1096772" y="0"/>
                  </a:lnTo>
                  <a:lnTo>
                    <a:pt x="1097279" y="508"/>
                  </a:lnTo>
                  <a:lnTo>
                    <a:pt x="1097279" y="1143"/>
                  </a:lnTo>
                  <a:lnTo>
                    <a:pt x="1097279" y="260985"/>
                  </a:lnTo>
                  <a:lnTo>
                    <a:pt x="1097279" y="261620"/>
                  </a:lnTo>
                  <a:lnTo>
                    <a:pt x="1096772" y="262128"/>
                  </a:lnTo>
                  <a:lnTo>
                    <a:pt x="1096136" y="262128"/>
                  </a:lnTo>
                  <a:lnTo>
                    <a:pt x="1143" y="262128"/>
                  </a:lnTo>
                  <a:lnTo>
                    <a:pt x="507" y="262128"/>
                  </a:lnTo>
                  <a:lnTo>
                    <a:pt x="0" y="261620"/>
                  </a:lnTo>
                  <a:lnTo>
                    <a:pt x="0" y="260985"/>
                  </a:lnTo>
                  <a:lnTo>
                    <a:pt x="0" y="1143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8852" y="1741423"/>
              <a:ext cx="1097280" cy="262890"/>
            </a:xfrm>
            <a:custGeom>
              <a:avLst/>
              <a:gdLst/>
              <a:ahLst/>
              <a:cxnLst/>
              <a:rect l="l" t="t" r="r" b="b"/>
              <a:pathLst>
                <a:path w="1097279" h="262889">
                  <a:moveTo>
                    <a:pt x="1097280" y="1270"/>
                  </a:moveTo>
                  <a:lnTo>
                    <a:pt x="1096886" y="1270"/>
                  </a:lnTo>
                  <a:lnTo>
                    <a:pt x="1096886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261620"/>
                  </a:lnTo>
                  <a:lnTo>
                    <a:pt x="127" y="261620"/>
                  </a:lnTo>
                  <a:lnTo>
                    <a:pt x="127" y="262890"/>
                  </a:lnTo>
                  <a:lnTo>
                    <a:pt x="1097153" y="262890"/>
                  </a:lnTo>
                  <a:lnTo>
                    <a:pt x="1097153" y="261620"/>
                  </a:lnTo>
                  <a:lnTo>
                    <a:pt x="1097280" y="261620"/>
                  </a:lnTo>
                  <a:lnTo>
                    <a:pt x="1097280" y="12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8852" y="1741931"/>
              <a:ext cx="1097280" cy="262255"/>
            </a:xfrm>
            <a:custGeom>
              <a:avLst/>
              <a:gdLst/>
              <a:ahLst/>
              <a:cxnLst/>
              <a:rect l="l" t="t" r="r" b="b"/>
              <a:pathLst>
                <a:path w="1097279" h="262255">
                  <a:moveTo>
                    <a:pt x="0" y="1142"/>
                  </a:moveTo>
                  <a:lnTo>
                    <a:pt x="0" y="507"/>
                  </a:lnTo>
                  <a:lnTo>
                    <a:pt x="507" y="0"/>
                  </a:lnTo>
                  <a:lnTo>
                    <a:pt x="1143" y="0"/>
                  </a:lnTo>
                  <a:lnTo>
                    <a:pt x="1096137" y="0"/>
                  </a:lnTo>
                  <a:lnTo>
                    <a:pt x="1096772" y="0"/>
                  </a:lnTo>
                  <a:lnTo>
                    <a:pt x="1097279" y="507"/>
                  </a:lnTo>
                  <a:lnTo>
                    <a:pt x="1097279" y="1142"/>
                  </a:lnTo>
                  <a:lnTo>
                    <a:pt x="1097279" y="260984"/>
                  </a:lnTo>
                  <a:lnTo>
                    <a:pt x="1097279" y="261619"/>
                  </a:lnTo>
                  <a:lnTo>
                    <a:pt x="1096772" y="262127"/>
                  </a:lnTo>
                  <a:lnTo>
                    <a:pt x="1096137" y="262127"/>
                  </a:lnTo>
                  <a:lnTo>
                    <a:pt x="1143" y="262127"/>
                  </a:lnTo>
                  <a:lnTo>
                    <a:pt x="507" y="262127"/>
                  </a:lnTo>
                  <a:lnTo>
                    <a:pt x="0" y="261619"/>
                  </a:lnTo>
                  <a:lnTo>
                    <a:pt x="0" y="260984"/>
                  </a:lnTo>
                  <a:lnTo>
                    <a:pt x="0" y="1142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97852" y="1324863"/>
              <a:ext cx="1097280" cy="259079"/>
            </a:xfrm>
            <a:custGeom>
              <a:avLst/>
              <a:gdLst/>
              <a:ahLst/>
              <a:cxnLst/>
              <a:rect l="l" t="t" r="r" b="b"/>
              <a:pathLst>
                <a:path w="1097279" h="259080">
                  <a:moveTo>
                    <a:pt x="1097280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7810"/>
                  </a:lnTo>
                  <a:lnTo>
                    <a:pt x="381" y="257810"/>
                  </a:lnTo>
                  <a:lnTo>
                    <a:pt x="381" y="259080"/>
                  </a:lnTo>
                  <a:lnTo>
                    <a:pt x="1096899" y="259080"/>
                  </a:lnTo>
                  <a:lnTo>
                    <a:pt x="1096899" y="257810"/>
                  </a:lnTo>
                  <a:lnTo>
                    <a:pt x="1097280" y="257810"/>
                  </a:lnTo>
                  <a:lnTo>
                    <a:pt x="1097280" y="1270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97852" y="1324355"/>
              <a:ext cx="1097280" cy="259079"/>
            </a:xfrm>
            <a:custGeom>
              <a:avLst/>
              <a:gdLst/>
              <a:ahLst/>
              <a:cxnLst/>
              <a:rect l="l" t="t" r="r" b="b"/>
              <a:pathLst>
                <a:path w="1097279" h="259080">
                  <a:moveTo>
                    <a:pt x="0" y="1142"/>
                  </a:moveTo>
                  <a:lnTo>
                    <a:pt x="0" y="507"/>
                  </a:lnTo>
                  <a:lnTo>
                    <a:pt x="507" y="0"/>
                  </a:lnTo>
                  <a:lnTo>
                    <a:pt x="1016" y="0"/>
                  </a:lnTo>
                  <a:lnTo>
                    <a:pt x="1096137" y="0"/>
                  </a:lnTo>
                  <a:lnTo>
                    <a:pt x="1096772" y="0"/>
                  </a:lnTo>
                  <a:lnTo>
                    <a:pt x="1097279" y="507"/>
                  </a:lnTo>
                  <a:lnTo>
                    <a:pt x="1097279" y="1142"/>
                  </a:lnTo>
                  <a:lnTo>
                    <a:pt x="1097279" y="257937"/>
                  </a:lnTo>
                  <a:lnTo>
                    <a:pt x="1097279" y="258571"/>
                  </a:lnTo>
                  <a:lnTo>
                    <a:pt x="1096772" y="259079"/>
                  </a:lnTo>
                  <a:lnTo>
                    <a:pt x="1096137" y="259079"/>
                  </a:lnTo>
                  <a:lnTo>
                    <a:pt x="1016" y="259079"/>
                  </a:lnTo>
                  <a:lnTo>
                    <a:pt x="507" y="259079"/>
                  </a:lnTo>
                  <a:lnTo>
                    <a:pt x="0" y="258571"/>
                  </a:lnTo>
                  <a:lnTo>
                    <a:pt x="0" y="257937"/>
                  </a:lnTo>
                  <a:lnTo>
                    <a:pt x="0" y="1142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13804" y="907033"/>
              <a:ext cx="1100455" cy="259079"/>
            </a:xfrm>
            <a:custGeom>
              <a:avLst/>
              <a:gdLst/>
              <a:ahLst/>
              <a:cxnLst/>
              <a:rect l="l" t="t" r="r" b="b"/>
              <a:pathLst>
                <a:path w="1100454" h="259080">
                  <a:moveTo>
                    <a:pt x="1100328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7810"/>
                  </a:lnTo>
                  <a:lnTo>
                    <a:pt x="127" y="257810"/>
                  </a:lnTo>
                  <a:lnTo>
                    <a:pt x="127" y="259080"/>
                  </a:lnTo>
                  <a:lnTo>
                    <a:pt x="1100201" y="259080"/>
                  </a:lnTo>
                  <a:lnTo>
                    <a:pt x="1100201" y="257810"/>
                  </a:lnTo>
                  <a:lnTo>
                    <a:pt x="1100328" y="257810"/>
                  </a:lnTo>
                  <a:lnTo>
                    <a:pt x="1100328" y="1270"/>
                  </a:lnTo>
                  <a:lnTo>
                    <a:pt x="110032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13804" y="906779"/>
              <a:ext cx="1100455" cy="259079"/>
            </a:xfrm>
            <a:custGeom>
              <a:avLst/>
              <a:gdLst/>
              <a:ahLst/>
              <a:cxnLst/>
              <a:rect l="l" t="t" r="r" b="b"/>
              <a:pathLst>
                <a:path w="1100454" h="259080">
                  <a:moveTo>
                    <a:pt x="0" y="1143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143" y="0"/>
                  </a:lnTo>
                  <a:lnTo>
                    <a:pt x="1099185" y="0"/>
                  </a:lnTo>
                  <a:lnTo>
                    <a:pt x="1099820" y="0"/>
                  </a:lnTo>
                  <a:lnTo>
                    <a:pt x="1100327" y="508"/>
                  </a:lnTo>
                  <a:lnTo>
                    <a:pt x="1100327" y="1143"/>
                  </a:lnTo>
                  <a:lnTo>
                    <a:pt x="1100327" y="257937"/>
                  </a:lnTo>
                  <a:lnTo>
                    <a:pt x="1100327" y="258572"/>
                  </a:lnTo>
                  <a:lnTo>
                    <a:pt x="1099820" y="259080"/>
                  </a:lnTo>
                  <a:lnTo>
                    <a:pt x="1099185" y="259080"/>
                  </a:lnTo>
                  <a:lnTo>
                    <a:pt x="1143" y="259080"/>
                  </a:lnTo>
                  <a:lnTo>
                    <a:pt x="507" y="259080"/>
                  </a:lnTo>
                  <a:lnTo>
                    <a:pt x="0" y="258572"/>
                  </a:lnTo>
                  <a:lnTo>
                    <a:pt x="0" y="257937"/>
                  </a:lnTo>
                  <a:lnTo>
                    <a:pt x="0" y="1143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7148" y="486663"/>
              <a:ext cx="1393190" cy="261620"/>
            </a:xfrm>
            <a:custGeom>
              <a:avLst/>
              <a:gdLst/>
              <a:ahLst/>
              <a:cxnLst/>
              <a:rect l="l" t="t" r="r" b="b"/>
              <a:pathLst>
                <a:path w="1393190" h="261620">
                  <a:moveTo>
                    <a:pt x="1392936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61620"/>
                  </a:lnTo>
                  <a:lnTo>
                    <a:pt x="1392936" y="261620"/>
                  </a:lnTo>
                  <a:lnTo>
                    <a:pt x="1392936" y="1270"/>
                  </a:lnTo>
                  <a:lnTo>
                    <a:pt x="139293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7148" y="486155"/>
              <a:ext cx="1393190" cy="262255"/>
            </a:xfrm>
            <a:custGeom>
              <a:avLst/>
              <a:gdLst/>
              <a:ahLst/>
              <a:cxnLst/>
              <a:rect l="l" t="t" r="r" b="b"/>
              <a:pathLst>
                <a:path w="1393190" h="262255">
                  <a:moveTo>
                    <a:pt x="0" y="1142"/>
                  </a:moveTo>
                  <a:lnTo>
                    <a:pt x="0" y="507"/>
                  </a:lnTo>
                  <a:lnTo>
                    <a:pt x="507" y="0"/>
                  </a:lnTo>
                  <a:lnTo>
                    <a:pt x="1142" y="0"/>
                  </a:lnTo>
                  <a:lnTo>
                    <a:pt x="1391793" y="0"/>
                  </a:lnTo>
                  <a:lnTo>
                    <a:pt x="1392427" y="0"/>
                  </a:lnTo>
                  <a:lnTo>
                    <a:pt x="1392935" y="507"/>
                  </a:lnTo>
                  <a:lnTo>
                    <a:pt x="1392935" y="1142"/>
                  </a:lnTo>
                  <a:lnTo>
                    <a:pt x="1392935" y="260984"/>
                  </a:lnTo>
                  <a:lnTo>
                    <a:pt x="1392935" y="261619"/>
                  </a:lnTo>
                  <a:lnTo>
                    <a:pt x="1392427" y="262127"/>
                  </a:lnTo>
                  <a:lnTo>
                    <a:pt x="1391793" y="262127"/>
                  </a:lnTo>
                  <a:lnTo>
                    <a:pt x="1142" y="262127"/>
                  </a:lnTo>
                  <a:lnTo>
                    <a:pt x="507" y="262127"/>
                  </a:lnTo>
                  <a:lnTo>
                    <a:pt x="0" y="261619"/>
                  </a:lnTo>
                  <a:lnTo>
                    <a:pt x="0" y="260984"/>
                  </a:lnTo>
                  <a:lnTo>
                    <a:pt x="0" y="1142"/>
                  </a:lnTo>
                  <a:close/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64960" y="490473"/>
            <a:ext cx="129603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dirty="0">
                <a:latin typeface="Comic Sans MS"/>
                <a:cs typeface="Comic Sans MS"/>
              </a:rPr>
              <a:t>Prototype</a:t>
            </a:r>
            <a:r>
              <a:rPr sz="900" b="1" spc="-6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Construction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06488" y="896873"/>
            <a:ext cx="41846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" dirty="0">
                <a:latin typeface="Comic Sans MS"/>
                <a:cs typeface="Comic Sans MS"/>
              </a:rPr>
              <a:t>D</a:t>
            </a:r>
            <a:r>
              <a:rPr sz="1000" b="1" spc="-15" dirty="0">
                <a:latin typeface="Comic Sans MS"/>
                <a:cs typeface="Comic Sans MS"/>
              </a:rPr>
              <a:t>es</a:t>
            </a:r>
            <a:r>
              <a:rPr sz="1000" b="1" dirty="0">
                <a:latin typeface="Comic Sans MS"/>
                <a:cs typeface="Comic Sans MS"/>
              </a:rPr>
              <a:t>i</a:t>
            </a:r>
            <a:r>
              <a:rPr sz="1000" b="1" spc="-10" dirty="0">
                <a:latin typeface="Comic Sans MS"/>
                <a:cs typeface="Comic Sans MS"/>
              </a:rPr>
              <a:t>g</a:t>
            </a:r>
            <a:r>
              <a:rPr sz="1000" b="1" dirty="0">
                <a:latin typeface="Comic Sans MS"/>
                <a:cs typeface="Comic Sans MS"/>
              </a:rPr>
              <a:t>n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43621" y="1314653"/>
            <a:ext cx="419734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5" dirty="0">
                <a:latin typeface="Comic Sans MS"/>
                <a:cs typeface="Comic Sans MS"/>
              </a:rPr>
              <a:t>C</a:t>
            </a:r>
            <a:r>
              <a:rPr sz="1000" b="1" dirty="0">
                <a:latin typeface="Comic Sans MS"/>
                <a:cs typeface="Comic Sans MS"/>
              </a:rPr>
              <a:t>o</a:t>
            </a:r>
            <a:r>
              <a:rPr sz="1000" b="1" spc="10" dirty="0">
                <a:latin typeface="Comic Sans MS"/>
                <a:cs typeface="Comic Sans MS"/>
              </a:rPr>
              <a:t>d</a:t>
            </a:r>
            <a:r>
              <a:rPr sz="1000" b="1" dirty="0">
                <a:latin typeface="Comic Sans MS"/>
                <a:cs typeface="Comic Sans MS"/>
              </a:rPr>
              <a:t>ing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2734" y="1733549"/>
            <a:ext cx="4794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latin typeface="Comic Sans MS"/>
                <a:cs typeface="Comic Sans MS"/>
              </a:rPr>
              <a:t>T</a:t>
            </a:r>
            <a:r>
              <a:rPr sz="1000" b="1" spc="-10" dirty="0">
                <a:latin typeface="Comic Sans MS"/>
                <a:cs typeface="Comic Sans MS"/>
              </a:rPr>
              <a:t>es</a:t>
            </a:r>
            <a:r>
              <a:rPr sz="1000" b="1" spc="5" dirty="0">
                <a:latin typeface="Comic Sans MS"/>
                <a:cs typeface="Comic Sans MS"/>
              </a:rPr>
              <a:t>ti</a:t>
            </a:r>
            <a:r>
              <a:rPr sz="1000" b="1" dirty="0">
                <a:latin typeface="Comic Sans MS"/>
                <a:cs typeface="Comic Sans MS"/>
              </a:rPr>
              <a:t>ng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86166" y="2152650"/>
            <a:ext cx="7854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5" dirty="0">
                <a:latin typeface="Comic Sans MS"/>
                <a:cs typeface="Comic Sans MS"/>
              </a:rPr>
              <a:t>M</a:t>
            </a:r>
            <a:r>
              <a:rPr sz="1000" b="1" spc="-10" dirty="0">
                <a:latin typeface="Comic Sans MS"/>
                <a:cs typeface="Comic Sans MS"/>
              </a:rPr>
              <a:t>a</a:t>
            </a:r>
            <a:r>
              <a:rPr sz="1000" b="1" dirty="0">
                <a:latin typeface="Comic Sans MS"/>
                <a:cs typeface="Comic Sans MS"/>
              </a:rPr>
              <a:t>i</a:t>
            </a:r>
            <a:r>
              <a:rPr sz="1000" b="1" spc="-5" dirty="0">
                <a:latin typeface="Comic Sans MS"/>
                <a:cs typeface="Comic Sans MS"/>
              </a:rPr>
              <a:t>n</a:t>
            </a:r>
            <a:r>
              <a:rPr sz="1000" b="1" dirty="0">
                <a:latin typeface="Comic Sans MS"/>
                <a:cs typeface="Comic Sans MS"/>
              </a:rPr>
              <a:t>t</a:t>
            </a:r>
            <a:r>
              <a:rPr sz="1000" b="1" spc="-15" dirty="0">
                <a:latin typeface="Comic Sans MS"/>
                <a:cs typeface="Comic Sans MS"/>
              </a:rPr>
              <a:t>e</a:t>
            </a:r>
            <a:r>
              <a:rPr sz="1000" b="1" spc="-5" dirty="0">
                <a:latin typeface="Comic Sans MS"/>
                <a:cs typeface="Comic Sans MS"/>
              </a:rPr>
              <a:t>n</a:t>
            </a:r>
            <a:r>
              <a:rPr sz="1000" b="1" spc="-10" dirty="0">
                <a:latin typeface="Comic Sans MS"/>
                <a:cs typeface="Comic Sans MS"/>
              </a:rPr>
              <a:t>a</a:t>
            </a:r>
            <a:r>
              <a:rPr sz="1000" b="1" spc="-5" dirty="0">
                <a:latin typeface="Comic Sans MS"/>
                <a:cs typeface="Comic Sans MS"/>
              </a:rPr>
              <a:t>n</a:t>
            </a:r>
            <a:r>
              <a:rPr sz="1000" b="1" spc="5" dirty="0">
                <a:latin typeface="Comic Sans MS"/>
                <a:cs typeface="Comic Sans MS"/>
              </a:rPr>
              <a:t>c</a:t>
            </a:r>
            <a:r>
              <a:rPr sz="1000" b="1" dirty="0">
                <a:latin typeface="Comic Sans MS"/>
                <a:cs typeface="Comic Sans MS"/>
              </a:rPr>
              <a:t>e</a:t>
            </a:r>
            <a:endParaRPr sz="1000">
              <a:latin typeface="Comic Sans MS"/>
              <a:cs typeface="Comic Sans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46392" y="624839"/>
            <a:ext cx="1935480" cy="1713230"/>
            <a:chOff x="6946392" y="624839"/>
            <a:chExt cx="1935480" cy="1713230"/>
          </a:xfrm>
        </p:grpSpPr>
        <p:sp>
          <p:nvSpPr>
            <p:cNvPr id="24" name="object 24"/>
            <p:cNvSpPr/>
            <p:nvPr/>
          </p:nvSpPr>
          <p:spPr>
            <a:xfrm>
              <a:off x="7533132" y="644651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>
                  <a:moveTo>
                    <a:pt x="0" y="0"/>
                  </a:moveTo>
                  <a:lnTo>
                    <a:pt x="140208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15555" y="644397"/>
              <a:ext cx="119380" cy="262890"/>
            </a:xfrm>
            <a:custGeom>
              <a:avLst/>
              <a:gdLst/>
              <a:ahLst/>
              <a:cxnLst/>
              <a:rect l="l" t="t" r="r" b="b"/>
              <a:pathLst>
                <a:path w="119379" h="262890">
                  <a:moveTo>
                    <a:pt x="39647" y="143806"/>
                  </a:moveTo>
                  <a:lnTo>
                    <a:pt x="0" y="144272"/>
                  </a:lnTo>
                  <a:lnTo>
                    <a:pt x="60833" y="262381"/>
                  </a:lnTo>
                  <a:lnTo>
                    <a:pt x="108818" y="163575"/>
                  </a:lnTo>
                  <a:lnTo>
                    <a:pt x="39877" y="163575"/>
                  </a:lnTo>
                  <a:lnTo>
                    <a:pt x="39647" y="143806"/>
                  </a:lnTo>
                  <a:close/>
                </a:path>
                <a:path w="119379" h="262890">
                  <a:moveTo>
                    <a:pt x="79271" y="143340"/>
                  </a:moveTo>
                  <a:lnTo>
                    <a:pt x="39647" y="143806"/>
                  </a:lnTo>
                  <a:lnTo>
                    <a:pt x="39877" y="163575"/>
                  </a:lnTo>
                  <a:lnTo>
                    <a:pt x="79501" y="163067"/>
                  </a:lnTo>
                  <a:lnTo>
                    <a:pt x="79271" y="143340"/>
                  </a:lnTo>
                  <a:close/>
                </a:path>
                <a:path w="119379" h="262890">
                  <a:moveTo>
                    <a:pt x="118872" y="142875"/>
                  </a:moveTo>
                  <a:lnTo>
                    <a:pt x="79271" y="143340"/>
                  </a:lnTo>
                  <a:lnTo>
                    <a:pt x="79501" y="163067"/>
                  </a:lnTo>
                  <a:lnTo>
                    <a:pt x="39877" y="163575"/>
                  </a:lnTo>
                  <a:lnTo>
                    <a:pt x="108818" y="163575"/>
                  </a:lnTo>
                  <a:lnTo>
                    <a:pt x="118872" y="142875"/>
                  </a:lnTo>
                  <a:close/>
                </a:path>
                <a:path w="119379" h="262890">
                  <a:moveTo>
                    <a:pt x="77597" y="0"/>
                  </a:moveTo>
                  <a:lnTo>
                    <a:pt x="37973" y="508"/>
                  </a:lnTo>
                  <a:lnTo>
                    <a:pt x="39647" y="143806"/>
                  </a:lnTo>
                  <a:lnTo>
                    <a:pt x="79271" y="143340"/>
                  </a:lnTo>
                  <a:lnTo>
                    <a:pt x="77597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914132" y="106222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3256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97952" y="1062227"/>
              <a:ext cx="119380" cy="262255"/>
            </a:xfrm>
            <a:custGeom>
              <a:avLst/>
              <a:gdLst/>
              <a:ahLst/>
              <a:cxnLst/>
              <a:rect l="l" t="t" r="r" b="b"/>
              <a:pathLst>
                <a:path w="119379" h="262255">
                  <a:moveTo>
                    <a:pt x="39624" y="143256"/>
                  </a:moveTo>
                  <a:lnTo>
                    <a:pt x="0" y="143256"/>
                  </a:lnTo>
                  <a:lnTo>
                    <a:pt x="59436" y="262128"/>
                  </a:lnTo>
                  <a:lnTo>
                    <a:pt x="108966" y="163068"/>
                  </a:lnTo>
                  <a:lnTo>
                    <a:pt x="39624" y="163068"/>
                  </a:lnTo>
                  <a:lnTo>
                    <a:pt x="39624" y="143256"/>
                  </a:lnTo>
                  <a:close/>
                </a:path>
                <a:path w="119379" h="262255">
                  <a:moveTo>
                    <a:pt x="79248" y="0"/>
                  </a:moveTo>
                  <a:lnTo>
                    <a:pt x="39624" y="0"/>
                  </a:lnTo>
                  <a:lnTo>
                    <a:pt x="39624" y="163068"/>
                  </a:lnTo>
                  <a:lnTo>
                    <a:pt x="79248" y="163068"/>
                  </a:lnTo>
                  <a:lnTo>
                    <a:pt x="79248" y="0"/>
                  </a:lnTo>
                  <a:close/>
                </a:path>
                <a:path w="119379" h="262255">
                  <a:moveTo>
                    <a:pt x="118872" y="143256"/>
                  </a:moveTo>
                  <a:lnTo>
                    <a:pt x="79248" y="143256"/>
                  </a:lnTo>
                  <a:lnTo>
                    <a:pt x="79248" y="163068"/>
                  </a:lnTo>
                  <a:lnTo>
                    <a:pt x="108966" y="163068"/>
                  </a:lnTo>
                  <a:lnTo>
                    <a:pt x="118872" y="143256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95132" y="1479803"/>
              <a:ext cx="143510" cy="3175"/>
            </a:xfrm>
            <a:custGeom>
              <a:avLst/>
              <a:gdLst/>
              <a:ahLst/>
              <a:cxnLst/>
              <a:rect l="l" t="t" r="r" b="b"/>
              <a:pathLst>
                <a:path w="143509" h="3175">
                  <a:moveTo>
                    <a:pt x="-19812" y="1524"/>
                  </a:moveTo>
                  <a:lnTo>
                    <a:pt x="163068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380603" y="1479550"/>
              <a:ext cx="119380" cy="262890"/>
            </a:xfrm>
            <a:custGeom>
              <a:avLst/>
              <a:gdLst/>
              <a:ahLst/>
              <a:cxnLst/>
              <a:rect l="l" t="t" r="r" b="b"/>
              <a:pathLst>
                <a:path w="119379" h="262889">
                  <a:moveTo>
                    <a:pt x="39646" y="143721"/>
                  </a:moveTo>
                  <a:lnTo>
                    <a:pt x="0" y="144145"/>
                  </a:lnTo>
                  <a:lnTo>
                    <a:pt x="60832" y="262382"/>
                  </a:lnTo>
                  <a:lnTo>
                    <a:pt x="108818" y="163575"/>
                  </a:lnTo>
                  <a:lnTo>
                    <a:pt x="39877" y="163575"/>
                  </a:lnTo>
                  <a:lnTo>
                    <a:pt x="39646" y="143721"/>
                  </a:lnTo>
                  <a:close/>
                </a:path>
                <a:path w="119379" h="262889">
                  <a:moveTo>
                    <a:pt x="79271" y="143298"/>
                  </a:moveTo>
                  <a:lnTo>
                    <a:pt x="39646" y="143721"/>
                  </a:lnTo>
                  <a:lnTo>
                    <a:pt x="39877" y="163575"/>
                  </a:lnTo>
                  <a:lnTo>
                    <a:pt x="79501" y="163068"/>
                  </a:lnTo>
                  <a:lnTo>
                    <a:pt x="79271" y="143298"/>
                  </a:lnTo>
                  <a:close/>
                </a:path>
                <a:path w="119379" h="262889">
                  <a:moveTo>
                    <a:pt x="118872" y="142875"/>
                  </a:moveTo>
                  <a:lnTo>
                    <a:pt x="79271" y="143298"/>
                  </a:lnTo>
                  <a:lnTo>
                    <a:pt x="79501" y="163068"/>
                  </a:lnTo>
                  <a:lnTo>
                    <a:pt x="39877" y="163575"/>
                  </a:lnTo>
                  <a:lnTo>
                    <a:pt x="108818" y="163575"/>
                  </a:lnTo>
                  <a:lnTo>
                    <a:pt x="118872" y="142875"/>
                  </a:lnTo>
                  <a:close/>
                </a:path>
                <a:path w="119379" h="262889">
                  <a:moveTo>
                    <a:pt x="77597" y="0"/>
                  </a:moveTo>
                  <a:lnTo>
                    <a:pt x="37973" y="508"/>
                  </a:lnTo>
                  <a:lnTo>
                    <a:pt x="39646" y="143721"/>
                  </a:lnTo>
                  <a:lnTo>
                    <a:pt x="79271" y="143298"/>
                  </a:lnTo>
                  <a:lnTo>
                    <a:pt x="77597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679180" y="1845563"/>
              <a:ext cx="143510" cy="3175"/>
            </a:xfrm>
            <a:custGeom>
              <a:avLst/>
              <a:gdLst/>
              <a:ahLst/>
              <a:cxnLst/>
              <a:rect l="l" t="t" r="r" b="b"/>
              <a:pathLst>
                <a:path w="143509" h="3175">
                  <a:moveTo>
                    <a:pt x="-19811" y="1524"/>
                  </a:moveTo>
                  <a:lnTo>
                    <a:pt x="163067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46392" y="1165859"/>
              <a:ext cx="1935480" cy="1152525"/>
            </a:xfrm>
            <a:custGeom>
              <a:avLst/>
              <a:gdLst/>
              <a:ahLst/>
              <a:cxnLst/>
              <a:rect l="l" t="t" r="r" b="b"/>
              <a:pathLst>
                <a:path w="1935479" h="1152525">
                  <a:moveTo>
                    <a:pt x="118872" y="118872"/>
                  </a:moveTo>
                  <a:lnTo>
                    <a:pt x="108966" y="99060"/>
                  </a:lnTo>
                  <a:lnTo>
                    <a:pt x="59436" y="0"/>
                  </a:lnTo>
                  <a:lnTo>
                    <a:pt x="0" y="118872"/>
                  </a:lnTo>
                  <a:lnTo>
                    <a:pt x="39624" y="118872"/>
                  </a:lnTo>
                  <a:lnTo>
                    <a:pt x="39624" y="1033272"/>
                  </a:lnTo>
                  <a:lnTo>
                    <a:pt x="0" y="1033272"/>
                  </a:lnTo>
                  <a:lnTo>
                    <a:pt x="59436" y="1152144"/>
                  </a:lnTo>
                  <a:lnTo>
                    <a:pt x="108966" y="1053084"/>
                  </a:lnTo>
                  <a:lnTo>
                    <a:pt x="118872" y="1033272"/>
                  </a:lnTo>
                  <a:lnTo>
                    <a:pt x="79248" y="1033272"/>
                  </a:lnTo>
                  <a:lnTo>
                    <a:pt x="79248" y="118872"/>
                  </a:lnTo>
                  <a:lnTo>
                    <a:pt x="118872" y="118872"/>
                  </a:lnTo>
                  <a:close/>
                </a:path>
                <a:path w="1935479" h="1152525">
                  <a:moveTo>
                    <a:pt x="454152" y="536448"/>
                  </a:moveTo>
                  <a:lnTo>
                    <a:pt x="444246" y="516636"/>
                  </a:lnTo>
                  <a:lnTo>
                    <a:pt x="394716" y="417576"/>
                  </a:lnTo>
                  <a:lnTo>
                    <a:pt x="335280" y="536448"/>
                  </a:lnTo>
                  <a:lnTo>
                    <a:pt x="374904" y="536448"/>
                  </a:lnTo>
                  <a:lnTo>
                    <a:pt x="374904" y="1033272"/>
                  </a:lnTo>
                  <a:lnTo>
                    <a:pt x="335280" y="1033272"/>
                  </a:lnTo>
                  <a:lnTo>
                    <a:pt x="394716" y="1152144"/>
                  </a:lnTo>
                  <a:lnTo>
                    <a:pt x="444246" y="1053084"/>
                  </a:lnTo>
                  <a:lnTo>
                    <a:pt x="454152" y="1033272"/>
                  </a:lnTo>
                  <a:lnTo>
                    <a:pt x="414528" y="1033272"/>
                  </a:lnTo>
                  <a:lnTo>
                    <a:pt x="414528" y="536448"/>
                  </a:lnTo>
                  <a:lnTo>
                    <a:pt x="454152" y="536448"/>
                  </a:lnTo>
                  <a:close/>
                </a:path>
                <a:path w="1935479" h="1152525">
                  <a:moveTo>
                    <a:pt x="835152" y="957072"/>
                  </a:moveTo>
                  <a:lnTo>
                    <a:pt x="825246" y="937260"/>
                  </a:lnTo>
                  <a:lnTo>
                    <a:pt x="775716" y="838200"/>
                  </a:lnTo>
                  <a:lnTo>
                    <a:pt x="716280" y="957072"/>
                  </a:lnTo>
                  <a:lnTo>
                    <a:pt x="755904" y="957072"/>
                  </a:lnTo>
                  <a:lnTo>
                    <a:pt x="755904" y="1033272"/>
                  </a:lnTo>
                  <a:lnTo>
                    <a:pt x="716280" y="1033272"/>
                  </a:lnTo>
                  <a:lnTo>
                    <a:pt x="775716" y="1152144"/>
                  </a:lnTo>
                  <a:lnTo>
                    <a:pt x="825246" y="1053084"/>
                  </a:lnTo>
                  <a:lnTo>
                    <a:pt x="835152" y="1033272"/>
                  </a:lnTo>
                  <a:lnTo>
                    <a:pt x="795528" y="1033272"/>
                  </a:lnTo>
                  <a:lnTo>
                    <a:pt x="795528" y="957072"/>
                  </a:lnTo>
                  <a:lnTo>
                    <a:pt x="835152" y="957072"/>
                  </a:lnTo>
                  <a:close/>
                </a:path>
                <a:path w="1935479" h="1152525">
                  <a:moveTo>
                    <a:pt x="1935480" y="874776"/>
                  </a:moveTo>
                  <a:lnTo>
                    <a:pt x="1895856" y="874776"/>
                  </a:lnTo>
                  <a:lnTo>
                    <a:pt x="1895856" y="679704"/>
                  </a:lnTo>
                  <a:lnTo>
                    <a:pt x="1856232" y="679704"/>
                  </a:lnTo>
                  <a:lnTo>
                    <a:pt x="1856232" y="874776"/>
                  </a:lnTo>
                  <a:lnTo>
                    <a:pt x="1816608" y="874776"/>
                  </a:lnTo>
                  <a:lnTo>
                    <a:pt x="1876044" y="993648"/>
                  </a:lnTo>
                  <a:lnTo>
                    <a:pt x="1925574" y="894588"/>
                  </a:lnTo>
                  <a:lnTo>
                    <a:pt x="1935480" y="874776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05828" y="2305811"/>
              <a:ext cx="957580" cy="12700"/>
            </a:xfrm>
            <a:custGeom>
              <a:avLst/>
              <a:gdLst/>
              <a:ahLst/>
              <a:cxnLst/>
              <a:rect l="l" t="t" r="r" b="b"/>
              <a:pathLst>
                <a:path w="957579" h="12700">
                  <a:moveTo>
                    <a:pt x="957072" y="12192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2814" y="273253"/>
            <a:ext cx="3647440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dirty="0"/>
              <a:t>Prototyping</a:t>
            </a:r>
            <a:r>
              <a:rPr sz="3050" spc="-90" dirty="0"/>
              <a:t> </a:t>
            </a:r>
            <a:r>
              <a:rPr sz="3050" spc="10" dirty="0"/>
              <a:t>Model</a:t>
            </a:r>
            <a:r>
              <a:rPr sz="3050" spc="-75" dirty="0"/>
              <a:t> </a:t>
            </a:r>
            <a:r>
              <a:rPr sz="1200" spc="-5" dirty="0"/>
              <a:t>(CONT.)</a:t>
            </a:r>
            <a:endParaRPr sz="1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81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86" y="758238"/>
            <a:ext cx="8646160" cy="362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255270" indent="-231775">
              <a:lnSpc>
                <a:spcPct val="1103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  <a:tab pos="2597785" algn="l"/>
              </a:tabLst>
            </a:pPr>
            <a:r>
              <a:rPr sz="2450" spc="-20" dirty="0">
                <a:solidFill>
                  <a:srgbClr val="800000"/>
                </a:solidFill>
                <a:latin typeface="Calibri"/>
                <a:cs typeface="Calibri"/>
              </a:rPr>
              <a:t>Even </a:t>
            </a:r>
            <a:r>
              <a:rPr sz="2450" dirty="0">
                <a:solidFill>
                  <a:srgbClr val="800000"/>
                </a:solidFill>
                <a:latin typeface="Calibri"/>
                <a:cs typeface="Calibri"/>
              </a:rPr>
              <a:t>though </a:t>
            </a:r>
            <a:r>
              <a:rPr sz="2450" spc="-10" dirty="0">
                <a:solidFill>
                  <a:srgbClr val="800000"/>
                </a:solidFill>
                <a:latin typeface="Calibri"/>
                <a:cs typeface="Calibri"/>
              </a:rPr>
              <a:t>construction </a:t>
            </a:r>
            <a:r>
              <a:rPr sz="2450" spc="-5" dirty="0">
                <a:solidFill>
                  <a:srgbClr val="800000"/>
                </a:solidFill>
                <a:latin typeface="Calibri"/>
                <a:cs typeface="Calibri"/>
              </a:rPr>
              <a:t>of </a:t>
            </a:r>
            <a:r>
              <a:rPr sz="2450" dirty="0">
                <a:solidFill>
                  <a:srgbClr val="800000"/>
                </a:solidFill>
                <a:latin typeface="Calibri"/>
                <a:cs typeface="Calibri"/>
              </a:rPr>
              <a:t>a </a:t>
            </a:r>
            <a:r>
              <a:rPr sz="2450" spc="-10" dirty="0">
                <a:solidFill>
                  <a:srgbClr val="800000"/>
                </a:solidFill>
                <a:latin typeface="Calibri"/>
                <a:cs typeface="Calibri"/>
              </a:rPr>
              <a:t>working </a:t>
            </a:r>
            <a:r>
              <a:rPr sz="2450" spc="-15" dirty="0">
                <a:solidFill>
                  <a:srgbClr val="800000"/>
                </a:solidFill>
                <a:latin typeface="Calibri"/>
                <a:cs typeface="Calibri"/>
              </a:rPr>
              <a:t>prototype </a:t>
            </a:r>
            <a:r>
              <a:rPr sz="2450" spc="-5" dirty="0">
                <a:solidFill>
                  <a:srgbClr val="800000"/>
                </a:solidFill>
                <a:latin typeface="Calibri"/>
                <a:cs typeface="Calibri"/>
              </a:rPr>
              <a:t>model </a:t>
            </a:r>
            <a:r>
              <a:rPr sz="2450" spc="-20" dirty="0">
                <a:solidFill>
                  <a:srgbClr val="800000"/>
                </a:solidFill>
                <a:latin typeface="Calibri"/>
                <a:cs typeface="Calibri"/>
              </a:rPr>
              <a:t>involves </a:t>
            </a:r>
            <a:r>
              <a:rPr sz="2450" spc="-54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800000"/>
                </a:solidFill>
                <a:latin typeface="Calibri"/>
                <a:cs typeface="Calibri"/>
              </a:rPr>
              <a:t>additional</a:t>
            </a:r>
            <a:r>
              <a:rPr sz="245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800000"/>
                </a:solidFill>
                <a:latin typeface="Calibri"/>
                <a:cs typeface="Calibri"/>
              </a:rPr>
              <a:t>cost</a:t>
            </a:r>
            <a:r>
              <a:rPr sz="2450" spc="1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---	</a:t>
            </a:r>
            <a:r>
              <a:rPr sz="2450" b="1" spc="-20" dirty="0">
                <a:solidFill>
                  <a:srgbClr val="000099"/>
                </a:solidFill>
                <a:latin typeface="Calibri"/>
                <a:cs typeface="Calibri"/>
              </a:rPr>
              <a:t>overall</a:t>
            </a:r>
            <a:r>
              <a:rPr sz="2450" b="1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99"/>
                </a:solidFill>
                <a:latin typeface="Calibri"/>
                <a:cs typeface="Calibri"/>
              </a:rPr>
              <a:t>development</a:t>
            </a:r>
            <a:r>
              <a:rPr sz="2450" b="1" spc="3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99"/>
                </a:solidFill>
                <a:latin typeface="Calibri"/>
                <a:cs typeface="Calibri"/>
              </a:rPr>
              <a:t>cost</a:t>
            </a:r>
            <a:r>
              <a:rPr sz="2450" b="1" spc="-2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99"/>
                </a:solidFill>
                <a:latin typeface="Calibri"/>
                <a:cs typeface="Calibri"/>
              </a:rPr>
              <a:t>usually</a:t>
            </a:r>
            <a:r>
              <a:rPr sz="2450" b="1" spc="-10" dirty="0">
                <a:solidFill>
                  <a:srgbClr val="000099"/>
                </a:solidFill>
                <a:latin typeface="Calibri"/>
                <a:cs typeface="Calibri"/>
              </a:rPr>
              <a:t> lower</a:t>
            </a:r>
            <a:r>
              <a:rPr sz="2450" b="1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sz="2450" b="1" spc="-20" dirty="0">
                <a:latin typeface="Calibri"/>
                <a:cs typeface="Calibri"/>
              </a:rPr>
              <a:t>: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dirty="0">
                <a:solidFill>
                  <a:srgbClr val="0000CC"/>
                </a:solidFill>
                <a:latin typeface="Calibri"/>
                <a:cs typeface="Calibri"/>
              </a:rPr>
              <a:t>Systems</a:t>
            </a:r>
            <a:r>
              <a:rPr sz="215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with</a:t>
            </a:r>
            <a:r>
              <a:rPr sz="215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unclear</a:t>
            </a:r>
            <a:r>
              <a:rPr sz="215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user</a:t>
            </a:r>
            <a:r>
              <a:rPr sz="215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requirements,</a:t>
            </a:r>
            <a:endParaRPr sz="21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215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dirty="0">
                <a:solidFill>
                  <a:srgbClr val="0000CC"/>
                </a:solidFill>
                <a:latin typeface="Calibri"/>
                <a:cs typeface="Calibri"/>
              </a:rPr>
              <a:t>Systems</a:t>
            </a:r>
            <a:r>
              <a:rPr sz="2150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with</a:t>
            </a:r>
            <a:r>
              <a:rPr sz="215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unresolved</a:t>
            </a:r>
            <a:r>
              <a:rPr sz="215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CC"/>
                </a:solidFill>
                <a:latin typeface="Calibri"/>
                <a:cs typeface="Calibri"/>
              </a:rPr>
              <a:t>technical</a:t>
            </a:r>
            <a:r>
              <a:rPr sz="2150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issues.</a:t>
            </a:r>
            <a:endParaRPr sz="2150">
              <a:latin typeface="Calibri"/>
              <a:cs typeface="Calibri"/>
            </a:endParaRPr>
          </a:p>
          <a:p>
            <a:pPr marL="243840" marR="5080" indent="-231775">
              <a:lnSpc>
                <a:spcPct val="110200"/>
              </a:lnSpc>
              <a:spcBef>
                <a:spcPts val="925"/>
              </a:spcBef>
              <a:buFont typeface="Arial MT"/>
              <a:buChar char="•"/>
              <a:tabLst>
                <a:tab pos="244475" algn="l"/>
                <a:tab pos="6674484" algn="l"/>
              </a:tabLst>
            </a:pPr>
            <a:r>
              <a:rPr sz="2450" spc="-15" dirty="0">
                <a:latin typeface="Calibri"/>
                <a:cs typeface="Calibri"/>
              </a:rPr>
              <a:t>Many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user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requirements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get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properly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defined</a:t>
            </a:r>
            <a:r>
              <a:rPr sz="2450" dirty="0">
                <a:latin typeface="Calibri"/>
                <a:cs typeface="Calibri"/>
              </a:rPr>
              <a:t> and	</a:t>
            </a:r>
            <a:r>
              <a:rPr sz="2450" spc="-10" dirty="0">
                <a:latin typeface="Calibri"/>
                <a:cs typeface="Calibri"/>
              </a:rPr>
              <a:t>technical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issues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get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resolved:</a:t>
            </a:r>
            <a:endParaRPr sz="2450">
              <a:latin typeface="Calibri"/>
              <a:cs typeface="Calibri"/>
            </a:endParaRPr>
          </a:p>
          <a:p>
            <a:pPr marL="514984" marR="394970" lvl="1" indent="-192405">
              <a:lnSpc>
                <a:spcPct val="111700"/>
              </a:lnSpc>
              <a:spcBef>
                <a:spcPts val="994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spc="10" dirty="0">
                <a:latin typeface="Calibri"/>
                <a:cs typeface="Calibri"/>
              </a:rPr>
              <a:t>These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would</a:t>
            </a:r>
            <a:r>
              <a:rPr sz="2150" spc="48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have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appeared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later </a:t>
            </a:r>
            <a:r>
              <a:rPr sz="2150" spc="15" dirty="0">
                <a:latin typeface="Calibri"/>
                <a:cs typeface="Calibri"/>
              </a:rPr>
              <a:t>as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change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requests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and</a:t>
            </a:r>
            <a:r>
              <a:rPr sz="2150" spc="5" dirty="0">
                <a:latin typeface="Calibri"/>
                <a:cs typeface="Calibri"/>
              </a:rPr>
              <a:t> resulted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incurring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massive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redesign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costs.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2944" y="288112"/>
            <a:ext cx="3964304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dirty="0">
                <a:solidFill>
                  <a:srgbClr val="000000"/>
                </a:solidFill>
              </a:rPr>
              <a:t>Prototyping:</a:t>
            </a:r>
            <a:r>
              <a:rPr sz="3050" spc="-105" dirty="0">
                <a:solidFill>
                  <a:srgbClr val="000000"/>
                </a:solidFill>
              </a:rPr>
              <a:t> </a:t>
            </a:r>
            <a:r>
              <a:rPr sz="3050" spc="-5" dirty="0">
                <a:solidFill>
                  <a:srgbClr val="000000"/>
                </a:solidFill>
              </a:rPr>
              <a:t>advantages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82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535" y="894029"/>
            <a:ext cx="6575425" cy="313817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269240" algn="l"/>
              </a:tabLst>
            </a:pPr>
            <a:r>
              <a:rPr sz="2700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resulting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software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usually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more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usable</a:t>
            </a:r>
            <a:endParaRPr sz="2700">
              <a:latin typeface="Calibri"/>
              <a:cs typeface="Calibri"/>
            </a:endParaRPr>
          </a:p>
          <a:p>
            <a:pPr marL="268605" indent="-25654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69240" algn="l"/>
              </a:tabLst>
            </a:pPr>
            <a:r>
              <a:rPr sz="2700" dirty="0">
                <a:latin typeface="Calibri"/>
                <a:cs typeface="Calibri"/>
              </a:rPr>
              <a:t>User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needs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are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better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accommodated</a:t>
            </a:r>
            <a:endParaRPr sz="2700">
              <a:latin typeface="Calibri"/>
              <a:cs typeface="Calibri"/>
            </a:endParaRPr>
          </a:p>
          <a:p>
            <a:pPr marL="268605" indent="-256540">
              <a:lnSpc>
                <a:spcPct val="100000"/>
              </a:lnSpc>
              <a:spcBef>
                <a:spcPts val="2070"/>
              </a:spcBef>
              <a:buFont typeface="Arial MT"/>
              <a:buChar char="•"/>
              <a:tabLst>
                <a:tab pos="26924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design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higher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quality</a:t>
            </a:r>
            <a:endParaRPr sz="2700">
              <a:latin typeface="Calibri"/>
              <a:cs typeface="Calibri"/>
            </a:endParaRPr>
          </a:p>
          <a:p>
            <a:pPr marL="268605" indent="-25654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6924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resulting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software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easier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to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maintain</a:t>
            </a:r>
            <a:endParaRPr sz="2700">
              <a:latin typeface="Calibri"/>
              <a:cs typeface="Calibri"/>
            </a:endParaRPr>
          </a:p>
          <a:p>
            <a:pPr marL="268605" indent="-256540">
              <a:lnSpc>
                <a:spcPct val="100000"/>
              </a:lnSpc>
              <a:spcBef>
                <a:spcPts val="2090"/>
              </a:spcBef>
              <a:buFont typeface="Arial MT"/>
              <a:buChar char="•"/>
              <a:tabLst>
                <a:tab pos="269240" algn="l"/>
              </a:tabLst>
            </a:pPr>
            <a:r>
              <a:rPr sz="2700" spc="-10" dirty="0">
                <a:latin typeface="Calibri"/>
                <a:cs typeface="Calibri"/>
              </a:rPr>
              <a:t>Overall,</a:t>
            </a:r>
            <a:r>
              <a:rPr sz="2700" spc="5" dirty="0">
                <a:latin typeface="Calibri"/>
                <a:cs typeface="Calibri"/>
              </a:rPr>
              <a:t> the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development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incurs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less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cost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0517" y="295732"/>
            <a:ext cx="52019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</a:rPr>
              <a:t>Prototyping:</a:t>
            </a:r>
            <a:r>
              <a:rPr sz="3600" spc="-8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disadvantages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83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069034"/>
            <a:ext cx="8209280" cy="261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9240" algn="l"/>
              </a:tabLst>
            </a:pPr>
            <a:r>
              <a:rPr sz="3000" spc="-25" dirty="0">
                <a:latin typeface="Calibri"/>
                <a:cs typeface="Calibri"/>
              </a:rPr>
              <a:t>For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some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projects,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expensive</a:t>
            </a:r>
            <a:endParaRPr sz="3000">
              <a:latin typeface="Calibri"/>
              <a:cs typeface="Calibri"/>
            </a:endParaRPr>
          </a:p>
          <a:p>
            <a:pPr marL="268605" indent="-256540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269240" algn="l"/>
              </a:tabLst>
            </a:pPr>
            <a:r>
              <a:rPr sz="3000" spc="-5" dirty="0">
                <a:latin typeface="Calibri"/>
                <a:cs typeface="Calibri"/>
              </a:rPr>
              <a:t>Susceptible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over-engineering:</a:t>
            </a:r>
            <a:endParaRPr sz="3000">
              <a:latin typeface="Calibri"/>
              <a:cs typeface="Calibri"/>
            </a:endParaRPr>
          </a:p>
          <a:p>
            <a:pPr marL="518795" marR="5080" indent="-287020">
              <a:lnSpc>
                <a:spcPct val="131200"/>
              </a:lnSpc>
              <a:spcBef>
                <a:spcPts val="1810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spc="-5" dirty="0">
                <a:latin typeface="Calibri"/>
                <a:cs typeface="Calibri"/>
              </a:rPr>
              <a:t>Designers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start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incorporate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sophistications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that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they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could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not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incorporate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prototype.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5716" y="342087"/>
            <a:ext cx="589026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1" spc="5" dirty="0">
                <a:latin typeface="Calibri"/>
                <a:cs typeface="Calibri"/>
              </a:rPr>
              <a:t>Major</a:t>
            </a:r>
            <a:r>
              <a:rPr sz="2500" b="1" dirty="0">
                <a:latin typeface="Calibri"/>
                <a:cs typeface="Calibri"/>
              </a:rPr>
              <a:t> difficulties</a:t>
            </a:r>
            <a:r>
              <a:rPr sz="2500" b="1" spc="-3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of</a:t>
            </a:r>
            <a:r>
              <a:rPr sz="2500" b="1" spc="30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Waterfall-Based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Models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844" y="833689"/>
            <a:ext cx="8458200" cy="1117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27355" marR="5080" indent="-415290">
              <a:lnSpc>
                <a:spcPts val="4300"/>
              </a:lnSpc>
              <a:spcBef>
                <a:spcPts val="195"/>
              </a:spcBef>
            </a:pPr>
            <a:r>
              <a:rPr sz="3150" b="0" spc="-10" dirty="0">
                <a:solidFill>
                  <a:srgbClr val="000000"/>
                </a:solidFill>
                <a:latin typeface="Calibri"/>
                <a:cs typeface="Calibri"/>
              </a:rPr>
              <a:t>1. </a:t>
            </a:r>
            <a:r>
              <a:rPr sz="3000" b="0" spc="-5" dirty="0">
                <a:solidFill>
                  <a:srgbClr val="000000"/>
                </a:solidFill>
                <a:latin typeface="Calibri"/>
                <a:cs typeface="Calibri"/>
              </a:rPr>
              <a:t>Difficulty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sz="3000" b="0" spc="-5" dirty="0">
                <a:solidFill>
                  <a:srgbClr val="000000"/>
                </a:solidFill>
                <a:latin typeface="Calibri"/>
                <a:cs typeface="Calibri"/>
              </a:rPr>
              <a:t>accommodating </a:t>
            </a:r>
            <a:r>
              <a:rPr sz="3000" b="0" spc="-10" dirty="0">
                <a:solidFill>
                  <a:srgbClr val="000000"/>
                </a:solidFill>
                <a:latin typeface="Calibri"/>
                <a:cs typeface="Calibri"/>
              </a:rPr>
              <a:t>change requests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during </a:t>
            </a:r>
            <a:r>
              <a:rPr sz="3000" b="0" spc="-6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spc="-10" dirty="0">
                <a:solidFill>
                  <a:srgbClr val="000000"/>
                </a:solidFill>
                <a:latin typeface="Calibri"/>
                <a:cs typeface="Calibri"/>
              </a:rPr>
              <a:t>development.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84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844" y="1981677"/>
            <a:ext cx="8662035" cy="210185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448309" indent="-287020">
              <a:lnSpc>
                <a:spcPct val="100000"/>
              </a:lnSpc>
              <a:spcBef>
                <a:spcPts val="1785"/>
              </a:spcBef>
              <a:buSzPct val="105555"/>
              <a:buFont typeface="Wingdings"/>
              <a:buChar char=""/>
              <a:tabLst>
                <a:tab pos="448945" algn="l"/>
              </a:tabLst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40%</a:t>
            </a:r>
            <a:r>
              <a:rPr sz="27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requirements</a:t>
            </a:r>
            <a:r>
              <a:rPr sz="27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during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development</a:t>
            </a:r>
            <a:endParaRPr sz="2700">
              <a:latin typeface="Calibri"/>
              <a:cs typeface="Calibri"/>
            </a:endParaRPr>
          </a:p>
          <a:p>
            <a:pPr marL="427355" indent="-415290">
              <a:lnSpc>
                <a:spcPct val="100000"/>
              </a:lnSpc>
              <a:spcBef>
                <a:spcPts val="1930"/>
              </a:spcBef>
              <a:buSzPct val="105000"/>
              <a:buAutoNum type="arabicPeriod" startAt="2"/>
              <a:tabLst>
                <a:tab pos="427990" algn="l"/>
              </a:tabLst>
            </a:pPr>
            <a:r>
              <a:rPr sz="3000" spc="-5" dirty="0">
                <a:latin typeface="Calibri"/>
                <a:cs typeface="Calibri"/>
              </a:rPr>
              <a:t>High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cost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incurred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 </a:t>
            </a:r>
            <a:r>
              <a:rPr sz="3000" spc="-5" dirty="0">
                <a:latin typeface="Calibri"/>
                <a:cs typeface="Calibri"/>
              </a:rPr>
              <a:t>developing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custom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applications.</a:t>
            </a:r>
            <a:endParaRPr sz="3000">
              <a:latin typeface="Calibri"/>
              <a:cs typeface="Calibri"/>
            </a:endParaRPr>
          </a:p>
          <a:p>
            <a:pPr marL="427355" indent="-415290">
              <a:lnSpc>
                <a:spcPct val="100000"/>
              </a:lnSpc>
              <a:spcBef>
                <a:spcPts val="1935"/>
              </a:spcBef>
              <a:buSzPct val="105000"/>
              <a:buAutoNum type="arabicPeriod" startAt="2"/>
              <a:tabLst>
                <a:tab pos="427990" algn="l"/>
              </a:tabLst>
            </a:pP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“Heavy</a:t>
            </a:r>
            <a:r>
              <a:rPr sz="30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C00000"/>
                </a:solidFill>
                <a:latin typeface="Calibri"/>
                <a:cs typeface="Calibri"/>
              </a:rPr>
              <a:t>weight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b="1" spc="-30" dirty="0">
                <a:solidFill>
                  <a:srgbClr val="C00000"/>
                </a:solidFill>
                <a:latin typeface="Calibri"/>
                <a:cs typeface="Calibri"/>
              </a:rPr>
              <a:t>processes.”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72921"/>
            <a:ext cx="8837295" cy="3589654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759460">
              <a:lnSpc>
                <a:spcPct val="100000"/>
              </a:lnSpc>
              <a:spcBef>
                <a:spcPts val="1565"/>
              </a:spcBef>
            </a:pPr>
            <a:r>
              <a:rPr sz="2450" b="1" spc="-10" dirty="0">
                <a:latin typeface="Calibri"/>
                <a:cs typeface="Calibri"/>
              </a:rPr>
              <a:t>Major</a:t>
            </a:r>
            <a:r>
              <a:rPr sz="2450" b="1" spc="5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difficulties </a:t>
            </a:r>
            <a:r>
              <a:rPr sz="2450" b="1" dirty="0">
                <a:latin typeface="Calibri"/>
                <a:cs typeface="Calibri"/>
              </a:rPr>
              <a:t>of</a:t>
            </a:r>
            <a:r>
              <a:rPr sz="2450" b="1" spc="-5" dirty="0">
                <a:latin typeface="Calibri"/>
                <a:cs typeface="Calibri"/>
              </a:rPr>
              <a:t> </a:t>
            </a:r>
            <a:r>
              <a:rPr sz="2450" b="1" spc="-20" dirty="0">
                <a:latin typeface="Calibri"/>
                <a:cs typeface="Calibri"/>
              </a:rPr>
              <a:t>Waterfall-Based</a:t>
            </a:r>
            <a:r>
              <a:rPr sz="2450" b="1" spc="114" dirty="0">
                <a:latin typeface="Calibri"/>
                <a:cs typeface="Calibri"/>
              </a:rPr>
              <a:t> </a:t>
            </a:r>
            <a:r>
              <a:rPr sz="2450" b="1" spc="-20" dirty="0">
                <a:latin typeface="Calibri"/>
                <a:cs typeface="Calibri"/>
              </a:rPr>
              <a:t>Life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Cycle</a:t>
            </a:r>
            <a:r>
              <a:rPr sz="2450" b="1" spc="-15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Models</a:t>
            </a:r>
            <a:endParaRPr sz="2450">
              <a:latin typeface="Calibri"/>
              <a:cs typeface="Calibri"/>
            </a:endParaRPr>
          </a:p>
          <a:p>
            <a:pPr marL="356870" marR="5080" indent="-344805">
              <a:lnSpc>
                <a:spcPct val="130100"/>
              </a:lnSpc>
              <a:spcBef>
                <a:spcPts val="75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Requirements</a:t>
            </a:r>
            <a:r>
              <a:rPr sz="32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 the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0000FF"/>
                </a:solidFill>
                <a:latin typeface="Calibri"/>
                <a:cs typeface="Calibri"/>
              </a:rPr>
              <a:t>system</a:t>
            </a:r>
            <a:r>
              <a:rPr sz="3200" spc="-25" dirty="0">
                <a:solidFill>
                  <a:srgbClr val="0000FF"/>
                </a:solidFill>
                <a:latin typeface="Calibri"/>
                <a:cs typeface="Calibri"/>
              </a:rPr>
              <a:t> are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determined</a:t>
            </a:r>
            <a:r>
              <a:rPr sz="3200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at</a:t>
            </a:r>
            <a:r>
              <a:rPr sz="32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3200" spc="-7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start: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00FF"/>
              </a:buClr>
              <a:buFont typeface="Arial MT"/>
              <a:buChar char="•"/>
            </a:pPr>
            <a:endParaRPr sz="25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assumed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 be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fixed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that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point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on.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0000FF"/>
              </a:buClr>
              <a:buFont typeface="Arial MT"/>
              <a:buChar char="–"/>
            </a:pPr>
            <a:endParaRPr sz="2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Long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term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planning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 is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made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based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this.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85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558241"/>
            <a:ext cx="8006715" cy="280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30100"/>
              </a:lnSpc>
              <a:spcBef>
                <a:spcPts val="95"/>
              </a:spcBef>
              <a:tabLst>
                <a:tab pos="5521960" algn="l"/>
              </a:tabLst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“…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the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assumption</a:t>
            </a:r>
            <a:r>
              <a:rPr sz="2800"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one</a:t>
            </a:r>
            <a:r>
              <a:rPr sz="2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800" b="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specify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satisfactory 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sz="28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advance,</a:t>
            </a:r>
            <a:r>
              <a:rPr sz="2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5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  <a:r>
              <a:rPr sz="2800" b="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bids </a:t>
            </a:r>
            <a:r>
              <a:rPr sz="2800" b="0" spc="-15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its</a:t>
            </a:r>
            <a:r>
              <a:rPr sz="2800"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construction,</a:t>
            </a:r>
            <a:r>
              <a:rPr sz="2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have </a:t>
            </a:r>
            <a:r>
              <a:rPr sz="2800" b="0" spc="-6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it 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built,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install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it. …this 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assumption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sz="2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fundamentally wrong 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2800" b="0" spc="-15" dirty="0">
                <a:solidFill>
                  <a:srgbClr val="000000"/>
                </a:solidFill>
                <a:latin typeface="Calibri"/>
                <a:cs typeface="Calibri"/>
              </a:rPr>
              <a:t>many 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software acquisition </a:t>
            </a:r>
            <a:r>
              <a:rPr sz="2800" b="0" spc="-6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problems</a:t>
            </a:r>
            <a:r>
              <a:rPr sz="2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spring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 from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this…”	</a:t>
            </a:r>
            <a:r>
              <a:rPr sz="2800" dirty="0">
                <a:solidFill>
                  <a:srgbClr val="0000FF"/>
                </a:solidFill>
              </a:rPr>
              <a:t>Frederick</a:t>
            </a:r>
            <a:r>
              <a:rPr sz="2800" spc="-100" dirty="0">
                <a:solidFill>
                  <a:srgbClr val="0000FF"/>
                </a:solidFill>
              </a:rPr>
              <a:t> </a:t>
            </a:r>
            <a:r>
              <a:rPr sz="2800" spc="-5" dirty="0">
                <a:solidFill>
                  <a:srgbClr val="0000FF"/>
                </a:solidFill>
              </a:rPr>
              <a:t>Brooks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33307" y="479338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86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2414" y="4702860"/>
            <a:ext cx="61087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b="1" spc="15" dirty="0">
                <a:latin typeface="Arial"/>
                <a:cs typeface="Arial"/>
              </a:rPr>
              <a:t>7</a:t>
            </a:r>
            <a:r>
              <a:rPr sz="1000" b="1" spc="5" dirty="0">
                <a:latin typeface="Arial"/>
                <a:cs typeface="Arial"/>
              </a:rPr>
              <a:t>/</a:t>
            </a:r>
            <a:r>
              <a:rPr sz="1000" b="1" spc="15" dirty="0">
                <a:latin typeface="Arial"/>
                <a:cs typeface="Arial"/>
              </a:rPr>
              <a:t>18</a:t>
            </a:r>
            <a:r>
              <a:rPr sz="1000" b="1" spc="5" dirty="0">
                <a:latin typeface="Arial"/>
                <a:cs typeface="Arial"/>
              </a:rPr>
              <a:t>/</a:t>
            </a:r>
            <a:r>
              <a:rPr sz="1000" b="1" spc="15" dirty="0">
                <a:latin typeface="Arial"/>
                <a:cs typeface="Arial"/>
              </a:rPr>
              <a:t>2020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1724" y="1659635"/>
            <a:ext cx="5715000" cy="114300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ts val="6140"/>
              </a:lnSpc>
            </a:pPr>
            <a:r>
              <a:rPr sz="5500" spc="-25" dirty="0">
                <a:solidFill>
                  <a:srgbClr val="0000FF"/>
                </a:solidFill>
              </a:rPr>
              <a:t>Incremental</a:t>
            </a:r>
            <a:r>
              <a:rPr sz="5500" spc="5" dirty="0">
                <a:solidFill>
                  <a:srgbClr val="0000FF"/>
                </a:solidFill>
              </a:rPr>
              <a:t> </a:t>
            </a:r>
            <a:r>
              <a:rPr sz="5500" spc="-10" dirty="0">
                <a:solidFill>
                  <a:srgbClr val="0000FF"/>
                </a:solidFill>
              </a:rPr>
              <a:t>Model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8177021" y="4625746"/>
            <a:ext cx="4349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5" dirty="0">
                <a:solidFill>
                  <a:srgbClr val="888888"/>
                </a:solidFill>
                <a:latin typeface="Calibri"/>
                <a:cs typeface="Calibri"/>
              </a:rPr>
              <a:t>87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7952" y="441959"/>
            <a:ext cx="8315325" cy="3813175"/>
            <a:chOff x="377952" y="441959"/>
            <a:chExt cx="8315325" cy="3813175"/>
          </a:xfrm>
        </p:grpSpPr>
        <p:sp>
          <p:nvSpPr>
            <p:cNvPr id="3" name="object 3"/>
            <p:cNvSpPr/>
            <p:nvPr/>
          </p:nvSpPr>
          <p:spPr>
            <a:xfrm>
              <a:off x="382524" y="446531"/>
              <a:ext cx="8305800" cy="3804285"/>
            </a:xfrm>
            <a:custGeom>
              <a:avLst/>
              <a:gdLst/>
              <a:ahLst/>
              <a:cxnLst/>
              <a:rect l="l" t="t" r="r" b="b"/>
              <a:pathLst>
                <a:path w="8305800" h="3804285">
                  <a:moveTo>
                    <a:pt x="8305800" y="0"/>
                  </a:moveTo>
                  <a:lnTo>
                    <a:pt x="0" y="0"/>
                  </a:lnTo>
                  <a:lnTo>
                    <a:pt x="0" y="3803904"/>
                  </a:lnTo>
                  <a:lnTo>
                    <a:pt x="8305800" y="3803904"/>
                  </a:lnTo>
                  <a:lnTo>
                    <a:pt x="8305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2524" y="446531"/>
              <a:ext cx="8305800" cy="3804285"/>
            </a:xfrm>
            <a:custGeom>
              <a:avLst/>
              <a:gdLst/>
              <a:ahLst/>
              <a:cxnLst/>
              <a:rect l="l" t="t" r="r" b="b"/>
              <a:pathLst>
                <a:path w="8305800" h="3804285">
                  <a:moveTo>
                    <a:pt x="0" y="3803904"/>
                  </a:moveTo>
                  <a:lnTo>
                    <a:pt x="8305800" y="3803904"/>
                  </a:lnTo>
                  <a:lnTo>
                    <a:pt x="8305800" y="0"/>
                  </a:lnTo>
                  <a:lnTo>
                    <a:pt x="0" y="0"/>
                  </a:lnTo>
                  <a:lnTo>
                    <a:pt x="0" y="3803904"/>
                  </a:lnTo>
                  <a:close/>
                </a:path>
              </a:pathLst>
            </a:custGeom>
            <a:ln w="9144">
              <a:solidFill>
                <a:srgbClr val="66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0044" y="454863"/>
            <a:ext cx="8107045" cy="37331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spc="25" dirty="0">
                <a:latin typeface="Calibri"/>
                <a:cs typeface="Calibri"/>
              </a:rPr>
              <a:t>“The </a:t>
            </a:r>
            <a:r>
              <a:rPr sz="2700" dirty="0">
                <a:latin typeface="Calibri"/>
                <a:cs typeface="Calibri"/>
              </a:rPr>
              <a:t>basic idea… </a:t>
            </a:r>
            <a:r>
              <a:rPr sz="2700" spc="-30" dirty="0">
                <a:latin typeface="Calibri"/>
                <a:cs typeface="Calibri"/>
              </a:rPr>
              <a:t>take </a:t>
            </a:r>
            <a:r>
              <a:rPr sz="2700" spc="-15" dirty="0">
                <a:latin typeface="Calibri"/>
                <a:cs typeface="Calibri"/>
              </a:rPr>
              <a:t>advantage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-5" dirty="0">
                <a:latin typeface="Calibri"/>
                <a:cs typeface="Calibri"/>
              </a:rPr>
              <a:t>what was </a:t>
            </a:r>
            <a:r>
              <a:rPr sz="2700" dirty="0">
                <a:latin typeface="Calibri"/>
                <a:cs typeface="Calibri"/>
              </a:rPr>
              <a:t>being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learned </a:t>
            </a:r>
            <a:r>
              <a:rPr sz="2700" spc="-5" dirty="0">
                <a:latin typeface="Calibri"/>
                <a:cs typeface="Calibri"/>
              </a:rPr>
              <a:t>during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development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-35" dirty="0">
                <a:latin typeface="Calibri"/>
                <a:cs typeface="Calibri"/>
              </a:rPr>
              <a:t>earlier, </a:t>
            </a:r>
            <a:r>
              <a:rPr sz="2700" spc="-5" dirty="0">
                <a:latin typeface="Calibri"/>
                <a:cs typeface="Calibri"/>
              </a:rPr>
              <a:t>incremental,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deliverable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versions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system.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Learning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comes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from </a:t>
            </a:r>
            <a:r>
              <a:rPr sz="2700" spc="5" dirty="0">
                <a:latin typeface="Calibri"/>
                <a:cs typeface="Calibri"/>
              </a:rPr>
              <a:t>both the </a:t>
            </a:r>
            <a:r>
              <a:rPr sz="2700" spc="-10" dirty="0">
                <a:latin typeface="Calibri"/>
                <a:cs typeface="Calibri"/>
              </a:rPr>
              <a:t>development </a:t>
            </a:r>
            <a:r>
              <a:rPr sz="2700" dirty="0">
                <a:latin typeface="Calibri"/>
                <a:cs typeface="Calibri"/>
              </a:rPr>
              <a:t>and use </a:t>
            </a:r>
            <a:r>
              <a:rPr sz="2700" spc="5" dirty="0">
                <a:latin typeface="Calibri"/>
                <a:cs typeface="Calibri"/>
              </a:rPr>
              <a:t>of the </a:t>
            </a:r>
            <a:r>
              <a:rPr sz="2700" spc="-15" dirty="0">
                <a:latin typeface="Calibri"/>
                <a:cs typeface="Calibri"/>
              </a:rPr>
              <a:t>system…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Start </a:t>
            </a:r>
            <a:r>
              <a:rPr sz="2700" spc="5" dirty="0">
                <a:latin typeface="Calibri"/>
                <a:cs typeface="Calibri"/>
              </a:rPr>
              <a:t>with a </a:t>
            </a:r>
            <a:r>
              <a:rPr sz="2700" dirty="0">
                <a:latin typeface="Calibri"/>
                <a:cs typeface="Calibri"/>
              </a:rPr>
              <a:t>simple </a:t>
            </a:r>
            <a:r>
              <a:rPr sz="2700" spc="-5" dirty="0">
                <a:latin typeface="Calibri"/>
                <a:cs typeface="Calibri"/>
              </a:rPr>
              <a:t>implementation </a:t>
            </a:r>
            <a:r>
              <a:rPr sz="2700" spc="5" dirty="0">
                <a:latin typeface="Calibri"/>
                <a:cs typeface="Calibri"/>
              </a:rPr>
              <a:t>of a </a:t>
            </a:r>
            <a:r>
              <a:rPr sz="2700" spc="-15" dirty="0">
                <a:latin typeface="Calibri"/>
                <a:cs typeface="Calibri"/>
              </a:rPr>
              <a:t>subset </a:t>
            </a:r>
            <a:r>
              <a:rPr sz="2700" spc="5" dirty="0">
                <a:latin typeface="Calibri"/>
                <a:cs typeface="Calibri"/>
              </a:rPr>
              <a:t>of the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software requirements </a:t>
            </a:r>
            <a:r>
              <a:rPr sz="2700" dirty="0">
                <a:latin typeface="Calibri"/>
                <a:cs typeface="Calibri"/>
              </a:rPr>
              <a:t>and </a:t>
            </a:r>
            <a:r>
              <a:rPr sz="2700" spc="-10" dirty="0">
                <a:latin typeface="Calibri"/>
                <a:cs typeface="Calibri"/>
              </a:rPr>
              <a:t>iteratively </a:t>
            </a:r>
            <a:r>
              <a:rPr sz="2700" dirty="0">
                <a:latin typeface="Calibri"/>
                <a:cs typeface="Calibri"/>
              </a:rPr>
              <a:t>enhance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evolving sequence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-10" dirty="0">
                <a:latin typeface="Calibri"/>
                <a:cs typeface="Calibri"/>
              </a:rPr>
              <a:t>versions. </a:t>
            </a:r>
            <a:r>
              <a:rPr sz="2700" spc="-40" dirty="0">
                <a:latin typeface="Calibri"/>
                <a:cs typeface="Calibri"/>
              </a:rPr>
              <a:t>At </a:t>
            </a:r>
            <a:r>
              <a:rPr sz="2700" dirty="0">
                <a:latin typeface="Calibri"/>
                <a:cs typeface="Calibri"/>
              </a:rPr>
              <a:t>each </a:t>
            </a:r>
            <a:r>
              <a:rPr sz="2700" spc="-15" dirty="0">
                <a:latin typeface="Calibri"/>
                <a:cs typeface="Calibri"/>
              </a:rPr>
              <a:t>version </a:t>
            </a:r>
            <a:r>
              <a:rPr sz="2700" spc="-5" dirty="0">
                <a:latin typeface="Calibri"/>
                <a:cs typeface="Calibri"/>
              </a:rPr>
              <a:t>design </a:t>
            </a:r>
            <a:r>
              <a:rPr sz="2700" dirty="0">
                <a:latin typeface="Calibri"/>
                <a:cs typeface="Calibri"/>
              </a:rPr>
              <a:t> modifications </a:t>
            </a:r>
            <a:r>
              <a:rPr sz="2700" spc="-10" dirty="0">
                <a:latin typeface="Calibri"/>
                <a:cs typeface="Calibri"/>
              </a:rPr>
              <a:t>are </a:t>
            </a:r>
            <a:r>
              <a:rPr sz="2700" dirty="0">
                <a:latin typeface="Calibri"/>
                <a:cs typeface="Calibri"/>
              </a:rPr>
              <a:t>made </a:t>
            </a:r>
            <a:r>
              <a:rPr sz="2700" spc="5" dirty="0">
                <a:latin typeface="Calibri"/>
                <a:cs typeface="Calibri"/>
              </a:rPr>
              <a:t>along with </a:t>
            </a:r>
            <a:r>
              <a:rPr sz="2700" spc="-5" dirty="0">
                <a:latin typeface="Calibri"/>
                <a:cs typeface="Calibri"/>
              </a:rPr>
              <a:t>adding </a:t>
            </a:r>
            <a:r>
              <a:rPr sz="2700" spc="-10" dirty="0">
                <a:latin typeface="Calibri"/>
                <a:cs typeface="Calibri"/>
              </a:rPr>
              <a:t>new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functional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capabilities.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“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Victor</a:t>
            </a:r>
            <a:r>
              <a:rPr sz="2700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Basili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3307" y="479338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88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0600" y="307847"/>
            <a:ext cx="3886200" cy="7562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2835"/>
              </a:lnSpc>
              <a:tabLst>
                <a:tab pos="1659889" algn="l"/>
              </a:tabLst>
            </a:pPr>
            <a:r>
              <a:rPr sz="2400" b="1" spc="-10" dirty="0">
                <a:latin typeface="Calibri"/>
                <a:cs typeface="Calibri"/>
              </a:rPr>
              <a:t>Incremental	</a:t>
            </a:r>
            <a:r>
              <a:rPr sz="2400" b="1" spc="-5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Iterative</a:t>
            </a:r>
            <a:endParaRPr sz="2400">
              <a:latin typeface="Calibri"/>
              <a:cs typeface="Calibri"/>
            </a:endParaRPr>
          </a:p>
          <a:p>
            <a:pPr marL="6350" algn="ctr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Development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(IID)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89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639" y="212344"/>
            <a:ext cx="3980815" cy="9404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b="1" spc="-30" dirty="0">
                <a:solidFill>
                  <a:srgbClr val="C0504D"/>
                </a:solidFill>
                <a:latin typeface="Calibri"/>
                <a:cs typeface="Calibri"/>
              </a:rPr>
              <a:t>Key</a:t>
            </a:r>
            <a:r>
              <a:rPr sz="2400" b="1" spc="-2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504D"/>
                </a:solidFill>
                <a:latin typeface="Calibri"/>
                <a:cs typeface="Calibri"/>
              </a:rPr>
              <a:t>characteristics</a:t>
            </a:r>
            <a:endParaRPr sz="24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720"/>
              </a:spcBef>
            </a:pPr>
            <a:r>
              <a:rPr sz="2400" spc="30" dirty="0">
                <a:latin typeface="Arial MT"/>
                <a:cs typeface="Arial MT"/>
              </a:rPr>
              <a:t>–</a:t>
            </a:r>
            <a:r>
              <a:rPr sz="2400" spc="30" dirty="0">
                <a:latin typeface="Calibri"/>
                <a:cs typeface="Calibri"/>
              </a:rPr>
              <a:t>Builds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incrementally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639" y="1127058"/>
            <a:ext cx="6309360" cy="32283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819"/>
              </a:spcBef>
              <a:tabLst>
                <a:tab pos="4655820" algn="l"/>
              </a:tabLst>
            </a:pPr>
            <a:r>
              <a:rPr sz="2400" spc="15" dirty="0">
                <a:latin typeface="Arial MT"/>
                <a:cs typeface="Arial MT"/>
              </a:rPr>
              <a:t>–</a:t>
            </a:r>
            <a:r>
              <a:rPr sz="2400" spc="15" dirty="0">
                <a:latin typeface="Calibri"/>
                <a:cs typeface="Calibri"/>
              </a:rPr>
              <a:t>Consists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planned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	</a:t>
            </a:r>
            <a:r>
              <a:rPr sz="2400" spc="-10" dirty="0">
                <a:latin typeface="Calibri"/>
                <a:cs typeface="Calibri"/>
              </a:rPr>
              <a:t>iterations</a:t>
            </a:r>
            <a:endParaRPr sz="24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720"/>
              </a:spcBef>
            </a:pPr>
            <a:r>
              <a:rPr sz="2400" spc="30" dirty="0">
                <a:latin typeface="Arial MT"/>
                <a:cs typeface="Arial MT"/>
              </a:rPr>
              <a:t>–</a:t>
            </a:r>
            <a:r>
              <a:rPr sz="2400" spc="30" dirty="0">
                <a:latin typeface="Calibri"/>
                <a:cs typeface="Calibri"/>
              </a:rPr>
              <a:t>Each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produces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working</a:t>
            </a:r>
            <a:r>
              <a:rPr sz="2400" spc="-15" dirty="0">
                <a:latin typeface="Calibri"/>
                <a:cs typeface="Calibri"/>
              </a:rPr>
              <a:t> program</a:t>
            </a:r>
            <a:endParaRPr sz="24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b="1" spc="-5" dirty="0">
                <a:solidFill>
                  <a:srgbClr val="C0504D"/>
                </a:solidFill>
                <a:latin typeface="Calibri"/>
                <a:cs typeface="Calibri"/>
              </a:rPr>
              <a:t>Benefits</a:t>
            </a:r>
            <a:endParaRPr sz="24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720"/>
              </a:spcBef>
            </a:pPr>
            <a:r>
              <a:rPr sz="2400" spc="5" dirty="0">
                <a:latin typeface="Arial MT"/>
                <a:cs typeface="Arial MT"/>
              </a:rPr>
              <a:t>–</a:t>
            </a:r>
            <a:r>
              <a:rPr sz="2400" spc="5" dirty="0">
                <a:latin typeface="Calibri"/>
                <a:cs typeface="Calibri"/>
              </a:rPr>
              <a:t>Facilitates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manages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changes</a:t>
            </a:r>
            <a:endParaRPr sz="24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b="1" spc="-5" dirty="0">
                <a:solidFill>
                  <a:srgbClr val="C0504D"/>
                </a:solidFill>
                <a:latin typeface="Calibri"/>
                <a:cs typeface="Calibri"/>
              </a:rPr>
              <a:t>Foundation</a:t>
            </a:r>
            <a:r>
              <a:rPr sz="2400" b="1" spc="-6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504D"/>
                </a:solidFill>
                <a:latin typeface="Calibri"/>
                <a:cs typeface="Calibri"/>
              </a:rPr>
              <a:t>of</a:t>
            </a:r>
            <a:r>
              <a:rPr sz="2400" b="1" spc="-5" dirty="0">
                <a:solidFill>
                  <a:srgbClr val="C0504D"/>
                </a:solidFill>
                <a:latin typeface="Calibri"/>
                <a:cs typeface="Calibri"/>
              </a:rPr>
              <a:t> agile</a:t>
            </a:r>
            <a:r>
              <a:rPr sz="2400" b="1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504D"/>
                </a:solidFill>
                <a:latin typeface="Calibri"/>
                <a:cs typeface="Calibri"/>
              </a:rPr>
              <a:t>techniques</a:t>
            </a:r>
            <a:r>
              <a:rPr sz="2400" b="1" spc="-4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504D"/>
                </a:solidFill>
                <a:latin typeface="Calibri"/>
                <a:cs typeface="Calibri"/>
              </a:rPr>
              <a:t>and</a:t>
            </a:r>
            <a:r>
              <a:rPr sz="2400" b="1" spc="-1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504D"/>
                </a:solidFill>
                <a:latin typeface="Calibri"/>
                <a:cs typeface="Calibri"/>
              </a:rPr>
              <a:t>the</a:t>
            </a:r>
            <a:r>
              <a:rPr sz="2400" b="1" spc="-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504D"/>
                </a:solidFill>
                <a:latin typeface="Calibri"/>
                <a:cs typeface="Calibri"/>
              </a:rPr>
              <a:t>basis</a:t>
            </a:r>
            <a:r>
              <a:rPr sz="2400" b="1" spc="-15" dirty="0">
                <a:solidFill>
                  <a:srgbClr val="C0504D"/>
                </a:solidFill>
                <a:latin typeface="Calibri"/>
                <a:cs typeface="Calibri"/>
              </a:rPr>
              <a:t> for</a:t>
            </a:r>
            <a:endParaRPr sz="24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720"/>
              </a:spcBef>
            </a:pPr>
            <a:r>
              <a:rPr sz="2400" spc="20" dirty="0">
                <a:latin typeface="Arial MT"/>
                <a:cs typeface="Arial MT"/>
              </a:rPr>
              <a:t>–</a:t>
            </a:r>
            <a:r>
              <a:rPr sz="2400" spc="20" dirty="0">
                <a:latin typeface="Calibri"/>
                <a:cs typeface="Calibri"/>
              </a:rPr>
              <a:t>Rational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Unified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Process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(RUP)</a:t>
            </a:r>
            <a:endParaRPr sz="24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725"/>
              </a:spcBef>
            </a:pPr>
            <a:r>
              <a:rPr sz="2400" spc="20" dirty="0">
                <a:latin typeface="Arial MT"/>
                <a:cs typeface="Arial MT"/>
              </a:rPr>
              <a:t>–</a:t>
            </a:r>
            <a:r>
              <a:rPr sz="2400" spc="20" dirty="0">
                <a:latin typeface="Calibri"/>
                <a:cs typeface="Calibri"/>
              </a:rPr>
              <a:t>Extreme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(XP)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304" y="300304"/>
            <a:ext cx="493014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5" dirty="0"/>
              <a:t>Customer’s</a:t>
            </a:r>
            <a:r>
              <a:rPr sz="4000" spc="-95" dirty="0"/>
              <a:t> </a:t>
            </a:r>
            <a:r>
              <a:rPr sz="4000" spc="-15" dirty="0"/>
              <a:t>Perspective</a:t>
            </a:r>
            <a:endParaRPr sz="40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3311" y="2209800"/>
            <a:ext cx="646430" cy="829310"/>
            <a:chOff x="1353311" y="2209800"/>
            <a:chExt cx="646430" cy="829310"/>
          </a:xfrm>
        </p:grpSpPr>
        <p:sp>
          <p:nvSpPr>
            <p:cNvPr id="4" name="object 4"/>
            <p:cNvSpPr/>
            <p:nvPr/>
          </p:nvSpPr>
          <p:spPr>
            <a:xfrm>
              <a:off x="1357883" y="2214372"/>
              <a:ext cx="637540" cy="820419"/>
            </a:xfrm>
            <a:custGeom>
              <a:avLst/>
              <a:gdLst/>
              <a:ahLst/>
              <a:cxnLst/>
              <a:rect l="l" t="t" r="r" b="b"/>
              <a:pathLst>
                <a:path w="637539" h="820419">
                  <a:moveTo>
                    <a:pt x="318516" y="0"/>
                  </a:moveTo>
                  <a:lnTo>
                    <a:pt x="275298" y="3741"/>
                  </a:lnTo>
                  <a:lnTo>
                    <a:pt x="233847" y="14642"/>
                  </a:lnTo>
                  <a:lnTo>
                    <a:pt x="194542" y="32212"/>
                  </a:lnTo>
                  <a:lnTo>
                    <a:pt x="157762" y="55964"/>
                  </a:lnTo>
                  <a:lnTo>
                    <a:pt x="123887" y="85410"/>
                  </a:lnTo>
                  <a:lnTo>
                    <a:pt x="93297" y="120062"/>
                  </a:lnTo>
                  <a:lnTo>
                    <a:pt x="66371" y="159431"/>
                  </a:lnTo>
                  <a:lnTo>
                    <a:pt x="43490" y="203030"/>
                  </a:lnTo>
                  <a:lnTo>
                    <a:pt x="25032" y="250370"/>
                  </a:lnTo>
                  <a:lnTo>
                    <a:pt x="11378" y="300963"/>
                  </a:lnTo>
                  <a:lnTo>
                    <a:pt x="2907" y="354321"/>
                  </a:lnTo>
                  <a:lnTo>
                    <a:pt x="0" y="409956"/>
                  </a:lnTo>
                  <a:lnTo>
                    <a:pt x="2907" y="465590"/>
                  </a:lnTo>
                  <a:lnTo>
                    <a:pt x="11378" y="518948"/>
                  </a:lnTo>
                  <a:lnTo>
                    <a:pt x="25032" y="569541"/>
                  </a:lnTo>
                  <a:lnTo>
                    <a:pt x="43490" y="616881"/>
                  </a:lnTo>
                  <a:lnTo>
                    <a:pt x="66371" y="660480"/>
                  </a:lnTo>
                  <a:lnTo>
                    <a:pt x="93297" y="699849"/>
                  </a:lnTo>
                  <a:lnTo>
                    <a:pt x="123887" y="734501"/>
                  </a:lnTo>
                  <a:lnTo>
                    <a:pt x="157762" y="763947"/>
                  </a:lnTo>
                  <a:lnTo>
                    <a:pt x="194542" y="787699"/>
                  </a:lnTo>
                  <a:lnTo>
                    <a:pt x="233847" y="805269"/>
                  </a:lnTo>
                  <a:lnTo>
                    <a:pt x="275298" y="816170"/>
                  </a:lnTo>
                  <a:lnTo>
                    <a:pt x="318516" y="819912"/>
                  </a:lnTo>
                  <a:lnTo>
                    <a:pt x="361733" y="816170"/>
                  </a:lnTo>
                  <a:lnTo>
                    <a:pt x="403184" y="805269"/>
                  </a:lnTo>
                  <a:lnTo>
                    <a:pt x="442489" y="787699"/>
                  </a:lnTo>
                  <a:lnTo>
                    <a:pt x="479269" y="763947"/>
                  </a:lnTo>
                  <a:lnTo>
                    <a:pt x="513144" y="734501"/>
                  </a:lnTo>
                  <a:lnTo>
                    <a:pt x="543734" y="699849"/>
                  </a:lnTo>
                  <a:lnTo>
                    <a:pt x="570660" y="660480"/>
                  </a:lnTo>
                  <a:lnTo>
                    <a:pt x="593541" y="616881"/>
                  </a:lnTo>
                  <a:lnTo>
                    <a:pt x="611999" y="569541"/>
                  </a:lnTo>
                  <a:lnTo>
                    <a:pt x="625653" y="518948"/>
                  </a:lnTo>
                  <a:lnTo>
                    <a:pt x="634124" y="465590"/>
                  </a:lnTo>
                  <a:lnTo>
                    <a:pt x="637032" y="409956"/>
                  </a:lnTo>
                  <a:lnTo>
                    <a:pt x="634124" y="354321"/>
                  </a:lnTo>
                  <a:lnTo>
                    <a:pt x="625653" y="300963"/>
                  </a:lnTo>
                  <a:lnTo>
                    <a:pt x="611999" y="250370"/>
                  </a:lnTo>
                  <a:lnTo>
                    <a:pt x="593541" y="203030"/>
                  </a:lnTo>
                  <a:lnTo>
                    <a:pt x="570660" y="159431"/>
                  </a:lnTo>
                  <a:lnTo>
                    <a:pt x="543734" y="120062"/>
                  </a:lnTo>
                  <a:lnTo>
                    <a:pt x="513144" y="85410"/>
                  </a:lnTo>
                  <a:lnTo>
                    <a:pt x="479269" y="55964"/>
                  </a:lnTo>
                  <a:lnTo>
                    <a:pt x="442489" y="32212"/>
                  </a:lnTo>
                  <a:lnTo>
                    <a:pt x="403184" y="14642"/>
                  </a:lnTo>
                  <a:lnTo>
                    <a:pt x="361733" y="3741"/>
                  </a:lnTo>
                  <a:lnTo>
                    <a:pt x="318516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7883" y="2214372"/>
              <a:ext cx="637540" cy="820419"/>
            </a:xfrm>
            <a:custGeom>
              <a:avLst/>
              <a:gdLst/>
              <a:ahLst/>
              <a:cxnLst/>
              <a:rect l="l" t="t" r="r" b="b"/>
              <a:pathLst>
                <a:path w="637539" h="820419">
                  <a:moveTo>
                    <a:pt x="0" y="409956"/>
                  </a:moveTo>
                  <a:lnTo>
                    <a:pt x="2907" y="354321"/>
                  </a:lnTo>
                  <a:lnTo>
                    <a:pt x="11378" y="300963"/>
                  </a:lnTo>
                  <a:lnTo>
                    <a:pt x="25032" y="250370"/>
                  </a:lnTo>
                  <a:lnTo>
                    <a:pt x="43490" y="203030"/>
                  </a:lnTo>
                  <a:lnTo>
                    <a:pt x="66371" y="159431"/>
                  </a:lnTo>
                  <a:lnTo>
                    <a:pt x="93297" y="120062"/>
                  </a:lnTo>
                  <a:lnTo>
                    <a:pt x="123887" y="85410"/>
                  </a:lnTo>
                  <a:lnTo>
                    <a:pt x="157762" y="55964"/>
                  </a:lnTo>
                  <a:lnTo>
                    <a:pt x="194542" y="32212"/>
                  </a:lnTo>
                  <a:lnTo>
                    <a:pt x="233847" y="14642"/>
                  </a:lnTo>
                  <a:lnTo>
                    <a:pt x="275298" y="3741"/>
                  </a:lnTo>
                  <a:lnTo>
                    <a:pt x="318516" y="0"/>
                  </a:lnTo>
                  <a:lnTo>
                    <a:pt x="361733" y="3741"/>
                  </a:lnTo>
                  <a:lnTo>
                    <a:pt x="403184" y="14642"/>
                  </a:lnTo>
                  <a:lnTo>
                    <a:pt x="442489" y="32212"/>
                  </a:lnTo>
                  <a:lnTo>
                    <a:pt x="479269" y="55964"/>
                  </a:lnTo>
                  <a:lnTo>
                    <a:pt x="513144" y="85410"/>
                  </a:lnTo>
                  <a:lnTo>
                    <a:pt x="543734" y="120062"/>
                  </a:lnTo>
                  <a:lnTo>
                    <a:pt x="570660" y="159431"/>
                  </a:lnTo>
                  <a:lnTo>
                    <a:pt x="593541" y="203030"/>
                  </a:lnTo>
                  <a:lnTo>
                    <a:pt x="611999" y="250370"/>
                  </a:lnTo>
                  <a:lnTo>
                    <a:pt x="625653" y="300963"/>
                  </a:lnTo>
                  <a:lnTo>
                    <a:pt x="634124" y="354321"/>
                  </a:lnTo>
                  <a:lnTo>
                    <a:pt x="637032" y="409956"/>
                  </a:lnTo>
                  <a:lnTo>
                    <a:pt x="634124" y="465590"/>
                  </a:lnTo>
                  <a:lnTo>
                    <a:pt x="625653" y="518948"/>
                  </a:lnTo>
                  <a:lnTo>
                    <a:pt x="611999" y="569541"/>
                  </a:lnTo>
                  <a:lnTo>
                    <a:pt x="593541" y="616881"/>
                  </a:lnTo>
                  <a:lnTo>
                    <a:pt x="570660" y="660480"/>
                  </a:lnTo>
                  <a:lnTo>
                    <a:pt x="543734" y="699849"/>
                  </a:lnTo>
                  <a:lnTo>
                    <a:pt x="513144" y="734501"/>
                  </a:lnTo>
                  <a:lnTo>
                    <a:pt x="479269" y="763947"/>
                  </a:lnTo>
                  <a:lnTo>
                    <a:pt x="442489" y="787699"/>
                  </a:lnTo>
                  <a:lnTo>
                    <a:pt x="403184" y="805269"/>
                  </a:lnTo>
                  <a:lnTo>
                    <a:pt x="361733" y="816170"/>
                  </a:lnTo>
                  <a:lnTo>
                    <a:pt x="318516" y="819912"/>
                  </a:lnTo>
                  <a:lnTo>
                    <a:pt x="275298" y="816170"/>
                  </a:lnTo>
                  <a:lnTo>
                    <a:pt x="233847" y="805269"/>
                  </a:lnTo>
                  <a:lnTo>
                    <a:pt x="194542" y="787699"/>
                  </a:lnTo>
                  <a:lnTo>
                    <a:pt x="157762" y="763947"/>
                  </a:lnTo>
                  <a:lnTo>
                    <a:pt x="123887" y="734501"/>
                  </a:lnTo>
                  <a:lnTo>
                    <a:pt x="93297" y="699849"/>
                  </a:lnTo>
                  <a:lnTo>
                    <a:pt x="66371" y="660480"/>
                  </a:lnTo>
                  <a:lnTo>
                    <a:pt x="43490" y="616881"/>
                  </a:lnTo>
                  <a:lnTo>
                    <a:pt x="25032" y="569541"/>
                  </a:lnTo>
                  <a:lnTo>
                    <a:pt x="11378" y="518948"/>
                  </a:lnTo>
                  <a:lnTo>
                    <a:pt x="2907" y="465590"/>
                  </a:lnTo>
                  <a:lnTo>
                    <a:pt x="0" y="409956"/>
                  </a:lnTo>
                  <a:close/>
                </a:path>
              </a:pathLst>
            </a:custGeom>
            <a:ln w="9143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6703" y="1115567"/>
            <a:ext cx="4498848" cy="28803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53083" y="2388235"/>
            <a:ext cx="246379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spc="15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endParaRPr sz="235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89276" y="2483357"/>
            <a:ext cx="1186180" cy="289560"/>
          </a:xfrm>
          <a:custGeom>
            <a:avLst/>
            <a:gdLst/>
            <a:ahLst/>
            <a:cxnLst/>
            <a:rect l="l" t="t" r="r" b="b"/>
            <a:pathLst>
              <a:path w="1186179" h="289560">
                <a:moveTo>
                  <a:pt x="254" y="113538"/>
                </a:moveTo>
                <a:lnTo>
                  <a:pt x="0" y="171450"/>
                </a:lnTo>
                <a:lnTo>
                  <a:pt x="231648" y="172085"/>
                </a:lnTo>
                <a:lnTo>
                  <a:pt x="231902" y="114173"/>
                </a:lnTo>
                <a:lnTo>
                  <a:pt x="254" y="113538"/>
                </a:lnTo>
                <a:close/>
              </a:path>
              <a:path w="1186179" h="289560">
                <a:moveTo>
                  <a:pt x="405638" y="114554"/>
                </a:moveTo>
                <a:lnTo>
                  <a:pt x="405384" y="172466"/>
                </a:lnTo>
                <a:lnTo>
                  <a:pt x="637032" y="173101"/>
                </a:lnTo>
                <a:lnTo>
                  <a:pt x="637286" y="115189"/>
                </a:lnTo>
                <a:lnTo>
                  <a:pt x="405638" y="114554"/>
                </a:lnTo>
                <a:close/>
              </a:path>
              <a:path w="1186179" h="289560">
                <a:moveTo>
                  <a:pt x="896620" y="0"/>
                </a:moveTo>
                <a:lnTo>
                  <a:pt x="896315" y="115854"/>
                </a:lnTo>
                <a:lnTo>
                  <a:pt x="925322" y="115951"/>
                </a:lnTo>
                <a:lnTo>
                  <a:pt x="925068" y="173863"/>
                </a:lnTo>
                <a:lnTo>
                  <a:pt x="896162" y="173863"/>
                </a:lnTo>
                <a:lnTo>
                  <a:pt x="895858" y="289560"/>
                </a:lnTo>
                <a:lnTo>
                  <a:pt x="1128782" y="173863"/>
                </a:lnTo>
                <a:lnTo>
                  <a:pt x="925068" y="173863"/>
                </a:lnTo>
                <a:lnTo>
                  <a:pt x="1128976" y="173766"/>
                </a:lnTo>
                <a:lnTo>
                  <a:pt x="1185799" y="145542"/>
                </a:lnTo>
                <a:lnTo>
                  <a:pt x="896620" y="0"/>
                </a:lnTo>
                <a:close/>
              </a:path>
              <a:path w="1186179" h="289560">
                <a:moveTo>
                  <a:pt x="896315" y="115854"/>
                </a:moveTo>
                <a:lnTo>
                  <a:pt x="896162" y="173766"/>
                </a:lnTo>
                <a:lnTo>
                  <a:pt x="925068" y="173863"/>
                </a:lnTo>
                <a:lnTo>
                  <a:pt x="925322" y="115951"/>
                </a:lnTo>
                <a:lnTo>
                  <a:pt x="896315" y="115854"/>
                </a:lnTo>
                <a:close/>
              </a:path>
              <a:path w="1186179" h="289560">
                <a:moveTo>
                  <a:pt x="811022" y="115570"/>
                </a:moveTo>
                <a:lnTo>
                  <a:pt x="810768" y="173482"/>
                </a:lnTo>
                <a:lnTo>
                  <a:pt x="896162" y="173766"/>
                </a:lnTo>
                <a:lnTo>
                  <a:pt x="896315" y="115854"/>
                </a:lnTo>
                <a:lnTo>
                  <a:pt x="811022" y="11557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00773" y="1179652"/>
            <a:ext cx="255904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b="1" spc="15" dirty="0">
                <a:latin typeface="Comic Sans MS"/>
                <a:cs typeface="Comic Sans MS"/>
              </a:rPr>
              <a:t>C</a:t>
            </a:r>
            <a:endParaRPr sz="29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59067" y="2180395"/>
            <a:ext cx="403225" cy="1279525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2350" b="1" spc="2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endParaRPr sz="2350">
              <a:latin typeface="Comic Sans MS"/>
              <a:cs typeface="Comic Sans MS"/>
            </a:endParaRPr>
          </a:p>
          <a:p>
            <a:pPr marL="161290">
              <a:lnSpc>
                <a:spcPct val="100000"/>
              </a:lnSpc>
              <a:spcBef>
                <a:spcPts val="1975"/>
              </a:spcBef>
            </a:pPr>
            <a:r>
              <a:rPr sz="2850" b="1" spc="5" dirty="0">
                <a:solidFill>
                  <a:srgbClr val="800000"/>
                </a:solidFill>
                <a:latin typeface="Comic Sans MS"/>
                <a:cs typeface="Comic Sans MS"/>
              </a:rPr>
              <a:t>B</a:t>
            </a:r>
            <a:endParaRPr sz="285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2827" y="2387295"/>
            <a:ext cx="561340" cy="1157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25"/>
              </a:spcBef>
            </a:pPr>
            <a:r>
              <a:rPr sz="2350" b="1" spc="2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2350" b="1" spc="-69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625" b="1" spc="22" baseline="-33333" dirty="0">
                <a:solidFill>
                  <a:srgbClr val="800000"/>
                </a:solidFill>
                <a:latin typeface="Comic Sans MS"/>
                <a:cs typeface="Comic Sans MS"/>
              </a:rPr>
              <a:t>B</a:t>
            </a:r>
            <a:endParaRPr sz="2625" baseline="-33333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2645"/>
              </a:spcBef>
            </a:pPr>
            <a:r>
              <a:rPr sz="2850" b="1" spc="5" dirty="0">
                <a:solidFill>
                  <a:srgbClr val="800000"/>
                </a:solidFill>
                <a:latin typeface="Comic Sans MS"/>
                <a:cs typeface="Comic Sans MS"/>
              </a:rPr>
              <a:t>B</a:t>
            </a:r>
            <a:endParaRPr sz="28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2194" y="231470"/>
            <a:ext cx="3647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00"/>
                </a:solidFill>
              </a:rPr>
              <a:t>Incremental</a:t>
            </a:r>
            <a:r>
              <a:rPr sz="3600" spc="-9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Model</a:t>
            </a:r>
            <a:endParaRPr sz="3600"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91</a:t>
            </a:r>
          </a:p>
        </p:txBody>
      </p:sp>
      <p:sp>
        <p:nvSpPr>
          <p:cNvPr id="3" name="object 3"/>
          <p:cNvSpPr/>
          <p:nvPr/>
        </p:nvSpPr>
        <p:spPr>
          <a:xfrm>
            <a:off x="164045" y="1258823"/>
            <a:ext cx="8256270" cy="2976245"/>
          </a:xfrm>
          <a:custGeom>
            <a:avLst/>
            <a:gdLst/>
            <a:ahLst/>
            <a:cxnLst/>
            <a:rect l="l" t="t" r="r" b="b"/>
            <a:pathLst>
              <a:path w="8256270" h="2976245">
                <a:moveTo>
                  <a:pt x="2061756" y="2156714"/>
                </a:moveTo>
                <a:lnTo>
                  <a:pt x="2037372" y="2144522"/>
                </a:lnTo>
                <a:lnTo>
                  <a:pt x="1934756" y="2093214"/>
                </a:lnTo>
                <a:lnTo>
                  <a:pt x="1975802" y="2144522"/>
                </a:lnTo>
                <a:lnTo>
                  <a:pt x="1848015" y="2144522"/>
                </a:lnTo>
                <a:lnTo>
                  <a:pt x="1848015" y="2087880"/>
                </a:lnTo>
                <a:lnTo>
                  <a:pt x="1848015" y="2075688"/>
                </a:lnTo>
                <a:lnTo>
                  <a:pt x="1848015" y="2063496"/>
                </a:lnTo>
                <a:lnTo>
                  <a:pt x="1609890" y="2063496"/>
                </a:lnTo>
                <a:lnTo>
                  <a:pt x="1609890" y="2087880"/>
                </a:lnTo>
                <a:lnTo>
                  <a:pt x="1823631" y="2087880"/>
                </a:lnTo>
                <a:lnTo>
                  <a:pt x="1823631" y="2168906"/>
                </a:lnTo>
                <a:lnTo>
                  <a:pt x="1975802" y="2168906"/>
                </a:lnTo>
                <a:lnTo>
                  <a:pt x="1934756" y="2220214"/>
                </a:lnTo>
                <a:lnTo>
                  <a:pt x="2037359" y="2168906"/>
                </a:lnTo>
                <a:lnTo>
                  <a:pt x="2061756" y="2156714"/>
                </a:lnTo>
                <a:close/>
              </a:path>
              <a:path w="8256270" h="2976245">
                <a:moveTo>
                  <a:pt x="2701328" y="123063"/>
                </a:moveTo>
                <a:lnTo>
                  <a:pt x="2676944" y="110871"/>
                </a:lnTo>
                <a:lnTo>
                  <a:pt x="2574328" y="59563"/>
                </a:lnTo>
                <a:lnTo>
                  <a:pt x="2615374" y="110871"/>
                </a:lnTo>
                <a:lnTo>
                  <a:pt x="2481745" y="110871"/>
                </a:lnTo>
                <a:lnTo>
                  <a:pt x="2481745" y="24384"/>
                </a:lnTo>
                <a:lnTo>
                  <a:pt x="2481745" y="12192"/>
                </a:lnTo>
                <a:lnTo>
                  <a:pt x="2481745" y="0"/>
                </a:lnTo>
                <a:lnTo>
                  <a:pt x="2237778" y="0"/>
                </a:lnTo>
                <a:lnTo>
                  <a:pt x="2237778" y="24384"/>
                </a:lnTo>
                <a:lnTo>
                  <a:pt x="2457361" y="24384"/>
                </a:lnTo>
                <a:lnTo>
                  <a:pt x="2457361" y="135255"/>
                </a:lnTo>
                <a:lnTo>
                  <a:pt x="2615374" y="135255"/>
                </a:lnTo>
                <a:lnTo>
                  <a:pt x="2574328" y="186563"/>
                </a:lnTo>
                <a:lnTo>
                  <a:pt x="2676944" y="135255"/>
                </a:lnTo>
                <a:lnTo>
                  <a:pt x="2701328" y="123063"/>
                </a:lnTo>
                <a:close/>
              </a:path>
              <a:path w="8256270" h="2976245">
                <a:moveTo>
                  <a:pt x="3896652" y="2192909"/>
                </a:moveTo>
                <a:lnTo>
                  <a:pt x="3872268" y="2180717"/>
                </a:lnTo>
                <a:lnTo>
                  <a:pt x="3769652" y="2129409"/>
                </a:lnTo>
                <a:lnTo>
                  <a:pt x="3810698" y="2180717"/>
                </a:lnTo>
                <a:lnTo>
                  <a:pt x="3661575" y="2180717"/>
                </a:lnTo>
                <a:lnTo>
                  <a:pt x="3661575" y="2139696"/>
                </a:lnTo>
                <a:lnTo>
                  <a:pt x="3661575" y="2127504"/>
                </a:lnTo>
                <a:lnTo>
                  <a:pt x="3661575" y="2115312"/>
                </a:lnTo>
                <a:lnTo>
                  <a:pt x="3402114" y="2115312"/>
                </a:lnTo>
                <a:lnTo>
                  <a:pt x="3402114" y="2139696"/>
                </a:lnTo>
                <a:lnTo>
                  <a:pt x="3637191" y="2139696"/>
                </a:lnTo>
                <a:lnTo>
                  <a:pt x="3637191" y="2205101"/>
                </a:lnTo>
                <a:lnTo>
                  <a:pt x="3810698" y="2205101"/>
                </a:lnTo>
                <a:lnTo>
                  <a:pt x="3769652" y="2256409"/>
                </a:lnTo>
                <a:lnTo>
                  <a:pt x="3872268" y="2205101"/>
                </a:lnTo>
                <a:lnTo>
                  <a:pt x="3896652" y="2192909"/>
                </a:lnTo>
                <a:close/>
              </a:path>
              <a:path w="8256270" h="2976245">
                <a:moveTo>
                  <a:pt x="5090198" y="124968"/>
                </a:moveTo>
                <a:lnTo>
                  <a:pt x="5065814" y="112776"/>
                </a:lnTo>
                <a:lnTo>
                  <a:pt x="4963198" y="61468"/>
                </a:lnTo>
                <a:lnTo>
                  <a:pt x="5004244" y="112776"/>
                </a:lnTo>
                <a:lnTo>
                  <a:pt x="4346994" y="112776"/>
                </a:lnTo>
                <a:lnTo>
                  <a:pt x="4346994" y="137160"/>
                </a:lnTo>
                <a:lnTo>
                  <a:pt x="5004244" y="137160"/>
                </a:lnTo>
                <a:lnTo>
                  <a:pt x="4963198" y="188468"/>
                </a:lnTo>
                <a:lnTo>
                  <a:pt x="5065801" y="137160"/>
                </a:lnTo>
                <a:lnTo>
                  <a:pt x="5090198" y="124968"/>
                </a:lnTo>
                <a:close/>
              </a:path>
              <a:path w="8256270" h="2976245">
                <a:moveTo>
                  <a:pt x="5648998" y="2191512"/>
                </a:moveTo>
                <a:lnTo>
                  <a:pt x="5624614" y="2179320"/>
                </a:lnTo>
                <a:lnTo>
                  <a:pt x="5521998" y="2128012"/>
                </a:lnTo>
                <a:lnTo>
                  <a:pt x="5563044" y="2179320"/>
                </a:lnTo>
                <a:lnTo>
                  <a:pt x="5169954" y="2179320"/>
                </a:lnTo>
                <a:lnTo>
                  <a:pt x="5169954" y="2203704"/>
                </a:lnTo>
                <a:lnTo>
                  <a:pt x="5563044" y="2203704"/>
                </a:lnTo>
                <a:lnTo>
                  <a:pt x="5521998" y="2255012"/>
                </a:lnTo>
                <a:lnTo>
                  <a:pt x="5624614" y="2203704"/>
                </a:lnTo>
                <a:lnTo>
                  <a:pt x="5648998" y="2191512"/>
                </a:lnTo>
                <a:close/>
              </a:path>
              <a:path w="8256270" h="2976245">
                <a:moveTo>
                  <a:pt x="6379121" y="2769374"/>
                </a:moveTo>
                <a:lnTo>
                  <a:pt x="6354724" y="2769374"/>
                </a:lnTo>
                <a:lnTo>
                  <a:pt x="6354724" y="2930677"/>
                </a:lnTo>
                <a:lnTo>
                  <a:pt x="960666" y="2930677"/>
                </a:lnTo>
                <a:lnTo>
                  <a:pt x="960666" y="2624950"/>
                </a:lnTo>
                <a:lnTo>
                  <a:pt x="1011974" y="2665984"/>
                </a:lnTo>
                <a:lnTo>
                  <a:pt x="986574" y="2615184"/>
                </a:lnTo>
                <a:lnTo>
                  <a:pt x="948474" y="2538984"/>
                </a:lnTo>
                <a:lnTo>
                  <a:pt x="884974" y="2665984"/>
                </a:lnTo>
                <a:lnTo>
                  <a:pt x="936269" y="2624950"/>
                </a:lnTo>
                <a:lnTo>
                  <a:pt x="936282" y="2615184"/>
                </a:lnTo>
                <a:lnTo>
                  <a:pt x="936282" y="2624950"/>
                </a:lnTo>
                <a:lnTo>
                  <a:pt x="936282" y="2955061"/>
                </a:lnTo>
                <a:lnTo>
                  <a:pt x="6379121" y="2955061"/>
                </a:lnTo>
                <a:lnTo>
                  <a:pt x="6379121" y="2942869"/>
                </a:lnTo>
                <a:lnTo>
                  <a:pt x="6379121" y="2930677"/>
                </a:lnTo>
                <a:lnTo>
                  <a:pt x="6379121" y="2769374"/>
                </a:lnTo>
                <a:close/>
              </a:path>
              <a:path w="8256270" h="2976245">
                <a:moveTo>
                  <a:pt x="6604419" y="112776"/>
                </a:moveTo>
                <a:lnTo>
                  <a:pt x="5939955" y="112776"/>
                </a:lnTo>
                <a:lnTo>
                  <a:pt x="5939955" y="1204087"/>
                </a:lnTo>
                <a:lnTo>
                  <a:pt x="0" y="1204087"/>
                </a:lnTo>
                <a:lnTo>
                  <a:pt x="0" y="2089785"/>
                </a:lnTo>
                <a:lnTo>
                  <a:pt x="143179" y="2089785"/>
                </a:lnTo>
                <a:lnTo>
                  <a:pt x="152946" y="2077593"/>
                </a:lnTo>
                <a:lnTo>
                  <a:pt x="102146" y="2141093"/>
                </a:lnTo>
                <a:lnTo>
                  <a:pt x="204749" y="2089785"/>
                </a:lnTo>
                <a:lnTo>
                  <a:pt x="229146" y="2077593"/>
                </a:lnTo>
                <a:lnTo>
                  <a:pt x="204749" y="2065401"/>
                </a:lnTo>
                <a:lnTo>
                  <a:pt x="102146" y="2014093"/>
                </a:lnTo>
                <a:lnTo>
                  <a:pt x="143179" y="2065401"/>
                </a:lnTo>
                <a:lnTo>
                  <a:pt x="24384" y="2065401"/>
                </a:lnTo>
                <a:lnTo>
                  <a:pt x="24384" y="1228471"/>
                </a:lnTo>
                <a:lnTo>
                  <a:pt x="5964339" y="1228471"/>
                </a:lnTo>
                <a:lnTo>
                  <a:pt x="5964339" y="1204087"/>
                </a:lnTo>
                <a:lnTo>
                  <a:pt x="5964339" y="137160"/>
                </a:lnTo>
                <a:lnTo>
                  <a:pt x="6604419" y="137160"/>
                </a:lnTo>
                <a:lnTo>
                  <a:pt x="6604419" y="124968"/>
                </a:lnTo>
                <a:lnTo>
                  <a:pt x="6604419" y="112776"/>
                </a:lnTo>
                <a:close/>
              </a:path>
              <a:path w="8256270" h="2976245">
                <a:moveTo>
                  <a:pt x="8256181" y="2912529"/>
                </a:moveTo>
                <a:lnTo>
                  <a:pt x="8231797" y="2900337"/>
                </a:lnTo>
                <a:lnTo>
                  <a:pt x="8129181" y="2849029"/>
                </a:lnTo>
                <a:lnTo>
                  <a:pt x="8170227" y="2900337"/>
                </a:lnTo>
                <a:lnTo>
                  <a:pt x="7682268" y="2900337"/>
                </a:lnTo>
                <a:lnTo>
                  <a:pt x="7682268" y="2203704"/>
                </a:lnTo>
                <a:lnTo>
                  <a:pt x="7682268" y="2191512"/>
                </a:lnTo>
                <a:lnTo>
                  <a:pt x="7682268" y="2179320"/>
                </a:lnTo>
                <a:lnTo>
                  <a:pt x="7084098" y="2179320"/>
                </a:lnTo>
                <a:lnTo>
                  <a:pt x="7084098" y="2203704"/>
                </a:lnTo>
                <a:lnTo>
                  <a:pt x="7657884" y="2203704"/>
                </a:lnTo>
                <a:lnTo>
                  <a:pt x="7657884" y="2924721"/>
                </a:lnTo>
                <a:lnTo>
                  <a:pt x="8170227" y="2924721"/>
                </a:lnTo>
                <a:lnTo>
                  <a:pt x="8129181" y="2976029"/>
                </a:lnTo>
                <a:lnTo>
                  <a:pt x="8231784" y="2924721"/>
                </a:lnTo>
                <a:lnTo>
                  <a:pt x="8256181" y="2912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07069" y="3505326"/>
            <a:ext cx="4184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5" dirty="0">
                <a:solidFill>
                  <a:srgbClr val="0000CC"/>
                </a:solidFill>
                <a:latin typeface="Comic Sans MS"/>
                <a:cs typeface="Comic Sans MS"/>
              </a:rPr>
              <a:t>Fina</a:t>
            </a:r>
            <a:r>
              <a:rPr sz="1400" b="1" spc="-5" dirty="0">
                <a:solidFill>
                  <a:srgbClr val="0000CC"/>
                </a:solidFill>
                <a:latin typeface="Comic Sans MS"/>
                <a:cs typeface="Comic Sans MS"/>
              </a:rPr>
              <a:t>l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91245" y="3675710"/>
            <a:ext cx="6477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5" dirty="0">
                <a:solidFill>
                  <a:srgbClr val="0000CC"/>
                </a:solidFill>
                <a:latin typeface="Comic Sans MS"/>
                <a:cs typeface="Comic Sans MS"/>
              </a:rPr>
              <a:t>S</a:t>
            </a:r>
            <a:r>
              <a:rPr sz="1400" b="1" spc="-5" dirty="0">
                <a:solidFill>
                  <a:srgbClr val="0000CC"/>
                </a:solidFill>
                <a:latin typeface="Comic Sans MS"/>
                <a:cs typeface="Comic Sans MS"/>
              </a:rPr>
              <a:t>y</a:t>
            </a:r>
            <a:r>
              <a:rPr sz="1400" b="1" spc="-15" dirty="0">
                <a:solidFill>
                  <a:srgbClr val="0000CC"/>
                </a:solidFill>
                <a:latin typeface="Comic Sans MS"/>
                <a:cs typeface="Comic Sans MS"/>
              </a:rPr>
              <a:t>st</a:t>
            </a:r>
            <a:r>
              <a:rPr sz="1400" b="1" spc="-20" dirty="0">
                <a:solidFill>
                  <a:srgbClr val="0000CC"/>
                </a:solidFill>
                <a:latin typeface="Comic Sans MS"/>
                <a:cs typeface="Comic Sans MS"/>
              </a:rPr>
              <a:t>e</a:t>
            </a:r>
            <a:r>
              <a:rPr sz="1400" b="1" spc="-5" dirty="0">
                <a:solidFill>
                  <a:srgbClr val="0000CC"/>
                </a:solidFill>
                <a:latin typeface="Comic Sans MS"/>
                <a:cs typeface="Comic Sans MS"/>
              </a:rPr>
              <a:t>m</a:t>
            </a:r>
            <a:endParaRPr sz="14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7761" y="3075241"/>
            <a:ext cx="1439545" cy="762635"/>
            <a:chOff x="377761" y="3075241"/>
            <a:chExt cx="1439545" cy="762635"/>
          </a:xfrm>
        </p:grpSpPr>
        <p:sp>
          <p:nvSpPr>
            <p:cNvPr id="7" name="object 7"/>
            <p:cNvSpPr/>
            <p:nvPr/>
          </p:nvSpPr>
          <p:spPr>
            <a:xfrm>
              <a:off x="382524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1304036" y="0"/>
                  </a:moveTo>
                  <a:lnTo>
                    <a:pt x="125475" y="0"/>
                  </a:lnTo>
                  <a:lnTo>
                    <a:pt x="76632" y="9854"/>
                  </a:lnTo>
                  <a:lnTo>
                    <a:pt x="36749" y="36734"/>
                  </a:lnTo>
                  <a:lnTo>
                    <a:pt x="9859" y="76616"/>
                  </a:lnTo>
                  <a:lnTo>
                    <a:pt x="0" y="125475"/>
                  </a:lnTo>
                  <a:lnTo>
                    <a:pt x="0" y="627379"/>
                  </a:lnTo>
                  <a:lnTo>
                    <a:pt x="9859" y="676239"/>
                  </a:lnTo>
                  <a:lnTo>
                    <a:pt x="36749" y="716121"/>
                  </a:lnTo>
                  <a:lnTo>
                    <a:pt x="76632" y="743001"/>
                  </a:lnTo>
                  <a:lnTo>
                    <a:pt x="125475" y="752856"/>
                  </a:lnTo>
                  <a:lnTo>
                    <a:pt x="1304036" y="752856"/>
                  </a:lnTo>
                  <a:lnTo>
                    <a:pt x="1352895" y="743001"/>
                  </a:lnTo>
                  <a:lnTo>
                    <a:pt x="1392777" y="716121"/>
                  </a:lnTo>
                  <a:lnTo>
                    <a:pt x="1419657" y="676239"/>
                  </a:lnTo>
                  <a:lnTo>
                    <a:pt x="1429512" y="627379"/>
                  </a:lnTo>
                  <a:lnTo>
                    <a:pt x="1429512" y="125475"/>
                  </a:lnTo>
                  <a:lnTo>
                    <a:pt x="1419657" y="76616"/>
                  </a:lnTo>
                  <a:lnTo>
                    <a:pt x="1392777" y="36734"/>
                  </a:lnTo>
                  <a:lnTo>
                    <a:pt x="1352895" y="9854"/>
                  </a:lnTo>
                  <a:lnTo>
                    <a:pt x="130403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524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0" y="125475"/>
                  </a:moveTo>
                  <a:lnTo>
                    <a:pt x="9859" y="76616"/>
                  </a:lnTo>
                  <a:lnTo>
                    <a:pt x="36749" y="36734"/>
                  </a:lnTo>
                  <a:lnTo>
                    <a:pt x="76632" y="9854"/>
                  </a:lnTo>
                  <a:lnTo>
                    <a:pt x="125475" y="0"/>
                  </a:lnTo>
                  <a:lnTo>
                    <a:pt x="1304036" y="0"/>
                  </a:lnTo>
                  <a:lnTo>
                    <a:pt x="1352895" y="9854"/>
                  </a:lnTo>
                  <a:lnTo>
                    <a:pt x="1392777" y="36734"/>
                  </a:lnTo>
                  <a:lnTo>
                    <a:pt x="1419657" y="76616"/>
                  </a:lnTo>
                  <a:lnTo>
                    <a:pt x="1429512" y="125475"/>
                  </a:lnTo>
                  <a:lnTo>
                    <a:pt x="1429512" y="627379"/>
                  </a:lnTo>
                  <a:lnTo>
                    <a:pt x="1419657" y="676239"/>
                  </a:lnTo>
                  <a:lnTo>
                    <a:pt x="1392777" y="716121"/>
                  </a:lnTo>
                  <a:lnTo>
                    <a:pt x="1352895" y="743001"/>
                  </a:lnTo>
                  <a:lnTo>
                    <a:pt x="1304036" y="752856"/>
                  </a:lnTo>
                  <a:lnTo>
                    <a:pt x="125475" y="752856"/>
                  </a:lnTo>
                  <a:lnTo>
                    <a:pt x="76632" y="743001"/>
                  </a:lnTo>
                  <a:lnTo>
                    <a:pt x="36749" y="716121"/>
                  </a:lnTo>
                  <a:lnTo>
                    <a:pt x="9859" y="676239"/>
                  </a:lnTo>
                  <a:lnTo>
                    <a:pt x="0" y="627379"/>
                  </a:lnTo>
                  <a:lnTo>
                    <a:pt x="0" y="1254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4260" y="3160598"/>
            <a:ext cx="8610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De</a:t>
            </a:r>
            <a:r>
              <a:rPr sz="1800" b="1" spc="-20" dirty="0">
                <a:solidFill>
                  <a:srgbClr val="0000CC"/>
                </a:solidFill>
                <a:latin typeface="Comic Sans MS"/>
                <a:cs typeface="Comic Sans MS"/>
              </a:rPr>
              <a:t>v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e</a:t>
            </a:r>
            <a:r>
              <a:rPr sz="1800" b="1" spc="5" dirty="0">
                <a:solidFill>
                  <a:srgbClr val="0000CC"/>
                </a:solidFill>
                <a:latin typeface="Comic Sans MS"/>
                <a:cs typeface="Comic Sans MS"/>
              </a:rPr>
              <a:t>l</a:t>
            </a:r>
            <a:r>
              <a:rPr sz="1800" b="1" spc="-15" dirty="0">
                <a:solidFill>
                  <a:srgbClr val="0000CC"/>
                </a:solidFill>
                <a:latin typeface="Comic Sans MS"/>
                <a:cs typeface="Comic Sans MS"/>
              </a:rPr>
              <a:t>o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956" y="3380613"/>
            <a:ext cx="1156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In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c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reme</a:t>
            </a: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n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79129" y="3075241"/>
            <a:ext cx="1439545" cy="762635"/>
            <a:chOff x="2179129" y="3075241"/>
            <a:chExt cx="1439545" cy="762635"/>
          </a:xfrm>
        </p:grpSpPr>
        <p:sp>
          <p:nvSpPr>
            <p:cNvPr id="12" name="object 12"/>
            <p:cNvSpPr/>
            <p:nvPr/>
          </p:nvSpPr>
          <p:spPr>
            <a:xfrm>
              <a:off x="2183892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1304035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5"/>
                  </a:lnTo>
                  <a:lnTo>
                    <a:pt x="0" y="627379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304035" y="752856"/>
                  </a:lnTo>
                  <a:lnTo>
                    <a:pt x="1352895" y="743001"/>
                  </a:lnTo>
                  <a:lnTo>
                    <a:pt x="1392777" y="716121"/>
                  </a:lnTo>
                  <a:lnTo>
                    <a:pt x="1419657" y="676239"/>
                  </a:lnTo>
                  <a:lnTo>
                    <a:pt x="1429511" y="627379"/>
                  </a:lnTo>
                  <a:lnTo>
                    <a:pt x="1429511" y="125475"/>
                  </a:lnTo>
                  <a:lnTo>
                    <a:pt x="1419657" y="76616"/>
                  </a:lnTo>
                  <a:lnTo>
                    <a:pt x="1392777" y="36734"/>
                  </a:lnTo>
                  <a:lnTo>
                    <a:pt x="1352895" y="9854"/>
                  </a:lnTo>
                  <a:lnTo>
                    <a:pt x="130403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83892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0" y="125475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04035" y="0"/>
                  </a:lnTo>
                  <a:lnTo>
                    <a:pt x="1352895" y="9854"/>
                  </a:lnTo>
                  <a:lnTo>
                    <a:pt x="1392777" y="36734"/>
                  </a:lnTo>
                  <a:lnTo>
                    <a:pt x="1419657" y="76616"/>
                  </a:lnTo>
                  <a:lnTo>
                    <a:pt x="1429511" y="125475"/>
                  </a:lnTo>
                  <a:lnTo>
                    <a:pt x="1429511" y="627379"/>
                  </a:lnTo>
                  <a:lnTo>
                    <a:pt x="1419657" y="676239"/>
                  </a:lnTo>
                  <a:lnTo>
                    <a:pt x="1392777" y="716121"/>
                  </a:lnTo>
                  <a:lnTo>
                    <a:pt x="1352895" y="743001"/>
                  </a:lnTo>
                  <a:lnTo>
                    <a:pt x="1304035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79"/>
                  </a:lnTo>
                  <a:lnTo>
                    <a:pt x="0" y="12547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30526" y="3160598"/>
            <a:ext cx="933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Validate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0798" y="3380613"/>
            <a:ext cx="1156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In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c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reme</a:t>
            </a: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n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44505" y="3075241"/>
            <a:ext cx="1439545" cy="762635"/>
            <a:chOff x="4044505" y="3075241"/>
            <a:chExt cx="1439545" cy="762635"/>
          </a:xfrm>
        </p:grpSpPr>
        <p:sp>
          <p:nvSpPr>
            <p:cNvPr id="17" name="object 17"/>
            <p:cNvSpPr/>
            <p:nvPr/>
          </p:nvSpPr>
          <p:spPr>
            <a:xfrm>
              <a:off x="4049267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1304036" y="0"/>
                  </a:moveTo>
                  <a:lnTo>
                    <a:pt x="125476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5"/>
                  </a:lnTo>
                  <a:lnTo>
                    <a:pt x="0" y="627379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6" y="752856"/>
                  </a:lnTo>
                  <a:lnTo>
                    <a:pt x="1304036" y="752856"/>
                  </a:lnTo>
                  <a:lnTo>
                    <a:pt x="1352895" y="743001"/>
                  </a:lnTo>
                  <a:lnTo>
                    <a:pt x="1392777" y="716121"/>
                  </a:lnTo>
                  <a:lnTo>
                    <a:pt x="1419657" y="676239"/>
                  </a:lnTo>
                  <a:lnTo>
                    <a:pt x="1429512" y="627379"/>
                  </a:lnTo>
                  <a:lnTo>
                    <a:pt x="1429512" y="125475"/>
                  </a:lnTo>
                  <a:lnTo>
                    <a:pt x="1419657" y="76616"/>
                  </a:lnTo>
                  <a:lnTo>
                    <a:pt x="1392777" y="36734"/>
                  </a:lnTo>
                  <a:lnTo>
                    <a:pt x="1352895" y="9854"/>
                  </a:lnTo>
                  <a:lnTo>
                    <a:pt x="130403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49267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0" y="125475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6" y="0"/>
                  </a:lnTo>
                  <a:lnTo>
                    <a:pt x="1304036" y="0"/>
                  </a:lnTo>
                  <a:lnTo>
                    <a:pt x="1352895" y="9854"/>
                  </a:lnTo>
                  <a:lnTo>
                    <a:pt x="1392777" y="36734"/>
                  </a:lnTo>
                  <a:lnTo>
                    <a:pt x="1419657" y="76616"/>
                  </a:lnTo>
                  <a:lnTo>
                    <a:pt x="1429512" y="125475"/>
                  </a:lnTo>
                  <a:lnTo>
                    <a:pt x="1429512" y="627379"/>
                  </a:lnTo>
                  <a:lnTo>
                    <a:pt x="1419657" y="676239"/>
                  </a:lnTo>
                  <a:lnTo>
                    <a:pt x="1392777" y="716121"/>
                  </a:lnTo>
                  <a:lnTo>
                    <a:pt x="1352895" y="743001"/>
                  </a:lnTo>
                  <a:lnTo>
                    <a:pt x="1304036" y="752856"/>
                  </a:lnTo>
                  <a:lnTo>
                    <a:pt x="125476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79"/>
                  </a:lnTo>
                  <a:lnTo>
                    <a:pt x="0" y="1254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213352" y="3160598"/>
            <a:ext cx="1097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I</a:t>
            </a: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nt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egr</a:t>
            </a:r>
            <a:r>
              <a:rPr sz="1800" b="1" spc="5" dirty="0">
                <a:solidFill>
                  <a:srgbClr val="0000CC"/>
                </a:solidFill>
                <a:latin typeface="Comic Sans MS"/>
                <a:cs typeface="Comic Sans MS"/>
              </a:rPr>
              <a:t>a</a:t>
            </a: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t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85920" y="3380613"/>
            <a:ext cx="1156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In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c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reme</a:t>
            </a: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n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45873" y="3075241"/>
            <a:ext cx="1439545" cy="762635"/>
            <a:chOff x="5845873" y="3075241"/>
            <a:chExt cx="1439545" cy="762635"/>
          </a:xfrm>
        </p:grpSpPr>
        <p:sp>
          <p:nvSpPr>
            <p:cNvPr id="22" name="object 22"/>
            <p:cNvSpPr/>
            <p:nvPr/>
          </p:nvSpPr>
          <p:spPr>
            <a:xfrm>
              <a:off x="5850635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1304036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5"/>
                  </a:lnTo>
                  <a:lnTo>
                    <a:pt x="0" y="627379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304036" y="752856"/>
                  </a:lnTo>
                  <a:lnTo>
                    <a:pt x="1352895" y="743001"/>
                  </a:lnTo>
                  <a:lnTo>
                    <a:pt x="1392777" y="716121"/>
                  </a:lnTo>
                  <a:lnTo>
                    <a:pt x="1419657" y="676239"/>
                  </a:lnTo>
                  <a:lnTo>
                    <a:pt x="1429512" y="627379"/>
                  </a:lnTo>
                  <a:lnTo>
                    <a:pt x="1429512" y="125475"/>
                  </a:lnTo>
                  <a:lnTo>
                    <a:pt x="1419657" y="76616"/>
                  </a:lnTo>
                  <a:lnTo>
                    <a:pt x="1392777" y="36734"/>
                  </a:lnTo>
                  <a:lnTo>
                    <a:pt x="1352895" y="9854"/>
                  </a:lnTo>
                  <a:lnTo>
                    <a:pt x="130403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50635" y="3080003"/>
              <a:ext cx="1430020" cy="753110"/>
            </a:xfrm>
            <a:custGeom>
              <a:avLst/>
              <a:gdLst/>
              <a:ahLst/>
              <a:cxnLst/>
              <a:rect l="l" t="t" r="r" b="b"/>
              <a:pathLst>
                <a:path w="1430020" h="753110">
                  <a:moveTo>
                    <a:pt x="0" y="125475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04036" y="0"/>
                  </a:lnTo>
                  <a:lnTo>
                    <a:pt x="1352895" y="9854"/>
                  </a:lnTo>
                  <a:lnTo>
                    <a:pt x="1392777" y="36734"/>
                  </a:lnTo>
                  <a:lnTo>
                    <a:pt x="1419657" y="76616"/>
                  </a:lnTo>
                  <a:lnTo>
                    <a:pt x="1429512" y="125475"/>
                  </a:lnTo>
                  <a:lnTo>
                    <a:pt x="1429512" y="627379"/>
                  </a:lnTo>
                  <a:lnTo>
                    <a:pt x="1419657" y="676239"/>
                  </a:lnTo>
                  <a:lnTo>
                    <a:pt x="1392777" y="716121"/>
                  </a:lnTo>
                  <a:lnTo>
                    <a:pt x="1352895" y="743001"/>
                  </a:lnTo>
                  <a:lnTo>
                    <a:pt x="1304036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79"/>
                  </a:lnTo>
                  <a:lnTo>
                    <a:pt x="0" y="1254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98540" y="3160598"/>
            <a:ext cx="933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Validate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50355" y="3380613"/>
            <a:ext cx="83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8657" y="892873"/>
            <a:ext cx="5868035" cy="3301365"/>
            <a:chOff x="688657" y="892873"/>
            <a:chExt cx="5868035" cy="3301365"/>
          </a:xfrm>
        </p:grpSpPr>
        <p:sp>
          <p:nvSpPr>
            <p:cNvPr id="27" name="object 27"/>
            <p:cNvSpPr/>
            <p:nvPr/>
          </p:nvSpPr>
          <p:spPr>
            <a:xfrm>
              <a:off x="6536435" y="3832859"/>
              <a:ext cx="0" cy="341630"/>
            </a:xfrm>
            <a:custGeom>
              <a:avLst/>
              <a:gdLst/>
              <a:ahLst/>
              <a:cxnLst/>
              <a:rect l="l" t="t" r="r" b="b"/>
              <a:pathLst>
                <a:path h="341629">
                  <a:moveTo>
                    <a:pt x="0" y="341375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3419" y="897635"/>
              <a:ext cx="1740535" cy="749935"/>
            </a:xfrm>
            <a:custGeom>
              <a:avLst/>
              <a:gdLst/>
              <a:ahLst/>
              <a:cxnLst/>
              <a:rect l="l" t="t" r="r" b="b"/>
              <a:pathLst>
                <a:path w="1740535" h="749935">
                  <a:moveTo>
                    <a:pt x="1615440" y="0"/>
                  </a:moveTo>
                  <a:lnTo>
                    <a:pt x="124967" y="0"/>
                  </a:lnTo>
                  <a:lnTo>
                    <a:pt x="76327" y="9828"/>
                  </a:lnTo>
                  <a:lnTo>
                    <a:pt x="36604" y="36623"/>
                  </a:lnTo>
                  <a:lnTo>
                    <a:pt x="9821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1" y="673459"/>
                  </a:lnTo>
                  <a:lnTo>
                    <a:pt x="36604" y="713184"/>
                  </a:lnTo>
                  <a:lnTo>
                    <a:pt x="76327" y="739979"/>
                  </a:lnTo>
                  <a:lnTo>
                    <a:pt x="124967" y="749808"/>
                  </a:lnTo>
                  <a:lnTo>
                    <a:pt x="1615440" y="749808"/>
                  </a:lnTo>
                  <a:lnTo>
                    <a:pt x="1664059" y="739979"/>
                  </a:lnTo>
                  <a:lnTo>
                    <a:pt x="1703784" y="713184"/>
                  </a:lnTo>
                  <a:lnTo>
                    <a:pt x="1730579" y="673459"/>
                  </a:lnTo>
                  <a:lnTo>
                    <a:pt x="1740408" y="624839"/>
                  </a:lnTo>
                  <a:lnTo>
                    <a:pt x="1740408" y="124967"/>
                  </a:lnTo>
                  <a:lnTo>
                    <a:pt x="1730579" y="76348"/>
                  </a:lnTo>
                  <a:lnTo>
                    <a:pt x="1703784" y="36623"/>
                  </a:lnTo>
                  <a:lnTo>
                    <a:pt x="1664059" y="9828"/>
                  </a:lnTo>
                  <a:lnTo>
                    <a:pt x="161544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3419" y="897635"/>
              <a:ext cx="1740535" cy="749935"/>
            </a:xfrm>
            <a:custGeom>
              <a:avLst/>
              <a:gdLst/>
              <a:ahLst/>
              <a:cxnLst/>
              <a:rect l="l" t="t" r="r" b="b"/>
              <a:pathLst>
                <a:path w="1740535" h="749935">
                  <a:moveTo>
                    <a:pt x="0" y="124967"/>
                  </a:moveTo>
                  <a:lnTo>
                    <a:pt x="9821" y="76348"/>
                  </a:lnTo>
                  <a:lnTo>
                    <a:pt x="36604" y="36623"/>
                  </a:lnTo>
                  <a:lnTo>
                    <a:pt x="76327" y="9828"/>
                  </a:lnTo>
                  <a:lnTo>
                    <a:pt x="124967" y="0"/>
                  </a:lnTo>
                  <a:lnTo>
                    <a:pt x="1615440" y="0"/>
                  </a:lnTo>
                  <a:lnTo>
                    <a:pt x="1664059" y="9828"/>
                  </a:lnTo>
                  <a:lnTo>
                    <a:pt x="1703784" y="36623"/>
                  </a:lnTo>
                  <a:lnTo>
                    <a:pt x="1730579" y="76348"/>
                  </a:lnTo>
                  <a:lnTo>
                    <a:pt x="1740408" y="124967"/>
                  </a:lnTo>
                  <a:lnTo>
                    <a:pt x="1740408" y="624839"/>
                  </a:lnTo>
                  <a:lnTo>
                    <a:pt x="1730579" y="673459"/>
                  </a:lnTo>
                  <a:lnTo>
                    <a:pt x="1703784" y="713184"/>
                  </a:lnTo>
                  <a:lnTo>
                    <a:pt x="1664059" y="739979"/>
                  </a:lnTo>
                  <a:lnTo>
                    <a:pt x="1615440" y="749808"/>
                  </a:lnTo>
                  <a:lnTo>
                    <a:pt x="124967" y="749808"/>
                  </a:lnTo>
                  <a:lnTo>
                    <a:pt x="76327" y="739979"/>
                  </a:lnTo>
                  <a:lnTo>
                    <a:pt x="36604" y="713184"/>
                  </a:lnTo>
                  <a:lnTo>
                    <a:pt x="9821" y="673459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71550" y="975486"/>
            <a:ext cx="1481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Requirements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55598" y="1194942"/>
            <a:ext cx="808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Out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l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i</a:t>
            </a: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n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864929" y="959929"/>
            <a:ext cx="1746885" cy="762635"/>
            <a:chOff x="2864929" y="959929"/>
            <a:chExt cx="1746885" cy="762635"/>
          </a:xfrm>
        </p:grpSpPr>
        <p:sp>
          <p:nvSpPr>
            <p:cNvPr id="33" name="object 33"/>
            <p:cNvSpPr/>
            <p:nvPr/>
          </p:nvSpPr>
          <p:spPr>
            <a:xfrm>
              <a:off x="2869692" y="964691"/>
              <a:ext cx="1737360" cy="753110"/>
            </a:xfrm>
            <a:custGeom>
              <a:avLst/>
              <a:gdLst/>
              <a:ahLst/>
              <a:cxnLst/>
              <a:rect l="l" t="t" r="r" b="b"/>
              <a:pathLst>
                <a:path w="1737360" h="753110">
                  <a:moveTo>
                    <a:pt x="1611883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611883" y="752856"/>
                  </a:lnTo>
                  <a:lnTo>
                    <a:pt x="1660743" y="743001"/>
                  </a:lnTo>
                  <a:lnTo>
                    <a:pt x="1700625" y="716121"/>
                  </a:lnTo>
                  <a:lnTo>
                    <a:pt x="1727505" y="676239"/>
                  </a:lnTo>
                  <a:lnTo>
                    <a:pt x="1737359" y="627380"/>
                  </a:lnTo>
                  <a:lnTo>
                    <a:pt x="1737359" y="125476"/>
                  </a:lnTo>
                  <a:lnTo>
                    <a:pt x="1727505" y="76616"/>
                  </a:lnTo>
                  <a:lnTo>
                    <a:pt x="1700625" y="36734"/>
                  </a:lnTo>
                  <a:lnTo>
                    <a:pt x="1660743" y="9854"/>
                  </a:lnTo>
                  <a:lnTo>
                    <a:pt x="161188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69692" y="964691"/>
              <a:ext cx="1737360" cy="753110"/>
            </a:xfrm>
            <a:custGeom>
              <a:avLst/>
              <a:gdLst/>
              <a:ahLst/>
              <a:cxnLst/>
              <a:rect l="l" t="t" r="r" b="b"/>
              <a:pathLst>
                <a:path w="1737360" h="753110">
                  <a:moveTo>
                    <a:pt x="0" y="125476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611883" y="0"/>
                  </a:lnTo>
                  <a:lnTo>
                    <a:pt x="1660743" y="9854"/>
                  </a:lnTo>
                  <a:lnTo>
                    <a:pt x="1700625" y="36734"/>
                  </a:lnTo>
                  <a:lnTo>
                    <a:pt x="1727505" y="76616"/>
                  </a:lnTo>
                  <a:lnTo>
                    <a:pt x="1737359" y="125476"/>
                  </a:lnTo>
                  <a:lnTo>
                    <a:pt x="1737359" y="627380"/>
                  </a:lnTo>
                  <a:lnTo>
                    <a:pt x="1727505" y="676239"/>
                  </a:lnTo>
                  <a:lnTo>
                    <a:pt x="1700625" y="716121"/>
                  </a:lnTo>
                  <a:lnTo>
                    <a:pt x="1660743" y="743001"/>
                  </a:lnTo>
                  <a:lnTo>
                    <a:pt x="1611883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163951" y="1043685"/>
            <a:ext cx="1048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Split</a:t>
            </a:r>
            <a:r>
              <a:rPr sz="1800" b="1" spc="-95" dirty="0">
                <a:solidFill>
                  <a:srgbClr val="0000CC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into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37102" y="1262837"/>
            <a:ext cx="996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0000CC"/>
                </a:solidFill>
                <a:latin typeface="Comic Sans MS"/>
                <a:cs typeface="Comic Sans MS"/>
              </a:rPr>
              <a:t>F</a:t>
            </a: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e</a:t>
            </a:r>
            <a:r>
              <a:rPr sz="1800" b="1" spc="5" dirty="0">
                <a:solidFill>
                  <a:srgbClr val="0000CC"/>
                </a:solidFill>
                <a:latin typeface="Comic Sans MS"/>
                <a:cs typeface="Comic Sans MS"/>
              </a:rPr>
              <a:t>a</a:t>
            </a:r>
            <a:r>
              <a:rPr sz="1800" b="1" spc="-10" dirty="0">
                <a:solidFill>
                  <a:srgbClr val="0000CC"/>
                </a:solidFill>
                <a:latin typeface="Comic Sans MS"/>
                <a:cs typeface="Comic Sans MS"/>
              </a:rPr>
              <a:t>t</a:t>
            </a:r>
            <a:r>
              <a:rPr sz="1800" b="1" dirty="0">
                <a:solidFill>
                  <a:srgbClr val="0000CC"/>
                </a:solidFill>
                <a:latin typeface="Comic Sans MS"/>
                <a:cs typeface="Comic Sans MS"/>
              </a:rPr>
              <a:t>ures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224271" y="960119"/>
            <a:ext cx="1750060" cy="762000"/>
            <a:chOff x="5224271" y="960119"/>
            <a:chExt cx="1750060" cy="762000"/>
          </a:xfrm>
        </p:grpSpPr>
        <p:sp>
          <p:nvSpPr>
            <p:cNvPr id="38" name="object 38"/>
            <p:cNvSpPr/>
            <p:nvPr/>
          </p:nvSpPr>
          <p:spPr>
            <a:xfrm>
              <a:off x="5228843" y="964691"/>
              <a:ext cx="1740535" cy="753110"/>
            </a:xfrm>
            <a:custGeom>
              <a:avLst/>
              <a:gdLst/>
              <a:ahLst/>
              <a:cxnLst/>
              <a:rect l="l" t="t" r="r" b="b"/>
              <a:pathLst>
                <a:path w="1740534" h="753110">
                  <a:moveTo>
                    <a:pt x="1614931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614931" y="752856"/>
                  </a:lnTo>
                  <a:lnTo>
                    <a:pt x="1663791" y="743001"/>
                  </a:lnTo>
                  <a:lnTo>
                    <a:pt x="1703673" y="716121"/>
                  </a:lnTo>
                  <a:lnTo>
                    <a:pt x="1730553" y="676239"/>
                  </a:lnTo>
                  <a:lnTo>
                    <a:pt x="1740407" y="627380"/>
                  </a:lnTo>
                  <a:lnTo>
                    <a:pt x="1740407" y="125476"/>
                  </a:lnTo>
                  <a:lnTo>
                    <a:pt x="1730553" y="76616"/>
                  </a:lnTo>
                  <a:lnTo>
                    <a:pt x="1703673" y="36734"/>
                  </a:lnTo>
                  <a:lnTo>
                    <a:pt x="1663791" y="9854"/>
                  </a:lnTo>
                  <a:lnTo>
                    <a:pt x="161493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28843" y="964691"/>
              <a:ext cx="1740535" cy="753110"/>
            </a:xfrm>
            <a:custGeom>
              <a:avLst/>
              <a:gdLst/>
              <a:ahLst/>
              <a:cxnLst/>
              <a:rect l="l" t="t" r="r" b="b"/>
              <a:pathLst>
                <a:path w="1740534" h="753110">
                  <a:moveTo>
                    <a:pt x="0" y="125476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614931" y="0"/>
                  </a:lnTo>
                  <a:lnTo>
                    <a:pt x="1663791" y="9854"/>
                  </a:lnTo>
                  <a:lnTo>
                    <a:pt x="1703673" y="36734"/>
                  </a:lnTo>
                  <a:lnTo>
                    <a:pt x="1730553" y="76616"/>
                  </a:lnTo>
                  <a:lnTo>
                    <a:pt x="1740407" y="125476"/>
                  </a:lnTo>
                  <a:lnTo>
                    <a:pt x="1740407" y="627380"/>
                  </a:lnTo>
                  <a:lnTo>
                    <a:pt x="1730553" y="676239"/>
                  </a:lnTo>
                  <a:lnTo>
                    <a:pt x="1703673" y="716121"/>
                  </a:lnTo>
                  <a:lnTo>
                    <a:pt x="1663791" y="743001"/>
                  </a:lnTo>
                  <a:lnTo>
                    <a:pt x="1614931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730621" y="1153414"/>
            <a:ext cx="735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CC"/>
                </a:solidFill>
                <a:latin typeface="Comic Sans MS"/>
                <a:cs typeface="Comic Sans MS"/>
              </a:rPr>
              <a:t>Design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115" y="222325"/>
            <a:ext cx="57931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00"/>
                </a:solidFill>
              </a:rPr>
              <a:t>Incremental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Model: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Requirements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8361" y="1508569"/>
            <a:ext cx="6002020" cy="2503170"/>
            <a:chOff x="1368361" y="1508569"/>
            <a:chExt cx="6002020" cy="2503170"/>
          </a:xfrm>
        </p:grpSpPr>
        <p:sp>
          <p:nvSpPr>
            <p:cNvPr id="4" name="object 4"/>
            <p:cNvSpPr/>
            <p:nvPr/>
          </p:nvSpPr>
          <p:spPr>
            <a:xfrm>
              <a:off x="1373124" y="1644395"/>
              <a:ext cx="500380" cy="2362200"/>
            </a:xfrm>
            <a:custGeom>
              <a:avLst/>
              <a:gdLst/>
              <a:ahLst/>
              <a:cxnLst/>
              <a:rect l="l" t="t" r="r" b="b"/>
              <a:pathLst>
                <a:path w="500380" h="2362200">
                  <a:moveTo>
                    <a:pt x="0" y="2362200"/>
                  </a:moveTo>
                  <a:lnTo>
                    <a:pt x="499872" y="2362200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3124" y="1513331"/>
              <a:ext cx="500380" cy="2493645"/>
            </a:xfrm>
            <a:custGeom>
              <a:avLst/>
              <a:gdLst/>
              <a:ahLst/>
              <a:cxnLst/>
              <a:rect l="l" t="t" r="r" b="b"/>
              <a:pathLst>
                <a:path w="500380" h="2493645">
                  <a:moveTo>
                    <a:pt x="0" y="2493264"/>
                  </a:moveTo>
                  <a:lnTo>
                    <a:pt x="499872" y="249326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2996" y="1644395"/>
              <a:ext cx="500380" cy="2362200"/>
            </a:xfrm>
            <a:custGeom>
              <a:avLst/>
              <a:gdLst/>
              <a:ahLst/>
              <a:cxnLst/>
              <a:rect l="l" t="t" r="r" b="b"/>
              <a:pathLst>
                <a:path w="500380" h="2362200">
                  <a:moveTo>
                    <a:pt x="0" y="2362200"/>
                  </a:moveTo>
                  <a:lnTo>
                    <a:pt x="499871" y="2362200"/>
                  </a:lnTo>
                  <a:lnTo>
                    <a:pt x="499871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72996" y="1513331"/>
              <a:ext cx="500380" cy="2493645"/>
            </a:xfrm>
            <a:custGeom>
              <a:avLst/>
              <a:gdLst/>
              <a:ahLst/>
              <a:cxnLst/>
              <a:rect l="l" t="t" r="r" b="b"/>
              <a:pathLst>
                <a:path w="500380" h="2493645">
                  <a:moveTo>
                    <a:pt x="0" y="2493264"/>
                  </a:moveTo>
                  <a:lnTo>
                    <a:pt x="499871" y="2493264"/>
                  </a:lnTo>
                  <a:lnTo>
                    <a:pt x="499871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2868" y="1644395"/>
              <a:ext cx="500380" cy="2362200"/>
            </a:xfrm>
            <a:custGeom>
              <a:avLst/>
              <a:gdLst/>
              <a:ahLst/>
              <a:cxnLst/>
              <a:rect l="l" t="t" r="r" b="b"/>
              <a:pathLst>
                <a:path w="500380" h="2362200">
                  <a:moveTo>
                    <a:pt x="0" y="2362200"/>
                  </a:moveTo>
                  <a:lnTo>
                    <a:pt x="499871" y="2362200"/>
                  </a:lnTo>
                  <a:lnTo>
                    <a:pt x="499871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72868" y="1513331"/>
              <a:ext cx="500380" cy="2493645"/>
            </a:xfrm>
            <a:custGeom>
              <a:avLst/>
              <a:gdLst/>
              <a:ahLst/>
              <a:cxnLst/>
              <a:rect l="l" t="t" r="r" b="b"/>
              <a:pathLst>
                <a:path w="500380" h="2493645">
                  <a:moveTo>
                    <a:pt x="0" y="2493264"/>
                  </a:moveTo>
                  <a:lnTo>
                    <a:pt x="499871" y="2493264"/>
                  </a:lnTo>
                  <a:lnTo>
                    <a:pt x="499871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69691" y="1644395"/>
              <a:ext cx="533400" cy="2362200"/>
            </a:xfrm>
            <a:custGeom>
              <a:avLst/>
              <a:gdLst/>
              <a:ahLst/>
              <a:cxnLst/>
              <a:rect l="l" t="t" r="r" b="b"/>
              <a:pathLst>
                <a:path w="533400" h="2362200">
                  <a:moveTo>
                    <a:pt x="0" y="2362200"/>
                  </a:moveTo>
                  <a:lnTo>
                    <a:pt x="533400" y="23622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69691" y="1513331"/>
              <a:ext cx="533400" cy="2493645"/>
            </a:xfrm>
            <a:custGeom>
              <a:avLst/>
              <a:gdLst/>
              <a:ahLst/>
              <a:cxnLst/>
              <a:rect l="l" t="t" r="r" b="b"/>
              <a:pathLst>
                <a:path w="533400" h="2493645">
                  <a:moveTo>
                    <a:pt x="0" y="2493264"/>
                  </a:moveTo>
                  <a:lnTo>
                    <a:pt x="533400" y="2493264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03091" y="1644395"/>
              <a:ext cx="466725" cy="2362200"/>
            </a:xfrm>
            <a:custGeom>
              <a:avLst/>
              <a:gdLst/>
              <a:ahLst/>
              <a:cxnLst/>
              <a:rect l="l" t="t" r="r" b="b"/>
              <a:pathLst>
                <a:path w="466725" h="2362200">
                  <a:moveTo>
                    <a:pt x="0" y="2362200"/>
                  </a:moveTo>
                  <a:lnTo>
                    <a:pt x="466343" y="2362200"/>
                  </a:lnTo>
                  <a:lnTo>
                    <a:pt x="466343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03091" y="1513331"/>
              <a:ext cx="466725" cy="2493645"/>
            </a:xfrm>
            <a:custGeom>
              <a:avLst/>
              <a:gdLst/>
              <a:ahLst/>
              <a:cxnLst/>
              <a:rect l="l" t="t" r="r" b="b"/>
              <a:pathLst>
                <a:path w="466725" h="2493645">
                  <a:moveTo>
                    <a:pt x="0" y="2493264"/>
                  </a:moveTo>
                  <a:lnTo>
                    <a:pt x="466343" y="2493264"/>
                  </a:lnTo>
                  <a:lnTo>
                    <a:pt x="466343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69436" y="1644395"/>
              <a:ext cx="533400" cy="2362200"/>
            </a:xfrm>
            <a:custGeom>
              <a:avLst/>
              <a:gdLst/>
              <a:ahLst/>
              <a:cxnLst/>
              <a:rect l="l" t="t" r="r" b="b"/>
              <a:pathLst>
                <a:path w="533400" h="2362200">
                  <a:moveTo>
                    <a:pt x="0" y="2362200"/>
                  </a:moveTo>
                  <a:lnTo>
                    <a:pt x="533400" y="23622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69436" y="1513331"/>
              <a:ext cx="533400" cy="2493645"/>
            </a:xfrm>
            <a:custGeom>
              <a:avLst/>
              <a:gdLst/>
              <a:ahLst/>
              <a:cxnLst/>
              <a:rect l="l" t="t" r="r" b="b"/>
              <a:pathLst>
                <a:path w="533400" h="2493645">
                  <a:moveTo>
                    <a:pt x="0" y="2493264"/>
                  </a:moveTo>
                  <a:lnTo>
                    <a:pt x="533400" y="2493264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72356" y="1644395"/>
              <a:ext cx="497205" cy="2362200"/>
            </a:xfrm>
            <a:custGeom>
              <a:avLst/>
              <a:gdLst/>
              <a:ahLst/>
              <a:cxnLst/>
              <a:rect l="l" t="t" r="r" b="b"/>
              <a:pathLst>
                <a:path w="497204" h="2362200">
                  <a:moveTo>
                    <a:pt x="0" y="2362200"/>
                  </a:moveTo>
                  <a:lnTo>
                    <a:pt x="496824" y="2362200"/>
                  </a:lnTo>
                  <a:lnTo>
                    <a:pt x="496824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72356" y="1513331"/>
              <a:ext cx="497205" cy="2493645"/>
            </a:xfrm>
            <a:custGeom>
              <a:avLst/>
              <a:gdLst/>
              <a:ahLst/>
              <a:cxnLst/>
              <a:rect l="l" t="t" r="r" b="b"/>
              <a:pathLst>
                <a:path w="497204" h="2493645">
                  <a:moveTo>
                    <a:pt x="0" y="2493264"/>
                  </a:moveTo>
                  <a:lnTo>
                    <a:pt x="496824" y="2493264"/>
                  </a:lnTo>
                  <a:lnTo>
                    <a:pt x="496824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9180" y="1644395"/>
              <a:ext cx="502920" cy="2362200"/>
            </a:xfrm>
            <a:custGeom>
              <a:avLst/>
              <a:gdLst/>
              <a:ahLst/>
              <a:cxnLst/>
              <a:rect l="l" t="t" r="r" b="b"/>
              <a:pathLst>
                <a:path w="502920" h="2362200">
                  <a:moveTo>
                    <a:pt x="0" y="2362200"/>
                  </a:moveTo>
                  <a:lnTo>
                    <a:pt x="502920" y="2362200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9180" y="1513331"/>
              <a:ext cx="502920" cy="2493645"/>
            </a:xfrm>
            <a:custGeom>
              <a:avLst/>
              <a:gdLst/>
              <a:ahLst/>
              <a:cxnLst/>
              <a:rect l="l" t="t" r="r" b="b"/>
              <a:pathLst>
                <a:path w="502920" h="2493645">
                  <a:moveTo>
                    <a:pt x="0" y="2493264"/>
                  </a:moveTo>
                  <a:lnTo>
                    <a:pt x="502920" y="2493264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72100" y="1644395"/>
              <a:ext cx="497205" cy="2362200"/>
            </a:xfrm>
            <a:custGeom>
              <a:avLst/>
              <a:gdLst/>
              <a:ahLst/>
              <a:cxnLst/>
              <a:rect l="l" t="t" r="r" b="b"/>
              <a:pathLst>
                <a:path w="497204" h="2362200">
                  <a:moveTo>
                    <a:pt x="0" y="2362200"/>
                  </a:moveTo>
                  <a:lnTo>
                    <a:pt x="496824" y="2362200"/>
                  </a:lnTo>
                  <a:lnTo>
                    <a:pt x="496824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2100" y="1513331"/>
              <a:ext cx="497205" cy="2493645"/>
            </a:xfrm>
            <a:custGeom>
              <a:avLst/>
              <a:gdLst/>
              <a:ahLst/>
              <a:cxnLst/>
              <a:rect l="l" t="t" r="r" b="b"/>
              <a:pathLst>
                <a:path w="497204" h="2493645">
                  <a:moveTo>
                    <a:pt x="0" y="2493264"/>
                  </a:moveTo>
                  <a:lnTo>
                    <a:pt x="496824" y="2493264"/>
                  </a:lnTo>
                  <a:lnTo>
                    <a:pt x="496824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5876" y="1644395"/>
              <a:ext cx="500380" cy="2362200"/>
            </a:xfrm>
            <a:custGeom>
              <a:avLst/>
              <a:gdLst/>
              <a:ahLst/>
              <a:cxnLst/>
              <a:rect l="l" t="t" r="r" b="b"/>
              <a:pathLst>
                <a:path w="500379" h="2362200">
                  <a:moveTo>
                    <a:pt x="0" y="2362200"/>
                  </a:moveTo>
                  <a:lnTo>
                    <a:pt x="499872" y="2362200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5876" y="1513331"/>
              <a:ext cx="500380" cy="2493645"/>
            </a:xfrm>
            <a:custGeom>
              <a:avLst/>
              <a:gdLst/>
              <a:ahLst/>
              <a:cxnLst/>
              <a:rect l="l" t="t" r="r" b="b"/>
              <a:pathLst>
                <a:path w="500379" h="2493645">
                  <a:moveTo>
                    <a:pt x="0" y="2493264"/>
                  </a:moveTo>
                  <a:lnTo>
                    <a:pt x="499872" y="249326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65747" y="1644395"/>
              <a:ext cx="500380" cy="2362200"/>
            </a:xfrm>
            <a:custGeom>
              <a:avLst/>
              <a:gdLst/>
              <a:ahLst/>
              <a:cxnLst/>
              <a:rect l="l" t="t" r="r" b="b"/>
              <a:pathLst>
                <a:path w="500379" h="2362200">
                  <a:moveTo>
                    <a:pt x="0" y="2362200"/>
                  </a:moveTo>
                  <a:lnTo>
                    <a:pt x="499872" y="2362200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65747" y="1513331"/>
              <a:ext cx="500380" cy="2493645"/>
            </a:xfrm>
            <a:custGeom>
              <a:avLst/>
              <a:gdLst/>
              <a:ahLst/>
              <a:cxnLst/>
              <a:rect l="l" t="t" r="r" b="b"/>
              <a:pathLst>
                <a:path w="500379" h="2493645">
                  <a:moveTo>
                    <a:pt x="0" y="2493264"/>
                  </a:moveTo>
                  <a:lnTo>
                    <a:pt x="499872" y="249326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65620" y="1644395"/>
              <a:ext cx="500380" cy="2362200"/>
            </a:xfrm>
            <a:custGeom>
              <a:avLst/>
              <a:gdLst/>
              <a:ahLst/>
              <a:cxnLst/>
              <a:rect l="l" t="t" r="r" b="b"/>
              <a:pathLst>
                <a:path w="500379" h="2362200">
                  <a:moveTo>
                    <a:pt x="0" y="2362200"/>
                  </a:moveTo>
                  <a:lnTo>
                    <a:pt x="499872" y="2362200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65620" y="1513331"/>
              <a:ext cx="500380" cy="2493645"/>
            </a:xfrm>
            <a:custGeom>
              <a:avLst/>
              <a:gdLst/>
              <a:ahLst/>
              <a:cxnLst/>
              <a:rect l="l" t="t" r="r" b="b"/>
              <a:pathLst>
                <a:path w="500379" h="2493645">
                  <a:moveTo>
                    <a:pt x="0" y="2493264"/>
                  </a:moveTo>
                  <a:lnTo>
                    <a:pt x="499872" y="249326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249326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74348" y="2273323"/>
            <a:ext cx="6019165" cy="908050"/>
          </a:xfrm>
          <a:prstGeom prst="rect">
            <a:avLst/>
          </a:prstGeom>
        </p:spPr>
        <p:txBody>
          <a:bodyPr vert="vert270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Slice</a:t>
            </a:r>
            <a:endParaRPr sz="27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Slice</a:t>
            </a:r>
            <a:endParaRPr sz="2700">
              <a:latin typeface="Comic Sans MS"/>
              <a:cs typeface="Comic Sans MS"/>
            </a:endParaRPr>
          </a:p>
          <a:p>
            <a:pPr marL="12700" marR="86995" algn="just">
              <a:lnSpc>
                <a:spcPct val="121400"/>
              </a:lnSpc>
              <a:spcBef>
                <a:spcPts val="15"/>
              </a:spcBef>
            </a:pP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</a:t>
            </a: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ice  </a:t>
            </a: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</a:t>
            </a: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ice  </a:t>
            </a: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</a:t>
            </a: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ice  </a:t>
            </a: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</a:t>
            </a: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ice  </a:t>
            </a: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</a:t>
            </a: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ice  </a:t>
            </a: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</a:t>
            </a: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ice  </a:t>
            </a: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Slice  Sl</a:t>
            </a:r>
            <a:r>
              <a:rPr sz="2700" b="1" dirty="0">
                <a:solidFill>
                  <a:srgbClr val="FFFF00"/>
                </a:solidFill>
                <a:latin typeface="Comic Sans MS"/>
                <a:cs typeface="Comic Sans MS"/>
              </a:rPr>
              <a:t>ice  </a:t>
            </a: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Slice</a:t>
            </a:r>
            <a:endParaRPr sz="2700">
              <a:latin typeface="Comic Sans MS"/>
              <a:cs typeface="Comic Sans MS"/>
            </a:endParaRPr>
          </a:p>
          <a:p>
            <a:pPr marL="95885">
              <a:lnSpc>
                <a:spcPct val="100000"/>
              </a:lnSpc>
              <a:spcBef>
                <a:spcPts val="835"/>
              </a:spcBef>
            </a:pPr>
            <a:r>
              <a:rPr sz="2700" b="1" spc="-5" dirty="0">
                <a:solidFill>
                  <a:srgbClr val="FFFF00"/>
                </a:solidFill>
                <a:latin typeface="Comic Sans MS"/>
                <a:cs typeface="Comic Sans MS"/>
              </a:rPr>
              <a:t>Slice</a:t>
            </a:r>
            <a:endParaRPr sz="2700">
              <a:latin typeface="Comic Sans MS"/>
              <a:cs typeface="Comic Sans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368552" y="1121663"/>
            <a:ext cx="6002020" cy="527685"/>
            <a:chOff x="1368552" y="1121663"/>
            <a:chExt cx="6002020" cy="527685"/>
          </a:xfrm>
        </p:grpSpPr>
        <p:sp>
          <p:nvSpPr>
            <p:cNvPr id="30" name="object 30"/>
            <p:cNvSpPr/>
            <p:nvPr/>
          </p:nvSpPr>
          <p:spPr>
            <a:xfrm>
              <a:off x="1373124" y="1126235"/>
              <a:ext cx="5992495" cy="518159"/>
            </a:xfrm>
            <a:custGeom>
              <a:avLst/>
              <a:gdLst/>
              <a:ahLst/>
              <a:cxnLst/>
              <a:rect l="l" t="t" r="r" b="b"/>
              <a:pathLst>
                <a:path w="5992495" h="518160">
                  <a:moveTo>
                    <a:pt x="5992368" y="0"/>
                  </a:moveTo>
                  <a:lnTo>
                    <a:pt x="0" y="0"/>
                  </a:lnTo>
                  <a:lnTo>
                    <a:pt x="0" y="518160"/>
                  </a:lnTo>
                  <a:lnTo>
                    <a:pt x="5992368" y="518160"/>
                  </a:lnTo>
                  <a:lnTo>
                    <a:pt x="599236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73124" y="1126235"/>
              <a:ext cx="5992495" cy="518159"/>
            </a:xfrm>
            <a:custGeom>
              <a:avLst/>
              <a:gdLst/>
              <a:ahLst/>
              <a:cxnLst/>
              <a:rect l="l" t="t" r="r" b="b"/>
              <a:pathLst>
                <a:path w="5992495" h="518160">
                  <a:moveTo>
                    <a:pt x="0" y="518160"/>
                  </a:moveTo>
                  <a:lnTo>
                    <a:pt x="5992368" y="518160"/>
                  </a:lnTo>
                  <a:lnTo>
                    <a:pt x="5992368" y="0"/>
                  </a:lnTo>
                  <a:lnTo>
                    <a:pt x="0" y="0"/>
                  </a:lnTo>
                  <a:lnTo>
                    <a:pt x="0" y="51816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73124" y="1126235"/>
            <a:ext cx="5992495" cy="51815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68630">
              <a:lnSpc>
                <a:spcPct val="100000"/>
              </a:lnSpc>
              <a:spcBef>
                <a:spcPts val="204"/>
              </a:spcBef>
            </a:pPr>
            <a:r>
              <a:rPr sz="2400" b="1" spc="-5" dirty="0">
                <a:solidFill>
                  <a:srgbClr val="FFFFFF"/>
                </a:solidFill>
                <a:latin typeface="Comic Sans MS"/>
                <a:cs typeface="Comic Sans MS"/>
              </a:rPr>
              <a:t>Requirements:</a:t>
            </a:r>
            <a:r>
              <a:rPr sz="2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mic Sans MS"/>
                <a:cs typeface="Comic Sans MS"/>
              </a:rPr>
              <a:t>High </a:t>
            </a:r>
            <a:r>
              <a:rPr sz="2400" b="1" dirty="0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sz="2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mic Sans MS"/>
                <a:cs typeface="Comic Sans MS"/>
              </a:rPr>
              <a:t>Analysis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324343" y="283463"/>
            <a:ext cx="1750060" cy="759460"/>
            <a:chOff x="7324343" y="283463"/>
            <a:chExt cx="1750060" cy="759460"/>
          </a:xfrm>
        </p:grpSpPr>
        <p:sp>
          <p:nvSpPr>
            <p:cNvPr id="34" name="object 34"/>
            <p:cNvSpPr/>
            <p:nvPr/>
          </p:nvSpPr>
          <p:spPr>
            <a:xfrm>
              <a:off x="7328915" y="288035"/>
              <a:ext cx="1740535" cy="749935"/>
            </a:xfrm>
            <a:custGeom>
              <a:avLst/>
              <a:gdLst/>
              <a:ahLst/>
              <a:cxnLst/>
              <a:rect l="l" t="t" r="r" b="b"/>
              <a:pathLst>
                <a:path w="1740534" h="749935">
                  <a:moveTo>
                    <a:pt x="1615439" y="0"/>
                  </a:moveTo>
                  <a:lnTo>
                    <a:pt x="124967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59"/>
                  </a:lnTo>
                  <a:lnTo>
                    <a:pt x="36623" y="713184"/>
                  </a:lnTo>
                  <a:lnTo>
                    <a:pt x="76348" y="739979"/>
                  </a:lnTo>
                  <a:lnTo>
                    <a:pt x="124967" y="749808"/>
                  </a:lnTo>
                  <a:lnTo>
                    <a:pt x="1615439" y="749808"/>
                  </a:lnTo>
                  <a:lnTo>
                    <a:pt x="1664059" y="739979"/>
                  </a:lnTo>
                  <a:lnTo>
                    <a:pt x="1703784" y="713184"/>
                  </a:lnTo>
                  <a:lnTo>
                    <a:pt x="1730579" y="673459"/>
                  </a:lnTo>
                  <a:lnTo>
                    <a:pt x="1740407" y="624839"/>
                  </a:lnTo>
                  <a:lnTo>
                    <a:pt x="1740407" y="124967"/>
                  </a:lnTo>
                  <a:lnTo>
                    <a:pt x="1730579" y="76348"/>
                  </a:lnTo>
                  <a:lnTo>
                    <a:pt x="1703784" y="36623"/>
                  </a:lnTo>
                  <a:lnTo>
                    <a:pt x="1664059" y="9828"/>
                  </a:lnTo>
                  <a:lnTo>
                    <a:pt x="1615439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28915" y="288035"/>
              <a:ext cx="1740535" cy="749935"/>
            </a:xfrm>
            <a:custGeom>
              <a:avLst/>
              <a:gdLst/>
              <a:ahLst/>
              <a:cxnLst/>
              <a:rect l="l" t="t" r="r" b="b"/>
              <a:pathLst>
                <a:path w="1740534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7" y="0"/>
                  </a:lnTo>
                  <a:lnTo>
                    <a:pt x="1615439" y="0"/>
                  </a:lnTo>
                  <a:lnTo>
                    <a:pt x="1664059" y="9828"/>
                  </a:lnTo>
                  <a:lnTo>
                    <a:pt x="1703784" y="36623"/>
                  </a:lnTo>
                  <a:lnTo>
                    <a:pt x="1730579" y="76348"/>
                  </a:lnTo>
                  <a:lnTo>
                    <a:pt x="1740407" y="124967"/>
                  </a:lnTo>
                  <a:lnTo>
                    <a:pt x="1740407" y="624839"/>
                  </a:lnTo>
                  <a:lnTo>
                    <a:pt x="1730579" y="673459"/>
                  </a:lnTo>
                  <a:lnTo>
                    <a:pt x="1703784" y="713184"/>
                  </a:lnTo>
                  <a:lnTo>
                    <a:pt x="1664059" y="739979"/>
                  </a:lnTo>
                  <a:lnTo>
                    <a:pt x="1615439" y="749808"/>
                  </a:lnTo>
                  <a:lnTo>
                    <a:pt x="124967" y="749808"/>
                  </a:lnTo>
                  <a:lnTo>
                    <a:pt x="76348" y="739979"/>
                  </a:lnTo>
                  <a:lnTo>
                    <a:pt x="36623" y="713184"/>
                  </a:lnTo>
                  <a:lnTo>
                    <a:pt x="9828" y="673459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437246" y="270459"/>
            <a:ext cx="13944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Comic Sans MS"/>
                <a:cs typeface="Comic Sans MS"/>
              </a:rPr>
              <a:t>Split</a:t>
            </a:r>
            <a:r>
              <a:rPr sz="2400" b="1" spc="-45" dirty="0">
                <a:solidFill>
                  <a:srgbClr val="0000CC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omic Sans MS"/>
                <a:cs typeface="Comic Sans MS"/>
              </a:rPr>
              <a:t>into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37831" y="563321"/>
            <a:ext cx="13201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CC"/>
                </a:solidFill>
                <a:latin typeface="Comic Sans MS"/>
                <a:cs typeface="Comic Sans MS"/>
              </a:rPr>
              <a:t>Features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359" y="240233"/>
            <a:ext cx="32353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00"/>
                </a:solidFill>
              </a:rPr>
              <a:t>Incremental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216535" marR="2746375" indent="-216535" algn="r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216535" algn="l"/>
              </a:tabLst>
            </a:pPr>
            <a:r>
              <a:rPr spc="-15" dirty="0"/>
              <a:t>Iterative:</a:t>
            </a:r>
            <a:r>
              <a:rPr spc="-45" dirty="0"/>
              <a:t> </a:t>
            </a:r>
            <a:r>
              <a:rPr spc="-10" dirty="0"/>
              <a:t>many</a:t>
            </a:r>
            <a:r>
              <a:rPr spc="-30" dirty="0"/>
              <a:t> </a:t>
            </a:r>
            <a:r>
              <a:rPr spc="-5" dirty="0"/>
              <a:t>releases</a:t>
            </a:r>
            <a:r>
              <a:rPr spc="-30" dirty="0"/>
              <a:t> </a:t>
            </a:r>
            <a:r>
              <a:rPr spc="-5" dirty="0"/>
              <a:t>(increments)</a:t>
            </a:r>
          </a:p>
          <a:p>
            <a:pPr marR="2747010" algn="r">
              <a:lnSpc>
                <a:spcPct val="100000"/>
              </a:lnSpc>
              <a:spcBef>
                <a:spcPts val="1610"/>
              </a:spcBef>
            </a:pPr>
            <a:r>
              <a:rPr spc="25" dirty="0">
                <a:solidFill>
                  <a:srgbClr val="6600CC"/>
                </a:solidFill>
                <a:latin typeface="Arial MT"/>
                <a:cs typeface="Arial MT"/>
              </a:rPr>
              <a:t>–</a:t>
            </a:r>
            <a:r>
              <a:rPr b="1" spc="25" dirty="0">
                <a:solidFill>
                  <a:srgbClr val="6600CC"/>
                </a:solidFill>
                <a:latin typeface="Calibri"/>
                <a:cs typeface="Calibri"/>
              </a:rPr>
              <a:t>First</a:t>
            </a:r>
            <a:r>
              <a:rPr b="1" spc="-5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6600CC"/>
                </a:solidFill>
                <a:latin typeface="Calibri"/>
                <a:cs typeface="Calibri"/>
              </a:rPr>
              <a:t>increment:</a:t>
            </a:r>
            <a:r>
              <a:rPr b="1" spc="-4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6600CC"/>
                </a:solidFill>
                <a:latin typeface="Calibri"/>
                <a:cs typeface="Calibri"/>
              </a:rPr>
              <a:t>core</a:t>
            </a:r>
            <a:r>
              <a:rPr b="1" spc="-6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600CC"/>
                </a:solidFill>
                <a:latin typeface="Calibri"/>
                <a:cs typeface="Calibri"/>
              </a:rPr>
              <a:t>functionality</a:t>
            </a:r>
          </a:p>
          <a:p>
            <a:pPr marL="329565">
              <a:lnSpc>
                <a:spcPct val="100000"/>
              </a:lnSpc>
              <a:spcBef>
                <a:spcPts val="1610"/>
              </a:spcBef>
            </a:pPr>
            <a:r>
              <a:rPr spc="15" dirty="0">
                <a:solidFill>
                  <a:srgbClr val="6600CC"/>
                </a:solidFill>
                <a:latin typeface="Arial MT"/>
                <a:cs typeface="Arial MT"/>
              </a:rPr>
              <a:t>–</a:t>
            </a:r>
            <a:r>
              <a:rPr b="1" spc="15" dirty="0">
                <a:solidFill>
                  <a:srgbClr val="6600CC"/>
                </a:solidFill>
                <a:latin typeface="Calibri"/>
                <a:cs typeface="Calibri"/>
              </a:rPr>
              <a:t>Successive</a:t>
            </a:r>
            <a:r>
              <a:rPr b="1" spc="-1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6600CC"/>
                </a:solidFill>
                <a:latin typeface="Calibri"/>
                <a:cs typeface="Calibri"/>
              </a:rPr>
              <a:t>increments:</a:t>
            </a:r>
            <a:r>
              <a:rPr b="1" spc="-4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600CC"/>
                </a:solidFill>
                <a:latin typeface="Calibri"/>
                <a:cs typeface="Calibri"/>
              </a:rPr>
              <a:t>add/fix</a:t>
            </a:r>
            <a:r>
              <a:rPr b="1" spc="-2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600CC"/>
                </a:solidFill>
                <a:latin typeface="Calibri"/>
                <a:cs typeface="Calibri"/>
              </a:rPr>
              <a:t>functionality</a:t>
            </a:r>
          </a:p>
          <a:p>
            <a:pPr marL="329565">
              <a:lnSpc>
                <a:spcPct val="100000"/>
              </a:lnSpc>
              <a:spcBef>
                <a:spcPts val="1610"/>
              </a:spcBef>
            </a:pPr>
            <a:r>
              <a:rPr spc="30" dirty="0">
                <a:solidFill>
                  <a:srgbClr val="6600CC"/>
                </a:solidFill>
                <a:latin typeface="Arial MT"/>
                <a:cs typeface="Arial MT"/>
              </a:rPr>
              <a:t>–</a:t>
            </a:r>
            <a:r>
              <a:rPr b="1" spc="30" dirty="0">
                <a:solidFill>
                  <a:srgbClr val="6600CC"/>
                </a:solidFill>
                <a:latin typeface="Calibri"/>
                <a:cs typeface="Calibri"/>
              </a:rPr>
              <a:t>Final</a:t>
            </a:r>
            <a:r>
              <a:rPr b="1" spc="-3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6600CC"/>
                </a:solidFill>
                <a:latin typeface="Calibri"/>
                <a:cs typeface="Calibri"/>
              </a:rPr>
              <a:t>increment:</a:t>
            </a:r>
            <a:r>
              <a:rPr b="1" spc="-3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600CC"/>
                </a:solidFill>
                <a:latin typeface="Calibri"/>
                <a:cs typeface="Calibri"/>
              </a:rPr>
              <a:t>the</a:t>
            </a:r>
            <a:r>
              <a:rPr b="1" spc="-10" dirty="0">
                <a:solidFill>
                  <a:srgbClr val="6600CC"/>
                </a:solidFill>
                <a:latin typeface="Calibri"/>
                <a:cs typeface="Calibri"/>
              </a:rPr>
              <a:t> complete</a:t>
            </a:r>
            <a:r>
              <a:rPr b="1" spc="-5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600CC"/>
                </a:solidFill>
                <a:latin typeface="Calibri"/>
                <a:cs typeface="Calibri"/>
              </a:rPr>
              <a:t>product</a:t>
            </a:r>
          </a:p>
          <a:p>
            <a:pPr marL="228600" indent="-21653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29235" algn="l"/>
              </a:tabLst>
            </a:pPr>
            <a:r>
              <a:rPr spc="-15" dirty="0"/>
              <a:t>Each</a:t>
            </a:r>
            <a:r>
              <a:rPr spc="-5" dirty="0"/>
              <a:t> </a:t>
            </a:r>
            <a:r>
              <a:rPr spc="-10" dirty="0"/>
              <a:t>iteration:</a:t>
            </a:r>
            <a:r>
              <a:rPr spc="-45" dirty="0"/>
              <a:t> </a:t>
            </a:r>
            <a:r>
              <a:rPr dirty="0"/>
              <a:t>a </a:t>
            </a:r>
            <a:r>
              <a:rPr spc="-5" dirty="0"/>
              <a:t>short</a:t>
            </a:r>
            <a:r>
              <a:rPr spc="-15" dirty="0"/>
              <a:t> </a:t>
            </a:r>
            <a:r>
              <a:rPr spc="-5" dirty="0"/>
              <a:t>mini-project</a:t>
            </a:r>
            <a:r>
              <a:rPr spc="-45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15" dirty="0"/>
              <a:t>separate</a:t>
            </a:r>
            <a:r>
              <a:rPr spc="-20" dirty="0"/>
              <a:t> </a:t>
            </a:r>
            <a:r>
              <a:rPr spc="-15" dirty="0"/>
              <a:t>lifecycle</a:t>
            </a:r>
          </a:p>
          <a:p>
            <a:pPr marL="329565">
              <a:lnSpc>
                <a:spcPct val="100000"/>
              </a:lnSpc>
              <a:spcBef>
                <a:spcPts val="1585"/>
              </a:spcBef>
            </a:pPr>
            <a:r>
              <a:rPr spc="35" dirty="0">
                <a:latin typeface="Arial MT"/>
                <a:cs typeface="Arial MT"/>
              </a:rPr>
              <a:t>–</a:t>
            </a:r>
            <a:r>
              <a:rPr spc="35" dirty="0"/>
              <a:t>e.g.,</a:t>
            </a:r>
            <a:r>
              <a:rPr spc="-45" dirty="0"/>
              <a:t> </a:t>
            </a:r>
            <a:r>
              <a:rPr spc="-15" dirty="0"/>
              <a:t>waterfall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950" y="589864"/>
            <a:ext cx="32035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5" dirty="0">
                <a:latin typeface="Calibri"/>
                <a:cs typeface="Calibri"/>
              </a:rPr>
              <a:t>Waterfall: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single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release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727" y="271347"/>
            <a:ext cx="39414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00"/>
                </a:solidFill>
              </a:rPr>
              <a:t>Incremental</a:t>
            </a:r>
            <a:r>
              <a:rPr sz="3600" spc="-9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delivery</a:t>
            </a:r>
            <a:endParaRPr sz="3600"/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87140" y="2257044"/>
            <a:ext cx="802005" cy="463550"/>
            <a:chOff x="3787140" y="2257044"/>
            <a:chExt cx="802005" cy="463550"/>
          </a:xfrm>
        </p:grpSpPr>
        <p:sp>
          <p:nvSpPr>
            <p:cNvPr id="4" name="object 4"/>
            <p:cNvSpPr/>
            <p:nvPr/>
          </p:nvSpPr>
          <p:spPr>
            <a:xfrm>
              <a:off x="3787140" y="2257044"/>
              <a:ext cx="384175" cy="463550"/>
            </a:xfrm>
            <a:custGeom>
              <a:avLst/>
              <a:gdLst/>
              <a:ahLst/>
              <a:cxnLst/>
              <a:rect l="l" t="t" r="r" b="b"/>
              <a:pathLst>
                <a:path w="384175" h="463550">
                  <a:moveTo>
                    <a:pt x="384048" y="0"/>
                  </a:moveTo>
                  <a:lnTo>
                    <a:pt x="0" y="0"/>
                  </a:lnTo>
                  <a:lnTo>
                    <a:pt x="0" y="463295"/>
                  </a:lnTo>
                  <a:lnTo>
                    <a:pt x="384048" y="463295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65676" y="2257044"/>
              <a:ext cx="323215" cy="463550"/>
            </a:xfrm>
            <a:custGeom>
              <a:avLst/>
              <a:gdLst/>
              <a:ahLst/>
              <a:cxnLst/>
              <a:rect l="l" t="t" r="r" b="b"/>
              <a:pathLst>
                <a:path w="323214" h="463550">
                  <a:moveTo>
                    <a:pt x="323088" y="0"/>
                  </a:moveTo>
                  <a:lnTo>
                    <a:pt x="0" y="0"/>
                  </a:lnTo>
                  <a:lnTo>
                    <a:pt x="0" y="463295"/>
                  </a:lnTo>
                  <a:lnTo>
                    <a:pt x="323088" y="463295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65676" y="2257044"/>
            <a:ext cx="323215" cy="463550"/>
          </a:xfrm>
          <a:prstGeom prst="rect">
            <a:avLst/>
          </a:prstGeom>
          <a:ln w="9144">
            <a:solidFill>
              <a:srgbClr val="0000FF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marL="60960">
              <a:lnSpc>
                <a:spcPct val="100000"/>
              </a:lnSpc>
            </a:pPr>
            <a:r>
              <a:rPr sz="800" spc="-10" dirty="0">
                <a:solidFill>
                  <a:srgbClr val="FFFF99"/>
                </a:solidFill>
                <a:latin typeface="Calibri"/>
                <a:cs typeface="Calibri"/>
              </a:rPr>
              <a:t>build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68011" y="2263139"/>
            <a:ext cx="353695" cy="463550"/>
          </a:xfrm>
          <a:custGeom>
            <a:avLst/>
            <a:gdLst/>
            <a:ahLst/>
            <a:cxnLst/>
            <a:rect l="l" t="t" r="r" b="b"/>
            <a:pathLst>
              <a:path w="353695" h="463550">
                <a:moveTo>
                  <a:pt x="353567" y="0"/>
                </a:moveTo>
                <a:lnTo>
                  <a:pt x="0" y="0"/>
                </a:lnTo>
                <a:lnTo>
                  <a:pt x="0" y="463295"/>
                </a:lnTo>
                <a:lnTo>
                  <a:pt x="353567" y="463295"/>
                </a:lnTo>
                <a:lnTo>
                  <a:pt x="353567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68011" y="2263139"/>
            <a:ext cx="353695" cy="463550"/>
          </a:xfrm>
          <a:prstGeom prst="rect">
            <a:avLst/>
          </a:prstGeom>
          <a:ln w="9144">
            <a:solidFill>
              <a:srgbClr val="0000F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  <a:spcBef>
                <a:spcPts val="5"/>
              </a:spcBef>
            </a:pPr>
            <a:r>
              <a:rPr sz="800" spc="-5" dirty="0">
                <a:solidFill>
                  <a:srgbClr val="FFFF99"/>
                </a:solidFill>
                <a:latin typeface="Calibri"/>
                <a:cs typeface="Calibri"/>
              </a:rPr>
              <a:t>install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17401" y="2261425"/>
            <a:ext cx="476250" cy="473075"/>
            <a:chOff x="5117401" y="2261425"/>
            <a:chExt cx="476250" cy="473075"/>
          </a:xfrm>
        </p:grpSpPr>
        <p:sp>
          <p:nvSpPr>
            <p:cNvPr id="10" name="object 10"/>
            <p:cNvSpPr/>
            <p:nvPr/>
          </p:nvSpPr>
          <p:spPr>
            <a:xfrm>
              <a:off x="5122164" y="2266188"/>
              <a:ext cx="466725" cy="463550"/>
            </a:xfrm>
            <a:custGeom>
              <a:avLst/>
              <a:gdLst/>
              <a:ahLst/>
              <a:cxnLst/>
              <a:rect l="l" t="t" r="r" b="b"/>
              <a:pathLst>
                <a:path w="466725" h="463550">
                  <a:moveTo>
                    <a:pt x="466343" y="0"/>
                  </a:moveTo>
                  <a:lnTo>
                    <a:pt x="0" y="0"/>
                  </a:lnTo>
                  <a:lnTo>
                    <a:pt x="0" y="463295"/>
                  </a:lnTo>
                  <a:lnTo>
                    <a:pt x="466343" y="463295"/>
                  </a:lnTo>
                  <a:lnTo>
                    <a:pt x="466343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2164" y="2266188"/>
              <a:ext cx="466725" cy="463550"/>
            </a:xfrm>
            <a:custGeom>
              <a:avLst/>
              <a:gdLst/>
              <a:ahLst/>
              <a:cxnLst/>
              <a:rect l="l" t="t" r="r" b="b"/>
              <a:pathLst>
                <a:path w="466725" h="463550">
                  <a:moveTo>
                    <a:pt x="0" y="463295"/>
                  </a:moveTo>
                  <a:lnTo>
                    <a:pt x="466343" y="463295"/>
                  </a:lnTo>
                  <a:lnTo>
                    <a:pt x="466343" y="0"/>
                  </a:lnTo>
                  <a:lnTo>
                    <a:pt x="0" y="0"/>
                  </a:lnTo>
                  <a:lnTo>
                    <a:pt x="0" y="463295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31434" y="2356485"/>
            <a:ext cx="427990" cy="262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0480" marR="5080" indent="-18415">
              <a:lnSpc>
                <a:spcPts val="910"/>
              </a:lnSpc>
              <a:spcBef>
                <a:spcPts val="160"/>
              </a:spcBef>
            </a:pPr>
            <a:r>
              <a:rPr sz="800" dirty="0">
                <a:solidFill>
                  <a:srgbClr val="FFFF99"/>
                </a:solidFill>
                <a:latin typeface="Calibri"/>
                <a:cs typeface="Calibri"/>
              </a:rPr>
              <a:t>C</a:t>
            </a:r>
            <a:r>
              <a:rPr sz="800" spc="-15" dirty="0">
                <a:solidFill>
                  <a:srgbClr val="FFFF99"/>
                </a:solidFill>
                <a:latin typeface="Calibri"/>
                <a:cs typeface="Calibri"/>
              </a:rPr>
              <a:t>u</a:t>
            </a:r>
            <a:r>
              <a:rPr sz="800" spc="-10" dirty="0">
                <a:solidFill>
                  <a:srgbClr val="FFFF99"/>
                </a:solidFill>
                <a:latin typeface="Calibri"/>
                <a:cs typeface="Calibri"/>
              </a:rPr>
              <a:t>st</a:t>
            </a:r>
            <a:r>
              <a:rPr sz="800" spc="-15" dirty="0">
                <a:solidFill>
                  <a:srgbClr val="FFFF99"/>
                </a:solidFill>
                <a:latin typeface="Calibri"/>
                <a:cs typeface="Calibri"/>
              </a:rPr>
              <a:t>ome</a:t>
            </a:r>
            <a:r>
              <a:rPr sz="800" spc="-5" dirty="0">
                <a:solidFill>
                  <a:srgbClr val="FFFF99"/>
                </a:solidFill>
                <a:latin typeface="Calibri"/>
                <a:cs typeface="Calibri"/>
              </a:rPr>
              <a:t>r  </a:t>
            </a:r>
            <a:r>
              <a:rPr sz="800" spc="-10" dirty="0">
                <a:solidFill>
                  <a:srgbClr val="FFFF99"/>
                </a:solidFill>
                <a:latin typeface="Calibri"/>
                <a:cs typeface="Calibri"/>
              </a:rPr>
              <a:t>F</a:t>
            </a:r>
            <a:r>
              <a:rPr sz="800" spc="-15" dirty="0">
                <a:solidFill>
                  <a:srgbClr val="FFFF99"/>
                </a:solidFill>
                <a:latin typeface="Calibri"/>
                <a:cs typeface="Calibri"/>
              </a:rPr>
              <a:t>eedb</a:t>
            </a:r>
            <a:r>
              <a:rPr sz="800" spc="-5" dirty="0">
                <a:solidFill>
                  <a:srgbClr val="FFFF99"/>
                </a:solidFill>
                <a:latin typeface="Calibri"/>
                <a:cs typeface="Calibri"/>
              </a:rPr>
              <a:t>ack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71188" y="2444495"/>
            <a:ext cx="951230" cy="85725"/>
            <a:chOff x="4171188" y="2444495"/>
            <a:chExt cx="951230" cy="8572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1188" y="2444495"/>
              <a:ext cx="100584" cy="76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8764" y="2453639"/>
              <a:ext cx="85344" cy="76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1580" y="2453639"/>
              <a:ext cx="100584" cy="762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65732" y="1473707"/>
            <a:ext cx="454659" cy="372110"/>
          </a:xfrm>
          <a:prstGeom prst="rect">
            <a:avLst/>
          </a:prstGeom>
          <a:solidFill>
            <a:srgbClr val="006600"/>
          </a:solidFill>
          <a:ln w="9144">
            <a:solidFill>
              <a:srgbClr val="0000FF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675"/>
              </a:spcBef>
            </a:pPr>
            <a:r>
              <a:rPr sz="1100" dirty="0">
                <a:solidFill>
                  <a:srgbClr val="FFFF99"/>
                </a:solidFill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24849" y="1468945"/>
            <a:ext cx="387985" cy="381635"/>
            <a:chOff x="2224849" y="1468945"/>
            <a:chExt cx="387985" cy="381635"/>
          </a:xfrm>
        </p:grpSpPr>
        <p:sp>
          <p:nvSpPr>
            <p:cNvPr id="19" name="object 19"/>
            <p:cNvSpPr/>
            <p:nvPr/>
          </p:nvSpPr>
          <p:spPr>
            <a:xfrm>
              <a:off x="2229611" y="1473707"/>
              <a:ext cx="378460" cy="372110"/>
            </a:xfrm>
            <a:custGeom>
              <a:avLst/>
              <a:gdLst/>
              <a:ahLst/>
              <a:cxnLst/>
              <a:rect l="l" t="t" r="r" b="b"/>
              <a:pathLst>
                <a:path w="378460" h="372110">
                  <a:moveTo>
                    <a:pt x="377951" y="0"/>
                  </a:moveTo>
                  <a:lnTo>
                    <a:pt x="0" y="0"/>
                  </a:lnTo>
                  <a:lnTo>
                    <a:pt x="0" y="371856"/>
                  </a:lnTo>
                  <a:lnTo>
                    <a:pt x="377951" y="371856"/>
                  </a:lnTo>
                  <a:lnTo>
                    <a:pt x="377951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29611" y="1473707"/>
              <a:ext cx="378460" cy="372110"/>
            </a:xfrm>
            <a:custGeom>
              <a:avLst/>
              <a:gdLst/>
              <a:ahLst/>
              <a:cxnLst/>
              <a:rect l="l" t="t" r="r" b="b"/>
              <a:pathLst>
                <a:path w="378460" h="372110">
                  <a:moveTo>
                    <a:pt x="0" y="371856"/>
                  </a:moveTo>
                  <a:lnTo>
                    <a:pt x="377951" y="371856"/>
                  </a:lnTo>
                  <a:lnTo>
                    <a:pt x="377951" y="0"/>
                  </a:lnTo>
                  <a:lnTo>
                    <a:pt x="0" y="0"/>
                  </a:lnTo>
                  <a:lnTo>
                    <a:pt x="0" y="371856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29611" y="1473707"/>
            <a:ext cx="378460" cy="3721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75"/>
              </a:spcBef>
            </a:pPr>
            <a:r>
              <a:rPr sz="1100" dirty="0">
                <a:solidFill>
                  <a:srgbClr val="FFFF99"/>
                </a:solidFill>
                <a:latin typeface="Calibri"/>
                <a:cs typeface="Calibri"/>
              </a:rPr>
              <a:t>build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05100" y="1479803"/>
            <a:ext cx="414655" cy="372110"/>
          </a:xfrm>
          <a:prstGeom prst="rect">
            <a:avLst/>
          </a:prstGeom>
          <a:solidFill>
            <a:srgbClr val="006600"/>
          </a:solidFill>
          <a:ln w="9144">
            <a:solidFill>
              <a:srgbClr val="0000FF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675"/>
              </a:spcBef>
            </a:pPr>
            <a:r>
              <a:rPr sz="1100" spc="-5" dirty="0">
                <a:solidFill>
                  <a:srgbClr val="FFFF99"/>
                </a:solidFill>
                <a:latin typeface="Calibri"/>
                <a:cs typeface="Calibri"/>
              </a:rPr>
              <a:t>install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230879" y="1284731"/>
          <a:ext cx="959485" cy="3046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072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497DBA"/>
                      </a:solidFill>
                      <a:prstDash val="solid"/>
                    </a:lnR>
                    <a:lnB w="9525">
                      <a:solidFill>
                        <a:srgbClr val="0000FF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97DBA"/>
                      </a:solidFill>
                      <a:prstDash val="solid"/>
                    </a:lnL>
                    <a:lnB w="9525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lnSpc>
                          <a:spcPts val="1270"/>
                        </a:lnSpc>
                        <a:spcBef>
                          <a:spcPts val="80"/>
                        </a:spcBef>
                      </a:pPr>
                      <a:r>
                        <a:rPr sz="1100" spc="5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100" spc="-5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us</a:t>
                      </a:r>
                      <a:r>
                        <a:rPr sz="1100" spc="-15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100" spc="-10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100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mer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445" marR="3175">
                        <a:lnSpc>
                          <a:spcPts val="1270"/>
                        </a:lnSpc>
                      </a:pPr>
                      <a:r>
                        <a:rPr sz="1100" spc="-5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1100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eed</a:t>
                      </a:r>
                      <a:r>
                        <a:rPr sz="1100" spc="-10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1100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15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100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FF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0000FF"/>
                      </a:solidFill>
                      <a:prstDash val="solid"/>
                    </a:lnT>
                    <a:lnB w="9525">
                      <a:solidFill>
                        <a:srgbClr val="0000FF"/>
                      </a:solidFill>
                      <a:prstDash val="solid"/>
                    </a:lnB>
                    <a:solidFill>
                      <a:srgbClr val="0066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497DBA"/>
                      </a:solidFill>
                      <a:prstDash val="solid"/>
                    </a:lnL>
                    <a:lnB w="9525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 rowSpan="3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0000FF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497DBA"/>
                      </a:solidFill>
                      <a:prstDash val="solid"/>
                    </a:lnL>
                    <a:lnB w="9525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0000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800" spc="-5" dirty="0">
                          <a:solidFill>
                            <a:srgbClr val="FFFF99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0000FF"/>
                      </a:solidFill>
                      <a:prstDash val="solid"/>
                    </a:lnR>
                    <a:lnT w="9525">
                      <a:solidFill>
                        <a:srgbClr val="0000FF"/>
                      </a:solidFill>
                      <a:prstDash val="solid"/>
                    </a:lnT>
                    <a:lnB w="9525">
                      <a:solidFill>
                        <a:srgbClr val="0000FF"/>
                      </a:solidFill>
                      <a:prstDash val="solid"/>
                    </a:lnB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56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0000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97DBA"/>
                      </a:solidFill>
                      <a:prstDash val="solid"/>
                    </a:lnL>
                    <a:lnT w="9525">
                      <a:solidFill>
                        <a:srgbClr val="0000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3235451" y="1479803"/>
            <a:ext cx="548640" cy="375285"/>
          </a:xfrm>
          <a:custGeom>
            <a:avLst/>
            <a:gdLst/>
            <a:ahLst/>
            <a:cxnLst/>
            <a:rect l="l" t="t" r="r" b="b"/>
            <a:pathLst>
              <a:path w="548639" h="375285">
                <a:moveTo>
                  <a:pt x="548639" y="0"/>
                </a:moveTo>
                <a:lnTo>
                  <a:pt x="0" y="0"/>
                </a:lnTo>
                <a:lnTo>
                  <a:pt x="0" y="374903"/>
                </a:lnTo>
                <a:lnTo>
                  <a:pt x="548639" y="374903"/>
                </a:lnTo>
                <a:lnTo>
                  <a:pt x="548639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2119883" y="1615439"/>
            <a:ext cx="591820" cy="85725"/>
            <a:chOff x="2119883" y="1615439"/>
            <a:chExt cx="591820" cy="8572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9883" y="1615439"/>
              <a:ext cx="115824" cy="76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07563" y="1624583"/>
              <a:ext cx="103631" cy="76200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9627" y="1624583"/>
            <a:ext cx="115824" cy="7620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577649" y="3361753"/>
            <a:ext cx="515620" cy="375285"/>
            <a:chOff x="5577649" y="3361753"/>
            <a:chExt cx="515620" cy="375285"/>
          </a:xfrm>
        </p:grpSpPr>
        <p:sp>
          <p:nvSpPr>
            <p:cNvPr id="30" name="object 30"/>
            <p:cNvSpPr/>
            <p:nvPr/>
          </p:nvSpPr>
          <p:spPr>
            <a:xfrm>
              <a:off x="5582411" y="3366515"/>
              <a:ext cx="506095" cy="365760"/>
            </a:xfrm>
            <a:custGeom>
              <a:avLst/>
              <a:gdLst/>
              <a:ahLst/>
              <a:cxnLst/>
              <a:rect l="l" t="t" r="r" b="b"/>
              <a:pathLst>
                <a:path w="506095" h="365760">
                  <a:moveTo>
                    <a:pt x="505967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505967" y="365759"/>
                  </a:lnTo>
                  <a:lnTo>
                    <a:pt x="50596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82411" y="3366515"/>
              <a:ext cx="506095" cy="365760"/>
            </a:xfrm>
            <a:custGeom>
              <a:avLst/>
              <a:gdLst/>
              <a:ahLst/>
              <a:cxnLst/>
              <a:rect l="l" t="t" r="r" b="b"/>
              <a:pathLst>
                <a:path w="506095" h="365760">
                  <a:moveTo>
                    <a:pt x="0" y="365759"/>
                  </a:moveTo>
                  <a:lnTo>
                    <a:pt x="505967" y="365759"/>
                  </a:lnTo>
                  <a:lnTo>
                    <a:pt x="505967" y="0"/>
                  </a:lnTo>
                  <a:lnTo>
                    <a:pt x="0" y="0"/>
                  </a:lnTo>
                  <a:lnTo>
                    <a:pt x="0" y="365759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586984" y="3441953"/>
            <a:ext cx="4972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99"/>
                </a:solidFill>
                <a:latin typeface="Calibri"/>
                <a:cs typeface="Calibri"/>
              </a:rPr>
              <a:t>design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05537" y="3361753"/>
            <a:ext cx="433705" cy="375285"/>
            <a:chOff x="6205537" y="3361753"/>
            <a:chExt cx="433705" cy="375285"/>
          </a:xfrm>
        </p:grpSpPr>
        <p:sp>
          <p:nvSpPr>
            <p:cNvPr id="34" name="object 34"/>
            <p:cNvSpPr/>
            <p:nvPr/>
          </p:nvSpPr>
          <p:spPr>
            <a:xfrm>
              <a:off x="6210300" y="3366515"/>
              <a:ext cx="424180" cy="365760"/>
            </a:xfrm>
            <a:custGeom>
              <a:avLst/>
              <a:gdLst/>
              <a:ahLst/>
              <a:cxnLst/>
              <a:rect l="l" t="t" r="r" b="b"/>
              <a:pathLst>
                <a:path w="424179" h="365760">
                  <a:moveTo>
                    <a:pt x="423672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423672" y="365759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10300" y="3366515"/>
              <a:ext cx="424180" cy="365760"/>
            </a:xfrm>
            <a:custGeom>
              <a:avLst/>
              <a:gdLst/>
              <a:ahLst/>
              <a:cxnLst/>
              <a:rect l="l" t="t" r="r" b="b"/>
              <a:pathLst>
                <a:path w="424179" h="365760">
                  <a:moveTo>
                    <a:pt x="0" y="365759"/>
                  </a:moveTo>
                  <a:lnTo>
                    <a:pt x="423672" y="365759"/>
                  </a:lnTo>
                  <a:lnTo>
                    <a:pt x="423672" y="0"/>
                  </a:lnTo>
                  <a:lnTo>
                    <a:pt x="0" y="0"/>
                  </a:lnTo>
                  <a:lnTo>
                    <a:pt x="0" y="365759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10300" y="3366515"/>
            <a:ext cx="424180" cy="365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700"/>
              </a:spcBef>
            </a:pPr>
            <a:r>
              <a:rPr sz="1050" spc="-5" dirty="0">
                <a:solidFill>
                  <a:srgbClr val="FFFF99"/>
                </a:solidFill>
                <a:latin typeface="Calibri"/>
                <a:cs typeface="Calibri"/>
              </a:rPr>
              <a:t>build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40652" y="3372611"/>
            <a:ext cx="463550" cy="363220"/>
          </a:xfrm>
          <a:prstGeom prst="rect">
            <a:avLst/>
          </a:prstGeom>
          <a:solidFill>
            <a:srgbClr val="006600"/>
          </a:solidFill>
          <a:ln w="9144">
            <a:solidFill>
              <a:srgbClr val="0000FF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690"/>
              </a:spcBef>
            </a:pPr>
            <a:r>
              <a:rPr sz="1050" spc="-5" dirty="0">
                <a:solidFill>
                  <a:srgbClr val="FFFF99"/>
                </a:solidFill>
                <a:latin typeface="Calibri"/>
                <a:cs typeface="Calibri"/>
              </a:rPr>
              <a:t>install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35011" y="3375659"/>
            <a:ext cx="609600" cy="363220"/>
          </a:xfrm>
          <a:prstGeom prst="rect">
            <a:avLst/>
          </a:prstGeom>
          <a:solidFill>
            <a:srgbClr val="006600"/>
          </a:solidFill>
          <a:ln w="9144">
            <a:solidFill>
              <a:srgbClr val="0000FF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46990" marR="29209" indent="-3175">
              <a:lnSpc>
                <a:spcPts val="1180"/>
              </a:lnSpc>
              <a:spcBef>
                <a:spcPts val="210"/>
              </a:spcBef>
            </a:pPr>
            <a:r>
              <a:rPr sz="1050" spc="-15" dirty="0">
                <a:solidFill>
                  <a:srgbClr val="FFFF99"/>
                </a:solidFill>
                <a:latin typeface="Calibri"/>
                <a:cs typeface="Calibri"/>
              </a:rPr>
              <a:t>C</a:t>
            </a:r>
            <a:r>
              <a:rPr sz="1050" spc="-5" dirty="0">
                <a:solidFill>
                  <a:srgbClr val="FFFF99"/>
                </a:solidFill>
                <a:latin typeface="Calibri"/>
                <a:cs typeface="Calibri"/>
              </a:rPr>
              <a:t>u</a:t>
            </a:r>
            <a:r>
              <a:rPr sz="1050" spc="-10" dirty="0">
                <a:solidFill>
                  <a:srgbClr val="FFFF99"/>
                </a:solidFill>
                <a:latin typeface="Calibri"/>
                <a:cs typeface="Calibri"/>
              </a:rPr>
              <a:t>s</a:t>
            </a:r>
            <a:r>
              <a:rPr sz="1050" spc="5" dirty="0">
                <a:solidFill>
                  <a:srgbClr val="FFFF99"/>
                </a:solidFill>
                <a:latin typeface="Calibri"/>
                <a:cs typeface="Calibri"/>
              </a:rPr>
              <a:t>t</a:t>
            </a:r>
            <a:r>
              <a:rPr sz="1050" spc="-5" dirty="0">
                <a:solidFill>
                  <a:srgbClr val="FFFF99"/>
                </a:solidFill>
                <a:latin typeface="Calibri"/>
                <a:cs typeface="Calibri"/>
              </a:rPr>
              <a:t>om</a:t>
            </a:r>
            <a:r>
              <a:rPr sz="1050" dirty="0">
                <a:solidFill>
                  <a:srgbClr val="FFFF99"/>
                </a:solidFill>
                <a:latin typeface="Calibri"/>
                <a:cs typeface="Calibri"/>
              </a:rPr>
              <a:t>er  </a:t>
            </a:r>
            <a:r>
              <a:rPr sz="1050" spc="-5" dirty="0">
                <a:solidFill>
                  <a:srgbClr val="FFFF99"/>
                </a:solidFill>
                <a:latin typeface="Calibri"/>
                <a:cs typeface="Calibri"/>
              </a:rPr>
              <a:t>F</a:t>
            </a:r>
            <a:r>
              <a:rPr sz="1050" dirty="0">
                <a:solidFill>
                  <a:srgbClr val="FFFF99"/>
                </a:solidFill>
                <a:latin typeface="Calibri"/>
                <a:cs typeface="Calibri"/>
              </a:rPr>
              <a:t>ee</a:t>
            </a:r>
            <a:r>
              <a:rPr sz="1050" spc="-5" dirty="0">
                <a:solidFill>
                  <a:srgbClr val="FFFF99"/>
                </a:solidFill>
                <a:latin typeface="Calibri"/>
                <a:cs typeface="Calibri"/>
              </a:rPr>
              <a:t>d</a:t>
            </a:r>
            <a:r>
              <a:rPr sz="1050" spc="-10" dirty="0">
                <a:solidFill>
                  <a:srgbClr val="FFFF99"/>
                </a:solidFill>
                <a:latin typeface="Calibri"/>
                <a:cs typeface="Calibri"/>
              </a:rPr>
              <a:t>b</a:t>
            </a:r>
            <a:r>
              <a:rPr sz="1050" dirty="0">
                <a:solidFill>
                  <a:srgbClr val="FFFF99"/>
                </a:solidFill>
                <a:latin typeface="Calibri"/>
                <a:cs typeface="Calibri"/>
              </a:rPr>
              <a:t>a</a:t>
            </a:r>
            <a:r>
              <a:rPr sz="1050" spc="5" dirty="0">
                <a:solidFill>
                  <a:srgbClr val="FFFF99"/>
                </a:solidFill>
                <a:latin typeface="Calibri"/>
                <a:cs typeface="Calibri"/>
              </a:rPr>
              <a:t>c</a:t>
            </a:r>
            <a:r>
              <a:rPr sz="1050" dirty="0">
                <a:solidFill>
                  <a:srgbClr val="FFFF99"/>
                </a:solidFill>
                <a:latin typeface="Calibri"/>
                <a:cs typeface="Calibri"/>
              </a:rPr>
              <a:t>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88379" y="3508247"/>
            <a:ext cx="661670" cy="82550"/>
            <a:chOff x="6088379" y="3508247"/>
            <a:chExt cx="661670" cy="82550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88379" y="3508247"/>
              <a:ext cx="131064" cy="76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3971" y="3514343"/>
              <a:ext cx="115824" cy="76200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03947" y="3514344"/>
            <a:ext cx="131063" cy="7620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454151" y="1237487"/>
            <a:ext cx="1137285" cy="2837815"/>
            <a:chOff x="454151" y="1237487"/>
            <a:chExt cx="1137285" cy="2837815"/>
          </a:xfrm>
        </p:grpSpPr>
        <p:sp>
          <p:nvSpPr>
            <p:cNvPr id="44" name="object 44"/>
            <p:cNvSpPr/>
            <p:nvPr/>
          </p:nvSpPr>
          <p:spPr>
            <a:xfrm>
              <a:off x="458723" y="1242059"/>
              <a:ext cx="1127760" cy="2828925"/>
            </a:xfrm>
            <a:custGeom>
              <a:avLst/>
              <a:gdLst/>
              <a:ahLst/>
              <a:cxnLst/>
              <a:rect l="l" t="t" r="r" b="b"/>
              <a:pathLst>
                <a:path w="1127760" h="2828925">
                  <a:moveTo>
                    <a:pt x="1127759" y="0"/>
                  </a:moveTo>
                  <a:lnTo>
                    <a:pt x="0" y="0"/>
                  </a:lnTo>
                  <a:lnTo>
                    <a:pt x="0" y="2828544"/>
                  </a:lnTo>
                  <a:lnTo>
                    <a:pt x="1127759" y="2828544"/>
                  </a:lnTo>
                  <a:lnTo>
                    <a:pt x="112775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8723" y="1242059"/>
              <a:ext cx="1127760" cy="2828925"/>
            </a:xfrm>
            <a:custGeom>
              <a:avLst/>
              <a:gdLst/>
              <a:ahLst/>
              <a:cxnLst/>
              <a:rect l="l" t="t" r="r" b="b"/>
              <a:pathLst>
                <a:path w="1127760" h="2828925">
                  <a:moveTo>
                    <a:pt x="0" y="2828544"/>
                  </a:moveTo>
                  <a:lnTo>
                    <a:pt x="1127759" y="2828544"/>
                  </a:lnTo>
                  <a:lnTo>
                    <a:pt x="1127759" y="0"/>
                  </a:lnTo>
                  <a:lnTo>
                    <a:pt x="0" y="0"/>
                  </a:lnTo>
                  <a:lnTo>
                    <a:pt x="0" y="28285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86740" y="1284731"/>
            <a:ext cx="896619" cy="756285"/>
          </a:xfrm>
          <a:prstGeom prst="rect">
            <a:avLst/>
          </a:prstGeom>
          <a:solidFill>
            <a:srgbClr val="CC3300"/>
          </a:solidFill>
          <a:ln w="9143">
            <a:solidFill>
              <a:srgbClr val="000000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R="50165" algn="ctr">
              <a:lnSpc>
                <a:spcPts val="1405"/>
              </a:lnSpc>
              <a:spcBef>
                <a:spcPts val="1460"/>
              </a:spcBef>
            </a:pPr>
            <a:r>
              <a:rPr sz="1200" b="1" spc="10" dirty="0">
                <a:solidFill>
                  <a:srgbClr val="1F487C"/>
                </a:solidFill>
                <a:latin typeface="Comic Sans MS"/>
                <a:cs typeface="Comic Sans MS"/>
              </a:rPr>
              <a:t>increment</a:t>
            </a:r>
            <a:endParaRPr sz="1200">
              <a:latin typeface="Comic Sans MS"/>
              <a:cs typeface="Comic Sans MS"/>
            </a:endParaRPr>
          </a:p>
          <a:p>
            <a:pPr algn="ctr">
              <a:lnSpc>
                <a:spcPts val="1405"/>
              </a:lnSpc>
            </a:pPr>
            <a:r>
              <a:rPr sz="1200" b="1" spc="10" dirty="0">
                <a:solidFill>
                  <a:srgbClr val="1F487C"/>
                </a:solidFill>
                <a:latin typeface="Comic Sans MS"/>
                <a:cs typeface="Comic Sans MS"/>
              </a:rPr>
              <a:t>1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5883" y="2229611"/>
            <a:ext cx="896619" cy="759460"/>
          </a:xfrm>
          <a:prstGeom prst="rect">
            <a:avLst/>
          </a:prstGeom>
          <a:solidFill>
            <a:srgbClr val="FFFF99"/>
          </a:solidFill>
          <a:ln w="9143">
            <a:solidFill>
              <a:srgbClr val="00000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R="51435" algn="ctr">
              <a:lnSpc>
                <a:spcPts val="1405"/>
              </a:lnSpc>
              <a:spcBef>
                <a:spcPts val="1470"/>
              </a:spcBef>
            </a:pPr>
            <a:r>
              <a:rPr sz="1200" b="1" spc="10" dirty="0">
                <a:solidFill>
                  <a:srgbClr val="1F487C"/>
                </a:solidFill>
                <a:latin typeface="Comic Sans MS"/>
                <a:cs typeface="Comic Sans MS"/>
              </a:rPr>
              <a:t>increment</a:t>
            </a:r>
            <a:endParaRPr sz="1200">
              <a:latin typeface="Comic Sans MS"/>
              <a:cs typeface="Comic Sans MS"/>
            </a:endParaRPr>
          </a:p>
          <a:p>
            <a:pPr algn="ctr">
              <a:lnSpc>
                <a:spcPts val="1405"/>
              </a:lnSpc>
            </a:pPr>
            <a:r>
              <a:rPr sz="1200" b="1" spc="10" dirty="0">
                <a:solidFill>
                  <a:srgbClr val="1F487C"/>
                </a:solidFill>
                <a:latin typeface="Comic Sans MS"/>
                <a:cs typeface="Comic Sans MS"/>
              </a:rPr>
              <a:t>2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5883" y="3174491"/>
            <a:ext cx="896619" cy="759460"/>
          </a:xfrm>
          <a:prstGeom prst="rect">
            <a:avLst/>
          </a:prstGeom>
          <a:solidFill>
            <a:srgbClr val="00AFEF"/>
          </a:solidFill>
          <a:ln w="9143">
            <a:solidFill>
              <a:srgbClr val="000000"/>
            </a:solidFill>
          </a:ln>
        </p:spPr>
        <p:txBody>
          <a:bodyPr vert="horz" wrap="square" lIns="0" tIns="187325" rIns="0" bIns="0" rtlCol="0">
            <a:spAutoFit/>
          </a:bodyPr>
          <a:lstStyle/>
          <a:p>
            <a:pPr marR="51435" algn="ctr">
              <a:lnSpc>
                <a:spcPts val="1405"/>
              </a:lnSpc>
              <a:spcBef>
                <a:spcPts val="1475"/>
              </a:spcBef>
            </a:pPr>
            <a:r>
              <a:rPr sz="1200" b="1" spc="10" dirty="0">
                <a:solidFill>
                  <a:srgbClr val="1F487C"/>
                </a:solidFill>
                <a:latin typeface="Comic Sans MS"/>
                <a:cs typeface="Comic Sans MS"/>
              </a:rPr>
              <a:t>increment</a:t>
            </a:r>
            <a:endParaRPr sz="1200">
              <a:latin typeface="Comic Sans MS"/>
              <a:cs typeface="Comic Sans MS"/>
            </a:endParaRPr>
          </a:p>
          <a:p>
            <a:pPr algn="ctr">
              <a:lnSpc>
                <a:spcPts val="1405"/>
              </a:lnSpc>
            </a:pPr>
            <a:r>
              <a:rPr sz="1200" b="1" spc="10" dirty="0">
                <a:solidFill>
                  <a:srgbClr val="1F487C"/>
                </a:solidFill>
                <a:latin typeface="Comic Sans MS"/>
                <a:cs typeface="Comic Sans MS"/>
              </a:rPr>
              <a:t>3</a:t>
            </a:r>
            <a:endParaRPr sz="1200">
              <a:latin typeface="Comic Sans MS"/>
              <a:cs typeface="Comic Sans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586357" y="1284731"/>
            <a:ext cx="4001135" cy="3041650"/>
            <a:chOff x="1586357" y="1284731"/>
            <a:chExt cx="4001135" cy="3041650"/>
          </a:xfrm>
        </p:grpSpPr>
        <p:sp>
          <p:nvSpPr>
            <p:cNvPr id="50" name="object 50"/>
            <p:cNvSpPr/>
            <p:nvPr/>
          </p:nvSpPr>
          <p:spPr>
            <a:xfrm>
              <a:off x="5582411" y="1284731"/>
              <a:ext cx="0" cy="3041650"/>
            </a:xfrm>
            <a:custGeom>
              <a:avLst/>
              <a:gdLst/>
              <a:ahLst/>
              <a:cxnLst/>
              <a:rect l="l" t="t" r="r" b="b"/>
              <a:pathLst>
                <a:path h="3041650">
                  <a:moveTo>
                    <a:pt x="0" y="0"/>
                  </a:moveTo>
                  <a:lnTo>
                    <a:pt x="0" y="3041230"/>
                  </a:lnTo>
                </a:path>
              </a:pathLst>
            </a:custGeom>
            <a:ln w="9144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86357" y="2372867"/>
              <a:ext cx="3997325" cy="1291590"/>
            </a:xfrm>
            <a:custGeom>
              <a:avLst/>
              <a:gdLst/>
              <a:ahLst/>
              <a:cxnLst/>
              <a:rect l="l" t="t" r="r" b="b"/>
              <a:pathLst>
                <a:path w="3997325" h="1291589">
                  <a:moveTo>
                    <a:pt x="305054" y="72390"/>
                  </a:moveTo>
                  <a:lnTo>
                    <a:pt x="254" y="71628"/>
                  </a:lnTo>
                  <a:lnTo>
                    <a:pt x="0" y="147828"/>
                  </a:lnTo>
                  <a:lnTo>
                    <a:pt x="304800" y="148590"/>
                  </a:lnTo>
                  <a:lnTo>
                    <a:pt x="305054" y="72390"/>
                  </a:lnTo>
                  <a:close/>
                </a:path>
                <a:path w="3997325" h="1291589">
                  <a:moveTo>
                    <a:pt x="311023" y="1142111"/>
                  </a:moveTo>
                  <a:lnTo>
                    <a:pt x="6223" y="1142492"/>
                  </a:lnTo>
                  <a:lnTo>
                    <a:pt x="6223" y="1218692"/>
                  </a:lnTo>
                  <a:lnTo>
                    <a:pt x="311023" y="1218311"/>
                  </a:lnTo>
                  <a:lnTo>
                    <a:pt x="311023" y="1142111"/>
                  </a:lnTo>
                  <a:close/>
                </a:path>
                <a:path w="3997325" h="1291589">
                  <a:moveTo>
                    <a:pt x="838454" y="73533"/>
                  </a:moveTo>
                  <a:lnTo>
                    <a:pt x="533654" y="72898"/>
                  </a:lnTo>
                  <a:lnTo>
                    <a:pt x="533400" y="149098"/>
                  </a:lnTo>
                  <a:lnTo>
                    <a:pt x="838200" y="149733"/>
                  </a:lnTo>
                  <a:lnTo>
                    <a:pt x="838454" y="73533"/>
                  </a:lnTo>
                  <a:close/>
                </a:path>
                <a:path w="3997325" h="1291589">
                  <a:moveTo>
                    <a:pt x="844423" y="1141615"/>
                  </a:moveTo>
                  <a:lnTo>
                    <a:pt x="539623" y="1141984"/>
                  </a:lnTo>
                  <a:lnTo>
                    <a:pt x="539623" y="1218184"/>
                  </a:lnTo>
                  <a:lnTo>
                    <a:pt x="844423" y="1217803"/>
                  </a:lnTo>
                  <a:lnTo>
                    <a:pt x="844423" y="1141615"/>
                  </a:lnTo>
                  <a:close/>
                </a:path>
                <a:path w="3997325" h="1291589">
                  <a:moveTo>
                    <a:pt x="1371854" y="74803"/>
                  </a:moveTo>
                  <a:lnTo>
                    <a:pt x="1067054" y="74168"/>
                  </a:lnTo>
                  <a:lnTo>
                    <a:pt x="1066800" y="150368"/>
                  </a:lnTo>
                  <a:lnTo>
                    <a:pt x="1371600" y="151003"/>
                  </a:lnTo>
                  <a:lnTo>
                    <a:pt x="1371854" y="74803"/>
                  </a:lnTo>
                  <a:close/>
                </a:path>
                <a:path w="3997325" h="1291589">
                  <a:moveTo>
                    <a:pt x="1377823" y="1141095"/>
                  </a:moveTo>
                  <a:lnTo>
                    <a:pt x="1073023" y="1141349"/>
                  </a:lnTo>
                  <a:lnTo>
                    <a:pt x="1073023" y="1217549"/>
                  </a:lnTo>
                  <a:lnTo>
                    <a:pt x="1377823" y="1217295"/>
                  </a:lnTo>
                  <a:lnTo>
                    <a:pt x="1377823" y="1141095"/>
                  </a:lnTo>
                  <a:close/>
                </a:path>
                <a:path w="3997325" h="1291589">
                  <a:moveTo>
                    <a:pt x="1905254" y="76073"/>
                  </a:moveTo>
                  <a:lnTo>
                    <a:pt x="1600454" y="75311"/>
                  </a:lnTo>
                  <a:lnTo>
                    <a:pt x="1600200" y="151511"/>
                  </a:lnTo>
                  <a:lnTo>
                    <a:pt x="1905000" y="152273"/>
                  </a:lnTo>
                  <a:lnTo>
                    <a:pt x="1905254" y="76073"/>
                  </a:lnTo>
                  <a:close/>
                </a:path>
                <a:path w="3997325" h="1291589">
                  <a:moveTo>
                    <a:pt x="1911223" y="1140587"/>
                  </a:moveTo>
                  <a:lnTo>
                    <a:pt x="1606423" y="1140853"/>
                  </a:lnTo>
                  <a:lnTo>
                    <a:pt x="1606423" y="1217041"/>
                  </a:lnTo>
                  <a:lnTo>
                    <a:pt x="1911223" y="1216787"/>
                  </a:lnTo>
                  <a:lnTo>
                    <a:pt x="1911223" y="1140587"/>
                  </a:lnTo>
                  <a:close/>
                </a:path>
                <a:path w="3997325" h="1291589">
                  <a:moveTo>
                    <a:pt x="2202815" y="114808"/>
                  </a:moveTo>
                  <a:lnTo>
                    <a:pt x="1974469" y="0"/>
                  </a:lnTo>
                  <a:lnTo>
                    <a:pt x="1973961" y="228600"/>
                  </a:lnTo>
                  <a:lnTo>
                    <a:pt x="2202815" y="114808"/>
                  </a:lnTo>
                  <a:close/>
                </a:path>
                <a:path w="3997325" h="1291589">
                  <a:moveTo>
                    <a:pt x="2444623" y="1139952"/>
                  </a:moveTo>
                  <a:lnTo>
                    <a:pt x="2139823" y="1140333"/>
                  </a:lnTo>
                  <a:lnTo>
                    <a:pt x="2139823" y="1216533"/>
                  </a:lnTo>
                  <a:lnTo>
                    <a:pt x="2444623" y="1216152"/>
                  </a:lnTo>
                  <a:lnTo>
                    <a:pt x="2444623" y="1139952"/>
                  </a:lnTo>
                  <a:close/>
                </a:path>
                <a:path w="3997325" h="1291589">
                  <a:moveTo>
                    <a:pt x="2978023" y="1139444"/>
                  </a:moveTo>
                  <a:lnTo>
                    <a:pt x="2673223" y="1139825"/>
                  </a:lnTo>
                  <a:lnTo>
                    <a:pt x="2673223" y="1216025"/>
                  </a:lnTo>
                  <a:lnTo>
                    <a:pt x="2978023" y="1215644"/>
                  </a:lnTo>
                  <a:lnTo>
                    <a:pt x="2978023" y="1139444"/>
                  </a:lnTo>
                  <a:close/>
                </a:path>
                <a:path w="3997325" h="1291589">
                  <a:moveTo>
                    <a:pt x="3511423" y="1138936"/>
                  </a:moveTo>
                  <a:lnTo>
                    <a:pt x="3206623" y="1139190"/>
                  </a:lnTo>
                  <a:lnTo>
                    <a:pt x="3206623" y="1215390"/>
                  </a:lnTo>
                  <a:lnTo>
                    <a:pt x="3511423" y="1215136"/>
                  </a:lnTo>
                  <a:lnTo>
                    <a:pt x="3511423" y="1138936"/>
                  </a:lnTo>
                  <a:close/>
                </a:path>
                <a:path w="3997325" h="1291589">
                  <a:moveTo>
                    <a:pt x="3997198" y="1176528"/>
                  </a:moveTo>
                  <a:lnTo>
                    <a:pt x="3921290" y="1138682"/>
                  </a:lnTo>
                  <a:lnTo>
                    <a:pt x="3768471" y="1062482"/>
                  </a:lnTo>
                  <a:lnTo>
                    <a:pt x="3768547" y="1138682"/>
                  </a:lnTo>
                  <a:lnTo>
                    <a:pt x="3740023" y="1138682"/>
                  </a:lnTo>
                  <a:lnTo>
                    <a:pt x="3740023" y="1214882"/>
                  </a:lnTo>
                  <a:lnTo>
                    <a:pt x="3768636" y="1214882"/>
                  </a:lnTo>
                  <a:lnTo>
                    <a:pt x="3768725" y="1291082"/>
                  </a:lnTo>
                  <a:lnTo>
                    <a:pt x="3920693" y="1214882"/>
                  </a:lnTo>
                  <a:lnTo>
                    <a:pt x="3997198" y="117652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9845" y="228422"/>
            <a:ext cx="1923414" cy="12687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540" algn="ctr">
              <a:lnSpc>
                <a:spcPct val="100800"/>
              </a:lnSpc>
              <a:spcBef>
                <a:spcPts val="85"/>
              </a:spcBef>
            </a:pPr>
            <a:r>
              <a:rPr sz="2700" spc="5" dirty="0">
                <a:solidFill>
                  <a:srgbClr val="333399"/>
                </a:solidFill>
                <a:latin typeface="Comic Sans MS"/>
                <a:cs typeface="Comic Sans MS"/>
              </a:rPr>
              <a:t>The </a:t>
            </a:r>
            <a:r>
              <a:rPr sz="2700" spc="10" dirty="0">
                <a:solidFill>
                  <a:srgbClr val="333399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99"/>
                </a:solidFill>
                <a:latin typeface="Comic Sans MS"/>
                <a:cs typeface="Comic Sans MS"/>
              </a:rPr>
              <a:t>inc</a:t>
            </a:r>
            <a:r>
              <a:rPr sz="2700" spc="-10" dirty="0">
                <a:solidFill>
                  <a:srgbClr val="333399"/>
                </a:solidFill>
                <a:latin typeface="Comic Sans MS"/>
                <a:cs typeface="Comic Sans MS"/>
              </a:rPr>
              <a:t>r</a:t>
            </a:r>
            <a:r>
              <a:rPr sz="2700" dirty="0">
                <a:solidFill>
                  <a:srgbClr val="333399"/>
                </a:solidFill>
                <a:latin typeface="Comic Sans MS"/>
                <a:cs typeface="Comic Sans MS"/>
              </a:rPr>
              <a:t>emen</a:t>
            </a:r>
            <a:r>
              <a:rPr sz="2700" spc="-10" dirty="0">
                <a:solidFill>
                  <a:srgbClr val="333399"/>
                </a:solidFill>
                <a:latin typeface="Comic Sans MS"/>
                <a:cs typeface="Comic Sans MS"/>
              </a:rPr>
              <a:t>t</a:t>
            </a:r>
            <a:r>
              <a:rPr sz="2700" spc="5" dirty="0">
                <a:solidFill>
                  <a:srgbClr val="333399"/>
                </a:solidFill>
                <a:latin typeface="Comic Sans MS"/>
                <a:cs typeface="Comic Sans MS"/>
              </a:rPr>
              <a:t>al  </a:t>
            </a:r>
            <a:r>
              <a:rPr sz="2700" dirty="0">
                <a:solidFill>
                  <a:srgbClr val="333399"/>
                </a:solidFill>
                <a:latin typeface="Comic Sans MS"/>
                <a:cs typeface="Comic Sans MS"/>
              </a:rPr>
              <a:t>process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04809" y="420433"/>
            <a:ext cx="3664585" cy="1500505"/>
            <a:chOff x="1904809" y="420433"/>
            <a:chExt cx="3664585" cy="1500505"/>
          </a:xfrm>
        </p:grpSpPr>
        <p:sp>
          <p:nvSpPr>
            <p:cNvPr id="4" name="object 4"/>
            <p:cNvSpPr/>
            <p:nvPr/>
          </p:nvSpPr>
          <p:spPr>
            <a:xfrm>
              <a:off x="1924812" y="440435"/>
              <a:ext cx="3624579" cy="1460500"/>
            </a:xfrm>
            <a:custGeom>
              <a:avLst/>
              <a:gdLst/>
              <a:ahLst/>
              <a:cxnLst/>
              <a:rect l="l" t="t" r="r" b="b"/>
              <a:pathLst>
                <a:path w="3624579" h="1460500">
                  <a:moveTo>
                    <a:pt x="3624072" y="0"/>
                  </a:moveTo>
                  <a:lnTo>
                    <a:pt x="0" y="0"/>
                  </a:lnTo>
                  <a:lnTo>
                    <a:pt x="0" y="1459992"/>
                  </a:lnTo>
                  <a:lnTo>
                    <a:pt x="3624072" y="1459992"/>
                  </a:lnTo>
                  <a:lnTo>
                    <a:pt x="3624072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4812" y="440435"/>
              <a:ext cx="3624579" cy="1460500"/>
            </a:xfrm>
            <a:custGeom>
              <a:avLst/>
              <a:gdLst/>
              <a:ahLst/>
              <a:cxnLst/>
              <a:rect l="l" t="t" r="r" b="b"/>
              <a:pathLst>
                <a:path w="3624579" h="1460500">
                  <a:moveTo>
                    <a:pt x="0" y="1459992"/>
                  </a:moveTo>
                  <a:lnTo>
                    <a:pt x="3624072" y="1459992"/>
                  </a:lnTo>
                  <a:lnTo>
                    <a:pt x="3624072" y="0"/>
                  </a:lnTo>
                  <a:lnTo>
                    <a:pt x="0" y="0"/>
                  </a:lnTo>
                  <a:lnTo>
                    <a:pt x="0" y="1459992"/>
                  </a:lnTo>
                  <a:close/>
                </a:path>
              </a:pathLst>
            </a:custGeom>
            <a:ln w="39624">
              <a:solidFill>
                <a:srgbClr val="0000C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37232" y="618743"/>
            <a:ext cx="2932430" cy="268605"/>
          </a:xfrm>
          <a:prstGeom prst="rect">
            <a:avLst/>
          </a:prstGeom>
          <a:solidFill>
            <a:srgbClr val="CCFFCC"/>
          </a:solidFill>
          <a:ln w="36575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190"/>
              </a:spcBef>
            </a:pPr>
            <a:r>
              <a:rPr sz="1350" b="1" spc="5" dirty="0">
                <a:latin typeface="Comic Sans MS"/>
                <a:cs typeface="Comic Sans MS"/>
              </a:rPr>
              <a:t>Identify</a:t>
            </a:r>
            <a:r>
              <a:rPr sz="1350" b="1" spc="-50" dirty="0">
                <a:latin typeface="Comic Sans MS"/>
                <a:cs typeface="Comic Sans MS"/>
              </a:rPr>
              <a:t> </a:t>
            </a:r>
            <a:r>
              <a:rPr sz="1350" b="1" spc="10" dirty="0">
                <a:latin typeface="Comic Sans MS"/>
                <a:cs typeface="Comic Sans MS"/>
              </a:rPr>
              <a:t>System</a:t>
            </a:r>
            <a:r>
              <a:rPr sz="1350" b="1" spc="-80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Objectives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9401" y="3474592"/>
            <a:ext cx="2935605" cy="262890"/>
            <a:chOff x="2319401" y="3474592"/>
            <a:chExt cx="2935605" cy="262890"/>
          </a:xfrm>
        </p:grpSpPr>
        <p:sp>
          <p:nvSpPr>
            <p:cNvPr id="8" name="object 8"/>
            <p:cNvSpPr/>
            <p:nvPr/>
          </p:nvSpPr>
          <p:spPr>
            <a:xfrm>
              <a:off x="2337816" y="3493007"/>
              <a:ext cx="2898775" cy="226060"/>
            </a:xfrm>
            <a:custGeom>
              <a:avLst/>
              <a:gdLst/>
              <a:ahLst/>
              <a:cxnLst/>
              <a:rect l="l" t="t" r="r" b="b"/>
              <a:pathLst>
                <a:path w="2898775" h="226060">
                  <a:moveTo>
                    <a:pt x="2898648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2898648" y="225551"/>
                  </a:lnTo>
                  <a:lnTo>
                    <a:pt x="289864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37816" y="3493007"/>
              <a:ext cx="2898775" cy="226060"/>
            </a:xfrm>
            <a:custGeom>
              <a:avLst/>
              <a:gdLst/>
              <a:ahLst/>
              <a:cxnLst/>
              <a:rect l="l" t="t" r="r" b="b"/>
              <a:pathLst>
                <a:path w="2898775" h="226060">
                  <a:moveTo>
                    <a:pt x="0" y="225551"/>
                  </a:moveTo>
                  <a:lnTo>
                    <a:pt x="2898648" y="225551"/>
                  </a:lnTo>
                  <a:lnTo>
                    <a:pt x="2898648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37816" y="3493008"/>
            <a:ext cx="2898775" cy="2260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40"/>
              </a:spcBef>
            </a:pPr>
            <a:r>
              <a:rPr sz="1350" b="1" spc="10" dirty="0">
                <a:latin typeface="Comic Sans MS"/>
                <a:cs typeface="Comic Sans MS"/>
              </a:rPr>
              <a:t>Evaluate</a:t>
            </a:r>
            <a:r>
              <a:rPr sz="1350" b="1" spc="-85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the</a:t>
            </a:r>
            <a:r>
              <a:rPr sz="1350" b="1" spc="-55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results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19401" y="3047872"/>
            <a:ext cx="2901950" cy="262890"/>
            <a:chOff x="2319401" y="3047872"/>
            <a:chExt cx="2901950" cy="262890"/>
          </a:xfrm>
        </p:grpSpPr>
        <p:sp>
          <p:nvSpPr>
            <p:cNvPr id="12" name="object 12"/>
            <p:cNvSpPr/>
            <p:nvPr/>
          </p:nvSpPr>
          <p:spPr>
            <a:xfrm>
              <a:off x="2337816" y="3066287"/>
              <a:ext cx="2865120" cy="226060"/>
            </a:xfrm>
            <a:custGeom>
              <a:avLst/>
              <a:gdLst/>
              <a:ahLst/>
              <a:cxnLst/>
              <a:rect l="l" t="t" r="r" b="b"/>
              <a:pathLst>
                <a:path w="2865120" h="226060">
                  <a:moveTo>
                    <a:pt x="2865120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2865120" y="225551"/>
                  </a:lnTo>
                  <a:lnTo>
                    <a:pt x="28651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37816" y="3066287"/>
              <a:ext cx="2865120" cy="226060"/>
            </a:xfrm>
            <a:custGeom>
              <a:avLst/>
              <a:gdLst/>
              <a:ahLst/>
              <a:cxnLst/>
              <a:rect l="l" t="t" r="r" b="b"/>
              <a:pathLst>
                <a:path w="2865120" h="226060">
                  <a:moveTo>
                    <a:pt x="0" y="225551"/>
                  </a:moveTo>
                  <a:lnTo>
                    <a:pt x="2865120" y="225551"/>
                  </a:lnTo>
                  <a:lnTo>
                    <a:pt x="2865120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37816" y="3066288"/>
            <a:ext cx="2865120" cy="2260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40"/>
              </a:spcBef>
            </a:pPr>
            <a:r>
              <a:rPr sz="1350" b="1" spc="5" dirty="0">
                <a:latin typeface="Comic Sans MS"/>
                <a:cs typeface="Comic Sans MS"/>
              </a:rPr>
              <a:t>Implement</a:t>
            </a:r>
            <a:r>
              <a:rPr sz="1350" b="1" spc="-55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the</a:t>
            </a:r>
            <a:r>
              <a:rPr sz="1350" b="1" spc="-25" dirty="0">
                <a:latin typeface="Comic Sans MS"/>
                <a:cs typeface="Comic Sans MS"/>
              </a:rPr>
              <a:t> </a:t>
            </a:r>
            <a:r>
              <a:rPr sz="1350" b="1" dirty="0">
                <a:latin typeface="Comic Sans MS"/>
                <a:cs typeface="Comic Sans MS"/>
              </a:rPr>
              <a:t>increment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19401" y="2621152"/>
            <a:ext cx="2935605" cy="262890"/>
            <a:chOff x="2319401" y="2621152"/>
            <a:chExt cx="2935605" cy="262890"/>
          </a:xfrm>
        </p:grpSpPr>
        <p:sp>
          <p:nvSpPr>
            <p:cNvPr id="16" name="object 16"/>
            <p:cNvSpPr/>
            <p:nvPr/>
          </p:nvSpPr>
          <p:spPr>
            <a:xfrm>
              <a:off x="2337816" y="2639567"/>
              <a:ext cx="2898775" cy="226060"/>
            </a:xfrm>
            <a:custGeom>
              <a:avLst/>
              <a:gdLst/>
              <a:ahLst/>
              <a:cxnLst/>
              <a:rect l="l" t="t" r="r" b="b"/>
              <a:pathLst>
                <a:path w="2898775" h="226060">
                  <a:moveTo>
                    <a:pt x="2898648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2898648" y="225551"/>
                  </a:lnTo>
                  <a:lnTo>
                    <a:pt x="289864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7816" y="2639567"/>
              <a:ext cx="2898775" cy="226060"/>
            </a:xfrm>
            <a:custGeom>
              <a:avLst/>
              <a:gdLst/>
              <a:ahLst/>
              <a:cxnLst/>
              <a:rect l="l" t="t" r="r" b="b"/>
              <a:pathLst>
                <a:path w="2898775" h="226060">
                  <a:moveTo>
                    <a:pt x="0" y="225551"/>
                  </a:moveTo>
                  <a:lnTo>
                    <a:pt x="2898648" y="225551"/>
                  </a:lnTo>
                  <a:lnTo>
                    <a:pt x="2898648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37816" y="2639567"/>
            <a:ext cx="2898775" cy="2260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28015">
              <a:lnSpc>
                <a:spcPct val="100000"/>
              </a:lnSpc>
              <a:spcBef>
                <a:spcPts val="35"/>
              </a:spcBef>
            </a:pPr>
            <a:r>
              <a:rPr sz="1350" b="1" spc="5" dirty="0">
                <a:latin typeface="Comic Sans MS"/>
                <a:cs typeface="Comic Sans MS"/>
              </a:rPr>
              <a:t>Build</a:t>
            </a:r>
            <a:r>
              <a:rPr sz="1350" b="1" spc="-40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the</a:t>
            </a:r>
            <a:r>
              <a:rPr sz="1350" b="1" spc="-20" dirty="0">
                <a:latin typeface="Comic Sans MS"/>
                <a:cs typeface="Comic Sans MS"/>
              </a:rPr>
              <a:t> </a:t>
            </a:r>
            <a:r>
              <a:rPr sz="1350" b="1" dirty="0">
                <a:latin typeface="Comic Sans MS"/>
                <a:cs typeface="Comic Sans MS"/>
              </a:rPr>
              <a:t>increment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19401" y="2194432"/>
            <a:ext cx="2901950" cy="262890"/>
            <a:chOff x="2319401" y="2194432"/>
            <a:chExt cx="2901950" cy="262890"/>
          </a:xfrm>
        </p:grpSpPr>
        <p:sp>
          <p:nvSpPr>
            <p:cNvPr id="20" name="object 20"/>
            <p:cNvSpPr/>
            <p:nvPr/>
          </p:nvSpPr>
          <p:spPr>
            <a:xfrm>
              <a:off x="2337816" y="2212847"/>
              <a:ext cx="2865120" cy="226060"/>
            </a:xfrm>
            <a:custGeom>
              <a:avLst/>
              <a:gdLst/>
              <a:ahLst/>
              <a:cxnLst/>
              <a:rect l="l" t="t" r="r" b="b"/>
              <a:pathLst>
                <a:path w="2865120" h="226060">
                  <a:moveTo>
                    <a:pt x="2865120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2865120" y="225551"/>
                  </a:lnTo>
                  <a:lnTo>
                    <a:pt x="28651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37816" y="2212847"/>
              <a:ext cx="2865120" cy="226060"/>
            </a:xfrm>
            <a:custGeom>
              <a:avLst/>
              <a:gdLst/>
              <a:ahLst/>
              <a:cxnLst/>
              <a:rect l="l" t="t" r="r" b="b"/>
              <a:pathLst>
                <a:path w="2865120" h="226060">
                  <a:moveTo>
                    <a:pt x="0" y="225551"/>
                  </a:moveTo>
                  <a:lnTo>
                    <a:pt x="2865120" y="225551"/>
                  </a:lnTo>
                  <a:lnTo>
                    <a:pt x="2865120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37816" y="2212847"/>
            <a:ext cx="2865120" cy="2260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719455">
              <a:lnSpc>
                <a:spcPct val="100000"/>
              </a:lnSpc>
              <a:spcBef>
                <a:spcPts val="30"/>
              </a:spcBef>
            </a:pPr>
            <a:r>
              <a:rPr sz="1350" b="1" spc="5" dirty="0">
                <a:latin typeface="Comic Sans MS"/>
                <a:cs typeface="Comic Sans MS"/>
              </a:rPr>
              <a:t>Design</a:t>
            </a:r>
            <a:r>
              <a:rPr sz="1350" b="1" spc="-40" dirty="0">
                <a:latin typeface="Comic Sans MS"/>
                <a:cs typeface="Comic Sans MS"/>
              </a:rPr>
              <a:t> </a:t>
            </a:r>
            <a:r>
              <a:rPr sz="1350" b="1" dirty="0">
                <a:latin typeface="Comic Sans MS"/>
                <a:cs typeface="Comic Sans MS"/>
              </a:rPr>
              <a:t>increment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37232" y="1051559"/>
            <a:ext cx="2932430" cy="222885"/>
          </a:xfrm>
          <a:prstGeom prst="rect">
            <a:avLst/>
          </a:prstGeom>
          <a:solidFill>
            <a:srgbClr val="CCFFCC"/>
          </a:solidFill>
          <a:ln w="36575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779145">
              <a:lnSpc>
                <a:spcPct val="100000"/>
              </a:lnSpc>
              <a:spcBef>
                <a:spcPts val="10"/>
              </a:spcBef>
            </a:pPr>
            <a:r>
              <a:rPr sz="1350" b="1" spc="5" dirty="0">
                <a:latin typeface="Comic Sans MS"/>
                <a:cs typeface="Comic Sans MS"/>
              </a:rPr>
              <a:t>Plan</a:t>
            </a:r>
            <a:r>
              <a:rPr sz="1350" b="1" spc="-35" dirty="0">
                <a:latin typeface="Comic Sans MS"/>
                <a:cs typeface="Comic Sans MS"/>
              </a:rPr>
              <a:t> </a:t>
            </a:r>
            <a:r>
              <a:rPr sz="1350" b="1" dirty="0">
                <a:latin typeface="Comic Sans MS"/>
                <a:cs typeface="Comic Sans MS"/>
              </a:rPr>
              <a:t>increments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05000" y="944879"/>
            <a:ext cx="5041900" cy="3218815"/>
            <a:chOff x="1905000" y="944879"/>
            <a:chExt cx="5041900" cy="3218815"/>
          </a:xfrm>
        </p:grpSpPr>
        <p:sp>
          <p:nvSpPr>
            <p:cNvPr id="25" name="object 25"/>
            <p:cNvSpPr/>
            <p:nvPr/>
          </p:nvSpPr>
          <p:spPr>
            <a:xfrm>
              <a:off x="3595623" y="1898776"/>
              <a:ext cx="109855" cy="338455"/>
            </a:xfrm>
            <a:custGeom>
              <a:avLst/>
              <a:gdLst/>
              <a:ahLst/>
              <a:cxnLst/>
              <a:rect l="l" t="t" r="r" b="b"/>
              <a:pathLst>
                <a:path w="109854" h="338455">
                  <a:moveTo>
                    <a:pt x="36661" y="228895"/>
                  </a:moveTo>
                  <a:lnTo>
                    <a:pt x="0" y="229235"/>
                  </a:lnTo>
                  <a:lnTo>
                    <a:pt x="55879" y="338455"/>
                  </a:lnTo>
                  <a:lnTo>
                    <a:pt x="100484" y="247142"/>
                  </a:lnTo>
                  <a:lnTo>
                    <a:pt x="36829" y="247142"/>
                  </a:lnTo>
                  <a:lnTo>
                    <a:pt x="36661" y="228895"/>
                  </a:lnTo>
                  <a:close/>
                </a:path>
                <a:path w="109854" h="338455">
                  <a:moveTo>
                    <a:pt x="73118" y="228557"/>
                  </a:moveTo>
                  <a:lnTo>
                    <a:pt x="36661" y="228895"/>
                  </a:lnTo>
                  <a:lnTo>
                    <a:pt x="36829" y="247142"/>
                  </a:lnTo>
                  <a:lnTo>
                    <a:pt x="73278" y="246888"/>
                  </a:lnTo>
                  <a:lnTo>
                    <a:pt x="73118" y="228557"/>
                  </a:lnTo>
                  <a:close/>
                </a:path>
                <a:path w="109854" h="338455">
                  <a:moveTo>
                    <a:pt x="109727" y="228219"/>
                  </a:moveTo>
                  <a:lnTo>
                    <a:pt x="73118" y="228557"/>
                  </a:lnTo>
                  <a:lnTo>
                    <a:pt x="73278" y="246888"/>
                  </a:lnTo>
                  <a:lnTo>
                    <a:pt x="36829" y="247142"/>
                  </a:lnTo>
                  <a:lnTo>
                    <a:pt x="100484" y="247142"/>
                  </a:lnTo>
                  <a:lnTo>
                    <a:pt x="109727" y="228219"/>
                  </a:lnTo>
                  <a:close/>
                </a:path>
                <a:path w="109854" h="338455">
                  <a:moveTo>
                    <a:pt x="71120" y="0"/>
                  </a:moveTo>
                  <a:lnTo>
                    <a:pt x="34543" y="254"/>
                  </a:lnTo>
                  <a:lnTo>
                    <a:pt x="36661" y="228895"/>
                  </a:lnTo>
                  <a:lnTo>
                    <a:pt x="73118" y="228557"/>
                  </a:lnTo>
                  <a:lnTo>
                    <a:pt x="711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23288" y="2121407"/>
              <a:ext cx="3175" cy="1755775"/>
            </a:xfrm>
            <a:custGeom>
              <a:avLst/>
              <a:gdLst/>
              <a:ahLst/>
              <a:cxnLst/>
              <a:rect l="l" t="t" r="r" b="b"/>
              <a:pathLst>
                <a:path w="3175" h="1755775">
                  <a:moveTo>
                    <a:pt x="0" y="0"/>
                  </a:moveTo>
                  <a:lnTo>
                    <a:pt x="3048" y="1755648"/>
                  </a:lnTo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23288" y="2121407"/>
              <a:ext cx="350520" cy="3175"/>
            </a:xfrm>
            <a:custGeom>
              <a:avLst/>
              <a:gdLst/>
              <a:ahLst/>
              <a:cxnLst/>
              <a:rect l="l" t="t" r="r" b="b"/>
              <a:pathLst>
                <a:path w="350519" h="3175">
                  <a:moveTo>
                    <a:pt x="-18287" y="1524"/>
                  </a:moveTo>
                  <a:lnTo>
                    <a:pt x="368808" y="1524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5116" y="2417063"/>
              <a:ext cx="109728" cy="22250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5116" y="2843783"/>
              <a:ext cx="109728" cy="22250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5116" y="3270503"/>
              <a:ext cx="109728" cy="22250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923288" y="2011679"/>
              <a:ext cx="5005070" cy="2133600"/>
            </a:xfrm>
            <a:custGeom>
              <a:avLst/>
              <a:gdLst/>
              <a:ahLst/>
              <a:cxnLst/>
              <a:rect l="l" t="t" r="r" b="b"/>
              <a:pathLst>
                <a:path w="5005070" h="2133600">
                  <a:moveTo>
                    <a:pt x="0" y="1865376"/>
                  </a:moveTo>
                  <a:lnTo>
                    <a:pt x="347472" y="1865376"/>
                  </a:lnTo>
                </a:path>
                <a:path w="5005070" h="2133600">
                  <a:moveTo>
                    <a:pt x="1725167" y="1685544"/>
                  </a:moveTo>
                  <a:lnTo>
                    <a:pt x="1728215" y="2133600"/>
                  </a:lnTo>
                </a:path>
                <a:path w="5005070" h="2133600">
                  <a:moveTo>
                    <a:pt x="1725167" y="2133600"/>
                  </a:moveTo>
                  <a:lnTo>
                    <a:pt x="4142232" y="2133600"/>
                  </a:lnTo>
                </a:path>
                <a:path w="5005070" h="2133600">
                  <a:moveTo>
                    <a:pt x="4142232" y="0"/>
                  </a:moveTo>
                  <a:lnTo>
                    <a:pt x="4142232" y="2133600"/>
                  </a:lnTo>
                </a:path>
                <a:path w="5005070" h="2133600">
                  <a:moveTo>
                    <a:pt x="4142232" y="2133600"/>
                  </a:moveTo>
                  <a:lnTo>
                    <a:pt x="5004816" y="2133600"/>
                  </a:lnTo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48455" y="1956815"/>
              <a:ext cx="2417445" cy="109855"/>
            </a:xfrm>
            <a:custGeom>
              <a:avLst/>
              <a:gdLst/>
              <a:ahLst/>
              <a:cxnLst/>
              <a:rect l="l" t="t" r="r" b="b"/>
              <a:pathLst>
                <a:path w="2417445" h="109855">
                  <a:moveTo>
                    <a:pt x="109728" y="0"/>
                  </a:moveTo>
                  <a:lnTo>
                    <a:pt x="0" y="54863"/>
                  </a:lnTo>
                  <a:lnTo>
                    <a:pt x="109728" y="109727"/>
                  </a:lnTo>
                  <a:lnTo>
                    <a:pt x="109728" y="73151"/>
                  </a:lnTo>
                  <a:lnTo>
                    <a:pt x="91440" y="73151"/>
                  </a:lnTo>
                  <a:lnTo>
                    <a:pt x="91440" y="36575"/>
                  </a:lnTo>
                  <a:lnTo>
                    <a:pt x="109728" y="36575"/>
                  </a:lnTo>
                  <a:lnTo>
                    <a:pt x="109728" y="0"/>
                  </a:lnTo>
                  <a:close/>
                </a:path>
                <a:path w="2417445" h="109855">
                  <a:moveTo>
                    <a:pt x="109728" y="36575"/>
                  </a:moveTo>
                  <a:lnTo>
                    <a:pt x="91440" y="36575"/>
                  </a:lnTo>
                  <a:lnTo>
                    <a:pt x="91440" y="73151"/>
                  </a:lnTo>
                  <a:lnTo>
                    <a:pt x="109728" y="73151"/>
                  </a:lnTo>
                  <a:lnTo>
                    <a:pt x="109728" y="36575"/>
                  </a:lnTo>
                  <a:close/>
                </a:path>
                <a:path w="2417445" h="109855">
                  <a:moveTo>
                    <a:pt x="2417064" y="36575"/>
                  </a:moveTo>
                  <a:lnTo>
                    <a:pt x="109728" y="36575"/>
                  </a:lnTo>
                  <a:lnTo>
                    <a:pt x="109728" y="73151"/>
                  </a:lnTo>
                  <a:lnTo>
                    <a:pt x="2417064" y="73151"/>
                  </a:lnTo>
                  <a:lnTo>
                    <a:pt x="2417064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28103" y="996695"/>
              <a:ext cx="0" cy="3148965"/>
            </a:xfrm>
            <a:custGeom>
              <a:avLst/>
              <a:gdLst/>
              <a:ahLst/>
              <a:cxnLst/>
              <a:rect l="l" t="t" r="r" b="b"/>
              <a:pathLst>
                <a:path h="3148965">
                  <a:moveTo>
                    <a:pt x="0" y="3148584"/>
                  </a:moveTo>
                  <a:lnTo>
                    <a:pt x="0" y="0"/>
                  </a:lnTo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44311" y="944879"/>
              <a:ext cx="1384300" cy="109855"/>
            </a:xfrm>
            <a:custGeom>
              <a:avLst/>
              <a:gdLst/>
              <a:ahLst/>
              <a:cxnLst/>
              <a:rect l="l" t="t" r="r" b="b"/>
              <a:pathLst>
                <a:path w="1384300" h="109855">
                  <a:moveTo>
                    <a:pt x="109727" y="0"/>
                  </a:moveTo>
                  <a:lnTo>
                    <a:pt x="0" y="54864"/>
                  </a:lnTo>
                  <a:lnTo>
                    <a:pt x="109727" y="109728"/>
                  </a:lnTo>
                  <a:lnTo>
                    <a:pt x="109727" y="73152"/>
                  </a:lnTo>
                  <a:lnTo>
                    <a:pt x="91439" y="73152"/>
                  </a:lnTo>
                  <a:lnTo>
                    <a:pt x="91439" y="36576"/>
                  </a:lnTo>
                  <a:lnTo>
                    <a:pt x="109727" y="36576"/>
                  </a:lnTo>
                  <a:lnTo>
                    <a:pt x="109727" y="0"/>
                  </a:lnTo>
                  <a:close/>
                </a:path>
                <a:path w="1384300" h="109855">
                  <a:moveTo>
                    <a:pt x="109727" y="36576"/>
                  </a:moveTo>
                  <a:lnTo>
                    <a:pt x="91439" y="36576"/>
                  </a:lnTo>
                  <a:lnTo>
                    <a:pt x="91439" y="73152"/>
                  </a:lnTo>
                  <a:lnTo>
                    <a:pt x="109727" y="73152"/>
                  </a:lnTo>
                  <a:lnTo>
                    <a:pt x="109727" y="36576"/>
                  </a:lnTo>
                  <a:close/>
                </a:path>
                <a:path w="1384300" h="109855">
                  <a:moveTo>
                    <a:pt x="1383791" y="36576"/>
                  </a:moveTo>
                  <a:lnTo>
                    <a:pt x="109727" y="36576"/>
                  </a:lnTo>
                  <a:lnTo>
                    <a:pt x="109727" y="73152"/>
                  </a:lnTo>
                  <a:lnTo>
                    <a:pt x="1383791" y="73152"/>
                  </a:lnTo>
                  <a:lnTo>
                    <a:pt x="1383791" y="36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606288" y="2698826"/>
            <a:ext cx="111252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solidFill>
                  <a:srgbClr val="0000FF"/>
                </a:solidFill>
                <a:latin typeface="Comic Sans MS"/>
                <a:cs typeface="Comic Sans MS"/>
              </a:rPr>
              <a:t>Feedback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8086" y="2838145"/>
            <a:ext cx="1393190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5" dirty="0">
                <a:latin typeface="Comic Sans MS"/>
                <a:cs typeface="Comic Sans MS"/>
              </a:rPr>
              <a:t>Repeat</a:t>
            </a:r>
            <a:r>
              <a:rPr sz="1350" b="1" spc="-45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for</a:t>
            </a:r>
            <a:r>
              <a:rPr sz="1350" b="1" spc="-60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each</a:t>
            </a:r>
            <a:endParaRPr sz="1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50" b="1" dirty="0">
                <a:latin typeface="Comic Sans MS"/>
                <a:cs typeface="Comic Sans MS"/>
              </a:rPr>
              <a:t>increment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6892" y="634365"/>
            <a:ext cx="97980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1" spc="5" dirty="0">
                <a:solidFill>
                  <a:srgbClr val="C0504D"/>
                </a:solidFill>
                <a:latin typeface="Comic Sans MS"/>
                <a:cs typeface="Comic Sans MS"/>
              </a:rPr>
              <a:t>Planned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6892" y="893140"/>
            <a:ext cx="1501140" cy="347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00" b="1" spc="5" dirty="0">
                <a:solidFill>
                  <a:srgbClr val="C0504D"/>
                </a:solidFill>
                <a:latin typeface="Comic Sans MS"/>
                <a:cs typeface="Comic Sans MS"/>
              </a:rPr>
              <a:t>i</a:t>
            </a:r>
            <a:r>
              <a:rPr sz="2100" b="1" dirty="0">
                <a:solidFill>
                  <a:srgbClr val="C0504D"/>
                </a:solidFill>
                <a:latin typeface="Comic Sans MS"/>
                <a:cs typeface="Comic Sans MS"/>
              </a:rPr>
              <a:t>n</a:t>
            </a:r>
            <a:r>
              <a:rPr sz="2100" b="1" spc="-5" dirty="0">
                <a:solidFill>
                  <a:srgbClr val="C0504D"/>
                </a:solidFill>
                <a:latin typeface="Comic Sans MS"/>
                <a:cs typeface="Comic Sans MS"/>
              </a:rPr>
              <a:t>cr</a:t>
            </a:r>
            <a:r>
              <a:rPr sz="2100" b="1" dirty="0">
                <a:solidFill>
                  <a:srgbClr val="C0504D"/>
                </a:solidFill>
                <a:latin typeface="Comic Sans MS"/>
                <a:cs typeface="Comic Sans MS"/>
              </a:rPr>
              <a:t>e</a:t>
            </a:r>
            <a:r>
              <a:rPr sz="2100" b="1" spc="-10" dirty="0">
                <a:solidFill>
                  <a:srgbClr val="C0504D"/>
                </a:solidFill>
                <a:latin typeface="Comic Sans MS"/>
                <a:cs typeface="Comic Sans MS"/>
              </a:rPr>
              <a:t>m</a:t>
            </a:r>
            <a:r>
              <a:rPr sz="2100" b="1" dirty="0">
                <a:solidFill>
                  <a:srgbClr val="C0504D"/>
                </a:solidFill>
                <a:latin typeface="Comic Sans MS"/>
                <a:cs typeface="Comic Sans MS"/>
              </a:rPr>
              <a:t>e</a:t>
            </a:r>
            <a:r>
              <a:rPr sz="2100" b="1" spc="-5" dirty="0">
                <a:solidFill>
                  <a:srgbClr val="C0504D"/>
                </a:solidFill>
                <a:latin typeface="Comic Sans MS"/>
                <a:cs typeface="Comic Sans MS"/>
              </a:rPr>
              <a:t>n</a:t>
            </a:r>
            <a:r>
              <a:rPr sz="2100" b="1" spc="-10" dirty="0">
                <a:solidFill>
                  <a:srgbClr val="C0504D"/>
                </a:solidFill>
                <a:latin typeface="Comic Sans MS"/>
                <a:cs typeface="Comic Sans MS"/>
              </a:rPr>
              <a:t>t</a:t>
            </a:r>
            <a:r>
              <a:rPr sz="2100" b="1" spc="5" dirty="0">
                <a:solidFill>
                  <a:srgbClr val="C0504D"/>
                </a:solidFill>
                <a:latin typeface="Comic Sans MS"/>
                <a:cs typeface="Comic Sans MS"/>
              </a:rPr>
              <a:t>al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6892" y="1149858"/>
            <a:ext cx="1039494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1" dirty="0">
                <a:solidFill>
                  <a:srgbClr val="C0504D"/>
                </a:solidFill>
                <a:latin typeface="Comic Sans MS"/>
                <a:cs typeface="Comic Sans MS"/>
              </a:rPr>
              <a:t>delivery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37232" y="1438655"/>
            <a:ext cx="2932430" cy="226060"/>
          </a:xfrm>
          <a:prstGeom prst="rect">
            <a:avLst/>
          </a:prstGeom>
          <a:solidFill>
            <a:srgbClr val="CCFFCC"/>
          </a:solidFill>
          <a:ln w="365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398145">
              <a:lnSpc>
                <a:spcPct val="100000"/>
              </a:lnSpc>
              <a:spcBef>
                <a:spcPts val="20"/>
              </a:spcBef>
            </a:pPr>
            <a:r>
              <a:rPr sz="1350" b="1" spc="5" dirty="0">
                <a:latin typeface="Comic Sans MS"/>
                <a:cs typeface="Comic Sans MS"/>
              </a:rPr>
              <a:t>Incremental</a:t>
            </a:r>
            <a:r>
              <a:rPr sz="1350" b="1" spc="-55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delivery</a:t>
            </a:r>
            <a:r>
              <a:rPr sz="1350" b="1" spc="-55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plan</a:t>
            </a:r>
            <a:endParaRPr sz="1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9854" y="288746"/>
            <a:ext cx="2731135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5" dirty="0">
                <a:solidFill>
                  <a:srgbClr val="000000"/>
                </a:solidFill>
              </a:rPr>
              <a:t>Which</a:t>
            </a:r>
            <a:r>
              <a:rPr sz="3050" spc="-60" dirty="0">
                <a:solidFill>
                  <a:srgbClr val="000000"/>
                </a:solidFill>
              </a:rPr>
              <a:t> </a:t>
            </a:r>
            <a:r>
              <a:rPr sz="3050" spc="-20" dirty="0">
                <a:solidFill>
                  <a:srgbClr val="000000"/>
                </a:solidFill>
              </a:rPr>
              <a:t>step</a:t>
            </a:r>
            <a:r>
              <a:rPr sz="3050" spc="-40" dirty="0">
                <a:solidFill>
                  <a:srgbClr val="000000"/>
                </a:solidFill>
              </a:rPr>
              <a:t> </a:t>
            </a:r>
            <a:r>
              <a:rPr sz="3050" spc="-10" dirty="0">
                <a:solidFill>
                  <a:srgbClr val="000000"/>
                </a:solidFill>
              </a:rPr>
              <a:t>first?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042" y="856310"/>
            <a:ext cx="8733790" cy="33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spc="-5" dirty="0">
                <a:latin typeface="Calibri"/>
                <a:cs typeface="Calibri"/>
              </a:rPr>
              <a:t>Some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steps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will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pre-requisite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because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physical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dependencies</a:t>
            </a:r>
            <a:endParaRPr sz="24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spc="-5" dirty="0">
                <a:latin typeface="Calibri"/>
                <a:cs typeface="Calibri"/>
              </a:rPr>
              <a:t>Others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may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 </a:t>
            </a:r>
            <a:r>
              <a:rPr sz="2450" spc="-15" dirty="0">
                <a:latin typeface="Calibri"/>
                <a:cs typeface="Calibri"/>
              </a:rPr>
              <a:t>any </a:t>
            </a:r>
            <a:r>
              <a:rPr sz="2450" spc="-5" dirty="0">
                <a:latin typeface="Calibri"/>
                <a:cs typeface="Calibri"/>
              </a:rPr>
              <a:t>order</a:t>
            </a:r>
            <a:endParaRPr sz="24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spc="-30" dirty="0">
                <a:latin typeface="Calibri"/>
                <a:cs typeface="Calibri"/>
              </a:rPr>
              <a:t>Value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cost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ratios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may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used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7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-25" dirty="0">
                <a:latin typeface="Calibri"/>
                <a:cs typeface="Calibri"/>
              </a:rPr>
              <a:t>V/C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where</a:t>
            </a:r>
            <a:endParaRPr sz="21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5" dirty="0">
                <a:latin typeface="Calibri"/>
                <a:cs typeface="Calibri"/>
              </a:rPr>
              <a:t>V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is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</a:t>
            </a:r>
            <a:r>
              <a:rPr sz="2150" dirty="0">
                <a:latin typeface="Calibri"/>
                <a:cs typeface="Calibri"/>
              </a:rPr>
              <a:t> score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1-10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representing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value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customer</a:t>
            </a:r>
            <a:endParaRPr sz="21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1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5" dirty="0">
                <a:latin typeface="Calibri"/>
                <a:cs typeface="Calibri"/>
              </a:rPr>
              <a:t>C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is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score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0-10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representing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cost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developers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7622" y="158953"/>
            <a:ext cx="4309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solidFill>
                  <a:srgbClr val="000000"/>
                </a:solidFill>
              </a:rPr>
              <a:t>V/C</a:t>
            </a:r>
            <a:r>
              <a:rPr sz="3600" spc="-20" dirty="0">
                <a:solidFill>
                  <a:srgbClr val="000000"/>
                </a:solidFill>
              </a:rPr>
              <a:t> ratios: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an</a:t>
            </a:r>
            <a:r>
              <a:rPr sz="3600" spc="-15" dirty="0">
                <a:solidFill>
                  <a:srgbClr val="000000"/>
                </a:solidFill>
              </a:rPr>
              <a:t> example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97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2484" y="764096"/>
          <a:ext cx="8413115" cy="3538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345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50" b="1" spc="290" dirty="0">
                          <a:solidFill>
                            <a:srgbClr val="0000CC"/>
                          </a:solidFill>
                          <a:latin typeface="Comic Sans MS"/>
                          <a:cs typeface="Comic Sans MS"/>
                        </a:rPr>
                        <a:t>step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321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50" b="1" spc="265" dirty="0">
                          <a:solidFill>
                            <a:srgbClr val="0000CC"/>
                          </a:solidFill>
                          <a:latin typeface="Comic Sans MS"/>
                          <a:cs typeface="Comic Sans MS"/>
                        </a:rPr>
                        <a:t>value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50" b="1" spc="280" dirty="0">
                          <a:solidFill>
                            <a:srgbClr val="0000CC"/>
                          </a:solidFill>
                          <a:latin typeface="Comic Sans MS"/>
                          <a:cs typeface="Comic Sans MS"/>
                        </a:rPr>
                        <a:t>cost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50" b="1" spc="254" dirty="0">
                          <a:solidFill>
                            <a:srgbClr val="0000CC"/>
                          </a:solidFill>
                          <a:latin typeface="Comic Sans MS"/>
                          <a:cs typeface="Comic Sans MS"/>
                        </a:rPr>
                        <a:t>ratio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98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spc="260" dirty="0">
                          <a:latin typeface="Comic Sans MS"/>
                          <a:cs typeface="Comic Sans MS"/>
                        </a:rPr>
                        <a:t>profit</a:t>
                      </a:r>
                      <a:r>
                        <a:rPr sz="1850" b="1" spc="2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50" b="1" spc="280" dirty="0">
                          <a:latin typeface="Comic Sans MS"/>
                          <a:cs typeface="Comic Sans MS"/>
                        </a:rPr>
                        <a:t>reports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9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 marR="280670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2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spc="305" dirty="0">
                          <a:latin typeface="Comic Sans MS"/>
                          <a:cs typeface="Comic Sans MS"/>
                        </a:rPr>
                        <a:t>4.5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spc="325" dirty="0">
                          <a:latin typeface="Comic Sans MS"/>
                          <a:cs typeface="Comic Sans MS"/>
                        </a:rPr>
                        <a:t>2nd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8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spc="250" dirty="0">
                          <a:latin typeface="Comic Sans MS"/>
                          <a:cs typeface="Comic Sans MS"/>
                        </a:rPr>
                        <a:t>online</a:t>
                      </a:r>
                      <a:r>
                        <a:rPr sz="1850" b="1" spc="2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50" b="1" spc="300" dirty="0">
                          <a:latin typeface="Comic Sans MS"/>
                          <a:cs typeface="Comic Sans MS"/>
                        </a:rPr>
                        <a:t>database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1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28067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9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34544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spc="315" dirty="0">
                          <a:latin typeface="Comic Sans MS"/>
                          <a:cs typeface="Comic Sans MS"/>
                        </a:rPr>
                        <a:t>0.11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spc="310" dirty="0">
                          <a:latin typeface="Comic Sans MS"/>
                          <a:cs typeface="Comic Sans MS"/>
                        </a:rPr>
                        <a:t>5th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2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spc="320" dirty="0">
                          <a:latin typeface="Comic Sans MS"/>
                          <a:cs typeface="Comic Sans MS"/>
                        </a:rPr>
                        <a:t>ad</a:t>
                      </a:r>
                      <a:r>
                        <a:rPr sz="1850" b="1" spc="2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50" b="1" spc="305" dirty="0">
                          <a:latin typeface="Comic Sans MS"/>
                          <a:cs typeface="Comic Sans MS"/>
                        </a:rPr>
                        <a:t>hoc</a:t>
                      </a:r>
                      <a:r>
                        <a:rPr sz="1850" b="1" spc="2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50" b="1" spc="270" dirty="0">
                          <a:latin typeface="Comic Sans MS"/>
                          <a:cs typeface="Comic Sans MS"/>
                        </a:rPr>
                        <a:t>enquiry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5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28067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5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1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spc="310" dirty="0">
                          <a:latin typeface="Comic Sans MS"/>
                          <a:cs typeface="Comic Sans MS"/>
                        </a:rPr>
                        <a:t>4th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8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spc="280" dirty="0">
                          <a:latin typeface="Comic Sans MS"/>
                          <a:cs typeface="Comic Sans MS"/>
                        </a:rPr>
                        <a:t>purchasing</a:t>
                      </a:r>
                      <a:r>
                        <a:rPr sz="1850" b="1" spc="2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50" b="1" spc="265" dirty="0">
                          <a:latin typeface="Comic Sans MS"/>
                          <a:cs typeface="Comic Sans MS"/>
                        </a:rPr>
                        <a:t>plans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9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 marR="280670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4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 marR="345440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spc="315" dirty="0">
                          <a:latin typeface="Comic Sans MS"/>
                          <a:cs typeface="Comic Sans MS"/>
                        </a:rPr>
                        <a:t>2.25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50" b="1" spc="310" dirty="0">
                          <a:latin typeface="Comic Sans MS"/>
                          <a:cs typeface="Comic Sans MS"/>
                        </a:rPr>
                        <a:t>3rd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92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544">
                <a:tc>
                  <a:txBody>
                    <a:bodyPr/>
                    <a:lstStyle/>
                    <a:p>
                      <a:pPr marL="31750" marR="156210">
                        <a:lnSpc>
                          <a:spcPct val="117600"/>
                        </a:lnSpc>
                        <a:spcBef>
                          <a:spcPts val="780"/>
                        </a:spcBef>
                        <a:tabLst>
                          <a:tab pos="2258695" algn="l"/>
                        </a:tabLst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profi</a:t>
                      </a:r>
                      <a:r>
                        <a:rPr sz="1850" b="1" spc="-10" dirty="0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sz="1850" b="1" dirty="0">
                          <a:latin typeface="Comic Sans MS"/>
                          <a:cs typeface="Comic Sans MS"/>
                        </a:rPr>
                        <a:t>-</a:t>
                      </a:r>
                      <a:r>
                        <a:rPr sz="1850" b="1" spc="-5" dirty="0">
                          <a:latin typeface="Comic Sans MS"/>
                          <a:cs typeface="Comic Sans MS"/>
                        </a:rPr>
                        <a:t>ba</a:t>
                      </a:r>
                      <a:r>
                        <a:rPr sz="1850" b="1" spc="-15" dirty="0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sz="1850" b="1" spc="-5" dirty="0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sz="1850" b="1" dirty="0">
                          <a:latin typeface="Comic Sans MS"/>
                          <a:cs typeface="Comic Sans MS"/>
                        </a:rPr>
                        <a:t>d	pay  </a:t>
                      </a:r>
                      <a:r>
                        <a:rPr sz="1850" b="1" spc="315" dirty="0">
                          <a:latin typeface="Comic Sans MS"/>
                          <a:cs typeface="Comic Sans MS"/>
                        </a:rPr>
                        <a:t>managers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9906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spc="280" dirty="0">
                          <a:latin typeface="Comic Sans MS"/>
                          <a:cs typeface="Comic Sans MS"/>
                        </a:rPr>
                        <a:t>for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9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28067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1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L="170815"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dirty="0">
                          <a:latin typeface="Comic Sans MS"/>
                          <a:cs typeface="Comic Sans MS"/>
                        </a:rPr>
                        <a:t>9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50" b="1" spc="295" dirty="0">
                          <a:latin typeface="Comic Sans MS"/>
                          <a:cs typeface="Comic Sans MS"/>
                        </a:rPr>
                        <a:t>1st</a:t>
                      </a:r>
                      <a:endParaRPr sz="1850">
                        <a:latin typeface="Comic Sans MS"/>
                        <a:cs typeface="Comic Sans MS"/>
                      </a:endParaRPr>
                    </a:p>
                  </a:txBody>
                  <a:tcPr marL="0" marR="0" marT="14859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8947" y="1050035"/>
            <a:ext cx="5858510" cy="217043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203200" rIns="0" bIns="0" rtlCol="0">
            <a:spAutoFit/>
          </a:bodyPr>
          <a:lstStyle/>
          <a:p>
            <a:pPr marL="803910" marR="71120" indent="-725805">
              <a:lnSpc>
                <a:spcPct val="100000"/>
              </a:lnSpc>
              <a:spcBef>
                <a:spcPts val="1600"/>
              </a:spcBef>
            </a:pPr>
            <a:r>
              <a:rPr sz="5500" spc="-25" dirty="0">
                <a:solidFill>
                  <a:srgbClr val="0000FF"/>
                </a:solidFill>
              </a:rPr>
              <a:t>Evolutionary</a:t>
            </a:r>
            <a:r>
              <a:rPr sz="5500" spc="15" dirty="0">
                <a:solidFill>
                  <a:srgbClr val="0000FF"/>
                </a:solidFill>
              </a:rPr>
              <a:t> </a:t>
            </a:r>
            <a:r>
              <a:rPr sz="5500" spc="-10" dirty="0">
                <a:solidFill>
                  <a:srgbClr val="0000FF"/>
                </a:solidFill>
              </a:rPr>
              <a:t>Model </a:t>
            </a:r>
            <a:r>
              <a:rPr sz="5500" spc="-1225" dirty="0">
                <a:solidFill>
                  <a:srgbClr val="0000FF"/>
                </a:solidFill>
              </a:rPr>
              <a:t> </a:t>
            </a:r>
            <a:r>
              <a:rPr sz="5500" spc="-5" dirty="0">
                <a:solidFill>
                  <a:srgbClr val="0000FF"/>
                </a:solidFill>
              </a:rPr>
              <a:t>with</a:t>
            </a:r>
            <a:r>
              <a:rPr sz="5500" spc="-25" dirty="0">
                <a:solidFill>
                  <a:srgbClr val="0000FF"/>
                </a:solidFill>
              </a:rPr>
              <a:t> </a:t>
            </a:r>
            <a:r>
              <a:rPr sz="5500" spc="-30" dirty="0">
                <a:solidFill>
                  <a:srgbClr val="0000FF"/>
                </a:solidFill>
              </a:rPr>
              <a:t>Iterations</a:t>
            </a:r>
            <a:endParaRPr sz="55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2361" y="306400"/>
            <a:ext cx="708787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An</a:t>
            </a:r>
            <a:r>
              <a:rPr sz="2500" spc="5" dirty="0">
                <a:solidFill>
                  <a:srgbClr val="000000"/>
                </a:solidFill>
              </a:rPr>
              <a:t> </a:t>
            </a:r>
            <a:r>
              <a:rPr sz="2500" spc="-5" dirty="0">
                <a:solidFill>
                  <a:srgbClr val="000000"/>
                </a:solidFill>
              </a:rPr>
              <a:t>Evolutionary</a:t>
            </a:r>
            <a:r>
              <a:rPr sz="2500" spc="5" dirty="0">
                <a:solidFill>
                  <a:srgbClr val="000000"/>
                </a:solidFill>
              </a:rPr>
              <a:t> </a:t>
            </a:r>
            <a:r>
              <a:rPr sz="2500" spc="10" dirty="0">
                <a:solidFill>
                  <a:srgbClr val="000000"/>
                </a:solidFill>
              </a:rPr>
              <a:t>and</a:t>
            </a:r>
            <a:r>
              <a:rPr sz="2500" spc="-10" dirty="0">
                <a:solidFill>
                  <a:srgbClr val="000000"/>
                </a:solidFill>
              </a:rPr>
              <a:t> Iterative </a:t>
            </a:r>
            <a:r>
              <a:rPr sz="2500" spc="-5" dirty="0">
                <a:solidFill>
                  <a:srgbClr val="000000"/>
                </a:solidFill>
              </a:rPr>
              <a:t>Development </a:t>
            </a:r>
            <a:r>
              <a:rPr sz="2500" dirty="0">
                <a:solidFill>
                  <a:srgbClr val="000000"/>
                </a:solidFill>
              </a:rPr>
              <a:t>Process...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99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704" y="632629"/>
            <a:ext cx="8824595" cy="36315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5" dirty="0">
                <a:latin typeface="Calibri"/>
                <a:cs typeface="Calibri"/>
              </a:rPr>
              <a:t>Recognizes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changing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requirements</a:t>
            </a:r>
            <a:endParaRPr sz="2400">
              <a:latin typeface="Calibri"/>
              <a:cs typeface="Calibri"/>
            </a:endParaRPr>
          </a:p>
          <a:p>
            <a:pPr marL="524510" marR="769620" indent="-195580">
              <a:lnSpc>
                <a:spcPct val="114300"/>
              </a:lnSpc>
              <a:spcBef>
                <a:spcPts val="525"/>
              </a:spcBef>
            </a:pPr>
            <a:r>
              <a:rPr sz="2400" spc="20" dirty="0">
                <a:latin typeface="Arial MT"/>
                <a:cs typeface="Arial MT"/>
              </a:rPr>
              <a:t>–</a:t>
            </a:r>
            <a:r>
              <a:rPr sz="2400" spc="20" dirty="0">
                <a:latin typeface="Calibri"/>
                <a:cs typeface="Calibri"/>
              </a:rPr>
              <a:t>Capers </a:t>
            </a:r>
            <a:r>
              <a:rPr sz="2400" spc="-20" dirty="0">
                <a:latin typeface="Calibri"/>
                <a:cs typeface="Calibri"/>
              </a:rPr>
              <a:t>Jones’s </a:t>
            </a:r>
            <a:r>
              <a:rPr sz="2400" spc="-10" dirty="0">
                <a:latin typeface="Calibri"/>
                <a:cs typeface="Calibri"/>
              </a:rPr>
              <a:t>research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5" dirty="0">
                <a:latin typeface="Calibri"/>
                <a:cs typeface="Calibri"/>
              </a:rPr>
              <a:t>8000 </a:t>
            </a:r>
            <a:r>
              <a:rPr sz="2400" spc="-5" dirty="0">
                <a:latin typeface="Calibri"/>
                <a:cs typeface="Calibri"/>
              </a:rPr>
              <a:t>projects</a:t>
            </a:r>
            <a:r>
              <a:rPr sz="2400" b="1" spc="-5" dirty="0">
                <a:latin typeface="Calibri"/>
                <a:cs typeface="Calibri"/>
              </a:rPr>
              <a:t>: 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40% of final </a:t>
            </a:r>
            <a:r>
              <a:rPr sz="24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requirements</a:t>
            </a:r>
            <a:r>
              <a:rPr sz="24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arrived </a:t>
            </a:r>
            <a:r>
              <a:rPr sz="2400" b="1" spc="-15" dirty="0">
                <a:solidFill>
                  <a:srgbClr val="0000CC"/>
                </a:solidFill>
                <a:latin typeface="Calibri"/>
                <a:cs typeface="Calibri"/>
              </a:rPr>
              <a:t>after</a:t>
            </a:r>
            <a:r>
              <a:rPr sz="2400" b="1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 had</a:t>
            </a: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already</a:t>
            </a:r>
            <a:r>
              <a:rPr sz="24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begun</a:t>
            </a:r>
            <a:endParaRPr sz="24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0" dirty="0">
                <a:latin typeface="Calibri"/>
                <a:cs typeface="Calibri"/>
              </a:rPr>
              <a:t>Promotes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mitigation:</a:t>
            </a:r>
            <a:endParaRPr sz="240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930"/>
              </a:spcBef>
              <a:buFont typeface="Arial MT"/>
              <a:buChar char="–"/>
              <a:tabLst>
                <a:tab pos="525145" algn="l"/>
              </a:tabLst>
            </a:pPr>
            <a:r>
              <a:rPr sz="2000" spc="-15" dirty="0">
                <a:latin typeface="Calibri"/>
                <a:cs typeface="Calibri"/>
              </a:rPr>
              <a:t>Breaks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down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mini-projects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focuses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riskier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issues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first.</a:t>
            </a:r>
            <a:endParaRPr sz="2000">
              <a:latin typeface="Calibri"/>
              <a:cs typeface="Calibri"/>
            </a:endParaRPr>
          </a:p>
          <a:p>
            <a:pPr marL="582295" lvl="1" indent="-253365">
              <a:lnSpc>
                <a:spcPct val="100000"/>
              </a:lnSpc>
              <a:spcBef>
                <a:spcPts val="840"/>
              </a:spcBef>
              <a:buFont typeface="Arial MT"/>
              <a:buChar char="–"/>
              <a:tabLst>
                <a:tab pos="582930" algn="l"/>
              </a:tabLst>
            </a:pP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“plan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little,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design</a:t>
            </a:r>
            <a:r>
              <a:rPr sz="20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little,</a:t>
            </a:r>
            <a:r>
              <a:rPr sz="20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little”</a:t>
            </a:r>
            <a:endParaRPr sz="20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0" dirty="0">
                <a:latin typeface="Calibri"/>
                <a:cs typeface="Calibri"/>
              </a:rPr>
              <a:t>Encourages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development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involved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earlier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on,:</a:t>
            </a:r>
            <a:endParaRPr sz="240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905"/>
              </a:spcBef>
              <a:buFont typeface="Arial MT"/>
              <a:buChar char="–"/>
              <a:tabLst>
                <a:tab pos="525145" algn="l"/>
              </a:tabLst>
            </a:pPr>
            <a:r>
              <a:rPr sz="2000" spc="-5" dirty="0">
                <a:latin typeface="Calibri"/>
                <a:cs typeface="Calibri"/>
              </a:rPr>
              <a:t>End</a:t>
            </a:r>
            <a:r>
              <a:rPr sz="2000" spc="-15" dirty="0">
                <a:latin typeface="Calibri"/>
                <a:cs typeface="Calibri"/>
              </a:rPr>
              <a:t> users,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Testers,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integrators,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technical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writers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1632" y="379297"/>
            <a:ext cx="53803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00"/>
                </a:solidFill>
              </a:rPr>
              <a:t>Evolutionary</a:t>
            </a:r>
            <a:r>
              <a:rPr sz="3000" spc="-50" dirty="0">
                <a:solidFill>
                  <a:srgbClr val="000000"/>
                </a:solidFill>
              </a:rPr>
              <a:t> </a:t>
            </a:r>
            <a:r>
              <a:rPr sz="3000" spc="-5" dirty="0">
                <a:solidFill>
                  <a:srgbClr val="000000"/>
                </a:solidFill>
              </a:rPr>
              <a:t>Model</a:t>
            </a:r>
            <a:r>
              <a:rPr sz="300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with </a:t>
            </a:r>
            <a:r>
              <a:rPr sz="3000" spc="-25" dirty="0">
                <a:solidFill>
                  <a:srgbClr val="000000"/>
                </a:solidFill>
              </a:rPr>
              <a:t>Iteration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377952" y="969263"/>
            <a:ext cx="8391525" cy="2685415"/>
            <a:chOff x="377952" y="969263"/>
            <a:chExt cx="8391525" cy="2685415"/>
          </a:xfrm>
        </p:grpSpPr>
        <p:sp>
          <p:nvSpPr>
            <p:cNvPr id="4" name="object 4"/>
            <p:cNvSpPr/>
            <p:nvPr/>
          </p:nvSpPr>
          <p:spPr>
            <a:xfrm>
              <a:off x="382524" y="973835"/>
              <a:ext cx="8382000" cy="2676525"/>
            </a:xfrm>
            <a:custGeom>
              <a:avLst/>
              <a:gdLst/>
              <a:ahLst/>
              <a:cxnLst/>
              <a:rect l="l" t="t" r="r" b="b"/>
              <a:pathLst>
                <a:path w="8382000" h="2676525">
                  <a:moveTo>
                    <a:pt x="8382000" y="0"/>
                  </a:moveTo>
                  <a:lnTo>
                    <a:pt x="0" y="0"/>
                  </a:lnTo>
                  <a:lnTo>
                    <a:pt x="0" y="2676144"/>
                  </a:lnTo>
                  <a:lnTo>
                    <a:pt x="8382000" y="2676144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2524" y="973835"/>
              <a:ext cx="8382000" cy="2676525"/>
            </a:xfrm>
            <a:custGeom>
              <a:avLst/>
              <a:gdLst/>
              <a:ahLst/>
              <a:cxnLst/>
              <a:rect l="l" t="t" r="r" b="b"/>
              <a:pathLst>
                <a:path w="8382000" h="2676525">
                  <a:moveTo>
                    <a:pt x="0" y="2676144"/>
                  </a:moveTo>
                  <a:lnTo>
                    <a:pt x="8382000" y="2676144"/>
                  </a:lnTo>
                  <a:lnTo>
                    <a:pt x="8382000" y="0"/>
                  </a:lnTo>
                  <a:lnTo>
                    <a:pt x="0" y="0"/>
                  </a:lnTo>
                  <a:lnTo>
                    <a:pt x="0" y="2676144"/>
                  </a:lnTo>
                  <a:close/>
                </a:path>
              </a:pathLst>
            </a:custGeom>
            <a:ln w="9144">
              <a:solidFill>
                <a:srgbClr val="66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0044" y="942350"/>
            <a:ext cx="7976870" cy="24561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6870" marR="5080" indent="-344805">
              <a:lnSpc>
                <a:spcPct val="130100"/>
              </a:lnSpc>
              <a:spcBef>
                <a:spcPts val="114"/>
              </a:spcBef>
              <a:buFont typeface="Arial MT"/>
              <a:buChar char="•"/>
              <a:tabLst>
                <a:tab pos="356870" algn="l"/>
                <a:tab pos="357505" algn="l"/>
                <a:tab pos="2698750" algn="l"/>
              </a:tabLst>
            </a:pPr>
            <a:r>
              <a:rPr sz="2450" spc="-105" dirty="0">
                <a:latin typeface="Calibri"/>
                <a:cs typeface="Calibri"/>
              </a:rPr>
              <a:t>“A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complex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system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will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most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successful </a:t>
            </a:r>
            <a:r>
              <a:rPr sz="2450" spc="-10" dirty="0">
                <a:latin typeface="Calibri"/>
                <a:cs typeface="Calibri"/>
              </a:rPr>
              <a:t>if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implemented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small steps… </a:t>
            </a:r>
            <a:r>
              <a:rPr sz="2450" dirty="0">
                <a:latin typeface="Calibri"/>
                <a:cs typeface="Calibri"/>
              </a:rPr>
              <a:t>“retreat” </a:t>
            </a:r>
            <a:r>
              <a:rPr sz="2450" spc="-15" dirty="0">
                <a:latin typeface="Calibri"/>
                <a:cs typeface="Calibri"/>
              </a:rPr>
              <a:t>to </a:t>
            </a:r>
            <a:r>
              <a:rPr sz="2450" dirty="0">
                <a:latin typeface="Calibri"/>
                <a:cs typeface="Calibri"/>
              </a:rPr>
              <a:t>a </a:t>
            </a:r>
            <a:r>
              <a:rPr sz="2450" spc="-5" dirty="0">
                <a:latin typeface="Calibri"/>
                <a:cs typeface="Calibri"/>
              </a:rPr>
              <a:t>previous successful </a:t>
            </a:r>
            <a:r>
              <a:rPr sz="2450" spc="-15" dirty="0">
                <a:latin typeface="Calibri"/>
                <a:cs typeface="Calibri"/>
              </a:rPr>
              <a:t>step </a:t>
            </a:r>
            <a:r>
              <a:rPr sz="2450" spc="-5" dirty="0">
                <a:latin typeface="Calibri"/>
                <a:cs typeface="Calibri"/>
              </a:rPr>
              <a:t>on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failure…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opportunity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</a:t>
            </a:r>
            <a:r>
              <a:rPr sz="2450" spc="-10" dirty="0">
                <a:latin typeface="Calibri"/>
                <a:cs typeface="Calibri"/>
              </a:rPr>
              <a:t> receive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some</a:t>
            </a:r>
            <a:r>
              <a:rPr sz="2450" spc="-10" dirty="0">
                <a:latin typeface="Calibri"/>
                <a:cs typeface="Calibri"/>
              </a:rPr>
              <a:t> feedback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from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5" dirty="0">
                <a:latin typeface="Calibri"/>
                <a:cs typeface="Calibri"/>
              </a:rPr>
              <a:t> real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world </a:t>
            </a:r>
            <a:r>
              <a:rPr sz="2450" spc="-20" dirty="0">
                <a:latin typeface="Calibri"/>
                <a:cs typeface="Calibri"/>
              </a:rPr>
              <a:t>before </a:t>
            </a:r>
            <a:r>
              <a:rPr sz="2450" spc="-10" dirty="0">
                <a:latin typeface="Calibri"/>
                <a:cs typeface="Calibri"/>
              </a:rPr>
              <a:t>throwing in </a:t>
            </a:r>
            <a:r>
              <a:rPr sz="2450" spc="-5" dirty="0">
                <a:latin typeface="Calibri"/>
                <a:cs typeface="Calibri"/>
              </a:rPr>
              <a:t>all resources… </a:t>
            </a:r>
            <a:r>
              <a:rPr sz="2450" dirty="0">
                <a:latin typeface="Calibri"/>
                <a:cs typeface="Calibri"/>
              </a:rPr>
              <a:t>and </a:t>
            </a:r>
            <a:r>
              <a:rPr sz="2450" spc="-15" dirty="0">
                <a:latin typeface="Calibri"/>
                <a:cs typeface="Calibri"/>
              </a:rPr>
              <a:t>you can </a:t>
            </a:r>
            <a:r>
              <a:rPr sz="2450" spc="-10" dirty="0">
                <a:latin typeface="Calibri"/>
                <a:cs typeface="Calibri"/>
              </a:rPr>
              <a:t>correct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possible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errors…”	</a:t>
            </a:r>
            <a:r>
              <a:rPr sz="2450" spc="-75" dirty="0">
                <a:solidFill>
                  <a:srgbClr val="0000FF"/>
                </a:solidFill>
                <a:latin typeface="Calibri"/>
                <a:cs typeface="Calibri"/>
              </a:rPr>
              <a:t>Tom</a:t>
            </a:r>
            <a:r>
              <a:rPr sz="245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Glib</a:t>
            </a:r>
            <a:r>
              <a:rPr sz="245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Metrics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57107" y="4793386"/>
            <a:ext cx="2540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100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2021</Words>
  <Application>Microsoft Office PowerPoint</Application>
  <PresentationFormat>Custom</PresentationFormat>
  <Paragraphs>455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Arial</vt:lpstr>
      <vt:lpstr>Arial Black</vt:lpstr>
      <vt:lpstr>Arial MT</vt:lpstr>
      <vt:lpstr>Calibri</vt:lpstr>
      <vt:lpstr>Comic Sans MS</vt:lpstr>
      <vt:lpstr>Symbol</vt:lpstr>
      <vt:lpstr>Times New Roman</vt:lpstr>
      <vt:lpstr>Tw Cen MT</vt:lpstr>
      <vt:lpstr>Tw Cen MT Condensed</vt:lpstr>
      <vt:lpstr>Wingdings</vt:lpstr>
      <vt:lpstr>Wingdings 3</vt:lpstr>
      <vt:lpstr>Integral</vt:lpstr>
      <vt:lpstr>Maintenance</vt:lpstr>
      <vt:lpstr>Types of Maintenance?</vt:lpstr>
      <vt:lpstr>Iterative Waterfall Model</vt:lpstr>
      <vt:lpstr>Iterative Waterfall Model (CONT.)</vt:lpstr>
      <vt:lpstr>Iterative Waterfall Model (CONT.)</vt:lpstr>
      <vt:lpstr>Iterative Waterfall Model (CONT.)</vt:lpstr>
      <vt:lpstr>Phase Containment of Errors (Cont...)</vt:lpstr>
      <vt:lpstr>Phase Containment of Errors</vt:lpstr>
      <vt:lpstr>Iterative Waterfall Model (CONT.)</vt:lpstr>
      <vt:lpstr>Waterfall Strengths</vt:lpstr>
      <vt:lpstr>Waterfall Deficiencies</vt:lpstr>
      <vt:lpstr>When to use the Waterfall Model?</vt:lpstr>
      <vt:lpstr>Classical Waterfall Model (CONT.)</vt:lpstr>
      <vt:lpstr>Classical Waterfall Model (CONT.)</vt:lpstr>
      <vt:lpstr>V Model</vt:lpstr>
      <vt:lpstr>V Model</vt:lpstr>
      <vt:lpstr> Project Planning</vt:lpstr>
      <vt:lpstr>V Model Steps</vt:lpstr>
      <vt:lpstr>V Model: Strengths</vt:lpstr>
      <vt:lpstr>V Model Weaknesses</vt:lpstr>
      <vt:lpstr>When to use V Model</vt:lpstr>
      <vt:lpstr>Prototyping Model</vt:lpstr>
      <vt:lpstr>Prototyping Model</vt:lpstr>
      <vt:lpstr>Reasons for prototyping</vt:lpstr>
      <vt:lpstr>Reasons for Developing a Prototype</vt:lpstr>
      <vt:lpstr>Prototyping Model (CONT.)</vt:lpstr>
      <vt:lpstr>Prototyping Model</vt:lpstr>
      <vt:lpstr>Prototyping Model (CONT.)</vt:lpstr>
      <vt:lpstr>Prototyping Model (CONT.)</vt:lpstr>
      <vt:lpstr>Prototyping Model</vt:lpstr>
      <vt:lpstr>Prototyping Model (CONT.)</vt:lpstr>
      <vt:lpstr>Prototyping: advantages</vt:lpstr>
      <vt:lpstr>Prototyping: disadvantages</vt:lpstr>
      <vt:lpstr>1. Difficulty in accommodating change requests during  development.</vt:lpstr>
      <vt:lpstr>PowerPoint Presentation</vt:lpstr>
      <vt:lpstr>“… the assumption that one can specify a satisfactory  system in advance, get bids for its construction, have  it built, and install it. …this assumption is  fundamentally wrong and many software acquisition  problems spring from this…” Frederick Brooks</vt:lpstr>
      <vt:lpstr>Incremental Model</vt:lpstr>
      <vt:lpstr>PowerPoint Presentation</vt:lpstr>
      <vt:lpstr>PowerPoint Presentation</vt:lpstr>
      <vt:lpstr>Customer’s Perspective</vt:lpstr>
      <vt:lpstr>Incremental Model</vt:lpstr>
      <vt:lpstr>Incremental Model: Requirements</vt:lpstr>
      <vt:lpstr>Incremental Model</vt:lpstr>
      <vt:lpstr>Incremental delivery</vt:lpstr>
      <vt:lpstr>The  incremental  process</vt:lpstr>
      <vt:lpstr>Which step first?</vt:lpstr>
      <vt:lpstr>V/C ratios: an example</vt:lpstr>
      <vt:lpstr>Evolutionary Model  with Iterations</vt:lpstr>
      <vt:lpstr>An Evolutionary and Iterative Development Process...</vt:lpstr>
      <vt:lpstr>Evolutionary Model with Iteration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</dc:title>
  <dc:creator>santosh</dc:creator>
  <cp:lastModifiedBy>santosh</cp:lastModifiedBy>
  <cp:revision>1</cp:revision>
  <dcterms:created xsi:type="dcterms:W3CDTF">2023-08-10T04:08:59Z</dcterms:created>
  <dcterms:modified xsi:type="dcterms:W3CDTF">2023-08-10T04:11:28Z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2023-08-10T00:00:00Z</vt:filetime>
  </property>
</Properties>
</file>