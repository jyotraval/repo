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474" r:id="rId2"/>
    <p:sldId id="469" r:id="rId3"/>
    <p:sldId id="488" r:id="rId4"/>
    <p:sldId id="472" r:id="rId5"/>
    <p:sldId id="256" r:id="rId6"/>
    <p:sldId id="317" r:id="rId7"/>
    <p:sldId id="258" r:id="rId8"/>
    <p:sldId id="259" r:id="rId9"/>
    <p:sldId id="260" r:id="rId10"/>
    <p:sldId id="614" r:id="rId11"/>
    <p:sldId id="615" r:id="rId12"/>
    <p:sldId id="616" r:id="rId13"/>
    <p:sldId id="617" r:id="rId14"/>
    <p:sldId id="618" r:id="rId15"/>
    <p:sldId id="619" r:id="rId16"/>
    <p:sldId id="620" r:id="rId17"/>
    <p:sldId id="621" r:id="rId18"/>
    <p:sldId id="622" r:id="rId19"/>
    <p:sldId id="623" r:id="rId20"/>
    <p:sldId id="624" r:id="rId21"/>
    <p:sldId id="625" r:id="rId22"/>
    <p:sldId id="626" r:id="rId23"/>
    <p:sldId id="627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47" autoAdjust="0"/>
    <p:restoredTop sz="90056" autoAdjust="0"/>
  </p:normalViewPr>
  <p:slideViewPr>
    <p:cSldViewPr>
      <p:cViewPr varScale="1">
        <p:scale>
          <a:sx n="82" d="100"/>
          <a:sy n="82" d="100"/>
        </p:scale>
        <p:origin x="132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F9673B-F029-4EB6-981F-6118A75E367B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F8E48-716F-463C-9A2D-BA57804D2BA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210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483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62F1F-95C1-45CA-84F0-B138AAEBAF81}" type="datetime1">
              <a:rPr lang="en-IN" smtClean="0"/>
              <a:t>21-07-2026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21-07-2026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60D6-FD85-46FC-B621-90CF24064286}" type="datetime1">
              <a:rPr lang="en-IN" smtClean="0"/>
              <a:t>21-07-2026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D685E-EC22-4A30-9C5A-5527B3C4452F}" type="datetime1">
              <a:rPr lang="en-IN" smtClean="0"/>
              <a:t>21-07-2026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A1E3-69D8-4A03-B392-4B3DA43B89F5}" type="datetime1">
              <a:rPr lang="en-IN" smtClean="0"/>
              <a:t>21-07-2026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0FA67-6AED-47ED-98CB-817068A34CDD}" type="datetime1">
              <a:rPr lang="en-IN" smtClean="0"/>
              <a:t>21-07-2026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EBA68-83D6-4A7C-9443-03C3BAB145F5}" type="datetime1">
              <a:rPr lang="en-IN" smtClean="0"/>
              <a:t>21-07-2026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F257B-BAD3-4E20-B0B4-3EA4E039C483}" type="datetime1">
              <a:rPr lang="en-IN" smtClean="0"/>
              <a:t>21-07-2026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1437-D38A-47BA-AECD-4B3F5E59E416}" type="datetime1">
              <a:rPr lang="en-IN" smtClean="0"/>
              <a:t>21-07-2026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ACA0-1FF6-43FE-9E2F-4E13179A1744}" type="datetime1">
              <a:rPr lang="en-IN" smtClean="0"/>
              <a:t>21-07-2026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CC08-E355-4133-96C3-E543032B013A}" type="datetime1">
              <a:rPr lang="en-IN" smtClean="0"/>
              <a:t>21-07-2026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5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bg2"/>
                </a:solidFill>
              </a:defRPr>
            </a:lvl1pPr>
          </a:lstStyle>
          <a:p>
            <a:fld id="{9034A2FE-D172-435F-AA4B-518E3133ACED}" type="datetime1">
              <a:rPr lang="en-IN" smtClean="0"/>
              <a:t>21-07-2026</a:t>
            </a:fld>
            <a:endParaRPr lang="en-US"/>
          </a:p>
        </p:txBody>
      </p:sp>
      <p:sp>
        <p:nvSpPr>
          <p:cNvPr id="29185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291856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fld id="{34829615-EA85-47CB-9745-0124BEE5BE2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91859" name="Rectangle 19"/>
          <p:cNvSpPr>
            <a:spLocks noChangeArrowheads="1"/>
          </p:cNvSpPr>
          <p:nvPr userDrawn="1"/>
        </p:nvSpPr>
        <p:spPr bwMode="gray">
          <a:xfrm>
            <a:off x="114300" y="2830513"/>
            <a:ext cx="8890000" cy="42862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1" lang="en-US" sz="2400"/>
          </a:p>
        </p:txBody>
      </p:sp>
      <p:sp>
        <p:nvSpPr>
          <p:cNvPr id="291860" name="Rectangle 20"/>
          <p:cNvSpPr>
            <a:spLocks noChangeArrowheads="1"/>
          </p:cNvSpPr>
          <p:nvPr userDrawn="1"/>
        </p:nvSpPr>
        <p:spPr bwMode="gray">
          <a:xfrm>
            <a:off x="122238" y="4167188"/>
            <a:ext cx="8890000" cy="4286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hlink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1" lang="en-US" sz="2400"/>
          </a:p>
        </p:txBody>
      </p:sp>
    </p:spTree>
    <p:extLst>
      <p:ext uri="{BB962C8B-B14F-4D97-AF65-F5344CB8AC3E}">
        <p14:creationId xmlns:p14="http://schemas.microsoft.com/office/powerpoint/2010/main" val="3328958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ADB42-1EA6-48BD-91C6-255795457A8A}" type="datetime1">
              <a:rPr lang="en-IN" smtClean="0"/>
              <a:t>21-07-2026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view/dl4nlp-nptel/home" TargetMode="External"/><Relationship Id="rId2" Type="http://schemas.openxmlformats.org/officeDocument/2006/relationships/hyperlink" Target="https://nptel.ac.in/courses/108105572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4ABEA-BDC3-2120-8281-B22F09EFA2C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E8810AA-E5FB-460E-942C-C27A9A3AE343}" type="datetime1">
              <a:rPr lang="en-IN" smtClean="0"/>
              <a:t>21-07-2026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A8607D-C84B-CCA0-EA1A-4A2C48DEE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66938" y="4495800"/>
            <a:ext cx="4919662" cy="1121786"/>
          </a:xfrm>
        </p:spPr>
        <p:txBody>
          <a:bodyPr/>
          <a:lstStyle/>
          <a:p>
            <a:r>
              <a:rPr lang="en-US" sz="2400" dirty="0">
                <a:solidFill>
                  <a:srgbClr val="00B050"/>
                </a:solidFill>
              </a:rPr>
              <a:t>Dr. Jigar Shah</a:t>
            </a:r>
          </a:p>
          <a:p>
            <a:r>
              <a:rPr lang="en-US" sz="2400" dirty="0">
                <a:solidFill>
                  <a:srgbClr val="00B050"/>
                </a:solidFill>
              </a:rPr>
              <a:t> (Asst. Prof., ICT, PDEU, Gandhinagar)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EC276-6BC7-413A-A5B4-111DE2230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829615-EA85-47CB-9745-0124BEE5BE2A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2A28BB-0490-8F52-656F-F58CA031F6CF}"/>
              </a:ext>
            </a:extLst>
          </p:cNvPr>
          <p:cNvSpPr txBox="1"/>
          <p:nvPr/>
        </p:nvSpPr>
        <p:spPr>
          <a:xfrm>
            <a:off x="190500" y="3136612"/>
            <a:ext cx="876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</a:rPr>
              <a:t>NATURAL LANGUAGE PROCESSING (20IC403T)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685A48-2DDE-6ACA-3346-DAC0DB8CE44D}"/>
              </a:ext>
            </a:extLst>
          </p:cNvPr>
          <p:cNvSpPr txBox="1"/>
          <p:nvPr/>
        </p:nvSpPr>
        <p:spPr>
          <a:xfrm>
            <a:off x="3824006" y="1600200"/>
            <a:ext cx="1756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rgbClr val="002060"/>
                </a:solidFill>
              </a:rPr>
              <a:t>ICT - Semester 7 </a:t>
            </a:r>
          </a:p>
        </p:txBody>
      </p:sp>
    </p:spTree>
    <p:extLst>
      <p:ext uri="{BB962C8B-B14F-4D97-AF65-F5344CB8AC3E}">
        <p14:creationId xmlns:p14="http://schemas.microsoft.com/office/powerpoint/2010/main" val="38619077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80527" y="92075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Syllabus: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2BAD23-5DCC-7352-4BBE-2156B7236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A368-42C6-443E-B0FE-E76D4816599A}" type="datetime1">
              <a:rPr lang="en-IN" smtClean="0"/>
              <a:t>21-07-2026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1020B-AD85-4DFE-8C63-049E7CB43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F8170-1EFE-F0A4-FFA3-40BE43926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CFBF831-37D7-AEBB-07F3-7E60A74A4F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867516"/>
              </p:ext>
            </p:extLst>
          </p:nvPr>
        </p:nvGraphicFramePr>
        <p:xfrm>
          <a:off x="685800" y="685800"/>
          <a:ext cx="7619999" cy="56912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9019">
                  <a:extLst>
                    <a:ext uri="{9D8B030D-6E8A-4147-A177-3AD203B41FA5}">
                      <a16:colId xmlns:a16="http://schemas.microsoft.com/office/drawing/2014/main" val="1873496378"/>
                    </a:ext>
                  </a:extLst>
                </a:gridCol>
                <a:gridCol w="391847">
                  <a:extLst>
                    <a:ext uri="{9D8B030D-6E8A-4147-A177-3AD203B41FA5}">
                      <a16:colId xmlns:a16="http://schemas.microsoft.com/office/drawing/2014/main" val="1140868698"/>
                    </a:ext>
                  </a:extLst>
                </a:gridCol>
                <a:gridCol w="392608">
                  <a:extLst>
                    <a:ext uri="{9D8B030D-6E8A-4147-A177-3AD203B41FA5}">
                      <a16:colId xmlns:a16="http://schemas.microsoft.com/office/drawing/2014/main" val="3928637259"/>
                    </a:ext>
                  </a:extLst>
                </a:gridCol>
                <a:gridCol w="392608">
                  <a:extLst>
                    <a:ext uri="{9D8B030D-6E8A-4147-A177-3AD203B41FA5}">
                      <a16:colId xmlns:a16="http://schemas.microsoft.com/office/drawing/2014/main" val="2546068004"/>
                    </a:ext>
                  </a:extLst>
                </a:gridCol>
                <a:gridCol w="922170">
                  <a:extLst>
                    <a:ext uri="{9D8B030D-6E8A-4147-A177-3AD203B41FA5}">
                      <a16:colId xmlns:a16="http://schemas.microsoft.com/office/drawing/2014/main" val="374660513"/>
                    </a:ext>
                  </a:extLst>
                </a:gridCol>
                <a:gridCol w="706844">
                  <a:extLst>
                    <a:ext uri="{9D8B030D-6E8A-4147-A177-3AD203B41FA5}">
                      <a16:colId xmlns:a16="http://schemas.microsoft.com/office/drawing/2014/main" val="3849215514"/>
                    </a:ext>
                  </a:extLst>
                </a:gridCol>
                <a:gridCol w="707606">
                  <a:extLst>
                    <a:ext uri="{9D8B030D-6E8A-4147-A177-3AD203B41FA5}">
                      <a16:colId xmlns:a16="http://schemas.microsoft.com/office/drawing/2014/main" val="3062614127"/>
                    </a:ext>
                  </a:extLst>
                </a:gridCol>
                <a:gridCol w="707606">
                  <a:extLst>
                    <a:ext uri="{9D8B030D-6E8A-4147-A177-3AD203B41FA5}">
                      <a16:colId xmlns:a16="http://schemas.microsoft.com/office/drawing/2014/main" val="2484369881"/>
                    </a:ext>
                  </a:extLst>
                </a:gridCol>
                <a:gridCol w="716735">
                  <a:extLst>
                    <a:ext uri="{9D8B030D-6E8A-4147-A177-3AD203B41FA5}">
                      <a16:colId xmlns:a16="http://schemas.microsoft.com/office/drawing/2014/main" val="732236117"/>
                    </a:ext>
                  </a:extLst>
                </a:gridCol>
                <a:gridCol w="716735">
                  <a:extLst>
                    <a:ext uri="{9D8B030D-6E8A-4147-A177-3AD203B41FA5}">
                      <a16:colId xmlns:a16="http://schemas.microsoft.com/office/drawing/2014/main" val="4225929057"/>
                    </a:ext>
                  </a:extLst>
                </a:gridCol>
                <a:gridCol w="1224235">
                  <a:extLst>
                    <a:ext uri="{9D8B030D-6E8A-4147-A177-3AD203B41FA5}">
                      <a16:colId xmlns:a16="http://schemas.microsoft.com/office/drawing/2014/main" val="3038043615"/>
                    </a:ext>
                  </a:extLst>
                </a:gridCol>
                <a:gridCol w="161986">
                  <a:extLst>
                    <a:ext uri="{9D8B030D-6E8A-4147-A177-3AD203B41FA5}">
                      <a16:colId xmlns:a16="http://schemas.microsoft.com/office/drawing/2014/main" val="2968544574"/>
                    </a:ext>
                  </a:extLst>
                </a:gridCol>
              </a:tblGrid>
              <a:tr h="248724">
                <a:tc gridSpan="12">
                  <a:txBody>
                    <a:bodyPr/>
                    <a:lstStyle/>
                    <a:p>
                      <a:pPr marL="6667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UNIT-1: OVERVIEW OF NLP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1510" marR="41510" marT="41510" marB="4151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444691"/>
                  </a:ext>
                </a:extLst>
              </a:tr>
              <a:tr h="873384">
                <a:tc gridSpan="12">
                  <a:txBody>
                    <a:bodyPr/>
                    <a:lstStyle/>
                    <a:p>
                      <a:pPr marL="66675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Basics of Speech Processing; Place and Manner of Articulation; Word Boundary Detection; Argmax based computations; HMM and Speech Recognition, Language Structure and Analyzer - Overview of language, requirement of computational grammar. Words and their Analysis. Tokenization. Stemming. Morphological Analysis. POS tagging.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1510" marR="41510" marT="41510" marB="4151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497764"/>
                  </a:ext>
                </a:extLst>
              </a:tr>
              <a:tr h="248724">
                <a:tc gridSpan="12">
                  <a:txBody>
                    <a:bodyPr/>
                    <a:lstStyle/>
                    <a:p>
                      <a:pPr marL="6667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UNIT 2 </a:t>
                      </a:r>
                      <a:r>
                        <a:rPr lang="en-IN" sz="1200">
                          <a:effectLst/>
                        </a:rPr>
                        <a:t>CORPUS AND DATASETS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1510" marR="41510" marT="41510" marB="4151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666597"/>
                  </a:ext>
                </a:extLst>
              </a:tr>
              <a:tr h="717220">
                <a:tc gridSpan="12">
                  <a:txBody>
                    <a:bodyPr/>
                    <a:lstStyle/>
                    <a:p>
                      <a:pPr marL="66675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Corpus, need for corpus, corpus analysis, types of data attributes, Categorical or qualitative data attributes, Numeric or quantitative data attributes, different file formats for corpora, dataset preparation for NLP applications.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1510" marR="41510" marT="41510" marB="4151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543408"/>
                  </a:ext>
                </a:extLst>
              </a:tr>
              <a:tr h="248724">
                <a:tc gridSpan="12">
                  <a:txBody>
                    <a:bodyPr/>
                    <a:lstStyle/>
                    <a:p>
                      <a:pPr marL="6667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UNIT 3 </a:t>
                      </a:r>
                      <a:r>
                        <a:rPr lang="en-IN" sz="1200">
                          <a:effectLst/>
                        </a:rPr>
                        <a:t>SENTENCE STRUCTURE AND PROCESSING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1510" marR="41510" marT="41510" marB="4151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5958185"/>
                  </a:ext>
                </a:extLst>
              </a:tr>
              <a:tr h="561054">
                <a:tc gridSpan="12">
                  <a:txBody>
                    <a:bodyPr/>
                    <a:lstStyle/>
                    <a:p>
                      <a:pPr marL="66675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NLP components, understanding, Morphological analysis, syntactic analysis, Semantic analysis, ambiguity handling, pragmatic analysis, Handling corpus-raw text, sentences, pre-processing.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1510" marR="41510" marT="41510" marB="4151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452394"/>
                  </a:ext>
                </a:extLst>
              </a:tr>
              <a:tr h="248724">
                <a:tc gridSpan="12">
                  <a:txBody>
                    <a:bodyPr/>
                    <a:lstStyle/>
                    <a:p>
                      <a:pPr marL="6667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UNIT 4 </a:t>
                      </a:r>
                      <a:r>
                        <a:rPr lang="en-IN" sz="1200">
                          <a:effectLst/>
                        </a:rPr>
                        <a:t>FEATURE EXTRACTION AND ADVANCED ALGORITHMS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1510" marR="41510" marT="41510" marB="4151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207787"/>
                  </a:ext>
                </a:extLst>
              </a:tr>
              <a:tr h="1029550">
                <a:tc gridSpan="12">
                  <a:txBody>
                    <a:bodyPr/>
                    <a:lstStyle/>
                    <a:p>
                      <a:pPr marL="66675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Parsers and parsing, POS tagging and POS taggers, Name entity recognition, n-grams, bag of words, semantic tools and resources, probabilistic theory for NLP, TF-IDF, Vectorization, Encoders and decoders, normalization, Recall word embedding, Algorithms used by neural networks, Rule-Based System for NLP, Machine Learning for NLP Problems, Deep learning for NLP, case studies.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1510" marR="41510" marT="41510" marB="4151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880142"/>
                  </a:ext>
                </a:extLst>
              </a:tr>
              <a:tr h="682701">
                <a:tc gridSpan="12">
                  <a:txBody>
                    <a:bodyPr/>
                    <a:lstStyle/>
                    <a:p>
                      <a:pPr marL="6667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Some of the above topics would be covered through the associated laboratory course. </a:t>
                      </a:r>
                      <a:endParaRPr lang="en-IN" sz="1100">
                        <a:effectLst/>
                      </a:endParaRPr>
                    </a:p>
                    <a:p>
                      <a:pPr marL="6667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Teaching Scheme: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1510" marR="41510" marT="41510" marB="4151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024542"/>
                  </a:ext>
                </a:extLst>
              </a:tr>
              <a:tr h="161030">
                <a:tc rowSpan="2">
                  <a:txBody>
                    <a:bodyPr/>
                    <a:lstStyle/>
                    <a:p>
                      <a:pPr marL="666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831" marR="44831" marT="0" marB="0" anchor="ctr"/>
                </a:tc>
                <a:tc rowSpan="2">
                  <a:txBody>
                    <a:bodyPr/>
                    <a:lstStyle/>
                    <a:p>
                      <a:pPr marL="666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831" marR="44831" marT="0" marB="0" anchor="ctr"/>
                </a:tc>
                <a:tc rowSpan="2">
                  <a:txBody>
                    <a:bodyPr/>
                    <a:lstStyle/>
                    <a:p>
                      <a:pPr marL="666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P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831" marR="44831" marT="0" marB="0" anchor="ctr"/>
                </a:tc>
                <a:tc rowSpan="2">
                  <a:txBody>
                    <a:bodyPr/>
                    <a:lstStyle/>
                    <a:p>
                      <a:pPr marL="666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C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831" marR="44831" marT="0" marB="0" anchor="ctr"/>
                </a:tc>
                <a:tc rowSpan="2">
                  <a:txBody>
                    <a:bodyPr/>
                    <a:lstStyle/>
                    <a:p>
                      <a:pPr marL="666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Hrs./Week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831" marR="44831" marT="0" marB="0" anchor="ctr"/>
                </a:tc>
                <a:tc gridSpan="3">
                  <a:txBody>
                    <a:bodyPr/>
                    <a:lstStyle/>
                    <a:p>
                      <a:pPr marL="666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Theory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831" marR="44831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666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Practical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831" marR="44831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666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Total Marks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831" marR="44831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62728902"/>
                  </a:ext>
                </a:extLst>
              </a:tr>
              <a:tr h="40409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MS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831" marR="44831" marT="0" marB="0" anchor="ctr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831" marR="44831" marT="0" marB="0" anchor="ctr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IA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831" marR="44831" marT="0" marB="0" anchor="ctr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LW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831" marR="44831" marT="0" marB="0" anchor="ctr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LE/Viva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831" marR="44831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05515349"/>
                  </a:ext>
                </a:extLst>
              </a:tr>
              <a:tr h="138665">
                <a:tc>
                  <a:txBody>
                    <a:bodyPr/>
                    <a:lstStyle/>
                    <a:p>
                      <a:pPr marL="666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831" marR="44831" marT="0" marB="0" anchor="ctr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831" marR="44831" marT="0" marB="0" anchor="ctr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831" marR="44831" marT="0" marB="0" anchor="ctr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831" marR="44831" marT="0" marB="0" anchor="ctr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831" marR="44831" marT="0" marB="0" anchor="ctr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25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831" marR="44831" marT="0" marB="0" anchor="ctr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50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831" marR="44831" marT="0" marB="0" anchor="ctr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25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831" marR="44831" marT="0" marB="0" anchor="ctr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--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831" marR="44831" marT="0" marB="0" anchor="ctr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--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831" marR="44831" marT="0" marB="0" anchor="ctr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100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831" marR="44831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13125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1478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AF22E-A8AD-5F8F-0AF6-F77ADA46F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Pre-requisite</a:t>
            </a:r>
            <a:r>
              <a:rPr lang="en-IN" sz="4400" b="1" dirty="0">
                <a:solidFill>
                  <a:srgbClr val="FF0000"/>
                </a:solidFill>
              </a:rPr>
              <a:t>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D41E7-9294-B9F0-4FA9-E2EF3A057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dirty="0">
                <a:solidFill>
                  <a:srgbClr val="00B050"/>
                </a:solidFill>
              </a:rPr>
              <a:t>Probability and Statistics</a:t>
            </a:r>
          </a:p>
          <a:p>
            <a:pPr lvl="1"/>
            <a:r>
              <a:rPr lang="en-IN" dirty="0">
                <a:solidFill>
                  <a:srgbClr val="00B050"/>
                </a:solidFill>
              </a:rPr>
              <a:t>Machine Learning</a:t>
            </a:r>
          </a:p>
          <a:p>
            <a:pPr lvl="1"/>
            <a:r>
              <a:rPr lang="en-IN" dirty="0">
                <a:solidFill>
                  <a:srgbClr val="00B050"/>
                </a:solidFill>
              </a:rPr>
              <a:t>Deep Learning</a:t>
            </a:r>
          </a:p>
          <a:p>
            <a:pPr marL="457200" lvl="1" indent="0">
              <a:buNone/>
            </a:pPr>
            <a:endParaRPr lang="en-IN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FF0000"/>
                </a:solidFill>
              </a:rPr>
              <a:t>Some Topics are covered here at required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3FE5B-5F68-8051-F9FE-A9FA7251B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21-07-2026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0F9A5-09A7-DB2E-9D9F-21D34E21D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E9DE8-266A-39B3-16BD-2C5655F35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727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622F9-07AC-C8AA-8388-D126FCDE8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693"/>
            <a:ext cx="8229600" cy="1143000"/>
          </a:xfrm>
        </p:spPr>
        <p:txBody>
          <a:bodyPr>
            <a:normAutofit/>
          </a:bodyPr>
          <a:lstStyle/>
          <a:p>
            <a:r>
              <a:rPr lang="en-IN" sz="4200" b="1" dirty="0">
                <a:solidFill>
                  <a:srgbClr val="FF0000"/>
                </a:solidFill>
              </a:rPr>
              <a:t>Reference Books (Theory):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9863C-144C-3302-280F-B3BD8140F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02969"/>
            <a:ext cx="8644812" cy="1713165"/>
          </a:xfrm>
        </p:spPr>
        <p:txBody>
          <a:bodyPr>
            <a:normAutofit fontScale="55000" lnSpcReduction="20000"/>
          </a:bodyPr>
          <a:lstStyle/>
          <a:p>
            <a:pPr marL="342900" lvl="3" indent="-342900" algn="just">
              <a:spcAft>
                <a:spcPts val="800"/>
              </a:spcAft>
              <a:buFont typeface="Arial" pitchFamily="34" charset="0"/>
              <a:buChar char="•"/>
            </a:pPr>
            <a:r>
              <a:rPr lang="en-IN" sz="3200" dirty="0" err="1"/>
              <a:t>Jurafsky</a:t>
            </a:r>
            <a:r>
              <a:rPr lang="en-IN" sz="3200" dirty="0"/>
              <a:t>, Daniel, and James H. Martin, Speech and Language Processing: An Introduction to Natural Language Processing, Speech Recognition, and Computational Linguistics, Prentice Hall. 2026 Edition.</a:t>
            </a:r>
          </a:p>
          <a:p>
            <a:pPr algn="just"/>
            <a:r>
              <a:rPr lang="en-US" sz="3300" dirty="0"/>
              <a:t>Yoav Goldberg, Graeme Hirst. Neural Network Methods in Natural Language </a:t>
            </a:r>
            <a:r>
              <a:rPr lang="en-IN" sz="3300" dirty="0"/>
              <a:t>Processing, Morgan &amp; Claypool Publishers.</a:t>
            </a:r>
          </a:p>
          <a:p>
            <a:pPr algn="just"/>
            <a:r>
              <a:rPr lang="en-IN" sz="3300" dirty="0"/>
              <a:t>Kamath, Uday, et al. Large Language Models: A Deep Dive.</a:t>
            </a:r>
          </a:p>
          <a:p>
            <a:pPr marL="457200" lvl="3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IN" sz="320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67359-D01E-14D9-6D3E-D923EF605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21-07-2026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19723-4A9C-B1F0-3CCD-A22E1F35C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AEE55-61E0-9E7B-699D-595BC39BB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3F5C05-218D-C5A7-3D24-F59BE766B1D3}"/>
              </a:ext>
            </a:extLst>
          </p:cNvPr>
          <p:cNvSpPr txBox="1"/>
          <p:nvPr/>
        </p:nvSpPr>
        <p:spPr>
          <a:xfrm>
            <a:off x="533400" y="4343400"/>
            <a:ext cx="815340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2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Online Video Course and Support Materials: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NPTEL Course: Deep Learning for Natural Language Processing, IIT Kharagpur, Prof. Pawan Goyal</a:t>
            </a:r>
            <a:endParaRPr lang="en-US" sz="2000" b="1" dirty="0">
              <a:hlinkClick r:id="rId2"/>
            </a:endParaRP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2000" dirty="0">
                <a:hlinkClick r:id="rId2"/>
              </a:rPr>
              <a:t>https://nptel.ac.in/courses/108105572</a:t>
            </a:r>
            <a:endParaRPr lang="en-US" sz="2000" dirty="0"/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IN" dirty="0">
                <a:hlinkClick r:id="rId3"/>
              </a:rPr>
              <a:t>https://sites.google.com/view/dl4nlp-nptel/home</a:t>
            </a:r>
            <a:endParaRPr lang="en-IN" dirty="0"/>
          </a:p>
          <a:p>
            <a:pPr marL="571500" indent="-571500" algn="ctr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D519CB4-8EBB-1110-DDF4-A2154048CE01}"/>
              </a:ext>
            </a:extLst>
          </p:cNvPr>
          <p:cNvSpPr txBox="1">
            <a:spLocks/>
          </p:cNvSpPr>
          <p:nvPr/>
        </p:nvSpPr>
        <p:spPr>
          <a:xfrm>
            <a:off x="457200" y="2379768"/>
            <a:ext cx="8458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5400" b="1" dirty="0">
                <a:solidFill>
                  <a:srgbClr val="FF0000"/>
                </a:solidFill>
              </a:rPr>
              <a:t>Reference Book (Hands-on Practical):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6B7B342-07F7-F812-AC27-DCD3E1A8CD14}"/>
              </a:ext>
            </a:extLst>
          </p:cNvPr>
          <p:cNvSpPr txBox="1">
            <a:spLocks/>
          </p:cNvSpPr>
          <p:nvPr/>
        </p:nvSpPr>
        <p:spPr>
          <a:xfrm>
            <a:off x="455645" y="3366908"/>
            <a:ext cx="8458200" cy="1371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dirty="0"/>
              <a:t>Bird, Steven, Ewan Klein, and Edward Loper. Natural language processing with Python: </a:t>
            </a:r>
            <a:r>
              <a:rPr lang="en-IN" dirty="0" err="1"/>
              <a:t>analyzing</a:t>
            </a:r>
            <a:r>
              <a:rPr lang="en-IN" dirty="0"/>
              <a:t> text with the natural language toolkit. O'Reilly Media, Inc.</a:t>
            </a:r>
          </a:p>
          <a:p>
            <a:pPr algn="just"/>
            <a:r>
              <a:rPr lang="en-IN" dirty="0" err="1"/>
              <a:t>Thanaki</a:t>
            </a:r>
            <a:r>
              <a:rPr lang="en-IN" dirty="0"/>
              <a:t>, Jalaj. Python natural language processing. </a:t>
            </a:r>
            <a:r>
              <a:rPr lang="en-IN" dirty="0" err="1"/>
              <a:t>Packt</a:t>
            </a:r>
            <a:r>
              <a:rPr lang="en-IN" dirty="0"/>
              <a:t> Publishing Ltd. </a:t>
            </a:r>
          </a:p>
          <a:p>
            <a:r>
              <a:rPr lang="en-US" dirty="0" err="1"/>
              <a:t>Alammar</a:t>
            </a:r>
            <a:r>
              <a:rPr lang="en-US" dirty="0"/>
              <a:t>, J., &amp; Grootendorst, M. Hands-On Large Language Models, </a:t>
            </a:r>
            <a:r>
              <a:rPr lang="en-IN" dirty="0"/>
              <a:t>O'Reilly.</a:t>
            </a:r>
          </a:p>
        </p:txBody>
      </p:sp>
    </p:spTree>
    <p:extLst>
      <p:ext uri="{BB962C8B-B14F-4D97-AF65-F5344CB8AC3E}">
        <p14:creationId xmlns:p14="http://schemas.microsoft.com/office/powerpoint/2010/main" val="332002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/>
          <p:cNvSpPr>
            <a:spLocks noGrp="1" noChangeArrowheads="1"/>
          </p:cNvSpPr>
          <p:nvPr>
            <p:ph type="ctrTitle" idx="4294967295"/>
          </p:nvPr>
        </p:nvSpPr>
        <p:spPr bwMode="auto">
          <a:xfrm>
            <a:off x="228601" y="2781299"/>
            <a:ext cx="8915399" cy="129540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>
            <a:normAutofit fontScale="90000"/>
          </a:bodyPr>
          <a:lstStyle/>
          <a:p>
            <a:r>
              <a:rPr lang="en-US" b="1" dirty="0"/>
              <a:t>UNIT 1</a:t>
            </a:r>
            <a:br>
              <a:rPr lang="en-US" sz="3600" dirty="0"/>
            </a:br>
            <a:r>
              <a:rPr lang="en-US" sz="3300" dirty="0"/>
              <a:t> </a:t>
            </a:r>
            <a:r>
              <a:rPr lang="en-IN" b="1" dirty="0"/>
              <a:t>OVERVIEW OF NLP</a:t>
            </a:r>
            <a:endParaRPr lang="en-US" sz="36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4ABEA-BDC3-2120-8281-B22F09EFA2C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E8810AA-E5FB-460E-942C-C27A9A3AE343}" type="datetime1">
              <a:rPr lang="en-IN" smtClean="0"/>
              <a:t>21-07-2026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A8607D-C84B-CCA0-EA1A-4A2C48DEE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66938" y="4495800"/>
            <a:ext cx="4919662" cy="1121786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Dr. Jigar Shah</a:t>
            </a:r>
          </a:p>
          <a:p>
            <a:r>
              <a:rPr lang="en-US" dirty="0">
                <a:solidFill>
                  <a:srgbClr val="FF0000"/>
                </a:solidFill>
              </a:rPr>
              <a:t> (Asst. Prof., ICT, PDEU, Gandhinagar)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EC276-6BC7-413A-A5B4-111DE2230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829615-EA85-47CB-9745-0124BEE5BE2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2A28BB-0490-8F52-656F-F58CA031F6CF}"/>
              </a:ext>
            </a:extLst>
          </p:cNvPr>
          <p:cNvSpPr txBox="1"/>
          <p:nvPr/>
        </p:nvSpPr>
        <p:spPr>
          <a:xfrm>
            <a:off x="1524000" y="993632"/>
            <a:ext cx="6324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NATURAL LANGUAGE PROCESSING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685A48-2DDE-6ACA-3346-DAC0DB8CE44D}"/>
              </a:ext>
            </a:extLst>
          </p:cNvPr>
          <p:cNvSpPr txBox="1"/>
          <p:nvPr/>
        </p:nvSpPr>
        <p:spPr>
          <a:xfrm>
            <a:off x="3865273" y="1601426"/>
            <a:ext cx="1703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ICT - Semester 7</a:t>
            </a:r>
          </a:p>
        </p:txBody>
      </p:sp>
    </p:spTree>
    <p:extLst>
      <p:ext uri="{BB962C8B-B14F-4D97-AF65-F5344CB8AC3E}">
        <p14:creationId xmlns:p14="http://schemas.microsoft.com/office/powerpoint/2010/main" val="296045711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107" y="2743200"/>
            <a:ext cx="914399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000" b="1" dirty="0"/>
              <a:t>Introduction to NLP</a:t>
            </a:r>
          </a:p>
        </p:txBody>
      </p:sp>
    </p:spTree>
    <p:extLst>
      <p:ext uri="{BB962C8B-B14F-4D97-AF65-F5344CB8AC3E}">
        <p14:creationId xmlns:p14="http://schemas.microsoft.com/office/powerpoint/2010/main" val="3103179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1600200"/>
            <a:ext cx="86090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Natural Languages: Languages that evolved naturally through human 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1555" y="53340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5400" b="1" dirty="0">
                <a:solidFill>
                  <a:srgbClr val="FF0000"/>
                </a:solidFill>
              </a:rPr>
              <a:t>What is Natural Language?</a:t>
            </a:r>
            <a:endParaRPr lang="en-IN" sz="5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63161F-20C1-1D00-6041-0B02EEC90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6675"/>
            <a:ext cx="9144000" cy="359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694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4882" y="228600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</a:rPr>
              <a:t>What is NLP?</a:t>
            </a:r>
            <a:endParaRPr lang="en-IN" sz="4000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D814772-D3F9-FC32-4DA9-0DA727782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n-US" dirty="0"/>
              <a:t>NLP:</a:t>
            </a:r>
          </a:p>
          <a:p>
            <a:pPr lvl="1" algn="just"/>
            <a:r>
              <a:rPr lang="en-US" i="1" dirty="0"/>
              <a:t>Making computers understand what we write (or speak)</a:t>
            </a:r>
          </a:p>
          <a:p>
            <a:pPr lvl="1" algn="just"/>
            <a:r>
              <a:rPr lang="en-US" i="1" dirty="0"/>
              <a:t>Making computers write (and speak)</a:t>
            </a:r>
          </a:p>
          <a:p>
            <a:pPr algn="just"/>
            <a:r>
              <a:rPr lang="en-US" dirty="0"/>
              <a:t>Allows computers to interpret, manipulate, and comprehend human language.</a:t>
            </a:r>
          </a:p>
          <a:p>
            <a:pPr marL="0" indent="0" algn="just">
              <a:buNone/>
            </a:pPr>
            <a:endParaRPr lang="en-US" i="1" dirty="0"/>
          </a:p>
          <a:p>
            <a:pPr algn="just"/>
            <a:r>
              <a:rPr lang="en-US" dirty="0"/>
              <a:t>The field of NLP attempts to design, implement and test systems that process natural languages for practical applications like text translation, text summarization, speech to text conversion, chatbots etc.</a:t>
            </a:r>
          </a:p>
          <a:p>
            <a:pPr algn="just"/>
            <a:r>
              <a:rPr lang="en-US" dirty="0"/>
              <a:t>Conventional NLP refers to the rule-based and statistical approaches to processing human language.</a:t>
            </a:r>
          </a:p>
          <a:p>
            <a:pPr algn="just"/>
            <a:r>
              <a:rPr lang="en-US" dirty="0"/>
              <a:t>Now it is a subfield of Artificial Intelligence used to aid </a:t>
            </a:r>
            <a:r>
              <a:rPr lang="en-IN" dirty="0"/>
              <a:t>computers in understanding natural human language.</a:t>
            </a:r>
          </a:p>
          <a:p>
            <a:pPr algn="just"/>
            <a:r>
              <a:rPr lang="en-US" dirty="0"/>
              <a:t>Most NLP techniques rely on machine learning/deep learning/reinforcement learning to derive meaning from human languages</a:t>
            </a:r>
          </a:p>
          <a:p>
            <a:pPr algn="just"/>
            <a:r>
              <a:rPr lang="en-US" dirty="0"/>
              <a:t>Deep learning–based NLP refers to approaches that use neural networks—particularly deep architectures like recurrent, convolutional, and transformer models—to process and understand human language.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8448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5240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NLP Tasks</a:t>
            </a:r>
            <a:endParaRPr lang="en-IN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B8723E-1309-B2F1-69E9-5CA44FBF176A}"/>
              </a:ext>
            </a:extLst>
          </p:cNvPr>
          <p:cNvSpPr txBox="1"/>
          <p:nvPr/>
        </p:nvSpPr>
        <p:spPr>
          <a:xfrm>
            <a:off x="990600" y="1028343"/>
            <a:ext cx="73152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Sentiment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Machine Translation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Text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Text Summarization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Question Answering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Text Entailment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Named Entity Recognition (NER)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Chatbots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Language </a:t>
            </a:r>
            <a:r>
              <a:rPr lang="en-IN" dirty="0" err="1"/>
              <a:t>Modeling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2337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37429-89EB-0F25-B63B-CA445A752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7CA1B5-2C13-B41A-B1B7-DE6A94040B4A}"/>
              </a:ext>
            </a:extLst>
          </p:cNvPr>
          <p:cNvSpPr/>
          <p:nvPr/>
        </p:nvSpPr>
        <p:spPr>
          <a:xfrm>
            <a:off x="0" y="15240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NLP Tasks</a:t>
            </a:r>
            <a:endParaRPr lang="en-IN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5B709E-32AC-7B85-FD8E-C3C858918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3264"/>
            <a:ext cx="9144000" cy="521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146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37936-05C9-B239-79F6-A934CDB09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4D00ED1-4236-60E3-987B-1D39343A3882}"/>
              </a:ext>
            </a:extLst>
          </p:cNvPr>
          <p:cNvSpPr/>
          <p:nvPr/>
        </p:nvSpPr>
        <p:spPr>
          <a:xfrm>
            <a:off x="0" y="15240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NLP Tasks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75B335-BC86-9D1D-A682-A884154A5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4119"/>
            <a:ext cx="9144000" cy="540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995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BAE37-5B8B-8F70-CD48-27E744ECF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1522FD-1F09-0450-E308-B2B050AA9338}"/>
              </a:ext>
            </a:extLst>
          </p:cNvPr>
          <p:cNvSpPr/>
          <p:nvPr/>
        </p:nvSpPr>
        <p:spPr>
          <a:xfrm>
            <a:off x="0" y="15240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NLP Tasks</a:t>
            </a:r>
            <a:endParaRPr lang="en-IN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6C7F0F-96B0-FB61-7C33-CA5F61083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144000" cy="459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412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B7227-DD50-DA2C-7382-C2E9B1D19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7945F8-2096-8172-822C-2310B00AB1AC}"/>
              </a:ext>
            </a:extLst>
          </p:cNvPr>
          <p:cNvSpPr/>
          <p:nvPr/>
        </p:nvSpPr>
        <p:spPr>
          <a:xfrm>
            <a:off x="0" y="15240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NLP Tasks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2505FA-092A-CF0E-82D4-C457C2397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0600"/>
            <a:ext cx="9144000" cy="397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536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0B6B9-7FD9-6582-E720-D7B6DA06E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D8F58D-0B96-3563-D340-1787E877FCAE}"/>
              </a:ext>
            </a:extLst>
          </p:cNvPr>
          <p:cNvSpPr/>
          <p:nvPr/>
        </p:nvSpPr>
        <p:spPr>
          <a:xfrm>
            <a:off x="0" y="15240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NLP Tasks</a:t>
            </a:r>
            <a:endParaRPr lang="en-IN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582E10-273E-D057-74D3-D99D796B0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5635"/>
            <a:ext cx="9144000" cy="538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0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71168-A3EB-7AD3-699C-EA327AFF3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60C918-13E7-B393-7A2C-F3212ECFE52B}"/>
              </a:ext>
            </a:extLst>
          </p:cNvPr>
          <p:cNvSpPr/>
          <p:nvPr/>
        </p:nvSpPr>
        <p:spPr>
          <a:xfrm>
            <a:off x="0" y="15240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NLP Tasks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76674A-205F-956E-E322-E2CC303B9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49409"/>
            <a:ext cx="9144000" cy="620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057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64E21-10E7-19AF-B13F-ADDBAE889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D7A3B64-6CE9-95D8-F037-EAE8FF7FBAB9}"/>
              </a:ext>
            </a:extLst>
          </p:cNvPr>
          <p:cNvSpPr/>
          <p:nvPr/>
        </p:nvSpPr>
        <p:spPr>
          <a:xfrm>
            <a:off x="0" y="15240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NLP Tasks</a:t>
            </a:r>
            <a:endParaRPr lang="en-IN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31722F-7FD7-990D-9006-F09F600D9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0600"/>
            <a:ext cx="9144000" cy="365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882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FC546-5009-A26E-B56C-4726A728D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8FF694-EE94-78E6-1456-43F7FBC32E27}"/>
              </a:ext>
            </a:extLst>
          </p:cNvPr>
          <p:cNvSpPr/>
          <p:nvPr/>
        </p:nvSpPr>
        <p:spPr>
          <a:xfrm>
            <a:off x="0" y="15240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NLP Tasks</a:t>
            </a:r>
            <a:endParaRPr lang="en-IN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DA4798-05A9-DDC3-5362-EE73342B8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4349"/>
            <a:ext cx="9144000" cy="526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892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BA558-31A6-1ECC-6A26-11E3341DD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7619ED-C30E-83C0-50E2-425ED8F12598}"/>
              </a:ext>
            </a:extLst>
          </p:cNvPr>
          <p:cNvSpPr/>
          <p:nvPr/>
        </p:nvSpPr>
        <p:spPr>
          <a:xfrm>
            <a:off x="0" y="15240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NLP Tasks</a:t>
            </a:r>
            <a:endParaRPr lang="en-IN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B75682-8B30-9295-311A-663C611BA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7" y="704518"/>
            <a:ext cx="9144000" cy="45672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A79731C-AB28-9957-E3C2-C2113A24CD46}"/>
              </a:ext>
            </a:extLst>
          </p:cNvPr>
          <p:cNvSpPr txBox="1"/>
          <p:nvPr/>
        </p:nvSpPr>
        <p:spPr>
          <a:xfrm>
            <a:off x="282251" y="5500712"/>
            <a:ext cx="86510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0" u="none" strike="noStrike" dirty="0">
                <a:effectLst/>
                <a:latin typeface="Google Sans"/>
              </a:rPr>
              <a:t>A Large Language Model (LLM) is </a:t>
            </a:r>
            <a:r>
              <a:rPr lang="en-IN" sz="1200" dirty="0">
                <a:latin typeface="Google Sans"/>
              </a:rPr>
              <a:t>an advanced artificial intelligence system designed to understand, process, and generate human-like text. It works by predicting the most logical next words in a sequence based on vast amounts of training data. Popular examples include OpenAI's GPT models and Google's Gemini.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LLMs are giant statistical models built on deep learning and a specific neural network architecture known as the transformer. These networks have billions of "parameters" (internal variables) that act much like a human brain's synapses.</a:t>
            </a:r>
            <a:endParaRPr lang="en-IN" sz="1200" dirty="0">
              <a:latin typeface="Google Sans"/>
            </a:endParaRPr>
          </a:p>
          <a:p>
            <a:endParaRPr lang="en-IN" sz="1200" dirty="0"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12827884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66F6A-E323-6C5C-1916-90B7447CA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89A4FB-BDEA-77E5-6C70-0EF9D009BC3B}"/>
              </a:ext>
            </a:extLst>
          </p:cNvPr>
          <p:cNvSpPr/>
          <p:nvPr/>
        </p:nvSpPr>
        <p:spPr>
          <a:xfrm>
            <a:off x="0" y="15240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Challenges in NLP</a:t>
            </a:r>
            <a:endParaRPr lang="en-IN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DED665-CB4A-66B4-B8E9-347F14E85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8" y="1109339"/>
            <a:ext cx="9126224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3638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88DF7-DACD-8B5C-B0D2-76453C11D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212"/>
            <a:ext cx="8229600" cy="1143000"/>
          </a:xfrm>
        </p:spPr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Domain Specific Applications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E5D0079-F959-0C87-C1E2-69510FDF4D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813" y="1343608"/>
            <a:ext cx="8775787" cy="444759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CFC60-6F2A-2B22-B39E-16E89EDE0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21-07-2026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BC829-5272-29C9-723C-30DDCC567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AB15F-A2B3-A00D-00A6-1750C5F59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7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91B74-ABE6-8F53-5695-79C89DAEC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31C75-81CC-D3F5-616D-B64D81664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212"/>
            <a:ext cx="8229600" cy="1143000"/>
          </a:xfrm>
        </p:spPr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NLP Paradigms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82A06-415F-5398-4600-AA76B80CA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21-07-2026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188E1-80BF-7BF6-AA7B-2EDDFDC25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D3F39-A55B-DEAE-30C1-085912178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494E97-90D9-1442-0152-6ECB597E6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generally try to map problems to various ML paradigms</a:t>
            </a:r>
          </a:p>
          <a:p>
            <a:pPr lvl="1"/>
            <a:r>
              <a:rPr lang="en-IN" dirty="0"/>
              <a:t>Sentiment Analysis, news article groupings, etc. → Text Classification</a:t>
            </a:r>
          </a:p>
          <a:p>
            <a:pPr lvl="1"/>
            <a:r>
              <a:rPr lang="en-IN" dirty="0"/>
              <a:t>Named entity recognition, code-mixing, etc. → Sequence Labelling</a:t>
            </a:r>
          </a:p>
          <a:p>
            <a:pPr lvl="1"/>
            <a:r>
              <a:rPr lang="en-IN" dirty="0"/>
              <a:t>Machine Translation, summarization, chatbots, etc. </a:t>
            </a:r>
            <a:r>
              <a:rPr lang="en-IN"/>
              <a:t>→ Text Generation</a:t>
            </a:r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03721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C27E8-03D1-4C70-83C0-A28382BCD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1F004-383A-F11D-081B-EAA01D5D6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1347"/>
            <a:ext cx="8229600" cy="697625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NLP </a:t>
            </a:r>
            <a:r>
              <a:rPr lang="en-IN" sz="3600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Progression </a:t>
            </a:r>
            <a:r>
              <a:rPr lang="en-US" sz="3600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Timeline</a:t>
            </a:r>
            <a:endParaRPr lang="en-IN" sz="3600" b="1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10311-4509-E676-5384-C3182F5E7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21-07-2026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8B792-CD05-86CC-AFE2-163E9AF8D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1CAA6-B0F9-20A0-97FF-D45C322F2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FE7ECFF-0741-1780-EAA1-6B12CF190F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9604" y="1295400"/>
            <a:ext cx="6170396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1265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61DC4-0BD2-1BD2-BF6E-864FBA998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EB247-97C1-EC8B-EDC6-148C21CC3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1347"/>
            <a:ext cx="8229600" cy="697625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A timeline of the recent developments</a:t>
            </a:r>
            <a:endParaRPr lang="en-IN" sz="3600" b="1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CCE4C-5989-3D54-6C4A-BCFEF9A0B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21-07-2026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593FC-6057-22C6-1D76-7E55F98D4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CEDDA-92FF-0681-5723-FF64AE4D6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799F719-A616-F0A9-DFF9-396832F55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B84DA3-7340-DE8D-31F4-21B8BA4F2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0200"/>
            <a:ext cx="9144000" cy="34696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047B94-92E5-BFB3-623F-98D6B6C3F5DF}"/>
              </a:ext>
            </a:extLst>
          </p:cNvPr>
          <p:cNvSpPr txBox="1"/>
          <p:nvPr/>
        </p:nvSpPr>
        <p:spPr>
          <a:xfrm>
            <a:off x="5181600" y="5387499"/>
            <a:ext cx="4038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u="none" strike="noStrike" dirty="0">
                <a:effectLst/>
                <a:latin typeface="Google Sans"/>
              </a:rPr>
              <a:t>BERT</a:t>
            </a:r>
            <a:r>
              <a:rPr lang="en-IN" dirty="0"/>
              <a:t> </a:t>
            </a:r>
            <a:r>
              <a:rPr lang="en-IN" sz="1200" b="1" dirty="0">
                <a:latin typeface="Google Sans"/>
              </a:rPr>
              <a:t>stands for</a:t>
            </a:r>
            <a:r>
              <a:rPr lang="en-IN" dirty="0"/>
              <a:t> </a:t>
            </a:r>
            <a:r>
              <a:rPr lang="en-IN" sz="1200" b="1" u="none" strike="noStrike" dirty="0">
                <a:effectLst/>
                <a:latin typeface="Google Sans"/>
              </a:rPr>
              <a:t>Bidirectional Encoder Representations from Transformers</a:t>
            </a:r>
          </a:p>
          <a:p>
            <a:r>
              <a:rPr lang="en-IN" sz="1200" b="1" dirty="0">
                <a:latin typeface="Google Sans"/>
              </a:rPr>
              <a:t>GPT stands for Generative Pre-trained Transformer</a:t>
            </a:r>
          </a:p>
        </p:txBody>
      </p:sp>
    </p:spTree>
    <p:extLst>
      <p:ext uri="{BB962C8B-B14F-4D97-AF65-F5344CB8AC3E}">
        <p14:creationId xmlns:p14="http://schemas.microsoft.com/office/powerpoint/2010/main" val="1847585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99728A6127F4F89CAF9F3240C8CFF" ma:contentTypeVersion="3" ma:contentTypeDescription="Create a new document." ma:contentTypeScope="" ma:versionID="7e7402f0dab3fcc782adb50016726280">
  <xsd:schema xmlns:xsd="http://www.w3.org/2001/XMLSchema" xmlns:xs="http://www.w3.org/2001/XMLSchema" xmlns:p="http://schemas.microsoft.com/office/2006/metadata/properties" xmlns:ns2="79306fda-43a2-430c-89ae-9679da3ec0e1" targetNamespace="http://schemas.microsoft.com/office/2006/metadata/properties" ma:root="true" ma:fieldsID="d53381ab9528536bd2d8f002f0f3cf7e" ns2:_="">
    <xsd:import namespace="79306fda-43a2-430c-89ae-9679da3ec0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306fda-43a2-430c-89ae-9679da3ec0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5F6AF70-668D-43F1-A9D0-6E31DB6F969C}"/>
</file>

<file path=customXml/itemProps2.xml><?xml version="1.0" encoding="utf-8"?>
<ds:datastoreItem xmlns:ds="http://schemas.openxmlformats.org/officeDocument/2006/customXml" ds:itemID="{13DDEABF-306A-4929-8301-3A6D42FCA07B}"/>
</file>

<file path=customXml/itemProps3.xml><?xml version="1.0" encoding="utf-8"?>
<ds:datastoreItem xmlns:ds="http://schemas.openxmlformats.org/officeDocument/2006/customXml" ds:itemID="{F601C10D-ECFD-4E92-8F36-57574AB80A4A}"/>
</file>

<file path=docProps/app.xml><?xml version="1.0" encoding="utf-8"?>
<Properties xmlns="http://schemas.openxmlformats.org/officeDocument/2006/extended-properties" xmlns:vt="http://schemas.openxmlformats.org/officeDocument/2006/docPropsVTypes">
  <TotalTime>13628</TotalTime>
  <Words>1027</Words>
  <Application>Microsoft Office PowerPoint</Application>
  <PresentationFormat>On-screen Show (4:3)</PresentationFormat>
  <Paragraphs>144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Google Sans</vt:lpstr>
      <vt:lpstr>Tahoma</vt:lpstr>
      <vt:lpstr>Wingdings</vt:lpstr>
      <vt:lpstr>Office Theme</vt:lpstr>
      <vt:lpstr>PowerPoint Presentation</vt:lpstr>
      <vt:lpstr>Syllabus:</vt:lpstr>
      <vt:lpstr>Pre-requisite:</vt:lpstr>
      <vt:lpstr>Reference Books (Theory):</vt:lpstr>
      <vt:lpstr>UNIT 1  OVERVIEW OF NLP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Domain Specific Applications</vt:lpstr>
      <vt:lpstr>NLP Paradigms</vt:lpstr>
      <vt:lpstr>NLP Progression Timeline</vt:lpstr>
      <vt:lpstr>A timeline of the recent developments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 Probability Theory &amp; Random Variables</dc:title>
  <dc:creator>Jigar</dc:creator>
  <cp:lastModifiedBy>Jigarkumar Shah</cp:lastModifiedBy>
  <cp:revision>1223</cp:revision>
  <dcterms:created xsi:type="dcterms:W3CDTF">2006-08-16T00:00:00Z</dcterms:created>
  <dcterms:modified xsi:type="dcterms:W3CDTF">2026-07-21T08:46:22Z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0x010100EEC99728A6127F4F89CAF9F3240C8CFF</vt:lpwstr>
  </property>
</Properties>
</file>