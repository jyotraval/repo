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5006" autoAdjust="0"/>
  </p:normalViewPr>
  <p:slideViewPr>
    <p:cSldViewPr snapToGrid="0" snapToObjects="1">
      <p:cViewPr varScale="1">
        <p:scale>
          <a:sx n="51" d="100"/>
          <a:sy n="51" d="100"/>
        </p:scale>
        <p:origin x="7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43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BD98-FEF3-E333-9D51-E12C4CA3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0C583-3D62-AC15-D7E5-2943A574F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1DF87-2259-CA21-F0FE-B5470B3D9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C9B97-9E23-D0C1-9BCB-53ED9C1E04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57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Operating Systems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IoT &amp; Embedded Systems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Concepts · FreeRTOS Architecture · Tasks, Scheduler, Queues &amp; Semaphores · ESP32 Demonstration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Technology for IoT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417320" y="1664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RTOS?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2082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real-time guarantees, and why FreeRTOS is preferred over a general-purpose OS on constrained devices.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FreeRTOS fits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912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Arduino, ESP-IDF, MicroPython, and FreeRTOS-based bare-metal as IoT programming frameworks.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" y="4032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architecture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6168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the scheduler, queues, and semaphores — and how they enable real-time multitasking on the ESP32.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2029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0080" y="5202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75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Microcontroller vs SBC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532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RTOS-based MCU (ESP32/AVR) and a Linux-based SBC (Raspberry Pi) solve different problems.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CORE CONCEPT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Is a Real-Time Operating System?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5303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RTOS is an operating system designed to process inputs and produce a response within a </a:t>
            </a:r>
            <a:r>
              <a:rPr lang="en-US" sz="20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guaranteed, bounded time — a deadline.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IDEA: CORRECTNESS DEPENDS ON TIME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40690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late answer is a wrong answer — not just a slow one. This is what separates an RTOS from a general-purpose OS optimized for average throughput.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7830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 REAL-TIME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995160" y="210312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3EC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a deadline = system failure.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E3EC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e.g. airbag deployment, anti-lock brakes, pacemaker timing.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20840" y="338328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995160" y="35661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 REAL-TIME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995160" y="370332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a deadline degrades quality, but the system survives.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e.g. video streaming, an IoT sensor sending a reading a little late.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IoT nodes (sensing → processing → transmission) are soft real-time systems — which is exactly the class FreeRTOS targets.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RTOS vs. General-Purpose OS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Aspect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93192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RTOS (e.g., FreeRTOS)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18120" y="1645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General-Purpose 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881360" cy="621792"/>
          </a:xfrm>
          <a:prstGeom prst="rect">
            <a:avLst/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Scheduling goal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931920" y="21488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Meet deadlines — determinism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818120" y="21488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Maximize average throughput / fairness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27706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Scheduler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931920" y="27706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Priority-based, preemptive, predictable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818120" y="2770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Time-sliced, best-effort, variable latency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10881360" cy="621792"/>
          </a:xfrm>
          <a:prstGeom prst="rect">
            <a:avLst/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33924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Memory footprint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931920" y="33924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few KB – hundreds of KB 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818120" y="33924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Tens to hundreds of MB 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77240" y="40142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Boot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931920" y="401421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Milliseconds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818120" y="40142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Seconds to tens of seconds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636008"/>
            <a:ext cx="10881360" cy="621792"/>
          </a:xfrm>
          <a:prstGeom prst="rect">
            <a:avLst/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77240" y="46360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Typical 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3931920" y="463600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Microcontrollers (ESP32, AVR, ARM Cortex-M)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818120" y="46360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SoCs / SBCs (Raspberry Pi, PC)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77240" y="52578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931920" y="5257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FreeRTOS, Zephyr, RIOT, VxWorks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818120" y="52578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Linux, Windows, Android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MOTIVATION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Constrained IoT Devices Need an RTOS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55448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Determinism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sampling, control loops, and radio timing (e.g. BLE/Zigbee slots) need predictable response — not just fast, but on-time.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2940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629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26948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Tiny footprint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629400" y="2468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Runs in a few KB of RAM/flash — fits microcontrollers that could never boot Linux.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14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554480" y="3959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Concurrency without complexity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14400" y="44805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Lets one MCU juggle sensing, processing, and networking as independent tasks instead of one tangled loop.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55080" y="370332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2940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6294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269480" y="3959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Power efficiency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629400" y="44805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Built-in idle/tickless modes sleep the CPU between events — critical for battery-powered motes.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LANDSCAPE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RTOS Options in the IoT World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04672" y="219456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FreeRTOS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04672" y="2880360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Free, open-source, tiny kernel. De-facto standard on ESP32, STM32, AVR.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62072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026664" y="219456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Zephyr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026664" y="2880360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Linux-Foundation project. Broader hardware abstraction, built-in networking stack.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84064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248656" y="219456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RIOT OS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248656" y="2880360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Academic/research roots. Strong 6LoWPAN &amp; CoAP support for constrained mesh nodes.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06056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470648" y="219456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Mbed OS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70648" y="2880360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ARM's RTOS for Cortex-M boards, with a large driver/library ecosystem.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8048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692640" y="219456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VxWorks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692640" y="2880360"/>
            <a:ext cx="1755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Commercial, safety-certified. Used in aerospace, industrial, and automotive.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course focuses on FreeRTOS — it ships built-in with ESP-IDF, the framework used for our ESP32 labs.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FreeRTOS Is Preferred for Constrained Devices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51560" y="16367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 &amp; open source (MIT license)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623560" y="163677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licensing cost; source is auditable and modifiable.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051560" y="2414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Minimal footprint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23560" y="24140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Kernel can fit in ~6–12 KB of flash — leaves room for the application.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051560" y="31912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Broad MCU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623560" y="31912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Ported to 40+ architectures: ESP32, ARM Cortex-M, AVR, PIC, RISC-V.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051560" y="3968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Industry backing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623560" y="396849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Maintained by Amazon Web Services; integrates directly with AWS IoT Core.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051560" y="47457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Mature ecosystem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623560" y="47457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Native to ESP-IDF; huge community, documentation, and reference examples.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22960" y="562356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short: FreeRTOS gives near-bare-metal efficiency with the safety net of real-time multitasking.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Architecture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03120" y="169164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2377440" y="18013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Tasks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194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· Processing · Networking · UI — written as independent C functions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283464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377440" y="29443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Kernel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337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· Task control blocks · Queues · Semaphores/Mutexes · Software timers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03120" y="397764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377440" y="40873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Abstraction / Port Layer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4480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timer ISR · Context switch · Interrupt handling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03120" y="512064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1C1C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377440" y="52303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MCU Hardware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5623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ESP32 (Xtensa LX6, dual-core)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71032" y="2706624"/>
            <a:ext cx="219456" cy="118872"/>
          </a:xfrm>
          <a:prstGeom prst="downArrow">
            <a:avLst/>
          </a:prstGeom>
          <a:solidFill>
            <a:srgbClr val="5A6B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71032" y="3849624"/>
            <a:ext cx="219456" cy="118872"/>
          </a:xfrm>
          <a:prstGeom prst="downArrow">
            <a:avLst/>
          </a:prstGeom>
          <a:solidFill>
            <a:srgbClr val="5A6B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71032" y="4992624"/>
            <a:ext cx="219456" cy="118872"/>
          </a:xfrm>
          <a:prstGeom prst="downArrow">
            <a:avLst/>
          </a:prstGeom>
          <a:solidFill>
            <a:srgbClr val="5A6B7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Tasks &amp; Task States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6952"/>
            <a:ext cx="10881360" cy="693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an independent thread of execution with its own stack and priority — the basic unit of concurrency in FreeRTOS.</a:t>
            </a:r>
            <a:endParaRPr lang="en-US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F35AB1C-7588-5378-3868-36439D06AE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89" r="14778" b="7965"/>
          <a:stretch>
            <a:fillRect/>
          </a:stretch>
        </p:blipFill>
        <p:spPr>
          <a:xfrm>
            <a:off x="619760" y="2204720"/>
            <a:ext cx="5531915" cy="4253230"/>
          </a:xfrm>
          <a:prstGeom prst="rect">
            <a:avLst/>
          </a:prstGeom>
        </p:spPr>
      </p:pic>
      <p:sp>
        <p:nvSpPr>
          <p:cNvPr id="5" name="Text 14">
            <a:extLst>
              <a:ext uri="{FF2B5EF4-FFF2-40B4-BE49-F238E27FC236}">
                <a16:creationId xmlns:a16="http://schemas.microsoft.com/office/drawing/2014/main" id="{25A34EAD-1149-915A-F626-92489C9D74B5}"/>
              </a:ext>
            </a:extLst>
          </p:cNvPr>
          <p:cNvSpPr txBox="1"/>
          <p:nvPr/>
        </p:nvSpPr>
        <p:spPr>
          <a:xfrm>
            <a:off x="6400800" y="2334459"/>
            <a:ext cx="5447212" cy="3993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States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task is capable of running (it isn't waiting on anything) but is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currently executing because a higher- or equal-priority task is using the CPU.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task is currently executing on the CPU. On a single-core system, only one task can be in this state at any instant.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task is waiting for something: a time delay to expire, a queue/semaphore to receive data, or another event. It's not eligible to run until that event occurs.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Suspended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task is explicitly taken out of scheduling. It doesn't run and isn't considered by the scheduler at all — it only leaves this state when another task calls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vTaskResume()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ECAD2-00B1-9AC5-F170-E26F79CC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D2A452B-7916-3F40-B976-276DF55B208E}"/>
              </a:ext>
            </a:extLst>
          </p:cNvPr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Tasks &amp; Task States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8D9346-E71E-8472-3296-B14310A5F287}"/>
              </a:ext>
            </a:extLst>
          </p:cNvPr>
          <p:cNvSpPr txBox="1"/>
          <p:nvPr/>
        </p:nvSpPr>
        <p:spPr>
          <a:xfrm>
            <a:off x="548640" y="1266952"/>
            <a:ext cx="10881360" cy="693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an independent thread of execution with its own stack and priority — the basic unit of concurrency in FreeRTOS.</a:t>
            </a:r>
            <a:endParaRPr lang="en-US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B516AD-92FC-3CC3-C1E8-0B338921E5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89" r="14778" b="7965"/>
          <a:stretch>
            <a:fillRect/>
          </a:stretch>
        </p:blipFill>
        <p:spPr>
          <a:xfrm>
            <a:off x="619760" y="2204720"/>
            <a:ext cx="5531915" cy="4253230"/>
          </a:xfrm>
          <a:prstGeom prst="rect">
            <a:avLst/>
          </a:prstGeom>
        </p:spPr>
      </p:pic>
      <p:sp>
        <p:nvSpPr>
          <p:cNvPr id="5" name="Text 14">
            <a:extLst>
              <a:ext uri="{FF2B5EF4-FFF2-40B4-BE49-F238E27FC236}">
                <a16:creationId xmlns:a16="http://schemas.microsoft.com/office/drawing/2014/main" id="{AB9DD25A-E370-6B55-10F1-40DB06074428}"/>
              </a:ext>
            </a:extLst>
          </p:cNvPr>
          <p:cNvSpPr txBox="1"/>
          <p:nvPr/>
        </p:nvSpPr>
        <p:spPr>
          <a:xfrm>
            <a:off x="6400800" y="2334459"/>
            <a:ext cx="5447212" cy="39937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Suspended is different from Blocked.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Blocked is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and event-driven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kernel automatically wakes the task. Suspended is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and manual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only another task's vTaskResume() call can undo it, no matter how long it waits or what events occur.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is always singular (per core).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other Ready task, no matter how many exist, waits its turn — this is what the scheduler continuously arbitrates using task priority.</a:t>
            </a:r>
          </a:p>
        </p:txBody>
      </p:sp>
    </p:spTree>
    <p:extLst>
      <p:ext uri="{BB962C8B-B14F-4D97-AF65-F5344CB8AC3E}">
        <p14:creationId xmlns:p14="http://schemas.microsoft.com/office/powerpoint/2010/main" val="1665640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SCHEDULER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FreeRTOS Scheduler: Priority-Based Preemption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Rule: the highest-priority READY task always runs. Equal-priority tasks share the CPU via round-robin time slicing.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3 (Tx Task)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2331720"/>
            <a:ext cx="8046720" cy="548640"/>
          </a:xfrm>
          <a:prstGeom prst="rect">
            <a:avLst/>
          </a:prstGeom>
          <a:solidFill>
            <a:srgbClr val="F4F8FA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2386584"/>
            <a:ext cx="1097280" cy="438912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498080" y="2386584"/>
            <a:ext cx="914400" cy="438912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2 (Process Task)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0" y="3063240"/>
            <a:ext cx="8046720" cy="548640"/>
          </a:xfrm>
          <a:prstGeom prst="rect">
            <a:avLst/>
          </a:prstGeom>
          <a:solidFill>
            <a:srgbClr val="F4F8FA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0" y="3118104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1 (Idle Task)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0" y="3794760"/>
            <a:ext cx="8046720" cy="548640"/>
          </a:xfrm>
          <a:prstGeom prst="rect">
            <a:avLst/>
          </a:prstGeom>
          <a:solidFill>
            <a:srgbClr val="F4F8FA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35040" y="3849624"/>
            <a:ext cx="1463040" cy="438912"/>
          </a:xfrm>
          <a:prstGeom prst="roundRect">
            <a:avLst>
              <a:gd name="adj" fmla="val 8333"/>
            </a:avLst>
          </a:prstGeom>
          <a:solidFill>
            <a:srgbClr val="5A6B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412480" y="3849624"/>
            <a:ext cx="1463040" cy="438912"/>
          </a:xfrm>
          <a:prstGeom prst="roundRect">
            <a:avLst>
              <a:gd name="adj" fmla="val 8333"/>
            </a:avLst>
          </a:prstGeom>
          <a:solidFill>
            <a:srgbClr val="5A6B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014984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Preemption in action:  </a:t>
            </a: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Process task (priority 2) runs until the higher-priority Tx task becomes ready at t = 5.2 — it immediately preempts, then Process resumes (or completes) once Tx finishes. The Idle task only runs when nothing else is ready.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INTER-TASK COMMUNICATION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Queues: Passing Data Safely Between Tasks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155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queue is a FIFO buffer the kernel manages so tasks never touch shared memory directly — avoiding race conditions.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Sensor Task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(Producer)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246888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663440" y="24688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Queue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[ ][ ][ ][ ]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503920" y="246888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503920" y="24688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Tx Task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(Consumer)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0" y="3246120"/>
            <a:ext cx="1005840" cy="0"/>
          </a:xfrm>
          <a:prstGeom prst="line">
            <a:avLst/>
          </a:prstGeom>
          <a:noFill/>
          <a:ln w="25400">
            <a:solidFill>
              <a:srgbClr val="5A6B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52044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xQueueSend()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98080" y="3246120"/>
            <a:ext cx="1005840" cy="0"/>
          </a:xfrm>
          <a:prstGeom prst="line">
            <a:avLst/>
          </a:prstGeom>
          <a:noFill/>
          <a:ln w="25400">
            <a:solidFill>
              <a:srgbClr val="5A6B7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3152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xQueueReceive()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68680" y="4736592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Decouples producer and consumer — they can run at different speeds.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task calling xQueueReceive() on an empty queue automatically blocks (frees the CPU) until data arrives.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is exactly how a sensing task hands readings to a transmission task on the ESP32.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SYNCHRONIZATION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Semaphores &amp; Mutexes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423160"/>
          </a:xfrm>
          <a:prstGeom prst="roundRect">
            <a:avLst>
              <a:gd name="adj" fmla="val 36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Binary Semaphore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single-count flag used for signaling — e.g., an ISR signals “data ready” to unblock a task.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61688" y="1691640"/>
            <a:ext cx="3429000" cy="2423160"/>
          </a:xfrm>
          <a:prstGeom prst="roundRect">
            <a:avLst>
              <a:gd name="adj" fmla="val 36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90288" y="1920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Counting Semaphore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90288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Tracks how many of a limited resource are free — e.g., N available buffer slots.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83296" y="1691640"/>
            <a:ext cx="3429000" cy="2423160"/>
          </a:xfrm>
          <a:prstGeom prst="roundRect">
            <a:avLst>
              <a:gd name="adj" fmla="val 36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311896" y="1920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Mutex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311896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binary semaphore with ownership + priority inheritance — protects a shared resource (e.g., a shared UART/I²C bus) from simultaneous access.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68680" y="438912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inversion — worth knowing:  </a:t>
            </a: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a low-priority task holds a mutex a high-priority task needs, the high-priority task is blocked behind it. A plain semaphore can leave this unresolved indefinitely; FreeRTOS mutexes solve it with priority inheritance, temporarily boosting the low-priority holder so it finishes and releases the resource quickly.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APPLIED EXAMPLE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Putting It Together: Three Tasks on One ESP32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typical IoT node runs several FreeRTOS tasks concurrently, each pinned to a priority that reflects how time-critical it is.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2194560"/>
          </a:xfrm>
          <a:prstGeom prst="roundRect">
            <a:avLst>
              <a:gd name="adj" fmla="val 409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vSensorTask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Reads a sensor every 100 ms, pushes the value onto a queue, then blocks (vTaskDelay).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61688" y="2286000"/>
            <a:ext cx="3429000" cy="2194560"/>
          </a:xfrm>
          <a:prstGeom prst="roundRect">
            <a:avLst>
              <a:gd name="adj" fmla="val 409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590288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vProcessTask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90288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90288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Blocks on xQueueReceive(); filters/averages readings when data arrives.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83296" y="2286000"/>
            <a:ext cx="3429000" cy="2194560"/>
          </a:xfrm>
          <a:prstGeom prst="roundRect">
            <a:avLst>
              <a:gd name="adj" fmla="val 409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311896" y="24871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vTxTask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311896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Priority 3 (highest)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11896" y="32004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0F7F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Woken by a binary semaphore every transmit interval; sends data over Wi-Fi/BLE — time-critical, so it preempts the others.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68680" y="47548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an RTOS, this would be one superloop juggling timers by hand. With FreeRTOS, each concern is an independent task — the scheduler guarantees the transmit deadline is met even while sensing and processing keep running.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· PLATFORM CHOICE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Microcontroller + RTOS vs. SBC + Linux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Aspect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93192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Microcontroller + RTOS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818120" y="1645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SBC + Linux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0881360" cy="621792"/>
          </a:xfrm>
          <a:prstGeom prst="rect">
            <a:avLst/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Example 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931920" y="21488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/ AVR (with FreeRTOS)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818120" y="21488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Raspberry Pi (with Linux)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77240" y="27706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CPU class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931920" y="27706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Single/dual-core MCU, tens–hundreds of MHz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818120" y="2770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Multi-core application processor, 1+ GHz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392424"/>
            <a:ext cx="10881360" cy="621792"/>
          </a:xfrm>
          <a:prstGeom prst="rect">
            <a:avLst/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77240" y="339242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931920" y="33924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KBs – low MBs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818120" y="33924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512 MB – 8+ GB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77240" y="401421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Timing behavior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931920" y="401421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Deterministic — bounded worst-case latency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818120" y="40142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Best-effort — not guaranteed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636008"/>
            <a:ext cx="10881360" cy="621792"/>
          </a:xfrm>
          <a:prstGeom prst="rect">
            <a:avLst/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77240" y="46360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draw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3931920" y="463600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mW – low W; sleeps deeply between events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7818120" y="46360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Watts; harder to deep-sleep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77240" y="52578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fit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931920" y="52578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 sensor/actuator control, battery nodes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818120" y="52578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gateways, local AI inference, local dashboards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FreeRTOS Fits Among IoT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Framework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3675888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Abstraction Level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784848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Capability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842248" y="1691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Footprint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351008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Learning Curve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0881360" cy="777240"/>
          </a:xfrm>
          <a:prstGeom prst="rect">
            <a:avLst/>
          </a:prstGeom>
          <a:solidFill>
            <a:srgbClr val="EAF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49808" y="2240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(IDE)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675888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Very high (setup/loop)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84848" y="2240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None (superloop)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842248" y="22402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Small–Moderate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351008" y="22402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Gentle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49808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MicroPython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675888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(Python)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784848" y="30175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Cooperative (asyncio)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842248" y="3017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Moderate–Large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0351008" y="30175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Gentle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10881360" cy="777240"/>
          </a:xfrm>
          <a:prstGeom prst="rect">
            <a:avLst/>
          </a:prstGeom>
          <a:solidFill>
            <a:srgbClr val="D7EC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49808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ESP-IDF + FreeRTOS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3675888" y="3794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Low–Moderate (C, RTOS API)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84848" y="37947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Preemptive, real-time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842248" y="3794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0351008" y="37947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Steep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4572000"/>
            <a:ext cx="1088136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49808" y="4572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Bare-metal (no OS)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675888" y="4572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Lowest (direct registers)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784848" y="4572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/ none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842248" y="457200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Smallest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0351008" y="45720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Steepest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row: FreeRTOS trades ease-of-use for real-time guarantees — the right trade for production IoT nodes with timing constraints.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Takeaways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‣"/>
            </a:pPr>
            <a:r>
              <a:rPr lang="en-US" sz="1650" dirty="0">
                <a:solidFill>
                  <a:srgbClr val="E3EC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RTOS guarantees a bounded response time — not just fast execution, but on-time execution.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600"/>
              </a:spcAft>
              <a:buSzPct val="100000"/>
              <a:buChar char="‣"/>
            </a:pPr>
            <a:r>
              <a:rPr lang="en-US" sz="1650" dirty="0">
                <a:solidFill>
                  <a:srgbClr val="E3EC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FreeRTOS is preferred on constrained IoT devices for its tiny footprint, broad MCU support, and AWS-backed ecosystem.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600"/>
              </a:spcAft>
              <a:buSzPct val="100000"/>
              <a:buChar char="‣"/>
            </a:pPr>
            <a:r>
              <a:rPr lang="en-US" sz="1650" dirty="0">
                <a:solidFill>
                  <a:srgbClr val="E3EC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Tasks, the priority-based preemptive scheduler, queues, and semaphores/mutexes are the four building blocks that let one MCU safely multitask.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600"/>
              </a:spcAft>
              <a:buSzPct val="100000"/>
              <a:buChar char="‣"/>
            </a:pPr>
            <a:r>
              <a:rPr lang="en-US" sz="1650" dirty="0">
                <a:solidFill>
                  <a:srgbClr val="E3EC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Choose the platform to the job: RTOS + microcontroller for deterministic, low-power control; Linux + SBC for compute-heavy edge processing.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93A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Maps to Question Bank: Q19, Q21, Q22, Q23 (Unit 2)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1824</Words>
  <Application>Microsoft Office PowerPoint</Application>
  <PresentationFormat>Widescreen</PresentationFormat>
  <Paragraphs>230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Mahesh Kumar</cp:lastModifiedBy>
  <cp:revision>3</cp:revision>
  <dcterms:created xsi:type="dcterms:W3CDTF">2026-09-16T17:20:38Z</dcterms:created>
  <dcterms:modified xsi:type="dcterms:W3CDTF">2026-09-16T17:53:04Z</dcterms:modified>
</cp:coreProperties>
</file>