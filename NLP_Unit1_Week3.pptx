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665" r:id="rId2"/>
    <p:sldId id="634" r:id="rId3"/>
    <p:sldId id="635" r:id="rId4"/>
    <p:sldId id="638" r:id="rId5"/>
    <p:sldId id="654" r:id="rId6"/>
    <p:sldId id="655" r:id="rId7"/>
    <p:sldId id="656" r:id="rId8"/>
    <p:sldId id="651" r:id="rId9"/>
    <p:sldId id="637" r:id="rId10"/>
    <p:sldId id="652" r:id="rId11"/>
    <p:sldId id="658" r:id="rId12"/>
    <p:sldId id="653" r:id="rId13"/>
    <p:sldId id="657" r:id="rId14"/>
    <p:sldId id="659" r:id="rId15"/>
    <p:sldId id="661" r:id="rId16"/>
    <p:sldId id="662" r:id="rId17"/>
    <p:sldId id="663" r:id="rId18"/>
    <p:sldId id="666" r:id="rId19"/>
    <p:sldId id="669" r:id="rId20"/>
    <p:sldId id="668" r:id="rId21"/>
    <p:sldId id="670" r:id="rId22"/>
    <p:sldId id="46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 autoAdjust="0"/>
    <p:restoredTop sz="90056" autoAdjust="0"/>
  </p:normalViewPr>
  <p:slideViewPr>
    <p:cSldViewPr>
      <p:cViewPr varScale="1">
        <p:scale>
          <a:sx n="82" d="100"/>
          <a:sy n="82" d="100"/>
        </p:scale>
        <p:origin x="132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08/Aug/2026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08/Aug/2026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08/Aug/2026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08/Aug/2026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08/Aug/2026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08/Aug/2026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08/Aug/2026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08/Aug/2026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08/Aug/2026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08/Aug/2026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08/Aug/2026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8E49C-7770-39A2-8219-8932D4BCF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76260D-BE7D-36DB-302D-8845A12D7587}"/>
              </a:ext>
            </a:extLst>
          </p:cNvPr>
          <p:cNvSpPr/>
          <p:nvPr/>
        </p:nvSpPr>
        <p:spPr>
          <a:xfrm>
            <a:off x="-15551" y="1540371"/>
            <a:ext cx="91439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 Preprocessing: Stop Word Removal, Stemming and Lemmatization</a:t>
            </a:r>
          </a:p>
        </p:txBody>
      </p:sp>
    </p:spTree>
    <p:extLst>
      <p:ext uri="{BB962C8B-B14F-4D97-AF65-F5344CB8AC3E}">
        <p14:creationId xmlns:p14="http://schemas.microsoft.com/office/powerpoint/2010/main" val="3425045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468F-7087-4C8F-D7B7-DE407F50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FF81-91C0-1A3F-F926-9B05FF08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3" y="-252412"/>
            <a:ext cx="8991600" cy="1143000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Text Pre-processing/Normalization: Stop Word Removal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F03CE-185A-4AA3-4EE3-D9E9B1962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00FD2-7F0E-77ED-AC61-33BA3D4B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43605-CD63-9629-6338-B07E56365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66CE0F3-36F2-1687-1D3E-A7877FE2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85800"/>
            <a:ext cx="8001000" cy="217447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Remove commonly used words in a language</a:t>
            </a:r>
          </a:p>
          <a:p>
            <a:pPr lvl="1" algn="just"/>
            <a:r>
              <a:rPr lang="en-IN" i="1" dirty="0"/>
              <a:t>a, the, is, are </a:t>
            </a:r>
            <a:r>
              <a:rPr lang="en-IN" dirty="0"/>
              <a:t>etc.</a:t>
            </a:r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F4F6D0-87C4-BC4E-C2F6-3269CC8CF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27" y="1814103"/>
            <a:ext cx="8916173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79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27E6-0044-E824-0BDD-6D92D721E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AE7D-6489-BBCB-E326-04ACD172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92" y="-76200"/>
            <a:ext cx="8991600" cy="1143000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Text Pre-processing/Normalization: Stemming and Lemmatization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D28FF-4BFB-7A1D-C7F8-D719807F9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26CE3-06B6-BF1F-3884-6D5548A01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70640-4C37-2A9D-F873-9DF6B09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0776C3-EE72-9921-1CA7-8E20E2D3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990599"/>
            <a:ext cx="8649087" cy="1676401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Stemming is a technique where words are reduced to their base or root form by removing suffixes or prefixes.</a:t>
            </a:r>
          </a:p>
          <a:p>
            <a:r>
              <a:rPr lang="en-US" dirty="0"/>
              <a:t>Lemmatization is a sophisticated technique that transforms words to their base forms, known as lemmas, considering the word’s meaning and context.</a:t>
            </a:r>
          </a:p>
          <a:p>
            <a:pPr algn="just"/>
            <a:r>
              <a:rPr lang="en-US" b="1" dirty="0"/>
              <a:t>Lemmatization: </a:t>
            </a:r>
            <a:r>
              <a:rPr lang="en-US" dirty="0"/>
              <a:t>determining that two words have the same root, despite their surface </a:t>
            </a:r>
            <a:r>
              <a:rPr lang="en-IN" dirty="0"/>
              <a:t>differences</a:t>
            </a:r>
          </a:p>
          <a:p>
            <a:pPr lvl="1" algn="just"/>
            <a:r>
              <a:rPr lang="en-US" dirty="0"/>
              <a:t>sang, sung, and sings are forms of sing</a:t>
            </a:r>
            <a:endParaRPr lang="en-IN" sz="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58C9F7-DD6D-08D8-8E9E-60BA3093C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88" y="2438400"/>
            <a:ext cx="8230313" cy="30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51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49F2C-F80F-286D-4762-473CF900C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0697-71D2-3B7F-7284-87D1B021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92" y="-76200"/>
            <a:ext cx="8991600" cy="1143000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Text Pre-processing/Normalization: Casing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257C5-7C28-3FAD-0E8F-F40C701E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89ADC-B802-E46D-5466-A042BA94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1CEC8-A3AC-CCAB-5E3F-8CFA1D14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86A4D1-E394-F13F-B14D-7471C5139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456" y="1295399"/>
            <a:ext cx="8649087" cy="2819401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b="1" dirty="0"/>
              <a:t>Casing: </a:t>
            </a:r>
            <a:r>
              <a:rPr lang="en-US" dirty="0"/>
              <a:t>Lowercase all words or not</a:t>
            </a:r>
          </a:p>
          <a:p>
            <a:pPr lvl="1" algn="just"/>
            <a:r>
              <a:rPr lang="en-US" i="1" dirty="0"/>
              <a:t>With pretrained language models, besides casing, we do none of the other steps</a:t>
            </a:r>
          </a:p>
          <a:p>
            <a:pPr algn="just"/>
            <a:r>
              <a:rPr lang="en-US" dirty="0"/>
              <a:t>After text normalization, most tokenizers are </a:t>
            </a:r>
            <a:r>
              <a:rPr lang="en-US" b="1" dirty="0"/>
              <a:t>irreversible</a:t>
            </a:r>
          </a:p>
          <a:p>
            <a:pPr algn="just"/>
            <a:r>
              <a:rPr lang="en-US" dirty="0"/>
              <a:t>We cannot recover the raw text definitively from the tokenized output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416148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3BDAD-A804-C446-A90D-1D4F8F26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27" y="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Python Example: Stop Word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137F5-B61B-51B3-C29C-B3170DEF1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code for removing stop words using the NLTK library:</a:t>
            </a:r>
          </a:p>
          <a:p>
            <a:pPr lvl="1" algn="just"/>
            <a:r>
              <a:rPr lang="en-US" dirty="0"/>
              <a:t>text = "S&amp;P and NASDAQ are the two most popular indices in US"</a:t>
            </a:r>
          </a:p>
          <a:p>
            <a:pPr lvl="1" algn="just"/>
            <a:r>
              <a:rPr lang="en-US" b="1" dirty="0"/>
              <a:t>from </a:t>
            </a:r>
            <a:r>
              <a:rPr lang="en-US" b="1" dirty="0" err="1"/>
              <a:t>nltk.corpus</a:t>
            </a:r>
            <a:r>
              <a:rPr lang="en-US" b="1" dirty="0"/>
              <a:t> import </a:t>
            </a:r>
            <a:r>
              <a:rPr lang="en-US" dirty="0" err="1"/>
              <a:t>stopwords</a:t>
            </a:r>
            <a:endParaRPr lang="en-US" dirty="0"/>
          </a:p>
          <a:p>
            <a:pPr lvl="1" algn="just"/>
            <a:r>
              <a:rPr lang="en-US" b="1" dirty="0"/>
              <a:t>from </a:t>
            </a:r>
            <a:r>
              <a:rPr lang="en-US" b="1" dirty="0" err="1"/>
              <a:t>nltk.tokenize</a:t>
            </a:r>
            <a:r>
              <a:rPr lang="en-US" b="1" dirty="0"/>
              <a:t> import </a:t>
            </a:r>
            <a:r>
              <a:rPr lang="en-US" dirty="0" err="1"/>
              <a:t>word_tokenize</a:t>
            </a:r>
            <a:endParaRPr lang="en-US" dirty="0"/>
          </a:p>
          <a:p>
            <a:pPr lvl="1" algn="just"/>
            <a:r>
              <a:rPr lang="en-US" dirty="0" err="1"/>
              <a:t>stop_words</a:t>
            </a:r>
            <a:r>
              <a:rPr lang="en-US" dirty="0"/>
              <a:t> = set(</a:t>
            </a:r>
            <a:r>
              <a:rPr lang="en-US" dirty="0" err="1"/>
              <a:t>stopwords.words</a:t>
            </a:r>
            <a:r>
              <a:rPr lang="en-US" dirty="0"/>
              <a:t>('</a:t>
            </a:r>
            <a:r>
              <a:rPr lang="en-US" dirty="0" err="1"/>
              <a:t>english</a:t>
            </a:r>
            <a:r>
              <a:rPr lang="en-US" dirty="0"/>
              <a:t>'))</a:t>
            </a:r>
          </a:p>
          <a:p>
            <a:pPr lvl="1" algn="just"/>
            <a:r>
              <a:rPr lang="en-US" dirty="0" err="1"/>
              <a:t>text_tokens</a:t>
            </a:r>
            <a:r>
              <a:rPr lang="en-US" dirty="0"/>
              <a:t> = </a:t>
            </a:r>
            <a:r>
              <a:rPr lang="en-US" dirty="0" err="1"/>
              <a:t>word_tokenize</a:t>
            </a:r>
            <a:r>
              <a:rPr lang="en-US" dirty="0"/>
              <a:t>(text)</a:t>
            </a:r>
            <a:endParaRPr lang="en-IN" dirty="0"/>
          </a:p>
          <a:p>
            <a:pPr lvl="1" algn="just"/>
            <a:r>
              <a:rPr lang="en-US" dirty="0" err="1"/>
              <a:t>tokens_without_sw</a:t>
            </a:r>
            <a:r>
              <a:rPr lang="en-US" dirty="0"/>
              <a:t>= [word </a:t>
            </a:r>
            <a:r>
              <a:rPr lang="en-US" b="1" dirty="0"/>
              <a:t>for </a:t>
            </a:r>
            <a:r>
              <a:rPr lang="en-US" dirty="0"/>
              <a:t>word </a:t>
            </a:r>
            <a:r>
              <a:rPr lang="en-US" b="1" dirty="0"/>
              <a:t>in </a:t>
            </a:r>
            <a:r>
              <a:rPr lang="en-US" dirty="0" err="1"/>
              <a:t>text_tokens</a:t>
            </a:r>
            <a:r>
              <a:rPr lang="en-US" dirty="0"/>
              <a:t> </a:t>
            </a:r>
            <a:r>
              <a:rPr lang="en-US" b="1" dirty="0"/>
              <a:t>if not </a:t>
            </a:r>
            <a:r>
              <a:rPr lang="en-US" dirty="0"/>
              <a:t>word </a:t>
            </a:r>
            <a:r>
              <a:rPr lang="en-US" b="1" dirty="0"/>
              <a:t>in </a:t>
            </a:r>
            <a:r>
              <a:rPr lang="en-US" dirty="0" err="1"/>
              <a:t>stop_words</a:t>
            </a:r>
            <a:r>
              <a:rPr lang="en-US" dirty="0"/>
              <a:t>]</a:t>
            </a:r>
          </a:p>
          <a:p>
            <a:pPr lvl="1" algn="just"/>
            <a:r>
              <a:rPr lang="en-IN" dirty="0"/>
              <a:t>print(</a:t>
            </a:r>
            <a:r>
              <a:rPr lang="en-IN" dirty="0" err="1"/>
              <a:t>tokens_without_sw</a:t>
            </a:r>
            <a:r>
              <a:rPr lang="en-IN" dirty="0"/>
              <a:t>)</a:t>
            </a:r>
          </a:p>
          <a:p>
            <a:pPr lvl="2" algn="just"/>
            <a:r>
              <a:rPr lang="en-IN" dirty="0"/>
              <a:t>Output:</a:t>
            </a:r>
          </a:p>
          <a:p>
            <a:pPr lvl="2" algn="just"/>
            <a:r>
              <a:rPr lang="en-IN" dirty="0"/>
              <a:t>['S', '&amp;', 'P', 'NASDAQ', 'two', 'popular', 'indices', 'US’]</a:t>
            </a:r>
          </a:p>
          <a:p>
            <a:pPr marL="914400" lvl="2" indent="0" algn="just">
              <a:buNone/>
            </a:pPr>
            <a:endParaRPr lang="en-IN" dirty="0"/>
          </a:p>
          <a:p>
            <a:pPr algn="just"/>
            <a:r>
              <a:rPr lang="en-IN" dirty="0"/>
              <a:t>The stop </a:t>
            </a:r>
            <a:r>
              <a:rPr lang="en-US" dirty="0" err="1"/>
              <a:t>words.words</a:t>
            </a:r>
            <a:r>
              <a:rPr lang="en-US" dirty="0"/>
              <a:t>('</a:t>
            </a:r>
            <a:r>
              <a:rPr lang="en-US" dirty="0" err="1"/>
              <a:t>english</a:t>
            </a:r>
            <a:r>
              <a:rPr lang="en-US" dirty="0"/>
              <a:t>') is a set of default stop words for the English language </a:t>
            </a:r>
            <a:r>
              <a:rPr lang="en-IN" dirty="0"/>
              <a:t>model in NLTK.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C560D-3833-5796-8FEF-4900ECF2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FEA7B-82D8-1D93-46FD-D4AB2DFE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6A8DE-6C5A-3452-0BE3-B27B6BED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42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E949D-72FE-D90A-C932-584652DC5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A8225-FEE5-B60E-F152-EDEAA4529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27" y="0"/>
            <a:ext cx="8229600" cy="9144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Python Example: Stemming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0BC17-47CC-821D-E345-F4A1680A8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text = "It's a Stemming testing"</a:t>
            </a:r>
          </a:p>
          <a:p>
            <a:r>
              <a:rPr lang="en-US" dirty="0" err="1"/>
              <a:t>parsed_text</a:t>
            </a:r>
            <a:r>
              <a:rPr lang="en-US" dirty="0"/>
              <a:t> = </a:t>
            </a:r>
            <a:r>
              <a:rPr lang="en-US" dirty="0" err="1"/>
              <a:t>word_tokenize</a:t>
            </a:r>
            <a:r>
              <a:rPr lang="en-US" dirty="0"/>
              <a:t>(text)</a:t>
            </a:r>
          </a:p>
          <a:p>
            <a:r>
              <a:rPr lang="en-IN" i="1" dirty="0"/>
              <a:t># Initialize stemmer.</a:t>
            </a:r>
          </a:p>
          <a:p>
            <a:r>
              <a:rPr lang="en-IN" b="1" dirty="0"/>
              <a:t>from </a:t>
            </a:r>
            <a:r>
              <a:rPr lang="en-IN" b="1" dirty="0" err="1"/>
              <a:t>nltk.stem.snowball</a:t>
            </a:r>
            <a:r>
              <a:rPr lang="en-IN" b="1" dirty="0"/>
              <a:t> import </a:t>
            </a:r>
            <a:r>
              <a:rPr lang="en-IN" dirty="0" err="1"/>
              <a:t>SnowballStemmer</a:t>
            </a:r>
            <a:endParaRPr lang="en-IN" dirty="0"/>
          </a:p>
          <a:p>
            <a:r>
              <a:rPr lang="en-IN" dirty="0"/>
              <a:t>stemmer = </a:t>
            </a:r>
            <a:r>
              <a:rPr lang="en-IN" dirty="0" err="1"/>
              <a:t>SnowballStemmer</a:t>
            </a:r>
            <a:r>
              <a:rPr lang="en-IN" dirty="0"/>
              <a:t>('</a:t>
            </a:r>
            <a:r>
              <a:rPr lang="en-IN" dirty="0" err="1"/>
              <a:t>english</a:t>
            </a:r>
            <a:r>
              <a:rPr lang="en-IN" dirty="0"/>
              <a:t>')</a:t>
            </a:r>
          </a:p>
          <a:p>
            <a:r>
              <a:rPr lang="en-IN" i="1" dirty="0"/>
              <a:t># Stem each word.</a:t>
            </a:r>
          </a:p>
          <a:p>
            <a:r>
              <a:rPr lang="en-US" dirty="0"/>
              <a:t>[(word, </a:t>
            </a:r>
            <a:r>
              <a:rPr lang="en-US" dirty="0" err="1"/>
              <a:t>stemmer.stem</a:t>
            </a:r>
            <a:r>
              <a:rPr lang="en-US" dirty="0"/>
              <a:t>(word)) </a:t>
            </a:r>
            <a:r>
              <a:rPr lang="en-US" b="1" dirty="0"/>
              <a:t>for </a:t>
            </a:r>
            <a:r>
              <a:rPr lang="en-US" dirty="0" err="1"/>
              <a:t>i</a:t>
            </a:r>
            <a:r>
              <a:rPr lang="en-US" dirty="0"/>
              <a:t>, word </a:t>
            </a:r>
            <a:r>
              <a:rPr lang="en-US" b="1" dirty="0"/>
              <a:t>in </a:t>
            </a:r>
            <a:r>
              <a:rPr lang="en-US" dirty="0"/>
              <a:t>enumerate(</a:t>
            </a:r>
            <a:r>
              <a:rPr lang="en-US" dirty="0" err="1"/>
              <a:t>parsed_text</a:t>
            </a:r>
            <a:r>
              <a:rPr lang="en-US" dirty="0"/>
              <a:t>)</a:t>
            </a:r>
          </a:p>
          <a:p>
            <a:r>
              <a:rPr lang="en-US" b="1" dirty="0"/>
              <a:t>if </a:t>
            </a:r>
            <a:r>
              <a:rPr lang="en-US" dirty="0" err="1"/>
              <a:t>word.lower</a:t>
            </a:r>
            <a:r>
              <a:rPr lang="en-US" dirty="0"/>
              <a:t>() != </a:t>
            </a:r>
            <a:r>
              <a:rPr lang="en-US" dirty="0" err="1"/>
              <a:t>stemmer.stem</a:t>
            </a:r>
            <a:r>
              <a:rPr lang="en-US" dirty="0"/>
              <a:t>(</a:t>
            </a:r>
            <a:r>
              <a:rPr lang="en-US" dirty="0" err="1"/>
              <a:t>parsed_text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])]</a:t>
            </a:r>
          </a:p>
          <a:p>
            <a:pPr lvl="1"/>
            <a:r>
              <a:rPr lang="en-IN" dirty="0"/>
              <a:t>Output</a:t>
            </a:r>
          </a:p>
          <a:p>
            <a:pPr lvl="1"/>
            <a:r>
              <a:rPr lang="en-IN" dirty="0"/>
              <a:t>[('Stemming', 'stem'), ('testing', 'test')]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AACE4-B936-2176-0C67-E3E63B261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8B23C-E414-23B6-4753-05C3098B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817BB-A137-152C-51FF-D326622A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661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0620A-4247-0FFB-77DC-A4722A16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8873-B7DD-8B37-4D36-FA14B6F7D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27" y="0"/>
            <a:ext cx="8229600" cy="9144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Python Example: Lemmatization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024E3-2708-9D4F-B677-8150C927C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dirty="0"/>
              <a:t>text = "This world has a lot of faces "</a:t>
            </a:r>
          </a:p>
          <a:p>
            <a:r>
              <a:rPr lang="en-IN" b="1" dirty="0"/>
              <a:t>from </a:t>
            </a:r>
            <a:r>
              <a:rPr lang="en-IN" b="1" dirty="0" err="1"/>
              <a:t>textblob</a:t>
            </a:r>
            <a:r>
              <a:rPr lang="en-IN" b="1" dirty="0"/>
              <a:t> import </a:t>
            </a:r>
            <a:r>
              <a:rPr lang="en-IN" dirty="0"/>
              <a:t>Word</a:t>
            </a:r>
          </a:p>
          <a:p>
            <a:r>
              <a:rPr lang="en-US" dirty="0" err="1"/>
              <a:t>parsed_data</a:t>
            </a:r>
            <a:r>
              <a:rPr lang="en-US" dirty="0"/>
              <a:t>= </a:t>
            </a:r>
            <a:r>
              <a:rPr lang="en-US" dirty="0" err="1"/>
              <a:t>TextBlob</a:t>
            </a:r>
            <a:r>
              <a:rPr lang="en-US" dirty="0"/>
              <a:t>(text).words</a:t>
            </a:r>
          </a:p>
          <a:p>
            <a:r>
              <a:rPr lang="en-US" dirty="0"/>
              <a:t>[(word, </a:t>
            </a:r>
            <a:r>
              <a:rPr lang="en-US" dirty="0" err="1"/>
              <a:t>word.lemmatize</a:t>
            </a:r>
            <a:r>
              <a:rPr lang="en-US" dirty="0"/>
              <a:t>()) </a:t>
            </a:r>
            <a:r>
              <a:rPr lang="en-US" b="1" dirty="0"/>
              <a:t>for </a:t>
            </a:r>
            <a:r>
              <a:rPr lang="en-US" dirty="0" err="1"/>
              <a:t>i</a:t>
            </a:r>
            <a:r>
              <a:rPr lang="en-US" dirty="0"/>
              <a:t>, word </a:t>
            </a:r>
            <a:r>
              <a:rPr lang="en-US" b="1" dirty="0"/>
              <a:t>in </a:t>
            </a:r>
            <a:r>
              <a:rPr lang="en-US" dirty="0"/>
              <a:t>enumerate(</a:t>
            </a:r>
            <a:r>
              <a:rPr lang="en-US" dirty="0" err="1"/>
              <a:t>parsed_data</a:t>
            </a:r>
            <a:r>
              <a:rPr lang="en-US" dirty="0"/>
              <a:t>)</a:t>
            </a:r>
          </a:p>
          <a:p>
            <a:r>
              <a:rPr lang="en-US" b="1" dirty="0"/>
              <a:t>if </a:t>
            </a:r>
            <a:r>
              <a:rPr lang="en-US" dirty="0"/>
              <a:t>word != </a:t>
            </a:r>
            <a:r>
              <a:rPr lang="en-US" dirty="0" err="1"/>
              <a:t>parsed_data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].lemmatize()]</a:t>
            </a:r>
          </a:p>
          <a:p>
            <a:pPr lvl="1"/>
            <a:r>
              <a:rPr lang="en-IN" dirty="0"/>
              <a:t>Output</a:t>
            </a:r>
          </a:p>
          <a:p>
            <a:pPr lvl="1"/>
            <a:r>
              <a:rPr lang="en-IN" dirty="0"/>
              <a:t>[('has', 'ha'), ('faces', 'face')]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BB627-5B61-6631-28BF-9936456D3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809E-697D-35EA-0B45-BAD99F63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0BD0B-010D-0569-F428-81EE0D110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56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34094-62BA-614F-D855-4B74C52B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EB8843-9FEC-A30A-E235-60E72E28D0C2}"/>
              </a:ext>
            </a:extLst>
          </p:cNvPr>
          <p:cNvSpPr/>
          <p:nvPr/>
        </p:nvSpPr>
        <p:spPr>
          <a:xfrm>
            <a:off x="1" y="1143000"/>
            <a:ext cx="91439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 Preprocessing: Parts of Speech (</a:t>
            </a:r>
            <a:r>
              <a:rPr kumimoji="0" lang="en-US" sz="6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Tagging and Named Entity Recognition (NER)</a:t>
            </a:r>
          </a:p>
        </p:txBody>
      </p:sp>
    </p:spTree>
    <p:extLst>
      <p:ext uri="{BB962C8B-B14F-4D97-AF65-F5344CB8AC3E}">
        <p14:creationId xmlns:p14="http://schemas.microsoft.com/office/powerpoint/2010/main" val="3194240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B5FE-8AE4-B3D4-ABA7-785930D9F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3" y="342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Text Pre-processing/Normalization: Part of Speech (</a:t>
            </a:r>
            <a:r>
              <a:rPr lang="en-IN" b="1" dirty="0" err="1">
                <a:solidFill>
                  <a:srgbClr val="FF0000"/>
                </a:solidFill>
              </a:rPr>
              <a:t>PoS</a:t>
            </a:r>
            <a:r>
              <a:rPr lang="en-IN" b="1" dirty="0">
                <a:solidFill>
                  <a:srgbClr val="FF0000"/>
                </a:solidFill>
              </a:rPr>
              <a:t>) Tagging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3044B-4086-B559-31D0-2F357062C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78" y="1129997"/>
            <a:ext cx="8229600" cy="263278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dirty="0" err="1"/>
              <a:t>PoS</a:t>
            </a:r>
            <a:r>
              <a:rPr lang="en-US" dirty="0"/>
              <a:t> involves assigning a grammatical category (such as noun, verb, adjective, etc.) to each word in a sentence.</a:t>
            </a:r>
          </a:p>
          <a:p>
            <a:pPr algn="just"/>
            <a:r>
              <a:rPr lang="en-US" dirty="0"/>
              <a:t>Helps machines understand the syntactic structure (</a:t>
            </a:r>
            <a:r>
              <a:rPr lang="en-IN" dirty="0"/>
              <a:t>grammar and structure - </a:t>
            </a:r>
            <a:r>
              <a:rPr lang="en-US" dirty="0"/>
              <a:t>the rules for arranging words/symbols in a sentence) of sentences, which is crucial for tasks like: </a:t>
            </a:r>
          </a:p>
          <a:p>
            <a:pPr lvl="1" algn="just"/>
            <a:r>
              <a:rPr lang="en-US" dirty="0"/>
              <a:t>Machine Translation</a:t>
            </a:r>
          </a:p>
          <a:p>
            <a:pPr lvl="1" algn="just"/>
            <a:r>
              <a:rPr lang="en-IN" dirty="0"/>
              <a:t>Information extraction</a:t>
            </a:r>
          </a:p>
          <a:p>
            <a:pPr lvl="1" algn="just"/>
            <a:r>
              <a:rPr lang="en-IN" dirty="0"/>
              <a:t>Question answering</a:t>
            </a:r>
          </a:p>
          <a:p>
            <a:pPr lvl="1" algn="just"/>
            <a:r>
              <a:rPr lang="en-IN" dirty="0"/>
              <a:t>Text to speech conversion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CA5C2-5ECC-DE75-EDD5-15C009DB1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5E9EA-7A30-6093-3C06-C8F8C910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7BC3F-B881-1EA7-22DA-C0239CAE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A69AB1-E3AB-7F31-74D7-0E4E163B2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444" y="2446391"/>
            <a:ext cx="4572000" cy="29427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1FD1F0-B043-68FE-7102-55D5EA2AD62C}"/>
              </a:ext>
            </a:extLst>
          </p:cNvPr>
          <p:cNvSpPr txBox="1"/>
          <p:nvPr/>
        </p:nvSpPr>
        <p:spPr>
          <a:xfrm>
            <a:off x="419878" y="3435220"/>
            <a:ext cx="36591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Eight basic parts of speech: noun, verb,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pronoun, preposition, adverb, conjunction, participle, and article. (Ref.: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Dionysius Thrax of Alexandria (c. 100 B.C.))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Words often have more than one POS.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VERB: (</a:t>
            </a:r>
            <a:r>
              <a:rPr kumimoji="0" lang="en-I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 </a:t>
            </a:r>
            <a:r>
              <a:rPr kumimoji="0" lang="en-IN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that flight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NOUN: 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Hand me that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C3691-A9E0-7213-8137-27FA26809476}"/>
              </a:ext>
            </a:extLst>
          </p:cNvPr>
          <p:cNvSpPr txBox="1"/>
          <p:nvPr/>
        </p:nvSpPr>
        <p:spPr>
          <a:xfrm>
            <a:off x="4268755" y="5523249"/>
            <a:ext cx="48752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goal of POS-tagging is to resolve ambiguities, choosing the proper tag for the context.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563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F482B-5F09-240F-837C-F9CD763C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39" y="0"/>
            <a:ext cx="8229600" cy="1143000"/>
          </a:xfrm>
        </p:spPr>
        <p:txBody>
          <a:bodyPr>
            <a:normAutofit/>
          </a:bodyPr>
          <a:lstStyle/>
          <a:p>
            <a:r>
              <a:rPr lang="en-IN" b="1" dirty="0" err="1">
                <a:solidFill>
                  <a:srgbClr val="FF0000"/>
                </a:solidFill>
              </a:rPr>
              <a:t>PoS</a:t>
            </a:r>
            <a:r>
              <a:rPr lang="en-IN" b="1" dirty="0">
                <a:solidFill>
                  <a:srgbClr val="FF0000"/>
                </a:solidFill>
              </a:rPr>
              <a:t> Tagging: Popular tag-set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7F16C1-977C-F2AF-CDDA-AE52B828F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905000"/>
            <a:ext cx="8229600" cy="425946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40566-F826-03C2-AB2E-D47CE8D19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D84D6-2605-48E6-DC1C-A8276972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582D4-7817-833C-0A1A-9B242EF6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D72F7-062A-2885-0A43-0275BC77C3ED}"/>
              </a:ext>
            </a:extLst>
          </p:cNvPr>
          <p:cNvSpPr txBox="1"/>
          <p:nvPr/>
        </p:nvSpPr>
        <p:spPr>
          <a:xfrm>
            <a:off x="628261" y="1043226"/>
            <a:ext cx="821093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An English-specific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tagset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,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Penn Treebank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tagset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Marcus et al.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1993)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, has been used to label many syntactically annotated corpora like the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imbusRomNo9L-Regu"/>
                <a:ea typeface="+mn-ea"/>
                <a:cs typeface="+mn-cs"/>
              </a:rPr>
              <a:t>Penn Treebank corpora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has 36 primary POS tags</a:t>
            </a:r>
          </a:p>
        </p:txBody>
      </p:sp>
    </p:spTree>
    <p:extLst>
      <p:ext uri="{BB962C8B-B14F-4D97-AF65-F5344CB8AC3E}">
        <p14:creationId xmlns:p14="http://schemas.microsoft.com/office/powerpoint/2010/main" val="181619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56041-1CC1-F49B-D2F6-B2C8C4A73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82" y="122529"/>
            <a:ext cx="8229600" cy="1143000"/>
          </a:xfrm>
        </p:spPr>
        <p:txBody>
          <a:bodyPr/>
          <a:lstStyle/>
          <a:p>
            <a:r>
              <a:rPr lang="en-IN" b="1" dirty="0" err="1">
                <a:solidFill>
                  <a:srgbClr val="FF0000"/>
                </a:solidFill>
              </a:rPr>
              <a:t>PoS</a:t>
            </a:r>
            <a:r>
              <a:rPr lang="en-IN" b="1" dirty="0">
                <a:solidFill>
                  <a:srgbClr val="FF0000"/>
                </a:solidFill>
              </a:rPr>
              <a:t> Tagging: Python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08ACC-1634-8CD7-A36B-DF19B4F09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code for </a:t>
            </a:r>
            <a:r>
              <a:rPr lang="en-US" dirty="0" err="1"/>
              <a:t>PoS</a:t>
            </a:r>
            <a:r>
              <a:rPr lang="en-US" dirty="0"/>
              <a:t> tagging using the </a:t>
            </a:r>
            <a:r>
              <a:rPr lang="en-US" dirty="0" err="1"/>
              <a:t>TextBlob</a:t>
            </a:r>
            <a:r>
              <a:rPr lang="en-US" dirty="0"/>
              <a:t> library:</a:t>
            </a:r>
          </a:p>
          <a:p>
            <a:pPr lvl="1"/>
            <a:r>
              <a:rPr lang="en-US" dirty="0"/>
              <a:t>text = 'Google is looking at buying U.K. startup for $1 billion'</a:t>
            </a:r>
          </a:p>
          <a:p>
            <a:pPr lvl="1"/>
            <a:r>
              <a:rPr lang="en-IN" dirty="0" err="1"/>
              <a:t>TextBlob</a:t>
            </a:r>
            <a:r>
              <a:rPr lang="en-IN" dirty="0"/>
              <a:t>(text).tags</a:t>
            </a:r>
          </a:p>
          <a:p>
            <a:pPr lvl="2"/>
            <a:r>
              <a:rPr lang="en-IN" dirty="0"/>
              <a:t>Output</a:t>
            </a:r>
          </a:p>
          <a:p>
            <a:pPr lvl="3"/>
            <a:r>
              <a:rPr lang="en-IN" dirty="0"/>
              <a:t>[('Google', 'NNP'),</a:t>
            </a:r>
          </a:p>
          <a:p>
            <a:pPr lvl="3"/>
            <a:r>
              <a:rPr lang="en-IN" dirty="0"/>
              <a:t>('is', 'VBZ'),</a:t>
            </a:r>
          </a:p>
          <a:p>
            <a:pPr lvl="3"/>
            <a:r>
              <a:rPr lang="en-IN" dirty="0"/>
              <a:t>('looking', 'VBG'),</a:t>
            </a:r>
          </a:p>
          <a:p>
            <a:pPr lvl="3"/>
            <a:r>
              <a:rPr lang="en-IN" dirty="0"/>
              <a:t>('at', 'IN'),</a:t>
            </a:r>
          </a:p>
          <a:p>
            <a:pPr lvl="3"/>
            <a:r>
              <a:rPr lang="en-IN" dirty="0"/>
              <a:t>('buying', 'VBG'),</a:t>
            </a:r>
          </a:p>
          <a:p>
            <a:pPr lvl="3"/>
            <a:r>
              <a:rPr lang="en-IN" dirty="0"/>
              <a:t>('U.K.', 'NNP'),</a:t>
            </a:r>
          </a:p>
          <a:p>
            <a:pPr lvl="3"/>
            <a:r>
              <a:rPr lang="en-IN" dirty="0"/>
              <a:t>('startup', 'NN'),</a:t>
            </a:r>
          </a:p>
          <a:p>
            <a:pPr lvl="3"/>
            <a:r>
              <a:rPr lang="en-IN" dirty="0"/>
              <a:t>('for', 'IN'),</a:t>
            </a:r>
          </a:p>
          <a:p>
            <a:pPr lvl="3"/>
            <a:r>
              <a:rPr lang="en-IN" dirty="0"/>
              <a:t>('1', 'CD'),</a:t>
            </a:r>
          </a:p>
          <a:p>
            <a:pPr lvl="3"/>
            <a:r>
              <a:rPr lang="en-IN" dirty="0"/>
              <a:t>('billion', 'CD')]</a:t>
            </a:r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C73F5-F0B4-97AF-67B3-B6BA697BF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6DB1-F765-8C90-5237-BC8685E8F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F058-A302-6C8C-E2CA-0657C2BDB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7906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8E73-7D68-CDB7-B68B-06DBDD70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80A8-DA5C-1A75-A711-1407E756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39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rgbClr val="FF0000"/>
                </a:solidFill>
              </a:rPr>
              <a:t>PoS</a:t>
            </a:r>
            <a:r>
              <a:rPr lang="en-IN" b="1" dirty="0">
                <a:solidFill>
                  <a:srgbClr val="FF0000"/>
                </a:solidFill>
              </a:rPr>
              <a:t> Tagging: Methods and Evaluation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F9808-4239-AE6E-E3DA-5CC9006EC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15834-0CB0-66EB-D2E8-C86C08242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D88D3-5E45-8BA1-F0EA-E232FFD6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8DDA4-3C16-BDCF-97D1-996D78EFD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861" y="1172547"/>
            <a:ext cx="8229600" cy="4525963"/>
          </a:xfrm>
        </p:spPr>
        <p:txBody>
          <a:bodyPr>
            <a:normAutofit/>
          </a:bodyPr>
          <a:lstStyle/>
          <a:p>
            <a:r>
              <a:rPr lang="en-IN" b="1" dirty="0"/>
              <a:t>Methods:</a:t>
            </a:r>
          </a:p>
          <a:p>
            <a:pPr lvl="1"/>
            <a:r>
              <a:rPr lang="en-IN" dirty="0"/>
              <a:t>Hidden Markov Models (HMM)</a:t>
            </a:r>
          </a:p>
          <a:p>
            <a:pPr lvl="1"/>
            <a:r>
              <a:rPr lang="en-IN" dirty="0"/>
              <a:t>Maximum Entropy Markov Models</a:t>
            </a:r>
          </a:p>
          <a:p>
            <a:pPr lvl="1"/>
            <a:r>
              <a:rPr lang="en-IN" dirty="0"/>
              <a:t>Conditional Random Fields (CRF)</a:t>
            </a:r>
          </a:p>
          <a:p>
            <a:pPr lvl="1"/>
            <a:r>
              <a:rPr lang="en-IN" dirty="0"/>
              <a:t>RNNs, Transformers  </a:t>
            </a:r>
            <a:r>
              <a:rPr lang="en-IN" dirty="0">
                <a:sym typeface="Wingdings" panose="05000000000000000000" pitchFamily="2" charset="2"/>
              </a:rPr>
              <a:t> Recent Approaches</a:t>
            </a:r>
            <a:endParaRPr lang="en-IN" dirty="0"/>
          </a:p>
          <a:p>
            <a:r>
              <a:rPr lang="en-IN" b="1" dirty="0"/>
              <a:t>Evaluation:</a:t>
            </a:r>
          </a:p>
          <a:p>
            <a:pPr lvl="1"/>
            <a:r>
              <a:rPr lang="en-IN" dirty="0"/>
              <a:t>Accuracy</a:t>
            </a:r>
          </a:p>
          <a:p>
            <a:pPr lvl="1"/>
            <a:r>
              <a:rPr lang="en-US" dirty="0"/>
              <a:t>Macro-F1 (giving equal importance to each tag)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760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EC2D-2B3D-11E2-E1C0-96367445C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C783-4421-F995-0382-36529418D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39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Text Pre-processing/Normalization: Named Entity Recognition (NER)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58839-DD97-29D0-13B3-A90FD2B90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C60DD-CB5D-E363-7A8F-E2065FC3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A13C8-4F96-D09B-4F93-5943A2B2A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9FACFF-116A-8639-682A-72F74CBDD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4705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i="1" dirty="0"/>
              <a:t>Named entity recognition </a:t>
            </a:r>
            <a:r>
              <a:rPr lang="en-US" dirty="0"/>
              <a:t>(NER) is an optional next step in data preprocessing that seeks to locate and classify named entities in text into predefined categories. </a:t>
            </a:r>
          </a:p>
          <a:p>
            <a:pPr algn="just"/>
            <a:r>
              <a:rPr lang="en-US" dirty="0"/>
              <a:t>These categories can include names of persons, organizations, locations, expressions of </a:t>
            </a:r>
            <a:r>
              <a:rPr lang="en-IN" dirty="0"/>
              <a:t>times, quantities, monetary values, or percentages.</a:t>
            </a:r>
          </a:p>
          <a:p>
            <a:pPr algn="just"/>
            <a:r>
              <a:rPr lang="en-US" dirty="0"/>
              <a:t>While parts of speech are generally assigned to individual words or morphemes, a proper name is often an entire multiword phrase, like the name “Marie Curie”, the location “New York City”, or the organization “Stanford University”. </a:t>
            </a:r>
          </a:p>
          <a:p>
            <a:pPr algn="just"/>
            <a:r>
              <a:rPr lang="en-US" dirty="0"/>
              <a:t>We’ll use the term named entity for, roughly speaking, anything that can be referred to with a proper name: a person, a location, an organization, although as we’ll see the term is commonly extended to include things that aren’t entities per 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4903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8E632-5E3E-8483-F9D5-61EF8FB6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711E-6167-F68C-793E-5CEE7946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82" y="122529"/>
            <a:ext cx="8229600" cy="114300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NER: Python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AF818-C182-C352-050D-261235752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NER performed using </a:t>
            </a:r>
            <a:r>
              <a:rPr lang="en-US" dirty="0" err="1"/>
              <a:t>spaCy</a:t>
            </a:r>
            <a:r>
              <a:rPr lang="en-US" dirty="0"/>
              <a:t> library:</a:t>
            </a:r>
          </a:p>
          <a:p>
            <a:pPr lvl="1"/>
            <a:r>
              <a:rPr lang="en-US" dirty="0"/>
              <a:t>text = 'Google is looking at buying U.K. startup for $1 billion'</a:t>
            </a:r>
          </a:p>
          <a:p>
            <a:pPr lvl="1"/>
            <a:r>
              <a:rPr lang="en-US" b="1" dirty="0"/>
              <a:t>for </a:t>
            </a:r>
            <a:r>
              <a:rPr lang="en-US" dirty="0"/>
              <a:t>entity </a:t>
            </a:r>
            <a:r>
              <a:rPr lang="en-US" b="1" dirty="0"/>
              <a:t>in </a:t>
            </a:r>
            <a:r>
              <a:rPr lang="en-US" dirty="0" err="1"/>
              <a:t>nlp</a:t>
            </a:r>
            <a:r>
              <a:rPr lang="en-US" dirty="0"/>
              <a:t>(text).ents:</a:t>
            </a:r>
          </a:p>
          <a:p>
            <a:pPr lvl="1"/>
            <a:r>
              <a:rPr lang="en-IN" dirty="0"/>
              <a:t>print("Entity: ", </a:t>
            </a:r>
            <a:r>
              <a:rPr lang="en-IN" dirty="0" err="1"/>
              <a:t>entity.text</a:t>
            </a:r>
            <a:r>
              <a:rPr lang="en-IN" dirty="0"/>
              <a:t>)</a:t>
            </a:r>
          </a:p>
          <a:p>
            <a:pPr lvl="2"/>
            <a:r>
              <a:rPr lang="en-IN" dirty="0"/>
              <a:t>Output</a:t>
            </a:r>
          </a:p>
          <a:p>
            <a:pPr lvl="3"/>
            <a:r>
              <a:rPr lang="en-IN" dirty="0"/>
              <a:t>Entity: Google</a:t>
            </a:r>
          </a:p>
          <a:p>
            <a:pPr lvl="3"/>
            <a:r>
              <a:rPr lang="en-IN" dirty="0"/>
              <a:t>Entity: U.K.</a:t>
            </a:r>
          </a:p>
          <a:p>
            <a:pPr lvl="3"/>
            <a:r>
              <a:rPr lang="en-IN" dirty="0"/>
              <a:t>Entity: $1 billion</a:t>
            </a:r>
          </a:p>
          <a:p>
            <a:r>
              <a:rPr lang="en-US" dirty="0"/>
              <a:t>Visualizing named entities in text using the </a:t>
            </a:r>
            <a:r>
              <a:rPr lang="en-US" dirty="0" err="1"/>
              <a:t>displacy</a:t>
            </a:r>
            <a:r>
              <a:rPr lang="en-US" dirty="0"/>
              <a:t> module, can also be incredibly helpful in speeding up development and debugging the code and training process:</a:t>
            </a:r>
          </a:p>
          <a:p>
            <a:pPr lvl="1"/>
            <a:r>
              <a:rPr lang="en-IN" dirty="0"/>
              <a:t>from spacy import </a:t>
            </a:r>
            <a:r>
              <a:rPr lang="en-IN" dirty="0" err="1"/>
              <a:t>displacy</a:t>
            </a:r>
            <a:endParaRPr lang="en-IN" dirty="0"/>
          </a:p>
          <a:p>
            <a:pPr lvl="1"/>
            <a:r>
              <a:rPr lang="en-IN" dirty="0" err="1"/>
              <a:t>displacy.render</a:t>
            </a:r>
            <a:r>
              <a:rPr lang="en-IN" dirty="0"/>
              <a:t>(</a:t>
            </a:r>
            <a:r>
              <a:rPr lang="en-IN" dirty="0" err="1"/>
              <a:t>nlp</a:t>
            </a:r>
            <a:r>
              <a:rPr lang="en-IN" dirty="0"/>
              <a:t>(text), style="</a:t>
            </a:r>
            <a:r>
              <a:rPr lang="en-IN" dirty="0" err="1"/>
              <a:t>ent</a:t>
            </a:r>
            <a:r>
              <a:rPr lang="en-IN" dirty="0"/>
              <a:t>", </a:t>
            </a:r>
            <a:r>
              <a:rPr lang="en-IN" dirty="0" err="1"/>
              <a:t>jupyter</a:t>
            </a:r>
            <a:r>
              <a:rPr lang="en-IN" dirty="0"/>
              <a:t> = True)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D3ABE-6066-F508-A22B-2D5A726D4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81366-9458-D0BE-4827-E7B43FB8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107E9-1D24-3D38-9C63-9F446E02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27705F-432A-6925-0A55-6C6CB864B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017"/>
          <a:stretch>
            <a:fillRect/>
          </a:stretch>
        </p:blipFill>
        <p:spPr>
          <a:xfrm>
            <a:off x="381000" y="5391507"/>
            <a:ext cx="8690123" cy="64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54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6469-A01E-D092-447E-7F3675034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Text Pre-processing: Other optional preprocessing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170A9-1280-0A0D-3031-8E19682F1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IN" i="1" dirty="0"/>
              <a:t>Dependency parsing</a:t>
            </a:r>
          </a:p>
          <a:p>
            <a:pPr lvl="1" algn="just"/>
            <a:r>
              <a:rPr lang="en-US" dirty="0"/>
              <a:t>Assigns a syntactic structure to sentences to make sense of how the words in the sentence relate to each other.</a:t>
            </a:r>
          </a:p>
          <a:p>
            <a:pPr algn="just"/>
            <a:r>
              <a:rPr lang="en-IN" i="1" dirty="0"/>
              <a:t>Coreference resolution</a:t>
            </a:r>
          </a:p>
          <a:p>
            <a:pPr lvl="1" algn="just"/>
            <a:r>
              <a:rPr lang="en-US" dirty="0"/>
              <a:t>The process of connecting tokens that represent the same entity. </a:t>
            </a:r>
          </a:p>
          <a:p>
            <a:pPr lvl="1" algn="just"/>
            <a:r>
              <a:rPr lang="en-US" dirty="0"/>
              <a:t>It is common in languages to introduce a subject with their name in one sentence and then refer to them as him/her/it in subsequent sentences.</a:t>
            </a:r>
          </a:p>
          <a:p>
            <a:pPr algn="just"/>
            <a:r>
              <a:rPr lang="en-IN" i="1" dirty="0"/>
              <a:t>Triplet extraction</a:t>
            </a:r>
          </a:p>
          <a:p>
            <a:pPr lvl="1" algn="just"/>
            <a:r>
              <a:rPr lang="en-US" dirty="0"/>
              <a:t>The process of recording subject, verb, and object triplets when available in the </a:t>
            </a:r>
            <a:r>
              <a:rPr lang="en-IN" dirty="0"/>
              <a:t>sentence structure.</a:t>
            </a:r>
          </a:p>
          <a:p>
            <a:pPr algn="just"/>
            <a:r>
              <a:rPr lang="en-IN" i="1" dirty="0"/>
              <a:t>Relation extraction</a:t>
            </a:r>
          </a:p>
          <a:p>
            <a:pPr lvl="1" algn="just"/>
            <a:r>
              <a:rPr lang="en-US" dirty="0"/>
              <a:t>A broader form of triplet extraction in which entities can have multiple </a:t>
            </a:r>
            <a:r>
              <a:rPr lang="en-IN" dirty="0"/>
              <a:t>interactions.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29CA-BE85-E21F-6751-76B66E37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A16A5-6E20-EEA4-B03D-9B62BBA0F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A1A0E-C502-9E37-3C2F-73726A73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052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A812-6970-D064-E075-6B005B2A0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All Preprocessing in one go: Python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57755-DF2F-0D56-386E-32BC6BA32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When we call </a:t>
            </a:r>
            <a:r>
              <a:rPr lang="en-US" i="1" dirty="0" err="1"/>
              <a:t>nlp</a:t>
            </a:r>
            <a:r>
              <a:rPr lang="en-US" i="1" dirty="0"/>
              <a:t> </a:t>
            </a:r>
            <a:r>
              <a:rPr lang="en-US" dirty="0"/>
              <a:t>on a text, </a:t>
            </a:r>
            <a:r>
              <a:rPr lang="en-US" dirty="0" err="1"/>
              <a:t>spaCy</a:t>
            </a:r>
            <a:r>
              <a:rPr lang="en-US" dirty="0"/>
              <a:t> first tokenizes the text to produce a </a:t>
            </a:r>
            <a:r>
              <a:rPr lang="en-US" i="1" dirty="0"/>
              <a:t>Doc </a:t>
            </a:r>
            <a:r>
              <a:rPr lang="en-US" dirty="0"/>
              <a:t>object.</a:t>
            </a:r>
          </a:p>
          <a:p>
            <a:pPr algn="just"/>
            <a:r>
              <a:rPr lang="en-US" dirty="0"/>
              <a:t>The </a:t>
            </a:r>
            <a:r>
              <a:rPr lang="en-US" i="1" dirty="0"/>
              <a:t>Doc </a:t>
            </a:r>
            <a:r>
              <a:rPr lang="en-US" dirty="0"/>
              <a:t>is then processed in several different steps. </a:t>
            </a:r>
          </a:p>
          <a:p>
            <a:pPr algn="just"/>
            <a:r>
              <a:rPr lang="en-US" dirty="0"/>
              <a:t>This is also referred to as the </a:t>
            </a:r>
            <a:r>
              <a:rPr lang="en-US" i="1" dirty="0"/>
              <a:t>processing pipeline</a:t>
            </a:r>
            <a:r>
              <a:rPr lang="en-US" dirty="0"/>
              <a:t>. The pipeline used by the default models consists of a </a:t>
            </a:r>
            <a:r>
              <a:rPr lang="en-US" i="1" dirty="0"/>
              <a:t>tagger</a:t>
            </a:r>
            <a:r>
              <a:rPr lang="en-US" dirty="0"/>
              <a:t>, a </a:t>
            </a:r>
            <a:r>
              <a:rPr lang="en-US" i="1" dirty="0"/>
              <a:t>parser</a:t>
            </a:r>
            <a:r>
              <a:rPr lang="en-US" dirty="0"/>
              <a:t>, and an </a:t>
            </a:r>
            <a:r>
              <a:rPr lang="en-US" i="1" dirty="0"/>
              <a:t>entity recognizer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Each pipeline component returns the processed </a:t>
            </a:r>
            <a:r>
              <a:rPr lang="en-US" i="1" dirty="0"/>
              <a:t>Doc</a:t>
            </a:r>
            <a:r>
              <a:rPr lang="en-US" dirty="0"/>
              <a:t>, which is then passed on to the next component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554B9-63AE-21A3-933F-4354EF25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F4327-3A52-EF99-3960-370F7781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D474A-1903-D948-FCB5-12243F12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AF01D3-BE07-1386-97B9-1A2D6B7B2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5684164"/>
            <a:ext cx="4381880" cy="8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08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778F-E112-3E65-3C14-C977B56DB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9F713-7840-AFD9-03BC-7EE005440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All Preprocessing in one go: Python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06309-88CA-B18D-458D-4E6EABD39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= 'Google is looking at buying U.K. startup for $1 billion'</a:t>
            </a:r>
          </a:p>
          <a:p>
            <a:r>
              <a:rPr lang="en-IN" dirty="0"/>
              <a:t>doc = </a:t>
            </a:r>
            <a:r>
              <a:rPr lang="en-IN" dirty="0" err="1"/>
              <a:t>nlp</a:t>
            </a:r>
            <a:r>
              <a:rPr lang="en-IN" dirty="0"/>
              <a:t>(text)</a:t>
            </a:r>
          </a:p>
          <a:p>
            <a:r>
              <a:rPr lang="en-IN" dirty="0" err="1"/>
              <a:t>pd.DataFrame</a:t>
            </a:r>
            <a:r>
              <a:rPr lang="en-IN" dirty="0"/>
              <a:t>([[</a:t>
            </a:r>
            <a:r>
              <a:rPr lang="en-IN" dirty="0" err="1"/>
              <a:t>t.text</a:t>
            </a:r>
            <a:r>
              <a:rPr lang="en-IN" dirty="0"/>
              <a:t>, </a:t>
            </a:r>
            <a:r>
              <a:rPr lang="en-IN" dirty="0" err="1"/>
              <a:t>t.is_stop</a:t>
            </a:r>
            <a:r>
              <a:rPr lang="en-IN" dirty="0"/>
              <a:t>, </a:t>
            </a:r>
            <a:r>
              <a:rPr lang="en-IN" dirty="0" err="1"/>
              <a:t>t.lemma</a:t>
            </a:r>
            <a:r>
              <a:rPr lang="en-IN" dirty="0"/>
              <a:t>_, </a:t>
            </a:r>
            <a:r>
              <a:rPr lang="en-IN" dirty="0" err="1"/>
              <a:t>t.pos</a:t>
            </a:r>
            <a:r>
              <a:rPr lang="en-IN" dirty="0"/>
              <a:t>_]</a:t>
            </a:r>
          </a:p>
          <a:p>
            <a:pPr marL="1371600" lvl="3" indent="0">
              <a:buNone/>
            </a:pPr>
            <a:r>
              <a:rPr lang="en-IN" b="1" dirty="0"/>
              <a:t>for </a:t>
            </a:r>
            <a:r>
              <a:rPr lang="en-IN" dirty="0"/>
              <a:t>t </a:t>
            </a:r>
            <a:r>
              <a:rPr lang="en-IN" b="1" dirty="0"/>
              <a:t>in </a:t>
            </a:r>
            <a:r>
              <a:rPr lang="en-IN" dirty="0"/>
              <a:t>doc],</a:t>
            </a:r>
          </a:p>
          <a:p>
            <a:pPr marL="1371600" lvl="3" indent="0">
              <a:buNone/>
            </a:pPr>
            <a:r>
              <a:rPr lang="en-IN" dirty="0"/>
              <a:t>columns=['Token', '</a:t>
            </a:r>
            <a:r>
              <a:rPr lang="en-IN" dirty="0" err="1"/>
              <a:t>is_stop_word</a:t>
            </a:r>
            <a:r>
              <a:rPr lang="en-IN" dirty="0"/>
              <a:t>', 'lemma', 'POS'])</a:t>
            </a:r>
          </a:p>
          <a:p>
            <a:pPr lvl="1"/>
            <a:r>
              <a:rPr lang="en-IN" dirty="0"/>
              <a:t>Output:</a:t>
            </a:r>
          </a:p>
          <a:p>
            <a:pPr lvl="1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302C4-78AF-00F3-A0FE-7AB775087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A1B19-C9B6-D334-EED4-0742AF7D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0F296-5B9A-9EFC-00D7-33EDDF73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07FBB8-883A-D8B4-E667-87F818686E2F}"/>
              </a:ext>
            </a:extLst>
          </p:cNvPr>
          <p:cNvGrpSpPr/>
          <p:nvPr/>
        </p:nvGrpSpPr>
        <p:grpSpPr>
          <a:xfrm>
            <a:off x="2590800" y="5164213"/>
            <a:ext cx="1615446" cy="1665795"/>
            <a:chOff x="2590800" y="5164213"/>
            <a:chExt cx="1615446" cy="166579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ED16242-CAED-AF03-779B-4F810126A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0056" y="5164213"/>
              <a:ext cx="1474744" cy="76809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C78AB9D-4641-4590-D758-5E3851EBA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8930"/>
            <a:stretch>
              <a:fillRect/>
            </a:stretch>
          </p:blipFill>
          <p:spPr>
            <a:xfrm>
              <a:off x="2590800" y="5874732"/>
              <a:ext cx="1615446" cy="9552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9371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6212-EA46-8442-E2D8-0F033D3B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0"/>
            <a:ext cx="8229600" cy="731837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 Tokenization with BPE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96C04B8-1A93-0209-842F-DF5F3466CA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47900" y="731837"/>
          <a:ext cx="1562100" cy="19255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5009">
                  <a:extLst>
                    <a:ext uri="{9D8B030D-6E8A-4147-A177-3AD203B41FA5}">
                      <a16:colId xmlns:a16="http://schemas.microsoft.com/office/drawing/2014/main" val="1884719689"/>
                    </a:ext>
                  </a:extLst>
                </a:gridCol>
                <a:gridCol w="747091">
                  <a:extLst>
                    <a:ext uri="{9D8B030D-6E8A-4147-A177-3AD203B41FA5}">
                      <a16:colId xmlns:a16="http://schemas.microsoft.com/office/drawing/2014/main" val="34576469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Word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Frequency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919794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3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060375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reads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2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701960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reader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2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18895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reading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2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662238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unread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1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744590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readers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1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97948884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3510A-9EE4-7C6B-352E-1EE00E60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FB81B-3A21-98E4-F9C1-E932E764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5A2-4090-DE11-BCFA-A52441CD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430C52-70D7-EED8-0841-5BF9EA99CE92}"/>
              </a:ext>
            </a:extLst>
          </p:cNvPr>
          <p:cNvSpPr txBox="1"/>
          <p:nvPr/>
        </p:nvSpPr>
        <p:spPr>
          <a:xfrm>
            <a:off x="457200" y="577921"/>
            <a:ext cx="4572000" cy="72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erif 4"/>
                <a:ea typeface="source serif 4"/>
                <a:cs typeface="source serif 4"/>
              </a:rPr>
              <a:t>Training Corpus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Calibri" panose="020F0502020204030204" pitchFamily="34" charset="0"/>
                <a:cs typeface="Shruti" panose="020B0502040204020203" pitchFamily="34" charset="0"/>
              </a:rPr>
              <a:t> 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077D51-4ADE-AAFA-FE7B-FF8397AC8492}"/>
              </a:ext>
            </a:extLst>
          </p:cNvPr>
          <p:cNvSpPr txBox="1"/>
          <p:nvPr/>
        </p:nvSpPr>
        <p:spPr>
          <a:xfrm>
            <a:off x="429208" y="2769429"/>
            <a:ext cx="84861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Represent each word as characters followed by _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BPE Training: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Perform exactly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 merges 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 each training step, count all adjacent token pairs weighted by word frequency.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Merge the most frequent pair.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there is a tie, choose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leftmost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pair from the word read if possible; otherwise choose alphabetically.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(3) Fill the table after each merge.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15D64FB-8976-5CB0-95B2-17000588C498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4730770"/>
          <a:ext cx="6172200" cy="19255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89190159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8513217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2966823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Merge #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Most frequent pair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New token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445048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1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____________________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____________________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578271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2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____________________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____________________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798341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3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____________________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____________________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34407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4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____________________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____________________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92206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5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____________________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____________________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83489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6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____________________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____________________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38683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543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F8E9E-B0BB-D480-6B5D-920B5F4A6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4776-1704-CB8D-D54B-28C48D1BA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0"/>
            <a:ext cx="8229600" cy="731837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 Tokenization with BPE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5BC83-0B53-C230-D525-C3466B6D3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08C5D-4B46-ECE6-203C-9B5A8D02D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8D3C4-7269-5B26-63F8-E05B26CE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AB862-1AC0-C03E-3FD6-C752DF75D30F}"/>
              </a:ext>
            </a:extLst>
          </p:cNvPr>
          <p:cNvSpPr txBox="1"/>
          <p:nvPr/>
        </p:nvSpPr>
        <p:spPr>
          <a:xfrm>
            <a:off x="657808" y="681772"/>
            <a:ext cx="8486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_ , a, d, e, g,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n, r, s, u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FC05E13-1AEB-75DF-1B68-2B3A1F831643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1143000"/>
          <a:ext cx="6172200" cy="2112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89190159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8513217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2966823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Merge #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Most frequent pair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New token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445048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1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(r, e)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re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578271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2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(re, a)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rea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798341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3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(rea, d)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read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34407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4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(read, _)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read_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92206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5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(read, e)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 err="1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reade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83489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6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(</a:t>
                      </a:r>
                      <a:r>
                        <a:rPr lang="en-IN" sz="1050" dirty="0" err="1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reade</a:t>
                      </a: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, r)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reader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38683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386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E630-A194-02D8-B4EE-554B049B6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A7E59-8C50-C023-2606-D6495FD6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0"/>
            <a:ext cx="8229600" cy="731837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 Tokenization with BPE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D0182-2D00-2D6D-E897-82F9033CD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C6587-C259-4CAE-443A-3E7ABDD6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DC588-5EF2-557C-8822-0CD78F2A8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35B29-0178-042B-F190-689E8F99D0EA}"/>
              </a:ext>
            </a:extLst>
          </p:cNvPr>
          <p:cNvSpPr txBox="1"/>
          <p:nvPr/>
        </p:nvSpPr>
        <p:spPr>
          <a:xfrm>
            <a:off x="457200" y="577921"/>
            <a:ext cx="4572000" cy="72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575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erif 4"/>
                <a:ea typeface="source serif 4"/>
                <a:cs typeface="source serif 4"/>
              </a:rPr>
              <a:t>Testing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 New Words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Calibri" panose="020F0502020204030204" pitchFamily="34" charset="0"/>
                <a:cs typeface="Shruti" panose="020B0502040204020203" pitchFamily="34" charset="0"/>
              </a:rPr>
              <a:t> 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Calibri" panose="020F0502020204030204" pitchFamily="34" charset="0"/>
              <a:cs typeface="Shrut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F1D67-F848-22AE-DFA0-D13B36616845}"/>
              </a:ext>
            </a:extLst>
          </p:cNvPr>
          <p:cNvSpPr txBox="1"/>
          <p:nvPr/>
        </p:nvSpPr>
        <p:spPr>
          <a:xfrm>
            <a:off x="457200" y="3063664"/>
            <a:ext cx="848619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(1) For each word, write the initial character form and the final BPE tokenization.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During testing, apply the learned merges in the same order.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(2) Choose any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tokenized test words, including at least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OOV word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decode them.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During decoding, concatenate tokens and remove _.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10A554D-3E50-3FA9-85DC-988816E3900A}"/>
              </a:ext>
            </a:extLst>
          </p:cNvPr>
          <p:cNvGraphicFramePr>
            <a:graphicFrameLocks noGrp="1"/>
          </p:cNvGraphicFramePr>
          <p:nvPr/>
        </p:nvGraphicFramePr>
        <p:xfrm>
          <a:off x="3048000" y="646890"/>
          <a:ext cx="2667000" cy="24757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6507">
                  <a:extLst>
                    <a:ext uri="{9D8B030D-6E8A-4147-A177-3AD203B41FA5}">
                      <a16:colId xmlns:a16="http://schemas.microsoft.com/office/drawing/2014/main" val="1321146463"/>
                    </a:ext>
                  </a:extLst>
                </a:gridCol>
                <a:gridCol w="1950493">
                  <a:extLst>
                    <a:ext uri="{9D8B030D-6E8A-4147-A177-3AD203B41FA5}">
                      <a16:colId xmlns:a16="http://schemas.microsoft.com/office/drawing/2014/main" val="1026852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Test word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In training set?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38501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Yes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035757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reader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Yes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52498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readers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Yes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267400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reading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Yes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955533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unread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Yes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18602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readable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No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892102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reread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No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107484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unreader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No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31011904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89B211F-7240-E15B-29E6-01E1EEDB9975}"/>
              </a:ext>
            </a:extLst>
          </p:cNvPr>
          <p:cNvGraphicFramePr>
            <a:graphicFrameLocks noGrp="1"/>
          </p:cNvGraphicFramePr>
          <p:nvPr/>
        </p:nvGraphicFramePr>
        <p:xfrm>
          <a:off x="209550" y="4213080"/>
          <a:ext cx="5295900" cy="28018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5300">
                  <a:extLst>
                    <a:ext uri="{9D8B030D-6E8A-4147-A177-3AD203B41FA5}">
                      <a16:colId xmlns:a16="http://schemas.microsoft.com/office/drawing/2014/main" val="2512147484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1932810862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3326412590"/>
                    </a:ext>
                  </a:extLst>
                </a:gridCol>
              </a:tblGrid>
              <a:tr h="2564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Test word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Initial character form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Final BPE tokens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302970087"/>
                  </a:ext>
                </a:extLst>
              </a:tr>
              <a:tr h="2564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 e a d  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read_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897556363"/>
                  </a:ext>
                </a:extLst>
              </a:tr>
              <a:tr h="2564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reader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 e a d e r  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reader  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403965951"/>
                  </a:ext>
                </a:extLst>
              </a:tr>
              <a:tr h="2564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readers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 e a d e r s _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reader s  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684486472"/>
                  </a:ext>
                </a:extLst>
              </a:tr>
              <a:tr h="2564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reading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 e a d </a:t>
                      </a:r>
                      <a:r>
                        <a:rPr lang="en-IN" sz="1050" dirty="0" err="1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i</a:t>
                      </a: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 n g  _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read </a:t>
                      </a:r>
                      <a:r>
                        <a:rPr lang="en-IN" sz="1050" dirty="0" err="1"/>
                        <a:t>i</a:t>
                      </a:r>
                      <a:r>
                        <a:rPr lang="en-IN" sz="1050" dirty="0"/>
                        <a:t> n g  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589821703"/>
                  </a:ext>
                </a:extLst>
              </a:tr>
              <a:tr h="2564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unread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u n r e a d  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u n read_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131525200"/>
                  </a:ext>
                </a:extLst>
              </a:tr>
              <a:tr h="2564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readable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 e a d a b l e  _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read a b l e  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678046857"/>
                  </a:ext>
                </a:extLst>
              </a:tr>
              <a:tr h="2564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reread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 e r e a d _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re read_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876508761"/>
                  </a:ext>
                </a:extLst>
              </a:tr>
              <a:tr h="2564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unreader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u n r e a d e r _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u n reader  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3063552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6ADC2A1-7EC6-083D-6504-3DD9DC784B60}"/>
              </a:ext>
            </a:extLst>
          </p:cNvPr>
          <p:cNvGraphicFramePr>
            <a:graphicFrameLocks noGrp="1"/>
          </p:cNvGraphicFramePr>
          <p:nvPr/>
        </p:nvGraphicFramePr>
        <p:xfrm>
          <a:off x="5642688" y="4512165"/>
          <a:ext cx="3490426" cy="14169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4843">
                  <a:extLst>
                    <a:ext uri="{9D8B030D-6E8A-4147-A177-3AD203B41FA5}">
                      <a16:colId xmlns:a16="http://schemas.microsoft.com/office/drawing/2014/main" val="3830192930"/>
                    </a:ext>
                  </a:extLst>
                </a:gridCol>
                <a:gridCol w="1007669">
                  <a:extLst>
                    <a:ext uri="{9D8B030D-6E8A-4147-A177-3AD203B41FA5}">
                      <a16:colId xmlns:a16="http://schemas.microsoft.com/office/drawing/2014/main" val="18581093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35919068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743204541"/>
                    </a:ext>
                  </a:extLst>
                </a:gridCol>
              </a:tblGrid>
              <a:tr h="2006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Chosen word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Token sequence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>
                          <a:effectLst/>
                        </a:rPr>
                        <a:t>Decoded string</a:t>
                      </a:r>
                      <a:endParaRPr lang="en-IN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Matches original?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394136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1. 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read_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read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Yes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420173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2. 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u n reader 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 err="1"/>
                        <a:t>unreader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Yes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5464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850" dirty="0">
                          <a:effectLst/>
                        </a:rPr>
                        <a:t>3. 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/>
                        <a:t>read a b l e _</a:t>
                      </a:r>
                      <a:endParaRPr lang="en-IN" sz="105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readable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050" dirty="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Yes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395986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51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CC61-4281-562D-4422-3851D27BB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4BCA5-2028-95BA-E094-275FEA2DA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In the test word – readable; the character b and l are not in </a:t>
            </a:r>
            <a:r>
              <a:rPr lang="en-IN" dirty="0" err="1"/>
              <a:t>vocabulory</a:t>
            </a:r>
            <a:r>
              <a:rPr lang="en-IN" dirty="0"/>
              <a:t>, still it is able to tokenize???</a:t>
            </a:r>
          </a:p>
          <a:p>
            <a:endParaRPr lang="en-IN" dirty="0"/>
          </a:p>
          <a:p>
            <a:r>
              <a:rPr lang="en-IN" b="1" dirty="0"/>
              <a:t>Yes — that’s exactly one of the key properties of BPE.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Tokenizing OOV words falls back to characters.</a:t>
            </a:r>
            <a:br>
              <a:rPr lang="en-IN" dirty="0"/>
            </a:br>
            <a:r>
              <a:rPr lang="en-IN" dirty="0"/>
              <a:t>For readable:</a:t>
            </a:r>
          </a:p>
          <a:p>
            <a:pPr lvl="0"/>
            <a:r>
              <a:rPr lang="en-IN" dirty="0"/>
              <a:t>Start from chars: r e a d a b l e _</a:t>
            </a:r>
          </a:p>
          <a:p>
            <a:pPr lvl="0"/>
            <a:r>
              <a:rPr lang="en-IN" dirty="0"/>
              <a:t>Apply merges where possible: r e → re, re a → rea, rea d → read</a:t>
            </a:r>
            <a:br>
              <a:rPr lang="en-IN" dirty="0"/>
            </a:br>
            <a:r>
              <a:rPr lang="en-IN" dirty="0"/>
              <a:t>⇒ read a b l e _</a:t>
            </a:r>
          </a:p>
          <a:p>
            <a:pPr lvl="0"/>
            <a:r>
              <a:rPr lang="en-IN" dirty="0"/>
              <a:t>No merge exists for a b, b l, l e, so BPE leaves them as character tokens:</a:t>
            </a:r>
            <a:br>
              <a:rPr lang="en-IN" dirty="0"/>
            </a:br>
            <a:r>
              <a:rPr lang="en-IN" dirty="0"/>
              <a:t>⇒ final tokens: read a b l e _</a:t>
            </a:r>
          </a:p>
          <a:p>
            <a:r>
              <a:rPr lang="en-IN" dirty="0"/>
              <a:t>Here b and l are used as </a:t>
            </a:r>
            <a:r>
              <a:rPr lang="en-IN" b="1" dirty="0"/>
              <a:t>base (character) tokens</a:t>
            </a:r>
            <a:r>
              <a:rPr lang="en-IN" dirty="0"/>
              <a:t>. Even if they never appeared in a learned </a:t>
            </a:r>
            <a:r>
              <a:rPr lang="en-IN" dirty="0" err="1"/>
              <a:t>subword</a:t>
            </a:r>
            <a:r>
              <a:rPr lang="en-IN" dirty="0"/>
              <a:t>, they remain in the vocabulary.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68B2E-9F1C-69DF-0BF0-E62E561A9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C9F1E-23C0-E02A-6A12-ADC61675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4C6FE-9428-8061-C427-8EF882C2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236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3F0EC-CDE7-0C81-0A0B-195319DDE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67000"/>
            <a:ext cx="8229600" cy="1905000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IN" sz="23900" dirty="0">
                <a:solidFill>
                  <a:srgbClr val="FF0000"/>
                </a:solidFill>
              </a:rPr>
              <a:t>THE END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BB223-7D60-E7F5-AD5A-6D30DF70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E5442-66E0-97E6-945D-C441D668B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DA27C-C4CE-E0B8-F281-A898FBFB8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402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99728A6127F4F89CAF9F3240C8CFF" ma:contentTypeVersion="3" ma:contentTypeDescription="Create a new document." ma:contentTypeScope="" ma:versionID="7e7402f0dab3fcc782adb50016726280">
  <xsd:schema xmlns:xsd="http://www.w3.org/2001/XMLSchema" xmlns:xs="http://www.w3.org/2001/XMLSchema" xmlns:p="http://schemas.microsoft.com/office/2006/metadata/properties" xmlns:ns2="79306fda-43a2-430c-89ae-9679da3ec0e1" targetNamespace="http://schemas.microsoft.com/office/2006/metadata/properties" ma:root="true" ma:fieldsID="d53381ab9528536bd2d8f002f0f3cf7e" ns2:_="">
    <xsd:import namespace="79306fda-43a2-430c-89ae-9679da3ec0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06fda-43a2-430c-89ae-9679da3ec0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751C33-A340-487C-9753-9E581D48EBB7}"/>
</file>

<file path=customXml/itemProps2.xml><?xml version="1.0" encoding="utf-8"?>
<ds:datastoreItem xmlns:ds="http://schemas.openxmlformats.org/officeDocument/2006/customXml" ds:itemID="{C6AF59E0-9500-4038-B8A3-E9F2638E255F}"/>
</file>

<file path=customXml/itemProps3.xml><?xml version="1.0" encoding="utf-8"?>
<ds:datastoreItem xmlns:ds="http://schemas.openxmlformats.org/officeDocument/2006/customXml" ds:itemID="{E4B1DDBC-3056-4328-847E-306581883ACE}"/>
</file>

<file path=docProps/app.xml><?xml version="1.0" encoding="utf-8"?>
<Properties xmlns="http://schemas.openxmlformats.org/officeDocument/2006/extended-properties" xmlns:vt="http://schemas.openxmlformats.org/officeDocument/2006/docPropsVTypes">
  <TotalTime>13635</TotalTime>
  <Words>2252</Words>
  <Application>Microsoft Office PowerPoint</Application>
  <PresentationFormat>On-screen Show (4:3)</PresentationFormat>
  <Paragraphs>333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Georgia</vt:lpstr>
      <vt:lpstr>NimbusRomNo9L-Regu</vt:lpstr>
      <vt:lpstr>source serif 4</vt:lpstr>
      <vt:lpstr>Wingdings</vt:lpstr>
      <vt:lpstr>Office Theme</vt:lpstr>
      <vt:lpstr>PowerPoint Presentation</vt:lpstr>
      <vt:lpstr>Text Pre-processing/Normalization: Stop Word Removal</vt:lpstr>
      <vt:lpstr>Text Pre-processing/Normalization: Stemming and Lemmatization</vt:lpstr>
      <vt:lpstr>Text Pre-processing/Normalization: Casing</vt:lpstr>
      <vt:lpstr>Python Example: Stop Word Removal</vt:lpstr>
      <vt:lpstr>Python Example: Stemming</vt:lpstr>
      <vt:lpstr>Python Example: Lemmatization</vt:lpstr>
      <vt:lpstr>PowerPoint Presentation</vt:lpstr>
      <vt:lpstr>Text Pre-processing/Normalization: Part of Speech (PoS) Tagging</vt:lpstr>
      <vt:lpstr>PoS Tagging: Popular tag-set</vt:lpstr>
      <vt:lpstr>PoS Tagging: Python Example</vt:lpstr>
      <vt:lpstr>PoS Tagging: Methods and Evaluation</vt:lpstr>
      <vt:lpstr>Text Pre-processing/Normalization: Named Entity Recognition (NER)</vt:lpstr>
      <vt:lpstr>NER: Python Example</vt:lpstr>
      <vt:lpstr>Text Pre-processing: Other optional preprocessing steps</vt:lpstr>
      <vt:lpstr>All Preprocessing in one go: Python Example</vt:lpstr>
      <vt:lpstr>All Preprocessing in one go: Python Example</vt:lpstr>
      <vt:lpstr>Example: Tokenization with BPE</vt:lpstr>
      <vt:lpstr>Example: Tokenization with BPE</vt:lpstr>
      <vt:lpstr>Example: Tokenization with BPE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1230</cp:revision>
  <dcterms:created xsi:type="dcterms:W3CDTF">2006-08-16T00:00:00Z</dcterms:created>
  <dcterms:modified xsi:type="dcterms:W3CDTF">2026-08-08T17:57:43Z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0x010100EEC99728A6127F4F89CAF9F3240C8CFF</vt:lpwstr>
  </property>
</Properties>
</file>