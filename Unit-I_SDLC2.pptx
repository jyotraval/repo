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9850"/>
  <p:notesSz cx="9144000" cy="5149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27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78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4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78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784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293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30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4068"/>
            <a:ext cx="3291840" cy="1304629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982"/>
            <a:ext cx="4258818" cy="389328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5220"/>
            <a:ext cx="3291840" cy="282520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087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6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33233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4696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88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116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2206"/>
            <a:ext cx="1971675" cy="4062659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2206"/>
            <a:ext cx="5686425" cy="40626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925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682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3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22275">
              <a:lnSpc>
                <a:spcPts val="1240"/>
              </a:lnSpc>
            </a:pPr>
            <a:fld id="{81D60167-4931-47E6-BA6A-407CBD079E47}" type="slidenum">
              <a:rPr sz="1200" b="0" dirty="0">
                <a:latin typeface="Calibri"/>
                <a:cs typeface="Calibri"/>
              </a:rPr>
              <a:t>‹#›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526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6617"/>
            <a:ext cx="7290055" cy="30212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9019"/>
            <a:ext cx="1615607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9019"/>
            <a:ext cx="4426094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9019"/>
            <a:ext cx="730250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422275">
              <a:lnSpc>
                <a:spcPts val="1240"/>
              </a:lnSpc>
            </a:pPr>
            <a:fld id="{81D60167-4931-47E6-BA6A-407CBD079E47}" type="slidenum">
              <a:rPr lang="en-IN" sz="1200" b="0" smtClean="0">
                <a:latin typeface="Calibri"/>
                <a:cs typeface="Calibri"/>
              </a:rPr>
              <a:t>‹#›</a:t>
            </a:fld>
            <a:endParaRPr lang="en-IN" sz="1200">
              <a:latin typeface="Calibri"/>
              <a:cs typeface="Calibri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20508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68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gilemanifesto.org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8947" y="1050035"/>
            <a:ext cx="5858510" cy="217043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203200" rIns="0" bIns="0" rtlCol="0">
            <a:spAutoFit/>
          </a:bodyPr>
          <a:lstStyle/>
          <a:p>
            <a:pPr marL="803910" marR="71120" indent="-725805">
              <a:lnSpc>
                <a:spcPct val="100000"/>
              </a:lnSpc>
              <a:spcBef>
                <a:spcPts val="1600"/>
              </a:spcBef>
            </a:pPr>
            <a:r>
              <a:rPr sz="5500" spc="-25" dirty="0">
                <a:solidFill>
                  <a:srgbClr val="0000FF"/>
                </a:solidFill>
              </a:rPr>
              <a:t>Evolutionary</a:t>
            </a:r>
            <a:r>
              <a:rPr sz="5500" spc="15" dirty="0">
                <a:solidFill>
                  <a:srgbClr val="0000FF"/>
                </a:solidFill>
              </a:rPr>
              <a:t> </a:t>
            </a:r>
            <a:r>
              <a:rPr sz="5500" spc="-10" dirty="0">
                <a:solidFill>
                  <a:srgbClr val="0000FF"/>
                </a:solidFill>
              </a:rPr>
              <a:t>Model </a:t>
            </a:r>
            <a:r>
              <a:rPr sz="5500" spc="-1225" dirty="0">
                <a:solidFill>
                  <a:srgbClr val="0000FF"/>
                </a:solidFill>
              </a:rPr>
              <a:t> </a:t>
            </a:r>
            <a:r>
              <a:rPr sz="5500" spc="-5" dirty="0">
                <a:solidFill>
                  <a:srgbClr val="0000FF"/>
                </a:solidFill>
              </a:rPr>
              <a:t>with</a:t>
            </a:r>
            <a:r>
              <a:rPr sz="5500" spc="-25" dirty="0">
                <a:solidFill>
                  <a:srgbClr val="0000FF"/>
                </a:solidFill>
              </a:rPr>
              <a:t> </a:t>
            </a:r>
            <a:r>
              <a:rPr sz="5500" spc="-30" dirty="0">
                <a:solidFill>
                  <a:srgbClr val="0000FF"/>
                </a:solidFill>
              </a:rPr>
              <a:t>Iterations</a:t>
            </a:r>
            <a:endParaRPr sz="5500"/>
          </a:p>
        </p:txBody>
      </p:sp>
      <p:sp>
        <p:nvSpPr>
          <p:cNvPr id="3" name="object 3"/>
          <p:cNvSpPr txBox="1"/>
          <p:nvPr/>
        </p:nvSpPr>
        <p:spPr>
          <a:xfrm>
            <a:off x="8151621" y="4727168"/>
            <a:ext cx="485775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98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2361" y="306400"/>
            <a:ext cx="708787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An</a:t>
            </a:r>
            <a:r>
              <a:rPr sz="2500" spc="5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Evolutionary</a:t>
            </a:r>
            <a:r>
              <a:rPr sz="2500" spc="5" dirty="0">
                <a:solidFill>
                  <a:srgbClr val="000000"/>
                </a:solidFill>
              </a:rPr>
              <a:t> </a:t>
            </a:r>
            <a:r>
              <a:rPr sz="2500" spc="10" dirty="0">
                <a:solidFill>
                  <a:srgbClr val="000000"/>
                </a:solidFill>
              </a:rPr>
              <a:t>and</a:t>
            </a:r>
            <a:r>
              <a:rPr sz="2500" spc="-10" dirty="0">
                <a:solidFill>
                  <a:srgbClr val="000000"/>
                </a:solidFill>
              </a:rPr>
              <a:t> Iterative </a:t>
            </a:r>
            <a:r>
              <a:rPr sz="2500" spc="-5" dirty="0">
                <a:solidFill>
                  <a:srgbClr val="000000"/>
                </a:solidFill>
              </a:rPr>
              <a:t>Development </a:t>
            </a:r>
            <a:r>
              <a:rPr sz="2500" dirty="0">
                <a:solidFill>
                  <a:srgbClr val="000000"/>
                </a:solidFill>
              </a:rPr>
              <a:t>Process...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8151621" y="4727168"/>
            <a:ext cx="485775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99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04" y="632629"/>
            <a:ext cx="8824595" cy="36315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5" dirty="0">
                <a:latin typeface="Calibri"/>
                <a:cs typeface="Calibri"/>
              </a:rPr>
              <a:t>Recognizes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changing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requirements</a:t>
            </a:r>
            <a:endParaRPr sz="2400">
              <a:latin typeface="Calibri"/>
              <a:cs typeface="Calibri"/>
            </a:endParaRPr>
          </a:p>
          <a:p>
            <a:pPr marL="524510" marR="769620" indent="-195580">
              <a:lnSpc>
                <a:spcPct val="114300"/>
              </a:lnSpc>
              <a:spcBef>
                <a:spcPts val="525"/>
              </a:spcBef>
            </a:pPr>
            <a:r>
              <a:rPr sz="2400" spc="20" dirty="0">
                <a:latin typeface="Arial MT"/>
                <a:cs typeface="Arial MT"/>
              </a:rPr>
              <a:t>–</a:t>
            </a:r>
            <a:r>
              <a:rPr sz="2400" spc="20" dirty="0">
                <a:latin typeface="Calibri"/>
                <a:cs typeface="Calibri"/>
              </a:rPr>
              <a:t>Capers </a:t>
            </a:r>
            <a:r>
              <a:rPr sz="2400" spc="-20" dirty="0">
                <a:latin typeface="Calibri"/>
                <a:cs typeface="Calibri"/>
              </a:rPr>
              <a:t>Jones’s </a:t>
            </a:r>
            <a:r>
              <a:rPr sz="2400" spc="-10" dirty="0">
                <a:latin typeface="Calibri"/>
                <a:cs typeface="Calibri"/>
              </a:rPr>
              <a:t>research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5" dirty="0">
                <a:latin typeface="Calibri"/>
                <a:cs typeface="Calibri"/>
              </a:rPr>
              <a:t>8000 </a:t>
            </a:r>
            <a:r>
              <a:rPr sz="2400" spc="-5" dirty="0">
                <a:latin typeface="Calibri"/>
                <a:cs typeface="Calibri"/>
              </a:rPr>
              <a:t>projects</a:t>
            </a:r>
            <a:r>
              <a:rPr sz="2400" b="1" spc="-5" dirty="0">
                <a:latin typeface="Calibri"/>
                <a:cs typeface="Calibri"/>
              </a:rPr>
              <a:t>: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40% of final 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requirements</a:t>
            </a:r>
            <a:r>
              <a:rPr sz="24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arrived </a:t>
            </a:r>
            <a:r>
              <a:rPr sz="2400" b="1" spc="-15" dirty="0">
                <a:solidFill>
                  <a:srgbClr val="0000CC"/>
                </a:solidFill>
                <a:latin typeface="Calibri"/>
                <a:cs typeface="Calibri"/>
              </a:rPr>
              <a:t>after</a:t>
            </a:r>
            <a:r>
              <a:rPr sz="240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 had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already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begun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0" dirty="0">
                <a:latin typeface="Calibri"/>
                <a:cs typeface="Calibri"/>
              </a:rPr>
              <a:t>Promotes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mitigation:</a:t>
            </a:r>
            <a:endParaRPr sz="24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930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spc="-15" dirty="0">
                <a:latin typeface="Calibri"/>
                <a:cs typeface="Calibri"/>
              </a:rPr>
              <a:t>Breaks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down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mini-projects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focuses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riskier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issues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first.</a:t>
            </a:r>
            <a:endParaRPr sz="2000">
              <a:latin typeface="Calibri"/>
              <a:cs typeface="Calibri"/>
            </a:endParaRPr>
          </a:p>
          <a:p>
            <a:pPr marL="582295" lvl="1" indent="-253365">
              <a:lnSpc>
                <a:spcPct val="100000"/>
              </a:lnSpc>
              <a:spcBef>
                <a:spcPts val="840"/>
              </a:spcBef>
              <a:buFont typeface="Arial MT"/>
              <a:buChar char="–"/>
              <a:tabLst>
                <a:tab pos="582930" algn="l"/>
              </a:tabLst>
            </a:pP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“plan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little,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design</a:t>
            </a:r>
            <a:r>
              <a:rPr sz="20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little,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little”</a:t>
            </a:r>
            <a:endParaRPr sz="2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0" dirty="0">
                <a:latin typeface="Calibri"/>
                <a:cs typeface="Calibri"/>
              </a:rPr>
              <a:t>Encourages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involved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on,:</a:t>
            </a:r>
            <a:endParaRPr sz="24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905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spc="-5" dirty="0">
                <a:latin typeface="Calibri"/>
                <a:cs typeface="Calibri"/>
              </a:rPr>
              <a:t>End</a:t>
            </a:r>
            <a:r>
              <a:rPr sz="2000" spc="-15" dirty="0">
                <a:latin typeface="Calibri"/>
                <a:cs typeface="Calibri"/>
              </a:rPr>
              <a:t> users,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Testers,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integrators,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technical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writers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632" y="379297"/>
            <a:ext cx="53803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00"/>
                </a:solidFill>
              </a:rPr>
              <a:t>Evolutionary</a:t>
            </a:r>
            <a:r>
              <a:rPr sz="3000" spc="-50" dirty="0">
                <a:solidFill>
                  <a:srgbClr val="000000"/>
                </a:solidFill>
              </a:rPr>
              <a:t> </a:t>
            </a:r>
            <a:r>
              <a:rPr sz="3000" spc="-5" dirty="0">
                <a:solidFill>
                  <a:srgbClr val="000000"/>
                </a:solidFill>
              </a:rPr>
              <a:t>Model</a:t>
            </a:r>
            <a:r>
              <a:rPr sz="300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with </a:t>
            </a:r>
            <a:r>
              <a:rPr sz="3000" spc="-25" dirty="0">
                <a:solidFill>
                  <a:srgbClr val="000000"/>
                </a:solidFill>
              </a:rPr>
              <a:t>Iteration</a:t>
            </a:r>
            <a:endParaRPr sz="3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04394" rIns="0" bIns="0" rtlCol="0">
            <a:spAutoFit/>
          </a:bodyPr>
          <a:lstStyle/>
          <a:p>
            <a:pPr marL="422275">
              <a:lnSpc>
                <a:spcPts val="1240"/>
              </a:lnSpc>
            </a:pPr>
            <a:r>
              <a:rPr sz="1200" b="0" dirty="0"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7952" y="969263"/>
            <a:ext cx="8391525" cy="2685415"/>
            <a:chOff x="377952" y="969263"/>
            <a:chExt cx="8391525" cy="2685415"/>
          </a:xfrm>
        </p:grpSpPr>
        <p:sp>
          <p:nvSpPr>
            <p:cNvPr id="4" name="object 4"/>
            <p:cNvSpPr/>
            <p:nvPr/>
          </p:nvSpPr>
          <p:spPr>
            <a:xfrm>
              <a:off x="382524" y="973835"/>
              <a:ext cx="8382000" cy="2676525"/>
            </a:xfrm>
            <a:custGeom>
              <a:avLst/>
              <a:gdLst/>
              <a:ahLst/>
              <a:cxnLst/>
              <a:rect l="l" t="t" r="r" b="b"/>
              <a:pathLst>
                <a:path w="8382000" h="2676525">
                  <a:moveTo>
                    <a:pt x="8382000" y="0"/>
                  </a:moveTo>
                  <a:lnTo>
                    <a:pt x="0" y="0"/>
                  </a:lnTo>
                  <a:lnTo>
                    <a:pt x="0" y="2676144"/>
                  </a:lnTo>
                  <a:lnTo>
                    <a:pt x="8382000" y="2676144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2524" y="973835"/>
              <a:ext cx="8382000" cy="2676525"/>
            </a:xfrm>
            <a:custGeom>
              <a:avLst/>
              <a:gdLst/>
              <a:ahLst/>
              <a:cxnLst/>
              <a:rect l="l" t="t" r="r" b="b"/>
              <a:pathLst>
                <a:path w="8382000" h="2676525">
                  <a:moveTo>
                    <a:pt x="0" y="2676144"/>
                  </a:moveTo>
                  <a:lnTo>
                    <a:pt x="8382000" y="2676144"/>
                  </a:lnTo>
                  <a:lnTo>
                    <a:pt x="8382000" y="0"/>
                  </a:lnTo>
                  <a:lnTo>
                    <a:pt x="0" y="0"/>
                  </a:lnTo>
                  <a:lnTo>
                    <a:pt x="0" y="2676144"/>
                  </a:lnTo>
                  <a:close/>
                </a:path>
              </a:pathLst>
            </a:custGeom>
            <a:ln w="9144">
              <a:solidFill>
                <a:srgbClr val="66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0044" y="942350"/>
            <a:ext cx="7976870" cy="2456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6870" marR="5080" indent="-344805">
              <a:lnSpc>
                <a:spcPct val="130100"/>
              </a:lnSpc>
              <a:spcBef>
                <a:spcPts val="114"/>
              </a:spcBef>
              <a:buFont typeface="Arial MT"/>
              <a:buChar char="•"/>
              <a:tabLst>
                <a:tab pos="356870" algn="l"/>
                <a:tab pos="357505" algn="l"/>
                <a:tab pos="2698750" algn="l"/>
              </a:tabLst>
            </a:pPr>
            <a:r>
              <a:rPr sz="2450" spc="-105" dirty="0">
                <a:latin typeface="Calibri"/>
                <a:cs typeface="Calibri"/>
              </a:rPr>
              <a:t>“A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complex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system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will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most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successful </a:t>
            </a:r>
            <a:r>
              <a:rPr sz="2450" spc="-10" dirty="0">
                <a:latin typeface="Calibri"/>
                <a:cs typeface="Calibri"/>
              </a:rPr>
              <a:t>if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implemented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small steps… </a:t>
            </a:r>
            <a:r>
              <a:rPr sz="2450" dirty="0">
                <a:latin typeface="Calibri"/>
                <a:cs typeface="Calibri"/>
              </a:rPr>
              <a:t>“retreat” </a:t>
            </a:r>
            <a:r>
              <a:rPr sz="2450" spc="-15" dirty="0">
                <a:latin typeface="Calibri"/>
                <a:cs typeface="Calibri"/>
              </a:rPr>
              <a:t>to </a:t>
            </a:r>
            <a:r>
              <a:rPr sz="2450" dirty="0">
                <a:latin typeface="Calibri"/>
                <a:cs typeface="Calibri"/>
              </a:rPr>
              <a:t>a </a:t>
            </a:r>
            <a:r>
              <a:rPr sz="2450" spc="-5" dirty="0">
                <a:latin typeface="Calibri"/>
                <a:cs typeface="Calibri"/>
              </a:rPr>
              <a:t>previous successful </a:t>
            </a:r>
            <a:r>
              <a:rPr sz="2450" spc="-15" dirty="0">
                <a:latin typeface="Calibri"/>
                <a:cs typeface="Calibri"/>
              </a:rPr>
              <a:t>step </a:t>
            </a:r>
            <a:r>
              <a:rPr sz="2450" spc="-5" dirty="0">
                <a:latin typeface="Calibri"/>
                <a:cs typeface="Calibri"/>
              </a:rPr>
              <a:t>on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failure…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opportunity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10" dirty="0">
                <a:latin typeface="Calibri"/>
                <a:cs typeface="Calibri"/>
              </a:rPr>
              <a:t> receive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some</a:t>
            </a:r>
            <a:r>
              <a:rPr sz="2450" spc="-10" dirty="0">
                <a:latin typeface="Calibri"/>
                <a:cs typeface="Calibri"/>
              </a:rPr>
              <a:t> feedback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from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5" dirty="0">
                <a:latin typeface="Calibri"/>
                <a:cs typeface="Calibri"/>
              </a:rPr>
              <a:t> real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world </a:t>
            </a:r>
            <a:r>
              <a:rPr sz="2450" spc="-20" dirty="0">
                <a:latin typeface="Calibri"/>
                <a:cs typeface="Calibri"/>
              </a:rPr>
              <a:t>before </a:t>
            </a:r>
            <a:r>
              <a:rPr sz="2450" spc="-10" dirty="0">
                <a:latin typeface="Calibri"/>
                <a:cs typeface="Calibri"/>
              </a:rPr>
              <a:t>throwing in </a:t>
            </a:r>
            <a:r>
              <a:rPr sz="2450" spc="-5" dirty="0">
                <a:latin typeface="Calibri"/>
                <a:cs typeface="Calibri"/>
              </a:rPr>
              <a:t>all resources…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-15" dirty="0">
                <a:latin typeface="Calibri"/>
                <a:cs typeface="Calibri"/>
              </a:rPr>
              <a:t>you can </a:t>
            </a:r>
            <a:r>
              <a:rPr sz="2450" spc="-10" dirty="0">
                <a:latin typeface="Calibri"/>
                <a:cs typeface="Calibri"/>
              </a:rPr>
              <a:t>correct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possible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errors…”	</a:t>
            </a:r>
            <a:r>
              <a:rPr sz="2450" spc="-75" dirty="0">
                <a:solidFill>
                  <a:srgbClr val="0000FF"/>
                </a:solidFill>
                <a:latin typeface="Calibri"/>
                <a:cs typeface="Calibri"/>
              </a:rPr>
              <a:t>Tom</a:t>
            </a:r>
            <a:r>
              <a:rPr sz="24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Glib</a:t>
            </a:r>
            <a:r>
              <a:rPr sz="24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Metrics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785" y="254965"/>
            <a:ext cx="484886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" dirty="0">
                <a:solidFill>
                  <a:srgbClr val="000000"/>
                </a:solidFill>
              </a:rPr>
              <a:t>Evolutionary</a:t>
            </a:r>
            <a:r>
              <a:rPr sz="2700" spc="-4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model </a:t>
            </a:r>
            <a:r>
              <a:rPr sz="2700" dirty="0">
                <a:solidFill>
                  <a:srgbClr val="000000"/>
                </a:solidFill>
              </a:rPr>
              <a:t>with</a:t>
            </a:r>
            <a:r>
              <a:rPr sz="2700" spc="-25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iteration</a:t>
            </a:r>
            <a:endParaRPr sz="27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04394" rIns="0" bIns="0" rtlCol="0">
            <a:spAutoFit/>
          </a:bodyPr>
          <a:lstStyle/>
          <a:p>
            <a:pPr marL="422275">
              <a:lnSpc>
                <a:spcPts val="1240"/>
              </a:lnSpc>
            </a:pPr>
            <a:r>
              <a:rPr sz="1200" b="0" dirty="0">
                <a:latin typeface="Calibri"/>
                <a:cs typeface="Calibri"/>
              </a:rPr>
              <a:t>101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3631" y="777239"/>
            <a:ext cx="8848725" cy="3484245"/>
            <a:chOff x="103631" y="777239"/>
            <a:chExt cx="8848725" cy="3484245"/>
          </a:xfrm>
        </p:grpSpPr>
        <p:sp>
          <p:nvSpPr>
            <p:cNvPr id="4" name="object 4"/>
            <p:cNvSpPr/>
            <p:nvPr/>
          </p:nvSpPr>
          <p:spPr>
            <a:xfrm>
              <a:off x="108203" y="781811"/>
              <a:ext cx="8839200" cy="3474720"/>
            </a:xfrm>
            <a:custGeom>
              <a:avLst/>
              <a:gdLst/>
              <a:ahLst/>
              <a:cxnLst/>
              <a:rect l="l" t="t" r="r" b="b"/>
              <a:pathLst>
                <a:path w="8839200" h="3474720">
                  <a:moveTo>
                    <a:pt x="8839200" y="0"/>
                  </a:moveTo>
                  <a:lnTo>
                    <a:pt x="0" y="0"/>
                  </a:lnTo>
                  <a:lnTo>
                    <a:pt x="0" y="3474720"/>
                  </a:lnTo>
                  <a:lnTo>
                    <a:pt x="8839200" y="3474720"/>
                  </a:lnTo>
                  <a:lnTo>
                    <a:pt x="8839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203" y="781811"/>
              <a:ext cx="8839200" cy="3474720"/>
            </a:xfrm>
            <a:custGeom>
              <a:avLst/>
              <a:gdLst/>
              <a:ahLst/>
              <a:cxnLst/>
              <a:rect l="l" t="t" r="r" b="b"/>
              <a:pathLst>
                <a:path w="8839200" h="3474720">
                  <a:moveTo>
                    <a:pt x="0" y="3474720"/>
                  </a:moveTo>
                  <a:lnTo>
                    <a:pt x="8839200" y="3474720"/>
                  </a:lnTo>
                  <a:lnTo>
                    <a:pt x="8839200" y="0"/>
                  </a:lnTo>
                  <a:lnTo>
                    <a:pt x="0" y="0"/>
                  </a:lnTo>
                  <a:lnTo>
                    <a:pt x="0" y="3474720"/>
                  </a:lnTo>
                  <a:close/>
                </a:path>
              </a:pathLst>
            </a:custGeom>
            <a:ln w="9144">
              <a:solidFill>
                <a:srgbClr val="66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4810" y="760740"/>
            <a:ext cx="8535035" cy="3291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25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10" dirty="0">
                <a:latin typeface="Calibri"/>
                <a:cs typeface="Calibri"/>
              </a:rPr>
              <a:t>Evolutionary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iterative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development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implies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that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requirements, plan, </a:t>
            </a:r>
            <a:r>
              <a:rPr sz="2450" spc="-15" dirty="0">
                <a:latin typeface="Calibri"/>
                <a:cs typeface="Calibri"/>
              </a:rPr>
              <a:t>estimates,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-10" dirty="0">
                <a:latin typeface="Calibri"/>
                <a:cs typeface="Calibri"/>
              </a:rPr>
              <a:t>solution </a:t>
            </a:r>
            <a:r>
              <a:rPr sz="2450" spc="-20" dirty="0">
                <a:latin typeface="Calibri"/>
                <a:cs typeface="Calibri"/>
              </a:rPr>
              <a:t>evolve </a:t>
            </a:r>
            <a:r>
              <a:rPr sz="2450" spc="-5" dirty="0">
                <a:latin typeface="Calibri"/>
                <a:cs typeface="Calibri"/>
              </a:rPr>
              <a:t>or are </a:t>
            </a:r>
            <a:r>
              <a:rPr sz="2450" spc="-10" dirty="0">
                <a:latin typeface="Calibri"/>
                <a:cs typeface="Calibri"/>
              </a:rPr>
              <a:t>refined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over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15" dirty="0">
                <a:latin typeface="Calibri"/>
                <a:cs typeface="Calibri"/>
              </a:rPr>
              <a:t>course </a:t>
            </a:r>
            <a:r>
              <a:rPr sz="2450" spc="-5" dirty="0">
                <a:latin typeface="Calibri"/>
                <a:cs typeface="Calibri"/>
              </a:rPr>
              <a:t>of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15" dirty="0">
                <a:latin typeface="Calibri"/>
                <a:cs typeface="Calibri"/>
              </a:rPr>
              <a:t>iterations, </a:t>
            </a:r>
            <a:r>
              <a:rPr sz="2450" spc="-10" dirty="0">
                <a:latin typeface="Calibri"/>
                <a:cs typeface="Calibri"/>
              </a:rPr>
              <a:t>rather </a:t>
            </a:r>
            <a:r>
              <a:rPr sz="2450" dirty="0">
                <a:latin typeface="Calibri"/>
                <a:cs typeface="Calibri"/>
              </a:rPr>
              <a:t>than </a:t>
            </a:r>
            <a:r>
              <a:rPr sz="2450" spc="-10" dirty="0">
                <a:latin typeface="Calibri"/>
                <a:cs typeface="Calibri"/>
              </a:rPr>
              <a:t>fully </a:t>
            </a:r>
            <a:r>
              <a:rPr sz="2450" spc="-5" dirty="0">
                <a:latin typeface="Calibri"/>
                <a:cs typeface="Calibri"/>
              </a:rPr>
              <a:t>defined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“frozen” </a:t>
            </a:r>
            <a:r>
              <a:rPr sz="2450" spc="-10" dirty="0">
                <a:latin typeface="Calibri"/>
                <a:cs typeface="Calibri"/>
              </a:rPr>
              <a:t>in </a:t>
            </a:r>
            <a:r>
              <a:rPr sz="2450" dirty="0">
                <a:latin typeface="Calibri"/>
                <a:cs typeface="Calibri"/>
              </a:rPr>
              <a:t>a </a:t>
            </a:r>
            <a:r>
              <a:rPr sz="2450" spc="-10" dirty="0">
                <a:latin typeface="Calibri"/>
                <a:cs typeface="Calibri"/>
              </a:rPr>
              <a:t>major up-front specification </a:t>
            </a:r>
            <a:r>
              <a:rPr sz="2450" spc="-20" dirty="0">
                <a:latin typeface="Calibri"/>
                <a:cs typeface="Calibri"/>
              </a:rPr>
              <a:t>effort </a:t>
            </a:r>
            <a:r>
              <a:rPr sz="2450" spc="-15" dirty="0">
                <a:latin typeface="Calibri"/>
                <a:cs typeface="Calibri"/>
              </a:rPr>
              <a:t>before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development </a:t>
            </a:r>
            <a:r>
              <a:rPr sz="2450" spc="-15" dirty="0">
                <a:latin typeface="Calibri"/>
                <a:cs typeface="Calibri"/>
              </a:rPr>
              <a:t>iterations </a:t>
            </a:r>
            <a:r>
              <a:rPr sz="2450" dirty="0">
                <a:latin typeface="Calibri"/>
                <a:cs typeface="Calibri"/>
              </a:rPr>
              <a:t>begin. </a:t>
            </a:r>
            <a:r>
              <a:rPr sz="2450" spc="-10" dirty="0">
                <a:latin typeface="Calibri"/>
                <a:cs typeface="Calibri"/>
              </a:rPr>
              <a:t>Evolutionary </a:t>
            </a:r>
            <a:r>
              <a:rPr sz="2450" spc="-5" dirty="0">
                <a:latin typeface="Calibri"/>
                <a:cs typeface="Calibri"/>
              </a:rPr>
              <a:t>methods are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consistent </a:t>
            </a:r>
            <a:r>
              <a:rPr sz="2450" spc="-5" dirty="0">
                <a:latin typeface="Calibri"/>
                <a:cs typeface="Calibri"/>
              </a:rPr>
              <a:t>with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10" dirty="0">
                <a:latin typeface="Calibri"/>
                <a:cs typeface="Calibri"/>
              </a:rPr>
              <a:t>pattern </a:t>
            </a:r>
            <a:r>
              <a:rPr sz="2450" spc="-5" dirty="0">
                <a:latin typeface="Calibri"/>
                <a:cs typeface="Calibri"/>
              </a:rPr>
              <a:t>of unpredictable discovery </a:t>
            </a:r>
            <a:r>
              <a:rPr sz="2450" dirty="0">
                <a:latin typeface="Calibri"/>
                <a:cs typeface="Calibri"/>
              </a:rPr>
              <a:t>and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change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new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product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development.”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Craig</a:t>
            </a:r>
            <a:r>
              <a:rPr sz="24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Larman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1129" y="275665"/>
            <a:ext cx="3759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Evolutionary</a:t>
            </a:r>
            <a:r>
              <a:rPr spc="-105" dirty="0"/>
              <a:t> </a:t>
            </a:r>
            <a:r>
              <a:rPr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111" y="1088847"/>
            <a:ext cx="8884285" cy="282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develop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core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modules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software.</a:t>
            </a:r>
            <a:endParaRPr sz="3200">
              <a:latin typeface="Calibri"/>
              <a:cs typeface="Calibri"/>
            </a:endParaRPr>
          </a:p>
          <a:p>
            <a:pPr marL="137795" marR="5080" indent="-125730">
              <a:lnSpc>
                <a:spcPct val="135100"/>
              </a:lnSpc>
              <a:spcBef>
                <a:spcPts val="160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initial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skeletal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software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refined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increasing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levels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capability: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(Iterations)</a:t>
            </a:r>
            <a:endParaRPr sz="32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285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By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functionalities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successive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3922" y="267411"/>
            <a:ext cx="40487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Activities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in</a:t>
            </a:r>
            <a:r>
              <a:rPr sz="3200" spc="5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an</a:t>
            </a:r>
            <a:r>
              <a:rPr sz="3200" spc="-10" dirty="0">
                <a:solidFill>
                  <a:srgbClr val="000000"/>
                </a:solidFill>
              </a:rPr>
              <a:t> </a:t>
            </a:r>
            <a:r>
              <a:rPr sz="3200" spc="-25" dirty="0">
                <a:solidFill>
                  <a:srgbClr val="000000"/>
                </a:solidFill>
              </a:rPr>
              <a:t>Iteration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243" y="558911"/>
            <a:ext cx="8559165" cy="3465195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229235" indent="-217170">
              <a:lnSpc>
                <a:spcPct val="100000"/>
              </a:lnSpc>
              <a:spcBef>
                <a:spcPts val="2260"/>
              </a:spcBef>
              <a:buFont typeface="Arial MT"/>
              <a:buChar char="•"/>
              <a:tabLst>
                <a:tab pos="229870" algn="l"/>
              </a:tabLst>
            </a:pPr>
            <a:r>
              <a:rPr sz="3200" spc="-2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3200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Calibri"/>
                <a:cs typeface="Calibri"/>
              </a:rPr>
              <a:t>developed</a:t>
            </a:r>
            <a:r>
              <a:rPr sz="3200" spc="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Calibri"/>
                <a:cs typeface="Calibri"/>
              </a:rPr>
              <a:t>over</a:t>
            </a:r>
            <a:r>
              <a:rPr sz="3200" spc="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0000CC"/>
                </a:solidFill>
                <a:latin typeface="Calibri"/>
                <a:cs typeface="Calibri"/>
              </a:rPr>
              <a:t>several</a:t>
            </a:r>
            <a:r>
              <a:rPr sz="3200" spc="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CC"/>
                </a:solidFill>
                <a:latin typeface="Calibri"/>
                <a:cs typeface="Calibri"/>
              </a:rPr>
              <a:t>“mini</a:t>
            </a:r>
            <a:r>
              <a:rPr sz="3200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0000CC"/>
                </a:solidFill>
                <a:latin typeface="Calibri"/>
                <a:cs typeface="Calibri"/>
              </a:rPr>
              <a:t>waterfalls”.</a:t>
            </a:r>
            <a:endParaRPr sz="32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29870" algn="l"/>
              </a:tabLst>
            </a:pP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result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single </a:t>
            </a:r>
            <a:r>
              <a:rPr sz="3200" spc="-15" dirty="0">
                <a:latin typeface="Calibri"/>
                <a:cs typeface="Calibri"/>
              </a:rPr>
              <a:t>iteration:</a:t>
            </a:r>
            <a:endParaRPr sz="32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211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Ends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delivery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tangible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524510" marR="162560" indent="-195580">
              <a:lnSpc>
                <a:spcPct val="125099"/>
              </a:lnSpc>
              <a:spcBef>
                <a:spcPts val="1195"/>
              </a:spcBef>
              <a:tabLst>
                <a:tab pos="7223759" algn="l"/>
              </a:tabLst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incremental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improvement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software	</a:t>
            </a:r>
            <a:r>
              <a:rPr sz="2800" dirty="0">
                <a:latin typeface="Calibri"/>
                <a:cs typeface="Calibri"/>
              </a:rPr>
              <a:t>---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evolutionary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9719" y="303097"/>
            <a:ext cx="501332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000000"/>
                </a:solidFill>
              </a:rPr>
              <a:t>Evolutionary</a:t>
            </a:r>
            <a:r>
              <a:rPr sz="2750" spc="90" dirty="0">
                <a:solidFill>
                  <a:srgbClr val="000000"/>
                </a:solidFill>
              </a:rPr>
              <a:t> </a:t>
            </a:r>
            <a:r>
              <a:rPr sz="2750" spc="10" dirty="0">
                <a:solidFill>
                  <a:srgbClr val="000000"/>
                </a:solidFill>
              </a:rPr>
              <a:t>Model</a:t>
            </a:r>
            <a:r>
              <a:rPr sz="2750" spc="25" dirty="0">
                <a:solidFill>
                  <a:srgbClr val="000000"/>
                </a:solidFill>
              </a:rPr>
              <a:t> </a:t>
            </a:r>
            <a:r>
              <a:rPr sz="2750" spc="10" dirty="0">
                <a:solidFill>
                  <a:srgbClr val="000000"/>
                </a:solidFill>
              </a:rPr>
              <a:t>with</a:t>
            </a:r>
            <a:r>
              <a:rPr sz="2750" spc="30" dirty="0">
                <a:solidFill>
                  <a:srgbClr val="000000"/>
                </a:solidFill>
              </a:rPr>
              <a:t> </a:t>
            </a:r>
            <a:r>
              <a:rPr sz="2750" spc="-5" dirty="0">
                <a:solidFill>
                  <a:srgbClr val="000000"/>
                </a:solidFill>
              </a:rPr>
              <a:t>Iteration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597" y="882777"/>
            <a:ext cx="8290559" cy="313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5" dirty="0">
                <a:latin typeface="Calibri"/>
                <a:cs typeface="Calibri"/>
              </a:rPr>
              <a:t>Outcome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iteration: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tested,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integrated,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executable </a:t>
            </a:r>
            <a:r>
              <a:rPr sz="2400" spc="-2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29235" algn="l"/>
              </a:tabLst>
            </a:pPr>
            <a:r>
              <a:rPr sz="2400" spc="-10" dirty="0">
                <a:latin typeface="Calibri"/>
                <a:cs typeface="Calibri"/>
              </a:rPr>
              <a:t>Iteration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length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fixed</a:t>
            </a:r>
            <a:endParaRPr sz="2400">
              <a:latin typeface="Calibri"/>
              <a:cs typeface="Calibri"/>
            </a:endParaRPr>
          </a:p>
          <a:p>
            <a:pPr marL="582930" lvl="1" indent="-254000">
              <a:lnSpc>
                <a:spcPct val="100000"/>
              </a:lnSpc>
              <a:spcBef>
                <a:spcPts val="1750"/>
              </a:spcBef>
              <a:buClr>
                <a:srgbClr val="000000"/>
              </a:buClr>
              <a:buFont typeface="Arial MT"/>
              <a:buChar char="–"/>
              <a:tabLst>
                <a:tab pos="583565" algn="l"/>
              </a:tabLst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Usually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000" b="1" spc="4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weeks</a:t>
            </a:r>
            <a:endParaRPr sz="20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1680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r>
              <a:rPr sz="20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takes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many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iterations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(for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r>
              <a:rPr sz="20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10-15)</a:t>
            </a:r>
            <a:endParaRPr sz="2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229235" algn="l"/>
                <a:tab pos="1475740" algn="l"/>
              </a:tabLst>
            </a:pP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not	</a:t>
            </a:r>
            <a:r>
              <a:rPr sz="2400" spc="-10" dirty="0">
                <a:latin typeface="Calibri"/>
                <a:cs typeface="Calibri"/>
              </a:rPr>
              <a:t>“freeze”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10" dirty="0">
                <a:latin typeface="Calibri"/>
                <a:cs typeface="Calibri"/>
              </a:rPr>
              <a:t>conservatively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1745"/>
              </a:spcBef>
              <a:buFont typeface="Arial MT"/>
              <a:buChar char="–"/>
              <a:tabLst>
                <a:tab pos="525145" algn="l"/>
              </a:tabLst>
            </a:pPr>
            <a:r>
              <a:rPr sz="2000" b="1" spc="-5" dirty="0">
                <a:solidFill>
                  <a:srgbClr val="0000CC"/>
                </a:solidFill>
                <a:latin typeface="Calibri"/>
                <a:cs typeface="Calibri"/>
              </a:rPr>
              <a:t>Opportunity</a:t>
            </a:r>
            <a:r>
              <a:rPr sz="20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Calibri"/>
                <a:cs typeface="Calibri"/>
              </a:rPr>
              <a:t>exists</a:t>
            </a:r>
            <a:r>
              <a:rPr sz="2000" b="1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0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Calibri"/>
                <a:cs typeface="Calibri"/>
              </a:rPr>
              <a:t>modify</a:t>
            </a:r>
            <a:r>
              <a:rPr sz="20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Calibri"/>
                <a:cs typeface="Calibri"/>
              </a:rPr>
              <a:t>requirements</a:t>
            </a:r>
            <a:r>
              <a:rPr sz="2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Calibri"/>
                <a:cs typeface="Calibri"/>
              </a:rPr>
              <a:t>as</a:t>
            </a:r>
            <a:r>
              <a:rPr sz="2000" b="1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Calibri"/>
                <a:cs typeface="Calibri"/>
              </a:rPr>
              <a:t>well</a:t>
            </a:r>
            <a:r>
              <a:rPr sz="200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Calibri"/>
                <a:cs typeface="Calibri"/>
              </a:rPr>
              <a:t>as the</a:t>
            </a:r>
            <a:r>
              <a:rPr sz="2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CC"/>
                </a:solidFill>
                <a:latin typeface="Calibri"/>
                <a:cs typeface="Calibri"/>
              </a:rPr>
              <a:t>design…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757" y="264033"/>
            <a:ext cx="37788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dirty="0"/>
              <a:t>Evolutionary</a:t>
            </a:r>
            <a:r>
              <a:rPr sz="3050" spc="-114" dirty="0"/>
              <a:t> </a:t>
            </a:r>
            <a:r>
              <a:rPr sz="3050" spc="5" dirty="0"/>
              <a:t>Model</a:t>
            </a:r>
            <a:r>
              <a:rPr sz="3050" spc="-60" dirty="0"/>
              <a:t> </a:t>
            </a:r>
            <a:r>
              <a:rPr sz="1200" spc="-5" dirty="0"/>
              <a:t>(CONT.)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" y="707954"/>
            <a:ext cx="8587105" cy="343789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49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10" dirty="0">
                <a:solidFill>
                  <a:srgbClr val="000099"/>
                </a:solidFill>
                <a:latin typeface="Calibri"/>
                <a:cs typeface="Calibri"/>
              </a:rPr>
              <a:t>Successive</a:t>
            </a:r>
            <a:r>
              <a:rPr sz="3200" spc="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99"/>
                </a:solidFill>
                <a:latin typeface="Calibri"/>
                <a:cs typeface="Calibri"/>
              </a:rPr>
              <a:t>versions:</a:t>
            </a:r>
            <a:endParaRPr sz="3200">
              <a:latin typeface="Calibri"/>
              <a:cs typeface="Calibri"/>
            </a:endParaRPr>
          </a:p>
          <a:p>
            <a:pPr marL="515620" marR="33655" indent="-192405">
              <a:lnSpc>
                <a:spcPct val="120100"/>
              </a:lnSpc>
              <a:spcBef>
                <a:spcPts val="565"/>
              </a:spcBef>
            </a:pPr>
            <a:r>
              <a:rPr sz="2800" spc="-5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0099"/>
                </a:solidFill>
                <a:latin typeface="Calibri"/>
                <a:cs typeface="Calibri"/>
              </a:rPr>
              <a:t>Functioning </a:t>
            </a:r>
            <a:r>
              <a:rPr sz="2800" spc="-20" dirty="0">
                <a:solidFill>
                  <a:srgbClr val="000099"/>
                </a:solidFill>
                <a:latin typeface="Calibri"/>
                <a:cs typeface="Calibri"/>
              </a:rPr>
              <a:t>systems </a:t>
            </a:r>
            <a:r>
              <a:rPr sz="2800" spc="-10" dirty="0">
                <a:solidFill>
                  <a:srgbClr val="000099"/>
                </a:solidFill>
                <a:latin typeface="Calibri"/>
                <a:cs typeface="Calibri"/>
              </a:rPr>
              <a:t>capable </a:t>
            </a:r>
            <a:r>
              <a:rPr sz="2800" spc="5" dirty="0">
                <a:solidFill>
                  <a:srgbClr val="000099"/>
                </a:solidFill>
                <a:latin typeface="Calibri"/>
                <a:cs typeface="Calibri"/>
              </a:rPr>
              <a:t>of </a:t>
            </a:r>
            <a:r>
              <a:rPr sz="2800" spc="-5" dirty="0">
                <a:solidFill>
                  <a:srgbClr val="000099"/>
                </a:solidFill>
                <a:latin typeface="Calibri"/>
                <a:cs typeface="Calibri"/>
              </a:rPr>
              <a:t>performing </a:t>
            </a: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some </a:t>
            </a:r>
            <a:r>
              <a:rPr sz="2800" spc="-10" dirty="0">
                <a:solidFill>
                  <a:srgbClr val="000099"/>
                </a:solidFill>
                <a:latin typeface="Calibri"/>
                <a:cs typeface="Calibri"/>
              </a:rPr>
              <a:t>useful </a:t>
            </a:r>
            <a:r>
              <a:rPr sz="2800" spc="-6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99"/>
                </a:solidFill>
                <a:latin typeface="Calibri"/>
                <a:cs typeface="Calibri"/>
              </a:rPr>
              <a:t>work.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8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release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include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functionality:</a:t>
            </a:r>
            <a:endParaRPr sz="2800">
              <a:latin typeface="Calibri"/>
              <a:cs typeface="Calibri"/>
            </a:endParaRPr>
          </a:p>
          <a:p>
            <a:pPr marL="789940" marR="5080" lvl="1" indent="-155575">
              <a:lnSpc>
                <a:spcPct val="120100"/>
              </a:lnSpc>
              <a:spcBef>
                <a:spcPts val="38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5" dirty="0">
                <a:latin typeface="Calibri"/>
                <a:cs typeface="Calibri"/>
              </a:rPr>
              <a:t>Also </a:t>
            </a:r>
            <a:r>
              <a:rPr sz="2800" spc="-10" dirty="0">
                <a:latin typeface="Calibri"/>
                <a:cs typeface="Calibri"/>
              </a:rPr>
              <a:t>existing </a:t>
            </a:r>
            <a:r>
              <a:rPr sz="2800" spc="-5" dirty="0">
                <a:latin typeface="Calibri"/>
                <a:cs typeface="Calibri"/>
              </a:rPr>
              <a:t>functionality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5" dirty="0">
                <a:latin typeface="Calibri"/>
                <a:cs typeface="Calibri"/>
              </a:rPr>
              <a:t>release </a:t>
            </a:r>
            <a:r>
              <a:rPr sz="2800" spc="-10" dirty="0">
                <a:latin typeface="Calibri"/>
                <a:cs typeface="Calibri"/>
              </a:rPr>
              <a:t>might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enhanced.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0132" y="1519427"/>
            <a:ext cx="4890770" cy="2731135"/>
            <a:chOff x="2580132" y="1519427"/>
            <a:chExt cx="4890770" cy="2731135"/>
          </a:xfrm>
        </p:grpSpPr>
        <p:sp>
          <p:nvSpPr>
            <p:cNvPr id="3" name="object 3"/>
            <p:cNvSpPr/>
            <p:nvPr/>
          </p:nvSpPr>
          <p:spPr>
            <a:xfrm>
              <a:off x="5907023" y="2660903"/>
              <a:ext cx="1545590" cy="500380"/>
            </a:xfrm>
            <a:custGeom>
              <a:avLst/>
              <a:gdLst/>
              <a:ahLst/>
              <a:cxnLst/>
              <a:rect l="l" t="t" r="r" b="b"/>
              <a:pathLst>
                <a:path w="1545590" h="500380">
                  <a:moveTo>
                    <a:pt x="1545335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545335" y="499872"/>
                  </a:lnTo>
                  <a:lnTo>
                    <a:pt x="154533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07023" y="2660903"/>
              <a:ext cx="1545590" cy="500380"/>
            </a:xfrm>
            <a:custGeom>
              <a:avLst/>
              <a:gdLst/>
              <a:ahLst/>
              <a:cxnLst/>
              <a:rect l="l" t="t" r="r" b="b"/>
              <a:pathLst>
                <a:path w="1545590" h="500380">
                  <a:moveTo>
                    <a:pt x="0" y="499872"/>
                  </a:moveTo>
                  <a:lnTo>
                    <a:pt x="1545335" y="499872"/>
                  </a:lnTo>
                  <a:lnTo>
                    <a:pt x="1545335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ln w="3657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0132" y="2542031"/>
              <a:ext cx="777240" cy="198120"/>
            </a:xfrm>
            <a:custGeom>
              <a:avLst/>
              <a:gdLst/>
              <a:ahLst/>
              <a:cxnLst/>
              <a:rect l="l" t="t" r="r" b="b"/>
              <a:pathLst>
                <a:path w="777239" h="198119">
                  <a:moveTo>
                    <a:pt x="579119" y="0"/>
                  </a:moveTo>
                  <a:lnTo>
                    <a:pt x="579119" y="198119"/>
                  </a:lnTo>
                  <a:lnTo>
                    <a:pt x="737616" y="118872"/>
                  </a:lnTo>
                  <a:lnTo>
                    <a:pt x="598932" y="118872"/>
                  </a:lnTo>
                  <a:lnTo>
                    <a:pt x="598932" y="79248"/>
                  </a:lnTo>
                  <a:lnTo>
                    <a:pt x="737616" y="79248"/>
                  </a:lnTo>
                  <a:lnTo>
                    <a:pt x="579119" y="0"/>
                  </a:lnTo>
                  <a:close/>
                </a:path>
                <a:path w="777239" h="198119">
                  <a:moveTo>
                    <a:pt x="579119" y="79248"/>
                  </a:moveTo>
                  <a:lnTo>
                    <a:pt x="0" y="79248"/>
                  </a:lnTo>
                  <a:lnTo>
                    <a:pt x="0" y="118872"/>
                  </a:lnTo>
                  <a:lnTo>
                    <a:pt x="579119" y="118872"/>
                  </a:lnTo>
                  <a:lnTo>
                    <a:pt x="579119" y="79248"/>
                  </a:lnTo>
                  <a:close/>
                </a:path>
                <a:path w="777239" h="198119">
                  <a:moveTo>
                    <a:pt x="737616" y="79248"/>
                  </a:moveTo>
                  <a:lnTo>
                    <a:pt x="598932" y="79248"/>
                  </a:lnTo>
                  <a:lnTo>
                    <a:pt x="598932" y="118872"/>
                  </a:lnTo>
                  <a:lnTo>
                    <a:pt x="737616" y="118872"/>
                  </a:lnTo>
                  <a:lnTo>
                    <a:pt x="777240" y="99060"/>
                  </a:lnTo>
                  <a:lnTo>
                    <a:pt x="737616" y="79248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48228" y="1519427"/>
              <a:ext cx="1689100" cy="2731135"/>
            </a:xfrm>
            <a:custGeom>
              <a:avLst/>
              <a:gdLst/>
              <a:ahLst/>
              <a:cxnLst/>
              <a:rect l="l" t="t" r="r" b="b"/>
              <a:pathLst>
                <a:path w="1689100" h="2731135">
                  <a:moveTo>
                    <a:pt x="1688592" y="0"/>
                  </a:moveTo>
                  <a:lnTo>
                    <a:pt x="0" y="0"/>
                  </a:lnTo>
                  <a:lnTo>
                    <a:pt x="0" y="2731008"/>
                  </a:lnTo>
                  <a:lnTo>
                    <a:pt x="1688592" y="2731008"/>
                  </a:lnTo>
                  <a:lnTo>
                    <a:pt x="16885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6724" y="1891283"/>
              <a:ext cx="1430020" cy="500380"/>
            </a:xfrm>
            <a:custGeom>
              <a:avLst/>
              <a:gdLst/>
              <a:ahLst/>
              <a:cxnLst/>
              <a:rect l="l" t="t" r="r" b="b"/>
              <a:pathLst>
                <a:path w="1430020" h="500380">
                  <a:moveTo>
                    <a:pt x="1346200" y="0"/>
                  </a:moveTo>
                  <a:lnTo>
                    <a:pt x="83312" y="0"/>
                  </a:lnTo>
                  <a:lnTo>
                    <a:pt x="50899" y="6552"/>
                  </a:lnTo>
                  <a:lnTo>
                    <a:pt x="24415" y="24415"/>
                  </a:lnTo>
                  <a:lnTo>
                    <a:pt x="6552" y="50899"/>
                  </a:lnTo>
                  <a:lnTo>
                    <a:pt x="0" y="83312"/>
                  </a:lnTo>
                  <a:lnTo>
                    <a:pt x="0" y="416559"/>
                  </a:lnTo>
                  <a:lnTo>
                    <a:pt x="6552" y="448972"/>
                  </a:lnTo>
                  <a:lnTo>
                    <a:pt x="24415" y="475456"/>
                  </a:lnTo>
                  <a:lnTo>
                    <a:pt x="50899" y="493319"/>
                  </a:lnTo>
                  <a:lnTo>
                    <a:pt x="83312" y="499871"/>
                  </a:lnTo>
                  <a:lnTo>
                    <a:pt x="1346200" y="499871"/>
                  </a:lnTo>
                  <a:lnTo>
                    <a:pt x="1378612" y="493319"/>
                  </a:lnTo>
                  <a:lnTo>
                    <a:pt x="1405096" y="475456"/>
                  </a:lnTo>
                  <a:lnTo>
                    <a:pt x="1422959" y="448972"/>
                  </a:lnTo>
                  <a:lnTo>
                    <a:pt x="1429512" y="416559"/>
                  </a:lnTo>
                  <a:lnTo>
                    <a:pt x="1429512" y="83312"/>
                  </a:lnTo>
                  <a:lnTo>
                    <a:pt x="1422959" y="50899"/>
                  </a:lnTo>
                  <a:lnTo>
                    <a:pt x="1405096" y="24415"/>
                  </a:lnTo>
                  <a:lnTo>
                    <a:pt x="1378612" y="6552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E6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6724" y="1891283"/>
              <a:ext cx="1430020" cy="500380"/>
            </a:xfrm>
            <a:custGeom>
              <a:avLst/>
              <a:gdLst/>
              <a:ahLst/>
              <a:cxnLst/>
              <a:rect l="l" t="t" r="r" b="b"/>
              <a:pathLst>
                <a:path w="1430020" h="500380">
                  <a:moveTo>
                    <a:pt x="0" y="83312"/>
                  </a:moveTo>
                  <a:lnTo>
                    <a:pt x="6552" y="50899"/>
                  </a:lnTo>
                  <a:lnTo>
                    <a:pt x="24415" y="24415"/>
                  </a:lnTo>
                  <a:lnTo>
                    <a:pt x="50899" y="6552"/>
                  </a:lnTo>
                  <a:lnTo>
                    <a:pt x="83312" y="0"/>
                  </a:lnTo>
                  <a:lnTo>
                    <a:pt x="1346200" y="0"/>
                  </a:lnTo>
                  <a:lnTo>
                    <a:pt x="1378612" y="6552"/>
                  </a:lnTo>
                  <a:lnTo>
                    <a:pt x="1405096" y="24415"/>
                  </a:lnTo>
                  <a:lnTo>
                    <a:pt x="1422959" y="50899"/>
                  </a:lnTo>
                  <a:lnTo>
                    <a:pt x="1429512" y="83312"/>
                  </a:lnTo>
                  <a:lnTo>
                    <a:pt x="1429512" y="416559"/>
                  </a:lnTo>
                  <a:lnTo>
                    <a:pt x="1422959" y="448972"/>
                  </a:lnTo>
                  <a:lnTo>
                    <a:pt x="1405096" y="475456"/>
                  </a:lnTo>
                  <a:lnTo>
                    <a:pt x="1378612" y="493319"/>
                  </a:lnTo>
                  <a:lnTo>
                    <a:pt x="1346200" y="499871"/>
                  </a:lnTo>
                  <a:lnTo>
                    <a:pt x="83312" y="499871"/>
                  </a:lnTo>
                  <a:lnTo>
                    <a:pt x="50899" y="493319"/>
                  </a:lnTo>
                  <a:lnTo>
                    <a:pt x="24415" y="475456"/>
                  </a:lnTo>
                  <a:lnTo>
                    <a:pt x="6552" y="448972"/>
                  </a:lnTo>
                  <a:lnTo>
                    <a:pt x="0" y="416559"/>
                  </a:lnTo>
                  <a:lnTo>
                    <a:pt x="0" y="833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1484" y="3564635"/>
              <a:ext cx="1426845" cy="497205"/>
            </a:xfrm>
            <a:custGeom>
              <a:avLst/>
              <a:gdLst/>
              <a:ahLst/>
              <a:cxnLst/>
              <a:rect l="l" t="t" r="r" b="b"/>
              <a:pathLst>
                <a:path w="1426845" h="497204">
                  <a:moveTo>
                    <a:pt x="1343660" y="0"/>
                  </a:moveTo>
                  <a:lnTo>
                    <a:pt x="82803" y="0"/>
                  </a:lnTo>
                  <a:lnTo>
                    <a:pt x="50577" y="6508"/>
                  </a:lnTo>
                  <a:lnTo>
                    <a:pt x="24256" y="24256"/>
                  </a:lnTo>
                  <a:lnTo>
                    <a:pt x="6508" y="50577"/>
                  </a:lnTo>
                  <a:lnTo>
                    <a:pt x="0" y="82803"/>
                  </a:lnTo>
                  <a:lnTo>
                    <a:pt x="0" y="414019"/>
                  </a:lnTo>
                  <a:lnTo>
                    <a:pt x="6508" y="446251"/>
                  </a:lnTo>
                  <a:lnTo>
                    <a:pt x="24256" y="472571"/>
                  </a:lnTo>
                  <a:lnTo>
                    <a:pt x="50577" y="490317"/>
                  </a:lnTo>
                  <a:lnTo>
                    <a:pt x="82803" y="496824"/>
                  </a:lnTo>
                  <a:lnTo>
                    <a:pt x="1343660" y="496824"/>
                  </a:lnTo>
                  <a:lnTo>
                    <a:pt x="1375886" y="490317"/>
                  </a:lnTo>
                  <a:lnTo>
                    <a:pt x="1402207" y="472571"/>
                  </a:lnTo>
                  <a:lnTo>
                    <a:pt x="1419955" y="446251"/>
                  </a:lnTo>
                  <a:lnTo>
                    <a:pt x="1426464" y="414019"/>
                  </a:lnTo>
                  <a:lnTo>
                    <a:pt x="1426464" y="82803"/>
                  </a:lnTo>
                  <a:lnTo>
                    <a:pt x="1419955" y="50577"/>
                  </a:lnTo>
                  <a:lnTo>
                    <a:pt x="1402206" y="24256"/>
                  </a:lnTo>
                  <a:lnTo>
                    <a:pt x="1375886" y="6508"/>
                  </a:lnTo>
                  <a:lnTo>
                    <a:pt x="1343660" y="0"/>
                  </a:lnTo>
                  <a:close/>
                </a:path>
              </a:pathLst>
            </a:custGeom>
            <a:solidFill>
              <a:srgbClr val="E6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1484" y="3564635"/>
              <a:ext cx="1426845" cy="497205"/>
            </a:xfrm>
            <a:custGeom>
              <a:avLst/>
              <a:gdLst/>
              <a:ahLst/>
              <a:cxnLst/>
              <a:rect l="l" t="t" r="r" b="b"/>
              <a:pathLst>
                <a:path w="1426845" h="497204">
                  <a:moveTo>
                    <a:pt x="0" y="82803"/>
                  </a:moveTo>
                  <a:lnTo>
                    <a:pt x="6508" y="50577"/>
                  </a:lnTo>
                  <a:lnTo>
                    <a:pt x="24256" y="24256"/>
                  </a:lnTo>
                  <a:lnTo>
                    <a:pt x="50577" y="6508"/>
                  </a:lnTo>
                  <a:lnTo>
                    <a:pt x="82803" y="0"/>
                  </a:lnTo>
                  <a:lnTo>
                    <a:pt x="1343660" y="0"/>
                  </a:lnTo>
                  <a:lnTo>
                    <a:pt x="1375886" y="6508"/>
                  </a:lnTo>
                  <a:lnTo>
                    <a:pt x="1402206" y="24256"/>
                  </a:lnTo>
                  <a:lnTo>
                    <a:pt x="1419955" y="50577"/>
                  </a:lnTo>
                  <a:lnTo>
                    <a:pt x="1426464" y="82803"/>
                  </a:lnTo>
                  <a:lnTo>
                    <a:pt x="1426464" y="414019"/>
                  </a:lnTo>
                  <a:lnTo>
                    <a:pt x="1419955" y="446251"/>
                  </a:lnTo>
                  <a:lnTo>
                    <a:pt x="1402207" y="472571"/>
                  </a:lnTo>
                  <a:lnTo>
                    <a:pt x="1375886" y="490317"/>
                  </a:lnTo>
                  <a:lnTo>
                    <a:pt x="1343660" y="496824"/>
                  </a:lnTo>
                  <a:lnTo>
                    <a:pt x="82803" y="496824"/>
                  </a:lnTo>
                  <a:lnTo>
                    <a:pt x="50577" y="490317"/>
                  </a:lnTo>
                  <a:lnTo>
                    <a:pt x="24256" y="472571"/>
                  </a:lnTo>
                  <a:lnTo>
                    <a:pt x="6508" y="446251"/>
                  </a:lnTo>
                  <a:lnTo>
                    <a:pt x="0" y="414019"/>
                  </a:lnTo>
                  <a:lnTo>
                    <a:pt x="0" y="8280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8540" y="2720339"/>
              <a:ext cx="1426845" cy="500380"/>
            </a:xfrm>
            <a:custGeom>
              <a:avLst/>
              <a:gdLst/>
              <a:ahLst/>
              <a:cxnLst/>
              <a:rect l="l" t="t" r="r" b="b"/>
              <a:pathLst>
                <a:path w="1426845" h="500380">
                  <a:moveTo>
                    <a:pt x="1343152" y="0"/>
                  </a:moveTo>
                  <a:lnTo>
                    <a:pt x="83312" y="0"/>
                  </a:lnTo>
                  <a:lnTo>
                    <a:pt x="50899" y="6552"/>
                  </a:lnTo>
                  <a:lnTo>
                    <a:pt x="24415" y="24415"/>
                  </a:lnTo>
                  <a:lnTo>
                    <a:pt x="6552" y="50899"/>
                  </a:lnTo>
                  <a:lnTo>
                    <a:pt x="0" y="83311"/>
                  </a:lnTo>
                  <a:lnTo>
                    <a:pt x="0" y="416559"/>
                  </a:lnTo>
                  <a:lnTo>
                    <a:pt x="6552" y="448972"/>
                  </a:lnTo>
                  <a:lnTo>
                    <a:pt x="24415" y="475456"/>
                  </a:lnTo>
                  <a:lnTo>
                    <a:pt x="50899" y="493319"/>
                  </a:lnTo>
                  <a:lnTo>
                    <a:pt x="83312" y="499871"/>
                  </a:lnTo>
                  <a:lnTo>
                    <a:pt x="1343152" y="499871"/>
                  </a:lnTo>
                  <a:lnTo>
                    <a:pt x="1375564" y="493319"/>
                  </a:lnTo>
                  <a:lnTo>
                    <a:pt x="1402048" y="475456"/>
                  </a:lnTo>
                  <a:lnTo>
                    <a:pt x="1419911" y="448972"/>
                  </a:lnTo>
                  <a:lnTo>
                    <a:pt x="1426464" y="416559"/>
                  </a:lnTo>
                  <a:lnTo>
                    <a:pt x="1426464" y="83311"/>
                  </a:lnTo>
                  <a:lnTo>
                    <a:pt x="1419911" y="50899"/>
                  </a:lnTo>
                  <a:lnTo>
                    <a:pt x="1402048" y="24415"/>
                  </a:lnTo>
                  <a:lnTo>
                    <a:pt x="1375564" y="6552"/>
                  </a:lnTo>
                  <a:lnTo>
                    <a:pt x="1343152" y="0"/>
                  </a:lnTo>
                  <a:close/>
                </a:path>
              </a:pathLst>
            </a:custGeom>
            <a:solidFill>
              <a:srgbClr val="E6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58540" y="2720339"/>
              <a:ext cx="1426845" cy="500380"/>
            </a:xfrm>
            <a:custGeom>
              <a:avLst/>
              <a:gdLst/>
              <a:ahLst/>
              <a:cxnLst/>
              <a:rect l="l" t="t" r="r" b="b"/>
              <a:pathLst>
                <a:path w="1426845" h="500380">
                  <a:moveTo>
                    <a:pt x="0" y="83311"/>
                  </a:moveTo>
                  <a:lnTo>
                    <a:pt x="6552" y="50899"/>
                  </a:lnTo>
                  <a:lnTo>
                    <a:pt x="24415" y="24415"/>
                  </a:lnTo>
                  <a:lnTo>
                    <a:pt x="50899" y="6552"/>
                  </a:lnTo>
                  <a:lnTo>
                    <a:pt x="83312" y="0"/>
                  </a:lnTo>
                  <a:lnTo>
                    <a:pt x="1343152" y="0"/>
                  </a:lnTo>
                  <a:lnTo>
                    <a:pt x="1375564" y="6552"/>
                  </a:lnTo>
                  <a:lnTo>
                    <a:pt x="1402048" y="24415"/>
                  </a:lnTo>
                  <a:lnTo>
                    <a:pt x="1419911" y="50899"/>
                  </a:lnTo>
                  <a:lnTo>
                    <a:pt x="1426464" y="83311"/>
                  </a:lnTo>
                  <a:lnTo>
                    <a:pt x="1426464" y="416559"/>
                  </a:lnTo>
                  <a:lnTo>
                    <a:pt x="1419911" y="448972"/>
                  </a:lnTo>
                  <a:lnTo>
                    <a:pt x="1402048" y="475456"/>
                  </a:lnTo>
                  <a:lnTo>
                    <a:pt x="1375564" y="493319"/>
                  </a:lnTo>
                  <a:lnTo>
                    <a:pt x="1343152" y="499871"/>
                  </a:lnTo>
                  <a:lnTo>
                    <a:pt x="83312" y="499871"/>
                  </a:lnTo>
                  <a:lnTo>
                    <a:pt x="50899" y="493319"/>
                  </a:lnTo>
                  <a:lnTo>
                    <a:pt x="24415" y="475456"/>
                  </a:lnTo>
                  <a:lnTo>
                    <a:pt x="6552" y="448972"/>
                  </a:lnTo>
                  <a:lnTo>
                    <a:pt x="0" y="416559"/>
                  </a:lnTo>
                  <a:lnTo>
                    <a:pt x="0" y="833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099561" y="139649"/>
            <a:ext cx="31318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00"/>
                </a:solidFill>
              </a:rPr>
              <a:t>Evolutionary</a:t>
            </a:r>
            <a:r>
              <a:rPr sz="3000" spc="-100" dirty="0">
                <a:solidFill>
                  <a:srgbClr val="000000"/>
                </a:solidFill>
              </a:rPr>
              <a:t> </a:t>
            </a:r>
            <a:r>
              <a:rPr sz="3000" spc="-5" dirty="0">
                <a:solidFill>
                  <a:srgbClr val="000000"/>
                </a:solidFill>
              </a:rPr>
              <a:t>Model</a:t>
            </a:r>
            <a:endParaRPr sz="300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2548" y="502448"/>
            <a:ext cx="6965950" cy="9239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spc="-20" dirty="0">
                <a:latin typeface="Calibri"/>
                <a:cs typeface="Calibri"/>
              </a:rPr>
              <a:t>Evolves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initial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implementation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with user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feedback:</a:t>
            </a:r>
            <a:endParaRPr sz="245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745"/>
              </a:spcBef>
            </a:pPr>
            <a:r>
              <a:rPr sz="2150" spc="2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150" spc="-2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50" b="1" spc="3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150" b="1" spc="10" dirty="0">
                <a:solidFill>
                  <a:srgbClr val="FF0000"/>
                </a:solidFill>
                <a:latin typeface="Calibri"/>
                <a:cs typeface="Calibri"/>
              </a:rPr>
              <a:t>ultip</a:t>
            </a:r>
            <a:r>
              <a:rPr sz="2150" b="1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5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50" b="1" spc="-2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50" b="1" spc="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150" b="1" spc="-1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ons</a:t>
            </a:r>
            <a:r>
              <a:rPr sz="215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150" b="1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50" b="1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50" b="1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15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15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150" b="1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150" b="1" spc="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50" b="1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15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50" b="1" spc="-2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50" b="1" spc="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150" b="1" spc="-1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50" b="1" spc="15" dirty="0">
                <a:solidFill>
                  <a:srgbClr val="FF0000"/>
                </a:solidFill>
                <a:latin typeface="Calibri"/>
                <a:cs typeface="Calibri"/>
              </a:rPr>
              <a:t>on.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8228" y="1519427"/>
            <a:ext cx="1689100" cy="2731135"/>
          </a:xfrm>
          <a:prstGeom prst="rect">
            <a:avLst/>
          </a:prstGeom>
          <a:ln w="39624">
            <a:solidFill>
              <a:srgbClr val="FF33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25425" marR="135890" indent="-26034" algn="ctr">
              <a:lnSpc>
                <a:spcPts val="6540"/>
              </a:lnSpc>
              <a:spcBef>
                <a:spcPts val="235"/>
              </a:spcBef>
            </a:pPr>
            <a:r>
              <a:rPr sz="1600" b="1" spc="10" dirty="0">
                <a:latin typeface="Comic Sans MS"/>
                <a:cs typeface="Comic Sans MS"/>
              </a:rPr>
              <a:t>Specification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Development</a:t>
            </a:r>
            <a:endParaRPr sz="1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Comic Sans MS"/>
              <a:cs typeface="Comic Sans MS"/>
            </a:endParaRPr>
          </a:p>
          <a:p>
            <a:pPr marL="99695" algn="ctr">
              <a:lnSpc>
                <a:spcPct val="100000"/>
              </a:lnSpc>
            </a:pPr>
            <a:r>
              <a:rPr sz="1600" b="1" spc="10" dirty="0">
                <a:latin typeface="Comic Sans MS"/>
                <a:cs typeface="Comic Sans MS"/>
              </a:rPr>
              <a:t>Validation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2124" y="2406395"/>
            <a:ext cx="1588135" cy="500380"/>
          </a:xfrm>
          <a:prstGeom prst="rect">
            <a:avLst/>
          </a:prstGeom>
          <a:solidFill>
            <a:srgbClr val="FFFF99"/>
          </a:solidFill>
          <a:ln w="39624">
            <a:solidFill>
              <a:srgbClr val="FF33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29539" marR="127000" indent="-21590">
              <a:lnSpc>
                <a:spcPts val="1939"/>
              </a:lnSpc>
              <a:spcBef>
                <a:spcPts val="10"/>
              </a:spcBef>
            </a:pPr>
            <a:r>
              <a:rPr sz="1600" b="1" spc="10" dirty="0">
                <a:latin typeface="Comic Sans MS"/>
                <a:cs typeface="Comic Sans MS"/>
              </a:rPr>
              <a:t>Initial </a:t>
            </a:r>
            <a:r>
              <a:rPr sz="1600" b="1" spc="15" dirty="0">
                <a:latin typeface="Comic Sans MS"/>
                <a:cs typeface="Comic Sans MS"/>
              </a:rPr>
              <a:t>Rough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25" dirty="0">
                <a:latin typeface="Comic Sans MS"/>
                <a:cs typeface="Comic Sans MS"/>
              </a:rPr>
              <a:t>R</a:t>
            </a:r>
            <a:r>
              <a:rPr sz="1600" b="1" spc="10" dirty="0">
                <a:latin typeface="Comic Sans MS"/>
                <a:cs typeface="Comic Sans MS"/>
              </a:rPr>
              <a:t>e</a:t>
            </a:r>
            <a:r>
              <a:rPr sz="1600" b="1" spc="5" dirty="0">
                <a:latin typeface="Comic Sans MS"/>
                <a:cs typeface="Comic Sans MS"/>
              </a:rPr>
              <a:t>qu</a:t>
            </a:r>
            <a:r>
              <a:rPr sz="1600" b="1" dirty="0">
                <a:latin typeface="Comic Sans MS"/>
                <a:cs typeface="Comic Sans MS"/>
              </a:rPr>
              <a:t>i</a:t>
            </a:r>
            <a:r>
              <a:rPr sz="1600" b="1" spc="20" dirty="0">
                <a:latin typeface="Comic Sans MS"/>
                <a:cs typeface="Comic Sans MS"/>
              </a:rPr>
              <a:t>r</a:t>
            </a:r>
            <a:r>
              <a:rPr sz="1600" b="1" spc="15" dirty="0">
                <a:latin typeface="Comic Sans MS"/>
                <a:cs typeface="Comic Sans MS"/>
              </a:rPr>
              <a:t>eme</a:t>
            </a:r>
            <a:r>
              <a:rPr sz="1600" b="1" spc="25" dirty="0">
                <a:latin typeface="Comic Sans MS"/>
                <a:cs typeface="Comic Sans MS"/>
              </a:rPr>
              <a:t>n</a:t>
            </a:r>
            <a:r>
              <a:rPr sz="1600" b="1" spc="10" dirty="0">
                <a:latin typeface="Comic Sans MS"/>
                <a:cs typeface="Comic Sans MS"/>
              </a:rPr>
              <a:t>ts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60165" y="2406395"/>
            <a:ext cx="798830" cy="1188720"/>
          </a:xfrm>
          <a:custGeom>
            <a:avLst/>
            <a:gdLst/>
            <a:ahLst/>
            <a:cxnLst/>
            <a:rect l="l" t="t" r="r" b="b"/>
            <a:pathLst>
              <a:path w="798829" h="1188720">
                <a:moveTo>
                  <a:pt x="198120" y="988314"/>
                </a:moveTo>
                <a:lnTo>
                  <a:pt x="187972" y="967613"/>
                </a:lnTo>
                <a:lnTo>
                  <a:pt x="100711" y="789432"/>
                </a:lnTo>
                <a:lnTo>
                  <a:pt x="0" y="986790"/>
                </a:lnTo>
                <a:lnTo>
                  <a:pt x="79209" y="987399"/>
                </a:lnTo>
                <a:lnTo>
                  <a:pt x="77851" y="1158113"/>
                </a:lnTo>
                <a:lnTo>
                  <a:pt x="117475" y="1158367"/>
                </a:lnTo>
                <a:lnTo>
                  <a:pt x="118833" y="987704"/>
                </a:lnTo>
                <a:lnTo>
                  <a:pt x="198120" y="988314"/>
                </a:lnTo>
                <a:close/>
              </a:path>
              <a:path w="798829" h="1188720">
                <a:moveTo>
                  <a:pt x="198628" y="197231"/>
                </a:moveTo>
                <a:lnTo>
                  <a:pt x="188810" y="178054"/>
                </a:lnTo>
                <a:lnTo>
                  <a:pt x="97663" y="0"/>
                </a:lnTo>
                <a:lnTo>
                  <a:pt x="508" y="199009"/>
                </a:lnTo>
                <a:lnTo>
                  <a:pt x="79692" y="198310"/>
                </a:lnTo>
                <a:lnTo>
                  <a:pt x="80899" y="323215"/>
                </a:lnTo>
                <a:lnTo>
                  <a:pt x="120523" y="322961"/>
                </a:lnTo>
                <a:lnTo>
                  <a:pt x="119316" y="197954"/>
                </a:lnTo>
                <a:lnTo>
                  <a:pt x="198628" y="197231"/>
                </a:lnTo>
                <a:close/>
              </a:path>
              <a:path w="798829" h="1188720">
                <a:moveTo>
                  <a:pt x="733171" y="115824"/>
                </a:moveTo>
                <a:lnTo>
                  <a:pt x="653923" y="115824"/>
                </a:lnTo>
                <a:lnTo>
                  <a:pt x="653923" y="0"/>
                </a:lnTo>
                <a:lnTo>
                  <a:pt x="614299" y="0"/>
                </a:lnTo>
                <a:lnTo>
                  <a:pt x="614299" y="115824"/>
                </a:lnTo>
                <a:lnTo>
                  <a:pt x="535051" y="115824"/>
                </a:lnTo>
                <a:lnTo>
                  <a:pt x="634111" y="313944"/>
                </a:lnTo>
                <a:lnTo>
                  <a:pt x="723265" y="135636"/>
                </a:lnTo>
                <a:lnTo>
                  <a:pt x="733171" y="115824"/>
                </a:lnTo>
                <a:close/>
              </a:path>
              <a:path w="798829" h="1188720">
                <a:moveTo>
                  <a:pt x="798703" y="989838"/>
                </a:moveTo>
                <a:lnTo>
                  <a:pt x="719429" y="990460"/>
                </a:lnTo>
                <a:lnTo>
                  <a:pt x="717931" y="789305"/>
                </a:lnTo>
                <a:lnTo>
                  <a:pt x="678307" y="789559"/>
                </a:lnTo>
                <a:lnTo>
                  <a:pt x="679805" y="990765"/>
                </a:lnTo>
                <a:lnTo>
                  <a:pt x="600583" y="991362"/>
                </a:lnTo>
                <a:lnTo>
                  <a:pt x="701167" y="1188720"/>
                </a:lnTo>
                <a:lnTo>
                  <a:pt x="788543" y="1010539"/>
                </a:lnTo>
                <a:lnTo>
                  <a:pt x="798703" y="98983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62244" y="3439667"/>
            <a:ext cx="1588135" cy="500380"/>
          </a:xfrm>
          <a:prstGeom prst="rect">
            <a:avLst/>
          </a:prstGeom>
          <a:solidFill>
            <a:srgbClr val="FFFF99"/>
          </a:solidFill>
          <a:ln w="39623">
            <a:solidFill>
              <a:srgbClr val="FF33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45134" marR="441325" indent="115570">
              <a:lnSpc>
                <a:spcPts val="1939"/>
              </a:lnSpc>
              <a:spcBef>
                <a:spcPts val="20"/>
              </a:spcBef>
            </a:pPr>
            <a:r>
              <a:rPr sz="1600" b="1" spc="10" dirty="0">
                <a:latin typeface="Comic Sans MS"/>
                <a:cs typeface="Comic Sans MS"/>
              </a:rPr>
              <a:t>Final </a:t>
            </a:r>
            <a:r>
              <a:rPr sz="1600" b="1" spc="15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version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60720" y="1719072"/>
            <a:ext cx="1545590" cy="500380"/>
          </a:xfrm>
          <a:prstGeom prst="rect">
            <a:avLst/>
          </a:prstGeom>
          <a:solidFill>
            <a:srgbClr val="FFFF99"/>
          </a:solidFill>
          <a:ln w="36576">
            <a:solidFill>
              <a:srgbClr val="FF33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04"/>
              </a:spcBef>
            </a:pPr>
            <a:r>
              <a:rPr sz="1600" b="1" spc="5" dirty="0">
                <a:latin typeface="Comic Sans MS"/>
                <a:cs typeface="Comic Sans MS"/>
              </a:rPr>
              <a:t>Initial</a:t>
            </a:r>
            <a:endParaRPr sz="1600">
              <a:latin typeface="Comic Sans MS"/>
              <a:cs typeface="Comic Sans MS"/>
            </a:endParaRPr>
          </a:p>
          <a:p>
            <a:pPr marL="130810">
              <a:lnSpc>
                <a:spcPts val="1785"/>
              </a:lnSpc>
              <a:spcBef>
                <a:spcPts val="25"/>
              </a:spcBef>
            </a:pPr>
            <a:r>
              <a:rPr sz="1600" b="1" spc="10" dirty="0">
                <a:latin typeface="Comic Sans MS"/>
                <a:cs typeface="Comic Sans MS"/>
              </a:rPr>
              <a:t>version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27548" y="1780031"/>
            <a:ext cx="2391410" cy="2016760"/>
            <a:chOff x="5027548" y="1780031"/>
            <a:chExt cx="2391410" cy="2016760"/>
          </a:xfrm>
        </p:grpSpPr>
        <p:sp>
          <p:nvSpPr>
            <p:cNvPr id="21" name="object 21"/>
            <p:cNvSpPr/>
            <p:nvPr/>
          </p:nvSpPr>
          <p:spPr>
            <a:xfrm>
              <a:off x="5855207" y="2587751"/>
              <a:ext cx="1545590" cy="500380"/>
            </a:xfrm>
            <a:custGeom>
              <a:avLst/>
              <a:gdLst/>
              <a:ahLst/>
              <a:cxnLst/>
              <a:rect l="l" t="t" r="r" b="b"/>
              <a:pathLst>
                <a:path w="1545590" h="500380">
                  <a:moveTo>
                    <a:pt x="1545336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545336" y="499872"/>
                  </a:lnTo>
                  <a:lnTo>
                    <a:pt x="154533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55207" y="2587751"/>
              <a:ext cx="1545590" cy="500380"/>
            </a:xfrm>
            <a:custGeom>
              <a:avLst/>
              <a:gdLst/>
              <a:ahLst/>
              <a:cxnLst/>
              <a:rect l="l" t="t" r="r" b="b"/>
              <a:pathLst>
                <a:path w="1545590" h="500380">
                  <a:moveTo>
                    <a:pt x="0" y="499872"/>
                  </a:moveTo>
                  <a:lnTo>
                    <a:pt x="1545336" y="499872"/>
                  </a:lnTo>
                  <a:lnTo>
                    <a:pt x="1545336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ln w="3657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27549" y="1780031"/>
              <a:ext cx="756285" cy="2016760"/>
            </a:xfrm>
            <a:custGeom>
              <a:avLst/>
              <a:gdLst/>
              <a:ahLst/>
              <a:cxnLst/>
              <a:rect l="l" t="t" r="r" b="b"/>
              <a:pathLst>
                <a:path w="756285" h="2016760">
                  <a:moveTo>
                    <a:pt x="262255" y="289560"/>
                  </a:moveTo>
                  <a:lnTo>
                    <a:pt x="198247" y="289560"/>
                  </a:lnTo>
                  <a:lnTo>
                    <a:pt x="198247" y="210312"/>
                  </a:lnTo>
                  <a:lnTo>
                    <a:pt x="127" y="309372"/>
                  </a:lnTo>
                  <a:lnTo>
                    <a:pt x="198247" y="408432"/>
                  </a:lnTo>
                  <a:lnTo>
                    <a:pt x="198247" y="329184"/>
                  </a:lnTo>
                  <a:lnTo>
                    <a:pt x="262255" y="329184"/>
                  </a:lnTo>
                  <a:lnTo>
                    <a:pt x="262255" y="289560"/>
                  </a:lnTo>
                  <a:close/>
                </a:path>
                <a:path w="756285" h="2016760">
                  <a:moveTo>
                    <a:pt x="297434" y="1132078"/>
                  </a:moveTo>
                  <a:lnTo>
                    <a:pt x="198310" y="1131658"/>
                  </a:lnTo>
                  <a:lnTo>
                    <a:pt x="198628" y="1052322"/>
                  </a:lnTo>
                  <a:lnTo>
                    <a:pt x="127" y="1150620"/>
                  </a:lnTo>
                  <a:lnTo>
                    <a:pt x="197866" y="1250442"/>
                  </a:lnTo>
                  <a:lnTo>
                    <a:pt x="198158" y="1171282"/>
                  </a:lnTo>
                  <a:lnTo>
                    <a:pt x="297180" y="1171702"/>
                  </a:lnTo>
                  <a:lnTo>
                    <a:pt x="297434" y="1132078"/>
                  </a:lnTo>
                  <a:close/>
                </a:path>
                <a:path w="756285" h="2016760">
                  <a:moveTo>
                    <a:pt x="420751" y="289560"/>
                  </a:moveTo>
                  <a:lnTo>
                    <a:pt x="301879" y="289560"/>
                  </a:lnTo>
                  <a:lnTo>
                    <a:pt x="301879" y="329184"/>
                  </a:lnTo>
                  <a:lnTo>
                    <a:pt x="420751" y="329184"/>
                  </a:lnTo>
                  <a:lnTo>
                    <a:pt x="420751" y="289560"/>
                  </a:lnTo>
                  <a:close/>
                </a:path>
                <a:path w="756285" h="2016760">
                  <a:moveTo>
                    <a:pt x="455930" y="1132713"/>
                  </a:moveTo>
                  <a:lnTo>
                    <a:pt x="337058" y="1132205"/>
                  </a:lnTo>
                  <a:lnTo>
                    <a:pt x="336804" y="1171829"/>
                  </a:lnTo>
                  <a:lnTo>
                    <a:pt x="455676" y="1172337"/>
                  </a:lnTo>
                  <a:lnTo>
                    <a:pt x="455930" y="1132713"/>
                  </a:lnTo>
                  <a:close/>
                </a:path>
                <a:path w="756285" h="2016760">
                  <a:moveTo>
                    <a:pt x="579247" y="289560"/>
                  </a:moveTo>
                  <a:lnTo>
                    <a:pt x="460375" y="289560"/>
                  </a:lnTo>
                  <a:lnTo>
                    <a:pt x="460375" y="329184"/>
                  </a:lnTo>
                  <a:lnTo>
                    <a:pt x="579247" y="329184"/>
                  </a:lnTo>
                  <a:lnTo>
                    <a:pt x="579247" y="289560"/>
                  </a:lnTo>
                  <a:close/>
                </a:path>
                <a:path w="756285" h="2016760">
                  <a:moveTo>
                    <a:pt x="614426" y="1133348"/>
                  </a:moveTo>
                  <a:lnTo>
                    <a:pt x="495554" y="1132840"/>
                  </a:lnTo>
                  <a:lnTo>
                    <a:pt x="495300" y="1172464"/>
                  </a:lnTo>
                  <a:lnTo>
                    <a:pt x="614172" y="1172972"/>
                  </a:lnTo>
                  <a:lnTo>
                    <a:pt x="614426" y="1133348"/>
                  </a:lnTo>
                  <a:close/>
                </a:path>
                <a:path w="756285" h="2016760">
                  <a:moveTo>
                    <a:pt x="737743" y="289560"/>
                  </a:moveTo>
                  <a:lnTo>
                    <a:pt x="618871" y="289560"/>
                  </a:lnTo>
                  <a:lnTo>
                    <a:pt x="618871" y="329184"/>
                  </a:lnTo>
                  <a:lnTo>
                    <a:pt x="737743" y="329184"/>
                  </a:lnTo>
                  <a:lnTo>
                    <a:pt x="737743" y="289560"/>
                  </a:lnTo>
                  <a:close/>
                </a:path>
                <a:path w="756285" h="2016760">
                  <a:moveTo>
                    <a:pt x="737743" y="99060"/>
                  </a:moveTo>
                  <a:lnTo>
                    <a:pt x="698119" y="79248"/>
                  </a:lnTo>
                  <a:lnTo>
                    <a:pt x="539623" y="0"/>
                  </a:lnTo>
                  <a:lnTo>
                    <a:pt x="539623" y="79248"/>
                  </a:lnTo>
                  <a:lnTo>
                    <a:pt x="127" y="79248"/>
                  </a:lnTo>
                  <a:lnTo>
                    <a:pt x="127" y="118872"/>
                  </a:lnTo>
                  <a:lnTo>
                    <a:pt x="539623" y="118872"/>
                  </a:lnTo>
                  <a:lnTo>
                    <a:pt x="539623" y="198120"/>
                  </a:lnTo>
                  <a:lnTo>
                    <a:pt x="698106" y="118872"/>
                  </a:lnTo>
                  <a:lnTo>
                    <a:pt x="737743" y="99060"/>
                  </a:lnTo>
                  <a:close/>
                </a:path>
                <a:path w="756285" h="2016760">
                  <a:moveTo>
                    <a:pt x="737870" y="1133856"/>
                  </a:moveTo>
                  <a:lnTo>
                    <a:pt x="654050" y="1133475"/>
                  </a:lnTo>
                  <a:lnTo>
                    <a:pt x="653796" y="1173099"/>
                  </a:lnTo>
                  <a:lnTo>
                    <a:pt x="737616" y="1173480"/>
                  </a:lnTo>
                  <a:lnTo>
                    <a:pt x="737870" y="1133856"/>
                  </a:lnTo>
                  <a:close/>
                </a:path>
                <a:path w="756285" h="2016760">
                  <a:moveTo>
                    <a:pt x="756031" y="1915668"/>
                  </a:moveTo>
                  <a:lnTo>
                    <a:pt x="718426" y="1897253"/>
                  </a:lnTo>
                  <a:lnTo>
                    <a:pt x="557149" y="1818259"/>
                  </a:lnTo>
                  <a:lnTo>
                    <a:pt x="557745" y="1897418"/>
                  </a:lnTo>
                  <a:lnTo>
                    <a:pt x="0" y="1901952"/>
                  </a:lnTo>
                  <a:lnTo>
                    <a:pt x="254" y="1941576"/>
                  </a:lnTo>
                  <a:lnTo>
                    <a:pt x="558050" y="1937042"/>
                  </a:lnTo>
                  <a:lnTo>
                    <a:pt x="558673" y="2016379"/>
                  </a:lnTo>
                  <a:lnTo>
                    <a:pt x="756031" y="1915668"/>
                  </a:lnTo>
                  <a:close/>
                </a:path>
                <a:path w="756285" h="2016760">
                  <a:moveTo>
                    <a:pt x="756031" y="888492"/>
                  </a:moveTo>
                  <a:lnTo>
                    <a:pt x="718426" y="870077"/>
                  </a:lnTo>
                  <a:lnTo>
                    <a:pt x="557149" y="791083"/>
                  </a:lnTo>
                  <a:lnTo>
                    <a:pt x="557745" y="870242"/>
                  </a:lnTo>
                  <a:lnTo>
                    <a:pt x="0" y="874776"/>
                  </a:lnTo>
                  <a:lnTo>
                    <a:pt x="254" y="914400"/>
                  </a:lnTo>
                  <a:lnTo>
                    <a:pt x="558050" y="909866"/>
                  </a:lnTo>
                  <a:lnTo>
                    <a:pt x="558673" y="989203"/>
                  </a:lnTo>
                  <a:lnTo>
                    <a:pt x="756031" y="88849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62243" y="2513075"/>
              <a:ext cx="1588135" cy="497205"/>
            </a:xfrm>
            <a:custGeom>
              <a:avLst/>
              <a:gdLst/>
              <a:ahLst/>
              <a:cxnLst/>
              <a:rect l="l" t="t" r="r" b="b"/>
              <a:pathLst>
                <a:path w="1588134" h="497205">
                  <a:moveTo>
                    <a:pt x="1588007" y="0"/>
                  </a:moveTo>
                  <a:lnTo>
                    <a:pt x="0" y="0"/>
                  </a:lnTo>
                  <a:lnTo>
                    <a:pt x="0" y="496824"/>
                  </a:lnTo>
                  <a:lnTo>
                    <a:pt x="1588007" y="496824"/>
                  </a:lnTo>
                  <a:lnTo>
                    <a:pt x="158800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62243" y="2513075"/>
              <a:ext cx="1588135" cy="497205"/>
            </a:xfrm>
            <a:custGeom>
              <a:avLst/>
              <a:gdLst/>
              <a:ahLst/>
              <a:cxnLst/>
              <a:rect l="l" t="t" r="r" b="b"/>
              <a:pathLst>
                <a:path w="1588134" h="497205">
                  <a:moveTo>
                    <a:pt x="0" y="496824"/>
                  </a:moveTo>
                  <a:lnTo>
                    <a:pt x="1588007" y="496824"/>
                  </a:lnTo>
                  <a:lnTo>
                    <a:pt x="1588007" y="0"/>
                  </a:lnTo>
                  <a:lnTo>
                    <a:pt x="0" y="0"/>
                  </a:lnTo>
                  <a:lnTo>
                    <a:pt x="0" y="496824"/>
                  </a:lnTo>
                  <a:close/>
                </a:path>
              </a:pathLst>
            </a:custGeom>
            <a:ln w="39624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81242" y="2489149"/>
            <a:ext cx="1348740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15" dirty="0">
                <a:latin typeface="Comic Sans MS"/>
                <a:cs typeface="Comic Sans MS"/>
              </a:rPr>
              <a:t>Intermediate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46419" y="2736595"/>
            <a:ext cx="82105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10" dirty="0">
                <a:latin typeface="Comic Sans MS"/>
                <a:cs typeface="Comic Sans MS"/>
              </a:rPr>
              <a:t>versio</a:t>
            </a:r>
            <a:r>
              <a:rPr sz="1600" b="1" spc="25" dirty="0">
                <a:latin typeface="Comic Sans MS"/>
                <a:cs typeface="Comic Sans MS"/>
              </a:rPr>
              <a:t>n</a:t>
            </a:r>
            <a:r>
              <a:rPr sz="1600" b="1" spc="15" dirty="0">
                <a:latin typeface="Comic Sans MS"/>
                <a:cs typeface="Comic Sans MS"/>
              </a:rPr>
              <a:t>s</a:t>
            </a:r>
            <a:endParaRPr sz="1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2286" y="285749"/>
            <a:ext cx="5079365" cy="450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5" dirty="0"/>
              <a:t>Advantages</a:t>
            </a:r>
            <a:r>
              <a:rPr sz="2750" spc="65" dirty="0"/>
              <a:t> </a:t>
            </a:r>
            <a:r>
              <a:rPr sz="2750" spc="5" dirty="0"/>
              <a:t>of</a:t>
            </a:r>
            <a:r>
              <a:rPr sz="2750" spc="30" dirty="0"/>
              <a:t> </a:t>
            </a:r>
            <a:r>
              <a:rPr sz="2750" dirty="0"/>
              <a:t>Evolutionary</a:t>
            </a:r>
            <a:r>
              <a:rPr sz="2750" spc="70" dirty="0"/>
              <a:t> </a:t>
            </a:r>
            <a:r>
              <a:rPr sz="2750" spc="5" dirty="0"/>
              <a:t>Model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4" y="894410"/>
            <a:ext cx="8836025" cy="311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spc="-15" dirty="0">
                <a:latin typeface="Calibri"/>
                <a:cs typeface="Calibri"/>
              </a:rPr>
              <a:t>Users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get</a:t>
            </a:r>
            <a:r>
              <a:rPr sz="2450" dirty="0">
                <a:latin typeface="Calibri"/>
                <a:cs typeface="Calibri"/>
              </a:rPr>
              <a:t> 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chance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experiment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with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partially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developed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system: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585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15" dirty="0">
                <a:latin typeface="Calibri"/>
                <a:cs typeface="Calibri"/>
              </a:rPr>
              <a:t>Much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before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full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working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version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5" dirty="0">
                <a:latin typeface="Calibri"/>
                <a:cs typeface="Calibri"/>
              </a:rPr>
              <a:t> released,</a:t>
            </a:r>
            <a:endParaRPr sz="21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4475" algn="l"/>
                <a:tab pos="2072639" algn="l"/>
              </a:tabLst>
            </a:pP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Helps</a:t>
            </a:r>
            <a:r>
              <a:rPr sz="245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finding	</a:t>
            </a:r>
            <a:r>
              <a:rPr sz="2450" b="1" spc="-25" dirty="0">
                <a:solidFill>
                  <a:srgbClr val="0000FF"/>
                </a:solidFill>
                <a:latin typeface="Calibri"/>
                <a:cs typeface="Calibri"/>
              </a:rPr>
              <a:t>exact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user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requirements: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560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15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more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 likely to</a:t>
            </a:r>
            <a:r>
              <a:rPr sz="21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meet</a:t>
            </a:r>
            <a:r>
              <a:rPr sz="2150" spc="4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exact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user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 requirements.</a:t>
            </a:r>
            <a:endParaRPr sz="21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Core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 modules</a:t>
            </a:r>
            <a:r>
              <a:rPr sz="2450" b="1" spc="-25" dirty="0">
                <a:solidFill>
                  <a:srgbClr val="0000FF"/>
                </a:solidFill>
                <a:latin typeface="Calibri"/>
                <a:cs typeface="Calibri"/>
              </a:rPr>
              <a:t> get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FF"/>
                </a:solidFill>
                <a:latin typeface="Calibri"/>
                <a:cs typeface="Calibri"/>
              </a:rPr>
              <a:t>tested</a:t>
            </a:r>
            <a:r>
              <a:rPr sz="24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thoroughly: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590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Reduces</a:t>
            </a:r>
            <a:r>
              <a:rPr sz="2150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chances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errors</a:t>
            </a:r>
            <a:r>
              <a:rPr sz="215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final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delivered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software.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1242" y="251535"/>
            <a:ext cx="4947285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10" dirty="0">
                <a:solidFill>
                  <a:srgbClr val="000000"/>
                </a:solidFill>
              </a:rPr>
              <a:t>Advantages</a:t>
            </a:r>
            <a:r>
              <a:rPr sz="2700" spc="3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of</a:t>
            </a:r>
            <a:r>
              <a:rPr sz="2700" dirty="0">
                <a:solidFill>
                  <a:srgbClr val="000000"/>
                </a:solidFill>
              </a:rPr>
              <a:t> evolutionary model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36" y="742706"/>
            <a:ext cx="8886190" cy="3678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43815" indent="-216535">
              <a:lnSpc>
                <a:spcPct val="120100"/>
              </a:lnSpc>
              <a:spcBef>
                <a:spcPts val="95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spc="-15" dirty="0">
                <a:latin typeface="Calibri"/>
                <a:cs typeface="Calibri"/>
              </a:rPr>
              <a:t>Better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management of </a:t>
            </a:r>
            <a:r>
              <a:rPr sz="2450" spc="-15" dirty="0">
                <a:latin typeface="Calibri"/>
                <a:cs typeface="Calibri"/>
              </a:rPr>
              <a:t>complexity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by</a:t>
            </a:r>
            <a:r>
              <a:rPr sz="2450" spc="-5" dirty="0">
                <a:latin typeface="Calibri"/>
                <a:cs typeface="Calibri"/>
              </a:rPr>
              <a:t> developing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one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increment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at</a:t>
            </a:r>
            <a:r>
              <a:rPr sz="2450" dirty="0">
                <a:latin typeface="Calibri"/>
                <a:cs typeface="Calibri"/>
              </a:rPr>
              <a:t> 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time.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buFont typeface="Arial MT"/>
              <a:buChar char="•"/>
              <a:tabLst>
                <a:tab pos="229235" algn="l"/>
              </a:tabLst>
            </a:pPr>
            <a:r>
              <a:rPr sz="2450" spc="-15" dirty="0">
                <a:latin typeface="Calibri"/>
                <a:cs typeface="Calibri"/>
              </a:rPr>
              <a:t>Better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management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changing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requirements.</a:t>
            </a:r>
            <a:endParaRPr sz="2450">
              <a:latin typeface="Calibri"/>
              <a:cs typeface="Calibri"/>
            </a:endParaRPr>
          </a:p>
          <a:p>
            <a:pPr marL="228600" marR="874394" indent="-216535">
              <a:lnSpc>
                <a:spcPct val="120000"/>
              </a:lnSpc>
              <a:spcBef>
                <a:spcPts val="1590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spc="-5" dirty="0">
                <a:latin typeface="Calibri"/>
                <a:cs typeface="Calibri"/>
              </a:rPr>
              <a:t>Can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get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customer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feedback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-15" dirty="0">
                <a:latin typeface="Calibri"/>
                <a:cs typeface="Calibri"/>
              </a:rPr>
              <a:t> incorporate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them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much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more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efficiently: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5"/>
              </a:spcBef>
            </a:pPr>
            <a:r>
              <a:rPr sz="2150" spc="15" dirty="0">
                <a:latin typeface="Arial MT"/>
                <a:cs typeface="Arial MT"/>
              </a:rPr>
              <a:t>–</a:t>
            </a:r>
            <a:r>
              <a:rPr sz="2150" spc="-275" dirty="0">
                <a:latin typeface="Arial MT"/>
                <a:cs typeface="Arial MT"/>
              </a:rPr>
              <a:t> </a:t>
            </a:r>
            <a:r>
              <a:rPr sz="2150" spc="15" dirty="0">
                <a:latin typeface="Calibri"/>
                <a:cs typeface="Calibri"/>
              </a:rPr>
              <a:t>As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compared  </a:t>
            </a:r>
            <a:r>
              <a:rPr sz="2150" spc="15" dirty="0">
                <a:latin typeface="Calibri"/>
                <a:cs typeface="Calibri"/>
              </a:rPr>
              <a:t>when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customer </a:t>
            </a:r>
            <a:r>
              <a:rPr sz="2150" dirty="0">
                <a:latin typeface="Calibri"/>
                <a:cs typeface="Calibri"/>
              </a:rPr>
              <a:t>feedbacks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come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only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after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development</a:t>
            </a:r>
            <a:endParaRPr sz="215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  <a:spcBef>
                <a:spcPts val="540"/>
              </a:spcBef>
            </a:pPr>
            <a:r>
              <a:rPr sz="2150" spc="5" dirty="0">
                <a:latin typeface="Calibri"/>
                <a:cs typeface="Calibri"/>
              </a:rPr>
              <a:t>work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complete.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2616" y="295097"/>
            <a:ext cx="6438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0" dirty="0">
                <a:solidFill>
                  <a:srgbClr val="000000"/>
                </a:solidFill>
              </a:rPr>
              <a:t>Advantages</a:t>
            </a:r>
            <a:r>
              <a:rPr sz="2500" spc="50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of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-10" dirty="0">
                <a:solidFill>
                  <a:srgbClr val="000000"/>
                </a:solidFill>
              </a:rPr>
              <a:t>Evolutionary</a:t>
            </a:r>
            <a:r>
              <a:rPr sz="2500" spc="10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Model</a:t>
            </a:r>
            <a:r>
              <a:rPr sz="2500" dirty="0">
                <a:solidFill>
                  <a:srgbClr val="000000"/>
                </a:solidFill>
              </a:rPr>
              <a:t> with</a:t>
            </a:r>
            <a:r>
              <a:rPr sz="2500" spc="-50" dirty="0">
                <a:solidFill>
                  <a:srgbClr val="000000"/>
                </a:solidFill>
              </a:rPr>
              <a:t> </a:t>
            </a:r>
            <a:r>
              <a:rPr sz="2500" spc="-15" dirty="0">
                <a:solidFill>
                  <a:srgbClr val="000000"/>
                </a:solidFill>
              </a:rPr>
              <a:t>Iteration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109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461" y="935558"/>
            <a:ext cx="7008495" cy="278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35" dirty="0">
                <a:latin typeface="Calibri"/>
                <a:cs typeface="Calibri"/>
              </a:rPr>
              <a:t>Training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start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 </a:t>
            </a:r>
            <a:r>
              <a:rPr sz="3200" dirty="0">
                <a:latin typeface="Calibri"/>
                <a:cs typeface="Calibri"/>
              </a:rPr>
              <a:t>earlier </a:t>
            </a:r>
            <a:r>
              <a:rPr sz="3200" spc="-15" dirty="0">
                <a:latin typeface="Calibri"/>
                <a:cs typeface="Calibri"/>
              </a:rPr>
              <a:t>release</a:t>
            </a:r>
            <a:endParaRPr sz="32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690"/>
              </a:spcBef>
            </a:pPr>
            <a:r>
              <a:rPr sz="3200" spc="-15" dirty="0">
                <a:latin typeface="Arial MT"/>
                <a:cs typeface="Arial MT"/>
              </a:rPr>
              <a:t>–</a:t>
            </a:r>
            <a:r>
              <a:rPr sz="3200" spc="-15" dirty="0">
                <a:latin typeface="Calibri"/>
                <a:cs typeface="Calibri"/>
              </a:rPr>
              <a:t>customer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feedback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taken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account</a:t>
            </a:r>
            <a:endParaRPr sz="3200">
              <a:latin typeface="Calibri"/>
              <a:cs typeface="Calibri"/>
            </a:endParaRPr>
          </a:p>
          <a:p>
            <a:pPr marL="243840" marR="5080" indent="-231775">
              <a:lnSpc>
                <a:spcPct val="125099"/>
              </a:lnSpc>
              <a:spcBef>
                <a:spcPts val="1725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15" dirty="0">
                <a:latin typeface="Calibri"/>
                <a:cs typeface="Calibri"/>
              </a:rPr>
              <a:t>Frequent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releases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allow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developers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fix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unanticipated </a:t>
            </a:r>
            <a:r>
              <a:rPr sz="3200" spc="-15" dirty="0">
                <a:latin typeface="Calibri"/>
                <a:cs typeface="Calibri"/>
              </a:rPr>
              <a:t>problems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quicker.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169" y="262839"/>
            <a:ext cx="491553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dirty="0">
                <a:solidFill>
                  <a:srgbClr val="000000"/>
                </a:solidFill>
              </a:rPr>
              <a:t>Evolutionary</a:t>
            </a:r>
            <a:r>
              <a:rPr sz="3050" spc="-10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Model:</a:t>
            </a:r>
            <a:r>
              <a:rPr sz="3050" spc="-70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Problems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844" y="650515"/>
            <a:ext cx="8791575" cy="351917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350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intangible:</a:t>
            </a:r>
            <a:endParaRPr sz="245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1155"/>
              </a:spcBef>
              <a:buFont typeface="Arial MT"/>
              <a:buChar char="–"/>
              <a:tabLst>
                <a:tab pos="525145" algn="l"/>
              </a:tabLst>
            </a:pPr>
            <a:r>
              <a:rPr sz="2150" spc="15" dirty="0">
                <a:latin typeface="Calibri"/>
                <a:cs typeface="Calibri"/>
              </a:rPr>
              <a:t>No</a:t>
            </a:r>
            <a:r>
              <a:rPr sz="2150" spc="-15" dirty="0">
                <a:latin typeface="Calibri"/>
                <a:cs typeface="Calibri"/>
              </a:rPr>
              <a:t> regular,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well-defined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deliverables.</a:t>
            </a:r>
            <a:endParaRPr sz="215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unpredictable:</a:t>
            </a:r>
            <a:endParaRPr sz="245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1155"/>
              </a:spcBef>
              <a:buFont typeface="Arial MT"/>
              <a:buChar char="–"/>
              <a:tabLst>
                <a:tab pos="525145" algn="l"/>
              </a:tabLst>
            </a:pPr>
            <a:r>
              <a:rPr sz="2150" spc="10" dirty="0">
                <a:latin typeface="Calibri"/>
                <a:cs typeface="Calibri"/>
              </a:rPr>
              <a:t>Hard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 </a:t>
            </a:r>
            <a:r>
              <a:rPr sz="2150" spc="10" dirty="0">
                <a:latin typeface="Calibri"/>
                <a:cs typeface="Calibri"/>
              </a:rPr>
              <a:t>manage,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e.g.,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scheduling,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workforce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allocation,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etc.</a:t>
            </a:r>
            <a:endParaRPr sz="215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29235" algn="l"/>
                <a:tab pos="2771775" algn="l"/>
              </a:tabLst>
            </a:pP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Systems</a:t>
            </a:r>
            <a:r>
              <a:rPr sz="245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are</a:t>
            </a:r>
            <a:r>
              <a:rPr sz="2450" b="1" spc="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rather	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poorly</a:t>
            </a:r>
            <a:r>
              <a:rPr sz="245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structured:</a:t>
            </a:r>
            <a:endParaRPr sz="2450">
              <a:latin typeface="Calibri"/>
              <a:cs typeface="Calibri"/>
            </a:endParaRPr>
          </a:p>
          <a:p>
            <a:pPr marL="524510" lvl="1" indent="-195580">
              <a:lnSpc>
                <a:spcPct val="100000"/>
              </a:lnSpc>
              <a:spcBef>
                <a:spcPts val="1175"/>
              </a:spcBef>
              <a:buFont typeface="Arial MT"/>
              <a:buChar char="–"/>
              <a:tabLst>
                <a:tab pos="525145" algn="l"/>
              </a:tabLst>
            </a:pPr>
            <a:r>
              <a:rPr sz="2150" spc="10" dirty="0">
                <a:latin typeface="Calibri"/>
                <a:cs typeface="Calibri"/>
              </a:rPr>
              <a:t>Continual,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unpredictable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changes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degrade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software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structure.</a:t>
            </a:r>
            <a:endParaRPr sz="215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29235" algn="l"/>
              </a:tabLst>
            </a:pP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Systems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may</a:t>
            </a:r>
            <a:r>
              <a:rPr sz="24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not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even</a:t>
            </a:r>
            <a:r>
              <a:rPr sz="2450" b="1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converge</a:t>
            </a:r>
            <a:r>
              <a:rPr sz="24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a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final</a:t>
            </a:r>
            <a:r>
              <a:rPr sz="245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version</a:t>
            </a:r>
            <a:r>
              <a:rPr sz="2450" b="1" spc="-20" dirty="0"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15" dirty="0">
                <a:latin typeface="Arial"/>
                <a:cs typeface="Arial"/>
              </a:rPr>
              <a:t>7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18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2020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7923" y="1659635"/>
            <a:ext cx="5858510" cy="102743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5920"/>
              </a:lnSpc>
            </a:pPr>
            <a:r>
              <a:rPr sz="5500" spc="-5" dirty="0">
                <a:solidFill>
                  <a:srgbClr val="0000FF"/>
                </a:solidFill>
              </a:rPr>
              <a:t>RAD</a:t>
            </a:r>
            <a:r>
              <a:rPr sz="5500" spc="-35" dirty="0">
                <a:solidFill>
                  <a:srgbClr val="0000FF"/>
                </a:solidFill>
              </a:rPr>
              <a:t> </a:t>
            </a:r>
            <a:r>
              <a:rPr sz="5500" spc="-10" dirty="0">
                <a:solidFill>
                  <a:srgbClr val="0000FF"/>
                </a:solidFill>
              </a:rPr>
              <a:t>Model</a:t>
            </a:r>
            <a:endParaRPr sz="5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565" y="343280"/>
            <a:ext cx="657352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29275" algn="l"/>
              </a:tabLst>
            </a:pPr>
            <a:r>
              <a:rPr sz="2700" spc="10" dirty="0">
                <a:solidFill>
                  <a:srgbClr val="000000"/>
                </a:solidFill>
              </a:rPr>
              <a:t>R</a:t>
            </a:r>
            <a:r>
              <a:rPr sz="2700" spc="5" dirty="0">
                <a:solidFill>
                  <a:srgbClr val="000000"/>
                </a:solidFill>
              </a:rPr>
              <a:t>a</a:t>
            </a:r>
            <a:r>
              <a:rPr sz="2700" spc="10" dirty="0">
                <a:solidFill>
                  <a:srgbClr val="000000"/>
                </a:solidFill>
              </a:rPr>
              <a:t>p</a:t>
            </a:r>
            <a:r>
              <a:rPr sz="2700" dirty="0">
                <a:solidFill>
                  <a:srgbClr val="000000"/>
                </a:solidFill>
              </a:rPr>
              <a:t>id </a:t>
            </a:r>
            <a:r>
              <a:rPr sz="2700" spc="-10" dirty="0">
                <a:solidFill>
                  <a:srgbClr val="000000"/>
                </a:solidFill>
              </a:rPr>
              <a:t>A</a:t>
            </a:r>
            <a:r>
              <a:rPr sz="2700" spc="5" dirty="0">
                <a:solidFill>
                  <a:srgbClr val="000000"/>
                </a:solidFill>
              </a:rPr>
              <a:t>p</a:t>
            </a:r>
            <a:r>
              <a:rPr sz="2700" spc="15" dirty="0">
                <a:solidFill>
                  <a:srgbClr val="000000"/>
                </a:solidFill>
              </a:rPr>
              <a:t>p</a:t>
            </a:r>
            <a:r>
              <a:rPr sz="2700" dirty="0">
                <a:solidFill>
                  <a:srgbClr val="000000"/>
                </a:solidFill>
              </a:rPr>
              <a:t>l</a:t>
            </a:r>
            <a:r>
              <a:rPr sz="2700" spc="5" dirty="0">
                <a:solidFill>
                  <a:srgbClr val="000000"/>
                </a:solidFill>
              </a:rPr>
              <a:t>i</a:t>
            </a:r>
            <a:r>
              <a:rPr sz="2700" spc="-30" dirty="0">
                <a:solidFill>
                  <a:srgbClr val="000000"/>
                </a:solidFill>
              </a:rPr>
              <a:t>c</a:t>
            </a:r>
            <a:r>
              <a:rPr sz="2700" spc="-15" dirty="0">
                <a:solidFill>
                  <a:srgbClr val="000000"/>
                </a:solidFill>
              </a:rPr>
              <a:t>a</a:t>
            </a:r>
            <a:r>
              <a:rPr sz="2700" spc="5" dirty="0">
                <a:solidFill>
                  <a:srgbClr val="000000"/>
                </a:solidFill>
              </a:rPr>
              <a:t>tion</a:t>
            </a:r>
            <a:r>
              <a:rPr sz="2700" dirty="0">
                <a:solidFill>
                  <a:srgbClr val="000000"/>
                </a:solidFill>
              </a:rPr>
              <a:t> D</a:t>
            </a:r>
            <a:r>
              <a:rPr sz="2700" spc="-25" dirty="0">
                <a:solidFill>
                  <a:srgbClr val="000000"/>
                </a:solidFill>
              </a:rPr>
              <a:t>e</a:t>
            </a:r>
            <a:r>
              <a:rPr sz="2700" spc="-35" dirty="0">
                <a:solidFill>
                  <a:srgbClr val="000000"/>
                </a:solidFill>
              </a:rPr>
              <a:t>v</a:t>
            </a:r>
            <a:r>
              <a:rPr sz="2700" dirty="0">
                <a:solidFill>
                  <a:srgbClr val="000000"/>
                </a:solidFill>
              </a:rPr>
              <a:t>elo</a:t>
            </a:r>
            <a:r>
              <a:rPr sz="2700" spc="15" dirty="0">
                <a:solidFill>
                  <a:srgbClr val="000000"/>
                </a:solidFill>
              </a:rPr>
              <a:t>p</a:t>
            </a:r>
            <a:r>
              <a:rPr sz="2700" dirty="0">
                <a:solidFill>
                  <a:srgbClr val="000000"/>
                </a:solidFill>
              </a:rPr>
              <a:t>me</a:t>
            </a:r>
            <a:r>
              <a:rPr sz="2700" spc="-5" dirty="0">
                <a:solidFill>
                  <a:srgbClr val="000000"/>
                </a:solidFill>
              </a:rPr>
              <a:t>n</a:t>
            </a:r>
            <a:r>
              <a:rPr sz="2700" dirty="0">
                <a:solidFill>
                  <a:srgbClr val="000000"/>
                </a:solidFill>
              </a:rPr>
              <a:t>t</a:t>
            </a:r>
            <a:r>
              <a:rPr sz="2700" spc="3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(R</a:t>
            </a:r>
            <a:r>
              <a:rPr sz="2700" spc="-5" dirty="0">
                <a:solidFill>
                  <a:srgbClr val="000000"/>
                </a:solidFill>
              </a:rPr>
              <a:t>A</a:t>
            </a:r>
            <a:r>
              <a:rPr sz="2700" dirty="0">
                <a:solidFill>
                  <a:srgbClr val="000000"/>
                </a:solidFill>
              </a:rPr>
              <a:t>D)	</a:t>
            </a:r>
            <a:r>
              <a:rPr sz="2700" spc="5" dirty="0">
                <a:solidFill>
                  <a:srgbClr val="000000"/>
                </a:solidFill>
              </a:rPr>
              <a:t>M</a:t>
            </a:r>
            <a:r>
              <a:rPr sz="2700" spc="10" dirty="0">
                <a:solidFill>
                  <a:srgbClr val="000000"/>
                </a:solidFill>
              </a:rPr>
              <a:t>o</a:t>
            </a:r>
            <a:r>
              <a:rPr sz="2700" spc="5" dirty="0">
                <a:solidFill>
                  <a:srgbClr val="000000"/>
                </a:solidFill>
              </a:rPr>
              <a:t>d</a:t>
            </a:r>
            <a:r>
              <a:rPr sz="2700" spc="10" dirty="0">
                <a:solidFill>
                  <a:srgbClr val="000000"/>
                </a:solidFill>
              </a:rPr>
              <a:t>e</a:t>
            </a:r>
            <a:r>
              <a:rPr sz="2700" dirty="0">
                <a:solidFill>
                  <a:srgbClr val="000000"/>
                </a:solidFill>
              </a:rPr>
              <a:t>l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789949"/>
            <a:ext cx="8596630" cy="344487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39420" indent="-427355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439420" algn="l"/>
                <a:tab pos="440055" algn="l"/>
                <a:tab pos="4802505" algn="l"/>
              </a:tabLst>
            </a:pPr>
            <a:r>
              <a:rPr sz="2800" spc="-5" dirty="0">
                <a:latin typeface="Calibri"/>
                <a:cs typeface="Calibri"/>
              </a:rPr>
              <a:t>Sometimes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referred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5" dirty="0">
                <a:latin typeface="Calibri"/>
                <a:cs typeface="Calibri"/>
              </a:rPr>
              <a:t>the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rapid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prototyping</a:t>
            </a:r>
            <a:r>
              <a:rPr sz="28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5" dirty="0">
                <a:solidFill>
                  <a:srgbClr val="003300"/>
                </a:solidFill>
                <a:latin typeface="Calibri"/>
                <a:cs typeface="Calibri"/>
              </a:rPr>
              <a:t>Major</a:t>
            </a:r>
            <a:r>
              <a:rPr sz="2800" spc="-35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00"/>
                </a:solidFill>
                <a:latin typeface="Calibri"/>
                <a:cs typeface="Calibri"/>
              </a:rPr>
              <a:t>aims:</a:t>
            </a:r>
            <a:endParaRPr sz="2800">
              <a:latin typeface="Calibri"/>
              <a:cs typeface="Calibri"/>
            </a:endParaRPr>
          </a:p>
          <a:p>
            <a:pPr marL="756285" marR="737870" lvl="1" indent="-287020">
              <a:lnSpc>
                <a:spcPct val="114999"/>
              </a:lnSpc>
              <a:spcBef>
                <a:spcPts val="136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Decrease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taken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cost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incurred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develop </a:t>
            </a:r>
            <a:r>
              <a:rPr sz="2400" spc="-5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685"/>
              </a:spcBef>
              <a:buFont typeface="Arial MT"/>
              <a:buChar char="–"/>
              <a:tabLst>
                <a:tab pos="756920" algn="l"/>
                <a:tab pos="6142990" algn="l"/>
              </a:tabLst>
            </a:pP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Facilitate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accommodating</a:t>
            </a:r>
            <a:r>
              <a:rPr sz="24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change</a:t>
            </a:r>
            <a:r>
              <a:rPr sz="24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requests	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early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possible: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Before</a:t>
            </a:r>
            <a:r>
              <a:rPr sz="2000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20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investments</a:t>
            </a:r>
            <a:r>
              <a:rPr sz="2000" spc="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20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been</a:t>
            </a:r>
            <a:r>
              <a:rPr sz="2000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made</a:t>
            </a:r>
            <a:r>
              <a:rPr sz="20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000" spc="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testing.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8157" y="305511"/>
            <a:ext cx="502094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5" dirty="0">
                <a:solidFill>
                  <a:srgbClr val="000000"/>
                </a:solidFill>
              </a:rPr>
              <a:t>Important</a:t>
            </a:r>
            <a:r>
              <a:rPr sz="3050" spc="-100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Underlying</a:t>
            </a:r>
            <a:r>
              <a:rPr sz="3050" spc="-10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Principle</a:t>
            </a:r>
            <a:endParaRPr sz="30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" y="992184"/>
            <a:ext cx="8489315" cy="1215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301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way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reduce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development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cost,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yet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have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flexibility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incorporate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changes: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768" y="2578354"/>
            <a:ext cx="14605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dirty="0">
                <a:solidFill>
                  <a:srgbClr val="0000FF"/>
                </a:solidFill>
                <a:latin typeface="Times New Roman"/>
                <a:cs typeface="Times New Roman"/>
              </a:rPr>
              <a:t>•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323" y="2497835"/>
            <a:ext cx="7848600" cy="1295400"/>
          </a:xfrm>
          <a:prstGeom prst="rect">
            <a:avLst/>
          </a:prstGeom>
          <a:solidFill>
            <a:srgbClr val="FFFFCC"/>
          </a:solidFill>
          <a:ln w="9144">
            <a:solidFill>
              <a:srgbClr val="CC33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49225" marR="103505">
              <a:lnSpc>
                <a:spcPts val="4250"/>
              </a:lnSpc>
              <a:spcBef>
                <a:spcPts val="45"/>
              </a:spcBef>
            </a:pP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Make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short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term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plans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7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make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heavy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reuse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2700" b="1" spc="-6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existing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code.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2185" y="219278"/>
            <a:ext cx="287909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0000"/>
                </a:solidFill>
              </a:rPr>
              <a:t>Methodology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790060"/>
            <a:ext cx="8982075" cy="3212465"/>
          </a:xfrm>
          <a:prstGeom prst="rect">
            <a:avLst/>
          </a:prstGeom>
        </p:spPr>
        <p:txBody>
          <a:bodyPr vert="horz" wrap="square" lIns="0" tIns="275590" rIns="0" bIns="0" rtlCol="0">
            <a:spAutoFit/>
          </a:bodyPr>
          <a:lstStyle/>
          <a:p>
            <a:pPr marL="146685" indent="-134620">
              <a:lnSpc>
                <a:spcPct val="100000"/>
              </a:lnSpc>
              <a:spcBef>
                <a:spcPts val="2170"/>
              </a:spcBef>
              <a:buSzPct val="96666"/>
              <a:buFont typeface="Times New Roman"/>
              <a:buChar char="•"/>
              <a:tabLst>
                <a:tab pos="147320" algn="l"/>
              </a:tabLst>
            </a:pPr>
            <a:r>
              <a:rPr sz="3000" spc="5" dirty="0">
                <a:latin typeface="Calibri"/>
                <a:cs typeface="Calibri"/>
              </a:rPr>
              <a:t>Plans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for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one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increment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time.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85"/>
              </a:spcBef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time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planned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each</a:t>
            </a:r>
            <a:r>
              <a:rPr sz="27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iteration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called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 box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  <a:p>
            <a:pPr marL="146685" indent="-134620">
              <a:lnSpc>
                <a:spcPct val="100000"/>
              </a:lnSpc>
              <a:spcBef>
                <a:spcPts val="1795"/>
              </a:spcBef>
              <a:buSzPct val="96666"/>
              <a:buFont typeface="Times New Roman"/>
              <a:buChar char="•"/>
              <a:tabLst>
                <a:tab pos="147320" algn="l"/>
              </a:tabLst>
            </a:pPr>
            <a:r>
              <a:rPr sz="3000" spc="-15" dirty="0">
                <a:latin typeface="Calibri"/>
                <a:cs typeface="Calibri"/>
              </a:rPr>
              <a:t>Each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iteration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(increment):</a:t>
            </a:r>
            <a:endParaRPr sz="3000">
              <a:latin typeface="Calibri"/>
              <a:cs typeface="Calibri"/>
            </a:endParaRPr>
          </a:p>
          <a:p>
            <a:pPr marL="756285" marR="5080" lvl="1" indent="-287020">
              <a:lnSpc>
                <a:spcPct val="115599"/>
              </a:lnSpc>
              <a:spcBef>
                <a:spcPts val="1405"/>
              </a:spcBef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Enhances</a:t>
            </a:r>
            <a:r>
              <a:rPr sz="27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implemented</a:t>
            </a:r>
            <a:r>
              <a:rPr sz="2700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functionality</a:t>
            </a:r>
            <a:r>
              <a:rPr sz="2700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 the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application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little.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2817" y="283590"/>
            <a:ext cx="2591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M</a:t>
            </a:r>
            <a:r>
              <a:rPr spc="-15" dirty="0">
                <a:solidFill>
                  <a:srgbClr val="000000"/>
                </a:solidFill>
              </a:rPr>
              <a:t>e</a:t>
            </a:r>
            <a:r>
              <a:rPr dirty="0">
                <a:solidFill>
                  <a:srgbClr val="000000"/>
                </a:solidFill>
              </a:rPr>
              <a:t>th</a:t>
            </a:r>
            <a:r>
              <a:rPr spc="15" dirty="0">
                <a:solidFill>
                  <a:srgbClr val="000000"/>
                </a:solidFill>
              </a:rPr>
              <a:t>o</a:t>
            </a:r>
            <a:r>
              <a:rPr spc="5" dirty="0">
                <a:solidFill>
                  <a:srgbClr val="000000"/>
                </a:solidFill>
              </a:rPr>
              <a:t>d</a:t>
            </a:r>
            <a:r>
              <a:rPr dirty="0">
                <a:solidFill>
                  <a:srgbClr val="000000"/>
                </a:solidFill>
              </a:rPr>
              <a:t>ol</a:t>
            </a:r>
            <a:r>
              <a:rPr spc="15" dirty="0">
                <a:solidFill>
                  <a:srgbClr val="000000"/>
                </a:solidFill>
              </a:rPr>
              <a:t>o</a:t>
            </a:r>
            <a:r>
              <a:rPr spc="-5" dirty="0">
                <a:solidFill>
                  <a:srgbClr val="000000"/>
                </a:solidFill>
              </a:rPr>
              <a:t>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31" y="537319"/>
            <a:ext cx="8866505" cy="3691254"/>
          </a:xfrm>
          <a:prstGeom prst="rect">
            <a:avLst/>
          </a:prstGeom>
        </p:spPr>
        <p:txBody>
          <a:bodyPr vert="horz" wrap="square" lIns="0" tIns="28257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222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Calibri"/>
                <a:cs typeface="Calibri"/>
              </a:rPr>
              <a:t>During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iteration,</a:t>
            </a:r>
            <a:endParaRPr sz="3000">
              <a:latin typeface="Calibri"/>
              <a:cs typeface="Calibri"/>
            </a:endParaRPr>
          </a:p>
          <a:p>
            <a:pPr marL="756285" marR="815975" lvl="1" indent="-287020">
              <a:lnSpc>
                <a:spcPct val="120800"/>
              </a:lnSpc>
              <a:spcBef>
                <a:spcPts val="1260"/>
              </a:spcBef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quick-and-dirty</a:t>
            </a:r>
            <a:r>
              <a:rPr sz="2700" spc="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prototype-style</a:t>
            </a:r>
            <a:r>
              <a:rPr sz="2700" spc="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some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selected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functionality</a:t>
            </a:r>
            <a:r>
              <a:rPr sz="2700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developed.</a:t>
            </a:r>
            <a:endParaRPr sz="2700">
              <a:latin typeface="Calibri"/>
              <a:cs typeface="Calibri"/>
            </a:endParaRPr>
          </a:p>
          <a:p>
            <a:pPr marL="756285" marR="898525" lvl="1" indent="-287020">
              <a:lnSpc>
                <a:spcPct val="120800"/>
              </a:lnSpc>
              <a:spcBef>
                <a:spcPts val="1150"/>
              </a:spcBef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customer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evaluates</a:t>
            </a:r>
            <a:r>
              <a:rPr sz="27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prototype</a:t>
            </a:r>
            <a:r>
              <a:rPr sz="2700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gives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his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feedback.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25"/>
              </a:spcBef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prototype</a:t>
            </a:r>
            <a:r>
              <a:rPr sz="2700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refined</a:t>
            </a:r>
            <a:r>
              <a:rPr sz="2700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based</a:t>
            </a:r>
            <a:r>
              <a:rPr sz="27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customer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feedback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5572" y="319227"/>
            <a:ext cx="6631305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5" dirty="0">
                <a:solidFill>
                  <a:srgbClr val="000000"/>
                </a:solidFill>
              </a:rPr>
              <a:t>How</a:t>
            </a:r>
            <a:r>
              <a:rPr sz="2700" spc="-4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Does</a:t>
            </a:r>
            <a:r>
              <a:rPr sz="2700" spc="-2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RAD</a:t>
            </a:r>
            <a:r>
              <a:rPr sz="2700" spc="-25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Facilitate</a:t>
            </a:r>
            <a:r>
              <a:rPr sz="2700" spc="-85" dirty="0">
                <a:solidFill>
                  <a:srgbClr val="000000"/>
                </a:solidFill>
              </a:rPr>
              <a:t> </a:t>
            </a:r>
            <a:r>
              <a:rPr sz="2700" spc="-20" dirty="0">
                <a:solidFill>
                  <a:srgbClr val="000000"/>
                </a:solidFill>
              </a:rPr>
              <a:t>Faster</a:t>
            </a:r>
            <a:r>
              <a:rPr sz="2700" spc="-40" dirty="0">
                <a:solidFill>
                  <a:srgbClr val="000000"/>
                </a:solidFill>
              </a:rPr>
              <a:t> </a:t>
            </a:r>
            <a:r>
              <a:rPr sz="2700" spc="-5" dirty="0">
                <a:solidFill>
                  <a:srgbClr val="000000"/>
                </a:solidFill>
              </a:rPr>
              <a:t>Development?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45907"/>
            <a:ext cx="7755890" cy="366077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dirty="0">
                <a:latin typeface="Calibri"/>
                <a:cs typeface="Calibri"/>
              </a:rPr>
              <a:t>RAD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achieves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fast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creation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working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prototypes.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12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latin typeface="Calibri"/>
                <a:cs typeface="Calibri"/>
              </a:rPr>
              <a:t>Through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use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specialized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tools.</a:t>
            </a:r>
            <a:endParaRPr sz="2450">
              <a:latin typeface="Calibri"/>
              <a:cs typeface="Calibri"/>
            </a:endParaRPr>
          </a:p>
          <a:p>
            <a:pPr marL="356870" marR="52069" indent="-344805">
              <a:lnSpc>
                <a:spcPct val="116399"/>
              </a:lnSpc>
              <a:spcBef>
                <a:spcPts val="55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spc="-5" dirty="0">
                <a:latin typeface="Calibri"/>
                <a:cs typeface="Calibri"/>
              </a:rPr>
              <a:t>These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specialized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tools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usually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support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following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features: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11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Visual</a:t>
            </a:r>
            <a:r>
              <a:rPr sz="245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style 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5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development.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2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5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reusable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 components.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19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 standard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 APIs (Application</a:t>
            </a:r>
            <a:r>
              <a:rPr sz="245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0000FF"/>
                </a:solidFill>
                <a:latin typeface="Calibri"/>
                <a:cs typeface="Calibri"/>
              </a:rPr>
              <a:t>Program</a:t>
            </a:r>
            <a:r>
              <a:rPr sz="24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Interfaces).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1527" y="262204"/>
            <a:ext cx="58553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000000"/>
                </a:solidFill>
              </a:rPr>
              <a:t>For</a:t>
            </a:r>
            <a:r>
              <a:rPr sz="2800" spc="-3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which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Applications</a:t>
            </a:r>
            <a:r>
              <a:rPr sz="2800" spc="-10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is</a:t>
            </a:r>
            <a:r>
              <a:rPr sz="2800" spc="-5" dirty="0">
                <a:solidFill>
                  <a:srgbClr val="000000"/>
                </a:solidFill>
              </a:rPr>
              <a:t> </a:t>
            </a:r>
            <a:r>
              <a:rPr sz="2800" spc="5" dirty="0">
                <a:solidFill>
                  <a:srgbClr val="000000"/>
                </a:solidFill>
              </a:rPr>
              <a:t>RAD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Suitable?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94826"/>
            <a:ext cx="7665720" cy="334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7670">
              <a:lnSpc>
                <a:spcPct val="119400"/>
              </a:lnSpc>
              <a:spcBef>
                <a:spcPts val="100"/>
              </a:spcBef>
              <a:buSzPct val="96666"/>
              <a:buFont typeface="Times New Roman"/>
              <a:buChar char="•"/>
              <a:tabLst>
                <a:tab pos="147320" algn="l"/>
              </a:tabLst>
            </a:pPr>
            <a:r>
              <a:rPr sz="3000" spc="-15" dirty="0">
                <a:latin typeface="Calibri"/>
                <a:cs typeface="Calibri"/>
              </a:rPr>
              <a:t>Customized </a:t>
            </a:r>
            <a:r>
              <a:rPr sz="3000" spc="-10" dirty="0">
                <a:latin typeface="Calibri"/>
                <a:cs typeface="Calibri"/>
              </a:rPr>
              <a:t>product developed </a:t>
            </a:r>
            <a:r>
              <a:rPr sz="3000" spc="-30" dirty="0">
                <a:latin typeface="Calibri"/>
                <a:cs typeface="Calibri"/>
              </a:rPr>
              <a:t>for </a:t>
            </a:r>
            <a:r>
              <a:rPr sz="3000" spc="-5" dirty="0">
                <a:latin typeface="Calibri"/>
                <a:cs typeface="Calibri"/>
              </a:rPr>
              <a:t>one or </a:t>
            </a:r>
            <a:r>
              <a:rPr sz="3000" spc="-15" dirty="0">
                <a:latin typeface="Calibri"/>
                <a:cs typeface="Calibri"/>
              </a:rPr>
              <a:t>two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customers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2450">
              <a:latin typeface="Calibri"/>
              <a:cs typeface="Calibri"/>
            </a:endParaRPr>
          </a:p>
          <a:p>
            <a:pPr marL="146685" indent="-134620">
              <a:lnSpc>
                <a:spcPct val="100000"/>
              </a:lnSpc>
              <a:buSzPct val="96666"/>
              <a:buFont typeface="Times New Roman"/>
              <a:buChar char="•"/>
              <a:tabLst>
                <a:tab pos="147320" algn="l"/>
              </a:tabLst>
            </a:pPr>
            <a:r>
              <a:rPr sz="3000" spc="-15" dirty="0">
                <a:latin typeface="Calibri"/>
                <a:cs typeface="Calibri"/>
              </a:rPr>
              <a:t>Performance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5" dirty="0">
                <a:latin typeface="Calibri"/>
                <a:cs typeface="Calibri"/>
              </a:rPr>
              <a:t>reliability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critical.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2280"/>
              </a:spcBef>
              <a:buSzPct val="96666"/>
              <a:buFont typeface="Times New Roman"/>
              <a:buChar char="•"/>
              <a:tabLst>
                <a:tab pos="14732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0" dirty="0">
                <a:latin typeface="Calibri"/>
                <a:cs typeface="Calibri"/>
              </a:rPr>
              <a:t>system </a:t>
            </a:r>
            <a:r>
              <a:rPr sz="3000" spc="-10" dirty="0">
                <a:latin typeface="Calibri"/>
                <a:cs typeface="Calibri"/>
              </a:rPr>
              <a:t>can </a:t>
            </a:r>
            <a:r>
              <a:rPr sz="3000" spc="-5" dirty="0">
                <a:latin typeface="Calibri"/>
                <a:cs typeface="Calibri"/>
              </a:rPr>
              <a:t>be split </a:t>
            </a:r>
            <a:r>
              <a:rPr sz="3000" spc="-10" dirty="0">
                <a:latin typeface="Calibri"/>
                <a:cs typeface="Calibri"/>
              </a:rPr>
              <a:t>into </a:t>
            </a:r>
            <a:r>
              <a:rPr sz="3000" spc="-25" dirty="0">
                <a:latin typeface="Calibri"/>
                <a:cs typeface="Calibri"/>
              </a:rPr>
              <a:t>several </a:t>
            </a:r>
            <a:r>
              <a:rPr sz="3000" spc="-5" dirty="0">
                <a:latin typeface="Calibri"/>
                <a:cs typeface="Calibri"/>
              </a:rPr>
              <a:t>independent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modules.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431" y="414985"/>
            <a:ext cx="631380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000000"/>
                </a:solidFill>
              </a:rPr>
              <a:t>For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Which</a:t>
            </a:r>
            <a:r>
              <a:rPr sz="2800" spc="-3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Applications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5" dirty="0">
                <a:solidFill>
                  <a:srgbClr val="000000"/>
                </a:solidFill>
              </a:rPr>
              <a:t>RAD</a:t>
            </a:r>
            <a:r>
              <a:rPr sz="2800" spc="-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is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Unsuitable?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49858"/>
            <a:ext cx="7067550" cy="297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0" indent="-235585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48285" algn="l"/>
              </a:tabLst>
            </a:pPr>
            <a:r>
              <a:rPr sz="3200" spc="-35" dirty="0">
                <a:latin typeface="Calibri"/>
                <a:cs typeface="Calibri"/>
              </a:rPr>
              <a:t>Few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plug-in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components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available</a:t>
            </a:r>
            <a:endParaRPr sz="3200">
              <a:latin typeface="Calibri"/>
              <a:cs typeface="Calibri"/>
            </a:endParaRPr>
          </a:p>
          <a:p>
            <a:pPr marL="247650" indent="-235585">
              <a:lnSpc>
                <a:spcPct val="100000"/>
              </a:lnSpc>
              <a:spcBef>
                <a:spcPts val="2620"/>
              </a:spcBef>
              <a:buFont typeface="Times New Roman"/>
              <a:buChar char="•"/>
              <a:tabLst>
                <a:tab pos="248285" algn="l"/>
              </a:tabLst>
            </a:pPr>
            <a:r>
              <a:rPr sz="3200" spc="-5" dirty="0">
                <a:latin typeface="Calibri"/>
                <a:cs typeface="Calibri"/>
              </a:rPr>
              <a:t>High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performance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 reliability </a:t>
            </a:r>
            <a:r>
              <a:rPr sz="3200" spc="-20" dirty="0">
                <a:latin typeface="Calibri"/>
                <a:cs typeface="Calibri"/>
              </a:rPr>
              <a:t>required</a:t>
            </a:r>
            <a:endParaRPr sz="3200">
              <a:latin typeface="Calibri"/>
              <a:cs typeface="Calibri"/>
            </a:endParaRPr>
          </a:p>
          <a:p>
            <a:pPr marL="247650" indent="-235585">
              <a:lnSpc>
                <a:spcPct val="100000"/>
              </a:lnSpc>
              <a:spcBef>
                <a:spcPts val="2615"/>
              </a:spcBef>
              <a:buFont typeface="Times New Roman"/>
              <a:buChar char="•"/>
              <a:tabLst>
                <a:tab pos="248285" algn="l"/>
              </a:tabLst>
            </a:pPr>
            <a:r>
              <a:rPr sz="3200" spc="-5" dirty="0">
                <a:latin typeface="Calibri"/>
                <a:cs typeface="Calibri"/>
              </a:rPr>
              <a:t>No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precedence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similar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products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exists</a:t>
            </a:r>
            <a:endParaRPr sz="3200">
              <a:latin typeface="Calibri"/>
              <a:cs typeface="Calibri"/>
            </a:endParaRPr>
          </a:p>
          <a:p>
            <a:pPr marL="247650" indent="-235585">
              <a:lnSpc>
                <a:spcPct val="100000"/>
              </a:lnSpc>
              <a:spcBef>
                <a:spcPts val="2645"/>
              </a:spcBef>
              <a:buFont typeface="Times New Roman"/>
              <a:buChar char="•"/>
              <a:tabLst>
                <a:tab pos="248285" algn="l"/>
              </a:tabLst>
            </a:pP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cannot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modularized.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" y="197053"/>
            <a:ext cx="8595360" cy="399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46050">
              <a:lnSpc>
                <a:spcPct val="100000"/>
              </a:lnSpc>
              <a:spcBef>
                <a:spcPts val="100"/>
              </a:spcBef>
              <a:buSzPct val="96923"/>
              <a:buFont typeface="Times New Roman"/>
              <a:buChar char="•"/>
              <a:tabLst>
                <a:tab pos="184150" algn="l"/>
                <a:tab pos="4077970" algn="l"/>
              </a:tabLst>
            </a:pPr>
            <a:r>
              <a:rPr sz="4875" spc="7" baseline="-41025" dirty="0">
                <a:latin typeface="Calibri"/>
                <a:cs typeface="Calibri"/>
              </a:rPr>
              <a:t>In </a:t>
            </a:r>
            <a:r>
              <a:rPr sz="4875" spc="-7" baseline="-41025" dirty="0">
                <a:latin typeface="Calibri"/>
                <a:cs typeface="Calibri"/>
              </a:rPr>
              <a:t>prototyping</a:t>
            </a:r>
            <a:r>
              <a:rPr sz="4875" spc="22" baseline="-41025" dirty="0">
                <a:latin typeface="Calibri"/>
                <a:cs typeface="Calibri"/>
              </a:rPr>
              <a:t> </a:t>
            </a:r>
            <a:r>
              <a:rPr sz="4875" spc="7" baseline="-41025" dirty="0">
                <a:latin typeface="Calibri"/>
                <a:cs typeface="Calibri"/>
              </a:rPr>
              <a:t>model:	</a:t>
            </a:r>
            <a:r>
              <a:rPr sz="3600" b="1" spc="-10" dirty="0">
                <a:latin typeface="Calibri"/>
                <a:cs typeface="Calibri"/>
              </a:rPr>
              <a:t>Prototyping</a:t>
            </a:r>
            <a:r>
              <a:rPr sz="3600" b="1" spc="-30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versus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RAD</a:t>
            </a:r>
            <a:endParaRPr sz="3600">
              <a:latin typeface="Calibri"/>
              <a:cs typeface="Calibri"/>
            </a:endParaRPr>
          </a:p>
          <a:p>
            <a:pPr marL="1181735" marR="454025" lvl="1" indent="-229235">
              <a:lnSpc>
                <a:spcPct val="111200"/>
              </a:lnSpc>
              <a:spcBef>
                <a:spcPts val="2965"/>
              </a:spcBef>
              <a:buFont typeface="Times New Roman"/>
              <a:buChar char="•"/>
              <a:tabLst>
                <a:tab pos="1181735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700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prototype</a:t>
            </a:r>
            <a:r>
              <a:rPr sz="27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primarily</a:t>
            </a:r>
            <a:r>
              <a:rPr sz="2700" spc="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used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to gain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insights</a:t>
            </a:r>
            <a:r>
              <a:rPr sz="2700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1181735" lvl="1" indent="-229235">
              <a:lnSpc>
                <a:spcPct val="100000"/>
              </a:lnSpc>
              <a:spcBef>
                <a:spcPts val="840"/>
              </a:spcBef>
              <a:buFont typeface="Times New Roman"/>
              <a:buChar char="•"/>
              <a:tabLst>
                <a:tab pos="1181735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Choose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between alternatives</a:t>
            </a:r>
            <a:endParaRPr sz="2700">
              <a:latin typeface="Calibri"/>
              <a:cs typeface="Calibri"/>
            </a:endParaRPr>
          </a:p>
          <a:p>
            <a:pPr marL="1181735" lvl="1" indent="-229235">
              <a:lnSpc>
                <a:spcPct val="100000"/>
              </a:lnSpc>
              <a:spcBef>
                <a:spcPts val="844"/>
              </a:spcBef>
              <a:buFont typeface="Times New Roman"/>
              <a:buChar char="•"/>
              <a:tabLst>
                <a:tab pos="1181735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Elicit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customer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feedback.</a:t>
            </a:r>
            <a:endParaRPr sz="2700">
              <a:latin typeface="Calibri"/>
              <a:cs typeface="Calibri"/>
            </a:endParaRPr>
          </a:p>
          <a:p>
            <a:pPr marL="134620" marR="4392930" indent="-134620" algn="r">
              <a:lnSpc>
                <a:spcPct val="100000"/>
              </a:lnSpc>
              <a:spcBef>
                <a:spcPts val="830"/>
              </a:spcBef>
              <a:buSzPct val="96666"/>
              <a:buFont typeface="Times New Roman"/>
              <a:buChar char="•"/>
              <a:tabLst>
                <a:tab pos="13462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developed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prototype:</a:t>
            </a:r>
            <a:endParaRPr sz="3000">
              <a:latin typeface="Calibri"/>
              <a:cs typeface="Calibri"/>
            </a:endParaRPr>
          </a:p>
          <a:p>
            <a:pPr marL="229235" marR="4422140" lvl="1" indent="-229235" algn="r">
              <a:lnSpc>
                <a:spcPct val="100000"/>
              </a:lnSpc>
              <a:spcBef>
                <a:spcPts val="925"/>
              </a:spcBef>
              <a:buFont typeface="Times New Roman"/>
              <a:buChar char="•"/>
              <a:tabLst>
                <a:tab pos="229235" algn="l"/>
              </a:tabLst>
            </a:pP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Usually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thrown</a:t>
            </a:r>
            <a:r>
              <a:rPr sz="27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0000FF"/>
                </a:solidFill>
                <a:latin typeface="Calibri"/>
                <a:cs typeface="Calibri"/>
              </a:rPr>
              <a:t>away</a:t>
            </a:r>
            <a:r>
              <a:rPr sz="2700" spc="-50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2426" y="283590"/>
            <a:ext cx="4502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Prototyping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versus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RAD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69" y="803859"/>
            <a:ext cx="8702040" cy="33616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contrast:</a:t>
            </a:r>
            <a:endParaRPr sz="2800">
              <a:latin typeface="Calibri"/>
              <a:cs typeface="Calibri"/>
            </a:endParaRPr>
          </a:p>
          <a:p>
            <a:pPr marL="756285" marR="607060" lvl="1" indent="-287020">
              <a:lnSpc>
                <a:spcPct val="115300"/>
              </a:lnSpc>
              <a:spcBef>
                <a:spcPts val="1620"/>
              </a:spcBef>
              <a:buClr>
                <a:srgbClr val="0000FF"/>
              </a:buClr>
              <a:buFont typeface="Times New Roman"/>
              <a:buChar char="•"/>
              <a:tabLst>
                <a:tab pos="826135" algn="l"/>
                <a:tab pos="827405" algn="l"/>
              </a:tabLst>
            </a:pPr>
            <a:r>
              <a:rPr dirty="0"/>
              <a:t>	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5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RAD</a:t>
            </a:r>
            <a:r>
              <a:rPr sz="25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5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0000FF"/>
                </a:solidFill>
                <a:latin typeface="Calibri"/>
                <a:cs typeface="Calibri"/>
              </a:rPr>
              <a:t>prototype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0000FF"/>
                </a:solidFill>
                <a:latin typeface="Calibri"/>
                <a:cs typeface="Calibri"/>
              </a:rPr>
              <a:t>evolves</a:t>
            </a:r>
            <a:r>
              <a:rPr sz="25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25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deliverable </a:t>
            </a:r>
            <a:r>
              <a:rPr sz="2500" spc="-5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500" spc="-10" dirty="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356870" marR="86995" indent="-344805">
              <a:lnSpc>
                <a:spcPct val="115100"/>
              </a:lnSpc>
              <a:spcBef>
                <a:spcPts val="154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2800" spc="5" dirty="0">
                <a:latin typeface="Calibri"/>
                <a:cs typeface="Calibri"/>
              </a:rPr>
              <a:t>RAD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leads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faster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traditional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models: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80"/>
              </a:spcBef>
              <a:buFont typeface="Times New Roman"/>
              <a:buChar char="•"/>
              <a:tabLst>
                <a:tab pos="756285" algn="l"/>
                <a:tab pos="756920" algn="l"/>
                <a:tab pos="7369175" algn="l"/>
              </a:tabLst>
            </a:pPr>
            <a:r>
              <a:rPr sz="2500" spc="-40" dirty="0">
                <a:solidFill>
                  <a:srgbClr val="0000FF"/>
                </a:solidFill>
                <a:latin typeface="Calibri"/>
                <a:cs typeface="Calibri"/>
              </a:rPr>
              <a:t>However,</a:t>
            </a:r>
            <a:r>
              <a:rPr sz="25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5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quality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5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reliability</a:t>
            </a:r>
            <a:r>
              <a:rPr sz="25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would</a:t>
            </a:r>
            <a:r>
              <a:rPr sz="25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possibly	be</a:t>
            </a:r>
            <a:r>
              <a:rPr sz="2500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45" dirty="0">
                <a:solidFill>
                  <a:srgbClr val="0000FF"/>
                </a:solidFill>
                <a:latin typeface="Calibri"/>
                <a:cs typeface="Calibri"/>
              </a:rPr>
              <a:t>poorer.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4007" y="191210"/>
            <a:ext cx="545465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15" dirty="0">
                <a:solidFill>
                  <a:srgbClr val="000000"/>
                </a:solidFill>
              </a:rPr>
              <a:t>RAD</a:t>
            </a:r>
            <a:r>
              <a:rPr sz="2750" dirty="0">
                <a:solidFill>
                  <a:srgbClr val="000000"/>
                </a:solidFill>
              </a:rPr>
              <a:t> versus</a:t>
            </a:r>
            <a:r>
              <a:rPr sz="2750" spc="25" dirty="0">
                <a:solidFill>
                  <a:srgbClr val="000000"/>
                </a:solidFill>
              </a:rPr>
              <a:t> </a:t>
            </a:r>
            <a:r>
              <a:rPr sz="2750" spc="-10" dirty="0">
                <a:solidFill>
                  <a:srgbClr val="000000"/>
                </a:solidFill>
              </a:rPr>
              <a:t>Iterative</a:t>
            </a:r>
            <a:r>
              <a:rPr sz="2750" spc="25" dirty="0">
                <a:solidFill>
                  <a:srgbClr val="000000"/>
                </a:solidFill>
              </a:rPr>
              <a:t> </a:t>
            </a:r>
            <a:r>
              <a:rPr sz="2750" spc="-15" dirty="0">
                <a:solidFill>
                  <a:srgbClr val="000000"/>
                </a:solidFill>
              </a:rPr>
              <a:t>Waterfall</a:t>
            </a:r>
            <a:r>
              <a:rPr sz="2750" spc="15" dirty="0">
                <a:solidFill>
                  <a:srgbClr val="000000"/>
                </a:solidFill>
              </a:rPr>
              <a:t> </a:t>
            </a:r>
            <a:r>
              <a:rPr sz="2750" spc="10" dirty="0">
                <a:solidFill>
                  <a:srgbClr val="000000"/>
                </a:solidFill>
              </a:rPr>
              <a:t>Model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863" y="396286"/>
            <a:ext cx="8874125" cy="3909695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dirty="0">
                <a:latin typeface="Calibri"/>
                <a:cs typeface="Calibri"/>
              </a:rPr>
              <a:t>In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iterative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waterfall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model,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4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0" dirty="0">
                <a:latin typeface="Calibri"/>
                <a:cs typeface="Calibri"/>
              </a:rPr>
              <a:t>All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product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functionalities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are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developed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together.</a:t>
            </a:r>
            <a:endParaRPr sz="21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dirty="0">
                <a:latin typeface="Calibri"/>
                <a:cs typeface="Calibri"/>
              </a:rPr>
              <a:t>In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5" dirty="0">
                <a:latin typeface="Calibri"/>
                <a:cs typeface="Calibri"/>
              </a:rPr>
              <a:t> RAD model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other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hand,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4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Product</a:t>
            </a:r>
            <a:r>
              <a:rPr sz="215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functionalities</a:t>
            </a:r>
            <a:r>
              <a:rPr sz="215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are</a:t>
            </a:r>
            <a:r>
              <a:rPr sz="215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developed</a:t>
            </a:r>
            <a:r>
              <a:rPr sz="2150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incrementally</a:t>
            </a:r>
            <a:r>
              <a:rPr sz="215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through</a:t>
            </a:r>
            <a:r>
              <a:rPr sz="215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heavy code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40"/>
              </a:spcBef>
            </a:pPr>
            <a:r>
              <a:rPr sz="2150" spc="1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15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215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reuse.</a:t>
            </a:r>
            <a:endParaRPr sz="2150">
              <a:latin typeface="Calibri"/>
              <a:cs typeface="Calibri"/>
            </a:endParaRPr>
          </a:p>
          <a:p>
            <a:pPr marL="756285" marR="222885" lvl="1" indent="-287020">
              <a:lnSpc>
                <a:spcPct val="121000"/>
              </a:lnSpc>
              <a:spcBef>
                <a:spcPts val="8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Customer feedback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is obtained </a:t>
            </a:r>
            <a:r>
              <a:rPr sz="2150" spc="15" dirty="0">
                <a:solidFill>
                  <a:srgbClr val="0000CC"/>
                </a:solidFill>
                <a:latin typeface="Calibri"/>
                <a:cs typeface="Calibri"/>
              </a:rPr>
              <a:t>on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developed </a:t>
            </a:r>
            <a:r>
              <a:rPr sz="2150" spc="5" dirty="0">
                <a:solidFill>
                  <a:srgbClr val="0000CC"/>
                </a:solidFill>
                <a:latin typeface="Calibri"/>
                <a:cs typeface="Calibri"/>
              </a:rPr>
              <a:t>prototype </a:t>
            </a: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after </a:t>
            </a:r>
            <a:r>
              <a:rPr sz="2150" spc="10" dirty="0">
                <a:solidFill>
                  <a:srgbClr val="0000CC"/>
                </a:solidFill>
                <a:latin typeface="Calibri"/>
                <a:cs typeface="Calibri"/>
              </a:rPr>
              <a:t>each </a:t>
            </a:r>
            <a:r>
              <a:rPr sz="2150" spc="-4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iteration:</a:t>
            </a:r>
            <a:endParaRPr sz="215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solidFill>
                  <a:srgbClr val="0000CC"/>
                </a:solidFill>
                <a:latin typeface="Calibri"/>
                <a:cs typeface="Calibri"/>
              </a:rPr>
              <a:t>Based</a:t>
            </a:r>
            <a:r>
              <a:rPr sz="19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CC"/>
                </a:solidFill>
                <a:latin typeface="Calibri"/>
                <a:cs typeface="Calibri"/>
              </a:rPr>
              <a:t>on</a:t>
            </a:r>
            <a:r>
              <a:rPr sz="19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0CC"/>
                </a:solidFill>
                <a:latin typeface="Calibri"/>
                <a:cs typeface="Calibri"/>
              </a:rPr>
              <a:t>this</a:t>
            </a:r>
            <a:r>
              <a:rPr sz="19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0CC"/>
                </a:solidFill>
                <a:latin typeface="Calibri"/>
                <a:cs typeface="Calibri"/>
              </a:rPr>
              <a:t>the prototype</a:t>
            </a:r>
            <a:r>
              <a:rPr sz="19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19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0CC"/>
                </a:solidFill>
                <a:latin typeface="Calibri"/>
                <a:cs typeface="Calibri"/>
              </a:rPr>
              <a:t>refined.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11" y="287781"/>
            <a:ext cx="8855075" cy="4133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12925">
              <a:lnSpc>
                <a:spcPct val="100000"/>
              </a:lnSpc>
              <a:spcBef>
                <a:spcPts val="130"/>
              </a:spcBef>
            </a:pPr>
            <a:r>
              <a:rPr sz="2750" b="1" spc="15" dirty="0">
                <a:latin typeface="Calibri"/>
                <a:cs typeface="Calibri"/>
              </a:rPr>
              <a:t>RAD </a:t>
            </a:r>
            <a:r>
              <a:rPr sz="2750" b="1" dirty="0">
                <a:latin typeface="Calibri"/>
                <a:cs typeface="Calibri"/>
              </a:rPr>
              <a:t>versus</a:t>
            </a:r>
            <a:r>
              <a:rPr sz="2750" b="1" spc="4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Iterative</a:t>
            </a:r>
            <a:r>
              <a:rPr sz="2750" b="1" spc="40" dirty="0">
                <a:latin typeface="Calibri"/>
                <a:cs typeface="Calibri"/>
              </a:rPr>
              <a:t> </a:t>
            </a:r>
            <a:r>
              <a:rPr sz="2750" b="1" spc="-15" dirty="0">
                <a:latin typeface="Calibri"/>
                <a:cs typeface="Calibri"/>
              </a:rPr>
              <a:t>Waterfall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Model</a:t>
            </a:r>
            <a:endParaRPr sz="27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iterative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waterfall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83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Does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facilitate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accommodating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requests.</a:t>
            </a:r>
            <a:endParaRPr sz="2400">
              <a:latin typeface="Calibri"/>
              <a:cs typeface="Calibri"/>
            </a:endParaRPr>
          </a:p>
          <a:p>
            <a:pPr marL="356870" marR="1010919" indent="-344805">
              <a:lnSpc>
                <a:spcPct val="115100"/>
              </a:lnSpc>
              <a:spcBef>
                <a:spcPts val="22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5" dirty="0">
                <a:latin typeface="Calibri"/>
                <a:cs typeface="Calibri"/>
              </a:rPr>
              <a:t>Iterative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waterfall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does </a:t>
            </a:r>
            <a:r>
              <a:rPr sz="2800" spc="-20" dirty="0">
                <a:latin typeface="Calibri"/>
                <a:cs typeface="Calibri"/>
              </a:rPr>
              <a:t>have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advantages:</a:t>
            </a:r>
            <a:endParaRPr sz="2800">
              <a:latin typeface="Calibri"/>
              <a:cs typeface="Calibri"/>
            </a:endParaRPr>
          </a:p>
          <a:p>
            <a:pPr marL="756285" marR="231775" lvl="1" indent="-287020">
              <a:lnSpc>
                <a:spcPct val="114999"/>
              </a:lnSpc>
              <a:spcBef>
                <a:spcPts val="4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24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iterative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waterfall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leads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production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good </a:t>
            </a:r>
            <a:r>
              <a:rPr sz="2400" spc="-5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documentation.</a:t>
            </a:r>
            <a:endParaRPr sz="2400">
              <a:latin typeface="Calibri"/>
              <a:cs typeface="Calibri"/>
            </a:endParaRPr>
          </a:p>
          <a:p>
            <a:pPr marL="756285" marR="777240" lvl="1" indent="-287020">
              <a:lnSpc>
                <a:spcPct val="115100"/>
              </a:lnSpc>
              <a:spcBef>
                <a:spcPts val="2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Also,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usually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has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better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quality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400" spc="-5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reliability</a:t>
            </a:r>
            <a:r>
              <a:rPr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than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24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RAD.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1904" y="362711"/>
            <a:ext cx="2265045" cy="1295400"/>
          </a:xfrm>
          <a:custGeom>
            <a:avLst/>
            <a:gdLst/>
            <a:ahLst/>
            <a:cxnLst/>
            <a:rect l="l" t="t" r="r" b="b"/>
            <a:pathLst>
              <a:path w="2265045" h="1295400">
                <a:moveTo>
                  <a:pt x="2264663" y="0"/>
                </a:moveTo>
                <a:lnTo>
                  <a:pt x="0" y="0"/>
                </a:lnTo>
                <a:lnTo>
                  <a:pt x="0" y="1295400"/>
                </a:lnTo>
                <a:lnTo>
                  <a:pt x="2264663" y="1295400"/>
                </a:lnTo>
                <a:lnTo>
                  <a:pt x="22646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69963" y="355549"/>
            <a:ext cx="1832610" cy="1262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15"/>
              </a:spcBef>
            </a:pPr>
            <a:r>
              <a:rPr sz="2700" spc="5" dirty="0">
                <a:solidFill>
                  <a:srgbClr val="000000"/>
                </a:solidFill>
              </a:rPr>
              <a:t>RAD </a:t>
            </a:r>
            <a:r>
              <a:rPr sz="2700" spc="-5" dirty="0">
                <a:solidFill>
                  <a:srgbClr val="000000"/>
                </a:solidFill>
              </a:rPr>
              <a:t>versus </a:t>
            </a:r>
            <a:r>
              <a:rPr sz="2700" dirty="0">
                <a:solidFill>
                  <a:srgbClr val="000000"/>
                </a:solidFill>
              </a:rPr>
              <a:t> </a:t>
            </a:r>
            <a:r>
              <a:rPr sz="2700" spc="-70" dirty="0">
                <a:solidFill>
                  <a:srgbClr val="000000"/>
                </a:solidFill>
              </a:rPr>
              <a:t>E</a:t>
            </a:r>
            <a:r>
              <a:rPr sz="2700" spc="-30" dirty="0">
                <a:solidFill>
                  <a:srgbClr val="000000"/>
                </a:solidFill>
              </a:rPr>
              <a:t>v</a:t>
            </a:r>
            <a:r>
              <a:rPr sz="2700" spc="5" dirty="0">
                <a:solidFill>
                  <a:srgbClr val="000000"/>
                </a:solidFill>
              </a:rPr>
              <a:t>olu</a:t>
            </a:r>
            <a:r>
              <a:rPr sz="2700" dirty="0">
                <a:solidFill>
                  <a:srgbClr val="000000"/>
                </a:solidFill>
              </a:rPr>
              <a:t>tio</a:t>
            </a:r>
            <a:r>
              <a:rPr sz="2700" spc="15" dirty="0">
                <a:solidFill>
                  <a:srgbClr val="000000"/>
                </a:solidFill>
              </a:rPr>
              <a:t>n</a:t>
            </a:r>
            <a:r>
              <a:rPr sz="2700" dirty="0">
                <a:solidFill>
                  <a:srgbClr val="000000"/>
                </a:solidFill>
              </a:rPr>
              <a:t>ary  </a:t>
            </a:r>
            <a:r>
              <a:rPr sz="2700" spc="5" dirty="0">
                <a:solidFill>
                  <a:srgbClr val="000000"/>
                </a:solidFill>
              </a:rPr>
              <a:t>Model</a:t>
            </a:r>
            <a:endParaRPr sz="27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301" y="126999"/>
            <a:ext cx="6511925" cy="199580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Calibri"/>
                <a:cs typeface="Calibri"/>
              </a:rPr>
              <a:t>Incremental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development: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Occurs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evolutionary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40" dirty="0">
                <a:latin typeface="Calibri"/>
                <a:cs typeface="Calibri"/>
              </a:rPr>
              <a:t>However,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RAD: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756920" algn="l"/>
                <a:tab pos="3066415" algn="l"/>
              </a:tabLst>
            </a:pP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Each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increment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is	a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quick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dirty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prototype,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01" y="2173157"/>
            <a:ext cx="8860155" cy="2264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620395" indent="-287020">
              <a:lnSpc>
                <a:spcPct val="114199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Whereas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 the evolutionary model each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increment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sz="24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systematically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iterative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waterfall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Calibri"/>
                <a:cs typeface="Calibri"/>
              </a:rPr>
              <a:t>Also,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RAD develops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shorter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increments: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incremental</a:t>
            </a:r>
            <a:r>
              <a:rPr sz="24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functionalities</a:t>
            </a:r>
            <a:r>
              <a:rPr sz="24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are fairly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large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evolutionary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15" dirty="0">
                <a:latin typeface="Arial"/>
                <a:cs typeface="Arial"/>
              </a:rPr>
              <a:t>7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18</a:t>
            </a:r>
            <a:r>
              <a:rPr sz="1000" b="1" spc="5" dirty="0">
                <a:latin typeface="Arial"/>
                <a:cs typeface="Arial"/>
              </a:rPr>
              <a:t>/</a:t>
            </a:r>
            <a:r>
              <a:rPr sz="1000" b="1" spc="15" dirty="0">
                <a:latin typeface="Arial"/>
                <a:cs typeface="Arial"/>
              </a:rPr>
              <a:t>2020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0660" y="1507235"/>
            <a:ext cx="5858510" cy="106680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15" algn="ctr">
              <a:lnSpc>
                <a:spcPts val="6140"/>
              </a:lnSpc>
            </a:pPr>
            <a:r>
              <a:rPr sz="5500" spc="-5" dirty="0">
                <a:solidFill>
                  <a:srgbClr val="0000FF"/>
                </a:solidFill>
              </a:rPr>
              <a:t>Unified</a:t>
            </a:r>
            <a:r>
              <a:rPr sz="5500" spc="-35" dirty="0">
                <a:solidFill>
                  <a:srgbClr val="0000FF"/>
                </a:solidFill>
              </a:rPr>
              <a:t> </a:t>
            </a:r>
            <a:r>
              <a:rPr sz="5500" spc="-15" dirty="0">
                <a:solidFill>
                  <a:srgbClr val="0000FF"/>
                </a:solidFill>
              </a:rPr>
              <a:t>Process</a:t>
            </a:r>
            <a:endParaRPr sz="5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852" y="237566"/>
            <a:ext cx="262318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Unified</a:t>
            </a:r>
            <a:r>
              <a:rPr sz="3200" spc="-40" dirty="0">
                <a:solidFill>
                  <a:srgbClr val="000000"/>
                </a:solidFill>
              </a:rPr>
              <a:t> </a:t>
            </a:r>
            <a:r>
              <a:rPr sz="3200" spc="-15" dirty="0">
                <a:solidFill>
                  <a:srgbClr val="000000"/>
                </a:solidFill>
              </a:rPr>
              <a:t>Process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243" y="828548"/>
            <a:ext cx="7888605" cy="323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marR="197485" indent="-415290">
              <a:lnSpc>
                <a:spcPts val="3510"/>
              </a:lnSpc>
              <a:spcBef>
                <a:spcPts val="100"/>
              </a:spcBef>
              <a:buFont typeface="Arial MT"/>
              <a:buChar char="•"/>
              <a:tabLst>
                <a:tab pos="427355" algn="l"/>
                <a:tab pos="427990" algn="l"/>
                <a:tab pos="2134870" algn="l"/>
              </a:tabLst>
            </a:pPr>
            <a:r>
              <a:rPr sz="2800" spc="-5" dirty="0">
                <a:latin typeface="Calibri"/>
                <a:cs typeface="Calibri"/>
              </a:rPr>
              <a:t>Developed	</a:t>
            </a:r>
            <a:r>
              <a:rPr sz="2800" spc="-15" dirty="0">
                <a:latin typeface="Calibri"/>
                <a:cs typeface="Calibri"/>
              </a:rPr>
              <a:t>Ivar </a:t>
            </a:r>
            <a:r>
              <a:rPr sz="2800" spc="-10" dirty="0">
                <a:latin typeface="Calibri"/>
                <a:cs typeface="Calibri"/>
              </a:rPr>
              <a:t>Jacobson, Grady </a:t>
            </a:r>
            <a:r>
              <a:rPr sz="2800" dirty="0">
                <a:latin typeface="Calibri"/>
                <a:cs typeface="Calibri"/>
              </a:rPr>
              <a:t>Booch and James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Rumbaugh</a:t>
            </a:r>
            <a:endParaRPr sz="2800">
              <a:latin typeface="Calibri"/>
              <a:cs typeface="Calibri"/>
            </a:endParaRPr>
          </a:p>
          <a:p>
            <a:pPr marL="415290">
              <a:lnSpc>
                <a:spcPct val="100000"/>
              </a:lnSpc>
              <a:spcBef>
                <a:spcPts val="1814"/>
              </a:spcBef>
              <a:tabLst>
                <a:tab pos="829310" algn="l"/>
              </a:tabLst>
            </a:pPr>
            <a:r>
              <a:rPr sz="2400" dirty="0">
                <a:latin typeface="Arial MT"/>
                <a:cs typeface="Arial MT"/>
              </a:rPr>
              <a:t>–	</a:t>
            </a:r>
            <a:r>
              <a:rPr sz="2400" spc="-5" dirty="0">
                <a:latin typeface="Calibri"/>
                <a:cs typeface="Calibri"/>
              </a:rPr>
              <a:t>Incremental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iterative</a:t>
            </a:r>
            <a:endParaRPr sz="2400">
              <a:latin typeface="Calibri"/>
              <a:cs typeface="Calibri"/>
            </a:endParaRPr>
          </a:p>
          <a:p>
            <a:pPr marL="427355" marR="5080" indent="-415290">
              <a:lnSpc>
                <a:spcPct val="104400"/>
              </a:lnSpc>
              <a:spcBef>
                <a:spcPts val="173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2800" spc="-5" dirty="0">
                <a:latin typeface="Calibri"/>
                <a:cs typeface="Calibri"/>
              </a:rPr>
              <a:t>Rational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Unified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(RUP)</a:t>
            </a:r>
            <a:r>
              <a:rPr sz="2800" dirty="0">
                <a:latin typeface="Calibri"/>
                <a:cs typeface="Calibri"/>
              </a:rPr>
              <a:t> 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tailored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Rational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Software:</a:t>
            </a:r>
            <a:endParaRPr sz="28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1960"/>
              </a:spcBef>
              <a:tabLst>
                <a:tab pos="692150" algn="l"/>
              </a:tabLst>
            </a:pPr>
            <a:r>
              <a:rPr sz="2400" dirty="0">
                <a:latin typeface="Arial MT"/>
                <a:cs typeface="Arial MT"/>
              </a:rPr>
              <a:t>–	</a:t>
            </a:r>
            <a:r>
              <a:rPr sz="2400" spc="-5" dirty="0">
                <a:latin typeface="Calibri"/>
                <a:cs typeface="Calibri"/>
              </a:rPr>
              <a:t>Acquired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IBM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February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2003.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8022" y="346659"/>
            <a:ext cx="7242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Four</a:t>
            </a:r>
            <a:r>
              <a:rPr sz="2400" spc="-3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Phases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---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iterative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Development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at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Every</a:t>
            </a:r>
            <a:r>
              <a:rPr sz="2400" spc="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phase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2674" y="916634"/>
            <a:ext cx="3230245" cy="310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 indent="-217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9870" algn="l"/>
              </a:tabLst>
            </a:pPr>
            <a:r>
              <a:rPr sz="3000" spc="-5" dirty="0">
                <a:latin typeface="Calibri"/>
                <a:cs typeface="Calibri"/>
              </a:rPr>
              <a:t>Inception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65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buFont typeface="Arial MT"/>
              <a:buChar char="•"/>
              <a:tabLst>
                <a:tab pos="229870" algn="l"/>
              </a:tabLst>
            </a:pPr>
            <a:r>
              <a:rPr sz="3000" spc="-10" dirty="0">
                <a:latin typeface="Calibri"/>
                <a:cs typeface="Calibri"/>
              </a:rPr>
              <a:t>Elaboration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65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buFont typeface="Arial MT"/>
              <a:buChar char="•"/>
              <a:tabLst>
                <a:tab pos="229870" algn="l"/>
              </a:tabLst>
            </a:pPr>
            <a:r>
              <a:rPr sz="3000" spc="-5" dirty="0">
                <a:latin typeface="Calibri"/>
                <a:cs typeface="Calibri"/>
              </a:rPr>
              <a:t>Construction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65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buFont typeface="Arial MT"/>
              <a:buChar char="•"/>
              <a:tabLst>
                <a:tab pos="229870" algn="l"/>
              </a:tabLst>
            </a:pPr>
            <a:r>
              <a:rPr sz="3000" spc="-25" dirty="0">
                <a:latin typeface="Calibri"/>
                <a:cs typeface="Calibri"/>
              </a:rPr>
              <a:t>Transition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719" y="1139393"/>
            <a:ext cx="7868920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spc="5" dirty="0">
                <a:latin typeface="Comic Sans MS"/>
                <a:cs typeface="Comic Sans MS"/>
              </a:rPr>
              <a:t>The</a:t>
            </a:r>
            <a:r>
              <a:rPr sz="2100" spc="-30" dirty="0">
                <a:latin typeface="Comic Sans MS"/>
                <a:cs typeface="Comic Sans MS"/>
              </a:rPr>
              <a:t> </a:t>
            </a:r>
            <a:r>
              <a:rPr sz="2100" spc="5" dirty="0">
                <a:latin typeface="Comic Sans MS"/>
                <a:cs typeface="Comic Sans MS"/>
              </a:rPr>
              <a:t>duration</a:t>
            </a:r>
            <a:r>
              <a:rPr sz="2100" spc="-3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of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and</a:t>
            </a:r>
            <a:r>
              <a:rPr sz="2100" spc="-2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iteration</a:t>
            </a:r>
            <a:r>
              <a:rPr sz="2100" spc="-5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may </a:t>
            </a:r>
            <a:r>
              <a:rPr sz="2100" spc="5" dirty="0">
                <a:latin typeface="Comic Sans MS"/>
                <a:cs typeface="Comic Sans MS"/>
              </a:rPr>
              <a:t>vary</a:t>
            </a:r>
            <a:r>
              <a:rPr sz="2100" spc="-20" dirty="0">
                <a:latin typeface="Comic Sans MS"/>
                <a:cs typeface="Comic Sans MS"/>
              </a:rPr>
              <a:t> </a:t>
            </a:r>
            <a:r>
              <a:rPr sz="2100" spc="5" dirty="0">
                <a:latin typeface="Comic Sans MS"/>
                <a:cs typeface="Comic Sans MS"/>
              </a:rPr>
              <a:t>from</a:t>
            </a:r>
            <a:r>
              <a:rPr sz="2100" spc="-3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two</a:t>
            </a:r>
            <a:r>
              <a:rPr sz="2100" spc="5" dirty="0">
                <a:latin typeface="Comic Sans MS"/>
                <a:cs typeface="Comic Sans MS"/>
              </a:rPr>
              <a:t> </a:t>
            </a:r>
            <a:r>
              <a:rPr sz="2100" spc="-5" dirty="0">
                <a:latin typeface="Comic Sans MS"/>
                <a:cs typeface="Comic Sans MS"/>
              </a:rPr>
              <a:t>weeks</a:t>
            </a:r>
            <a:r>
              <a:rPr sz="2100" spc="10" dirty="0">
                <a:latin typeface="Comic Sans MS"/>
                <a:cs typeface="Comic Sans MS"/>
              </a:rPr>
              <a:t> </a:t>
            </a:r>
            <a:r>
              <a:rPr sz="2100" spc="-5" dirty="0">
                <a:latin typeface="Comic Sans MS"/>
                <a:cs typeface="Comic Sans MS"/>
              </a:rPr>
              <a:t>or</a:t>
            </a:r>
            <a:r>
              <a:rPr sz="2100" spc="-10" dirty="0">
                <a:latin typeface="Comic Sans MS"/>
                <a:cs typeface="Comic Sans MS"/>
              </a:rPr>
              <a:t> </a:t>
            </a:r>
            <a:r>
              <a:rPr sz="2100" spc="10" dirty="0">
                <a:latin typeface="Comic Sans MS"/>
                <a:cs typeface="Comic Sans MS"/>
              </a:rPr>
              <a:t>less</a:t>
            </a:r>
            <a:r>
              <a:rPr sz="1750" spc="10" dirty="0">
                <a:latin typeface="Comic Sans MS"/>
                <a:cs typeface="Comic Sans MS"/>
              </a:rPr>
              <a:t>.</a:t>
            </a:r>
            <a:endParaRPr sz="175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496" y="1898903"/>
            <a:ext cx="6589776" cy="16154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01496" y="3669791"/>
            <a:ext cx="1152525" cy="561340"/>
            <a:chOff x="1301496" y="3669791"/>
            <a:chExt cx="1152525" cy="561340"/>
          </a:xfrm>
        </p:grpSpPr>
        <p:sp>
          <p:nvSpPr>
            <p:cNvPr id="5" name="object 5"/>
            <p:cNvSpPr/>
            <p:nvPr/>
          </p:nvSpPr>
          <p:spPr>
            <a:xfrm>
              <a:off x="1306068" y="3674363"/>
              <a:ext cx="1143000" cy="551815"/>
            </a:xfrm>
            <a:custGeom>
              <a:avLst/>
              <a:gdLst/>
              <a:ahLst/>
              <a:cxnLst/>
              <a:rect l="l" t="t" r="r" b="b"/>
              <a:pathLst>
                <a:path w="1143000" h="551814">
                  <a:moveTo>
                    <a:pt x="1143000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1143000" y="551688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6068" y="3674363"/>
              <a:ext cx="1143000" cy="551815"/>
            </a:xfrm>
            <a:custGeom>
              <a:avLst/>
              <a:gdLst/>
              <a:ahLst/>
              <a:cxnLst/>
              <a:rect l="l" t="t" r="r" b="b"/>
              <a:pathLst>
                <a:path w="1143000" h="551814">
                  <a:moveTo>
                    <a:pt x="0" y="551688"/>
                  </a:moveTo>
                  <a:lnTo>
                    <a:pt x="1143000" y="551688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06067" y="3674364"/>
            <a:ext cx="1143000" cy="551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229"/>
              </a:spcBef>
            </a:pPr>
            <a:r>
              <a:rPr sz="1600" b="1" spc="10" dirty="0">
                <a:solidFill>
                  <a:srgbClr val="003300"/>
                </a:solidFill>
                <a:latin typeface="Comic Sans MS"/>
                <a:cs typeface="Comic Sans MS"/>
              </a:rPr>
              <a:t>Inception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59023" y="3669791"/>
            <a:ext cx="1304925" cy="561340"/>
            <a:chOff x="2859023" y="3669791"/>
            <a:chExt cx="1304925" cy="561340"/>
          </a:xfrm>
        </p:grpSpPr>
        <p:sp>
          <p:nvSpPr>
            <p:cNvPr id="9" name="object 9"/>
            <p:cNvSpPr/>
            <p:nvPr/>
          </p:nvSpPr>
          <p:spPr>
            <a:xfrm>
              <a:off x="2863595" y="3674363"/>
              <a:ext cx="1295400" cy="551815"/>
            </a:xfrm>
            <a:custGeom>
              <a:avLst/>
              <a:gdLst/>
              <a:ahLst/>
              <a:cxnLst/>
              <a:rect l="l" t="t" r="r" b="b"/>
              <a:pathLst>
                <a:path w="1295400" h="551814">
                  <a:moveTo>
                    <a:pt x="1295400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1295400" y="55168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3595" y="3674363"/>
              <a:ext cx="1295400" cy="551815"/>
            </a:xfrm>
            <a:custGeom>
              <a:avLst/>
              <a:gdLst/>
              <a:ahLst/>
              <a:cxnLst/>
              <a:rect l="l" t="t" r="r" b="b"/>
              <a:pathLst>
                <a:path w="1295400" h="551814">
                  <a:moveTo>
                    <a:pt x="0" y="551688"/>
                  </a:moveTo>
                  <a:lnTo>
                    <a:pt x="1295400" y="551688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63595" y="3674364"/>
            <a:ext cx="1295400" cy="551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229"/>
              </a:spcBef>
            </a:pPr>
            <a:r>
              <a:rPr sz="1600" b="1" spc="15" dirty="0">
                <a:solidFill>
                  <a:srgbClr val="003300"/>
                </a:solidFill>
                <a:latin typeface="Comic Sans MS"/>
                <a:cs typeface="Comic Sans MS"/>
              </a:rPr>
              <a:t>Elaboration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24400" y="3669791"/>
            <a:ext cx="1460500" cy="561340"/>
            <a:chOff x="4724400" y="3669791"/>
            <a:chExt cx="1460500" cy="561340"/>
          </a:xfrm>
        </p:grpSpPr>
        <p:sp>
          <p:nvSpPr>
            <p:cNvPr id="13" name="object 13"/>
            <p:cNvSpPr/>
            <p:nvPr/>
          </p:nvSpPr>
          <p:spPr>
            <a:xfrm>
              <a:off x="4728972" y="3674363"/>
              <a:ext cx="1450975" cy="551815"/>
            </a:xfrm>
            <a:custGeom>
              <a:avLst/>
              <a:gdLst/>
              <a:ahLst/>
              <a:cxnLst/>
              <a:rect l="l" t="t" r="r" b="b"/>
              <a:pathLst>
                <a:path w="1450975" h="551814">
                  <a:moveTo>
                    <a:pt x="1450848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1450848" y="551688"/>
                  </a:lnTo>
                  <a:lnTo>
                    <a:pt x="1450848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8972" y="3674363"/>
              <a:ext cx="1450975" cy="551815"/>
            </a:xfrm>
            <a:custGeom>
              <a:avLst/>
              <a:gdLst/>
              <a:ahLst/>
              <a:cxnLst/>
              <a:rect l="l" t="t" r="r" b="b"/>
              <a:pathLst>
                <a:path w="1450975" h="551814">
                  <a:moveTo>
                    <a:pt x="0" y="551688"/>
                  </a:moveTo>
                  <a:lnTo>
                    <a:pt x="1450848" y="551688"/>
                  </a:lnTo>
                  <a:lnTo>
                    <a:pt x="1450848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28971" y="3674364"/>
            <a:ext cx="1450975" cy="551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29"/>
              </a:spcBef>
            </a:pPr>
            <a:r>
              <a:rPr sz="1600" b="1" spc="15" dirty="0">
                <a:solidFill>
                  <a:srgbClr val="003300"/>
                </a:solidFill>
                <a:latin typeface="Comic Sans MS"/>
                <a:cs typeface="Comic Sans MS"/>
              </a:rPr>
              <a:t>Construction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71488" y="3669791"/>
            <a:ext cx="1191895" cy="561340"/>
            <a:chOff x="6571488" y="3669791"/>
            <a:chExt cx="1191895" cy="561340"/>
          </a:xfrm>
        </p:grpSpPr>
        <p:sp>
          <p:nvSpPr>
            <p:cNvPr id="17" name="object 17"/>
            <p:cNvSpPr/>
            <p:nvPr/>
          </p:nvSpPr>
          <p:spPr>
            <a:xfrm>
              <a:off x="6576060" y="3674363"/>
              <a:ext cx="1183005" cy="551815"/>
            </a:xfrm>
            <a:custGeom>
              <a:avLst/>
              <a:gdLst/>
              <a:ahLst/>
              <a:cxnLst/>
              <a:rect l="l" t="t" r="r" b="b"/>
              <a:pathLst>
                <a:path w="1183004" h="551814">
                  <a:moveTo>
                    <a:pt x="1182624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1182624" y="551688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76060" y="3674363"/>
              <a:ext cx="1183005" cy="551815"/>
            </a:xfrm>
            <a:custGeom>
              <a:avLst/>
              <a:gdLst/>
              <a:ahLst/>
              <a:cxnLst/>
              <a:rect l="l" t="t" r="r" b="b"/>
              <a:pathLst>
                <a:path w="1183004" h="551814">
                  <a:moveTo>
                    <a:pt x="0" y="551688"/>
                  </a:moveTo>
                  <a:lnTo>
                    <a:pt x="1182624" y="551688"/>
                  </a:lnTo>
                  <a:lnTo>
                    <a:pt x="1182624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76059" y="3674364"/>
            <a:ext cx="1183005" cy="551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29"/>
              </a:spcBef>
            </a:pPr>
            <a:r>
              <a:rPr sz="1600" b="1" spc="15" dirty="0">
                <a:solidFill>
                  <a:srgbClr val="003300"/>
                </a:solidFill>
                <a:latin typeface="Comic Sans MS"/>
                <a:cs typeface="Comic Sans MS"/>
              </a:rPr>
              <a:t>Transition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645411" y="420446"/>
            <a:ext cx="63220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000000"/>
                </a:solidFill>
                <a:latin typeface="Comic Sans MS"/>
                <a:cs typeface="Comic Sans MS"/>
              </a:rPr>
              <a:t>Unified</a:t>
            </a:r>
            <a:r>
              <a:rPr sz="2800" spc="-10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00"/>
                </a:solidFill>
                <a:latin typeface="Comic Sans MS"/>
                <a:cs typeface="Comic Sans MS"/>
              </a:rPr>
              <a:t>Process</a:t>
            </a:r>
            <a:r>
              <a:rPr sz="2800" spc="-40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2800" spc="-5" dirty="0">
                <a:solidFill>
                  <a:srgbClr val="000000"/>
                </a:solidFill>
                <a:latin typeface="Comic Sans MS"/>
                <a:cs typeface="Comic Sans MS"/>
              </a:rPr>
              <a:t>Iterations</a:t>
            </a:r>
            <a:r>
              <a:rPr sz="2800" spc="-5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0000"/>
                </a:solidFill>
                <a:latin typeface="Comic Sans MS"/>
                <a:cs typeface="Comic Sans MS"/>
              </a:rPr>
              <a:t>in Phases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127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01592" y="1914524"/>
            <a:ext cx="6210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It</a:t>
            </a:r>
            <a:r>
              <a:rPr sz="950" b="1" spc="-5" dirty="0">
                <a:solidFill>
                  <a:srgbClr val="FFFF66"/>
                </a:solidFill>
                <a:latin typeface="Comic Sans MS"/>
                <a:cs typeface="Comic Sans MS"/>
              </a:rPr>
              <a:t>era</a:t>
            </a:r>
            <a:r>
              <a:rPr sz="950" b="1" dirty="0">
                <a:solidFill>
                  <a:srgbClr val="FFFF66"/>
                </a:solidFill>
                <a:latin typeface="Comic Sans MS"/>
                <a:cs typeface="Comic Sans MS"/>
              </a:rPr>
              <a:t>t</a:t>
            </a:r>
            <a:r>
              <a:rPr sz="950" b="1" spc="-10" dirty="0">
                <a:solidFill>
                  <a:srgbClr val="FFFF66"/>
                </a:solidFill>
                <a:latin typeface="Comic Sans MS"/>
                <a:cs typeface="Comic Sans MS"/>
              </a:rPr>
              <a:t>i</a:t>
            </a: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ons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46014" y="1914524"/>
            <a:ext cx="6210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It</a:t>
            </a:r>
            <a:r>
              <a:rPr sz="950" b="1" spc="-5" dirty="0">
                <a:solidFill>
                  <a:srgbClr val="FFFF66"/>
                </a:solidFill>
                <a:latin typeface="Comic Sans MS"/>
                <a:cs typeface="Comic Sans MS"/>
              </a:rPr>
              <a:t>era</a:t>
            </a:r>
            <a:r>
              <a:rPr sz="950" b="1" dirty="0">
                <a:solidFill>
                  <a:srgbClr val="FFFF66"/>
                </a:solidFill>
                <a:latin typeface="Comic Sans MS"/>
                <a:cs typeface="Comic Sans MS"/>
              </a:rPr>
              <a:t>t</a:t>
            </a:r>
            <a:r>
              <a:rPr sz="950" b="1" spc="-10" dirty="0">
                <a:solidFill>
                  <a:srgbClr val="FFFF66"/>
                </a:solidFill>
                <a:latin typeface="Comic Sans MS"/>
                <a:cs typeface="Comic Sans MS"/>
              </a:rPr>
              <a:t>i</a:t>
            </a: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ons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58355" y="1914524"/>
            <a:ext cx="6210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It</a:t>
            </a:r>
            <a:r>
              <a:rPr sz="950" b="1" spc="-5" dirty="0">
                <a:solidFill>
                  <a:srgbClr val="FFFF66"/>
                </a:solidFill>
                <a:latin typeface="Comic Sans MS"/>
                <a:cs typeface="Comic Sans MS"/>
              </a:rPr>
              <a:t>era</a:t>
            </a:r>
            <a:r>
              <a:rPr sz="950" b="1" dirty="0">
                <a:solidFill>
                  <a:srgbClr val="FFFF66"/>
                </a:solidFill>
                <a:latin typeface="Comic Sans MS"/>
                <a:cs typeface="Comic Sans MS"/>
              </a:rPr>
              <a:t>t</a:t>
            </a:r>
            <a:r>
              <a:rPr sz="950" b="1" spc="-10" dirty="0">
                <a:solidFill>
                  <a:srgbClr val="FFFF66"/>
                </a:solidFill>
                <a:latin typeface="Comic Sans MS"/>
                <a:cs typeface="Comic Sans MS"/>
              </a:rPr>
              <a:t>i</a:t>
            </a: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ons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8998" y="1914524"/>
            <a:ext cx="6210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It</a:t>
            </a:r>
            <a:r>
              <a:rPr sz="950" b="1" spc="-5" dirty="0">
                <a:solidFill>
                  <a:srgbClr val="FFFF66"/>
                </a:solidFill>
                <a:latin typeface="Comic Sans MS"/>
                <a:cs typeface="Comic Sans MS"/>
              </a:rPr>
              <a:t>era</a:t>
            </a:r>
            <a:r>
              <a:rPr sz="950" b="1" dirty="0">
                <a:solidFill>
                  <a:srgbClr val="FFFF66"/>
                </a:solidFill>
                <a:latin typeface="Comic Sans MS"/>
                <a:cs typeface="Comic Sans MS"/>
              </a:rPr>
              <a:t>t</a:t>
            </a:r>
            <a:r>
              <a:rPr sz="950" b="1" spc="-10" dirty="0">
                <a:solidFill>
                  <a:srgbClr val="FFFF66"/>
                </a:solidFill>
                <a:latin typeface="Comic Sans MS"/>
                <a:cs typeface="Comic Sans MS"/>
              </a:rPr>
              <a:t>i</a:t>
            </a:r>
            <a:r>
              <a:rPr sz="950" b="1" spc="5" dirty="0">
                <a:solidFill>
                  <a:srgbClr val="FFFF66"/>
                </a:solidFill>
                <a:latin typeface="Comic Sans MS"/>
                <a:cs typeface="Comic Sans MS"/>
              </a:rPr>
              <a:t>ons</a:t>
            </a:r>
            <a:endParaRPr sz="9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6039" y="187909"/>
            <a:ext cx="2955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Unified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process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62984" y="954023"/>
            <a:ext cx="1310640" cy="299085"/>
            <a:chOff x="4062984" y="954023"/>
            <a:chExt cx="1310640" cy="299085"/>
          </a:xfrm>
        </p:grpSpPr>
        <p:sp>
          <p:nvSpPr>
            <p:cNvPr id="4" name="object 4"/>
            <p:cNvSpPr/>
            <p:nvPr/>
          </p:nvSpPr>
          <p:spPr>
            <a:xfrm>
              <a:off x="4078224" y="969263"/>
              <a:ext cx="1280160" cy="268605"/>
            </a:xfrm>
            <a:custGeom>
              <a:avLst/>
              <a:gdLst/>
              <a:ahLst/>
              <a:cxnLst/>
              <a:rect l="l" t="t" r="r" b="b"/>
              <a:pathLst>
                <a:path w="1280160" h="268605">
                  <a:moveTo>
                    <a:pt x="1280160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1280160" y="268224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78224" y="969263"/>
              <a:ext cx="1280160" cy="268605"/>
            </a:xfrm>
            <a:custGeom>
              <a:avLst/>
              <a:gdLst/>
              <a:ahLst/>
              <a:cxnLst/>
              <a:rect l="l" t="t" r="r" b="b"/>
              <a:pathLst>
                <a:path w="1280160" h="268605">
                  <a:moveTo>
                    <a:pt x="0" y="268224"/>
                  </a:moveTo>
                  <a:lnTo>
                    <a:pt x="1280160" y="268224"/>
                  </a:lnTo>
                  <a:lnTo>
                    <a:pt x="1280160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78223" y="969263"/>
            <a:ext cx="1280160" cy="26860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90"/>
              </a:spcBef>
            </a:pPr>
            <a:r>
              <a:rPr sz="1300" b="1" spc="-10" dirty="0">
                <a:latin typeface="Comic Sans MS"/>
                <a:cs typeface="Comic Sans MS"/>
              </a:rPr>
              <a:t>Communication</a:t>
            </a:r>
            <a:endParaRPr sz="13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5103" y="1880616"/>
            <a:ext cx="786765" cy="299085"/>
            <a:chOff x="5785103" y="1880616"/>
            <a:chExt cx="786765" cy="299085"/>
          </a:xfrm>
        </p:grpSpPr>
        <p:sp>
          <p:nvSpPr>
            <p:cNvPr id="8" name="object 8"/>
            <p:cNvSpPr/>
            <p:nvPr/>
          </p:nvSpPr>
          <p:spPr>
            <a:xfrm>
              <a:off x="5800343" y="1895856"/>
              <a:ext cx="756285" cy="268605"/>
            </a:xfrm>
            <a:custGeom>
              <a:avLst/>
              <a:gdLst/>
              <a:ahLst/>
              <a:cxnLst/>
              <a:rect l="l" t="t" r="r" b="b"/>
              <a:pathLst>
                <a:path w="756284" h="268605">
                  <a:moveTo>
                    <a:pt x="755903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755903" y="268224"/>
                  </a:lnTo>
                  <a:lnTo>
                    <a:pt x="755903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0343" y="1895856"/>
              <a:ext cx="756285" cy="268605"/>
            </a:xfrm>
            <a:custGeom>
              <a:avLst/>
              <a:gdLst/>
              <a:ahLst/>
              <a:cxnLst/>
              <a:rect l="l" t="t" r="r" b="b"/>
              <a:pathLst>
                <a:path w="756284" h="268605">
                  <a:moveTo>
                    <a:pt x="0" y="268224"/>
                  </a:moveTo>
                  <a:lnTo>
                    <a:pt x="755903" y="268224"/>
                  </a:lnTo>
                  <a:lnTo>
                    <a:pt x="755903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00344" y="1895855"/>
            <a:ext cx="756285" cy="26860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210"/>
              </a:spcBef>
            </a:pPr>
            <a:r>
              <a:rPr sz="1300" b="1" spc="-10" dirty="0">
                <a:latin typeface="Comic Sans MS"/>
                <a:cs typeface="Comic Sans MS"/>
              </a:rPr>
              <a:t>Planning</a:t>
            </a:r>
            <a:endParaRPr sz="13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56632" y="3605783"/>
            <a:ext cx="859790" cy="299085"/>
            <a:chOff x="5056632" y="3605783"/>
            <a:chExt cx="859790" cy="299085"/>
          </a:xfrm>
        </p:grpSpPr>
        <p:sp>
          <p:nvSpPr>
            <p:cNvPr id="12" name="object 12"/>
            <p:cNvSpPr/>
            <p:nvPr/>
          </p:nvSpPr>
          <p:spPr>
            <a:xfrm>
              <a:off x="5071872" y="3621023"/>
              <a:ext cx="829310" cy="268605"/>
            </a:xfrm>
            <a:custGeom>
              <a:avLst/>
              <a:gdLst/>
              <a:ahLst/>
              <a:cxnLst/>
              <a:rect l="l" t="t" r="r" b="b"/>
              <a:pathLst>
                <a:path w="829310" h="268604">
                  <a:moveTo>
                    <a:pt x="829055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829055" y="268224"/>
                  </a:lnTo>
                  <a:lnTo>
                    <a:pt x="829055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71872" y="3621023"/>
              <a:ext cx="829310" cy="268605"/>
            </a:xfrm>
            <a:custGeom>
              <a:avLst/>
              <a:gdLst/>
              <a:ahLst/>
              <a:cxnLst/>
              <a:rect l="l" t="t" r="r" b="b"/>
              <a:pathLst>
                <a:path w="829310" h="268604">
                  <a:moveTo>
                    <a:pt x="0" y="268224"/>
                  </a:moveTo>
                  <a:lnTo>
                    <a:pt x="829055" y="268224"/>
                  </a:lnTo>
                  <a:lnTo>
                    <a:pt x="8290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32578" y="3635501"/>
            <a:ext cx="709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Comic Sans MS"/>
                <a:cs typeface="Comic Sans MS"/>
              </a:rPr>
              <a:t>M</a:t>
            </a:r>
            <a:r>
              <a:rPr sz="1300" b="1" spc="-15" dirty="0">
                <a:latin typeface="Comic Sans MS"/>
                <a:cs typeface="Comic Sans MS"/>
              </a:rPr>
              <a:t>o</a:t>
            </a:r>
            <a:r>
              <a:rPr sz="1300" b="1" dirty="0">
                <a:latin typeface="Comic Sans MS"/>
                <a:cs typeface="Comic Sans MS"/>
              </a:rPr>
              <a:t>d</a:t>
            </a:r>
            <a:r>
              <a:rPr sz="1300" b="1" spc="-10" dirty="0">
                <a:latin typeface="Comic Sans MS"/>
                <a:cs typeface="Comic Sans MS"/>
              </a:rPr>
              <a:t>e</a:t>
            </a:r>
            <a:r>
              <a:rPr sz="1300" b="1" spc="-5" dirty="0">
                <a:latin typeface="Comic Sans MS"/>
                <a:cs typeface="Comic Sans MS"/>
              </a:rPr>
              <a:t>l</a:t>
            </a:r>
            <a:r>
              <a:rPr sz="1300" b="1" spc="-10" dirty="0">
                <a:latin typeface="Comic Sans MS"/>
                <a:cs typeface="Comic Sans MS"/>
              </a:rPr>
              <a:t>i</a:t>
            </a:r>
            <a:r>
              <a:rPr sz="1300" b="1" spc="-15" dirty="0">
                <a:latin typeface="Comic Sans MS"/>
                <a:cs typeface="Comic Sans MS"/>
              </a:rPr>
              <a:t>n</a:t>
            </a:r>
            <a:r>
              <a:rPr sz="1300" b="1" spc="-5" dirty="0">
                <a:latin typeface="Comic Sans MS"/>
                <a:cs typeface="Comic Sans MS"/>
              </a:rPr>
              <a:t>g</a:t>
            </a:r>
            <a:endParaRPr sz="13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11423" y="3621023"/>
            <a:ext cx="1155700" cy="299085"/>
            <a:chOff x="3011423" y="3621023"/>
            <a:chExt cx="1155700" cy="299085"/>
          </a:xfrm>
        </p:grpSpPr>
        <p:sp>
          <p:nvSpPr>
            <p:cNvPr id="16" name="object 16"/>
            <p:cNvSpPr/>
            <p:nvPr/>
          </p:nvSpPr>
          <p:spPr>
            <a:xfrm>
              <a:off x="3026663" y="3636263"/>
              <a:ext cx="1125220" cy="268605"/>
            </a:xfrm>
            <a:custGeom>
              <a:avLst/>
              <a:gdLst/>
              <a:ahLst/>
              <a:cxnLst/>
              <a:rect l="l" t="t" r="r" b="b"/>
              <a:pathLst>
                <a:path w="1125220" h="268604">
                  <a:moveTo>
                    <a:pt x="1124712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1124712" y="268224"/>
                  </a:lnTo>
                  <a:lnTo>
                    <a:pt x="1124712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26663" y="3636263"/>
              <a:ext cx="1125220" cy="268605"/>
            </a:xfrm>
            <a:custGeom>
              <a:avLst/>
              <a:gdLst/>
              <a:ahLst/>
              <a:cxnLst/>
              <a:rect l="l" t="t" r="r" b="b"/>
              <a:pathLst>
                <a:path w="1125220" h="268604">
                  <a:moveTo>
                    <a:pt x="0" y="268224"/>
                  </a:moveTo>
                  <a:lnTo>
                    <a:pt x="1124712" y="268224"/>
                  </a:lnTo>
                  <a:lnTo>
                    <a:pt x="1124712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90798" y="3651630"/>
            <a:ext cx="9988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Comic Sans MS"/>
                <a:cs typeface="Comic Sans MS"/>
              </a:rPr>
              <a:t>Construction</a:t>
            </a:r>
            <a:endParaRPr sz="130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46960" y="1883663"/>
            <a:ext cx="1079500" cy="299085"/>
            <a:chOff x="2346960" y="1883663"/>
            <a:chExt cx="1079500" cy="299085"/>
          </a:xfrm>
        </p:grpSpPr>
        <p:sp>
          <p:nvSpPr>
            <p:cNvPr id="20" name="object 20"/>
            <p:cNvSpPr/>
            <p:nvPr/>
          </p:nvSpPr>
          <p:spPr>
            <a:xfrm>
              <a:off x="2362200" y="1898903"/>
              <a:ext cx="1049020" cy="268605"/>
            </a:xfrm>
            <a:custGeom>
              <a:avLst/>
              <a:gdLst/>
              <a:ahLst/>
              <a:cxnLst/>
              <a:rect l="l" t="t" r="r" b="b"/>
              <a:pathLst>
                <a:path w="1049020" h="268605">
                  <a:moveTo>
                    <a:pt x="1048512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1048512" y="268224"/>
                  </a:lnTo>
                  <a:lnTo>
                    <a:pt x="1048512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62200" y="1898903"/>
              <a:ext cx="1049020" cy="268605"/>
            </a:xfrm>
            <a:custGeom>
              <a:avLst/>
              <a:gdLst/>
              <a:ahLst/>
              <a:cxnLst/>
              <a:rect l="l" t="t" r="r" b="b"/>
              <a:pathLst>
                <a:path w="1049020" h="268605">
                  <a:moveTo>
                    <a:pt x="0" y="268224"/>
                  </a:moveTo>
                  <a:lnTo>
                    <a:pt x="1048512" y="268224"/>
                  </a:lnTo>
                  <a:lnTo>
                    <a:pt x="1048512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62200" y="1898903"/>
            <a:ext cx="1049020" cy="2686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204"/>
              </a:spcBef>
            </a:pPr>
            <a:r>
              <a:rPr sz="1300" b="1" spc="-5" dirty="0">
                <a:latin typeface="Comic Sans MS"/>
                <a:cs typeface="Comic Sans MS"/>
              </a:rPr>
              <a:t>Deployment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67128" y="1059941"/>
            <a:ext cx="4208780" cy="3122295"/>
          </a:xfrm>
          <a:custGeom>
            <a:avLst/>
            <a:gdLst/>
            <a:ahLst/>
            <a:cxnLst/>
            <a:rect l="l" t="t" r="r" b="b"/>
            <a:pathLst>
              <a:path w="4208780" h="3122295">
                <a:moveTo>
                  <a:pt x="796544" y="832878"/>
                </a:moveTo>
                <a:lnTo>
                  <a:pt x="790448" y="788543"/>
                </a:lnTo>
                <a:lnTo>
                  <a:pt x="788289" y="759079"/>
                </a:lnTo>
                <a:lnTo>
                  <a:pt x="787146" y="742569"/>
                </a:lnTo>
                <a:lnTo>
                  <a:pt x="786130" y="725424"/>
                </a:lnTo>
                <a:lnTo>
                  <a:pt x="784987" y="707390"/>
                </a:lnTo>
                <a:lnTo>
                  <a:pt x="783717" y="688467"/>
                </a:lnTo>
                <a:lnTo>
                  <a:pt x="782574" y="669163"/>
                </a:lnTo>
                <a:lnTo>
                  <a:pt x="777748" y="607949"/>
                </a:lnTo>
                <a:lnTo>
                  <a:pt x="773430" y="565404"/>
                </a:lnTo>
                <a:lnTo>
                  <a:pt x="767715" y="522224"/>
                </a:lnTo>
                <a:lnTo>
                  <a:pt x="760603" y="479298"/>
                </a:lnTo>
                <a:lnTo>
                  <a:pt x="751332" y="436880"/>
                </a:lnTo>
                <a:lnTo>
                  <a:pt x="739902" y="395732"/>
                </a:lnTo>
                <a:lnTo>
                  <a:pt x="726059" y="356616"/>
                </a:lnTo>
                <a:lnTo>
                  <a:pt x="709168" y="320294"/>
                </a:lnTo>
                <a:lnTo>
                  <a:pt x="689102" y="287147"/>
                </a:lnTo>
                <a:lnTo>
                  <a:pt x="651383" y="244856"/>
                </a:lnTo>
                <a:lnTo>
                  <a:pt x="619887" y="220345"/>
                </a:lnTo>
                <a:lnTo>
                  <a:pt x="583692" y="197993"/>
                </a:lnTo>
                <a:lnTo>
                  <a:pt x="543560" y="177673"/>
                </a:lnTo>
                <a:lnTo>
                  <a:pt x="500380" y="158877"/>
                </a:lnTo>
                <a:lnTo>
                  <a:pt x="454533" y="141732"/>
                </a:lnTo>
                <a:lnTo>
                  <a:pt x="382778" y="118491"/>
                </a:lnTo>
                <a:lnTo>
                  <a:pt x="333756" y="104521"/>
                </a:lnTo>
                <a:lnTo>
                  <a:pt x="284734" y="91440"/>
                </a:lnTo>
                <a:lnTo>
                  <a:pt x="236474" y="79375"/>
                </a:lnTo>
                <a:lnTo>
                  <a:pt x="167132" y="62738"/>
                </a:lnTo>
                <a:lnTo>
                  <a:pt x="151180" y="58674"/>
                </a:lnTo>
                <a:lnTo>
                  <a:pt x="152196" y="54864"/>
                </a:lnTo>
                <a:lnTo>
                  <a:pt x="166878" y="0"/>
                </a:lnTo>
                <a:lnTo>
                  <a:pt x="0" y="34290"/>
                </a:lnTo>
                <a:lnTo>
                  <a:pt x="127508" y="147193"/>
                </a:lnTo>
                <a:lnTo>
                  <a:pt x="143306" y="88125"/>
                </a:lnTo>
                <a:lnTo>
                  <a:pt x="160020" y="92329"/>
                </a:lnTo>
                <a:lnTo>
                  <a:pt x="229108" y="108966"/>
                </a:lnTo>
                <a:lnTo>
                  <a:pt x="276860" y="120904"/>
                </a:lnTo>
                <a:lnTo>
                  <a:pt x="325374" y="133858"/>
                </a:lnTo>
                <a:lnTo>
                  <a:pt x="373507" y="147574"/>
                </a:lnTo>
                <a:lnTo>
                  <a:pt x="421005" y="162560"/>
                </a:lnTo>
                <a:lnTo>
                  <a:pt x="466725" y="178562"/>
                </a:lnTo>
                <a:lnTo>
                  <a:pt x="509778" y="195961"/>
                </a:lnTo>
                <a:lnTo>
                  <a:pt x="549783" y="214503"/>
                </a:lnTo>
                <a:lnTo>
                  <a:pt x="585724" y="234442"/>
                </a:lnTo>
                <a:lnTo>
                  <a:pt x="630301" y="266827"/>
                </a:lnTo>
                <a:lnTo>
                  <a:pt x="663448" y="303784"/>
                </a:lnTo>
                <a:lnTo>
                  <a:pt x="689991" y="350266"/>
                </a:lnTo>
                <a:lnTo>
                  <a:pt x="710692" y="404368"/>
                </a:lnTo>
                <a:lnTo>
                  <a:pt x="721614" y="443357"/>
                </a:lnTo>
                <a:lnTo>
                  <a:pt x="730504" y="484251"/>
                </a:lnTo>
                <a:lnTo>
                  <a:pt x="737616" y="526288"/>
                </a:lnTo>
                <a:lnTo>
                  <a:pt x="743077" y="568452"/>
                </a:lnTo>
                <a:lnTo>
                  <a:pt x="747395" y="610362"/>
                </a:lnTo>
                <a:lnTo>
                  <a:pt x="750697" y="651383"/>
                </a:lnTo>
                <a:lnTo>
                  <a:pt x="753364" y="690499"/>
                </a:lnTo>
                <a:lnTo>
                  <a:pt x="754634" y="709168"/>
                </a:lnTo>
                <a:lnTo>
                  <a:pt x="757809" y="761111"/>
                </a:lnTo>
                <a:lnTo>
                  <a:pt x="761492" y="805065"/>
                </a:lnTo>
                <a:lnTo>
                  <a:pt x="766699" y="838962"/>
                </a:lnTo>
                <a:lnTo>
                  <a:pt x="796544" y="832878"/>
                </a:lnTo>
                <a:close/>
              </a:path>
              <a:path w="4208780" h="3122295">
                <a:moveTo>
                  <a:pt x="1348994" y="2550414"/>
                </a:moveTo>
                <a:lnTo>
                  <a:pt x="1309243" y="2511679"/>
                </a:lnTo>
                <a:lnTo>
                  <a:pt x="1274318" y="2479929"/>
                </a:lnTo>
                <a:lnTo>
                  <a:pt x="1140841" y="2362200"/>
                </a:lnTo>
                <a:lnTo>
                  <a:pt x="1090549" y="2317115"/>
                </a:lnTo>
                <a:lnTo>
                  <a:pt x="1013206" y="2245741"/>
                </a:lnTo>
                <a:lnTo>
                  <a:pt x="961898" y="2196338"/>
                </a:lnTo>
                <a:lnTo>
                  <a:pt x="912368" y="2146173"/>
                </a:lnTo>
                <a:lnTo>
                  <a:pt x="865505" y="2095754"/>
                </a:lnTo>
                <a:lnTo>
                  <a:pt x="822325" y="2045589"/>
                </a:lnTo>
                <a:lnTo>
                  <a:pt x="784225" y="1996313"/>
                </a:lnTo>
                <a:lnTo>
                  <a:pt x="752094" y="1948434"/>
                </a:lnTo>
                <a:lnTo>
                  <a:pt x="726948" y="1902587"/>
                </a:lnTo>
                <a:lnTo>
                  <a:pt x="710184" y="1859788"/>
                </a:lnTo>
                <a:lnTo>
                  <a:pt x="701040" y="1817370"/>
                </a:lnTo>
                <a:lnTo>
                  <a:pt x="698373" y="1773428"/>
                </a:lnTo>
                <a:lnTo>
                  <a:pt x="699262" y="1750822"/>
                </a:lnTo>
                <a:lnTo>
                  <a:pt x="704850" y="1704467"/>
                </a:lnTo>
                <a:lnTo>
                  <a:pt x="715264" y="1657350"/>
                </a:lnTo>
                <a:lnTo>
                  <a:pt x="729742" y="1609471"/>
                </a:lnTo>
                <a:lnTo>
                  <a:pt x="747522" y="1561465"/>
                </a:lnTo>
                <a:lnTo>
                  <a:pt x="778764" y="1490091"/>
                </a:lnTo>
                <a:lnTo>
                  <a:pt x="801370" y="1443355"/>
                </a:lnTo>
                <a:lnTo>
                  <a:pt x="824738" y="1398270"/>
                </a:lnTo>
                <a:lnTo>
                  <a:pt x="848106" y="1354582"/>
                </a:lnTo>
                <a:lnTo>
                  <a:pt x="859536" y="1333500"/>
                </a:lnTo>
                <a:lnTo>
                  <a:pt x="870470" y="1312100"/>
                </a:lnTo>
                <a:lnTo>
                  <a:pt x="925957" y="1338453"/>
                </a:lnTo>
                <a:lnTo>
                  <a:pt x="924877" y="1285113"/>
                </a:lnTo>
                <a:lnTo>
                  <a:pt x="922528" y="1168146"/>
                </a:lnTo>
                <a:lnTo>
                  <a:pt x="788289" y="1273048"/>
                </a:lnTo>
                <a:lnTo>
                  <a:pt x="842924" y="1299019"/>
                </a:lnTo>
                <a:lnTo>
                  <a:pt x="832739" y="1319022"/>
                </a:lnTo>
                <a:lnTo>
                  <a:pt x="797687" y="1384173"/>
                </a:lnTo>
                <a:lnTo>
                  <a:pt x="774065" y="1430147"/>
                </a:lnTo>
                <a:lnTo>
                  <a:pt x="750951" y="1477518"/>
                </a:lnTo>
                <a:lnTo>
                  <a:pt x="729107" y="1526032"/>
                </a:lnTo>
                <a:lnTo>
                  <a:pt x="709549" y="1575308"/>
                </a:lnTo>
                <a:lnTo>
                  <a:pt x="692785" y="1625219"/>
                </a:lnTo>
                <a:lnTo>
                  <a:pt x="679577" y="1675130"/>
                </a:lnTo>
                <a:lnTo>
                  <a:pt x="671068" y="1724914"/>
                </a:lnTo>
                <a:lnTo>
                  <a:pt x="667893" y="1774317"/>
                </a:lnTo>
                <a:lnTo>
                  <a:pt x="668655" y="1798701"/>
                </a:lnTo>
                <a:lnTo>
                  <a:pt x="675259" y="1846326"/>
                </a:lnTo>
                <a:lnTo>
                  <a:pt x="689483" y="1892935"/>
                </a:lnTo>
                <a:lnTo>
                  <a:pt x="712216" y="1940560"/>
                </a:lnTo>
                <a:lnTo>
                  <a:pt x="742315" y="1989582"/>
                </a:lnTo>
                <a:lnTo>
                  <a:pt x="778764" y="2039874"/>
                </a:lnTo>
                <a:lnTo>
                  <a:pt x="820420" y="2090674"/>
                </a:lnTo>
                <a:lnTo>
                  <a:pt x="866394" y="2141982"/>
                </a:lnTo>
                <a:lnTo>
                  <a:pt x="915416" y="2193036"/>
                </a:lnTo>
                <a:lnTo>
                  <a:pt x="992378" y="2267966"/>
                </a:lnTo>
                <a:lnTo>
                  <a:pt x="1044321" y="2316353"/>
                </a:lnTo>
                <a:lnTo>
                  <a:pt x="1095629" y="2362708"/>
                </a:lnTo>
                <a:lnTo>
                  <a:pt x="1234440" y="2485263"/>
                </a:lnTo>
                <a:lnTo>
                  <a:pt x="1253871" y="2502535"/>
                </a:lnTo>
                <a:lnTo>
                  <a:pt x="1288415" y="2533904"/>
                </a:lnTo>
                <a:lnTo>
                  <a:pt x="1327150" y="2571750"/>
                </a:lnTo>
                <a:lnTo>
                  <a:pt x="1348994" y="2550414"/>
                </a:lnTo>
                <a:close/>
              </a:path>
              <a:path w="4208780" h="3122295">
                <a:moveTo>
                  <a:pt x="1834896" y="80010"/>
                </a:moveTo>
                <a:lnTo>
                  <a:pt x="1673860" y="24384"/>
                </a:lnTo>
                <a:lnTo>
                  <a:pt x="1681797" y="84594"/>
                </a:lnTo>
                <a:lnTo>
                  <a:pt x="1669923" y="85979"/>
                </a:lnTo>
                <a:lnTo>
                  <a:pt x="1552956" y="98298"/>
                </a:lnTo>
                <a:lnTo>
                  <a:pt x="1503807" y="104521"/>
                </a:lnTo>
                <a:lnTo>
                  <a:pt x="1454404" y="111887"/>
                </a:lnTo>
                <a:lnTo>
                  <a:pt x="1405255" y="120650"/>
                </a:lnTo>
                <a:lnTo>
                  <a:pt x="1357122" y="130937"/>
                </a:lnTo>
                <a:lnTo>
                  <a:pt x="1310513" y="143256"/>
                </a:lnTo>
                <a:lnTo>
                  <a:pt x="1265809" y="157734"/>
                </a:lnTo>
                <a:lnTo>
                  <a:pt x="1223899" y="174752"/>
                </a:lnTo>
                <a:lnTo>
                  <a:pt x="1185291" y="194564"/>
                </a:lnTo>
                <a:lnTo>
                  <a:pt x="1150747" y="217678"/>
                </a:lnTo>
                <a:lnTo>
                  <a:pt x="1119632" y="245364"/>
                </a:lnTo>
                <a:lnTo>
                  <a:pt x="1090790" y="278003"/>
                </a:lnTo>
                <a:lnTo>
                  <a:pt x="1063752" y="314960"/>
                </a:lnTo>
                <a:lnTo>
                  <a:pt x="1038606" y="355346"/>
                </a:lnTo>
                <a:lnTo>
                  <a:pt x="1014857" y="398653"/>
                </a:lnTo>
                <a:lnTo>
                  <a:pt x="993013" y="443611"/>
                </a:lnTo>
                <a:lnTo>
                  <a:pt x="972439" y="489839"/>
                </a:lnTo>
                <a:lnTo>
                  <a:pt x="953516" y="536448"/>
                </a:lnTo>
                <a:lnTo>
                  <a:pt x="935736" y="582676"/>
                </a:lnTo>
                <a:lnTo>
                  <a:pt x="919480" y="627761"/>
                </a:lnTo>
                <a:lnTo>
                  <a:pt x="904367" y="670941"/>
                </a:lnTo>
                <a:lnTo>
                  <a:pt x="890397" y="711454"/>
                </a:lnTo>
                <a:lnTo>
                  <a:pt x="883920" y="730377"/>
                </a:lnTo>
                <a:lnTo>
                  <a:pt x="877697" y="748284"/>
                </a:lnTo>
                <a:lnTo>
                  <a:pt x="871601" y="765175"/>
                </a:lnTo>
                <a:lnTo>
                  <a:pt x="866013" y="780796"/>
                </a:lnTo>
                <a:lnTo>
                  <a:pt x="860552" y="795147"/>
                </a:lnTo>
                <a:lnTo>
                  <a:pt x="855472" y="807974"/>
                </a:lnTo>
                <a:lnTo>
                  <a:pt x="850646" y="819150"/>
                </a:lnTo>
                <a:lnTo>
                  <a:pt x="845820" y="829310"/>
                </a:lnTo>
                <a:lnTo>
                  <a:pt x="873252" y="842518"/>
                </a:lnTo>
                <a:lnTo>
                  <a:pt x="888873" y="806450"/>
                </a:lnTo>
                <a:lnTo>
                  <a:pt x="906399" y="758571"/>
                </a:lnTo>
                <a:lnTo>
                  <a:pt x="919226" y="721233"/>
                </a:lnTo>
                <a:lnTo>
                  <a:pt x="926084" y="701548"/>
                </a:lnTo>
                <a:lnTo>
                  <a:pt x="940562" y="659765"/>
                </a:lnTo>
                <a:lnTo>
                  <a:pt x="964438" y="593090"/>
                </a:lnTo>
                <a:lnTo>
                  <a:pt x="981964" y="547370"/>
                </a:lnTo>
                <a:lnTo>
                  <a:pt x="1000760" y="501396"/>
                </a:lnTo>
                <a:lnTo>
                  <a:pt x="1020826" y="455930"/>
                </a:lnTo>
                <a:lnTo>
                  <a:pt x="1042289" y="411988"/>
                </a:lnTo>
                <a:lnTo>
                  <a:pt x="1065149" y="370332"/>
                </a:lnTo>
                <a:lnTo>
                  <a:pt x="1089279" y="331470"/>
                </a:lnTo>
                <a:lnTo>
                  <a:pt x="1114933" y="296545"/>
                </a:lnTo>
                <a:lnTo>
                  <a:pt x="1141984" y="266192"/>
                </a:lnTo>
                <a:lnTo>
                  <a:pt x="1185291" y="230505"/>
                </a:lnTo>
                <a:lnTo>
                  <a:pt x="1218819" y="211074"/>
                </a:lnTo>
                <a:lnTo>
                  <a:pt x="1256538" y="193929"/>
                </a:lnTo>
                <a:lnTo>
                  <a:pt x="1297686" y="179070"/>
                </a:lnTo>
                <a:lnTo>
                  <a:pt x="1341628" y="166243"/>
                </a:lnTo>
                <a:lnTo>
                  <a:pt x="1411605" y="150495"/>
                </a:lnTo>
                <a:lnTo>
                  <a:pt x="1459865" y="141859"/>
                </a:lnTo>
                <a:lnTo>
                  <a:pt x="1508379" y="134747"/>
                </a:lnTo>
                <a:lnTo>
                  <a:pt x="1556766" y="128524"/>
                </a:lnTo>
                <a:lnTo>
                  <a:pt x="1650492" y="118491"/>
                </a:lnTo>
                <a:lnTo>
                  <a:pt x="1672844" y="116332"/>
                </a:lnTo>
                <a:lnTo>
                  <a:pt x="1685798" y="114795"/>
                </a:lnTo>
                <a:lnTo>
                  <a:pt x="1693799" y="175387"/>
                </a:lnTo>
                <a:lnTo>
                  <a:pt x="1830755" y="82804"/>
                </a:lnTo>
                <a:lnTo>
                  <a:pt x="1834896" y="80010"/>
                </a:lnTo>
                <a:close/>
              </a:path>
              <a:path w="4208780" h="3122295">
                <a:moveTo>
                  <a:pt x="3190113" y="2892577"/>
                </a:moveTo>
                <a:lnTo>
                  <a:pt x="3180207" y="2863761"/>
                </a:lnTo>
                <a:lnTo>
                  <a:pt x="3168015" y="2867952"/>
                </a:lnTo>
                <a:lnTo>
                  <a:pt x="3154045" y="2873121"/>
                </a:lnTo>
                <a:lnTo>
                  <a:pt x="3139059" y="2879039"/>
                </a:lnTo>
                <a:lnTo>
                  <a:pt x="3122803" y="2885694"/>
                </a:lnTo>
                <a:lnTo>
                  <a:pt x="3087370" y="2900616"/>
                </a:lnTo>
                <a:lnTo>
                  <a:pt x="3005328" y="2936189"/>
                </a:lnTo>
                <a:lnTo>
                  <a:pt x="2935859" y="2965653"/>
                </a:lnTo>
                <a:lnTo>
                  <a:pt x="2861310" y="2995638"/>
                </a:lnTo>
                <a:lnTo>
                  <a:pt x="2809621" y="3014967"/>
                </a:lnTo>
                <a:lnTo>
                  <a:pt x="2757043" y="3033318"/>
                </a:lnTo>
                <a:lnTo>
                  <a:pt x="2704084" y="3050044"/>
                </a:lnTo>
                <a:lnTo>
                  <a:pt x="2651252" y="3064599"/>
                </a:lnTo>
                <a:lnTo>
                  <a:pt x="2598674" y="3076537"/>
                </a:lnTo>
                <a:lnTo>
                  <a:pt x="2547366" y="3085427"/>
                </a:lnTo>
                <a:lnTo>
                  <a:pt x="2497709" y="3090634"/>
                </a:lnTo>
                <a:lnTo>
                  <a:pt x="2450084" y="3091815"/>
                </a:lnTo>
                <a:lnTo>
                  <a:pt x="2426589" y="3090684"/>
                </a:lnTo>
                <a:lnTo>
                  <a:pt x="2377567" y="3085185"/>
                </a:lnTo>
                <a:lnTo>
                  <a:pt x="2326005" y="3075736"/>
                </a:lnTo>
                <a:lnTo>
                  <a:pt x="2272665" y="3062757"/>
                </a:lnTo>
                <a:lnTo>
                  <a:pt x="2217928" y="3046755"/>
                </a:lnTo>
                <a:lnTo>
                  <a:pt x="2134362" y="3018371"/>
                </a:lnTo>
                <a:lnTo>
                  <a:pt x="2078609" y="2997174"/>
                </a:lnTo>
                <a:lnTo>
                  <a:pt x="2023237" y="2974898"/>
                </a:lnTo>
                <a:lnTo>
                  <a:pt x="1969008" y="2951950"/>
                </a:lnTo>
                <a:lnTo>
                  <a:pt x="1798535" y="2876778"/>
                </a:lnTo>
                <a:lnTo>
                  <a:pt x="1800987" y="2870822"/>
                </a:lnTo>
                <a:lnTo>
                  <a:pt x="1821942" y="2820225"/>
                </a:lnTo>
                <a:lnTo>
                  <a:pt x="1652016" y="2832354"/>
                </a:lnTo>
                <a:lnTo>
                  <a:pt x="1763649" y="2961043"/>
                </a:lnTo>
                <a:lnTo>
                  <a:pt x="1786864" y="2904934"/>
                </a:lnTo>
                <a:lnTo>
                  <a:pt x="1957197" y="2980029"/>
                </a:lnTo>
                <a:lnTo>
                  <a:pt x="2011934" y="3003181"/>
                </a:lnTo>
                <a:lnTo>
                  <a:pt x="2067814" y="3025673"/>
                </a:lnTo>
                <a:lnTo>
                  <a:pt x="2124329" y="3047149"/>
                </a:lnTo>
                <a:lnTo>
                  <a:pt x="2180844" y="3066897"/>
                </a:lnTo>
                <a:lnTo>
                  <a:pt x="2237105" y="3084487"/>
                </a:lnTo>
                <a:lnTo>
                  <a:pt x="2292731" y="3099333"/>
                </a:lnTo>
                <a:lnTo>
                  <a:pt x="2347087" y="3111042"/>
                </a:lnTo>
                <a:lnTo>
                  <a:pt x="2399538" y="3118802"/>
                </a:lnTo>
                <a:lnTo>
                  <a:pt x="2450211" y="3122295"/>
                </a:lnTo>
                <a:lnTo>
                  <a:pt x="2474976" y="3122180"/>
                </a:lnTo>
                <a:lnTo>
                  <a:pt x="2526030" y="3118751"/>
                </a:lnTo>
                <a:lnTo>
                  <a:pt x="2578481" y="3111360"/>
                </a:lnTo>
                <a:lnTo>
                  <a:pt x="2631948" y="3100540"/>
                </a:lnTo>
                <a:lnTo>
                  <a:pt x="2667520" y="3091815"/>
                </a:lnTo>
                <a:lnTo>
                  <a:pt x="2685923" y="3086938"/>
                </a:lnTo>
                <a:lnTo>
                  <a:pt x="2767076" y="3062097"/>
                </a:lnTo>
                <a:lnTo>
                  <a:pt x="2820416" y="3043504"/>
                </a:lnTo>
                <a:lnTo>
                  <a:pt x="2872613" y="3023971"/>
                </a:lnTo>
                <a:lnTo>
                  <a:pt x="2923032" y="3003893"/>
                </a:lnTo>
                <a:lnTo>
                  <a:pt x="2994787" y="2973895"/>
                </a:lnTo>
                <a:lnTo>
                  <a:pt x="3117469" y="2920987"/>
                </a:lnTo>
                <a:lnTo>
                  <a:pt x="3150108" y="2907398"/>
                </a:lnTo>
                <a:lnTo>
                  <a:pt x="3164586" y="2901696"/>
                </a:lnTo>
                <a:lnTo>
                  <a:pt x="3177921" y="2896768"/>
                </a:lnTo>
                <a:lnTo>
                  <a:pt x="3190113" y="2892577"/>
                </a:lnTo>
                <a:close/>
              </a:path>
              <a:path w="4208780" h="3122295">
                <a:moveTo>
                  <a:pt x="4061079" y="671957"/>
                </a:moveTo>
                <a:lnTo>
                  <a:pt x="4000487" y="679805"/>
                </a:lnTo>
                <a:lnTo>
                  <a:pt x="3996944" y="653796"/>
                </a:lnTo>
                <a:lnTo>
                  <a:pt x="3990086" y="610489"/>
                </a:lnTo>
                <a:lnTo>
                  <a:pt x="3982466" y="567817"/>
                </a:lnTo>
                <a:lnTo>
                  <a:pt x="3973957" y="526034"/>
                </a:lnTo>
                <a:lnTo>
                  <a:pt x="3964559" y="485267"/>
                </a:lnTo>
                <a:lnTo>
                  <a:pt x="3953764" y="445643"/>
                </a:lnTo>
                <a:lnTo>
                  <a:pt x="3941699" y="407162"/>
                </a:lnTo>
                <a:lnTo>
                  <a:pt x="3928237" y="370205"/>
                </a:lnTo>
                <a:lnTo>
                  <a:pt x="3912870" y="334772"/>
                </a:lnTo>
                <a:lnTo>
                  <a:pt x="3876421" y="269367"/>
                </a:lnTo>
                <a:lnTo>
                  <a:pt x="3843655" y="225806"/>
                </a:lnTo>
                <a:lnTo>
                  <a:pt x="3804920" y="187325"/>
                </a:lnTo>
                <a:lnTo>
                  <a:pt x="3746119" y="144780"/>
                </a:lnTo>
                <a:lnTo>
                  <a:pt x="3679698" y="110617"/>
                </a:lnTo>
                <a:lnTo>
                  <a:pt x="3644011" y="96266"/>
                </a:lnTo>
                <a:lnTo>
                  <a:pt x="3607054" y="83439"/>
                </a:lnTo>
                <a:lnTo>
                  <a:pt x="3568827" y="72136"/>
                </a:lnTo>
                <a:lnTo>
                  <a:pt x="3529457" y="61976"/>
                </a:lnTo>
                <a:lnTo>
                  <a:pt x="3489198" y="52959"/>
                </a:lnTo>
                <a:lnTo>
                  <a:pt x="3448050" y="44958"/>
                </a:lnTo>
                <a:lnTo>
                  <a:pt x="3406394" y="37592"/>
                </a:lnTo>
                <a:lnTo>
                  <a:pt x="3321558" y="24765"/>
                </a:lnTo>
                <a:lnTo>
                  <a:pt x="3235960" y="13081"/>
                </a:lnTo>
                <a:lnTo>
                  <a:pt x="3231896" y="43307"/>
                </a:lnTo>
                <a:lnTo>
                  <a:pt x="3317367" y="54864"/>
                </a:lnTo>
                <a:lnTo>
                  <a:pt x="3359785" y="61087"/>
                </a:lnTo>
                <a:lnTo>
                  <a:pt x="3401568" y="67691"/>
                </a:lnTo>
                <a:lnTo>
                  <a:pt x="3442843" y="74930"/>
                </a:lnTo>
                <a:lnTo>
                  <a:pt x="3483356" y="82931"/>
                </a:lnTo>
                <a:lnTo>
                  <a:pt x="3522853" y="91694"/>
                </a:lnTo>
                <a:lnTo>
                  <a:pt x="3561207" y="101600"/>
                </a:lnTo>
                <a:lnTo>
                  <a:pt x="3598418" y="112776"/>
                </a:lnTo>
                <a:lnTo>
                  <a:pt x="3668268" y="138938"/>
                </a:lnTo>
                <a:lnTo>
                  <a:pt x="3731260" y="171450"/>
                </a:lnTo>
                <a:lnTo>
                  <a:pt x="3786124" y="211201"/>
                </a:lnTo>
                <a:lnTo>
                  <a:pt x="3821176" y="246380"/>
                </a:lnTo>
                <a:lnTo>
                  <a:pt x="3851656" y="287147"/>
                </a:lnTo>
                <a:lnTo>
                  <a:pt x="3885692" y="348615"/>
                </a:lnTo>
                <a:lnTo>
                  <a:pt x="3913124" y="417703"/>
                </a:lnTo>
                <a:lnTo>
                  <a:pt x="3924681" y="454660"/>
                </a:lnTo>
                <a:lnTo>
                  <a:pt x="3935095" y="493141"/>
                </a:lnTo>
                <a:lnTo>
                  <a:pt x="3944366" y="532892"/>
                </a:lnTo>
                <a:lnTo>
                  <a:pt x="3952621" y="573913"/>
                </a:lnTo>
                <a:lnTo>
                  <a:pt x="3960114" y="615823"/>
                </a:lnTo>
                <a:lnTo>
                  <a:pt x="3966718" y="658495"/>
                </a:lnTo>
                <a:lnTo>
                  <a:pt x="3970274" y="683717"/>
                </a:lnTo>
                <a:lnTo>
                  <a:pt x="3909949" y="691515"/>
                </a:lnTo>
                <a:lnTo>
                  <a:pt x="4005072" y="832878"/>
                </a:lnTo>
                <a:lnTo>
                  <a:pt x="4051706" y="698881"/>
                </a:lnTo>
                <a:lnTo>
                  <a:pt x="4061079" y="671957"/>
                </a:lnTo>
                <a:close/>
              </a:path>
              <a:path w="4208780" h="3122295">
                <a:moveTo>
                  <a:pt x="4208526" y="1737995"/>
                </a:moveTo>
                <a:lnTo>
                  <a:pt x="4205351" y="1677924"/>
                </a:lnTo>
                <a:lnTo>
                  <a:pt x="4197985" y="1616837"/>
                </a:lnTo>
                <a:lnTo>
                  <a:pt x="4187444" y="1555369"/>
                </a:lnTo>
                <a:lnTo>
                  <a:pt x="4166870" y="1463675"/>
                </a:lnTo>
                <a:lnTo>
                  <a:pt x="4151249" y="1404366"/>
                </a:lnTo>
                <a:lnTo>
                  <a:pt x="4134866" y="1346962"/>
                </a:lnTo>
                <a:lnTo>
                  <a:pt x="4118356" y="1292479"/>
                </a:lnTo>
                <a:lnTo>
                  <a:pt x="4110355" y="1266571"/>
                </a:lnTo>
                <a:lnTo>
                  <a:pt x="4102735" y="1241425"/>
                </a:lnTo>
                <a:lnTo>
                  <a:pt x="4095242" y="1217676"/>
                </a:lnTo>
                <a:lnTo>
                  <a:pt x="4088511" y="1194943"/>
                </a:lnTo>
                <a:lnTo>
                  <a:pt x="4082161" y="1173607"/>
                </a:lnTo>
                <a:lnTo>
                  <a:pt x="4071366" y="1135253"/>
                </a:lnTo>
                <a:lnTo>
                  <a:pt x="4061841" y="1089533"/>
                </a:lnTo>
                <a:lnTo>
                  <a:pt x="4031742" y="1094359"/>
                </a:lnTo>
                <a:lnTo>
                  <a:pt x="4041775" y="1142365"/>
                </a:lnTo>
                <a:lnTo>
                  <a:pt x="4052824" y="1181989"/>
                </a:lnTo>
                <a:lnTo>
                  <a:pt x="4066159" y="1226439"/>
                </a:lnTo>
                <a:lnTo>
                  <a:pt x="4081272" y="1275461"/>
                </a:lnTo>
                <a:lnTo>
                  <a:pt x="4089146" y="1301369"/>
                </a:lnTo>
                <a:lnTo>
                  <a:pt x="4105656" y="1355725"/>
                </a:lnTo>
                <a:lnTo>
                  <a:pt x="4121785" y="1412621"/>
                </a:lnTo>
                <a:lnTo>
                  <a:pt x="4137406" y="1471422"/>
                </a:lnTo>
                <a:lnTo>
                  <a:pt x="4151376" y="1531366"/>
                </a:lnTo>
                <a:lnTo>
                  <a:pt x="4163187" y="1591691"/>
                </a:lnTo>
                <a:lnTo>
                  <a:pt x="4171950" y="1651508"/>
                </a:lnTo>
                <a:lnTo>
                  <a:pt x="4177030" y="1710309"/>
                </a:lnTo>
                <a:lnTo>
                  <a:pt x="4178046" y="1739011"/>
                </a:lnTo>
                <a:lnTo>
                  <a:pt x="4177779" y="1767332"/>
                </a:lnTo>
                <a:lnTo>
                  <a:pt x="4173601" y="1821307"/>
                </a:lnTo>
                <a:lnTo>
                  <a:pt x="4163695" y="1871853"/>
                </a:lnTo>
                <a:lnTo>
                  <a:pt x="4147566" y="1918208"/>
                </a:lnTo>
                <a:lnTo>
                  <a:pt x="4123817" y="1962658"/>
                </a:lnTo>
                <a:lnTo>
                  <a:pt x="4091940" y="2007997"/>
                </a:lnTo>
                <a:lnTo>
                  <a:pt x="4052951" y="2053844"/>
                </a:lnTo>
                <a:lnTo>
                  <a:pt x="4007993" y="2099945"/>
                </a:lnTo>
                <a:lnTo>
                  <a:pt x="3957955" y="2145919"/>
                </a:lnTo>
                <a:lnTo>
                  <a:pt x="3903980" y="2191131"/>
                </a:lnTo>
                <a:lnTo>
                  <a:pt x="3847211" y="2235835"/>
                </a:lnTo>
                <a:lnTo>
                  <a:pt x="3788664" y="2279650"/>
                </a:lnTo>
                <a:lnTo>
                  <a:pt x="3729482" y="2321941"/>
                </a:lnTo>
                <a:lnTo>
                  <a:pt x="3670681" y="2362962"/>
                </a:lnTo>
                <a:lnTo>
                  <a:pt x="3532632" y="2457196"/>
                </a:lnTo>
                <a:lnTo>
                  <a:pt x="3509162" y="2473731"/>
                </a:lnTo>
                <a:lnTo>
                  <a:pt x="3472688" y="2424442"/>
                </a:lnTo>
                <a:lnTo>
                  <a:pt x="3395472" y="2576322"/>
                </a:lnTo>
                <a:lnTo>
                  <a:pt x="3563366" y="2546985"/>
                </a:lnTo>
                <a:lnTo>
                  <a:pt x="3533952" y="2507234"/>
                </a:lnTo>
                <a:lnTo>
                  <a:pt x="3527285" y="2498242"/>
                </a:lnTo>
                <a:lnTo>
                  <a:pt x="3549777" y="2482469"/>
                </a:lnTo>
                <a:lnTo>
                  <a:pt x="3688080" y="2387981"/>
                </a:lnTo>
                <a:lnTo>
                  <a:pt x="3747262" y="2346833"/>
                </a:lnTo>
                <a:lnTo>
                  <a:pt x="3806952" y="2304034"/>
                </a:lnTo>
                <a:lnTo>
                  <a:pt x="3865880" y="2259965"/>
                </a:lnTo>
                <a:lnTo>
                  <a:pt x="3923284" y="2214753"/>
                </a:lnTo>
                <a:lnTo>
                  <a:pt x="3978275" y="2168525"/>
                </a:lnTo>
                <a:lnTo>
                  <a:pt x="4029456" y="2121535"/>
                </a:lnTo>
                <a:lnTo>
                  <a:pt x="4075811" y="2074037"/>
                </a:lnTo>
                <a:lnTo>
                  <a:pt x="4116451" y="2026158"/>
                </a:lnTo>
                <a:lnTo>
                  <a:pt x="4150233" y="1977898"/>
                </a:lnTo>
                <a:lnTo>
                  <a:pt x="4176014" y="1929257"/>
                </a:lnTo>
                <a:lnTo>
                  <a:pt x="4193413" y="1878711"/>
                </a:lnTo>
                <a:lnTo>
                  <a:pt x="4203827" y="1824482"/>
                </a:lnTo>
                <a:lnTo>
                  <a:pt x="4208272" y="1767205"/>
                </a:lnTo>
                <a:lnTo>
                  <a:pt x="4208526" y="1737995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310639" y="761999"/>
            <a:ext cx="783590" cy="414655"/>
            <a:chOff x="1310639" y="761999"/>
            <a:chExt cx="783590" cy="414655"/>
          </a:xfrm>
        </p:grpSpPr>
        <p:sp>
          <p:nvSpPr>
            <p:cNvPr id="25" name="object 25"/>
            <p:cNvSpPr/>
            <p:nvPr/>
          </p:nvSpPr>
          <p:spPr>
            <a:xfrm>
              <a:off x="1325879" y="777239"/>
              <a:ext cx="753110" cy="384175"/>
            </a:xfrm>
            <a:custGeom>
              <a:avLst/>
              <a:gdLst/>
              <a:ahLst/>
              <a:cxnLst/>
              <a:rect l="l" t="t" r="r" b="b"/>
              <a:pathLst>
                <a:path w="753110" h="384175">
                  <a:moveTo>
                    <a:pt x="752856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752856" y="384048"/>
                  </a:lnTo>
                  <a:lnTo>
                    <a:pt x="752856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25879" y="777239"/>
              <a:ext cx="753110" cy="384175"/>
            </a:xfrm>
            <a:custGeom>
              <a:avLst/>
              <a:gdLst/>
              <a:ahLst/>
              <a:cxnLst/>
              <a:rect l="l" t="t" r="r" b="b"/>
              <a:pathLst>
                <a:path w="753110" h="384175">
                  <a:moveTo>
                    <a:pt x="0" y="384048"/>
                  </a:moveTo>
                  <a:lnTo>
                    <a:pt x="752856" y="384048"/>
                  </a:lnTo>
                  <a:lnTo>
                    <a:pt x="752856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25880" y="777239"/>
            <a:ext cx="753110" cy="182245"/>
          </a:xfrm>
          <a:prstGeom prst="rect">
            <a:avLst/>
          </a:prstGeom>
          <a:solidFill>
            <a:srgbClr val="FF9933"/>
          </a:solidFill>
        </p:spPr>
        <p:txBody>
          <a:bodyPr vert="horz" wrap="square" lIns="0" tIns="29845" rIns="0" bIns="0" rtlCol="0">
            <a:spAutoFit/>
          </a:bodyPr>
          <a:lstStyle/>
          <a:p>
            <a:pPr marL="95885">
              <a:lnSpc>
                <a:spcPts val="1195"/>
              </a:lnSpc>
              <a:spcBef>
                <a:spcPts val="235"/>
              </a:spcBef>
            </a:pPr>
            <a:r>
              <a:rPr sz="1000" b="1" spc="15" dirty="0">
                <a:latin typeface="Comic Sans MS"/>
                <a:cs typeface="Comic Sans MS"/>
              </a:rPr>
              <a:t>software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25880" y="959308"/>
            <a:ext cx="753110" cy="202565"/>
          </a:xfrm>
          <a:prstGeom prst="rect">
            <a:avLst/>
          </a:prstGeom>
          <a:solidFill>
            <a:srgbClr val="FF9933"/>
          </a:solidFill>
        </p:spPr>
        <p:txBody>
          <a:bodyPr vert="horz" wrap="square" lIns="0" tIns="381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30"/>
              </a:spcBef>
            </a:pPr>
            <a:r>
              <a:rPr sz="1000" b="1" spc="15" dirty="0">
                <a:latin typeface="Comic Sans MS"/>
                <a:cs typeface="Comic Sans MS"/>
              </a:rPr>
              <a:t>increment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19038" y="1064209"/>
            <a:ext cx="98044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b="1" spc="10" dirty="0">
                <a:solidFill>
                  <a:srgbClr val="C00000"/>
                </a:solidFill>
                <a:latin typeface="Comic Sans MS"/>
                <a:cs typeface="Comic Sans MS"/>
              </a:rPr>
              <a:t>inception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89623" y="2764282"/>
            <a:ext cx="123190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b="1" dirty="0">
                <a:solidFill>
                  <a:srgbClr val="C00000"/>
                </a:solidFill>
                <a:latin typeface="Comic Sans MS"/>
                <a:cs typeface="Comic Sans MS"/>
              </a:rPr>
              <a:t>el</a:t>
            </a:r>
            <a:r>
              <a:rPr sz="1750" b="1" spc="10" dirty="0">
                <a:solidFill>
                  <a:srgbClr val="C00000"/>
                </a:solidFill>
                <a:latin typeface="Comic Sans MS"/>
                <a:cs typeface="Comic Sans MS"/>
              </a:rPr>
              <a:t>abo</a:t>
            </a:r>
            <a:r>
              <a:rPr sz="1750" b="1" spc="20" dirty="0">
                <a:solidFill>
                  <a:srgbClr val="C00000"/>
                </a:solidFill>
                <a:latin typeface="Comic Sans MS"/>
                <a:cs typeface="Comic Sans MS"/>
              </a:rPr>
              <a:t>r</a:t>
            </a:r>
            <a:r>
              <a:rPr sz="1750" b="1" spc="10" dirty="0">
                <a:solidFill>
                  <a:srgbClr val="C00000"/>
                </a:solidFill>
                <a:latin typeface="Comic Sans MS"/>
                <a:cs typeface="Comic Sans MS"/>
              </a:rPr>
              <a:t>ation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22450" y="2782951"/>
            <a:ext cx="106680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b="1" spc="10" dirty="0">
                <a:solidFill>
                  <a:srgbClr val="C00000"/>
                </a:solidFill>
                <a:latin typeface="Comic Sans MS"/>
                <a:cs typeface="Comic Sans MS"/>
              </a:rPr>
              <a:t>transition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44492" y="4119778"/>
            <a:ext cx="134493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b="1" spc="10" dirty="0">
                <a:solidFill>
                  <a:srgbClr val="C00000"/>
                </a:solidFill>
                <a:latin typeface="Comic Sans MS"/>
                <a:cs typeface="Comic Sans MS"/>
              </a:rPr>
              <a:t>construction</a:t>
            </a:r>
            <a:endParaRPr sz="17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1335" y="289051"/>
            <a:ext cx="49403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5" dirty="0">
                <a:solidFill>
                  <a:srgbClr val="000000"/>
                </a:solidFill>
              </a:rPr>
              <a:t>Unified</a:t>
            </a:r>
            <a:r>
              <a:rPr sz="3050" spc="-45" dirty="0">
                <a:solidFill>
                  <a:srgbClr val="000000"/>
                </a:solidFill>
              </a:rPr>
              <a:t> </a:t>
            </a:r>
            <a:r>
              <a:rPr sz="3050" dirty="0">
                <a:solidFill>
                  <a:srgbClr val="000000"/>
                </a:solidFill>
              </a:rPr>
              <a:t>process</a:t>
            </a:r>
            <a:r>
              <a:rPr sz="3050" spc="-50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work</a:t>
            </a:r>
            <a:r>
              <a:rPr sz="3050" spc="-40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products</a:t>
            </a:r>
            <a:endParaRPr sz="305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129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9097" y="984313"/>
            <a:ext cx="2310765" cy="2064385"/>
            <a:chOff x="399097" y="984313"/>
            <a:chExt cx="2310765" cy="2064385"/>
          </a:xfrm>
        </p:grpSpPr>
        <p:sp>
          <p:nvSpPr>
            <p:cNvPr id="4" name="object 4"/>
            <p:cNvSpPr/>
            <p:nvPr/>
          </p:nvSpPr>
          <p:spPr>
            <a:xfrm>
              <a:off x="411479" y="996695"/>
              <a:ext cx="2286000" cy="2039620"/>
            </a:xfrm>
            <a:custGeom>
              <a:avLst/>
              <a:gdLst/>
              <a:ahLst/>
              <a:cxnLst/>
              <a:rect l="l" t="t" r="r" b="b"/>
              <a:pathLst>
                <a:path w="2286000" h="2039620">
                  <a:moveTo>
                    <a:pt x="2286000" y="0"/>
                  </a:moveTo>
                  <a:lnTo>
                    <a:pt x="0" y="0"/>
                  </a:lnTo>
                  <a:lnTo>
                    <a:pt x="0" y="2039111"/>
                  </a:lnTo>
                  <a:lnTo>
                    <a:pt x="2286000" y="2039111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479" y="996695"/>
              <a:ext cx="2286000" cy="2039620"/>
            </a:xfrm>
            <a:custGeom>
              <a:avLst/>
              <a:gdLst/>
              <a:ahLst/>
              <a:cxnLst/>
              <a:rect l="l" t="t" r="r" b="b"/>
              <a:pathLst>
                <a:path w="2286000" h="2039620">
                  <a:moveTo>
                    <a:pt x="0" y="2039111"/>
                  </a:moveTo>
                  <a:lnTo>
                    <a:pt x="2286000" y="2039111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2039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7969" y="1006601"/>
            <a:ext cx="15805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heavy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Inception</a:t>
            </a:r>
            <a:r>
              <a:rPr sz="1600" b="1" u="heavy" spc="-8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phase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969" y="1738071"/>
            <a:ext cx="1972310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Comic Sans MS"/>
                <a:cs typeface="Comic Sans MS"/>
              </a:rPr>
              <a:t>initial</a:t>
            </a:r>
            <a:r>
              <a:rPr sz="1600" b="1" spc="-6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business</a:t>
            </a:r>
            <a:r>
              <a:rPr sz="1600" b="1" spc="-9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case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initial risk list </a:t>
            </a:r>
            <a:r>
              <a:rPr sz="1600" b="1" spc="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project</a:t>
            </a:r>
            <a:r>
              <a:rPr sz="1600" b="1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plan </a:t>
            </a:r>
            <a:r>
              <a:rPr sz="1600" b="1" dirty="0">
                <a:latin typeface="Comic Sans MS"/>
                <a:cs typeface="Comic Sans MS"/>
              </a:rPr>
              <a:t> prototype(s)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mic Sans MS"/>
                <a:cs typeface="Comic Sans MS"/>
              </a:rPr>
              <a:t>...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5097" y="978217"/>
            <a:ext cx="1978660" cy="2310765"/>
            <a:chOff x="2685097" y="978217"/>
            <a:chExt cx="1978660" cy="2310765"/>
          </a:xfrm>
        </p:grpSpPr>
        <p:sp>
          <p:nvSpPr>
            <p:cNvPr id="9" name="object 9"/>
            <p:cNvSpPr/>
            <p:nvPr/>
          </p:nvSpPr>
          <p:spPr>
            <a:xfrm>
              <a:off x="2697480" y="990599"/>
              <a:ext cx="1953895" cy="2286000"/>
            </a:xfrm>
            <a:custGeom>
              <a:avLst/>
              <a:gdLst/>
              <a:ahLst/>
              <a:cxnLst/>
              <a:rect l="l" t="t" r="r" b="b"/>
              <a:pathLst>
                <a:path w="1953895" h="2286000">
                  <a:moveTo>
                    <a:pt x="1953768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1953768" y="2286000"/>
                  </a:lnTo>
                  <a:lnTo>
                    <a:pt x="19537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7480" y="990599"/>
              <a:ext cx="1953895" cy="2286000"/>
            </a:xfrm>
            <a:custGeom>
              <a:avLst/>
              <a:gdLst/>
              <a:ahLst/>
              <a:cxnLst/>
              <a:rect l="l" t="t" r="r" b="b"/>
              <a:pathLst>
                <a:path w="1953895" h="2286000">
                  <a:moveTo>
                    <a:pt x="0" y="2286000"/>
                  </a:moveTo>
                  <a:lnTo>
                    <a:pt x="1953768" y="2286000"/>
                  </a:lnTo>
                  <a:lnTo>
                    <a:pt x="1953768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54883" y="1000760"/>
            <a:ext cx="17691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Elaboration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phase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969" y="1250391"/>
            <a:ext cx="38284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99335" algn="l"/>
              </a:tabLst>
            </a:pPr>
            <a:r>
              <a:rPr sz="1600" b="1" dirty="0">
                <a:latin typeface="Comic Sans MS"/>
                <a:cs typeface="Comic Sans MS"/>
              </a:rPr>
              <a:t>vision</a:t>
            </a:r>
            <a:r>
              <a:rPr sz="1600" b="1" spc="-3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document	</a:t>
            </a:r>
            <a:r>
              <a:rPr sz="2400" b="1" baseline="1736" dirty="0">
                <a:latin typeface="Comic Sans MS"/>
                <a:cs typeface="Comic Sans MS"/>
              </a:rPr>
              <a:t>use-case</a:t>
            </a:r>
            <a:r>
              <a:rPr sz="2400" b="1" spc="-112" baseline="1736" dirty="0">
                <a:latin typeface="Comic Sans MS"/>
                <a:cs typeface="Comic Sans MS"/>
              </a:rPr>
              <a:t> </a:t>
            </a:r>
            <a:r>
              <a:rPr sz="2400" b="1" spc="-7" baseline="1736" dirty="0">
                <a:latin typeface="Comic Sans MS"/>
                <a:cs typeface="Comic Sans MS"/>
              </a:rPr>
              <a:t>model</a:t>
            </a:r>
            <a:endParaRPr sz="2400" baseline="1736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969" y="1494536"/>
            <a:ext cx="35788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99335" algn="l"/>
              </a:tabLst>
            </a:pPr>
            <a:r>
              <a:rPr sz="1600" b="1" dirty="0">
                <a:latin typeface="Comic Sans MS"/>
                <a:cs typeface="Comic Sans MS"/>
              </a:rPr>
              <a:t>initial</a:t>
            </a:r>
            <a:r>
              <a:rPr sz="1600" b="1" spc="-2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use-case</a:t>
            </a:r>
            <a:r>
              <a:rPr sz="1600" b="1" spc="-2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model	</a:t>
            </a:r>
            <a:r>
              <a:rPr sz="2400" b="1" spc="-7" baseline="1736" dirty="0">
                <a:latin typeface="Comic Sans MS"/>
                <a:cs typeface="Comic Sans MS"/>
              </a:rPr>
              <a:t>requirements</a:t>
            </a:r>
            <a:endParaRPr sz="2400" baseline="1736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4883" y="1732229"/>
            <a:ext cx="1746250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600" b="1" spc="-5" dirty="0">
                <a:latin typeface="Comic Sans MS"/>
                <a:cs typeface="Comic Sans MS"/>
              </a:rPr>
              <a:t>analysis model </a:t>
            </a:r>
            <a:r>
              <a:rPr sz="1600" b="1" dirty="0">
                <a:latin typeface="Comic Sans MS"/>
                <a:cs typeface="Comic Sans MS"/>
              </a:rPr>
              <a:t> preliminary</a:t>
            </a:r>
            <a:r>
              <a:rPr sz="1600" b="1" spc="-7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model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revised risk list </a:t>
            </a:r>
            <a:r>
              <a:rPr sz="1600" b="1" spc="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preliminary </a:t>
            </a:r>
            <a:r>
              <a:rPr sz="1600" b="1" spc="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manual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mic Sans MS"/>
                <a:cs typeface="Comic Sans MS"/>
              </a:rPr>
              <a:t>...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35817" y="978217"/>
            <a:ext cx="2216785" cy="2310765"/>
            <a:chOff x="4635817" y="978217"/>
            <a:chExt cx="2216785" cy="2310765"/>
          </a:xfrm>
        </p:grpSpPr>
        <p:sp>
          <p:nvSpPr>
            <p:cNvPr id="16" name="object 16"/>
            <p:cNvSpPr/>
            <p:nvPr/>
          </p:nvSpPr>
          <p:spPr>
            <a:xfrm>
              <a:off x="4648199" y="990599"/>
              <a:ext cx="2192020" cy="2286000"/>
            </a:xfrm>
            <a:custGeom>
              <a:avLst/>
              <a:gdLst/>
              <a:ahLst/>
              <a:cxnLst/>
              <a:rect l="l" t="t" r="r" b="b"/>
              <a:pathLst>
                <a:path w="2192020" h="2286000">
                  <a:moveTo>
                    <a:pt x="2191511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191511" y="2286000"/>
                  </a:lnTo>
                  <a:lnTo>
                    <a:pt x="2191511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8199" y="990599"/>
              <a:ext cx="2192020" cy="2286000"/>
            </a:xfrm>
            <a:custGeom>
              <a:avLst/>
              <a:gdLst/>
              <a:ahLst/>
              <a:cxnLst/>
              <a:rect l="l" t="t" r="r" b="b"/>
              <a:pathLst>
                <a:path w="2192020" h="2286000">
                  <a:moveTo>
                    <a:pt x="0" y="2286000"/>
                  </a:moveTo>
                  <a:lnTo>
                    <a:pt x="2191511" y="2286000"/>
                  </a:lnTo>
                  <a:lnTo>
                    <a:pt x="2191511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05603" y="1000760"/>
            <a:ext cx="1875155" cy="2222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Construction</a:t>
            </a:r>
            <a:r>
              <a:rPr sz="1600" b="1" u="heavy" spc="-7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phase</a:t>
            </a:r>
            <a:endParaRPr sz="1600">
              <a:latin typeface="Comic Sans MS"/>
              <a:cs typeface="Comic Sans MS"/>
            </a:endParaRPr>
          </a:p>
          <a:p>
            <a:pPr marL="12700" marR="304800">
              <a:lnSpc>
                <a:spcPct val="100000"/>
              </a:lnSpc>
            </a:pPr>
            <a:r>
              <a:rPr sz="1600" b="1" dirty="0">
                <a:latin typeface="Comic Sans MS"/>
                <a:cs typeface="Comic Sans MS"/>
              </a:rPr>
              <a:t>design </a:t>
            </a:r>
            <a:r>
              <a:rPr sz="1600" b="1" spc="-5" dirty="0">
                <a:latin typeface="Comic Sans MS"/>
                <a:cs typeface="Comic Sans MS"/>
              </a:rPr>
              <a:t>model </a:t>
            </a:r>
            <a:r>
              <a:rPr sz="1600" b="1" dirty="0">
                <a:latin typeface="Comic Sans MS"/>
                <a:cs typeface="Comic Sans MS"/>
              </a:rPr>
              <a:t> SW</a:t>
            </a:r>
            <a:r>
              <a:rPr sz="1600" b="1" spc="-8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components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test</a:t>
            </a:r>
            <a:r>
              <a:rPr sz="1600" b="1" spc="-50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plan</a:t>
            </a:r>
            <a:endParaRPr sz="1600">
              <a:latin typeface="Comic Sans MS"/>
              <a:cs typeface="Comic Sans MS"/>
            </a:endParaRPr>
          </a:p>
          <a:p>
            <a:pPr marL="12700" marR="39624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omic Sans MS"/>
                <a:cs typeface="Comic Sans MS"/>
              </a:rPr>
              <a:t>test</a:t>
            </a:r>
            <a:r>
              <a:rPr sz="1600" b="1" spc="-9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procedure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test</a:t>
            </a:r>
            <a:r>
              <a:rPr sz="1600" b="1" spc="690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cases </a:t>
            </a:r>
            <a:r>
              <a:rPr sz="1600" b="1" dirty="0">
                <a:latin typeface="Comic Sans MS"/>
                <a:cs typeface="Comic Sans MS"/>
              </a:rPr>
              <a:t> user</a:t>
            </a:r>
            <a:r>
              <a:rPr sz="1600" b="1" spc="-2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manual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omic Sans MS"/>
                <a:cs typeface="Comic Sans MS"/>
              </a:rPr>
              <a:t>installation</a:t>
            </a:r>
            <a:r>
              <a:rPr sz="1600" b="1" spc="-10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manual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mic Sans MS"/>
                <a:cs typeface="Comic Sans MS"/>
              </a:rPr>
              <a:t>...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7519" y="978407"/>
            <a:ext cx="1948180" cy="1325880"/>
            <a:chOff x="6827519" y="978407"/>
            <a:chExt cx="1948180" cy="1325880"/>
          </a:xfrm>
        </p:grpSpPr>
        <p:sp>
          <p:nvSpPr>
            <p:cNvPr id="20" name="object 20"/>
            <p:cNvSpPr/>
            <p:nvPr/>
          </p:nvSpPr>
          <p:spPr>
            <a:xfrm>
              <a:off x="6839711" y="990599"/>
              <a:ext cx="1923414" cy="1301750"/>
            </a:xfrm>
            <a:custGeom>
              <a:avLst/>
              <a:gdLst/>
              <a:ahLst/>
              <a:cxnLst/>
              <a:rect l="l" t="t" r="r" b="b"/>
              <a:pathLst>
                <a:path w="1923415" h="1301750">
                  <a:moveTo>
                    <a:pt x="1923288" y="0"/>
                  </a:moveTo>
                  <a:lnTo>
                    <a:pt x="0" y="0"/>
                  </a:lnTo>
                  <a:lnTo>
                    <a:pt x="0" y="1301496"/>
                  </a:lnTo>
                  <a:lnTo>
                    <a:pt x="1923288" y="1301496"/>
                  </a:lnTo>
                  <a:lnTo>
                    <a:pt x="1923288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39711" y="990599"/>
              <a:ext cx="1923414" cy="1301750"/>
            </a:xfrm>
            <a:custGeom>
              <a:avLst/>
              <a:gdLst/>
              <a:ahLst/>
              <a:cxnLst/>
              <a:rect l="l" t="t" r="r" b="b"/>
              <a:pathLst>
                <a:path w="1923415" h="1301750">
                  <a:moveTo>
                    <a:pt x="0" y="1301496"/>
                  </a:moveTo>
                  <a:lnTo>
                    <a:pt x="1923288" y="1301496"/>
                  </a:lnTo>
                  <a:lnTo>
                    <a:pt x="1923288" y="0"/>
                  </a:lnTo>
                  <a:lnTo>
                    <a:pt x="0" y="0"/>
                  </a:lnTo>
                  <a:lnTo>
                    <a:pt x="0" y="1301496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97116" y="1000760"/>
            <a:ext cx="1770380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b="1" u="heavy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Transition phase </a:t>
            </a:r>
            <a:r>
              <a:rPr sz="1600" b="1" spc="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SW </a:t>
            </a:r>
            <a:r>
              <a:rPr sz="1600" b="1" spc="-5" dirty="0">
                <a:latin typeface="Comic Sans MS"/>
                <a:cs typeface="Comic Sans MS"/>
              </a:rPr>
              <a:t>increment </a:t>
            </a:r>
            <a:r>
              <a:rPr sz="1600" b="1" dirty="0">
                <a:latin typeface="Comic Sans MS"/>
                <a:cs typeface="Comic Sans MS"/>
              </a:rPr>
              <a:t> beta</a:t>
            </a:r>
            <a:r>
              <a:rPr sz="1600" b="1" spc="-5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test</a:t>
            </a:r>
            <a:r>
              <a:rPr sz="1600" b="1" spc="-40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reports </a:t>
            </a:r>
            <a:r>
              <a:rPr sz="1600" b="1" spc="-67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user</a:t>
            </a:r>
            <a:r>
              <a:rPr sz="1600" b="1" spc="-25" dirty="0">
                <a:latin typeface="Comic Sans MS"/>
                <a:cs typeface="Comic Sans MS"/>
              </a:rPr>
              <a:t> </a:t>
            </a:r>
            <a:r>
              <a:rPr sz="1600" b="1" spc="-5" dirty="0">
                <a:latin typeface="Comic Sans MS"/>
                <a:cs typeface="Comic Sans MS"/>
              </a:rPr>
              <a:t>feedback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mic Sans MS"/>
                <a:cs typeface="Comic Sans MS"/>
              </a:rPr>
              <a:t>...</a:t>
            </a:r>
            <a:endParaRPr sz="1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3923" y="166827"/>
            <a:ext cx="4730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Structure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RUP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84" y="490189"/>
            <a:ext cx="8235950" cy="3738245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spc="-50" dirty="0">
                <a:solidFill>
                  <a:srgbClr val="0000CC"/>
                </a:solidFill>
                <a:latin typeface="Calibri"/>
                <a:cs typeface="Calibri"/>
              </a:rPr>
              <a:t>Two</a:t>
            </a:r>
            <a:r>
              <a:rPr sz="3000" spc="-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dimensions.</a:t>
            </a:r>
            <a:endParaRPr sz="3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Horizontal</a:t>
            </a:r>
            <a:r>
              <a:rPr sz="3000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axis:</a:t>
            </a:r>
            <a:endParaRPr sz="3000">
              <a:latin typeface="Calibri"/>
              <a:cs typeface="Calibri"/>
            </a:endParaRPr>
          </a:p>
          <a:p>
            <a:pPr marL="524510" marR="5080" lvl="1" indent="-195580">
              <a:lnSpc>
                <a:spcPct val="106000"/>
              </a:lnSpc>
              <a:spcBef>
                <a:spcPts val="1525"/>
              </a:spcBef>
              <a:buFont typeface="Arial MT"/>
              <a:buChar char="–"/>
              <a:tabLst>
                <a:tab pos="604520" algn="l"/>
              </a:tabLst>
            </a:pPr>
            <a:r>
              <a:rPr sz="2700" spc="-15" dirty="0">
                <a:latin typeface="Calibri"/>
                <a:cs typeface="Calibri"/>
              </a:rPr>
              <a:t>Represents</a:t>
            </a:r>
            <a:r>
              <a:rPr sz="2700" spc="7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time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shows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lifecycle</a:t>
            </a:r>
            <a:r>
              <a:rPr sz="2700" dirty="0">
                <a:latin typeface="Calibri"/>
                <a:cs typeface="Calibri"/>
              </a:rPr>
              <a:t> aspects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process.</a:t>
            </a:r>
            <a:endParaRPr sz="27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Vertical</a:t>
            </a:r>
            <a:r>
              <a:rPr sz="3000" spc="-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axis:</a:t>
            </a:r>
            <a:endParaRPr sz="3000">
              <a:latin typeface="Calibri"/>
              <a:cs typeface="Calibri"/>
            </a:endParaRPr>
          </a:p>
          <a:p>
            <a:pPr marL="603885" lvl="1" indent="-274955">
              <a:lnSpc>
                <a:spcPct val="100000"/>
              </a:lnSpc>
              <a:spcBef>
                <a:spcPts val="1720"/>
              </a:spcBef>
              <a:buFont typeface="Arial MT"/>
              <a:buChar char="–"/>
              <a:tabLst>
                <a:tab pos="604520" algn="l"/>
              </a:tabLst>
            </a:pPr>
            <a:r>
              <a:rPr sz="2700" spc="-15" dirty="0">
                <a:latin typeface="Calibri"/>
                <a:cs typeface="Calibri"/>
              </a:rPr>
              <a:t>Represents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core</a:t>
            </a:r>
            <a:r>
              <a:rPr sz="2700" spc="-5" dirty="0">
                <a:latin typeface="Calibri"/>
                <a:cs typeface="Calibri"/>
              </a:rPr>
              <a:t> process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workflows.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942" y="248157"/>
            <a:ext cx="588137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000000"/>
                </a:solidFill>
              </a:rPr>
              <a:t>Two</a:t>
            </a:r>
            <a:r>
              <a:rPr sz="3200" spc="5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dimensions</a:t>
            </a:r>
            <a:r>
              <a:rPr sz="3200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of Unified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spc="-15" dirty="0">
                <a:solidFill>
                  <a:srgbClr val="000000"/>
                </a:solidFill>
              </a:rPr>
              <a:t>Process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19911"/>
            <a:ext cx="86868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3133" y="208609"/>
            <a:ext cx="3698875" cy="585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50" spc="5" dirty="0">
                <a:solidFill>
                  <a:srgbClr val="000000"/>
                </a:solidFill>
              </a:rPr>
              <a:t>Inception</a:t>
            </a:r>
            <a:r>
              <a:rPr sz="3650" spc="-50" dirty="0">
                <a:solidFill>
                  <a:srgbClr val="000000"/>
                </a:solidFill>
              </a:rPr>
              <a:t> </a:t>
            </a:r>
            <a:r>
              <a:rPr sz="3650" spc="5" dirty="0">
                <a:solidFill>
                  <a:srgbClr val="000000"/>
                </a:solidFill>
              </a:rPr>
              <a:t>activities</a:t>
            </a:r>
            <a:endParaRPr sz="36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84" y="861516"/>
            <a:ext cx="6353810" cy="217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spc="-10" dirty="0">
                <a:latin typeface="Calibri"/>
                <a:cs typeface="Calibri"/>
              </a:rPr>
              <a:t>Formulate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scope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</a:t>
            </a:r>
            <a:endParaRPr sz="3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3055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dirty="0">
                <a:latin typeface="Calibri"/>
                <a:cs typeface="Calibri"/>
              </a:rPr>
              <a:t>Risk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management,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staffing,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plan</a:t>
            </a:r>
            <a:endParaRPr sz="3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3050"/>
              </a:spcBef>
              <a:buFont typeface="Arial MT"/>
              <a:buChar char="•"/>
              <a:tabLst>
                <a:tab pos="229235" algn="l"/>
              </a:tabLst>
            </a:pP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Synthesize</a:t>
            </a:r>
            <a:r>
              <a:rPr sz="3000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candidate</a:t>
            </a:r>
            <a:r>
              <a:rPr sz="3000" spc="-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architecture.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0" y="1048511"/>
            <a:ext cx="3258820" cy="853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7305" rIns="0" bIns="0" rtlCol="0">
            <a:spAutoFit/>
          </a:bodyPr>
          <a:lstStyle/>
          <a:p>
            <a:pPr marL="1242695" marR="183515" indent="-1052195">
              <a:lnSpc>
                <a:spcPct val="100000"/>
              </a:lnSpc>
              <a:spcBef>
                <a:spcPts val="215"/>
              </a:spcBef>
            </a:pPr>
            <a:r>
              <a:rPr sz="2500" b="1" spc="-10" dirty="0">
                <a:latin typeface="Calibri"/>
                <a:cs typeface="Calibri"/>
              </a:rPr>
              <a:t>Outcome </a:t>
            </a:r>
            <a:r>
              <a:rPr sz="2500" b="1" spc="-5" dirty="0">
                <a:latin typeface="Calibri"/>
                <a:cs typeface="Calibri"/>
              </a:rPr>
              <a:t>of Inception </a:t>
            </a:r>
            <a:r>
              <a:rPr sz="2500" b="1" spc="-55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Phase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133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043" y="290525"/>
            <a:ext cx="3126105" cy="140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235" indent="-217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5" dirty="0">
                <a:latin typeface="Calibri"/>
                <a:cs typeface="Calibri"/>
              </a:rPr>
              <a:t>Initial </a:t>
            </a:r>
            <a:r>
              <a:rPr sz="2000" spc="-15" dirty="0">
                <a:latin typeface="Calibri"/>
                <a:cs typeface="Calibri"/>
              </a:rPr>
              <a:t>requirements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capture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15" dirty="0">
                <a:latin typeface="Calibri"/>
                <a:cs typeface="Calibri"/>
              </a:rPr>
              <a:t>Cost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Benefit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5" dirty="0">
                <a:latin typeface="Calibri"/>
                <a:cs typeface="Calibri"/>
              </a:rPr>
              <a:t>Initial</a:t>
            </a:r>
            <a:r>
              <a:rPr sz="2000" spc="-10" dirty="0">
                <a:latin typeface="Calibri"/>
                <a:cs typeface="Calibri"/>
              </a:rPr>
              <a:t> Risk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043" y="1906981"/>
            <a:ext cx="4839970" cy="248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235" indent="-217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10" dirty="0">
                <a:latin typeface="Calibri"/>
                <a:cs typeface="Calibri"/>
              </a:rPr>
              <a:t>Project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definition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10" dirty="0">
                <a:latin typeface="Calibri"/>
                <a:cs typeface="Calibri"/>
              </a:rPr>
              <a:t>Defining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candidate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15" dirty="0">
                <a:latin typeface="Calibri"/>
                <a:cs typeface="Calibri"/>
              </a:rPr>
              <a:t>Development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disposable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prototype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5" dirty="0">
                <a:latin typeface="Calibri"/>
                <a:cs typeface="Calibri"/>
              </a:rPr>
              <a:t>Initial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(10%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20%</a:t>
            </a:r>
            <a:r>
              <a:rPr sz="2000" spc="-15" dirty="0">
                <a:latin typeface="Calibri"/>
                <a:cs typeface="Calibri"/>
              </a:rPr>
              <a:t> complete)</a:t>
            </a:r>
            <a:endParaRPr sz="2000">
              <a:latin typeface="Calibri"/>
              <a:cs typeface="Calibri"/>
            </a:endParaRPr>
          </a:p>
          <a:p>
            <a:pPr marL="229235" indent="-217170">
              <a:lnSpc>
                <a:spcPct val="100000"/>
              </a:lnSpc>
              <a:spcBef>
                <a:spcPts val="1855"/>
              </a:spcBef>
              <a:buFont typeface="Arial MT"/>
              <a:buChar char="•"/>
              <a:tabLst>
                <a:tab pos="229235" algn="l"/>
                <a:tab pos="229870" algn="l"/>
              </a:tabLst>
            </a:pP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Domain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0904" y="263779"/>
            <a:ext cx="215519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20" dirty="0"/>
              <a:t>Spiral</a:t>
            </a:r>
            <a:r>
              <a:rPr sz="3200" spc="-60" dirty="0"/>
              <a:t> </a:t>
            </a:r>
            <a:r>
              <a:rPr sz="3200" spc="-10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55854" y="608720"/>
            <a:ext cx="8604250" cy="353631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9560" indent="-27749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800" spc="-10" dirty="0">
                <a:latin typeface="Calibri"/>
                <a:cs typeface="Calibri"/>
              </a:rPr>
              <a:t>Proposed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 Boehm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1988.</a:t>
            </a:r>
            <a:endParaRPr sz="2800">
              <a:latin typeface="Calibri"/>
              <a:cs typeface="Calibri"/>
            </a:endParaRPr>
          </a:p>
          <a:p>
            <a:pPr marL="289560" marR="5080" indent="-27749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dirty="0">
                <a:latin typeface="Calibri"/>
                <a:cs typeface="Calibri"/>
              </a:rPr>
              <a:t>loop of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spiral </a:t>
            </a:r>
            <a:r>
              <a:rPr sz="2800" spc="-15" dirty="0">
                <a:latin typeface="Calibri"/>
                <a:cs typeface="Calibri"/>
              </a:rPr>
              <a:t>represents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phase </a:t>
            </a:r>
            <a:r>
              <a:rPr sz="2800" spc="5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the software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process:</a:t>
            </a:r>
            <a:endParaRPr sz="28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6140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innermost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might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concerned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feasibility,</a:t>
            </a:r>
            <a:endParaRPr sz="24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6140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next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requirements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definition,</a:t>
            </a:r>
            <a:endParaRPr sz="24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240"/>
              </a:spcBef>
              <a:buFont typeface="Arial MT"/>
              <a:buChar char="–"/>
              <a:tabLst>
                <a:tab pos="6140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next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on.</a:t>
            </a:r>
            <a:endParaRPr sz="2400">
              <a:latin typeface="Calibri"/>
              <a:cs typeface="Calibri"/>
            </a:endParaRPr>
          </a:p>
          <a:p>
            <a:pPr marL="289560" marR="925830" indent="-27749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800" spc="-15" dirty="0">
                <a:solidFill>
                  <a:srgbClr val="0033CC"/>
                </a:solidFill>
                <a:latin typeface="Calibri"/>
                <a:cs typeface="Calibri"/>
              </a:rPr>
              <a:t>There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33CC"/>
                </a:solidFill>
                <a:latin typeface="Calibri"/>
                <a:cs typeface="Calibri"/>
              </a:rPr>
              <a:t>are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no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33CC"/>
                </a:solidFill>
                <a:latin typeface="Calibri"/>
                <a:cs typeface="Calibri"/>
              </a:rPr>
              <a:t>fixed</a:t>
            </a:r>
            <a:r>
              <a:rPr sz="28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phases</a:t>
            </a:r>
            <a:r>
              <a:rPr sz="2800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sz="2800" spc="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model,</a:t>
            </a: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phases </a:t>
            </a:r>
            <a:r>
              <a:rPr sz="2800" spc="-6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shown</a:t>
            </a:r>
            <a:r>
              <a:rPr sz="280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figure</a:t>
            </a:r>
            <a:r>
              <a:rPr sz="2800" spc="-15" dirty="0">
                <a:solidFill>
                  <a:srgbClr val="0033CC"/>
                </a:solidFill>
                <a:latin typeface="Calibri"/>
                <a:cs typeface="Calibri"/>
              </a:rPr>
              <a:t> are </a:t>
            </a: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just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examples.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Spiral</a:t>
            </a:r>
            <a:r>
              <a:rPr spc="-40" dirty="0"/>
              <a:t> </a:t>
            </a:r>
            <a:r>
              <a:rPr dirty="0"/>
              <a:t>Model</a:t>
            </a:r>
            <a:r>
              <a:rPr spc="-25" dirty="0"/>
              <a:t> </a:t>
            </a:r>
            <a:r>
              <a:rPr sz="1400" spc="-30" dirty="0"/>
              <a:t>(CONT.)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232054" y="577496"/>
            <a:ext cx="8432165" cy="363220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89560" indent="-277495">
              <a:lnSpc>
                <a:spcPct val="100000"/>
              </a:lnSpc>
              <a:spcBef>
                <a:spcPts val="1455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team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decide:</a:t>
            </a:r>
            <a:endParaRPr sz="27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1235"/>
              </a:spcBef>
              <a:buFont typeface="Arial MT"/>
              <a:buChar char="–"/>
              <a:tabLst>
                <a:tab pos="614045" algn="l"/>
              </a:tabLst>
            </a:pPr>
            <a:r>
              <a:rPr sz="2500" spc="-5" dirty="0">
                <a:latin typeface="Calibri"/>
                <a:cs typeface="Calibri"/>
              </a:rPr>
              <a:t>how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structure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project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into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phases.</a:t>
            </a:r>
            <a:endParaRPr sz="250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700" spc="-5" dirty="0">
                <a:latin typeface="Calibri"/>
                <a:cs typeface="Calibri"/>
              </a:rPr>
              <a:t>Start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work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using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some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generic</a:t>
            </a:r>
            <a:r>
              <a:rPr sz="2700" dirty="0">
                <a:latin typeface="Calibri"/>
                <a:cs typeface="Calibri"/>
              </a:rPr>
              <a:t> model:</a:t>
            </a:r>
            <a:endParaRPr sz="27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1235"/>
              </a:spcBef>
              <a:buFont typeface="Arial MT"/>
              <a:buChar char="–"/>
              <a:tabLst>
                <a:tab pos="614045" algn="l"/>
              </a:tabLst>
            </a:pPr>
            <a:r>
              <a:rPr sz="2500" dirty="0">
                <a:latin typeface="Calibri"/>
                <a:cs typeface="Calibri"/>
              </a:rPr>
              <a:t>add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extra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phases</a:t>
            </a:r>
            <a:endParaRPr sz="2500">
              <a:latin typeface="Calibri"/>
              <a:cs typeface="Calibri"/>
            </a:endParaRPr>
          </a:p>
          <a:p>
            <a:pPr marL="939165" marR="572770" lvl="2" indent="-186055">
              <a:lnSpc>
                <a:spcPct val="100000"/>
              </a:lnSpc>
              <a:spcBef>
                <a:spcPts val="1140"/>
              </a:spcBef>
              <a:buFont typeface="Arial MT"/>
              <a:buChar char="•"/>
              <a:tabLst>
                <a:tab pos="939800" algn="l"/>
              </a:tabLst>
            </a:pP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projects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when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identified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during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project.</a:t>
            </a:r>
            <a:endParaRPr sz="220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89560" algn="l"/>
                <a:tab pos="290195" algn="l"/>
              </a:tabLst>
            </a:pPr>
            <a:r>
              <a:rPr sz="2700" spc="-10" dirty="0">
                <a:latin typeface="Calibri"/>
                <a:cs typeface="Calibri"/>
              </a:rPr>
              <a:t>Each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loop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 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spiral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split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four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sectors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(quadrants).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6317" y="152222"/>
            <a:ext cx="24288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Spiral</a:t>
            </a:r>
            <a:r>
              <a:rPr spc="-90" dirty="0"/>
              <a:t> </a:t>
            </a:r>
            <a:r>
              <a:rPr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3047" y="624839"/>
            <a:ext cx="9153525" cy="3782695"/>
            <a:chOff x="-3047" y="624839"/>
            <a:chExt cx="9153525" cy="3782695"/>
          </a:xfrm>
        </p:grpSpPr>
        <p:sp>
          <p:nvSpPr>
            <p:cNvPr id="4" name="object 4"/>
            <p:cNvSpPr/>
            <p:nvPr/>
          </p:nvSpPr>
          <p:spPr>
            <a:xfrm>
              <a:off x="4040123" y="629411"/>
              <a:ext cx="3175" cy="3773804"/>
            </a:xfrm>
            <a:custGeom>
              <a:avLst/>
              <a:gdLst/>
              <a:ahLst/>
              <a:cxnLst/>
              <a:rect l="l" t="t" r="r" b="b"/>
              <a:pathLst>
                <a:path w="3175" h="3773804">
                  <a:moveTo>
                    <a:pt x="0" y="0"/>
                  </a:moveTo>
                  <a:lnTo>
                    <a:pt x="3048" y="3773424"/>
                  </a:lnTo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" y="2458211"/>
              <a:ext cx="9144000" cy="3175"/>
            </a:xfrm>
            <a:custGeom>
              <a:avLst/>
              <a:gdLst/>
              <a:ahLst/>
              <a:cxnLst/>
              <a:rect l="l" t="t" r="r" b="b"/>
              <a:pathLst>
                <a:path w="9144000" h="3175">
                  <a:moveTo>
                    <a:pt x="0" y="0"/>
                  </a:moveTo>
                  <a:lnTo>
                    <a:pt x="9144000" y="3048"/>
                  </a:lnTo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84515" y="1172284"/>
              <a:ext cx="3850004" cy="2828290"/>
            </a:xfrm>
            <a:custGeom>
              <a:avLst/>
              <a:gdLst/>
              <a:ahLst/>
              <a:cxnLst/>
              <a:rect l="l" t="t" r="r" b="b"/>
              <a:pathLst>
                <a:path w="3850004" h="2828290">
                  <a:moveTo>
                    <a:pt x="1662847" y="1280720"/>
                  </a:moveTo>
                  <a:lnTo>
                    <a:pt x="1618016" y="1257431"/>
                  </a:lnTo>
                  <a:lnTo>
                    <a:pt x="1587663" y="1223189"/>
                  </a:lnTo>
                  <a:lnTo>
                    <a:pt x="1577948" y="1166118"/>
                  </a:lnTo>
                  <a:lnTo>
                    <a:pt x="1587663" y="1108762"/>
                  </a:lnTo>
                  <a:lnTo>
                    <a:pt x="1615730" y="1069249"/>
                  </a:lnTo>
                  <a:lnTo>
                    <a:pt x="1662847" y="1051358"/>
                  </a:lnTo>
                  <a:lnTo>
                    <a:pt x="1698832" y="1056273"/>
                  </a:lnTo>
                  <a:lnTo>
                    <a:pt x="1742984" y="1069249"/>
                  </a:lnTo>
                  <a:lnTo>
                    <a:pt x="1784755" y="1087631"/>
                  </a:lnTo>
                  <a:lnTo>
                    <a:pt x="1827741" y="1132071"/>
                  </a:lnTo>
                  <a:lnTo>
                    <a:pt x="1832456" y="1158927"/>
                  </a:lnTo>
                  <a:lnTo>
                    <a:pt x="1827741" y="1189308"/>
                  </a:lnTo>
                  <a:lnTo>
                    <a:pt x="1795480" y="1256788"/>
                  </a:lnTo>
                  <a:lnTo>
                    <a:pt x="1771323" y="1296300"/>
                  </a:lnTo>
                  <a:lnTo>
                    <a:pt x="1741148" y="1336209"/>
                  </a:lnTo>
                  <a:lnTo>
                    <a:pt x="1704982" y="1370997"/>
                  </a:lnTo>
                  <a:lnTo>
                    <a:pt x="1662847" y="1395147"/>
                  </a:lnTo>
                  <a:lnTo>
                    <a:pt x="1618766" y="1406507"/>
                  </a:lnTo>
                  <a:lnTo>
                    <a:pt x="1565212" y="1412278"/>
                  </a:lnTo>
                  <a:lnTo>
                    <a:pt x="1507447" y="1413245"/>
                  </a:lnTo>
                  <a:lnTo>
                    <a:pt x="1450729" y="1410190"/>
                  </a:lnTo>
                  <a:lnTo>
                    <a:pt x="1400319" y="1403896"/>
                  </a:lnTo>
                  <a:lnTo>
                    <a:pt x="1361476" y="1395147"/>
                  </a:lnTo>
                  <a:lnTo>
                    <a:pt x="1324720" y="1377357"/>
                  </a:lnTo>
                  <a:lnTo>
                    <a:pt x="1294021" y="1320156"/>
                  </a:lnTo>
                  <a:lnTo>
                    <a:pt x="1285911" y="1280720"/>
                  </a:lnTo>
                  <a:lnTo>
                    <a:pt x="1277462" y="1241200"/>
                  </a:lnTo>
                  <a:lnTo>
                    <a:pt x="1269617" y="1194407"/>
                  </a:lnTo>
                  <a:lnTo>
                    <a:pt x="1265996" y="1144438"/>
                  </a:lnTo>
                  <a:lnTo>
                    <a:pt x="1270220" y="1095390"/>
                  </a:lnTo>
                  <a:lnTo>
                    <a:pt x="1285911" y="1051358"/>
                  </a:lnTo>
                  <a:lnTo>
                    <a:pt x="1307949" y="1017374"/>
                  </a:lnTo>
                  <a:lnTo>
                    <a:pt x="1336231" y="983408"/>
                  </a:lnTo>
                  <a:lnTo>
                    <a:pt x="1370779" y="951044"/>
                  </a:lnTo>
                  <a:lnTo>
                    <a:pt x="1411613" y="921865"/>
                  </a:lnTo>
                  <a:lnTo>
                    <a:pt x="1458755" y="897456"/>
                  </a:lnTo>
                  <a:lnTo>
                    <a:pt x="1512225" y="879400"/>
                  </a:lnTo>
                  <a:lnTo>
                    <a:pt x="1553736" y="870683"/>
                  </a:lnTo>
                  <a:lnTo>
                    <a:pt x="1601763" y="863574"/>
                  </a:lnTo>
                  <a:lnTo>
                    <a:pt x="1654446" y="858318"/>
                  </a:lnTo>
                  <a:lnTo>
                    <a:pt x="1709931" y="855160"/>
                  </a:lnTo>
                  <a:lnTo>
                    <a:pt x="1766358" y="854345"/>
                  </a:lnTo>
                  <a:lnTo>
                    <a:pt x="1821870" y="856117"/>
                  </a:lnTo>
                  <a:lnTo>
                    <a:pt x="1874610" y="860720"/>
                  </a:lnTo>
                  <a:lnTo>
                    <a:pt x="1922721" y="868400"/>
                  </a:lnTo>
                  <a:lnTo>
                    <a:pt x="1964345" y="879400"/>
                  </a:lnTo>
                  <a:lnTo>
                    <a:pt x="2011105" y="899170"/>
                  </a:lnTo>
                  <a:lnTo>
                    <a:pt x="2054163" y="924938"/>
                  </a:lnTo>
                  <a:lnTo>
                    <a:pt x="2092851" y="955705"/>
                  </a:lnTo>
                  <a:lnTo>
                    <a:pt x="2126501" y="990470"/>
                  </a:lnTo>
                  <a:lnTo>
                    <a:pt x="2154444" y="1028234"/>
                  </a:lnTo>
                  <a:lnTo>
                    <a:pt x="2176010" y="1067998"/>
                  </a:lnTo>
                  <a:lnTo>
                    <a:pt x="2190532" y="1108762"/>
                  </a:lnTo>
                  <a:lnTo>
                    <a:pt x="2197490" y="1152865"/>
                  </a:lnTo>
                  <a:lnTo>
                    <a:pt x="2197456" y="1201978"/>
                  </a:lnTo>
                  <a:lnTo>
                    <a:pt x="2191075" y="1254096"/>
                  </a:lnTo>
                  <a:lnTo>
                    <a:pt x="2178992" y="1307217"/>
                  </a:lnTo>
                  <a:lnTo>
                    <a:pt x="2161850" y="1359335"/>
                  </a:lnTo>
                  <a:lnTo>
                    <a:pt x="2140294" y="1408448"/>
                  </a:lnTo>
                  <a:lnTo>
                    <a:pt x="2114967" y="1452551"/>
                  </a:lnTo>
                  <a:lnTo>
                    <a:pt x="2088209" y="1488269"/>
                  </a:lnTo>
                  <a:lnTo>
                    <a:pt x="2055680" y="1523340"/>
                  </a:lnTo>
                  <a:lnTo>
                    <a:pt x="2018707" y="1557080"/>
                  </a:lnTo>
                  <a:lnTo>
                    <a:pt x="1978617" y="1588806"/>
                  </a:lnTo>
                  <a:lnTo>
                    <a:pt x="1936734" y="1617836"/>
                  </a:lnTo>
                  <a:lnTo>
                    <a:pt x="1894386" y="1643486"/>
                  </a:lnTo>
                  <a:lnTo>
                    <a:pt x="1852898" y="1665072"/>
                  </a:lnTo>
                  <a:lnTo>
                    <a:pt x="1813596" y="1681913"/>
                  </a:lnTo>
                  <a:lnTo>
                    <a:pt x="1763271" y="1695892"/>
                  </a:lnTo>
                  <a:lnTo>
                    <a:pt x="1712998" y="1701076"/>
                  </a:lnTo>
                  <a:lnTo>
                    <a:pt x="1662768" y="1699868"/>
                  </a:lnTo>
                  <a:lnTo>
                    <a:pt x="1612569" y="1694670"/>
                  </a:lnTo>
                  <a:lnTo>
                    <a:pt x="1562392" y="1687884"/>
                  </a:lnTo>
                  <a:lnTo>
                    <a:pt x="1512225" y="1681913"/>
                  </a:lnTo>
                  <a:lnTo>
                    <a:pt x="1462771" y="1678296"/>
                  </a:lnTo>
                  <a:lnTo>
                    <a:pt x="1414402" y="1675497"/>
                  </a:lnTo>
                  <a:lnTo>
                    <a:pt x="1366048" y="1671118"/>
                  </a:lnTo>
                  <a:lnTo>
                    <a:pt x="1316636" y="1662760"/>
                  </a:lnTo>
                  <a:lnTo>
                    <a:pt x="1265093" y="1648023"/>
                  </a:lnTo>
                  <a:lnTo>
                    <a:pt x="1210346" y="1624509"/>
                  </a:lnTo>
                  <a:lnTo>
                    <a:pt x="1173378" y="1605919"/>
                  </a:lnTo>
                  <a:lnTo>
                    <a:pt x="1131423" y="1584630"/>
                  </a:lnTo>
                  <a:lnTo>
                    <a:pt x="1086291" y="1560818"/>
                  </a:lnTo>
                  <a:lnTo>
                    <a:pt x="1039790" y="1534656"/>
                  </a:lnTo>
                  <a:lnTo>
                    <a:pt x="993732" y="1506320"/>
                  </a:lnTo>
                  <a:lnTo>
                    <a:pt x="949925" y="1475983"/>
                  </a:lnTo>
                  <a:lnTo>
                    <a:pt x="910180" y="1443821"/>
                  </a:lnTo>
                  <a:lnTo>
                    <a:pt x="876306" y="1410007"/>
                  </a:lnTo>
                  <a:lnTo>
                    <a:pt x="850113" y="1374717"/>
                  </a:lnTo>
                  <a:lnTo>
                    <a:pt x="833410" y="1338124"/>
                  </a:lnTo>
                  <a:lnTo>
                    <a:pt x="826086" y="1298427"/>
                  </a:lnTo>
                  <a:lnTo>
                    <a:pt x="826143" y="1254621"/>
                  </a:lnTo>
                  <a:lnTo>
                    <a:pt x="832680" y="1207732"/>
                  </a:lnTo>
                  <a:lnTo>
                    <a:pt x="844796" y="1158786"/>
                  </a:lnTo>
                  <a:lnTo>
                    <a:pt x="861588" y="1108810"/>
                  </a:lnTo>
                  <a:lnTo>
                    <a:pt x="882157" y="1058830"/>
                  </a:lnTo>
                  <a:lnTo>
                    <a:pt x="905600" y="1009872"/>
                  </a:lnTo>
                  <a:lnTo>
                    <a:pt x="931015" y="962964"/>
                  </a:lnTo>
                  <a:lnTo>
                    <a:pt x="957502" y="919131"/>
                  </a:lnTo>
                  <a:lnTo>
                    <a:pt x="984159" y="879400"/>
                  </a:lnTo>
                  <a:lnTo>
                    <a:pt x="1011393" y="843034"/>
                  </a:lnTo>
                  <a:lnTo>
                    <a:pt x="1040359" y="808382"/>
                  </a:lnTo>
                  <a:lnTo>
                    <a:pt x="1071284" y="775444"/>
                  </a:lnTo>
                  <a:lnTo>
                    <a:pt x="1104393" y="744221"/>
                  </a:lnTo>
                  <a:lnTo>
                    <a:pt x="1139909" y="714713"/>
                  </a:lnTo>
                  <a:lnTo>
                    <a:pt x="1178058" y="686919"/>
                  </a:lnTo>
                  <a:lnTo>
                    <a:pt x="1219064" y="660839"/>
                  </a:lnTo>
                  <a:lnTo>
                    <a:pt x="1263153" y="636475"/>
                  </a:lnTo>
                  <a:lnTo>
                    <a:pt x="1310549" y="613824"/>
                  </a:lnTo>
                  <a:lnTo>
                    <a:pt x="1361476" y="592888"/>
                  </a:lnTo>
                  <a:lnTo>
                    <a:pt x="1400936" y="578715"/>
                  </a:lnTo>
                  <a:lnTo>
                    <a:pt x="1443764" y="564963"/>
                  </a:lnTo>
                  <a:lnTo>
                    <a:pt x="1489464" y="551757"/>
                  </a:lnTo>
                  <a:lnTo>
                    <a:pt x="1537539" y="539223"/>
                  </a:lnTo>
                  <a:lnTo>
                    <a:pt x="1587494" y="527487"/>
                  </a:lnTo>
                  <a:lnTo>
                    <a:pt x="1638832" y="516674"/>
                  </a:lnTo>
                  <a:lnTo>
                    <a:pt x="1691057" y="506909"/>
                  </a:lnTo>
                  <a:lnTo>
                    <a:pt x="1743673" y="498319"/>
                  </a:lnTo>
                  <a:lnTo>
                    <a:pt x="1796183" y="491028"/>
                  </a:lnTo>
                  <a:lnTo>
                    <a:pt x="1848092" y="485162"/>
                  </a:lnTo>
                  <a:lnTo>
                    <a:pt x="1898902" y="480847"/>
                  </a:lnTo>
                  <a:lnTo>
                    <a:pt x="1948119" y="478208"/>
                  </a:lnTo>
                  <a:lnTo>
                    <a:pt x="1995244" y="477371"/>
                  </a:lnTo>
                  <a:lnTo>
                    <a:pt x="2039783" y="478461"/>
                  </a:lnTo>
                  <a:lnTo>
                    <a:pt x="2094021" y="482429"/>
                  </a:lnTo>
                  <a:lnTo>
                    <a:pt x="2147005" y="489119"/>
                  </a:lnTo>
                  <a:lnTo>
                    <a:pt x="2198736" y="498400"/>
                  </a:lnTo>
                  <a:lnTo>
                    <a:pt x="2249214" y="510143"/>
                  </a:lnTo>
                  <a:lnTo>
                    <a:pt x="2298438" y="524217"/>
                  </a:lnTo>
                  <a:lnTo>
                    <a:pt x="2346410" y="540491"/>
                  </a:lnTo>
                  <a:lnTo>
                    <a:pt x="2393128" y="558834"/>
                  </a:lnTo>
                  <a:lnTo>
                    <a:pt x="2438593" y="579116"/>
                  </a:lnTo>
                  <a:lnTo>
                    <a:pt x="2482804" y="601207"/>
                  </a:lnTo>
                  <a:lnTo>
                    <a:pt x="2525763" y="624976"/>
                  </a:lnTo>
                  <a:lnTo>
                    <a:pt x="2567468" y="650292"/>
                  </a:lnTo>
                  <a:lnTo>
                    <a:pt x="2608617" y="678394"/>
                  </a:lnTo>
                  <a:lnTo>
                    <a:pt x="2649404" y="710107"/>
                  </a:lnTo>
                  <a:lnTo>
                    <a:pt x="2689494" y="744784"/>
                  </a:lnTo>
                  <a:lnTo>
                    <a:pt x="2728551" y="781779"/>
                  </a:lnTo>
                  <a:lnTo>
                    <a:pt x="2766239" y="820446"/>
                  </a:lnTo>
                  <a:lnTo>
                    <a:pt x="2802220" y="860139"/>
                  </a:lnTo>
                  <a:lnTo>
                    <a:pt x="2836161" y="900210"/>
                  </a:lnTo>
                  <a:lnTo>
                    <a:pt x="2867723" y="940014"/>
                  </a:lnTo>
                  <a:lnTo>
                    <a:pt x="2896572" y="978904"/>
                  </a:lnTo>
                  <a:lnTo>
                    <a:pt x="2922372" y="1016234"/>
                  </a:lnTo>
                  <a:lnTo>
                    <a:pt x="2944785" y="1051358"/>
                  </a:lnTo>
                  <a:lnTo>
                    <a:pt x="2972482" y="1104039"/>
                  </a:lnTo>
                  <a:lnTo>
                    <a:pt x="2992328" y="1155515"/>
                  </a:lnTo>
                  <a:lnTo>
                    <a:pt x="3005631" y="1205796"/>
                  </a:lnTo>
                  <a:lnTo>
                    <a:pt x="3013700" y="1254891"/>
                  </a:lnTo>
                  <a:lnTo>
                    <a:pt x="3017844" y="1302809"/>
                  </a:lnTo>
                  <a:lnTo>
                    <a:pt x="3019370" y="1349558"/>
                  </a:lnTo>
                  <a:lnTo>
                    <a:pt x="3019588" y="1395147"/>
                  </a:lnTo>
                  <a:lnTo>
                    <a:pt x="3018395" y="1446269"/>
                  </a:lnTo>
                  <a:lnTo>
                    <a:pt x="3014108" y="1495007"/>
                  </a:lnTo>
                  <a:lnTo>
                    <a:pt x="3005666" y="1542150"/>
                  </a:lnTo>
                  <a:lnTo>
                    <a:pt x="2992006" y="1588488"/>
                  </a:lnTo>
                  <a:lnTo>
                    <a:pt x="2972066" y="1634813"/>
                  </a:lnTo>
                  <a:lnTo>
                    <a:pt x="2944785" y="1681913"/>
                  </a:lnTo>
                  <a:lnTo>
                    <a:pt x="2918292" y="1718514"/>
                  </a:lnTo>
                  <a:lnTo>
                    <a:pt x="2886832" y="1756240"/>
                  </a:lnTo>
                  <a:lnTo>
                    <a:pt x="2851285" y="1794418"/>
                  </a:lnTo>
                  <a:lnTo>
                    <a:pt x="2812531" y="1832376"/>
                  </a:lnTo>
                  <a:lnTo>
                    <a:pt x="2771449" y="1869442"/>
                  </a:lnTo>
                  <a:lnTo>
                    <a:pt x="2728919" y="1904941"/>
                  </a:lnTo>
                  <a:lnTo>
                    <a:pt x="2685821" y="1938202"/>
                  </a:lnTo>
                  <a:lnTo>
                    <a:pt x="2643033" y="1968552"/>
                  </a:lnTo>
                  <a:lnTo>
                    <a:pt x="2601011" y="1995891"/>
                  </a:lnTo>
                  <a:lnTo>
                    <a:pt x="2559312" y="2020886"/>
                  </a:lnTo>
                  <a:lnTo>
                    <a:pt x="2517049" y="2043872"/>
                  </a:lnTo>
                  <a:lnTo>
                    <a:pt x="2473330" y="2065183"/>
                  </a:lnTo>
                  <a:lnTo>
                    <a:pt x="2427265" y="2085155"/>
                  </a:lnTo>
                  <a:lnTo>
                    <a:pt x="2377964" y="2104123"/>
                  </a:lnTo>
                  <a:lnTo>
                    <a:pt x="2324539" y="2122420"/>
                  </a:lnTo>
                  <a:lnTo>
                    <a:pt x="2266097" y="2140383"/>
                  </a:lnTo>
                  <a:lnTo>
                    <a:pt x="2223278" y="2152251"/>
                  </a:lnTo>
                  <a:lnTo>
                    <a:pt x="2176918" y="2164037"/>
                  </a:lnTo>
                  <a:lnTo>
                    <a:pt x="2127673" y="2175640"/>
                  </a:lnTo>
                  <a:lnTo>
                    <a:pt x="2076199" y="2186954"/>
                  </a:lnTo>
                  <a:lnTo>
                    <a:pt x="2023152" y="2197880"/>
                  </a:lnTo>
                  <a:lnTo>
                    <a:pt x="1969187" y="2208312"/>
                  </a:lnTo>
                  <a:lnTo>
                    <a:pt x="1914960" y="2218150"/>
                  </a:lnTo>
                  <a:lnTo>
                    <a:pt x="1861127" y="2227289"/>
                  </a:lnTo>
                  <a:lnTo>
                    <a:pt x="1808344" y="2235627"/>
                  </a:lnTo>
                  <a:lnTo>
                    <a:pt x="1757265" y="2243062"/>
                  </a:lnTo>
                  <a:lnTo>
                    <a:pt x="1708548" y="2249491"/>
                  </a:lnTo>
                  <a:lnTo>
                    <a:pt x="1662847" y="2254810"/>
                  </a:lnTo>
                  <a:lnTo>
                    <a:pt x="1607145" y="2260877"/>
                  </a:lnTo>
                  <a:lnTo>
                    <a:pt x="1556433" y="2265968"/>
                  </a:lnTo>
                  <a:lnTo>
                    <a:pt x="1509154" y="2269853"/>
                  </a:lnTo>
                  <a:lnTo>
                    <a:pt x="1463750" y="2272297"/>
                  </a:lnTo>
                  <a:lnTo>
                    <a:pt x="1418663" y="2273071"/>
                  </a:lnTo>
                  <a:lnTo>
                    <a:pt x="1372337" y="2271941"/>
                  </a:lnTo>
                  <a:lnTo>
                    <a:pt x="1323214" y="2268676"/>
                  </a:lnTo>
                  <a:lnTo>
                    <a:pt x="1269736" y="2263043"/>
                  </a:lnTo>
                  <a:lnTo>
                    <a:pt x="1210346" y="2254810"/>
                  </a:lnTo>
                  <a:lnTo>
                    <a:pt x="1168136" y="2248430"/>
                  </a:lnTo>
                  <a:lnTo>
                    <a:pt x="1122659" y="2241386"/>
                  </a:lnTo>
                  <a:lnTo>
                    <a:pt x="1074493" y="2233618"/>
                  </a:lnTo>
                  <a:lnTo>
                    <a:pt x="1024211" y="2225065"/>
                  </a:lnTo>
                  <a:lnTo>
                    <a:pt x="972390" y="2215667"/>
                  </a:lnTo>
                  <a:lnTo>
                    <a:pt x="919604" y="2205361"/>
                  </a:lnTo>
                  <a:lnTo>
                    <a:pt x="866430" y="2194088"/>
                  </a:lnTo>
                  <a:lnTo>
                    <a:pt x="813443" y="2181787"/>
                  </a:lnTo>
                  <a:lnTo>
                    <a:pt x="761217" y="2168397"/>
                  </a:lnTo>
                  <a:lnTo>
                    <a:pt x="710329" y="2153856"/>
                  </a:lnTo>
                  <a:lnTo>
                    <a:pt x="661354" y="2138105"/>
                  </a:lnTo>
                  <a:lnTo>
                    <a:pt x="614867" y="2121082"/>
                  </a:lnTo>
                  <a:lnTo>
                    <a:pt x="571443" y="2102727"/>
                  </a:lnTo>
                  <a:lnTo>
                    <a:pt x="531658" y="2082979"/>
                  </a:lnTo>
                  <a:lnTo>
                    <a:pt x="485220" y="2055186"/>
                  </a:lnTo>
                  <a:lnTo>
                    <a:pt x="441735" y="2024107"/>
                  </a:lnTo>
                  <a:lnTo>
                    <a:pt x="401033" y="1990260"/>
                  </a:lnTo>
                  <a:lnTo>
                    <a:pt x="362942" y="1954161"/>
                  </a:lnTo>
                  <a:lnTo>
                    <a:pt x="327292" y="1916329"/>
                  </a:lnTo>
                  <a:lnTo>
                    <a:pt x="293913" y="1877280"/>
                  </a:lnTo>
                  <a:lnTo>
                    <a:pt x="262633" y="1837534"/>
                  </a:lnTo>
                  <a:lnTo>
                    <a:pt x="233283" y="1797606"/>
                  </a:lnTo>
                  <a:lnTo>
                    <a:pt x="205692" y="1758015"/>
                  </a:lnTo>
                  <a:lnTo>
                    <a:pt x="179689" y="1719278"/>
                  </a:lnTo>
                  <a:lnTo>
                    <a:pt x="155103" y="1681913"/>
                  </a:lnTo>
                  <a:lnTo>
                    <a:pt x="125892" y="1637934"/>
                  </a:lnTo>
                  <a:lnTo>
                    <a:pt x="97636" y="1594918"/>
                  </a:lnTo>
                  <a:lnTo>
                    <a:pt x="71260" y="1552387"/>
                  </a:lnTo>
                  <a:lnTo>
                    <a:pt x="47690" y="1509866"/>
                  </a:lnTo>
                  <a:lnTo>
                    <a:pt x="27853" y="1466878"/>
                  </a:lnTo>
                  <a:lnTo>
                    <a:pt x="12675" y="1422946"/>
                  </a:lnTo>
                  <a:lnTo>
                    <a:pt x="3082" y="1377593"/>
                  </a:lnTo>
                  <a:lnTo>
                    <a:pt x="0" y="1330344"/>
                  </a:lnTo>
                  <a:lnTo>
                    <a:pt x="4354" y="1280720"/>
                  </a:lnTo>
                  <a:lnTo>
                    <a:pt x="11916" y="1242128"/>
                  </a:lnTo>
                  <a:lnTo>
                    <a:pt x="22242" y="1202740"/>
                  </a:lnTo>
                  <a:lnTo>
                    <a:pt x="35461" y="1162555"/>
                  </a:lnTo>
                  <a:lnTo>
                    <a:pt x="51702" y="1121570"/>
                  </a:lnTo>
                  <a:lnTo>
                    <a:pt x="71092" y="1079785"/>
                  </a:lnTo>
                  <a:lnTo>
                    <a:pt x="93762" y="1037198"/>
                  </a:lnTo>
                  <a:lnTo>
                    <a:pt x="119840" y="993806"/>
                  </a:lnTo>
                  <a:lnTo>
                    <a:pt x="149454" y="949608"/>
                  </a:lnTo>
                  <a:lnTo>
                    <a:pt x="182734" y="904602"/>
                  </a:lnTo>
                  <a:lnTo>
                    <a:pt x="219807" y="858786"/>
                  </a:lnTo>
                  <a:lnTo>
                    <a:pt x="260804" y="812159"/>
                  </a:lnTo>
                  <a:lnTo>
                    <a:pt x="305852" y="764719"/>
                  </a:lnTo>
                  <a:lnTo>
                    <a:pt x="333408" y="736654"/>
                  </a:lnTo>
                  <a:lnTo>
                    <a:pt x="362319" y="707098"/>
                  </a:lnTo>
                  <a:lnTo>
                    <a:pt x="392559" y="676254"/>
                  </a:lnTo>
                  <a:lnTo>
                    <a:pt x="424104" y="644329"/>
                  </a:lnTo>
                  <a:lnTo>
                    <a:pt x="456928" y="611526"/>
                  </a:lnTo>
                  <a:lnTo>
                    <a:pt x="491005" y="578052"/>
                  </a:lnTo>
                  <a:lnTo>
                    <a:pt x="526310" y="544111"/>
                  </a:lnTo>
                  <a:lnTo>
                    <a:pt x="562818" y="509907"/>
                  </a:lnTo>
                  <a:lnTo>
                    <a:pt x="600503" y="475647"/>
                  </a:lnTo>
                  <a:lnTo>
                    <a:pt x="639340" y="441534"/>
                  </a:lnTo>
                  <a:lnTo>
                    <a:pt x="679303" y="407774"/>
                  </a:lnTo>
                  <a:lnTo>
                    <a:pt x="720367" y="374572"/>
                  </a:lnTo>
                  <a:lnTo>
                    <a:pt x="762506" y="342133"/>
                  </a:lnTo>
                  <a:lnTo>
                    <a:pt x="805696" y="310661"/>
                  </a:lnTo>
                  <a:lnTo>
                    <a:pt x="849910" y="280362"/>
                  </a:lnTo>
                  <a:lnTo>
                    <a:pt x="895124" y="251441"/>
                  </a:lnTo>
                  <a:lnTo>
                    <a:pt x="941311" y="224102"/>
                  </a:lnTo>
                  <a:lnTo>
                    <a:pt x="988447" y="198551"/>
                  </a:lnTo>
                  <a:lnTo>
                    <a:pt x="1036505" y="174992"/>
                  </a:lnTo>
                  <a:lnTo>
                    <a:pt x="1085461" y="153631"/>
                  </a:lnTo>
                  <a:lnTo>
                    <a:pt x="1135289" y="134672"/>
                  </a:lnTo>
                  <a:lnTo>
                    <a:pt x="1176870" y="120709"/>
                  </a:lnTo>
                  <a:lnTo>
                    <a:pt x="1220406" y="107510"/>
                  </a:lnTo>
                  <a:lnTo>
                    <a:pt x="1265729" y="95077"/>
                  </a:lnTo>
                  <a:lnTo>
                    <a:pt x="1312674" y="83408"/>
                  </a:lnTo>
                  <a:lnTo>
                    <a:pt x="1361072" y="72504"/>
                  </a:lnTo>
                  <a:lnTo>
                    <a:pt x="1410755" y="62364"/>
                  </a:lnTo>
                  <a:lnTo>
                    <a:pt x="1461558" y="52989"/>
                  </a:lnTo>
                  <a:lnTo>
                    <a:pt x="1513312" y="44377"/>
                  </a:lnTo>
                  <a:lnTo>
                    <a:pt x="1565850" y="36529"/>
                  </a:lnTo>
                  <a:lnTo>
                    <a:pt x="1619005" y="29444"/>
                  </a:lnTo>
                  <a:lnTo>
                    <a:pt x="1672609" y="23122"/>
                  </a:lnTo>
                  <a:lnTo>
                    <a:pt x="1726495" y="17564"/>
                  </a:lnTo>
                  <a:lnTo>
                    <a:pt x="1780497" y="12768"/>
                  </a:lnTo>
                  <a:lnTo>
                    <a:pt x="1834446" y="8735"/>
                  </a:lnTo>
                  <a:lnTo>
                    <a:pt x="1888175" y="5464"/>
                  </a:lnTo>
                  <a:lnTo>
                    <a:pt x="1941517" y="2955"/>
                  </a:lnTo>
                  <a:lnTo>
                    <a:pt x="1994305" y="1208"/>
                  </a:lnTo>
                  <a:lnTo>
                    <a:pt x="2046372" y="223"/>
                  </a:lnTo>
                  <a:lnTo>
                    <a:pt x="2097549" y="0"/>
                  </a:lnTo>
                  <a:lnTo>
                    <a:pt x="2147670" y="537"/>
                  </a:lnTo>
                  <a:lnTo>
                    <a:pt x="2196568" y="1836"/>
                  </a:lnTo>
                  <a:lnTo>
                    <a:pt x="2244074" y="3895"/>
                  </a:lnTo>
                  <a:lnTo>
                    <a:pt x="2290023" y="6715"/>
                  </a:lnTo>
                  <a:lnTo>
                    <a:pt x="2334246" y="10296"/>
                  </a:lnTo>
                  <a:lnTo>
                    <a:pt x="2376576" y="14636"/>
                  </a:lnTo>
                  <a:lnTo>
                    <a:pt x="2416846" y="19737"/>
                  </a:lnTo>
                  <a:lnTo>
                    <a:pt x="2472330" y="29366"/>
                  </a:lnTo>
                  <a:lnTo>
                    <a:pt x="2525802" y="42054"/>
                  </a:lnTo>
                  <a:lnTo>
                    <a:pt x="2577340" y="57507"/>
                  </a:lnTo>
                  <a:lnTo>
                    <a:pt x="2627021" y="75431"/>
                  </a:lnTo>
                  <a:lnTo>
                    <a:pt x="2674922" y="95531"/>
                  </a:lnTo>
                  <a:lnTo>
                    <a:pt x="2721119" y="117513"/>
                  </a:lnTo>
                  <a:lnTo>
                    <a:pt x="2765691" y="141082"/>
                  </a:lnTo>
                  <a:lnTo>
                    <a:pt x="2808714" y="165945"/>
                  </a:lnTo>
                  <a:lnTo>
                    <a:pt x="2850266" y="191806"/>
                  </a:lnTo>
                  <a:lnTo>
                    <a:pt x="2890422" y="218372"/>
                  </a:lnTo>
                  <a:lnTo>
                    <a:pt x="2929261" y="245348"/>
                  </a:lnTo>
                  <a:lnTo>
                    <a:pt x="2966860" y="272439"/>
                  </a:lnTo>
                  <a:lnTo>
                    <a:pt x="3003295" y="299351"/>
                  </a:lnTo>
                  <a:lnTo>
                    <a:pt x="3038644" y="325791"/>
                  </a:lnTo>
                  <a:lnTo>
                    <a:pt x="3072984" y="351463"/>
                  </a:lnTo>
                  <a:lnTo>
                    <a:pt x="3106391" y="376073"/>
                  </a:lnTo>
                  <a:lnTo>
                    <a:pt x="3138944" y="399327"/>
                  </a:lnTo>
                  <a:lnTo>
                    <a:pt x="3170718" y="420930"/>
                  </a:lnTo>
                  <a:lnTo>
                    <a:pt x="3224012" y="456685"/>
                  </a:lnTo>
                  <a:lnTo>
                    <a:pt x="3271416" y="489846"/>
                  </a:lnTo>
                  <a:lnTo>
                    <a:pt x="3313840" y="521272"/>
                  </a:lnTo>
                  <a:lnTo>
                    <a:pt x="3352192" y="551819"/>
                  </a:lnTo>
                  <a:lnTo>
                    <a:pt x="3387380" y="582347"/>
                  </a:lnTo>
                  <a:lnTo>
                    <a:pt x="3420313" y="613713"/>
                  </a:lnTo>
                  <a:lnTo>
                    <a:pt x="3451898" y="646775"/>
                  </a:lnTo>
                  <a:lnTo>
                    <a:pt x="3483045" y="682392"/>
                  </a:lnTo>
                  <a:lnTo>
                    <a:pt x="3514661" y="721420"/>
                  </a:lnTo>
                  <a:lnTo>
                    <a:pt x="3547654" y="764719"/>
                  </a:lnTo>
                  <a:lnTo>
                    <a:pt x="3573092" y="798094"/>
                  </a:lnTo>
                  <a:lnTo>
                    <a:pt x="3600579" y="832632"/>
                  </a:lnTo>
                  <a:lnTo>
                    <a:pt x="3629452" y="868333"/>
                  </a:lnTo>
                  <a:lnTo>
                    <a:pt x="3659051" y="905200"/>
                  </a:lnTo>
                  <a:lnTo>
                    <a:pt x="3688713" y="943233"/>
                  </a:lnTo>
                  <a:lnTo>
                    <a:pt x="3717778" y="982432"/>
                  </a:lnTo>
                  <a:lnTo>
                    <a:pt x="3745584" y="1022799"/>
                  </a:lnTo>
                  <a:lnTo>
                    <a:pt x="3771469" y="1064334"/>
                  </a:lnTo>
                  <a:lnTo>
                    <a:pt x="3794772" y="1107038"/>
                  </a:lnTo>
                  <a:lnTo>
                    <a:pt x="3814832" y="1150912"/>
                  </a:lnTo>
                  <a:lnTo>
                    <a:pt x="3830987" y="1195957"/>
                  </a:lnTo>
                  <a:lnTo>
                    <a:pt x="3842575" y="1242173"/>
                  </a:lnTo>
                  <a:lnTo>
                    <a:pt x="3848935" y="1289562"/>
                  </a:lnTo>
                  <a:lnTo>
                    <a:pt x="3849406" y="1338124"/>
                  </a:lnTo>
                  <a:lnTo>
                    <a:pt x="3846095" y="1377417"/>
                  </a:lnTo>
                  <a:lnTo>
                    <a:pt x="3840506" y="1418749"/>
                  </a:lnTo>
                  <a:lnTo>
                    <a:pt x="3832675" y="1461853"/>
                  </a:lnTo>
                  <a:lnTo>
                    <a:pt x="3822642" y="1506465"/>
                  </a:lnTo>
                  <a:lnTo>
                    <a:pt x="3810443" y="1552318"/>
                  </a:lnTo>
                  <a:lnTo>
                    <a:pt x="3796118" y="1599147"/>
                  </a:lnTo>
                  <a:lnTo>
                    <a:pt x="3779703" y="1646685"/>
                  </a:lnTo>
                  <a:lnTo>
                    <a:pt x="3761237" y="1694666"/>
                  </a:lnTo>
                  <a:lnTo>
                    <a:pt x="3740758" y="1742825"/>
                  </a:lnTo>
                  <a:lnTo>
                    <a:pt x="3718303" y="1790897"/>
                  </a:lnTo>
                  <a:lnTo>
                    <a:pt x="3693910" y="1838613"/>
                  </a:lnTo>
                  <a:lnTo>
                    <a:pt x="3667618" y="1885710"/>
                  </a:lnTo>
                  <a:lnTo>
                    <a:pt x="3639463" y="1931922"/>
                  </a:lnTo>
                  <a:lnTo>
                    <a:pt x="3609485" y="1976981"/>
                  </a:lnTo>
                  <a:lnTo>
                    <a:pt x="3577720" y="2020623"/>
                  </a:lnTo>
                  <a:lnTo>
                    <a:pt x="3544208" y="2062581"/>
                  </a:lnTo>
                  <a:lnTo>
                    <a:pt x="3508985" y="2102590"/>
                  </a:lnTo>
                  <a:lnTo>
                    <a:pt x="3472089" y="2140383"/>
                  </a:lnTo>
                  <a:lnTo>
                    <a:pt x="3439881" y="2170105"/>
                  </a:lnTo>
                  <a:lnTo>
                    <a:pt x="3405083" y="2199337"/>
                  </a:lnTo>
                  <a:lnTo>
                    <a:pt x="3367909" y="2228065"/>
                  </a:lnTo>
                  <a:lnTo>
                    <a:pt x="3328571" y="2256271"/>
                  </a:lnTo>
                  <a:lnTo>
                    <a:pt x="3287281" y="2283939"/>
                  </a:lnTo>
                  <a:lnTo>
                    <a:pt x="3244251" y="2311052"/>
                  </a:lnTo>
                  <a:lnTo>
                    <a:pt x="3199693" y="2337594"/>
                  </a:lnTo>
                  <a:lnTo>
                    <a:pt x="3153820" y="2363548"/>
                  </a:lnTo>
                  <a:lnTo>
                    <a:pt x="3106843" y="2388899"/>
                  </a:lnTo>
                  <a:lnTo>
                    <a:pt x="3058975" y="2413629"/>
                  </a:lnTo>
                  <a:lnTo>
                    <a:pt x="3010428" y="2437722"/>
                  </a:lnTo>
                  <a:lnTo>
                    <a:pt x="2961415" y="2461162"/>
                  </a:lnTo>
                  <a:lnTo>
                    <a:pt x="2912146" y="2483932"/>
                  </a:lnTo>
                  <a:lnTo>
                    <a:pt x="2862836" y="2506015"/>
                  </a:lnTo>
                  <a:lnTo>
                    <a:pt x="2813695" y="2527396"/>
                  </a:lnTo>
                  <a:lnTo>
                    <a:pt x="2764936" y="2548058"/>
                  </a:lnTo>
                  <a:lnTo>
                    <a:pt x="2716771" y="2567984"/>
                  </a:lnTo>
                  <a:lnTo>
                    <a:pt x="2669412" y="2587158"/>
                  </a:lnTo>
                  <a:lnTo>
                    <a:pt x="2623072" y="2605563"/>
                  </a:lnTo>
                  <a:lnTo>
                    <a:pt x="2577963" y="2623183"/>
                  </a:lnTo>
                  <a:lnTo>
                    <a:pt x="2534296" y="2640002"/>
                  </a:lnTo>
                  <a:lnTo>
                    <a:pt x="2492284" y="2656003"/>
                  </a:lnTo>
                  <a:lnTo>
                    <a:pt x="2439418" y="2675373"/>
                  </a:lnTo>
                  <a:lnTo>
                    <a:pt x="2387289" y="2693061"/>
                  </a:lnTo>
                  <a:lnTo>
                    <a:pt x="2335852" y="2709171"/>
                  </a:lnTo>
                  <a:lnTo>
                    <a:pt x="2285061" y="2723808"/>
                  </a:lnTo>
                  <a:lnTo>
                    <a:pt x="2234871" y="2737079"/>
                  </a:lnTo>
                  <a:lnTo>
                    <a:pt x="2185236" y="2749087"/>
                  </a:lnTo>
                  <a:lnTo>
                    <a:pt x="2136111" y="2759938"/>
                  </a:lnTo>
                  <a:lnTo>
                    <a:pt x="2087449" y="2769737"/>
                  </a:lnTo>
                  <a:lnTo>
                    <a:pt x="2039206" y="2778590"/>
                  </a:lnTo>
                  <a:lnTo>
                    <a:pt x="1991336" y="2786601"/>
                  </a:lnTo>
                  <a:lnTo>
                    <a:pt x="1943792" y="2793875"/>
                  </a:lnTo>
                  <a:lnTo>
                    <a:pt x="1896530" y="2800519"/>
                  </a:lnTo>
                  <a:lnTo>
                    <a:pt x="1849504" y="2806636"/>
                  </a:lnTo>
                  <a:lnTo>
                    <a:pt x="1802669" y="2812333"/>
                  </a:lnTo>
                  <a:lnTo>
                    <a:pt x="1755978" y="2817713"/>
                  </a:lnTo>
                  <a:lnTo>
                    <a:pt x="1709386" y="2822884"/>
                  </a:lnTo>
                  <a:lnTo>
                    <a:pt x="1662847" y="2827948"/>
                  </a:lnTo>
                </a:path>
              </a:pathLst>
            </a:custGeom>
            <a:ln w="5791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9717" y="1292174"/>
            <a:ext cx="1200150" cy="53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95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Determine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ts val="1995"/>
              </a:lnSpc>
            </a:pPr>
            <a:r>
              <a:rPr sz="1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Objectives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0588" y="1234897"/>
            <a:ext cx="1490345" cy="53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95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Identify</a:t>
            </a:r>
            <a:r>
              <a:rPr sz="1800" b="1" spc="-4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33CC"/>
                </a:solidFill>
                <a:latin typeface="Comic Sans MS"/>
                <a:cs typeface="Comic Sans MS"/>
              </a:rPr>
              <a:t>&amp;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ts val="1995"/>
              </a:lnSpc>
            </a:pP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Resolve</a:t>
            </a:r>
            <a:r>
              <a:rPr sz="1800" b="1" spc="-8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33CC"/>
                </a:solidFill>
                <a:latin typeface="Comic Sans MS"/>
                <a:cs typeface="Comic Sans MS"/>
              </a:rPr>
              <a:t>Risks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7041" y="2893313"/>
            <a:ext cx="1842770" cy="53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9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Develop</a:t>
            </a:r>
            <a:r>
              <a:rPr sz="1800" b="1" spc="-5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33CC"/>
                </a:solidFill>
                <a:latin typeface="Comic Sans MS"/>
                <a:cs typeface="Comic Sans MS"/>
              </a:rPr>
              <a:t>Next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ts val="1989"/>
              </a:lnSpc>
            </a:pPr>
            <a:r>
              <a:rPr sz="1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Level of</a:t>
            </a:r>
            <a:r>
              <a:rPr sz="1800" b="1" spc="-4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Product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0863" y="2664663"/>
            <a:ext cx="1457960" cy="767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425"/>
              </a:spcBef>
            </a:pPr>
            <a:r>
              <a:rPr sz="1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Customer </a:t>
            </a:r>
            <a:r>
              <a:rPr sz="1800" b="1" spc="-5" dirty="0">
                <a:solidFill>
                  <a:srgbClr val="0033CC"/>
                </a:solidFill>
                <a:latin typeface="Comic Sans MS"/>
                <a:cs typeface="Comic Sans MS"/>
              </a:rPr>
              <a:t> Evaluation</a:t>
            </a:r>
            <a:r>
              <a:rPr sz="1800" b="1" spc="-90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of </a:t>
            </a:r>
            <a:r>
              <a:rPr sz="1800" b="1" spc="-76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0033CC"/>
                </a:solidFill>
                <a:latin typeface="Comic Sans MS"/>
                <a:cs typeface="Comic Sans MS"/>
              </a:rPr>
              <a:t>Prototype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054" y="246516"/>
            <a:ext cx="8162290" cy="40189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513080" algn="ctr">
              <a:lnSpc>
                <a:spcPct val="100000"/>
              </a:lnSpc>
              <a:spcBef>
                <a:spcPts val="470"/>
              </a:spcBef>
            </a:pP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Objective</a:t>
            </a:r>
            <a:r>
              <a:rPr sz="2800" b="1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Setting</a:t>
            </a:r>
            <a:r>
              <a:rPr sz="2800" b="1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(First</a:t>
            </a:r>
            <a:r>
              <a:rPr sz="2800" b="1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Calibri"/>
                <a:cs typeface="Calibri"/>
              </a:rPr>
              <a:t>Quadrant)</a:t>
            </a:r>
            <a:endParaRPr sz="280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90195" algn="l"/>
                <a:tab pos="3293745" algn="l"/>
              </a:tabLst>
            </a:pPr>
            <a:r>
              <a:rPr sz="3000" dirty="0">
                <a:latin typeface="Calibri"/>
                <a:cs typeface="Calibri"/>
              </a:rPr>
              <a:t>Identify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objectives	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phase,</a:t>
            </a:r>
            <a:endParaRPr sz="300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290195" algn="l"/>
              </a:tabLst>
            </a:pPr>
            <a:r>
              <a:rPr sz="3000" spc="-10" dirty="0">
                <a:latin typeface="Calibri"/>
                <a:cs typeface="Calibri"/>
              </a:rPr>
              <a:t>Examine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33CC"/>
                </a:solidFill>
                <a:latin typeface="Calibri"/>
                <a:cs typeface="Calibri"/>
              </a:rPr>
              <a:t>risks</a:t>
            </a:r>
            <a:r>
              <a:rPr sz="30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associated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these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objectives.</a:t>
            </a:r>
            <a:endParaRPr sz="30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157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-434" dirty="0">
                <a:latin typeface="Arial MT"/>
                <a:cs typeface="Arial MT"/>
              </a:rPr>
              <a:t> </a:t>
            </a:r>
            <a:r>
              <a:rPr sz="2700" spc="-10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0" dirty="0">
                <a:latin typeface="Calibri"/>
                <a:cs typeface="Calibri"/>
              </a:rPr>
              <a:t>k</a:t>
            </a:r>
            <a:r>
              <a:rPr sz="2700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marL="939165" marR="684530" lvl="1" indent="-186055">
              <a:lnSpc>
                <a:spcPct val="109200"/>
              </a:lnSpc>
              <a:spcBef>
                <a:spcPts val="1165"/>
              </a:spcBef>
              <a:buFont typeface="Arial MT"/>
              <a:buChar char="•"/>
              <a:tabLst>
                <a:tab pos="939800" algn="l"/>
                <a:tab pos="5529580" algn="l"/>
              </a:tabLst>
            </a:pPr>
            <a:r>
              <a:rPr sz="2400" spc="-10" dirty="0">
                <a:solidFill>
                  <a:srgbClr val="000099"/>
                </a:solidFill>
                <a:latin typeface="Comic Sans MS"/>
                <a:cs typeface="Comic Sans MS"/>
              </a:rPr>
              <a:t>Any</a:t>
            </a:r>
            <a:r>
              <a:rPr sz="2400" spc="10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adverse</a:t>
            </a:r>
            <a:r>
              <a:rPr sz="2400" spc="-55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Comic Sans MS"/>
                <a:cs typeface="Comic Sans MS"/>
              </a:rPr>
              <a:t>circumstance</a:t>
            </a:r>
            <a:r>
              <a:rPr sz="2400" spc="10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Comic Sans MS"/>
                <a:cs typeface="Comic Sans MS"/>
              </a:rPr>
              <a:t>that	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might</a:t>
            </a:r>
            <a:r>
              <a:rPr sz="2400" spc="-80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Comic Sans MS"/>
                <a:cs typeface="Comic Sans MS"/>
              </a:rPr>
              <a:t>hamper </a:t>
            </a:r>
            <a:r>
              <a:rPr sz="2400" spc="-705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successful</a:t>
            </a:r>
            <a:r>
              <a:rPr sz="2400" spc="-20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Comic Sans MS"/>
                <a:cs typeface="Comic Sans MS"/>
              </a:rPr>
              <a:t>completion</a:t>
            </a:r>
            <a:r>
              <a:rPr sz="2400" spc="-10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of</a:t>
            </a:r>
            <a:r>
              <a:rPr sz="2400" spc="-5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a</a:t>
            </a:r>
            <a:r>
              <a:rPr sz="2400" spc="-25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software</a:t>
            </a:r>
            <a:r>
              <a:rPr sz="2400" spc="-45" dirty="0">
                <a:solidFill>
                  <a:srgbClr val="000099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0099"/>
                </a:solidFill>
                <a:latin typeface="Comic Sans MS"/>
                <a:cs typeface="Comic Sans MS"/>
              </a:rPr>
              <a:t>project</a:t>
            </a:r>
            <a:r>
              <a:rPr sz="3000" dirty="0">
                <a:solidFill>
                  <a:srgbClr val="000099"/>
                </a:solidFill>
                <a:latin typeface="Comic Sans MS"/>
                <a:cs typeface="Comic Sans MS"/>
              </a:rPr>
              <a:t>.</a:t>
            </a:r>
            <a:endParaRPr sz="3000">
              <a:latin typeface="Comic Sans MS"/>
              <a:cs typeface="Comic Sans MS"/>
            </a:endParaRPr>
          </a:p>
          <a:p>
            <a:pPr marL="289560" indent="-27749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90195" algn="l"/>
              </a:tabLst>
            </a:pPr>
            <a:r>
              <a:rPr sz="3000" spc="-5" dirty="0">
                <a:latin typeface="Calibri"/>
                <a:cs typeface="Calibri"/>
              </a:rPr>
              <a:t>Find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alternate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solutions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possible.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880" y="257682"/>
            <a:ext cx="858583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" dirty="0"/>
              <a:t>Risk</a:t>
            </a:r>
            <a:r>
              <a:rPr sz="3200" spc="5" dirty="0"/>
              <a:t> </a:t>
            </a:r>
            <a:r>
              <a:rPr sz="3200" spc="-10" dirty="0"/>
              <a:t>Assessment</a:t>
            </a:r>
            <a:r>
              <a:rPr sz="3200" spc="50" dirty="0"/>
              <a:t> </a:t>
            </a:r>
            <a:r>
              <a:rPr sz="3200" spc="-5" dirty="0"/>
              <a:t>and</a:t>
            </a:r>
            <a:r>
              <a:rPr sz="3200" spc="10" dirty="0"/>
              <a:t> </a:t>
            </a:r>
            <a:r>
              <a:rPr sz="3200" spc="-15" dirty="0"/>
              <a:t>Reduction</a:t>
            </a:r>
            <a:r>
              <a:rPr sz="3200" spc="50" dirty="0"/>
              <a:t> </a:t>
            </a:r>
            <a:r>
              <a:rPr sz="3200" spc="-10" dirty="0"/>
              <a:t>(Second</a:t>
            </a:r>
            <a:r>
              <a:rPr sz="3200" spc="10" dirty="0"/>
              <a:t> </a:t>
            </a:r>
            <a:r>
              <a:rPr sz="3200" spc="-20" dirty="0"/>
              <a:t>Quadrant)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55854" y="722312"/>
            <a:ext cx="8461375" cy="3310254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89560" indent="-277495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90195" algn="l"/>
              </a:tabLst>
            </a:pPr>
            <a:r>
              <a:rPr sz="3100" spc="-25" dirty="0">
                <a:latin typeface="Calibri"/>
                <a:cs typeface="Calibri"/>
              </a:rPr>
              <a:t>For</a:t>
            </a:r>
            <a:r>
              <a:rPr sz="3100" spc="10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each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identified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15" dirty="0">
                <a:latin typeface="Calibri"/>
                <a:cs typeface="Calibri"/>
              </a:rPr>
              <a:t>project</a:t>
            </a:r>
            <a:r>
              <a:rPr sz="3100" spc="-5" dirty="0">
                <a:latin typeface="Calibri"/>
                <a:cs typeface="Calibri"/>
              </a:rPr>
              <a:t> risk,</a:t>
            </a:r>
            <a:endParaRPr sz="31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90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-434" dirty="0">
                <a:latin typeface="Arial MT"/>
                <a:cs typeface="Arial MT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35" dirty="0">
                <a:latin typeface="Calibri"/>
                <a:cs typeface="Calibri"/>
              </a:rPr>
              <a:t>e</a:t>
            </a:r>
            <a:r>
              <a:rPr sz="2700" spc="-2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ail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5" dirty="0">
                <a:latin typeface="Calibri"/>
                <a:cs typeface="Calibri"/>
              </a:rPr>
              <a:t>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dirty="0">
                <a:latin typeface="Calibri"/>
                <a:cs typeface="Calibri"/>
              </a:rPr>
              <a:t>al</a:t>
            </a:r>
            <a:r>
              <a:rPr sz="2700" spc="-30" dirty="0">
                <a:latin typeface="Calibri"/>
                <a:cs typeface="Calibri"/>
              </a:rPr>
              <a:t>y</a:t>
            </a:r>
            <a:r>
              <a:rPr sz="2700" spc="-5" dirty="0">
                <a:latin typeface="Calibri"/>
                <a:cs typeface="Calibri"/>
              </a:rPr>
              <a:t>si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r</a:t>
            </a:r>
            <a:r>
              <a:rPr sz="2700" spc="-10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ied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spc="-5" dirty="0">
                <a:latin typeface="Calibri"/>
                <a:cs typeface="Calibri"/>
              </a:rPr>
              <a:t>ut.</a:t>
            </a:r>
            <a:endParaRPr sz="270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0195" algn="l"/>
              </a:tabLst>
            </a:pPr>
            <a:r>
              <a:rPr sz="3100" spc="-15" dirty="0">
                <a:latin typeface="Calibri"/>
                <a:cs typeface="Calibri"/>
              </a:rPr>
              <a:t>Steps</a:t>
            </a:r>
            <a:r>
              <a:rPr sz="3100" spc="-1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are </a:t>
            </a:r>
            <a:r>
              <a:rPr sz="3100" spc="-30" dirty="0">
                <a:latin typeface="Calibri"/>
                <a:cs typeface="Calibri"/>
              </a:rPr>
              <a:t>taken</a:t>
            </a:r>
            <a:r>
              <a:rPr sz="3100" spc="1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to</a:t>
            </a:r>
            <a:r>
              <a:rPr sz="3100" spc="-10" dirty="0">
                <a:latin typeface="Calibri"/>
                <a:cs typeface="Calibri"/>
              </a:rPr>
              <a:t> reduce</a:t>
            </a:r>
            <a:r>
              <a:rPr sz="3100" spc="-40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the</a:t>
            </a:r>
            <a:r>
              <a:rPr sz="3100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risk.</a:t>
            </a:r>
            <a:endParaRPr sz="3100">
              <a:latin typeface="Calibri"/>
              <a:cs typeface="Calibri"/>
            </a:endParaRPr>
          </a:p>
          <a:p>
            <a:pPr marL="289560" marR="5080" indent="-277495">
              <a:lnSpc>
                <a:spcPts val="3340"/>
              </a:lnSpc>
              <a:spcBef>
                <a:spcPts val="1465"/>
              </a:spcBef>
              <a:buFont typeface="Arial MT"/>
              <a:buChar char="•"/>
              <a:tabLst>
                <a:tab pos="290195" algn="l"/>
              </a:tabLst>
            </a:pPr>
            <a:r>
              <a:rPr sz="3100" spc="-25" dirty="0">
                <a:latin typeface="Calibri"/>
                <a:cs typeface="Calibri"/>
              </a:rPr>
              <a:t>For</a:t>
            </a:r>
            <a:r>
              <a:rPr sz="3100" spc="10" dirty="0">
                <a:latin typeface="Calibri"/>
                <a:cs typeface="Calibri"/>
              </a:rPr>
              <a:t> </a:t>
            </a:r>
            <a:r>
              <a:rPr sz="3100" spc="-15" dirty="0">
                <a:latin typeface="Calibri"/>
                <a:cs typeface="Calibri"/>
              </a:rPr>
              <a:t>example,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if</a:t>
            </a:r>
            <a:r>
              <a:rPr sz="3100" spc="20" dirty="0">
                <a:latin typeface="Calibri"/>
                <a:cs typeface="Calibri"/>
              </a:rPr>
              <a:t> </a:t>
            </a:r>
            <a:r>
              <a:rPr sz="3100" spc="-15" dirty="0">
                <a:latin typeface="Calibri"/>
                <a:cs typeface="Calibri"/>
              </a:rPr>
              <a:t>there</a:t>
            </a:r>
            <a:r>
              <a:rPr sz="3100" spc="-10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is</a:t>
            </a:r>
            <a:r>
              <a:rPr sz="3100" spc="5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a</a:t>
            </a:r>
            <a:r>
              <a:rPr sz="3100" spc="15" dirty="0">
                <a:latin typeface="Calibri"/>
                <a:cs typeface="Calibri"/>
              </a:rPr>
              <a:t> </a:t>
            </a:r>
            <a:r>
              <a:rPr sz="3100" spc="-5" dirty="0">
                <a:latin typeface="Calibri"/>
                <a:cs typeface="Calibri"/>
              </a:rPr>
              <a:t>risk</a:t>
            </a:r>
            <a:r>
              <a:rPr sz="3100" spc="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that </a:t>
            </a:r>
            <a:r>
              <a:rPr sz="3100" spc="-15" dirty="0">
                <a:latin typeface="Calibri"/>
                <a:cs typeface="Calibri"/>
              </a:rPr>
              <a:t>requirements </a:t>
            </a:r>
            <a:r>
              <a:rPr sz="3100" spc="-20" dirty="0">
                <a:latin typeface="Calibri"/>
                <a:cs typeface="Calibri"/>
              </a:rPr>
              <a:t>are </a:t>
            </a:r>
            <a:r>
              <a:rPr sz="3100" spc="-68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inappropriate:</a:t>
            </a:r>
            <a:endParaRPr sz="31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85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-434" dirty="0">
                <a:latin typeface="Arial MT"/>
                <a:cs typeface="Arial MT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p</a:t>
            </a:r>
            <a:r>
              <a:rPr sz="2700" spc="-70" dirty="0">
                <a:latin typeface="Calibri"/>
                <a:cs typeface="Calibri"/>
              </a:rPr>
              <a:t>r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spc="-25" dirty="0">
                <a:latin typeface="Calibri"/>
                <a:cs typeface="Calibri"/>
              </a:rPr>
              <a:t>t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ty</a:t>
            </a: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5" dirty="0">
                <a:latin typeface="Calibri"/>
                <a:cs typeface="Calibri"/>
              </a:rPr>
              <a:t>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55" dirty="0">
                <a:latin typeface="Calibri"/>
                <a:cs typeface="Calibri"/>
              </a:rPr>
              <a:t>s</a:t>
            </a:r>
            <a:r>
              <a:rPr sz="2700" spc="-25" dirty="0">
                <a:latin typeface="Calibri"/>
                <a:cs typeface="Calibri"/>
              </a:rPr>
              <a:t>yst</a:t>
            </a:r>
            <a:r>
              <a:rPr sz="2700" spc="5" dirty="0">
                <a:latin typeface="Calibri"/>
                <a:cs typeface="Calibri"/>
              </a:rPr>
              <a:t>em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</a:t>
            </a:r>
            <a:r>
              <a:rPr sz="2700" spc="-55" dirty="0">
                <a:latin typeface="Calibri"/>
                <a:cs typeface="Calibri"/>
              </a:rPr>
              <a:t>a</a:t>
            </a:r>
            <a:r>
              <a:rPr sz="2700" spc="5" dirty="0">
                <a:latin typeface="Calibri"/>
                <a:cs typeface="Calibri"/>
              </a:rPr>
              <a:t>y</a:t>
            </a:r>
            <a:r>
              <a:rPr sz="2700" dirty="0">
                <a:latin typeface="Calibri"/>
                <a:cs typeface="Calibri"/>
              </a:rPr>
              <a:t> b</a:t>
            </a:r>
            <a:r>
              <a:rPr sz="2700" spc="5" dirty="0">
                <a:latin typeface="Calibri"/>
                <a:cs typeface="Calibri"/>
              </a:rPr>
              <a:t>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35" dirty="0">
                <a:latin typeface="Calibri"/>
                <a:cs typeface="Calibri"/>
              </a:rPr>
              <a:t>e</a:t>
            </a:r>
            <a:r>
              <a:rPr sz="2700" spc="-25" dirty="0">
                <a:latin typeface="Calibri"/>
                <a:cs typeface="Calibri"/>
              </a:rPr>
              <a:t>v</a:t>
            </a:r>
            <a:r>
              <a:rPr sz="2700" spc="5" dirty="0">
                <a:latin typeface="Calibri"/>
                <a:cs typeface="Calibri"/>
              </a:rPr>
              <a:t>elop</a:t>
            </a:r>
            <a:r>
              <a:rPr sz="2700" spc="-5" dirty="0">
                <a:latin typeface="Calibri"/>
                <a:cs typeface="Calibri"/>
              </a:rPr>
              <a:t>ed.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697953"/>
            <a:ext cx="2720086" cy="8181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6055" y="1703793"/>
            <a:ext cx="2942590" cy="8181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5854" y="680610"/>
            <a:ext cx="8359140" cy="37852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89560" indent="-27749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0195" algn="l"/>
              </a:tabLst>
            </a:pPr>
            <a:r>
              <a:rPr sz="2900" spc="-5" dirty="0">
                <a:latin typeface="Calibri"/>
                <a:cs typeface="Calibri"/>
              </a:rPr>
              <a:t>Development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20" dirty="0">
                <a:latin typeface="Calibri"/>
                <a:cs typeface="Calibri"/>
              </a:rPr>
              <a:t> Validation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(</a:t>
            </a:r>
            <a:r>
              <a:rPr sz="2900" dirty="0">
                <a:solidFill>
                  <a:srgbClr val="800000"/>
                </a:solidFill>
                <a:latin typeface="Calibri"/>
                <a:cs typeface="Calibri"/>
              </a:rPr>
              <a:t>Third</a:t>
            </a:r>
            <a:r>
              <a:rPr sz="2900" spc="-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800000"/>
                </a:solidFill>
                <a:latin typeface="Calibri"/>
                <a:cs typeface="Calibri"/>
              </a:rPr>
              <a:t>quadrant</a:t>
            </a:r>
            <a:r>
              <a:rPr sz="2900" spc="-10" dirty="0">
                <a:latin typeface="Calibri"/>
                <a:cs typeface="Calibri"/>
              </a:rPr>
              <a:t>):</a:t>
            </a:r>
            <a:endParaRPr sz="2900" dirty="0">
              <a:latin typeface="Calibri"/>
              <a:cs typeface="Calibri"/>
            </a:endParaRPr>
          </a:p>
          <a:p>
            <a:pPr marL="686435" lvl="1" indent="-306070">
              <a:lnSpc>
                <a:spcPct val="100000"/>
              </a:lnSpc>
              <a:spcBef>
                <a:spcPts val="710"/>
              </a:spcBef>
              <a:buFont typeface="Arial MT"/>
              <a:buChar char="–"/>
              <a:tabLst>
                <a:tab pos="687070" algn="l"/>
                <a:tab pos="5843270" algn="l"/>
              </a:tabLst>
            </a:pPr>
            <a:r>
              <a:rPr sz="2600" spc="-10" dirty="0">
                <a:latin typeface="Calibri"/>
                <a:cs typeface="Calibri"/>
              </a:rPr>
              <a:t>develop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validate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next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level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	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product.</a:t>
            </a:r>
            <a:endParaRPr sz="2600" dirty="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90195" algn="l"/>
              </a:tabLst>
            </a:pPr>
            <a:r>
              <a:rPr sz="2900" spc="-20" dirty="0">
                <a:latin typeface="Calibri"/>
                <a:cs typeface="Calibri"/>
              </a:rPr>
              <a:t>Review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Planning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(</a:t>
            </a:r>
            <a:r>
              <a:rPr sz="2900" dirty="0">
                <a:solidFill>
                  <a:srgbClr val="800000"/>
                </a:solidFill>
                <a:latin typeface="Calibri"/>
                <a:cs typeface="Calibri"/>
              </a:rPr>
              <a:t>Fourth</a:t>
            </a:r>
            <a:r>
              <a:rPr sz="2900" spc="-4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900" spc="-5" dirty="0">
                <a:solidFill>
                  <a:srgbClr val="800000"/>
                </a:solidFill>
                <a:latin typeface="Calibri"/>
                <a:cs typeface="Calibri"/>
              </a:rPr>
              <a:t>quadrant</a:t>
            </a:r>
            <a:r>
              <a:rPr sz="2900" spc="-5" dirty="0">
                <a:latin typeface="Calibri"/>
                <a:cs typeface="Calibri"/>
              </a:rPr>
              <a:t>):</a:t>
            </a:r>
            <a:endParaRPr sz="2900" dirty="0">
              <a:latin typeface="Calibri"/>
              <a:cs typeface="Calibri"/>
            </a:endParaRPr>
          </a:p>
          <a:p>
            <a:pPr marL="613410" marR="5080" lvl="1" indent="-232410">
              <a:lnSpc>
                <a:spcPts val="2810"/>
              </a:lnSpc>
              <a:spcBef>
                <a:spcPts val="1065"/>
              </a:spcBef>
              <a:buFont typeface="Arial MT"/>
              <a:buChar char="–"/>
              <a:tabLst>
                <a:tab pos="614045" algn="l"/>
                <a:tab pos="2181860" algn="l"/>
                <a:tab pos="3225165" algn="l"/>
              </a:tabLst>
            </a:pPr>
            <a:r>
              <a:rPr sz="2600" spc="-15" dirty="0">
                <a:latin typeface="Calibri"/>
                <a:cs typeface="Calibri"/>
              </a:rPr>
              <a:t>review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	results	</a:t>
            </a:r>
            <a:r>
              <a:rPr sz="2600" spc="-10" dirty="0">
                <a:latin typeface="Calibri"/>
                <a:cs typeface="Calibri"/>
              </a:rPr>
              <a:t>achieved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with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customer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plan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next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iteration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around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spiral.</a:t>
            </a:r>
            <a:endParaRPr sz="2600" dirty="0">
              <a:latin typeface="Calibri"/>
              <a:cs typeface="Calibri"/>
            </a:endParaRPr>
          </a:p>
          <a:p>
            <a:pPr marL="289560" indent="-27749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90195" algn="l"/>
              </a:tabLst>
            </a:pPr>
            <a:r>
              <a:rPr sz="2900" spc="5" dirty="0">
                <a:latin typeface="Calibri"/>
                <a:cs typeface="Calibri"/>
              </a:rPr>
              <a:t>With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each </a:t>
            </a:r>
            <a:r>
              <a:rPr sz="2900" spc="-10" dirty="0">
                <a:latin typeface="Calibri"/>
                <a:cs typeface="Calibri"/>
              </a:rPr>
              <a:t>iteration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around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spiral:</a:t>
            </a:r>
            <a:endParaRPr sz="2900" dirty="0">
              <a:latin typeface="Calibri"/>
              <a:cs typeface="Calibri"/>
            </a:endParaRPr>
          </a:p>
          <a:p>
            <a:pPr marL="613410" marR="60325" lvl="1" indent="-232410">
              <a:lnSpc>
                <a:spcPts val="2810"/>
              </a:lnSpc>
              <a:spcBef>
                <a:spcPts val="1065"/>
              </a:spcBef>
              <a:buFont typeface="Arial MT"/>
              <a:buChar char="–"/>
              <a:tabLst>
                <a:tab pos="614045" algn="l"/>
              </a:tabLst>
            </a:pPr>
            <a:r>
              <a:rPr sz="2600" spc="-15" dirty="0">
                <a:latin typeface="Calibri"/>
                <a:cs typeface="Calibri"/>
              </a:rPr>
              <a:t>progressively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more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complete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version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software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gets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built.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05600" y="896111"/>
            <a:ext cx="2319655" cy="10058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0805" rIns="0" bIns="0" rtlCol="0">
            <a:spAutoFit/>
          </a:bodyPr>
          <a:lstStyle/>
          <a:p>
            <a:pPr marL="119380" marR="17145" indent="-94615">
              <a:lnSpc>
                <a:spcPts val="3140"/>
              </a:lnSpc>
              <a:spcBef>
                <a:spcPts val="715"/>
              </a:spcBef>
            </a:pPr>
            <a:r>
              <a:rPr sz="2800" b="1" spc="-10" dirty="0">
                <a:solidFill>
                  <a:srgbClr val="0033CC"/>
                </a:solidFill>
                <a:latin typeface="Calibri"/>
                <a:cs typeface="Calibri"/>
              </a:rPr>
              <a:t>Spiral</a:t>
            </a:r>
            <a:r>
              <a:rPr sz="2800" b="1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r>
              <a:rPr sz="2800" b="1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as </a:t>
            </a:r>
            <a:r>
              <a:rPr sz="2800" b="1" spc="-6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800" b="1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Calibri"/>
                <a:cs typeface="Calibri"/>
              </a:rPr>
              <a:t>Meta</a:t>
            </a:r>
            <a:r>
              <a:rPr sz="2800" b="1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854" y="138465"/>
            <a:ext cx="6452235" cy="2018664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72110" indent="-36004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72110" algn="l"/>
                <a:tab pos="372745" algn="l"/>
              </a:tabLst>
            </a:pPr>
            <a:r>
              <a:rPr sz="2800" spc="-10" dirty="0">
                <a:latin typeface="Calibri"/>
                <a:cs typeface="Calibri"/>
              </a:rPr>
              <a:t>Subsumes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5" dirty="0">
                <a:latin typeface="Calibri"/>
                <a:cs typeface="Calibri"/>
              </a:rPr>
              <a:t>discussed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models:</a:t>
            </a:r>
            <a:endParaRPr sz="28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1030"/>
              </a:spcBef>
              <a:buFont typeface="Arial MT"/>
              <a:buChar char="–"/>
              <a:tabLst>
                <a:tab pos="614045" algn="l"/>
                <a:tab pos="303212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spiral	</a:t>
            </a:r>
            <a:r>
              <a:rPr sz="2400" spc="-5" dirty="0">
                <a:latin typeface="Calibri"/>
                <a:cs typeface="Calibri"/>
              </a:rPr>
              <a:t>represents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waterfall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613410" lvl="1" indent="-233045">
              <a:lnSpc>
                <a:spcPct val="100000"/>
              </a:lnSpc>
              <a:spcBef>
                <a:spcPts val="1005"/>
              </a:spcBef>
              <a:buFont typeface="Arial MT"/>
              <a:buChar char="–"/>
              <a:tabLst>
                <a:tab pos="614045" algn="l"/>
                <a:tab pos="4540250" algn="l"/>
              </a:tabLst>
            </a:pP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evolutionary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	</a:t>
            </a:r>
            <a:r>
              <a:rPr sz="2400" spc="5" dirty="0">
                <a:latin typeface="Calibri"/>
                <a:cs typeface="Calibri"/>
              </a:rPr>
              <a:t>--</a:t>
            </a:r>
            <a:endParaRPr sz="2400">
              <a:latin typeface="Calibri"/>
              <a:cs typeface="Calibri"/>
            </a:endParaRPr>
          </a:p>
          <a:p>
            <a:pPr marL="939165" lvl="2" indent="-18669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939800" algn="l"/>
              </a:tabLst>
            </a:pPr>
            <a:r>
              <a:rPr sz="2000" spc="-15" dirty="0">
                <a:latin typeface="Calibri"/>
                <a:cs typeface="Calibri"/>
              </a:rPr>
              <a:t>iterations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over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spiral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 evolutionary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levels.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662" y="2254453"/>
            <a:ext cx="8415655" cy="209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245110" algn="l"/>
                <a:tab pos="3732529" algn="l"/>
                <a:tab pos="7339965" algn="l"/>
              </a:tabLst>
            </a:pP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	</a:t>
            </a:r>
            <a:r>
              <a:rPr sz="2400" spc="-5" dirty="0">
                <a:latin typeface="Calibri"/>
                <a:cs typeface="Calibri"/>
              </a:rPr>
              <a:t>reacting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risks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	</a:t>
            </a:r>
            <a:r>
              <a:rPr sz="2400" spc="-10" dirty="0">
                <a:latin typeface="Calibri"/>
                <a:cs typeface="Calibri"/>
              </a:rPr>
              <a:t>iteration</a:t>
            </a:r>
            <a:endParaRPr sz="2400">
              <a:latin typeface="Calibri"/>
              <a:cs typeface="Calibri"/>
            </a:endParaRPr>
          </a:p>
          <a:p>
            <a:pPr marL="24447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along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spiral.</a:t>
            </a:r>
            <a:endParaRPr sz="24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245110" algn="l"/>
              </a:tabLst>
            </a:pPr>
            <a:r>
              <a:rPr sz="2400" spc="-5" dirty="0">
                <a:latin typeface="Calibri"/>
                <a:cs typeface="Calibri"/>
              </a:rPr>
              <a:t>Uses:</a:t>
            </a:r>
            <a:endParaRPr sz="2400">
              <a:latin typeface="Calibri"/>
              <a:cs typeface="Calibri"/>
            </a:endParaRPr>
          </a:p>
          <a:p>
            <a:pPr marL="570230" lvl="1" indent="-186055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570865" algn="l"/>
              </a:tabLst>
            </a:pPr>
            <a:r>
              <a:rPr sz="2000" spc="-10" dirty="0">
                <a:latin typeface="Calibri"/>
                <a:cs typeface="Calibri"/>
              </a:rPr>
              <a:t>prototyping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risk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reduction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mechanism</a:t>
            </a:r>
            <a:endParaRPr sz="2000">
              <a:latin typeface="Calibri"/>
              <a:cs typeface="Calibri"/>
            </a:endParaRPr>
          </a:p>
          <a:p>
            <a:pPr marL="570230" lvl="1" indent="-18605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570865" algn="l"/>
              </a:tabLst>
            </a:pPr>
            <a:r>
              <a:rPr sz="2000" spc="-10" dirty="0">
                <a:latin typeface="Calibri"/>
                <a:cs typeface="Calibri"/>
              </a:rPr>
              <a:t>retains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step-wise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approach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waterfall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2414" y="4702860"/>
            <a:ext cx="61087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15" dirty="0">
                <a:latin typeface="Arial MT"/>
                <a:cs typeface="Arial MT"/>
              </a:rPr>
              <a:t>7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18</a:t>
            </a:r>
            <a:r>
              <a:rPr sz="1000" spc="5" dirty="0">
                <a:latin typeface="Arial MT"/>
                <a:cs typeface="Arial MT"/>
              </a:rPr>
              <a:t>/</a:t>
            </a:r>
            <a:r>
              <a:rPr sz="1000" spc="15" dirty="0">
                <a:latin typeface="Arial MT"/>
                <a:cs typeface="Arial MT"/>
              </a:rPr>
              <a:t>2020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9427" y="1431035"/>
            <a:ext cx="4654550" cy="117983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3855">
              <a:lnSpc>
                <a:spcPts val="6520"/>
              </a:lnSpc>
              <a:tabLst>
                <a:tab pos="2129155" algn="l"/>
              </a:tabLst>
            </a:pPr>
            <a:r>
              <a:rPr sz="5500" dirty="0">
                <a:solidFill>
                  <a:srgbClr val="0000FF"/>
                </a:solidFill>
              </a:rPr>
              <a:t>Agile	</a:t>
            </a:r>
            <a:r>
              <a:rPr sz="5500" spc="-10" dirty="0">
                <a:solidFill>
                  <a:srgbClr val="0000FF"/>
                </a:solidFill>
              </a:rPr>
              <a:t>Models</a:t>
            </a:r>
            <a:endParaRPr sz="5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266549"/>
            <a:ext cx="7477759" cy="36601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669414">
              <a:lnSpc>
                <a:spcPct val="100000"/>
              </a:lnSpc>
              <a:spcBef>
                <a:spcPts val="790"/>
              </a:spcBef>
            </a:pPr>
            <a:r>
              <a:rPr sz="2700" b="1" dirty="0">
                <a:latin typeface="Calibri"/>
                <a:cs typeface="Calibri"/>
              </a:rPr>
              <a:t>What is </a:t>
            </a:r>
            <a:r>
              <a:rPr sz="2700" b="1" spc="5" dirty="0">
                <a:latin typeface="Calibri"/>
                <a:cs typeface="Calibri"/>
              </a:rPr>
              <a:t>Agile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Software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Development?</a:t>
            </a:r>
            <a:endParaRPr sz="2700">
              <a:latin typeface="Calibri"/>
              <a:cs typeface="Calibri"/>
            </a:endParaRPr>
          </a:p>
          <a:p>
            <a:pPr marL="356870" marR="5080" indent="-344805">
              <a:lnSpc>
                <a:spcPct val="115100"/>
              </a:lnSpc>
              <a:spcBef>
                <a:spcPts val="204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Agile:</a:t>
            </a:r>
            <a:r>
              <a:rPr sz="2800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Easily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moved,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light,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nimble,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active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software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00CC"/>
              </a:buClr>
              <a:buFont typeface="Arial MT"/>
              <a:buChar char="•"/>
            </a:pPr>
            <a:endParaRPr sz="20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How</a:t>
            </a:r>
            <a:r>
              <a:rPr sz="28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agility</a:t>
            </a:r>
            <a:r>
              <a:rPr sz="2800" spc="-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achieved?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35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5" dirty="0">
                <a:latin typeface="Calibri"/>
                <a:cs typeface="Calibri"/>
              </a:rPr>
              <a:t>Fitting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process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project</a:t>
            </a:r>
            <a:endParaRPr sz="2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5"/>
              </a:spcBef>
              <a:buFont typeface="Arial MT"/>
              <a:buChar char="–"/>
              <a:tabLst>
                <a:tab pos="756920" algn="l"/>
              </a:tabLst>
            </a:pPr>
            <a:r>
              <a:rPr sz="2500" spc="-10" dirty="0">
                <a:latin typeface="Calibri"/>
                <a:cs typeface="Calibri"/>
              </a:rPr>
              <a:t>Avoidance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things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that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waste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time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7778" y="163525"/>
            <a:ext cx="1971675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5" dirty="0">
                <a:solidFill>
                  <a:srgbClr val="000000"/>
                </a:solidFill>
              </a:rPr>
              <a:t>Agile</a:t>
            </a:r>
            <a:r>
              <a:rPr sz="3050" spc="-9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Model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55" y="636660"/>
            <a:ext cx="8587740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139825" indent="-344805">
              <a:lnSpc>
                <a:spcPct val="1103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105" dirty="0">
                <a:latin typeface="Calibri"/>
                <a:cs typeface="Calibri"/>
              </a:rPr>
              <a:t>To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overcome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shortcomings</a:t>
            </a:r>
            <a:r>
              <a:rPr sz="2450" dirty="0">
                <a:latin typeface="Calibri"/>
                <a:cs typeface="Calibri"/>
              </a:rPr>
              <a:t> of the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waterfall </a:t>
            </a:r>
            <a:r>
              <a:rPr sz="2450" spc="-5" dirty="0">
                <a:latin typeface="Calibri"/>
                <a:cs typeface="Calibri"/>
              </a:rPr>
              <a:t>model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development.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0" dirty="0">
                <a:latin typeface="Calibri"/>
                <a:cs typeface="Calibri"/>
              </a:rPr>
              <a:t>Proposed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</a:t>
            </a:r>
            <a:r>
              <a:rPr sz="2150" spc="47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mid-1990s</a:t>
            </a:r>
            <a:endParaRPr sz="21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dirty="0">
                <a:latin typeface="Calibri"/>
                <a:cs typeface="Calibri"/>
              </a:rPr>
              <a:t>The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agile </a:t>
            </a:r>
            <a:r>
              <a:rPr sz="2450" dirty="0">
                <a:latin typeface="Calibri"/>
                <a:cs typeface="Calibri"/>
              </a:rPr>
              <a:t>model</a:t>
            </a:r>
            <a:r>
              <a:rPr sz="2450" spc="-10" dirty="0">
                <a:latin typeface="Calibri"/>
                <a:cs typeface="Calibri"/>
              </a:rPr>
              <a:t> was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primarily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designed: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-85" dirty="0">
                <a:latin typeface="Calibri"/>
                <a:cs typeface="Calibri"/>
              </a:rPr>
              <a:t>To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help</a:t>
            </a:r>
            <a:r>
              <a:rPr sz="2150" spc="49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projects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adapt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change</a:t>
            </a:r>
            <a:r>
              <a:rPr sz="2150" spc="5" dirty="0">
                <a:latin typeface="Calibri"/>
                <a:cs typeface="Calibri"/>
              </a:rPr>
              <a:t> requests</a:t>
            </a:r>
            <a:endParaRPr sz="21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dirty="0">
                <a:latin typeface="Calibri"/>
                <a:cs typeface="Calibri"/>
              </a:rPr>
              <a:t>In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agile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model:</a:t>
            </a:r>
            <a:endParaRPr sz="2450">
              <a:latin typeface="Calibri"/>
              <a:cs typeface="Calibri"/>
            </a:endParaRPr>
          </a:p>
          <a:p>
            <a:pPr marL="756285" marR="5080" lvl="1" indent="-287020">
              <a:lnSpc>
                <a:spcPct val="111700"/>
              </a:lnSpc>
              <a:spcBef>
                <a:spcPts val="97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 requirements</a:t>
            </a:r>
            <a:r>
              <a:rPr sz="215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15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decomposed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many</a:t>
            </a:r>
            <a:r>
              <a:rPr sz="21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small</a:t>
            </a:r>
            <a:r>
              <a:rPr sz="215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incremental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parts </a:t>
            </a:r>
            <a:r>
              <a:rPr sz="2150" spc="-4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215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be developed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over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one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four</a:t>
            </a:r>
            <a:r>
              <a:rPr sz="21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weeks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each.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242" y="226009"/>
            <a:ext cx="4413250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-5" dirty="0">
                <a:solidFill>
                  <a:srgbClr val="000000"/>
                </a:solidFill>
              </a:rPr>
              <a:t>Ideology:</a:t>
            </a:r>
            <a:r>
              <a:rPr sz="3250" spc="40" dirty="0">
                <a:solidFill>
                  <a:srgbClr val="000000"/>
                </a:solidFill>
              </a:rPr>
              <a:t> </a:t>
            </a:r>
            <a:r>
              <a:rPr sz="3250" spc="-10" dirty="0">
                <a:solidFill>
                  <a:srgbClr val="000000"/>
                </a:solidFill>
              </a:rPr>
              <a:t>Agile</a:t>
            </a:r>
            <a:r>
              <a:rPr sz="3250" spc="25" dirty="0">
                <a:solidFill>
                  <a:srgbClr val="000000"/>
                </a:solidFill>
              </a:rPr>
              <a:t> </a:t>
            </a:r>
            <a:r>
              <a:rPr sz="3250" spc="-15" dirty="0">
                <a:solidFill>
                  <a:srgbClr val="000000"/>
                </a:solidFill>
              </a:rPr>
              <a:t>Manifesto</a:t>
            </a:r>
            <a:endParaRPr sz="325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pc="-15" dirty="0"/>
              <a:t>Customer </a:t>
            </a:r>
            <a:r>
              <a:rPr spc="-10" dirty="0"/>
              <a:t>collaboration</a:t>
            </a:r>
            <a:r>
              <a:rPr spc="-15" dirty="0"/>
              <a:t> </a:t>
            </a:r>
            <a:r>
              <a:rPr i="1" spc="-10" dirty="0">
                <a:solidFill>
                  <a:srgbClr val="000000"/>
                </a:solidFill>
                <a:latin typeface="Calibri"/>
                <a:cs typeface="Calibri"/>
              </a:rPr>
              <a:t>over</a:t>
            </a:r>
          </a:p>
          <a:p>
            <a:pPr marL="518795" lvl="1" indent="-287655">
              <a:lnSpc>
                <a:spcPct val="100000"/>
              </a:lnSpc>
              <a:spcBef>
                <a:spcPts val="465"/>
              </a:spcBef>
              <a:buFont typeface="Arial MT"/>
              <a:buChar char="–"/>
              <a:tabLst>
                <a:tab pos="519430" algn="l"/>
              </a:tabLst>
            </a:pPr>
            <a:r>
              <a:rPr sz="2300" spc="-15" dirty="0">
                <a:latin typeface="Calibri"/>
                <a:cs typeface="Calibri"/>
              </a:rPr>
              <a:t>contract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negotiation</a:t>
            </a: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pc="-10" dirty="0"/>
              <a:t>Responding</a:t>
            </a:r>
            <a:r>
              <a:rPr spc="-45" dirty="0"/>
              <a:t> </a:t>
            </a:r>
            <a:r>
              <a:rPr spc="-15" dirty="0"/>
              <a:t>to</a:t>
            </a:r>
            <a:r>
              <a:rPr spc="-20" dirty="0"/>
              <a:t> </a:t>
            </a:r>
            <a:r>
              <a:rPr spc="-5" dirty="0"/>
              <a:t>change</a:t>
            </a:r>
            <a:r>
              <a:rPr spc="25" dirty="0"/>
              <a:t> </a:t>
            </a:r>
            <a:r>
              <a:rPr i="1" spc="-10" dirty="0">
                <a:solidFill>
                  <a:srgbClr val="000000"/>
                </a:solidFill>
                <a:latin typeface="Calibri"/>
                <a:cs typeface="Calibri"/>
              </a:rPr>
              <a:t>over</a:t>
            </a:r>
          </a:p>
          <a:p>
            <a:pPr marL="518795" lvl="1" indent="-287655">
              <a:lnSpc>
                <a:spcPct val="100000"/>
              </a:lnSpc>
              <a:spcBef>
                <a:spcPts val="470"/>
              </a:spcBef>
              <a:buFont typeface="Arial MT"/>
              <a:buChar char="–"/>
              <a:tabLst>
                <a:tab pos="519430" algn="l"/>
              </a:tabLst>
            </a:pPr>
            <a:r>
              <a:rPr sz="2300" spc="-5" dirty="0">
                <a:latin typeface="Calibri"/>
                <a:cs typeface="Calibri"/>
              </a:rPr>
              <a:t>following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plan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758179"/>
            <a:ext cx="4545330" cy="17208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Individuals</a:t>
            </a:r>
            <a:r>
              <a:rPr sz="25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5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interactions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over</a:t>
            </a:r>
            <a:endParaRPr sz="2500">
              <a:latin typeface="Calibri"/>
              <a:cs typeface="Calibri"/>
            </a:endParaRPr>
          </a:p>
          <a:p>
            <a:pPr marL="518795" lvl="1" indent="-287655">
              <a:lnSpc>
                <a:spcPct val="100000"/>
              </a:lnSpc>
              <a:spcBef>
                <a:spcPts val="465"/>
              </a:spcBef>
              <a:buFont typeface="Arial MT"/>
              <a:buChar char="–"/>
              <a:tabLst>
                <a:tab pos="519430" algn="l"/>
              </a:tabLst>
            </a:pPr>
            <a:r>
              <a:rPr sz="2300" spc="-5" dirty="0">
                <a:latin typeface="Calibri"/>
                <a:cs typeface="Calibri"/>
              </a:rPr>
              <a:t>process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and tools</a:t>
            </a: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500" spc="-20" dirty="0">
                <a:solidFill>
                  <a:srgbClr val="0000FF"/>
                </a:solidFill>
                <a:latin typeface="Calibri"/>
                <a:cs typeface="Calibri"/>
              </a:rPr>
              <a:t>Working</a:t>
            </a:r>
            <a:r>
              <a:rPr sz="25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5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i="1" spc="-10" dirty="0">
                <a:latin typeface="Calibri"/>
                <a:cs typeface="Calibri"/>
              </a:rPr>
              <a:t>over</a:t>
            </a:r>
            <a:endParaRPr sz="2500">
              <a:latin typeface="Calibri"/>
              <a:cs typeface="Calibri"/>
            </a:endParaRPr>
          </a:p>
          <a:p>
            <a:pPr marL="585470" lvl="1" indent="-354330">
              <a:lnSpc>
                <a:spcPct val="100000"/>
              </a:lnSpc>
              <a:spcBef>
                <a:spcPts val="465"/>
              </a:spcBef>
              <a:buFont typeface="Arial MT"/>
              <a:buChar char="–"/>
              <a:tabLst>
                <a:tab pos="585470" algn="l"/>
                <a:tab pos="586105" algn="l"/>
              </a:tabLst>
            </a:pPr>
            <a:r>
              <a:rPr sz="2300" spc="-10" dirty="0">
                <a:latin typeface="Calibri"/>
                <a:cs typeface="Calibri"/>
              </a:rPr>
              <a:t>comprehensive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documentation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3400" y="3410711"/>
            <a:ext cx="3792220" cy="3263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6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15"/>
              </a:spcBef>
            </a:pPr>
            <a:r>
              <a:rPr sz="1600" b="1" i="1" spc="10" dirty="0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http://www.agilemanifesto.org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7848" y="305765"/>
            <a:ext cx="35058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alibri"/>
                <a:cs typeface="Calibri"/>
              </a:rPr>
              <a:t>Agile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Methodologies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644" y="0"/>
            <a:ext cx="2914650" cy="4276090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XP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5" dirty="0">
                <a:latin typeface="Calibri"/>
                <a:cs typeface="Calibri"/>
              </a:rPr>
              <a:t>Scrum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alibri"/>
                <a:cs typeface="Calibri"/>
              </a:rPr>
              <a:t>Unified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process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7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20" dirty="0">
                <a:latin typeface="Calibri"/>
                <a:cs typeface="Calibri"/>
              </a:rPr>
              <a:t>Crystal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DSDM</a:t>
            </a:r>
            <a:endParaRPr sz="3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Lean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782" y="224484"/>
            <a:ext cx="5452110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5" dirty="0">
                <a:solidFill>
                  <a:srgbClr val="000000"/>
                </a:solidFill>
              </a:rPr>
              <a:t>Agile</a:t>
            </a:r>
            <a:r>
              <a:rPr sz="3050" spc="-5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Model:</a:t>
            </a:r>
            <a:r>
              <a:rPr sz="3050" spc="-4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Principal</a:t>
            </a:r>
            <a:r>
              <a:rPr sz="3050" spc="-100" dirty="0">
                <a:solidFill>
                  <a:srgbClr val="000000"/>
                </a:solidFill>
              </a:rPr>
              <a:t> </a:t>
            </a:r>
            <a:r>
              <a:rPr sz="3050" spc="-20" dirty="0">
                <a:solidFill>
                  <a:srgbClr val="000000"/>
                </a:solidFill>
              </a:rPr>
              <a:t>Techniques</a:t>
            </a:r>
            <a:endParaRPr sz="3050"/>
          </a:p>
        </p:txBody>
      </p:sp>
      <p:sp>
        <p:nvSpPr>
          <p:cNvPr id="5" name="object 5"/>
          <p:cNvSpPr txBox="1"/>
          <p:nvPr/>
        </p:nvSpPr>
        <p:spPr>
          <a:xfrm>
            <a:off x="7972806" y="4727168"/>
            <a:ext cx="638175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35"/>
              </a:lnSpc>
            </a:pPr>
            <a:r>
              <a:rPr sz="3200" b="1" spc="-20" dirty="0">
                <a:solidFill>
                  <a:srgbClr val="888888"/>
                </a:solidFill>
                <a:latin typeface="Calibri"/>
                <a:cs typeface="Calibri"/>
              </a:rPr>
              <a:t>146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40207"/>
            <a:ext cx="188277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b="1" spc="-5" dirty="0">
                <a:solidFill>
                  <a:srgbClr val="0000FF"/>
                </a:solidFill>
                <a:latin typeface="Calibri"/>
                <a:cs typeface="Calibri"/>
              </a:rPr>
              <a:t>User</a:t>
            </a:r>
            <a:r>
              <a:rPr sz="23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0000FF"/>
                </a:solidFill>
                <a:latin typeface="Calibri"/>
                <a:cs typeface="Calibri"/>
              </a:rPr>
              <a:t>stories: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906393"/>
            <a:ext cx="8854440" cy="32111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45"/>
              </a:spcBef>
              <a:tabLst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–	</a:t>
            </a:r>
            <a:r>
              <a:rPr sz="2000" spc="-10" dirty="0">
                <a:latin typeface="Calibri"/>
                <a:cs typeface="Calibri"/>
              </a:rPr>
              <a:t>Simpler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cases.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b="1" spc="-10" dirty="0">
                <a:solidFill>
                  <a:srgbClr val="0000FF"/>
                </a:solidFill>
                <a:latin typeface="Calibri"/>
                <a:cs typeface="Calibri"/>
              </a:rPr>
              <a:t>Metaphors: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Based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stories,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developers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propose</a:t>
            </a:r>
            <a:r>
              <a:rPr sz="2000" spc="-5" dirty="0">
                <a:latin typeface="Calibri"/>
                <a:cs typeface="Calibri"/>
              </a:rPr>
              <a:t> 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common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what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latin typeface="Calibri"/>
                <a:cs typeface="Calibri"/>
              </a:rPr>
              <a:t>required.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b="1" spc="-15" dirty="0">
                <a:solidFill>
                  <a:srgbClr val="0000FF"/>
                </a:solidFill>
                <a:latin typeface="Calibri"/>
                <a:cs typeface="Calibri"/>
              </a:rPr>
              <a:t>Spike: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Simple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program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explore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potential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solutions.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b="1" spc="-20" dirty="0">
                <a:solidFill>
                  <a:srgbClr val="0000FF"/>
                </a:solidFill>
                <a:latin typeface="Calibri"/>
                <a:cs typeface="Calibri"/>
              </a:rPr>
              <a:t>Refactor: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latin typeface="Calibri"/>
                <a:cs typeface="Calibri"/>
              </a:rPr>
              <a:t>Restructure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without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affecting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behavior,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improve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efficiency,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4592" y="1082116"/>
            <a:ext cx="41624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Agile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Model:</a:t>
            </a:r>
            <a:r>
              <a:rPr sz="3200" spc="15" dirty="0">
                <a:solidFill>
                  <a:srgbClr val="000000"/>
                </a:solidFill>
              </a:rPr>
              <a:t> </a:t>
            </a:r>
            <a:r>
              <a:rPr sz="3200" spc="-15" dirty="0">
                <a:solidFill>
                  <a:srgbClr val="000000"/>
                </a:solidFill>
              </a:rPr>
              <a:t>Nitty</a:t>
            </a:r>
            <a:r>
              <a:rPr sz="3200" dirty="0">
                <a:solidFill>
                  <a:srgbClr val="000000"/>
                </a:solidFill>
              </a:rPr>
              <a:t> </a:t>
            </a:r>
            <a:r>
              <a:rPr sz="3200" spc="-15" dirty="0">
                <a:solidFill>
                  <a:srgbClr val="000000"/>
                </a:solidFill>
              </a:rPr>
              <a:t>Gritty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265379"/>
            <a:ext cx="7028815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25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spc="-40" dirty="0">
                <a:latin typeface="Calibri"/>
                <a:cs typeface="Calibri"/>
              </a:rPr>
              <a:t>At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time,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only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one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increment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planned,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developed,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deployed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at</a:t>
            </a:r>
            <a:r>
              <a:rPr sz="2450" spc="-5" dirty="0">
                <a:latin typeface="Calibri"/>
                <a:cs typeface="Calibri"/>
              </a:rPr>
              <a:t> the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customer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site.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444" y="1462785"/>
            <a:ext cx="3735704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99085" algn="l"/>
              </a:tabLst>
            </a:pPr>
            <a:r>
              <a:rPr sz="2150" spc="15" dirty="0">
                <a:solidFill>
                  <a:srgbClr val="0000FF"/>
                </a:solidFill>
                <a:latin typeface="Arial MT"/>
                <a:cs typeface="Arial MT"/>
              </a:rPr>
              <a:t>–	</a:t>
            </a:r>
            <a:r>
              <a:rPr sz="2150" b="1" spc="20" dirty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sz="215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long-term</a:t>
            </a:r>
            <a:r>
              <a:rPr sz="215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0000FF"/>
                </a:solidFill>
                <a:latin typeface="Calibri"/>
                <a:cs typeface="Calibri"/>
              </a:rPr>
              <a:t>plans</a:t>
            </a:r>
            <a:r>
              <a:rPr sz="215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15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0000FF"/>
                </a:solidFill>
                <a:latin typeface="Calibri"/>
                <a:cs typeface="Calibri"/>
              </a:rPr>
              <a:t>made.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2060270"/>
            <a:ext cx="7393305" cy="199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50" dirty="0">
                <a:latin typeface="Calibri"/>
                <a:cs typeface="Calibri"/>
              </a:rPr>
              <a:t>An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iteration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may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not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add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significant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functionality,</a:t>
            </a:r>
            <a:endParaRPr sz="2450">
              <a:latin typeface="Calibri"/>
              <a:cs typeface="Calibri"/>
            </a:endParaRPr>
          </a:p>
          <a:p>
            <a:pPr marL="756285" marR="5080" lvl="1" indent="-287020">
              <a:lnSpc>
                <a:spcPct val="126600"/>
              </a:lnSpc>
              <a:spcBef>
                <a:spcPts val="142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5" dirty="0">
                <a:latin typeface="Calibri"/>
                <a:cs typeface="Calibri"/>
              </a:rPr>
              <a:t>But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still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new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release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invariably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made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at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end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of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each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iteration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 MT"/>
              <a:buChar char="–"/>
            </a:pPr>
            <a:endParaRPr sz="1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5" dirty="0">
                <a:latin typeface="Calibri"/>
                <a:cs typeface="Calibri"/>
              </a:rPr>
              <a:t>Delivered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customer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for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regular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use.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7841" y="176606"/>
            <a:ext cx="2591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M</a:t>
            </a:r>
            <a:r>
              <a:rPr spc="-15" dirty="0">
                <a:solidFill>
                  <a:srgbClr val="000000"/>
                </a:solidFill>
              </a:rPr>
              <a:t>e</a:t>
            </a:r>
            <a:r>
              <a:rPr dirty="0">
                <a:solidFill>
                  <a:srgbClr val="000000"/>
                </a:solidFill>
              </a:rPr>
              <a:t>th</a:t>
            </a:r>
            <a:r>
              <a:rPr spc="10" dirty="0">
                <a:solidFill>
                  <a:srgbClr val="000000"/>
                </a:solidFill>
              </a:rPr>
              <a:t>o</a:t>
            </a:r>
            <a:r>
              <a:rPr dirty="0">
                <a:solidFill>
                  <a:srgbClr val="000000"/>
                </a:solidFill>
              </a:rPr>
              <a:t>d</a:t>
            </a:r>
            <a:r>
              <a:rPr spc="10" dirty="0">
                <a:solidFill>
                  <a:srgbClr val="000000"/>
                </a:solidFill>
              </a:rPr>
              <a:t>o</a:t>
            </a:r>
            <a:r>
              <a:rPr dirty="0">
                <a:solidFill>
                  <a:srgbClr val="000000"/>
                </a:solidFill>
              </a:rPr>
              <a:t>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32216"/>
            <a:ext cx="8470900" cy="363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609600" indent="-344805">
              <a:lnSpc>
                <a:spcPct val="1201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Face-to-face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communication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favoured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over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written </a:t>
            </a:r>
            <a:r>
              <a:rPr sz="2800" b="1" spc="-6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documents.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2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facilitate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face-to-face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communication,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24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office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1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5" dirty="0">
                <a:latin typeface="Calibri"/>
                <a:cs typeface="Calibri"/>
              </a:rPr>
              <a:t>Team</a:t>
            </a:r>
            <a:r>
              <a:rPr sz="2400" spc="-15" dirty="0">
                <a:latin typeface="Calibri"/>
                <a:cs typeface="Calibri"/>
              </a:rPr>
              <a:t> size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deliberately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kept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(5-9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people)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ct val="120100"/>
              </a:lnSpc>
              <a:spcBef>
                <a:spcPts val="6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makes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agile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" dirty="0">
                <a:latin typeface="Calibri"/>
                <a:cs typeface="Calibri"/>
              </a:rPr>
              <a:t> most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suited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projects.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587" y="12314"/>
            <a:ext cx="8431530" cy="3754120"/>
            <a:chOff x="676587" y="12314"/>
            <a:chExt cx="8431530" cy="3754120"/>
          </a:xfrm>
        </p:grpSpPr>
        <p:sp>
          <p:nvSpPr>
            <p:cNvPr id="3" name="object 3"/>
            <p:cNvSpPr/>
            <p:nvPr/>
          </p:nvSpPr>
          <p:spPr>
            <a:xfrm>
              <a:off x="753170" y="130477"/>
              <a:ext cx="0" cy="3592829"/>
            </a:xfrm>
            <a:custGeom>
              <a:avLst/>
              <a:gdLst/>
              <a:ahLst/>
              <a:cxnLst/>
              <a:rect l="l" t="t" r="r" b="b"/>
              <a:pathLst>
                <a:path h="3592829">
                  <a:moveTo>
                    <a:pt x="0" y="0"/>
                  </a:moveTo>
                  <a:lnTo>
                    <a:pt x="0" y="3592750"/>
                  </a:lnTo>
                </a:path>
              </a:pathLst>
            </a:custGeom>
            <a:ln w="41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587" y="12314"/>
              <a:ext cx="153670" cy="128905"/>
            </a:xfrm>
            <a:custGeom>
              <a:avLst/>
              <a:gdLst/>
              <a:ahLst/>
              <a:cxnLst/>
              <a:rect l="l" t="t" r="r" b="b"/>
              <a:pathLst>
                <a:path w="153669" h="128905">
                  <a:moveTo>
                    <a:pt x="76582" y="0"/>
                  </a:moveTo>
                  <a:lnTo>
                    <a:pt x="0" y="128905"/>
                  </a:lnTo>
                  <a:lnTo>
                    <a:pt x="153164" y="128905"/>
                  </a:lnTo>
                  <a:lnTo>
                    <a:pt x="765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3170" y="3723227"/>
              <a:ext cx="8143875" cy="0"/>
            </a:xfrm>
            <a:custGeom>
              <a:avLst/>
              <a:gdLst/>
              <a:ahLst/>
              <a:cxnLst/>
              <a:rect l="l" t="t" r="r" b="b"/>
              <a:pathLst>
                <a:path w="8143875">
                  <a:moveTo>
                    <a:pt x="0" y="0"/>
                  </a:moveTo>
                  <a:lnTo>
                    <a:pt x="8143744" y="0"/>
                  </a:lnTo>
                </a:path>
              </a:pathLst>
            </a:custGeom>
            <a:ln w="234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77768" y="3680259"/>
              <a:ext cx="229870" cy="86360"/>
            </a:xfrm>
            <a:custGeom>
              <a:avLst/>
              <a:gdLst/>
              <a:ahLst/>
              <a:cxnLst/>
              <a:rect l="l" t="t" r="r" b="b"/>
              <a:pathLst>
                <a:path w="229870" h="86360">
                  <a:moveTo>
                    <a:pt x="0" y="0"/>
                  </a:moveTo>
                  <a:lnTo>
                    <a:pt x="0" y="85936"/>
                  </a:lnTo>
                  <a:lnTo>
                    <a:pt x="229747" y="42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238" y="925333"/>
            <a:ext cx="285115" cy="188531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15"/>
              </a:lnSpc>
            </a:pPr>
            <a:r>
              <a:rPr sz="1800" b="1" dirty="0">
                <a:latin typeface="Arial"/>
                <a:cs typeface="Arial"/>
              </a:rPr>
              <a:t>Communication</a:t>
            </a:r>
            <a:r>
              <a:rPr sz="1800" b="1" spc="-2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Effectiveness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280" y="3727886"/>
            <a:ext cx="54102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b="1" spc="595" dirty="0">
                <a:latin typeface="Arial"/>
                <a:cs typeface="Arial"/>
              </a:rPr>
              <a:t>C</a:t>
            </a:r>
            <a:r>
              <a:rPr sz="1000" b="1" spc="409" dirty="0">
                <a:latin typeface="Arial"/>
                <a:cs typeface="Arial"/>
              </a:rPr>
              <a:t>old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069" y="3727886"/>
            <a:ext cx="412115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b="1" spc="595" dirty="0">
                <a:latin typeface="Arial"/>
                <a:cs typeface="Arial"/>
              </a:rPr>
              <a:t>H</a:t>
            </a:r>
            <a:r>
              <a:rPr sz="1000" b="1" spc="390" dirty="0">
                <a:latin typeface="Arial"/>
                <a:cs typeface="Arial"/>
              </a:rPr>
              <a:t>ot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01271" y="109969"/>
            <a:ext cx="8006715" cy="3439160"/>
            <a:chOff x="1101271" y="109969"/>
            <a:chExt cx="8006715" cy="3439160"/>
          </a:xfrm>
        </p:grpSpPr>
        <p:sp>
          <p:nvSpPr>
            <p:cNvPr id="11" name="object 11"/>
            <p:cNvSpPr/>
            <p:nvPr/>
          </p:nvSpPr>
          <p:spPr>
            <a:xfrm>
              <a:off x="1308914" y="1977579"/>
              <a:ext cx="3369945" cy="1530985"/>
            </a:xfrm>
            <a:custGeom>
              <a:avLst/>
              <a:gdLst/>
              <a:ahLst/>
              <a:cxnLst/>
              <a:rect l="l" t="t" r="r" b="b"/>
              <a:pathLst>
                <a:path w="3369945" h="1530985">
                  <a:moveTo>
                    <a:pt x="0" y="1530610"/>
                  </a:moveTo>
                  <a:lnTo>
                    <a:pt x="58614" y="1524045"/>
                  </a:lnTo>
                  <a:lnTo>
                    <a:pt x="116976" y="1517067"/>
                  </a:lnTo>
                  <a:lnTo>
                    <a:pt x="175081" y="1509678"/>
                  </a:lnTo>
                  <a:lnTo>
                    <a:pt x="232922" y="1501881"/>
                  </a:lnTo>
                  <a:lnTo>
                    <a:pt x="290494" y="1493678"/>
                  </a:lnTo>
                  <a:lnTo>
                    <a:pt x="347791" y="1485072"/>
                  </a:lnTo>
                  <a:lnTo>
                    <a:pt x="404809" y="1476066"/>
                  </a:lnTo>
                  <a:lnTo>
                    <a:pt x="461541" y="1466662"/>
                  </a:lnTo>
                  <a:lnTo>
                    <a:pt x="517982" y="1456862"/>
                  </a:lnTo>
                  <a:lnTo>
                    <a:pt x="574127" y="1446669"/>
                  </a:lnTo>
                  <a:lnTo>
                    <a:pt x="629969" y="1436085"/>
                  </a:lnTo>
                  <a:lnTo>
                    <a:pt x="685503" y="1425113"/>
                  </a:lnTo>
                  <a:lnTo>
                    <a:pt x="740725" y="1413756"/>
                  </a:lnTo>
                  <a:lnTo>
                    <a:pt x="795627" y="1402016"/>
                  </a:lnTo>
                  <a:lnTo>
                    <a:pt x="850205" y="1389895"/>
                  </a:lnTo>
                  <a:lnTo>
                    <a:pt x="904454" y="1377397"/>
                  </a:lnTo>
                  <a:lnTo>
                    <a:pt x="958367" y="1364523"/>
                  </a:lnTo>
                  <a:lnTo>
                    <a:pt x="1011939" y="1351276"/>
                  </a:lnTo>
                  <a:lnTo>
                    <a:pt x="1065164" y="1337658"/>
                  </a:lnTo>
                  <a:lnTo>
                    <a:pt x="1118038" y="1323673"/>
                  </a:lnTo>
                  <a:lnTo>
                    <a:pt x="1170554" y="1309322"/>
                  </a:lnTo>
                  <a:lnTo>
                    <a:pt x="1222706" y="1294609"/>
                  </a:lnTo>
                  <a:lnTo>
                    <a:pt x="1274490" y="1279535"/>
                  </a:lnTo>
                  <a:lnTo>
                    <a:pt x="1325900" y="1264103"/>
                  </a:lnTo>
                  <a:lnTo>
                    <a:pt x="1376931" y="1248315"/>
                  </a:lnTo>
                  <a:lnTo>
                    <a:pt x="1427576" y="1232175"/>
                  </a:lnTo>
                  <a:lnTo>
                    <a:pt x="1477830" y="1215685"/>
                  </a:lnTo>
                  <a:lnTo>
                    <a:pt x="1527687" y="1198847"/>
                  </a:lnTo>
                  <a:lnTo>
                    <a:pt x="1577143" y="1181663"/>
                  </a:lnTo>
                  <a:lnTo>
                    <a:pt x="1626192" y="1164136"/>
                  </a:lnTo>
                  <a:lnTo>
                    <a:pt x="1674827" y="1146270"/>
                  </a:lnTo>
                  <a:lnTo>
                    <a:pt x="1723044" y="1128065"/>
                  </a:lnTo>
                  <a:lnTo>
                    <a:pt x="1770837" y="1109526"/>
                  </a:lnTo>
                  <a:lnTo>
                    <a:pt x="1818200" y="1090653"/>
                  </a:lnTo>
                  <a:lnTo>
                    <a:pt x="1865128" y="1071450"/>
                  </a:lnTo>
                  <a:lnTo>
                    <a:pt x="1911616" y="1051920"/>
                  </a:lnTo>
                  <a:lnTo>
                    <a:pt x="1957657" y="1032064"/>
                  </a:lnTo>
                  <a:lnTo>
                    <a:pt x="2003246" y="1011886"/>
                  </a:lnTo>
                  <a:lnTo>
                    <a:pt x="2048378" y="991387"/>
                  </a:lnTo>
                  <a:lnTo>
                    <a:pt x="2093047" y="970571"/>
                  </a:lnTo>
                  <a:lnTo>
                    <a:pt x="2137248" y="949439"/>
                  </a:lnTo>
                  <a:lnTo>
                    <a:pt x="2180975" y="927995"/>
                  </a:lnTo>
                  <a:lnTo>
                    <a:pt x="2224222" y="906241"/>
                  </a:lnTo>
                  <a:lnTo>
                    <a:pt x="2266985" y="884179"/>
                  </a:lnTo>
                  <a:lnTo>
                    <a:pt x="2309257" y="861812"/>
                  </a:lnTo>
                  <a:lnTo>
                    <a:pt x="2351032" y="839143"/>
                  </a:lnTo>
                  <a:lnTo>
                    <a:pt x="2392306" y="816173"/>
                  </a:lnTo>
                  <a:lnTo>
                    <a:pt x="2433073" y="792906"/>
                  </a:lnTo>
                  <a:lnTo>
                    <a:pt x="2473327" y="769343"/>
                  </a:lnTo>
                  <a:lnTo>
                    <a:pt x="2513063" y="745488"/>
                  </a:lnTo>
                  <a:lnTo>
                    <a:pt x="2552275" y="721343"/>
                  </a:lnTo>
                  <a:lnTo>
                    <a:pt x="2590958" y="696911"/>
                  </a:lnTo>
                  <a:lnTo>
                    <a:pt x="2629106" y="672194"/>
                  </a:lnTo>
                  <a:lnTo>
                    <a:pt x="2666713" y="647194"/>
                  </a:lnTo>
                  <a:lnTo>
                    <a:pt x="2703775" y="621914"/>
                  </a:lnTo>
                  <a:lnTo>
                    <a:pt x="2740285" y="596356"/>
                  </a:lnTo>
                  <a:lnTo>
                    <a:pt x="2776238" y="570524"/>
                  </a:lnTo>
                  <a:lnTo>
                    <a:pt x="2811628" y="544419"/>
                  </a:lnTo>
                  <a:lnTo>
                    <a:pt x="2846450" y="518044"/>
                  </a:lnTo>
                  <a:lnTo>
                    <a:pt x="2880698" y="491402"/>
                  </a:lnTo>
                  <a:lnTo>
                    <a:pt x="2914368" y="464494"/>
                  </a:lnTo>
                  <a:lnTo>
                    <a:pt x="2947452" y="437325"/>
                  </a:lnTo>
                  <a:lnTo>
                    <a:pt x="2979946" y="409895"/>
                  </a:lnTo>
                  <a:lnTo>
                    <a:pt x="3011845" y="382208"/>
                  </a:lnTo>
                  <a:lnTo>
                    <a:pt x="3043142" y="354266"/>
                  </a:lnTo>
                  <a:lnTo>
                    <a:pt x="3073832" y="326072"/>
                  </a:lnTo>
                  <a:lnTo>
                    <a:pt x="3103909" y="297628"/>
                  </a:lnTo>
                  <a:lnTo>
                    <a:pt x="3133369" y="268937"/>
                  </a:lnTo>
                  <a:lnTo>
                    <a:pt x="3162205" y="240001"/>
                  </a:lnTo>
                  <a:lnTo>
                    <a:pt x="3190411" y="210822"/>
                  </a:lnTo>
                  <a:lnTo>
                    <a:pt x="3217984" y="181404"/>
                  </a:lnTo>
                  <a:lnTo>
                    <a:pt x="3244916" y="151749"/>
                  </a:lnTo>
                  <a:lnTo>
                    <a:pt x="3271202" y="121858"/>
                  </a:lnTo>
                  <a:lnTo>
                    <a:pt x="3296837" y="91736"/>
                  </a:lnTo>
                  <a:lnTo>
                    <a:pt x="3321815" y="61383"/>
                  </a:lnTo>
                  <a:lnTo>
                    <a:pt x="3346131" y="30804"/>
                  </a:lnTo>
                  <a:lnTo>
                    <a:pt x="3369779" y="0"/>
                  </a:lnTo>
                </a:path>
              </a:pathLst>
            </a:custGeom>
            <a:ln w="26573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1267" y="1867776"/>
              <a:ext cx="3655060" cy="1681480"/>
            </a:xfrm>
            <a:custGeom>
              <a:avLst/>
              <a:gdLst/>
              <a:ahLst/>
              <a:cxnLst/>
              <a:rect l="l" t="t" r="r" b="b"/>
              <a:pathLst>
                <a:path w="3655060" h="1681479">
                  <a:moveTo>
                    <a:pt x="239293" y="1680997"/>
                  </a:moveTo>
                  <a:lnTo>
                    <a:pt x="213728" y="1596263"/>
                  </a:lnTo>
                  <a:lnTo>
                    <a:pt x="0" y="1660144"/>
                  </a:lnTo>
                  <a:lnTo>
                    <a:pt x="239293" y="1680997"/>
                  </a:lnTo>
                  <a:close/>
                </a:path>
                <a:path w="3655060" h="1681479">
                  <a:moveTo>
                    <a:pt x="3654971" y="0"/>
                  </a:moveTo>
                  <a:lnTo>
                    <a:pt x="3499294" y="103949"/>
                  </a:lnTo>
                  <a:lnTo>
                    <a:pt x="3641623" y="135636"/>
                  </a:lnTo>
                  <a:lnTo>
                    <a:pt x="3654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39979" y="209361"/>
              <a:ext cx="5253990" cy="2211070"/>
            </a:xfrm>
            <a:custGeom>
              <a:avLst/>
              <a:gdLst/>
              <a:ahLst/>
              <a:cxnLst/>
              <a:rect l="l" t="t" r="r" b="b"/>
              <a:pathLst>
                <a:path w="5253990" h="2211070">
                  <a:moveTo>
                    <a:pt x="0" y="2210814"/>
                  </a:moveTo>
                  <a:lnTo>
                    <a:pt x="56163" y="2201010"/>
                  </a:lnTo>
                  <a:lnTo>
                    <a:pt x="112190" y="2191020"/>
                  </a:lnTo>
                  <a:lnTo>
                    <a:pt x="168079" y="2180845"/>
                  </a:lnTo>
                  <a:lnTo>
                    <a:pt x="223829" y="2170487"/>
                  </a:lnTo>
                  <a:lnTo>
                    <a:pt x="279438" y="2159945"/>
                  </a:lnTo>
                  <a:lnTo>
                    <a:pt x="334907" y="2149219"/>
                  </a:lnTo>
                  <a:lnTo>
                    <a:pt x="390232" y="2138312"/>
                  </a:lnTo>
                  <a:lnTo>
                    <a:pt x="445414" y="2127222"/>
                  </a:lnTo>
                  <a:lnTo>
                    <a:pt x="500450" y="2115950"/>
                  </a:lnTo>
                  <a:lnTo>
                    <a:pt x="555340" y="2104498"/>
                  </a:lnTo>
                  <a:lnTo>
                    <a:pt x="610082" y="2092865"/>
                  </a:lnTo>
                  <a:lnTo>
                    <a:pt x="664675" y="2081052"/>
                  </a:lnTo>
                  <a:lnTo>
                    <a:pt x="719118" y="2069060"/>
                  </a:lnTo>
                  <a:lnTo>
                    <a:pt x="773409" y="2056889"/>
                  </a:lnTo>
                  <a:lnTo>
                    <a:pt x="827547" y="2044540"/>
                  </a:lnTo>
                  <a:lnTo>
                    <a:pt x="881531" y="2032013"/>
                  </a:lnTo>
                  <a:lnTo>
                    <a:pt x="935360" y="2019309"/>
                  </a:lnTo>
                  <a:lnTo>
                    <a:pt x="989032" y="2006428"/>
                  </a:lnTo>
                  <a:lnTo>
                    <a:pt x="1042547" y="1993370"/>
                  </a:lnTo>
                  <a:lnTo>
                    <a:pt x="1095902" y="1980137"/>
                  </a:lnTo>
                  <a:lnTo>
                    <a:pt x="1149097" y="1966729"/>
                  </a:lnTo>
                  <a:lnTo>
                    <a:pt x="1202130" y="1953147"/>
                  </a:lnTo>
                  <a:lnTo>
                    <a:pt x="1255001" y="1939390"/>
                  </a:lnTo>
                  <a:lnTo>
                    <a:pt x="1307707" y="1925459"/>
                  </a:lnTo>
                  <a:lnTo>
                    <a:pt x="1360248" y="1911356"/>
                  </a:lnTo>
                  <a:lnTo>
                    <a:pt x="1412622" y="1897080"/>
                  </a:lnTo>
                  <a:lnTo>
                    <a:pt x="1464829" y="1882632"/>
                  </a:lnTo>
                  <a:lnTo>
                    <a:pt x="1516866" y="1868013"/>
                  </a:lnTo>
                  <a:lnTo>
                    <a:pt x="1568732" y="1853223"/>
                  </a:lnTo>
                  <a:lnTo>
                    <a:pt x="1620427" y="1838262"/>
                  </a:lnTo>
                  <a:lnTo>
                    <a:pt x="1671949" y="1823132"/>
                  </a:lnTo>
                  <a:lnTo>
                    <a:pt x="1723297" y="1807832"/>
                  </a:lnTo>
                  <a:lnTo>
                    <a:pt x="1774470" y="1792364"/>
                  </a:lnTo>
                  <a:lnTo>
                    <a:pt x="1825465" y="1776727"/>
                  </a:lnTo>
                  <a:lnTo>
                    <a:pt x="1876283" y="1760922"/>
                  </a:lnTo>
                  <a:lnTo>
                    <a:pt x="1926922" y="1744950"/>
                  </a:lnTo>
                  <a:lnTo>
                    <a:pt x="1977380" y="1728812"/>
                  </a:lnTo>
                  <a:lnTo>
                    <a:pt x="2027656" y="1712508"/>
                  </a:lnTo>
                  <a:lnTo>
                    <a:pt x="2077749" y="1696037"/>
                  </a:lnTo>
                  <a:lnTo>
                    <a:pt x="2127658" y="1679402"/>
                  </a:lnTo>
                  <a:lnTo>
                    <a:pt x="2177381" y="1662602"/>
                  </a:lnTo>
                  <a:lnTo>
                    <a:pt x="2226918" y="1645638"/>
                  </a:lnTo>
                  <a:lnTo>
                    <a:pt x="2276267" y="1628511"/>
                  </a:lnTo>
                  <a:lnTo>
                    <a:pt x="2325426" y="1611221"/>
                  </a:lnTo>
                  <a:lnTo>
                    <a:pt x="2374395" y="1593768"/>
                  </a:lnTo>
                  <a:lnTo>
                    <a:pt x="2423172" y="1576153"/>
                  </a:lnTo>
                  <a:lnTo>
                    <a:pt x="2471755" y="1558377"/>
                  </a:lnTo>
                  <a:lnTo>
                    <a:pt x="2520145" y="1540441"/>
                  </a:lnTo>
                  <a:lnTo>
                    <a:pt x="2568339" y="1522343"/>
                  </a:lnTo>
                  <a:lnTo>
                    <a:pt x="2616336" y="1504086"/>
                  </a:lnTo>
                  <a:lnTo>
                    <a:pt x="2664135" y="1485670"/>
                  </a:lnTo>
                  <a:lnTo>
                    <a:pt x="2711734" y="1467095"/>
                  </a:lnTo>
                  <a:lnTo>
                    <a:pt x="2759133" y="1448362"/>
                  </a:lnTo>
                  <a:lnTo>
                    <a:pt x="2806330" y="1429471"/>
                  </a:lnTo>
                  <a:lnTo>
                    <a:pt x="2853324" y="1410423"/>
                  </a:lnTo>
                  <a:lnTo>
                    <a:pt x="2900114" y="1391218"/>
                  </a:lnTo>
                  <a:lnTo>
                    <a:pt x="2946698" y="1371858"/>
                  </a:lnTo>
                  <a:lnTo>
                    <a:pt x="2993074" y="1352342"/>
                  </a:lnTo>
                  <a:lnTo>
                    <a:pt x="3039243" y="1332670"/>
                  </a:lnTo>
                  <a:lnTo>
                    <a:pt x="3085203" y="1312845"/>
                  </a:lnTo>
                  <a:lnTo>
                    <a:pt x="3130951" y="1292865"/>
                  </a:lnTo>
                  <a:lnTo>
                    <a:pt x="3176488" y="1272732"/>
                  </a:lnTo>
                  <a:lnTo>
                    <a:pt x="3221811" y="1252446"/>
                  </a:lnTo>
                  <a:lnTo>
                    <a:pt x="3266920" y="1232007"/>
                  </a:lnTo>
                  <a:lnTo>
                    <a:pt x="3311814" y="1211417"/>
                  </a:lnTo>
                  <a:lnTo>
                    <a:pt x="3356490" y="1190675"/>
                  </a:lnTo>
                  <a:lnTo>
                    <a:pt x="3400948" y="1169783"/>
                  </a:lnTo>
                  <a:lnTo>
                    <a:pt x="3445187" y="1148740"/>
                  </a:lnTo>
                  <a:lnTo>
                    <a:pt x="3489205" y="1127548"/>
                  </a:lnTo>
                  <a:lnTo>
                    <a:pt x="3533000" y="1106206"/>
                  </a:lnTo>
                  <a:lnTo>
                    <a:pt x="3576573" y="1084716"/>
                  </a:lnTo>
                  <a:lnTo>
                    <a:pt x="3619921" y="1063078"/>
                  </a:lnTo>
                  <a:lnTo>
                    <a:pt x="3663043" y="1041292"/>
                  </a:lnTo>
                  <a:lnTo>
                    <a:pt x="3705938" y="1019358"/>
                  </a:lnTo>
                  <a:lnTo>
                    <a:pt x="3748605" y="997279"/>
                  </a:lnTo>
                  <a:lnTo>
                    <a:pt x="3791043" y="975053"/>
                  </a:lnTo>
                  <a:lnTo>
                    <a:pt x="3833249" y="952682"/>
                  </a:lnTo>
                  <a:lnTo>
                    <a:pt x="3875223" y="930166"/>
                  </a:lnTo>
                  <a:lnTo>
                    <a:pt x="3916965" y="907505"/>
                  </a:lnTo>
                  <a:lnTo>
                    <a:pt x="3958471" y="884701"/>
                  </a:lnTo>
                  <a:lnTo>
                    <a:pt x="3999742" y="861753"/>
                  </a:lnTo>
                  <a:lnTo>
                    <a:pt x="4040775" y="838662"/>
                  </a:lnTo>
                  <a:lnTo>
                    <a:pt x="4081570" y="815429"/>
                  </a:lnTo>
                  <a:lnTo>
                    <a:pt x="4122126" y="792055"/>
                  </a:lnTo>
                  <a:lnTo>
                    <a:pt x="4162441" y="768539"/>
                  </a:lnTo>
                  <a:lnTo>
                    <a:pt x="4202513" y="744882"/>
                  </a:lnTo>
                  <a:lnTo>
                    <a:pt x="4242342" y="721085"/>
                  </a:lnTo>
                  <a:lnTo>
                    <a:pt x="4281927" y="697148"/>
                  </a:lnTo>
                  <a:lnTo>
                    <a:pt x="4321265" y="673072"/>
                  </a:lnTo>
                  <a:lnTo>
                    <a:pt x="4360357" y="648858"/>
                  </a:lnTo>
                  <a:lnTo>
                    <a:pt x="4399199" y="624506"/>
                  </a:lnTo>
                  <a:lnTo>
                    <a:pt x="4437793" y="600016"/>
                  </a:lnTo>
                  <a:lnTo>
                    <a:pt x="4476135" y="575389"/>
                  </a:lnTo>
                  <a:lnTo>
                    <a:pt x="4514225" y="550625"/>
                  </a:lnTo>
                  <a:lnTo>
                    <a:pt x="4552062" y="525726"/>
                  </a:lnTo>
                  <a:lnTo>
                    <a:pt x="4589644" y="500691"/>
                  </a:lnTo>
                  <a:lnTo>
                    <a:pt x="4626969" y="475521"/>
                  </a:lnTo>
                  <a:lnTo>
                    <a:pt x="4664038" y="450217"/>
                  </a:lnTo>
                  <a:lnTo>
                    <a:pt x="4700848" y="424779"/>
                  </a:lnTo>
                  <a:lnTo>
                    <a:pt x="4737399" y="399207"/>
                  </a:lnTo>
                  <a:lnTo>
                    <a:pt x="4773688" y="373503"/>
                  </a:lnTo>
                  <a:lnTo>
                    <a:pt x="4809715" y="347667"/>
                  </a:lnTo>
                  <a:lnTo>
                    <a:pt x="4845479" y="321699"/>
                  </a:lnTo>
                  <a:lnTo>
                    <a:pt x="4880978" y="295599"/>
                  </a:lnTo>
                  <a:lnTo>
                    <a:pt x="4916210" y="269369"/>
                  </a:lnTo>
                  <a:lnTo>
                    <a:pt x="4951176" y="243009"/>
                  </a:lnTo>
                  <a:lnTo>
                    <a:pt x="4985873" y="216520"/>
                  </a:lnTo>
                  <a:lnTo>
                    <a:pt x="5020300" y="189901"/>
                  </a:lnTo>
                  <a:lnTo>
                    <a:pt x="5054456" y="163153"/>
                  </a:lnTo>
                  <a:lnTo>
                    <a:pt x="5088340" y="136278"/>
                  </a:lnTo>
                  <a:lnTo>
                    <a:pt x="5121950" y="109275"/>
                  </a:lnTo>
                  <a:lnTo>
                    <a:pt x="5155285" y="82145"/>
                  </a:lnTo>
                  <a:lnTo>
                    <a:pt x="5188344" y="54889"/>
                  </a:lnTo>
                  <a:lnTo>
                    <a:pt x="5221126" y="27507"/>
                  </a:lnTo>
                  <a:lnTo>
                    <a:pt x="5253629" y="0"/>
                  </a:lnTo>
                </a:path>
              </a:pathLst>
            </a:custGeom>
            <a:ln w="2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37877" y="109981"/>
              <a:ext cx="5570220" cy="2348865"/>
            </a:xfrm>
            <a:custGeom>
              <a:avLst/>
              <a:gdLst/>
              <a:ahLst/>
              <a:cxnLst/>
              <a:rect l="l" t="t" r="r" b="b"/>
              <a:pathLst>
                <a:path w="5570220" h="2348865">
                  <a:moveTo>
                    <a:pt x="242125" y="2348395"/>
                  </a:moveTo>
                  <a:lnTo>
                    <a:pt x="198615" y="2265934"/>
                  </a:lnTo>
                  <a:lnTo>
                    <a:pt x="0" y="2343734"/>
                  </a:lnTo>
                  <a:lnTo>
                    <a:pt x="242125" y="2348395"/>
                  </a:lnTo>
                  <a:close/>
                </a:path>
                <a:path w="5570220" h="2348865">
                  <a:moveTo>
                    <a:pt x="5569636" y="0"/>
                  </a:moveTo>
                  <a:lnTo>
                    <a:pt x="5381079" y="85166"/>
                  </a:lnTo>
                  <a:lnTo>
                    <a:pt x="5509869" y="131610"/>
                  </a:lnTo>
                  <a:lnTo>
                    <a:pt x="5569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70249" y="991358"/>
            <a:ext cx="263271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4750" marR="5080" indent="812165">
              <a:lnSpc>
                <a:spcPct val="102499"/>
              </a:lnSpc>
              <a:spcBef>
                <a:spcPts val="95"/>
              </a:spcBef>
            </a:pPr>
            <a:r>
              <a:rPr sz="1000" b="1" spc="425" dirty="0">
                <a:latin typeface="Arial"/>
                <a:cs typeface="Arial"/>
              </a:rPr>
              <a:t>Vid</a:t>
            </a:r>
            <a:r>
              <a:rPr sz="1000" b="1" spc="455" dirty="0">
                <a:latin typeface="Arial"/>
                <a:cs typeface="Arial"/>
              </a:rPr>
              <a:t>e</a:t>
            </a:r>
            <a:r>
              <a:rPr sz="1000" b="1" spc="320" dirty="0">
                <a:latin typeface="Arial"/>
                <a:cs typeface="Arial"/>
              </a:rPr>
              <a:t>o  </a:t>
            </a:r>
            <a:r>
              <a:rPr sz="1000" b="1" spc="455" dirty="0">
                <a:latin typeface="Arial"/>
                <a:cs typeface="Arial"/>
              </a:rPr>
              <a:t>c</a:t>
            </a:r>
            <a:r>
              <a:rPr sz="1000" b="1" spc="505" dirty="0">
                <a:latin typeface="Arial"/>
                <a:cs typeface="Arial"/>
              </a:rPr>
              <a:t>on</a:t>
            </a:r>
            <a:r>
              <a:rPr sz="1000" b="1" spc="455" dirty="0">
                <a:latin typeface="Arial"/>
                <a:cs typeface="Arial"/>
              </a:rPr>
              <a:t>ve</a:t>
            </a:r>
            <a:r>
              <a:rPr sz="1000" b="1" spc="320" dirty="0">
                <a:latin typeface="Arial"/>
                <a:cs typeface="Arial"/>
              </a:rPr>
              <a:t>r</a:t>
            </a:r>
            <a:r>
              <a:rPr sz="1000" b="1" spc="455" dirty="0">
                <a:latin typeface="Arial"/>
                <a:cs typeface="Arial"/>
              </a:rPr>
              <a:t>sa</a:t>
            </a:r>
            <a:r>
              <a:rPr sz="1000" b="1" spc="375" dirty="0">
                <a:latin typeface="Arial"/>
                <a:cs typeface="Arial"/>
              </a:rPr>
              <a:t>tion</a:t>
            </a:r>
            <a:endParaRPr sz="1000">
              <a:latin typeface="Arial"/>
              <a:cs typeface="Arial"/>
            </a:endParaRPr>
          </a:p>
          <a:p>
            <a:pPr marL="12700" marR="1167130" indent="735330">
              <a:lnSpc>
                <a:spcPct val="102499"/>
              </a:lnSpc>
              <a:spcBef>
                <a:spcPts val="785"/>
              </a:spcBef>
            </a:pPr>
            <a:r>
              <a:rPr sz="1000" b="1" spc="515" dirty="0">
                <a:latin typeface="Arial"/>
                <a:cs typeface="Arial"/>
              </a:rPr>
              <a:t>Phon</a:t>
            </a:r>
            <a:r>
              <a:rPr sz="1000" b="1" spc="340" dirty="0">
                <a:latin typeface="Arial"/>
                <a:cs typeface="Arial"/>
              </a:rPr>
              <a:t>e  c</a:t>
            </a:r>
            <a:r>
              <a:rPr sz="1000" b="1" spc="505" dirty="0">
                <a:latin typeface="Arial"/>
                <a:cs typeface="Arial"/>
              </a:rPr>
              <a:t>on</a:t>
            </a:r>
            <a:r>
              <a:rPr sz="1000" b="1" spc="455" dirty="0">
                <a:latin typeface="Arial"/>
                <a:cs typeface="Arial"/>
              </a:rPr>
              <a:t>ve</a:t>
            </a:r>
            <a:r>
              <a:rPr sz="1000" b="1" spc="320" dirty="0">
                <a:latin typeface="Arial"/>
                <a:cs typeface="Arial"/>
              </a:rPr>
              <a:t>r</a:t>
            </a:r>
            <a:r>
              <a:rPr sz="1000" b="1" spc="455" dirty="0">
                <a:latin typeface="Arial"/>
                <a:cs typeface="Arial"/>
              </a:rPr>
              <a:t>sa</a:t>
            </a:r>
            <a:r>
              <a:rPr sz="1000" b="1" spc="375" dirty="0">
                <a:latin typeface="Arial"/>
                <a:cs typeface="Arial"/>
              </a:rPr>
              <a:t>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217000" y="112458"/>
            <a:ext cx="1534160" cy="33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0970">
              <a:lnSpc>
                <a:spcPct val="102499"/>
              </a:lnSpc>
              <a:spcBef>
                <a:spcPts val="95"/>
              </a:spcBef>
            </a:pPr>
            <a:r>
              <a:rPr sz="1000" spc="505" dirty="0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sz="1000" spc="455" dirty="0">
                <a:solidFill>
                  <a:srgbClr val="000000"/>
                </a:solidFill>
                <a:latin typeface="Arial"/>
                <a:cs typeface="Arial"/>
              </a:rPr>
              <a:t>ace</a:t>
            </a:r>
            <a:r>
              <a:rPr sz="1000" spc="275" dirty="0">
                <a:solidFill>
                  <a:srgbClr val="000000"/>
                </a:solidFill>
                <a:latin typeface="Arial"/>
                <a:cs typeface="Arial"/>
              </a:rPr>
              <a:t>-t</a:t>
            </a:r>
            <a:r>
              <a:rPr sz="1000" spc="500" dirty="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sz="1000" spc="275" dirty="0">
                <a:solidFill>
                  <a:srgbClr val="000000"/>
                </a:solidFill>
                <a:latin typeface="Arial"/>
                <a:cs typeface="Arial"/>
              </a:rPr>
              <a:t>-f</a:t>
            </a:r>
            <a:r>
              <a:rPr sz="1000" spc="365" dirty="0">
                <a:solidFill>
                  <a:srgbClr val="000000"/>
                </a:solidFill>
                <a:latin typeface="Arial"/>
                <a:cs typeface="Arial"/>
              </a:rPr>
              <a:t>ace  at</a:t>
            </a:r>
            <a:r>
              <a:rPr sz="1000" spc="1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00" spc="440" dirty="0">
                <a:solidFill>
                  <a:srgbClr val="000000"/>
                </a:solidFill>
                <a:latin typeface="Arial"/>
                <a:cs typeface="Arial"/>
              </a:rPr>
              <a:t>whiteboard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149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40891" y="524781"/>
            <a:ext cx="1470025" cy="33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7470">
              <a:lnSpc>
                <a:spcPct val="102499"/>
              </a:lnSpc>
              <a:spcBef>
                <a:spcPts val="95"/>
              </a:spcBef>
            </a:pPr>
            <a:r>
              <a:rPr sz="1000" b="1" spc="505" dirty="0">
                <a:latin typeface="Arial"/>
                <a:cs typeface="Arial"/>
              </a:rPr>
              <a:t>F</a:t>
            </a:r>
            <a:r>
              <a:rPr sz="1000" b="1" spc="455" dirty="0">
                <a:latin typeface="Arial"/>
                <a:cs typeface="Arial"/>
              </a:rPr>
              <a:t>ace</a:t>
            </a:r>
            <a:r>
              <a:rPr sz="1000" b="1" spc="275" dirty="0">
                <a:latin typeface="Arial"/>
                <a:cs typeface="Arial"/>
              </a:rPr>
              <a:t>-t</a:t>
            </a:r>
            <a:r>
              <a:rPr sz="1000" b="1" spc="500" dirty="0">
                <a:latin typeface="Arial"/>
                <a:cs typeface="Arial"/>
              </a:rPr>
              <a:t>o</a:t>
            </a:r>
            <a:r>
              <a:rPr sz="1000" b="1" spc="275" dirty="0">
                <a:latin typeface="Arial"/>
                <a:cs typeface="Arial"/>
              </a:rPr>
              <a:t>-f</a:t>
            </a:r>
            <a:r>
              <a:rPr sz="1000" b="1" spc="380" dirty="0">
                <a:latin typeface="Arial"/>
                <a:cs typeface="Arial"/>
              </a:rPr>
              <a:t>ace  c</a:t>
            </a:r>
            <a:r>
              <a:rPr sz="1000" b="1" spc="505" dirty="0">
                <a:latin typeface="Arial"/>
                <a:cs typeface="Arial"/>
              </a:rPr>
              <a:t>on</a:t>
            </a:r>
            <a:r>
              <a:rPr sz="1000" b="1" spc="455" dirty="0">
                <a:latin typeface="Arial"/>
                <a:cs typeface="Arial"/>
              </a:rPr>
              <a:t>ve</a:t>
            </a:r>
            <a:r>
              <a:rPr sz="1000" b="1" spc="320" dirty="0">
                <a:latin typeface="Arial"/>
                <a:cs typeface="Arial"/>
              </a:rPr>
              <a:t>r</a:t>
            </a:r>
            <a:r>
              <a:rPr sz="1000" b="1" spc="455" dirty="0">
                <a:latin typeface="Arial"/>
                <a:cs typeface="Arial"/>
              </a:rPr>
              <a:t>sa</a:t>
            </a:r>
            <a:r>
              <a:rPr sz="1000" b="1" spc="375" dirty="0">
                <a:latin typeface="Arial"/>
                <a:cs typeface="Arial"/>
              </a:rPr>
              <a:t>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0527" y="1770436"/>
            <a:ext cx="3777615" cy="165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60525" marR="588010" indent="410845">
              <a:lnSpc>
                <a:spcPct val="155200"/>
              </a:lnSpc>
              <a:spcBef>
                <a:spcPts val="95"/>
              </a:spcBef>
            </a:pPr>
            <a:r>
              <a:rPr sz="1000" b="1" spc="425" dirty="0">
                <a:latin typeface="Arial"/>
                <a:cs typeface="Arial"/>
              </a:rPr>
              <a:t>Vid</a:t>
            </a:r>
            <a:r>
              <a:rPr sz="1000" b="1" spc="455" dirty="0">
                <a:latin typeface="Arial"/>
                <a:cs typeface="Arial"/>
              </a:rPr>
              <a:t>e</a:t>
            </a:r>
            <a:r>
              <a:rPr sz="1000" b="1" spc="390" dirty="0">
                <a:latin typeface="Arial"/>
                <a:cs typeface="Arial"/>
              </a:rPr>
              <a:t>ot</a:t>
            </a:r>
            <a:r>
              <a:rPr sz="1000" b="1" spc="455" dirty="0">
                <a:latin typeface="Arial"/>
                <a:cs typeface="Arial"/>
              </a:rPr>
              <a:t>a</a:t>
            </a:r>
            <a:r>
              <a:rPr sz="1000" b="1" spc="505" dirty="0">
                <a:latin typeface="Arial"/>
                <a:cs typeface="Arial"/>
              </a:rPr>
              <a:t>p</a:t>
            </a:r>
            <a:r>
              <a:rPr sz="1000" b="1" spc="305" dirty="0">
                <a:latin typeface="Arial"/>
                <a:cs typeface="Arial"/>
              </a:rPr>
              <a:t>e  </a:t>
            </a:r>
            <a:r>
              <a:rPr sz="1000" b="1" spc="440" dirty="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 marL="835660">
              <a:lnSpc>
                <a:spcPct val="100000"/>
              </a:lnSpc>
              <a:spcBef>
                <a:spcPts val="30"/>
              </a:spcBef>
            </a:pPr>
            <a:r>
              <a:rPr sz="1000" b="1" spc="425" dirty="0">
                <a:latin typeface="Arial"/>
                <a:cs typeface="Arial"/>
              </a:rPr>
              <a:t>conversation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Arial"/>
              <a:cs typeface="Arial"/>
            </a:endParaRPr>
          </a:p>
          <a:p>
            <a:pPr marL="992505">
              <a:lnSpc>
                <a:spcPct val="100000"/>
              </a:lnSpc>
            </a:pPr>
            <a:r>
              <a:rPr sz="1000" b="1" spc="445" dirty="0">
                <a:latin typeface="Arial"/>
                <a:cs typeface="Arial"/>
              </a:rPr>
              <a:t>Audiotape</a:t>
            </a:r>
            <a:endParaRPr sz="1000">
              <a:latin typeface="Arial"/>
              <a:cs typeface="Arial"/>
            </a:endParaRPr>
          </a:p>
          <a:p>
            <a:pPr marL="2481580" marR="5080" indent="-406400">
              <a:lnSpc>
                <a:spcPct val="102499"/>
              </a:lnSpc>
              <a:spcBef>
                <a:spcPts val="630"/>
              </a:spcBef>
            </a:pPr>
            <a:r>
              <a:rPr sz="1000" b="1" spc="595" dirty="0">
                <a:latin typeface="Arial"/>
                <a:cs typeface="Arial"/>
              </a:rPr>
              <a:t>D</a:t>
            </a:r>
            <a:r>
              <a:rPr sz="1000" b="1" spc="505" dirty="0">
                <a:latin typeface="Arial"/>
                <a:cs typeface="Arial"/>
              </a:rPr>
              <a:t>o</a:t>
            </a:r>
            <a:r>
              <a:rPr sz="1000" b="1" spc="455" dirty="0">
                <a:latin typeface="Arial"/>
                <a:cs typeface="Arial"/>
              </a:rPr>
              <a:t>c</a:t>
            </a:r>
            <a:r>
              <a:rPr sz="1000" b="1" spc="505" dirty="0">
                <a:latin typeface="Arial"/>
                <a:cs typeface="Arial"/>
              </a:rPr>
              <a:t>u</a:t>
            </a:r>
            <a:r>
              <a:rPr sz="1000" b="1" spc="735" dirty="0">
                <a:latin typeface="Arial"/>
                <a:cs typeface="Arial"/>
              </a:rPr>
              <a:t>m</a:t>
            </a:r>
            <a:r>
              <a:rPr sz="1000" b="1" spc="455" dirty="0">
                <a:latin typeface="Arial"/>
                <a:cs typeface="Arial"/>
              </a:rPr>
              <a:t>e</a:t>
            </a:r>
            <a:r>
              <a:rPr sz="1000" b="1" spc="390" dirty="0">
                <a:latin typeface="Arial"/>
                <a:cs typeface="Arial"/>
              </a:rPr>
              <a:t>nt</a:t>
            </a:r>
            <a:r>
              <a:rPr sz="1000" b="1" spc="455" dirty="0">
                <a:latin typeface="Arial"/>
                <a:cs typeface="Arial"/>
              </a:rPr>
              <a:t>a</a:t>
            </a:r>
            <a:r>
              <a:rPr sz="1000" b="1" spc="325" dirty="0">
                <a:latin typeface="Arial"/>
                <a:cs typeface="Arial"/>
              </a:rPr>
              <a:t>tion  </a:t>
            </a:r>
            <a:r>
              <a:rPr sz="1000" b="1" spc="445" dirty="0">
                <a:latin typeface="Arial"/>
                <a:cs typeface="Arial"/>
              </a:rPr>
              <a:t>Options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925"/>
              </a:lnSpc>
            </a:pPr>
            <a:r>
              <a:rPr sz="1000" b="1" spc="455" dirty="0">
                <a:latin typeface="Arial"/>
                <a:cs typeface="Arial"/>
              </a:rPr>
              <a:t>Paper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90101" y="1306026"/>
            <a:ext cx="1043940" cy="33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marR="5080" indent="-71120">
              <a:lnSpc>
                <a:spcPct val="102499"/>
              </a:lnSpc>
              <a:spcBef>
                <a:spcPts val="95"/>
              </a:spcBef>
            </a:pPr>
            <a:r>
              <a:rPr sz="1000" b="1" spc="565" dirty="0">
                <a:latin typeface="Arial"/>
                <a:cs typeface="Arial"/>
              </a:rPr>
              <a:t>Mod</a:t>
            </a:r>
            <a:r>
              <a:rPr sz="1000" b="1" spc="455" dirty="0">
                <a:latin typeface="Arial"/>
                <a:cs typeface="Arial"/>
              </a:rPr>
              <a:t>e</a:t>
            </a:r>
            <a:r>
              <a:rPr sz="1000" b="1" spc="320" dirty="0">
                <a:latin typeface="Arial"/>
                <a:cs typeface="Arial"/>
              </a:rPr>
              <a:t>ling  </a:t>
            </a:r>
            <a:r>
              <a:rPr sz="1000" b="1" spc="445" dirty="0">
                <a:latin typeface="Arial"/>
                <a:cs typeface="Arial"/>
              </a:rPr>
              <a:t>Options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61086" y="3803840"/>
            <a:ext cx="4138929" cy="5054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b="1" spc="455" dirty="0">
                <a:latin typeface="Arial"/>
                <a:cs typeface="Arial"/>
              </a:rPr>
              <a:t>Richness</a:t>
            </a:r>
            <a:r>
              <a:rPr sz="1000" b="1" spc="210" dirty="0">
                <a:latin typeface="Arial"/>
                <a:cs typeface="Arial"/>
              </a:rPr>
              <a:t> </a:t>
            </a:r>
            <a:r>
              <a:rPr sz="1000" b="1" spc="390" dirty="0">
                <a:latin typeface="Arial"/>
                <a:cs typeface="Arial"/>
              </a:rPr>
              <a:t>of</a:t>
            </a:r>
            <a:r>
              <a:rPr sz="1000" b="1" spc="215" dirty="0">
                <a:latin typeface="Arial"/>
                <a:cs typeface="Arial"/>
              </a:rPr>
              <a:t> </a:t>
            </a:r>
            <a:r>
              <a:rPr sz="1000" b="1" spc="480" dirty="0">
                <a:latin typeface="Arial"/>
                <a:cs typeface="Arial"/>
              </a:rPr>
              <a:t>Communication</a:t>
            </a:r>
            <a:r>
              <a:rPr sz="1000" b="1" spc="215" dirty="0">
                <a:latin typeface="Arial"/>
                <a:cs typeface="Arial"/>
              </a:rPr>
              <a:t> </a:t>
            </a:r>
            <a:r>
              <a:rPr sz="1000" b="1" spc="465" dirty="0">
                <a:latin typeface="Arial"/>
                <a:cs typeface="Arial"/>
              </a:rPr>
              <a:t>Channel</a:t>
            </a:r>
            <a:endParaRPr sz="1000">
              <a:latin typeface="Arial"/>
              <a:cs typeface="Arial"/>
            </a:endParaRPr>
          </a:p>
          <a:p>
            <a:pPr marL="162560" marR="502920" indent="429895">
              <a:lnSpc>
                <a:spcPct val="105200"/>
              </a:lnSpc>
              <a:spcBef>
                <a:spcPts val="900"/>
              </a:spcBef>
            </a:pPr>
            <a:r>
              <a:rPr sz="650" spc="270" dirty="0">
                <a:latin typeface="Arial MT"/>
                <a:cs typeface="Arial MT"/>
              </a:rPr>
              <a:t>Copyright </a:t>
            </a:r>
            <a:r>
              <a:rPr sz="650" spc="300" dirty="0">
                <a:latin typeface="Arial MT"/>
                <a:cs typeface="Arial MT"/>
              </a:rPr>
              <a:t>2002-2005 </a:t>
            </a:r>
            <a:r>
              <a:rPr sz="650" spc="254" dirty="0">
                <a:latin typeface="Arial MT"/>
                <a:cs typeface="Arial MT"/>
              </a:rPr>
              <a:t>Scott </a:t>
            </a:r>
            <a:r>
              <a:rPr sz="650" spc="340" dirty="0">
                <a:latin typeface="Arial MT"/>
                <a:cs typeface="Arial MT"/>
              </a:rPr>
              <a:t>W. </a:t>
            </a:r>
            <a:r>
              <a:rPr sz="650" spc="295" dirty="0">
                <a:latin typeface="Arial MT"/>
                <a:cs typeface="Arial MT"/>
              </a:rPr>
              <a:t>Ambler </a:t>
            </a:r>
            <a:r>
              <a:rPr sz="650" spc="300" dirty="0">
                <a:latin typeface="Arial MT"/>
                <a:cs typeface="Arial MT"/>
              </a:rPr>
              <a:t> </a:t>
            </a:r>
            <a:r>
              <a:rPr sz="650" spc="240" dirty="0">
                <a:latin typeface="Arial MT"/>
                <a:cs typeface="Arial MT"/>
              </a:rPr>
              <a:t>Original</a:t>
            </a:r>
            <a:r>
              <a:rPr sz="650" spc="155" dirty="0">
                <a:latin typeface="Arial MT"/>
                <a:cs typeface="Arial MT"/>
              </a:rPr>
              <a:t> </a:t>
            </a:r>
            <a:r>
              <a:rPr sz="650" spc="305" dirty="0">
                <a:latin typeface="Arial MT"/>
                <a:cs typeface="Arial MT"/>
              </a:rPr>
              <a:t>Diagram</a:t>
            </a:r>
            <a:r>
              <a:rPr sz="650" spc="155" dirty="0">
                <a:latin typeface="Arial MT"/>
                <a:cs typeface="Arial MT"/>
              </a:rPr>
              <a:t> </a:t>
            </a:r>
            <a:r>
              <a:rPr sz="650" spc="270" dirty="0">
                <a:latin typeface="Arial MT"/>
                <a:cs typeface="Arial MT"/>
              </a:rPr>
              <a:t>Copyright</a:t>
            </a:r>
            <a:r>
              <a:rPr sz="650" spc="155" dirty="0">
                <a:latin typeface="Arial MT"/>
                <a:cs typeface="Arial MT"/>
              </a:rPr>
              <a:t> </a:t>
            </a:r>
            <a:r>
              <a:rPr sz="650" spc="315" dirty="0">
                <a:latin typeface="Arial MT"/>
                <a:cs typeface="Arial MT"/>
              </a:rPr>
              <a:t>2002</a:t>
            </a:r>
            <a:r>
              <a:rPr sz="650" spc="155" dirty="0">
                <a:latin typeface="Arial MT"/>
                <a:cs typeface="Arial MT"/>
              </a:rPr>
              <a:t> </a:t>
            </a:r>
            <a:r>
              <a:rPr sz="650" spc="210" dirty="0">
                <a:latin typeface="Arial MT"/>
                <a:cs typeface="Arial MT"/>
              </a:rPr>
              <a:t>Alistair</a:t>
            </a:r>
            <a:r>
              <a:rPr sz="650" spc="155" dirty="0">
                <a:latin typeface="Arial MT"/>
                <a:cs typeface="Arial MT"/>
              </a:rPr>
              <a:t> </a:t>
            </a:r>
            <a:r>
              <a:rPr sz="650" spc="300" dirty="0">
                <a:latin typeface="Arial MT"/>
                <a:cs typeface="Arial MT"/>
              </a:rPr>
              <a:t>Cockburn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5924" y="364235"/>
            <a:ext cx="3429000" cy="762000"/>
          </a:xfrm>
          <a:prstGeom prst="rect">
            <a:avLst/>
          </a:prstGeom>
          <a:solidFill>
            <a:srgbClr val="FFFFCC"/>
          </a:solidFill>
          <a:ln w="9144">
            <a:solidFill>
              <a:srgbClr val="FF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40029" marR="234950" indent="475615">
              <a:lnSpc>
                <a:spcPts val="2640"/>
              </a:lnSpc>
              <a:spcBef>
                <a:spcPts val="250"/>
              </a:spcBef>
            </a:pP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Effectiveness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 of 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Communication</a:t>
            </a:r>
            <a:r>
              <a:rPr sz="2400" b="1" spc="-1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Modes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8144" y="233629"/>
            <a:ext cx="38919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Agile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Model:</a:t>
            </a:r>
            <a:r>
              <a:rPr sz="3200" spc="1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Principles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5" dirty="0"/>
              <a:t>150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553894"/>
            <a:ext cx="7899400" cy="364553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3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measure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5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solidFill>
                  <a:srgbClr val="9900CC"/>
                </a:solidFill>
                <a:latin typeface="Calibri"/>
                <a:cs typeface="Calibri"/>
              </a:rPr>
              <a:t>Incremental</a:t>
            </a:r>
            <a:r>
              <a:rPr sz="2400" b="1" spc="-4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9900CC"/>
                </a:solidFill>
                <a:latin typeface="Calibri"/>
                <a:cs typeface="Calibri"/>
              </a:rPr>
              <a:t>release</a:t>
            </a:r>
            <a:r>
              <a:rPr sz="2400" b="1" spc="2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900CC"/>
                </a:solidFill>
                <a:latin typeface="Calibri"/>
                <a:cs typeface="Calibri"/>
              </a:rPr>
              <a:t>of</a:t>
            </a:r>
            <a:r>
              <a:rPr sz="2400" b="1" spc="-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9900CC"/>
                </a:solidFill>
                <a:latin typeface="Calibri"/>
                <a:cs typeface="Calibri"/>
              </a:rPr>
              <a:t>working</a:t>
            </a:r>
            <a:r>
              <a:rPr sz="2400" b="1" spc="-8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9900CC"/>
                </a:solidFill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principles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behind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Frequent</a:t>
            </a:r>
            <a:r>
              <a:rPr sz="2400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delivery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 of</a:t>
            </a:r>
            <a:r>
              <a:rPr sz="2400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versions</a:t>
            </a:r>
            <a:r>
              <a:rPr sz="24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---</a:t>
            </a:r>
            <a:r>
              <a:rPr sz="24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once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every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Calibri"/>
                <a:cs typeface="Calibri"/>
              </a:rPr>
              <a:t>few</a:t>
            </a:r>
            <a:r>
              <a:rPr sz="24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CC"/>
                </a:solidFill>
                <a:latin typeface="Calibri"/>
                <a:cs typeface="Calibri"/>
              </a:rPr>
              <a:t>weeks.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Requirements</a:t>
            </a:r>
            <a:r>
              <a:rPr sz="2400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change</a:t>
            </a:r>
            <a:r>
              <a:rPr sz="24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requests</a:t>
            </a:r>
            <a:r>
              <a:rPr sz="24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are</a:t>
            </a:r>
            <a:r>
              <a:rPr sz="24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easily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 accommodated.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Close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cooperation</a:t>
            </a:r>
            <a:r>
              <a:rPr sz="24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customers</a:t>
            </a:r>
            <a:r>
              <a:rPr sz="24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4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developers.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Face-to-face</a:t>
            </a:r>
            <a:r>
              <a:rPr sz="2400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communication</a:t>
            </a:r>
            <a:r>
              <a:rPr sz="2400" spc="-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among</a:t>
            </a:r>
            <a:r>
              <a:rPr sz="24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team</a:t>
            </a:r>
            <a:r>
              <a:rPr sz="24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members.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2209</Words>
  <Application>Microsoft Office PowerPoint</Application>
  <PresentationFormat>Custom</PresentationFormat>
  <Paragraphs>396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Arial MT</vt:lpstr>
      <vt:lpstr>Calibri</vt:lpstr>
      <vt:lpstr>Comic Sans MS</vt:lpstr>
      <vt:lpstr>Courier New</vt:lpstr>
      <vt:lpstr>Times New Roman</vt:lpstr>
      <vt:lpstr>Tw Cen MT</vt:lpstr>
      <vt:lpstr>Tw Cen MT Condensed</vt:lpstr>
      <vt:lpstr>Wingdings 3</vt:lpstr>
      <vt:lpstr>Integral</vt:lpstr>
      <vt:lpstr>Evolutionary Model  with Iterations</vt:lpstr>
      <vt:lpstr>An Evolutionary and Iterative Development Process...</vt:lpstr>
      <vt:lpstr>Evolutionary Model with Iteration</vt:lpstr>
      <vt:lpstr>Evolutionary model with iteration</vt:lpstr>
      <vt:lpstr>Evolutionary Model</vt:lpstr>
      <vt:lpstr>Activities in an Iteration</vt:lpstr>
      <vt:lpstr>Evolutionary Model with Iteration</vt:lpstr>
      <vt:lpstr>Evolutionary Model (CONT.)</vt:lpstr>
      <vt:lpstr>Evolutionary Model</vt:lpstr>
      <vt:lpstr>Advantages of Evolutionary Model</vt:lpstr>
      <vt:lpstr>Advantages of evolutionary model</vt:lpstr>
      <vt:lpstr>Advantages of Evolutionary Model with Iteration</vt:lpstr>
      <vt:lpstr>Evolutionary Model: Problems</vt:lpstr>
      <vt:lpstr>RAD Model</vt:lpstr>
      <vt:lpstr>Rapid Application Development (RAD) Model</vt:lpstr>
      <vt:lpstr>Important Underlying Principle</vt:lpstr>
      <vt:lpstr>Methodology</vt:lpstr>
      <vt:lpstr>Methodology</vt:lpstr>
      <vt:lpstr>How Does RAD Facilitate Faster Development?</vt:lpstr>
      <vt:lpstr>For which Applications is RAD Suitable?</vt:lpstr>
      <vt:lpstr>For Which Applications RAD is Unsuitable?</vt:lpstr>
      <vt:lpstr>PowerPoint Presentation</vt:lpstr>
      <vt:lpstr>Prototyping versus RAD</vt:lpstr>
      <vt:lpstr>RAD versus Iterative Waterfall Model</vt:lpstr>
      <vt:lpstr>PowerPoint Presentation</vt:lpstr>
      <vt:lpstr>RAD versus  Evolutionary  Model</vt:lpstr>
      <vt:lpstr>Unified Process</vt:lpstr>
      <vt:lpstr>Unified Process</vt:lpstr>
      <vt:lpstr>Four Phases --- and iterative Development at Every phase</vt:lpstr>
      <vt:lpstr>Unified Process Iterations in Phases</vt:lpstr>
      <vt:lpstr>Unified process</vt:lpstr>
      <vt:lpstr>Unified process work products</vt:lpstr>
      <vt:lpstr>Structure of RUP Process</vt:lpstr>
      <vt:lpstr>Two dimensions of Unified Process</vt:lpstr>
      <vt:lpstr>Inception activities</vt:lpstr>
      <vt:lpstr>PowerPoint Presentation</vt:lpstr>
      <vt:lpstr>Spiral Model</vt:lpstr>
      <vt:lpstr>Spiral Model (CONT.)</vt:lpstr>
      <vt:lpstr>Spiral Model</vt:lpstr>
      <vt:lpstr>PowerPoint Presentation</vt:lpstr>
      <vt:lpstr>Risk Assessment and Reduction (Second Quadrant)</vt:lpstr>
      <vt:lpstr>PowerPoint Presentation</vt:lpstr>
      <vt:lpstr>PowerPoint Presentation</vt:lpstr>
      <vt:lpstr>Agile Models</vt:lpstr>
      <vt:lpstr>PowerPoint Presentation</vt:lpstr>
      <vt:lpstr>Agile Model</vt:lpstr>
      <vt:lpstr>Ideology: Agile Manifesto</vt:lpstr>
      <vt:lpstr>PowerPoint Presentation</vt:lpstr>
      <vt:lpstr>Agile Model: Principal Techniques</vt:lpstr>
      <vt:lpstr>Agile Model: Nitty Gritty</vt:lpstr>
      <vt:lpstr>Methodology</vt:lpstr>
      <vt:lpstr>Face-to-face  at whiteboard</vt:lpstr>
      <vt:lpstr>Agile Model: Principles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Model  with Iterations</dc:title>
  <dc:creator>santosh</dc:creator>
  <cp:lastModifiedBy>santosh</cp:lastModifiedBy>
  <cp:revision>1</cp:revision>
  <dcterms:created xsi:type="dcterms:W3CDTF">2023-08-22T08:22:19Z</dcterms:created>
  <dcterms:modified xsi:type="dcterms:W3CDTF">2023-08-22T08:24:21Z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2023-08-22T00:00:00Z</vt:filetime>
  </property>
</Properties>
</file>