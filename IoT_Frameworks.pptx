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63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0EF8-D1AF-ABA6-115A-BCCE4F7B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FFE53-D3C2-67B0-B35C-C546D0B3C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0CA0F-A1F6-A818-8D80-E3817FEC2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FD57F-89AB-59CC-0EBA-1C33BCB1C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37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292608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2926080" y="5212080"/>
            <a:ext cx="640080" cy="64008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5212080"/>
            <a:ext cx="237744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914400"/>
            <a:ext cx="192024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052560" y="914400"/>
            <a:ext cx="548640" cy="54864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1463040"/>
            <a:ext cx="0" cy="91440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0"/>
            <a:ext cx="0" cy="91440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2452" y="517093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0" name="Shape 8"/>
          <p:cNvSpPr/>
          <p:nvPr/>
        </p:nvSpPr>
        <p:spPr>
          <a:xfrm>
            <a:off x="2884932" y="581101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1" name="Shape 9"/>
          <p:cNvSpPr/>
          <p:nvPr/>
        </p:nvSpPr>
        <p:spPr>
          <a:xfrm>
            <a:off x="11480292" y="87325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1412" y="233629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5238" y="4967478"/>
            <a:ext cx="854964" cy="854964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9050">
            <a:solidFill>
              <a:srgbClr val="3AAF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65544" y="4718761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65544" y="5822442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56521" y="5127784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60202" y="5127784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4718761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5822442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6521" y="5394960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0202" y="5394960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99896" y="4718761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99896" y="5822442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56521" y="5662136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60202" y="5662136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·  TECHNOLOGY FOR IoT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Frameworks for IoT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 device-side frameworks: Arduino, ESP-IDF, FreeRTOS, and MicroPython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3886200"/>
            <a:ext cx="2011680" cy="0"/>
          </a:xfrm>
          <a:prstGeom prst="line">
            <a:avLst/>
          </a:prstGeom>
          <a:noFill/>
          <a:ln w="38100">
            <a:solidFill>
              <a:srgbClr val="FFC1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3434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33425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Framework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07792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07792" y="433425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69664" y="43434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9664" y="433425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Tasks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71616" y="43434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433425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240280"/>
            <a:ext cx="402336" cy="402336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240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6736" y="214884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a "framework"?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953512"/>
            <a:ext cx="402336" cy="402336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6736" y="28620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Recap: the Arduino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575304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666744"/>
            <a:ext cx="402336" cy="402336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666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16736" y="3575304"/>
            <a:ext cx="4443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ESP-IDF — the native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0760" y="2148840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27064" y="2240280"/>
            <a:ext cx="402336" cy="402336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1" name="Text 19"/>
          <p:cNvSpPr/>
          <p:nvPr/>
        </p:nvSpPr>
        <p:spPr>
          <a:xfrm>
            <a:off x="6227064" y="2240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57416" y="2148840"/>
            <a:ext cx="40287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RTOS concept &amp; FreeRTOS tasks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0760" y="2862072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2953512"/>
            <a:ext cx="402336" cy="402336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6" name="Text 24"/>
          <p:cNvSpPr/>
          <p:nvPr/>
        </p:nvSpPr>
        <p:spPr>
          <a:xfrm>
            <a:off x="6227064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57416" y="28620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MicroPython / CircuitPython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80760" y="3575304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3666744"/>
            <a:ext cx="402336" cy="402336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1" name="Text 29"/>
          <p:cNvSpPr/>
          <p:nvPr/>
        </p:nvSpPr>
        <p:spPr>
          <a:xfrm>
            <a:off x="6227064" y="3666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57416" y="3575304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 &amp; choosing the right one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"Framework," Exactly?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framework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the software layer between your code and the raw hardware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gives you ready-made functions 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(pinMode, digitalWrite...) instead of making you configure registers by hand.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You've been using one this whole time — the Arduino framework.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 frameworks make different trade-offs: </a:t>
            </a:r>
          </a:p>
          <a:p>
            <a:pPr>
              <a:spcAft>
                <a:spcPts val="1500"/>
              </a:spcAft>
              <a:buSzPct val="100000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ease of use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many things can run "at once."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0243E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0" y="1920240"/>
            <a:ext cx="274320" cy="548640"/>
          </a:xfrm>
          <a:prstGeom prst="roundRect">
            <a:avLst>
              <a:gd name="adj" fmla="val 13333"/>
            </a:avLst>
          </a:prstGeom>
          <a:solidFill>
            <a:srgbClr val="3AAFA9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7830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Your Sketch / App 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61120" y="2606040"/>
            <a:ext cx="0" cy="137160"/>
          </a:xfrm>
          <a:prstGeom prst="line">
            <a:avLst/>
          </a:prstGeom>
          <a:noFill/>
          <a:ln w="25400">
            <a:solidFill>
              <a:srgbClr val="3A5A7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0" y="27432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0243E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880360"/>
            <a:ext cx="274320" cy="548640"/>
          </a:xfrm>
          <a:prstGeom prst="roundRect">
            <a:avLst>
              <a:gd name="adj" fmla="val 13333"/>
            </a:avLst>
          </a:prstGeom>
          <a:solidFill>
            <a:srgbClr val="FFC14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743200"/>
            <a:ext cx="460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Framework  (Arduino / ESP-IDF / MicroPython...)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61120" y="3566160"/>
            <a:ext cx="0" cy="137160"/>
          </a:xfrm>
          <a:prstGeom prst="line">
            <a:avLst/>
          </a:prstGeom>
          <a:noFill/>
          <a:ln w="25400">
            <a:solidFill>
              <a:srgbClr val="3A5A7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0" y="37033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024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3840480"/>
            <a:ext cx="274320" cy="548640"/>
          </a:xfrm>
          <a:prstGeom prst="roundRect">
            <a:avLst>
              <a:gd name="adj" fmla="val 13333"/>
            </a:avLst>
          </a:prstGeom>
          <a:solidFill>
            <a:srgbClr val="8E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3703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RTOS / OS Layer  (often FreeRTOS)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61120" y="4526280"/>
            <a:ext cx="0" cy="137160"/>
          </a:xfrm>
          <a:prstGeom prst="line">
            <a:avLst/>
          </a:prstGeom>
          <a:noFill/>
          <a:ln w="25400">
            <a:solidFill>
              <a:srgbClr val="3A5A7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0" y="4663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0243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4800600"/>
            <a:ext cx="274320" cy="548640"/>
          </a:xfrm>
          <a:prstGeom prst="roundRect">
            <a:avLst>
              <a:gd name="adj" fmla="val 13333"/>
            </a:avLst>
          </a:prstGeom>
          <a:solidFill>
            <a:srgbClr val="5B6B82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46634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  (ESP32 chip)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5669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 closer to the metal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Arduino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C/C++ abstraction layer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massive library ecosystem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the ESP32, the Arduino framework is actually built on top of ESP-IDF underneath.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around two functions: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setup() (runs once)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loop() (runs forever).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exactly what you've used in every practical so far.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38124" y="586892"/>
            <a:ext cx="5120640" cy="4395655"/>
          </a:xfrm>
          <a:prstGeom prst="roundRect">
            <a:avLst>
              <a:gd name="adj" fmla="val 2687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66724" y="788061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6886180" y="788061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7105636" y="788061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712444" y="733197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FRAMEWORK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30732" y="1350514"/>
            <a:ext cx="4535424" cy="331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5302587"/>
            <a:ext cx="5120640" cy="1374400"/>
          </a:xfrm>
          <a:prstGeom prst="roundRect">
            <a:avLst>
              <a:gd name="adj" fmla="val 7826"/>
            </a:avLst>
          </a:prstGeom>
          <a:solidFill>
            <a:srgbClr val="E8F4F3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5526523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Strengths:  </a:t>
            </a:r>
            <a:r>
              <a:rPr lang="en-US" sz="2000" dirty="0">
                <a:solidFill>
                  <a:srgbClr val="1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community, tons of libraries, beginner-friendly, fastest way to get something working.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...But Arduino Has a Catch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loop() runs everything sequentially, one line after another — nothing else happens while a line is executing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delay() blocks the entire program. While it waits, the board can't read a sensor, respond to a button, or do anything else.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 for a simple blink demo. </a:t>
            </a:r>
            <a:r>
              <a:rPr lang="en-US" b="1" dirty="0">
                <a:solidFill>
                  <a:srgbClr val="16233A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real problem </a:t>
            </a:r>
            <a:r>
              <a:rPr lang="en-US" dirty="0">
                <a:solidFill>
                  <a:srgbClr val="16233A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once a project needs multiple things happening "at the same time."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187452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0EE"/>
          </a:solidFill>
          <a:ln w="12700">
            <a:solidFill>
              <a:srgbClr val="E0645A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0" y="246888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8A241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delay(5000)</a:t>
            </a:r>
            <a:r>
              <a:rPr lang="en-US" dirty="0">
                <a:solidFill>
                  <a:srgbClr val="6B24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freezes EVERYTHING for 5 full seconds — sensors, buttons, WiFi handling — all paused.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425196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10243E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WE'LL SEE TODAY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8006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FE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ways out: write closer to the hardware with ESP-IDF, or restructure code into independent FreeRTOS tasks that don't block each other.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ESP-IDF — The Native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IDF = IoT Development Framework — Espressif's own official framework for the ESP32.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Written in plain C, and the Arduino-ESP32 core is actually built on top of 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Gives direct access to low-level features Arduino hides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fine-grained WiFi config, deep-sleep tuning, precise timer/interrupt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on FreeRTOS underneath —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multitasking is available natively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187452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10243E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C1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IS BUILT ON ESP-IDF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675120" y="25146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314F"/>
          </a:solidFill>
          <a:ln/>
        </p:spPr>
      </p:sp>
      <p:sp>
        <p:nvSpPr>
          <p:cNvPr id="8" name="Shape 6"/>
          <p:cNvSpPr/>
          <p:nvPr/>
        </p:nvSpPr>
        <p:spPr>
          <a:xfrm>
            <a:off x="6812280" y="2651760"/>
            <a:ext cx="182880" cy="18288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2514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12280" y="3081528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16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0" y="3218688"/>
            <a:ext cx="182880" cy="18288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3081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ESP-IDF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49440" y="3648456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3785616"/>
            <a:ext cx="182880" cy="182880"/>
          </a:xfrm>
          <a:prstGeom prst="ellipse">
            <a:avLst/>
          </a:prstGeom>
          <a:solidFill>
            <a:srgbClr val="8E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36484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FreeRTOS + Hardware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4526280"/>
            <a:ext cx="5120640" cy="1463040"/>
          </a:xfrm>
          <a:prstGeom prst="roundRect">
            <a:avLst>
              <a:gd name="adj" fmla="val 5625"/>
            </a:avLst>
          </a:prstGeom>
          <a:solidFill>
            <a:srgbClr val="FFF6E0"/>
          </a:solidFill>
          <a:ln w="12700">
            <a:solidFill>
              <a:srgbClr val="FFC145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6634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Trade-off:  </a:t>
            </a:r>
            <a:r>
              <a:rPr lang="en-US" sz="2000" dirty="0">
                <a:solidFill>
                  <a:srgbClr val="6B5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steeper learning curve, more boilerplate code — you write more to do the same simple task, in exchange for more control.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Two Frameworks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Blinking an LED — Arduino framework vs raw ESP-IDF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6179" y="1956629"/>
            <a:ext cx="4174523" cy="3865673"/>
          </a:xfrm>
          <a:prstGeom prst="roundRect">
            <a:avLst>
              <a:gd name="adj" fmla="val 1915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4779" y="2157797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724235" y="2157797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43691" y="2157797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33963" y="2102933"/>
            <a:ext cx="33610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8787" y="2486981"/>
            <a:ext cx="4809744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62662" y="1956629"/>
            <a:ext cx="6135818" cy="3865674"/>
          </a:xfrm>
          <a:prstGeom prst="roundRect">
            <a:avLst>
              <a:gd name="adj" fmla="val 1915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262" y="2157797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0718" y="2157797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230174" y="2157797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1890" y="2102933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55270" y="2486981"/>
            <a:ext cx="556701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app_main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gpio_set_direction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GPIO_MODE_OUTPUT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gpio_set_level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portTICK_PERIOD_MS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gpio_set_level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portTICK_PERIOD_MS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Concepts Across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813816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setup() + loop()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6440" y="1920240"/>
            <a:ext cx="365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1920240"/>
            <a:ext cx="5120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app_main() </a:t>
            </a:r>
            <a:r>
              <a:rPr lang="en-US" b="1" dirty="0">
                <a:solidFill>
                  <a:srgbClr val="8A61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with a </a:t>
            </a:r>
            <a:r>
              <a:rPr lang="en-US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while(1) </a:t>
            </a:r>
            <a:r>
              <a:rPr lang="en-US" b="1" dirty="0">
                <a:solidFill>
                  <a:srgbClr val="8A61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loop inside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813816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80360"/>
            <a:ext cx="48463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pinMode()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06440" y="2880360"/>
            <a:ext cx="365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2880360"/>
            <a:ext cx="5120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gpio_set_direction()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813816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840480"/>
            <a:ext cx="48463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digitalWrite()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06440" y="3840480"/>
            <a:ext cx="365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840480"/>
            <a:ext cx="5120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gpio_set_level()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813816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800600"/>
            <a:ext cx="48463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delay(ms)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06440" y="4800600"/>
            <a:ext cx="365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4800600"/>
            <a:ext cx="5120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vTaskDelay(ms / portTICK_PERIOD_MS)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idea, different level of abstraction — everything Arduino does, ESP-IDF does more explicitly.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E7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an RTOS?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IoT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projects often need several things happening independently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blink an LED, read a sensor, check WiFi, respond to a button — all "at once."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loop() with delay() calls can't do this — one blocking call freezes everything else.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RTOS (Real-Time Operating System) lets you split code into independent tasks that the chip switches between rapidly.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has FreeRTOS built in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 Arduino sketches secretly run inside one FreeRTOS task already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187452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FF0EE"/>
          </a:solidFill>
          <a:ln w="12700">
            <a:solidFill>
              <a:srgbClr val="E0645A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loop() — SEQUENTIAL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2377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A2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 LED  →  wait  →  read sensor  →  wait  →  check WiFi  →  ...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0" y="4023360"/>
            <a:ext cx="5120640" cy="2194560"/>
          </a:xfrm>
          <a:prstGeom prst="roundRect">
            <a:avLst>
              <a:gd name="adj" fmla="val 3750"/>
            </a:avLst>
          </a:prstGeom>
          <a:solidFill>
            <a:srgbClr val="10243E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431914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TASKS — CONCURRENT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675120" y="4739766"/>
            <a:ext cx="128016" cy="128016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459346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Blink LED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75120" y="5151246"/>
            <a:ext cx="128016" cy="12801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500494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Read sensor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5562726"/>
            <a:ext cx="128016" cy="128016"/>
          </a:xfrm>
          <a:prstGeom prst="ellipse">
            <a:avLst/>
          </a:prstGeom>
          <a:solidFill>
            <a:srgbClr val="8E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541642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Handle WiFi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E7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Tasks — In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77036"/>
            <a:ext cx="5394960" cy="5198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xTaskCreate() </a:t>
            </a:r>
          </a:p>
          <a:p>
            <a:pPr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spins up a new independent task — its own function, running alongside everything else.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Inside a task, vTaskDelay() </a:t>
            </a:r>
          </a:p>
          <a:p>
            <a:pPr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pauses only that task — other tasks keep running.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 can create a task from setup() itself, even in the Arduino framework, using its underlying FreeRTOS support.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loop() can end up doing nothing at all — the real work happens in tasks.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182880"/>
            <a:ext cx="5673012" cy="6492240"/>
          </a:xfrm>
          <a:prstGeom prst="roundRect">
            <a:avLst>
              <a:gd name="adj" fmla="val 18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0" y="342986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6848856" y="34298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34298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8812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FreeRTOS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93408" y="672170"/>
            <a:ext cx="507492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blinkTask(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*pvParameters) {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portTICK_PERIOD_MS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portTICK_PERIOD_MS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xTaskCreate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(blinkTask, </a:t>
            </a:r>
            <a:r>
              <a:rPr lang="en-US" sz="1600" dirty="0">
                <a:solidFill>
                  <a:srgbClr val="F1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"Blink"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empty -- task handles blinking</a:t>
            </a:r>
            <a:endParaRPr lang="en-US" sz="16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0430-61D4-B1EC-CBB6-95A0F4A8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32E1F2-DBBE-C1CD-55EC-C932AE7771FA}"/>
              </a:ext>
            </a:extLst>
          </p:cNvPr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E7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(CONTD.)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8829BB-2A45-F8EE-EA15-E2879125ED80}"/>
              </a:ext>
            </a:extLst>
          </p:cNvPr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Tasks — In Code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4F0C51-331F-6F41-C743-C5B88B777BAC}"/>
              </a:ext>
            </a:extLst>
          </p:cNvPr>
          <p:cNvSpPr/>
          <p:nvPr/>
        </p:nvSpPr>
        <p:spPr>
          <a:xfrm>
            <a:off x="612647" y="1477036"/>
            <a:ext cx="6688265" cy="5198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xTaskCreate() </a:t>
            </a:r>
          </a:p>
          <a:p>
            <a:pPr>
              <a:spcAft>
                <a:spcPts val="1200"/>
              </a:spcAft>
              <a:buSzPct val="100000"/>
            </a:pPr>
            <a:r>
              <a:rPr lang="en-I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xTaskCreate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blinkTask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BAB92D8-D30E-E350-0320-3BF2C50814D0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9133751-7645-9472-E963-43243E2C4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84139"/>
              </p:ext>
            </p:extLst>
          </p:nvPr>
        </p:nvGraphicFramePr>
        <p:xfrm>
          <a:off x="797046" y="2521714"/>
          <a:ext cx="10358634" cy="4153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504">
                  <a:extLst>
                    <a:ext uri="{9D8B030D-6E8A-4147-A177-3AD203B41FA5}">
                      <a16:colId xmlns:a16="http://schemas.microsoft.com/office/drawing/2014/main" val="1827603468"/>
                    </a:ext>
                  </a:extLst>
                </a:gridCol>
                <a:gridCol w="1376322">
                  <a:extLst>
                    <a:ext uri="{9D8B030D-6E8A-4147-A177-3AD203B41FA5}">
                      <a16:colId xmlns:a16="http://schemas.microsoft.com/office/drawing/2014/main" val="3180926431"/>
                    </a:ext>
                  </a:extLst>
                </a:gridCol>
                <a:gridCol w="2085346">
                  <a:extLst>
                    <a:ext uri="{9D8B030D-6E8A-4147-A177-3AD203B41FA5}">
                      <a16:colId xmlns:a16="http://schemas.microsoft.com/office/drawing/2014/main" val="3865313631"/>
                    </a:ext>
                  </a:extLst>
                </a:gridCol>
                <a:gridCol w="6317462">
                  <a:extLst>
                    <a:ext uri="{9D8B030D-6E8A-4147-A177-3AD203B41FA5}">
                      <a16:colId xmlns:a16="http://schemas.microsoft.com/office/drawing/2014/main" val="4183976607"/>
                    </a:ext>
                  </a:extLst>
                </a:gridCol>
              </a:tblGrid>
              <a:tr h="38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Argument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Value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7921111"/>
                  </a:ext>
                </a:extLst>
              </a:tr>
              <a:tr h="6274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blinkTask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function becomes the new task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91776693"/>
                  </a:ext>
                </a:extLst>
              </a:tr>
              <a:tr h="6274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"Blink"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 a label, useful for debugging (shows up in task lists)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22018996"/>
                  </a:ext>
                </a:extLst>
              </a:tr>
              <a:tr h="6274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 size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many bytes of stack this task gets — separate from the main loop() task's stack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3835863"/>
                  </a:ext>
                </a:extLst>
              </a:tr>
              <a:tr h="6274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Nothing passed into blinkTask's pvParameters (used to pass data into the task at creation)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12851626"/>
                  </a:ext>
                </a:extLst>
              </a:tr>
              <a:tr h="6274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 priority — higher number = runs more eagerly when tasks compete for CPU time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02438528"/>
                  </a:ext>
                </a:extLst>
              </a:tr>
              <a:tr h="6274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handle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keeping a reference to control/delete this task later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78234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04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E7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delay() vs vTaskDelay() — The Key Difference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0EE"/>
          </a:solidFill>
          <a:ln w="12700">
            <a:solidFill>
              <a:srgbClr val="E0645A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23A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delay()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6B24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Freezes the ENTIRE program.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6B24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Nothing else can run — no other task, no sensor check, nothing.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 only when nothing else needs to happen during the wait.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E8F4F3"/>
          </a:solidFill>
          <a:ln w="12700">
            <a:solidFill>
              <a:srgbClr val="3AAFA9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6B6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vTaskDelay()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4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Pauses only the CURRENT task.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4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Other tasks keep running normally during that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what makes true multitasking possible on the ESP32.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MicroPython / CircuitPython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completely different approach: write and run actual Python directly on the microcontroller.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separate compile step — flash MicroPython once, then just copy/edit .py files onto the board.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Comes with a REPL — an interactive prompt where you can type a command and see it run instantly on the hardware.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CircuitPython (by Adafruit) is a friendly variant, popular in education and beginner boards.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1874520"/>
            <a:ext cx="5120640" cy="274320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FC1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FEELS DIFFERENT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675120" y="256946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8" name="Text 6"/>
          <p:cNvSpPr/>
          <p:nvPr/>
        </p:nvSpPr>
        <p:spPr>
          <a:xfrm>
            <a:off x="6931152" y="24048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compiling — </a:t>
            </a:r>
            <a:r>
              <a:rPr lang="en-US" dirty="0">
                <a:solidFill>
                  <a:srgbClr val="CFE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edit → save → it just runs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75120" y="325526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0" name="Text 8"/>
          <p:cNvSpPr/>
          <p:nvPr/>
        </p:nvSpPr>
        <p:spPr>
          <a:xfrm>
            <a:off x="6931152" y="30906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REPL — </a:t>
            </a:r>
            <a:r>
              <a:rPr lang="en-US" dirty="0">
                <a:solidFill>
                  <a:srgbClr val="CFE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a line, see it execute live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75120" y="394106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2" name="Text 10"/>
          <p:cNvSpPr/>
          <p:nvPr/>
        </p:nvSpPr>
        <p:spPr>
          <a:xfrm>
            <a:off x="6931152" y="3776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syntax — </a:t>
            </a:r>
            <a:r>
              <a:rPr lang="en-US" dirty="0">
                <a:solidFill>
                  <a:srgbClr val="CFE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semicolons, no curly braces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Blink, in MicroPython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59"/>
            <a:ext cx="5394960" cy="4434839"/>
          </a:xfrm>
          <a:prstGeom prst="roundRect">
            <a:avLst>
              <a:gd name="adj" fmla="val 20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6712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" y="21671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21671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122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(C++)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2496312"/>
            <a:ext cx="480974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120640" cy="4434840"/>
          </a:xfrm>
          <a:prstGeom prst="roundRect">
            <a:avLst>
              <a:gd name="adj" fmla="val 20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6712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48856" y="21671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068312" y="21671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122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93408" y="2496312"/>
            <a:ext cx="453542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machine 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=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.OUT)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MicroPython — Trade-offs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E8F4F3"/>
          </a:solidFill>
          <a:ln w="12700">
            <a:solidFill>
              <a:srgbClr val="3AAFA9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B6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B4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Much faster to prototype — no compile/upload cycle.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B4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REPL for quick testing and debugging.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Gentler syntax — great for teaching programming concepts.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FFF0EE"/>
          </a:solidFill>
          <a:ln w="12700">
            <a:solidFill>
              <a:srgbClr val="E0645A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✗  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6B24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Slower execution than compiled C/C++.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6B24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Higher RAM overhead — less headroom for large projects.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ideal for tight timing or high-performance tasks.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FRAMEWORK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9319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FOR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2237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CURVE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MULTITASKING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1905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Arduino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319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Quick prototypes, learning, huge library support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2376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0976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only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881360" cy="914400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ESP-IDF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31920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Production firmware, fine-grained hardware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23760" y="33832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09760" y="3383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Native (FreeRTOS)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FreeRTOS tasks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31920" y="4297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concurrent operations in real products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23760" y="4297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Medium–High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09760" y="4297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MicroPython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93192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Rapid scripting, education, quick experiments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5212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09760" y="5212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(CONTD.)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I Actually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6675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Just starting out / a class project?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63840" y="2189988"/>
            <a:ext cx="3383280" cy="438912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1808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017520"/>
            <a:ext cx="6675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 max performance or deep hardware access?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63840" y="3241548"/>
            <a:ext cx="3383280" cy="438912"/>
          </a:xfrm>
          <a:prstGeom prst="roundRect">
            <a:avLst>
              <a:gd name="adj" fmla="val 50000"/>
            </a:avLst>
          </a:prstGeom>
          <a:solidFill>
            <a:srgbClr val="FFC145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32324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ESP-IDF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069080"/>
            <a:ext cx="6675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needs several things running independently?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863840" y="4293108"/>
            <a:ext cx="3383280" cy="438912"/>
          </a:xfrm>
          <a:prstGeom prst="roundRect">
            <a:avLst>
              <a:gd name="adj" fmla="val 50000"/>
            </a:avLst>
          </a:prstGeom>
          <a:solidFill>
            <a:srgbClr val="8E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42839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FreeRTOS tasks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120640"/>
            <a:ext cx="6675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Want to prototype fast, or learning programming basics?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63840" y="5344668"/>
            <a:ext cx="3383280" cy="438912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53355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219456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217920"/>
            <a:ext cx="2130552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53412" y="78181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5" name="Shape 3"/>
          <p:cNvSpPr/>
          <p:nvPr/>
        </p:nvSpPr>
        <p:spPr>
          <a:xfrm>
            <a:off x="10017252" y="617677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Take Away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56384" y="1691640"/>
            <a:ext cx="7990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 the abstraction layer between code and hardware — you've always used 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775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Arduino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56384" y="2587752"/>
            <a:ext cx="7990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 easiest to start, but single-threaded and delay() blocks everything.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8386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ESP-IDF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56384" y="3483864"/>
            <a:ext cx="7990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 native, more control, more code — what Arduino is built 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4379976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7997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FreeRTOS tasks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56384" y="4379976"/>
            <a:ext cx="7990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 the real fix for "multiple things at once" — vTaskDelay() doesn't block other tasks.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5276088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7608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MicroPython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56384" y="5276088"/>
            <a:ext cx="7990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 fastest to prototype, but slower and less memory-efficient than compiled 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1808</Words>
  <Application>Microsoft Office PowerPoint</Application>
  <PresentationFormat>Widescreen</PresentationFormat>
  <Paragraphs>311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Mahesh Kumar</cp:lastModifiedBy>
  <cp:revision>5</cp:revision>
  <dcterms:created xsi:type="dcterms:W3CDTF">2026-08-19T08:47:13Z</dcterms:created>
  <dcterms:modified xsi:type="dcterms:W3CDTF">2026-09-01T09:17:28Z</dcterms:modified>
</cp:coreProperties>
</file>