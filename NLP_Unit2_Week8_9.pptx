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594" r:id="rId2"/>
    <p:sldId id="595" r:id="rId3"/>
    <p:sldId id="436" r:id="rId4"/>
    <p:sldId id="585" r:id="rId5"/>
    <p:sldId id="586" r:id="rId6"/>
    <p:sldId id="591" r:id="rId7"/>
    <p:sldId id="592" r:id="rId8"/>
    <p:sldId id="587" r:id="rId9"/>
    <p:sldId id="588" r:id="rId10"/>
    <p:sldId id="589" r:id="rId11"/>
    <p:sldId id="590" r:id="rId12"/>
    <p:sldId id="593" r:id="rId13"/>
    <p:sldId id="596"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47" autoAdjust="0"/>
    <p:restoredTop sz="90056" autoAdjust="0"/>
  </p:normalViewPr>
  <p:slideViewPr>
    <p:cSldViewPr>
      <p:cViewPr varScale="1">
        <p:scale>
          <a:sx n="82" d="100"/>
          <a:sy n="82" d="100"/>
        </p:scale>
        <p:origin x="1320"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5F9673B-F029-4EB6-981F-6118A75E367B}" type="datetimeFigureOut">
              <a:rPr lang="en-US" smtClean="0"/>
              <a:pPr/>
              <a:t>9/9/2026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B1F8E48-716F-463C-9A2D-BA57804D2BAF}"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D138486-EADF-6047-899A-01D4ECB9C2CD}" type="slidenum">
              <a:rPr kumimoji="0" lang="en-US" sz="1200" b="0" i="0" u="none" strike="noStrike" kern="1200" cap="none" spc="0" normalizeH="0" baseline="0" noProof="0">
                <a:ln>
                  <a:noFill/>
                </a:ln>
                <a:solidFill>
                  <a:srgbClr val="000000"/>
                </a:solidFill>
                <a:effectLst/>
                <a:uLnTx/>
                <a:uFillTx/>
                <a:latin typeface="Calibri"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sz="1200" b="0" i="0" u="none" strike="noStrike" kern="1200" cap="none" spc="0" normalizeH="0" baseline="0" noProof="0">
              <a:ln>
                <a:noFill/>
              </a:ln>
              <a:solidFill>
                <a:srgbClr val="000000"/>
              </a:solidFill>
              <a:effectLst/>
              <a:uLnTx/>
              <a:uFillTx/>
              <a:latin typeface="Calibri" charset="0"/>
              <a:ea typeface="ＭＳ Ｐゴシック" charset="0"/>
            </a:endParaRPr>
          </a:p>
        </p:txBody>
      </p:sp>
      <p:sp>
        <p:nvSpPr>
          <p:cNvPr id="6553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5539"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spcBef>
                <a:spcPct val="0"/>
              </a:spcBef>
            </a:pPr>
            <a:endParaRPr lang="en-US">
              <a:latin typeface="Calibri" charset="0"/>
              <a:ea typeface="ＭＳ Ｐゴシック" charset="0"/>
              <a:cs typeface="ＭＳ Ｐゴシック" charset="0"/>
            </a:endParaRPr>
          </a:p>
        </p:txBody>
      </p:sp>
    </p:spTree>
    <p:extLst>
      <p:ext uri="{BB962C8B-B14F-4D97-AF65-F5344CB8AC3E}">
        <p14:creationId xmlns:p14="http://schemas.microsoft.com/office/powerpoint/2010/main" val="3039714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857A6-5C95-DC12-AE90-149AE5D77281}"/>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EB3342DF-6025-18CB-C5B1-E3045B2A1DE2}"/>
              </a:ext>
            </a:extLst>
          </p:cNvPr>
          <p:cNvSpPr>
            <a:spLocks noGrp="1"/>
          </p:cNvSpPr>
          <p:nvPr>
            <p:ph type="subTitle" idx="1"/>
          </p:nvPr>
        </p:nvSpPr>
        <p:spPr>
          <a:xfrm>
            <a:off x="1143000" y="3602037"/>
            <a:ext cx="6858000" cy="165576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0C4A5C9-1957-5B55-17A8-4160E011C58D}"/>
              </a:ext>
            </a:extLst>
          </p:cNvPr>
          <p:cNvSpPr>
            <a:spLocks noGrp="1"/>
          </p:cNvSpPr>
          <p:nvPr>
            <p:ph type="dt" sz="half" idx="10"/>
          </p:nvPr>
        </p:nvSpPr>
        <p:spPr/>
        <p:txBody>
          <a:bodyPr/>
          <a:lstStyle/>
          <a:p>
            <a:fld id="{240CDC23-E565-C848-9AF6-12BD09C53D91}" type="datetimeFigureOut">
              <a:rPr lang="en-US" smtClean="0"/>
              <a:t>9/9/2026</a:t>
            </a:fld>
            <a:endParaRPr lang="en-US"/>
          </a:p>
        </p:txBody>
      </p:sp>
      <p:sp>
        <p:nvSpPr>
          <p:cNvPr id="5" name="Footer Placeholder 4">
            <a:extLst>
              <a:ext uri="{FF2B5EF4-FFF2-40B4-BE49-F238E27FC236}">
                <a16:creationId xmlns:a16="http://schemas.microsoft.com/office/drawing/2014/main" id="{AD2289FE-29CB-5C33-00FB-3114008B89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E48E4D-DBCE-69C7-1F3F-7D5EF1FB6EF3}"/>
              </a:ext>
            </a:extLst>
          </p:cNvPr>
          <p:cNvSpPr>
            <a:spLocks noGrp="1"/>
          </p:cNvSpPr>
          <p:nvPr>
            <p:ph type="sldNum" sz="quarter" idx="12"/>
          </p:nvPr>
        </p:nvSpPr>
        <p:spPr/>
        <p:txBody>
          <a:bodyPr/>
          <a:lstStyle/>
          <a:p>
            <a:fld id="{D07771B2-D7F7-364E-B6F3-F7FE93606BCE}" type="slidenum">
              <a:rPr lang="en-US" smtClean="0"/>
              <a:t>‹#›</a:t>
            </a:fld>
            <a:endParaRPr lang="en-US"/>
          </a:p>
        </p:txBody>
      </p:sp>
      <p:sp>
        <p:nvSpPr>
          <p:cNvPr id="7" name="Rectangle 6">
            <a:extLst>
              <a:ext uri="{FF2B5EF4-FFF2-40B4-BE49-F238E27FC236}">
                <a16:creationId xmlns:a16="http://schemas.microsoft.com/office/drawing/2014/main" id="{CE08C0D9-79B2-7D6B-C70C-CB76F988CC71}"/>
              </a:ext>
            </a:extLst>
          </p:cNvPr>
          <p:cNvSpPr/>
          <p:nvPr userDrawn="1"/>
        </p:nvSpPr>
        <p:spPr>
          <a:xfrm rot="16200000">
            <a:off x="-3406515" y="3331565"/>
            <a:ext cx="6858003" cy="1948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a:extLst>
              <a:ext uri="{FF2B5EF4-FFF2-40B4-BE49-F238E27FC236}">
                <a16:creationId xmlns:a16="http://schemas.microsoft.com/office/drawing/2014/main" id="{CC2AAB34-6A63-71B6-3009-FAF6E8DA8A07}"/>
              </a:ext>
            </a:extLst>
          </p:cNvPr>
          <p:cNvSpPr/>
          <p:nvPr userDrawn="1"/>
        </p:nvSpPr>
        <p:spPr>
          <a:xfrm rot="16200000" flipV="1">
            <a:off x="-3299855" y="3421130"/>
            <a:ext cx="6858003"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879352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0AC9A-EF2C-8DC0-336E-A45F2D2B3E3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DB52AF2-1F65-0A9A-3716-606A1CF2692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8453F5-FA51-41BE-7B39-4E3576AC9342}"/>
              </a:ext>
            </a:extLst>
          </p:cNvPr>
          <p:cNvSpPr>
            <a:spLocks noGrp="1"/>
          </p:cNvSpPr>
          <p:nvPr>
            <p:ph type="dt" sz="half" idx="10"/>
          </p:nvPr>
        </p:nvSpPr>
        <p:spPr/>
        <p:txBody>
          <a:bodyPr/>
          <a:lstStyle/>
          <a:p>
            <a:fld id="{240CDC23-E565-C848-9AF6-12BD09C53D91}" type="datetimeFigureOut">
              <a:rPr lang="en-US" smtClean="0"/>
              <a:t>9/9/2026</a:t>
            </a:fld>
            <a:endParaRPr lang="en-US"/>
          </a:p>
        </p:txBody>
      </p:sp>
      <p:sp>
        <p:nvSpPr>
          <p:cNvPr id="5" name="Footer Placeholder 4">
            <a:extLst>
              <a:ext uri="{FF2B5EF4-FFF2-40B4-BE49-F238E27FC236}">
                <a16:creationId xmlns:a16="http://schemas.microsoft.com/office/drawing/2014/main" id="{75B4D116-0324-D382-0007-AA0BDA793801}"/>
              </a:ext>
            </a:extLst>
          </p:cNvPr>
          <p:cNvSpPr>
            <a:spLocks noGrp="1"/>
          </p:cNvSpPr>
          <p:nvPr>
            <p:ph type="ftr" sz="quarter" idx="11"/>
          </p:nvPr>
        </p:nvSpPr>
        <p:spPr/>
        <p:txBody>
          <a:bodyPr/>
          <a:lstStyle/>
          <a:p>
            <a:r>
              <a:rPr lang="en-US"/>
              <a:t>Slides adapted from Jure Leskovec</a:t>
            </a:r>
            <a:endParaRPr lang="en-US" sz="525"/>
          </a:p>
          <a:p>
            <a:endParaRPr lang="en-US" dirty="0"/>
          </a:p>
        </p:txBody>
      </p:sp>
      <p:sp>
        <p:nvSpPr>
          <p:cNvPr id="6" name="Slide Number Placeholder 5">
            <a:extLst>
              <a:ext uri="{FF2B5EF4-FFF2-40B4-BE49-F238E27FC236}">
                <a16:creationId xmlns:a16="http://schemas.microsoft.com/office/drawing/2014/main" id="{E748A64B-8DB7-C087-6511-87AC42FFC2CA}"/>
              </a:ext>
            </a:extLst>
          </p:cNvPr>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76212536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B0083-7AFC-BA41-05F7-548D13A4061C}"/>
              </a:ext>
            </a:extLst>
          </p:cNvPr>
          <p:cNvSpPr>
            <a:spLocks noGrp="1"/>
          </p:cNvSpPr>
          <p:nvPr>
            <p:ph type="title"/>
          </p:nvPr>
        </p:nvSpPr>
        <p:spPr>
          <a:xfrm>
            <a:off x="623888" y="1709740"/>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798A8A1-DF26-AE04-0348-09FE456570FA}"/>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9D4762-DE9A-D3D8-3DA2-6C82F7985C1C}"/>
              </a:ext>
            </a:extLst>
          </p:cNvPr>
          <p:cNvSpPr>
            <a:spLocks noGrp="1"/>
          </p:cNvSpPr>
          <p:nvPr>
            <p:ph type="dt" sz="half" idx="10"/>
          </p:nvPr>
        </p:nvSpPr>
        <p:spPr/>
        <p:txBody>
          <a:bodyPr/>
          <a:lstStyle/>
          <a:p>
            <a:fld id="{240CDC23-E565-C848-9AF6-12BD09C53D91}" type="datetimeFigureOut">
              <a:rPr lang="en-US" smtClean="0"/>
              <a:t>9/9/2026</a:t>
            </a:fld>
            <a:endParaRPr lang="en-US"/>
          </a:p>
        </p:txBody>
      </p:sp>
      <p:sp>
        <p:nvSpPr>
          <p:cNvPr id="5" name="Footer Placeholder 4">
            <a:extLst>
              <a:ext uri="{FF2B5EF4-FFF2-40B4-BE49-F238E27FC236}">
                <a16:creationId xmlns:a16="http://schemas.microsoft.com/office/drawing/2014/main" id="{DF6A994A-32E1-4C28-5A82-D93E8E8893A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8A0B9DC-CC6D-4439-E0A1-0DFD941D06A7}"/>
              </a:ext>
            </a:extLst>
          </p:cNvPr>
          <p:cNvSpPr>
            <a:spLocks noGrp="1"/>
          </p:cNvSpPr>
          <p:nvPr>
            <p:ph type="sldNum" sz="quarter" idx="12"/>
          </p:nvPr>
        </p:nvSpPr>
        <p:spPr/>
        <p:txBody>
          <a:bodyPr/>
          <a:lstStyle/>
          <a:p>
            <a:fld id="{D07771B2-D7F7-364E-B6F3-F7FE93606BCE}" type="slidenum">
              <a:rPr lang="en-US" smtClean="0"/>
              <a:t>‹#›</a:t>
            </a:fld>
            <a:endParaRPr lang="en-US"/>
          </a:p>
        </p:txBody>
      </p:sp>
      <p:sp>
        <p:nvSpPr>
          <p:cNvPr id="7" name="Rectangle 6">
            <a:extLst>
              <a:ext uri="{FF2B5EF4-FFF2-40B4-BE49-F238E27FC236}">
                <a16:creationId xmlns:a16="http://schemas.microsoft.com/office/drawing/2014/main" id="{562CFA9E-F33B-2DA5-6D69-5C55D258D8E4}"/>
              </a:ext>
            </a:extLst>
          </p:cNvPr>
          <p:cNvSpPr/>
          <p:nvPr userDrawn="1"/>
        </p:nvSpPr>
        <p:spPr>
          <a:xfrm rot="16200000">
            <a:off x="-3414010" y="3339060"/>
            <a:ext cx="6858003" cy="17988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a:extLst>
              <a:ext uri="{FF2B5EF4-FFF2-40B4-BE49-F238E27FC236}">
                <a16:creationId xmlns:a16="http://schemas.microsoft.com/office/drawing/2014/main" id="{435CAE60-732E-99B3-FCF4-9C23A667EFB8}"/>
              </a:ext>
            </a:extLst>
          </p:cNvPr>
          <p:cNvSpPr/>
          <p:nvPr userDrawn="1"/>
        </p:nvSpPr>
        <p:spPr>
          <a:xfrm rot="16200000" flipV="1">
            <a:off x="-3329835" y="3406139"/>
            <a:ext cx="6858003"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3332065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2F9FA-75BA-EBC8-19EF-DA35F77873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C154E7D-F23A-F9FB-1181-256E66954B78}"/>
              </a:ext>
            </a:extLst>
          </p:cNvPr>
          <p:cNvSpPr>
            <a:spLocks noGrp="1"/>
          </p:cNvSpPr>
          <p:nvPr>
            <p:ph sz="half" idx="1"/>
          </p:nvPr>
        </p:nvSpPr>
        <p:spPr>
          <a:xfrm>
            <a:off x="628650" y="1825625"/>
            <a:ext cx="38862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E2B5E16-86FC-8FAD-3887-42C73FC14E38}"/>
              </a:ext>
            </a:extLst>
          </p:cNvPr>
          <p:cNvSpPr>
            <a:spLocks noGrp="1"/>
          </p:cNvSpPr>
          <p:nvPr>
            <p:ph sz="half" idx="2"/>
          </p:nvPr>
        </p:nvSpPr>
        <p:spPr>
          <a:xfrm>
            <a:off x="4629150" y="1825625"/>
            <a:ext cx="38862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67B3B51-06DA-A69D-6520-F00D4C9316D1}"/>
              </a:ext>
            </a:extLst>
          </p:cNvPr>
          <p:cNvSpPr>
            <a:spLocks noGrp="1"/>
          </p:cNvSpPr>
          <p:nvPr>
            <p:ph type="dt" sz="half" idx="10"/>
          </p:nvPr>
        </p:nvSpPr>
        <p:spPr/>
        <p:txBody>
          <a:bodyPr/>
          <a:lstStyle/>
          <a:p>
            <a:fld id="{240CDC23-E565-C848-9AF6-12BD09C53D91}" type="datetimeFigureOut">
              <a:rPr lang="en-US" smtClean="0"/>
              <a:t>9/9/2026</a:t>
            </a:fld>
            <a:endParaRPr lang="en-US"/>
          </a:p>
        </p:txBody>
      </p:sp>
      <p:sp>
        <p:nvSpPr>
          <p:cNvPr id="6" name="Footer Placeholder 5">
            <a:extLst>
              <a:ext uri="{FF2B5EF4-FFF2-40B4-BE49-F238E27FC236}">
                <a16:creationId xmlns:a16="http://schemas.microsoft.com/office/drawing/2014/main" id="{3C2D53B0-0D64-ABFC-F93C-84856C9A8AA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88A81C9-A0E5-2E3B-6B0F-FB80A4B26158}"/>
              </a:ext>
            </a:extLst>
          </p:cNvPr>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3859336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2C519-24C9-276D-DFD5-5E328EEDB041}"/>
              </a:ext>
            </a:extLst>
          </p:cNvPr>
          <p:cNvSpPr>
            <a:spLocks noGrp="1"/>
          </p:cNvSpPr>
          <p:nvPr>
            <p:ph type="title"/>
          </p:nvPr>
        </p:nvSpPr>
        <p:spPr>
          <a:xfrm>
            <a:off x="629841" y="365125"/>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BBBA8D2-2D9A-85AA-A4A5-5DEAC5269237}"/>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437F7AB-B416-CEE6-6B9C-CD41790F163C}"/>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22BE2BE-4746-50F0-709B-4401907ED6BB}"/>
              </a:ext>
            </a:extLst>
          </p:cNvPr>
          <p:cNvSpPr>
            <a:spLocks noGrp="1"/>
          </p:cNvSpPr>
          <p:nvPr>
            <p:ph type="body" sz="quarter" idx="3"/>
          </p:nvPr>
        </p:nvSpPr>
        <p:spPr>
          <a:xfrm>
            <a:off x="4629151"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5AD5F167-8F8D-3091-3185-A3FC070A7520}"/>
              </a:ext>
            </a:extLst>
          </p:cNvPr>
          <p:cNvSpPr>
            <a:spLocks noGrp="1"/>
          </p:cNvSpPr>
          <p:nvPr>
            <p:ph sz="quarter" idx="4"/>
          </p:nvPr>
        </p:nvSpPr>
        <p:spPr>
          <a:xfrm>
            <a:off x="4629151"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E07A156-5F7D-572F-BB68-EC4E5F7E2C7B}"/>
              </a:ext>
            </a:extLst>
          </p:cNvPr>
          <p:cNvSpPr>
            <a:spLocks noGrp="1"/>
          </p:cNvSpPr>
          <p:nvPr>
            <p:ph type="dt" sz="half" idx="10"/>
          </p:nvPr>
        </p:nvSpPr>
        <p:spPr/>
        <p:txBody>
          <a:bodyPr/>
          <a:lstStyle/>
          <a:p>
            <a:fld id="{240CDC23-E565-C848-9AF6-12BD09C53D91}" type="datetimeFigureOut">
              <a:rPr lang="en-US" smtClean="0"/>
              <a:t>9/9/2026</a:t>
            </a:fld>
            <a:endParaRPr lang="en-US"/>
          </a:p>
        </p:txBody>
      </p:sp>
      <p:sp>
        <p:nvSpPr>
          <p:cNvPr id="8" name="Footer Placeholder 7">
            <a:extLst>
              <a:ext uri="{FF2B5EF4-FFF2-40B4-BE49-F238E27FC236}">
                <a16:creationId xmlns:a16="http://schemas.microsoft.com/office/drawing/2014/main" id="{EB902EC0-A5FA-154A-5E75-4E1942FFF36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4586798-011C-5014-5ABA-B4BD0BAE934F}"/>
              </a:ext>
            </a:extLst>
          </p:cNvPr>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3887666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1C9EF-4874-A483-16BE-0F18F6E2E87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5B5B110-5140-4951-E8D9-9AF7428678A3}"/>
              </a:ext>
            </a:extLst>
          </p:cNvPr>
          <p:cNvSpPr>
            <a:spLocks noGrp="1"/>
          </p:cNvSpPr>
          <p:nvPr>
            <p:ph type="dt" sz="half" idx="10"/>
          </p:nvPr>
        </p:nvSpPr>
        <p:spPr/>
        <p:txBody>
          <a:bodyPr/>
          <a:lstStyle/>
          <a:p>
            <a:fld id="{240CDC23-E565-C848-9AF6-12BD09C53D91}" type="datetimeFigureOut">
              <a:rPr lang="en-US" smtClean="0"/>
              <a:t>9/9/2026</a:t>
            </a:fld>
            <a:endParaRPr lang="en-US"/>
          </a:p>
        </p:txBody>
      </p:sp>
      <p:sp>
        <p:nvSpPr>
          <p:cNvPr id="4" name="Footer Placeholder 3">
            <a:extLst>
              <a:ext uri="{FF2B5EF4-FFF2-40B4-BE49-F238E27FC236}">
                <a16:creationId xmlns:a16="http://schemas.microsoft.com/office/drawing/2014/main" id="{3565318D-79D1-A07B-D12C-3BB72025B3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D8789DF-9535-4BFD-0E95-1C96329D33F9}"/>
              </a:ext>
            </a:extLst>
          </p:cNvPr>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17005224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3C1939-3587-A4DB-36A4-F706AAA37F77}"/>
              </a:ext>
            </a:extLst>
          </p:cNvPr>
          <p:cNvSpPr>
            <a:spLocks noGrp="1"/>
          </p:cNvSpPr>
          <p:nvPr>
            <p:ph type="dt" sz="half" idx="10"/>
          </p:nvPr>
        </p:nvSpPr>
        <p:spPr/>
        <p:txBody>
          <a:bodyPr/>
          <a:lstStyle/>
          <a:p>
            <a:fld id="{240CDC23-E565-C848-9AF6-12BD09C53D91}" type="datetimeFigureOut">
              <a:rPr lang="en-US" smtClean="0"/>
              <a:t>9/9/2026</a:t>
            </a:fld>
            <a:endParaRPr lang="en-US"/>
          </a:p>
        </p:txBody>
      </p:sp>
      <p:sp>
        <p:nvSpPr>
          <p:cNvPr id="3" name="Footer Placeholder 2">
            <a:extLst>
              <a:ext uri="{FF2B5EF4-FFF2-40B4-BE49-F238E27FC236}">
                <a16:creationId xmlns:a16="http://schemas.microsoft.com/office/drawing/2014/main" id="{06F976FE-F3EC-0A22-3517-F5777D48093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990E6C3-C0F3-30D8-274B-F14E67305982}"/>
              </a:ext>
            </a:extLst>
          </p:cNvPr>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1774057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0FC8A-F6DE-72AF-545B-074A80D47CA7}"/>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5EC0028-F3B8-6C33-7A03-D72F78D5234D}"/>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48953B7-A625-C89F-6763-501F2DEE6578}"/>
              </a:ext>
            </a:extLst>
          </p:cNvPr>
          <p:cNvSpPr>
            <a:spLocks noGrp="1"/>
          </p:cNvSpPr>
          <p:nvPr>
            <p:ph type="body" sz="half" idx="2"/>
          </p:nvPr>
        </p:nvSpPr>
        <p:spPr>
          <a:xfrm>
            <a:off x="629841" y="2057401"/>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D48442C-1ED5-79B4-61B3-C580CAA2F732}"/>
              </a:ext>
            </a:extLst>
          </p:cNvPr>
          <p:cNvSpPr>
            <a:spLocks noGrp="1"/>
          </p:cNvSpPr>
          <p:nvPr>
            <p:ph type="dt" sz="half" idx="10"/>
          </p:nvPr>
        </p:nvSpPr>
        <p:spPr/>
        <p:txBody>
          <a:bodyPr/>
          <a:lstStyle/>
          <a:p>
            <a:fld id="{240CDC23-E565-C848-9AF6-12BD09C53D91}" type="datetimeFigureOut">
              <a:rPr lang="en-US" smtClean="0"/>
              <a:t>9/9/2026</a:t>
            </a:fld>
            <a:endParaRPr lang="en-US"/>
          </a:p>
        </p:txBody>
      </p:sp>
      <p:sp>
        <p:nvSpPr>
          <p:cNvPr id="6" name="Footer Placeholder 5">
            <a:extLst>
              <a:ext uri="{FF2B5EF4-FFF2-40B4-BE49-F238E27FC236}">
                <a16:creationId xmlns:a16="http://schemas.microsoft.com/office/drawing/2014/main" id="{DA9A55FA-007F-DDEC-B2DA-D024A6C06A1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2C939C7-554B-9341-0DD5-DB578DCB482C}"/>
              </a:ext>
            </a:extLst>
          </p:cNvPr>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2276557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AA77E-30D0-450F-31BA-E9FBAECD7DF1}"/>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3450C80-CBB1-DF79-32EF-6F54BCE444DC}"/>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528BD0AB-7F41-438E-EE96-1C7680710D08}"/>
              </a:ext>
            </a:extLst>
          </p:cNvPr>
          <p:cNvSpPr>
            <a:spLocks noGrp="1"/>
          </p:cNvSpPr>
          <p:nvPr>
            <p:ph type="body" sz="half" idx="2"/>
          </p:nvPr>
        </p:nvSpPr>
        <p:spPr>
          <a:xfrm>
            <a:off x="629841" y="2057401"/>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871F3B9-6E7A-72FE-74D8-7277994D78AA}"/>
              </a:ext>
            </a:extLst>
          </p:cNvPr>
          <p:cNvSpPr>
            <a:spLocks noGrp="1"/>
          </p:cNvSpPr>
          <p:nvPr>
            <p:ph type="dt" sz="half" idx="10"/>
          </p:nvPr>
        </p:nvSpPr>
        <p:spPr/>
        <p:txBody>
          <a:bodyPr/>
          <a:lstStyle/>
          <a:p>
            <a:fld id="{240CDC23-E565-C848-9AF6-12BD09C53D91}" type="datetimeFigureOut">
              <a:rPr lang="en-US" smtClean="0"/>
              <a:t>9/9/2026</a:t>
            </a:fld>
            <a:endParaRPr lang="en-US"/>
          </a:p>
        </p:txBody>
      </p:sp>
      <p:sp>
        <p:nvSpPr>
          <p:cNvPr id="6" name="Footer Placeholder 5">
            <a:extLst>
              <a:ext uri="{FF2B5EF4-FFF2-40B4-BE49-F238E27FC236}">
                <a16:creationId xmlns:a16="http://schemas.microsoft.com/office/drawing/2014/main" id="{47608819-A152-73C5-E2B1-61458E5808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67C3AD-F5D2-E5C1-85EE-725B8C2B84C7}"/>
              </a:ext>
            </a:extLst>
          </p:cNvPr>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967367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A71C0-812A-0C50-5634-125EAE13581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AE7DD48-3BAB-FCEF-5D66-DC28B239EA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53F5A1-BFC4-028B-D442-328854BBAC41}"/>
              </a:ext>
            </a:extLst>
          </p:cNvPr>
          <p:cNvSpPr>
            <a:spLocks noGrp="1"/>
          </p:cNvSpPr>
          <p:nvPr>
            <p:ph type="dt" sz="half" idx="10"/>
          </p:nvPr>
        </p:nvSpPr>
        <p:spPr/>
        <p:txBody>
          <a:bodyPr/>
          <a:lstStyle/>
          <a:p>
            <a:fld id="{240CDC23-E565-C848-9AF6-12BD09C53D91}" type="datetimeFigureOut">
              <a:rPr lang="en-US" smtClean="0"/>
              <a:t>9/9/2026</a:t>
            </a:fld>
            <a:r>
              <a:rPr lang="en-US"/>
              <a:t>sss</a:t>
            </a:r>
            <a:endParaRPr lang="en-US" dirty="0"/>
          </a:p>
        </p:txBody>
      </p:sp>
      <p:sp>
        <p:nvSpPr>
          <p:cNvPr id="5" name="Footer Placeholder 4">
            <a:extLst>
              <a:ext uri="{FF2B5EF4-FFF2-40B4-BE49-F238E27FC236}">
                <a16:creationId xmlns:a16="http://schemas.microsoft.com/office/drawing/2014/main" id="{7AEEF023-459C-2CE1-7101-FD6EF3891E04}"/>
              </a:ext>
            </a:extLst>
          </p:cNvPr>
          <p:cNvSpPr>
            <a:spLocks noGrp="1"/>
          </p:cNvSpPr>
          <p:nvPr>
            <p:ph type="ftr" sz="quarter" idx="11"/>
          </p:nvPr>
        </p:nvSpPr>
        <p:spPr/>
        <p:txBody>
          <a:bodyPr/>
          <a:lstStyle/>
          <a:p>
            <a:r>
              <a:rPr lang="en-US"/>
              <a:t>Slides adapted from Jure Leskovec</a:t>
            </a:r>
            <a:endParaRPr lang="en-US" sz="600" dirty="0"/>
          </a:p>
        </p:txBody>
      </p:sp>
      <p:sp>
        <p:nvSpPr>
          <p:cNvPr id="6" name="Slide Number Placeholder 5">
            <a:extLst>
              <a:ext uri="{FF2B5EF4-FFF2-40B4-BE49-F238E27FC236}">
                <a16:creationId xmlns:a16="http://schemas.microsoft.com/office/drawing/2014/main" id="{694DB79D-7821-3287-45BF-4E5ED9797A1C}"/>
              </a:ext>
            </a:extLst>
          </p:cNvPr>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2582638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DBB315-192D-DCB2-3ACD-C89C486AB169}"/>
              </a:ext>
            </a:extLst>
          </p:cNvPr>
          <p:cNvSpPr>
            <a:spLocks noGrp="1"/>
          </p:cNvSpPr>
          <p:nvPr>
            <p:ph type="title" orient="vert"/>
          </p:nvPr>
        </p:nvSpPr>
        <p:spPr>
          <a:xfrm>
            <a:off x="6543676" y="365126"/>
            <a:ext cx="1971675" cy="581183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C098B8-3009-6ED2-C8B1-6F56A3ACA908}"/>
              </a:ext>
            </a:extLst>
          </p:cNvPr>
          <p:cNvSpPr>
            <a:spLocks noGrp="1"/>
          </p:cNvSpPr>
          <p:nvPr>
            <p:ph type="body" orient="vert" idx="1"/>
          </p:nvPr>
        </p:nvSpPr>
        <p:spPr>
          <a:xfrm>
            <a:off x="628651" y="365126"/>
            <a:ext cx="5800725"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FD3519-C2D8-33BB-F76D-D5302E9BC32B}"/>
              </a:ext>
            </a:extLst>
          </p:cNvPr>
          <p:cNvSpPr>
            <a:spLocks noGrp="1"/>
          </p:cNvSpPr>
          <p:nvPr>
            <p:ph type="dt" sz="half" idx="10"/>
          </p:nvPr>
        </p:nvSpPr>
        <p:spPr/>
        <p:txBody>
          <a:bodyPr/>
          <a:lstStyle/>
          <a:p>
            <a:fld id="{240CDC23-E565-C848-9AF6-12BD09C53D91}" type="datetimeFigureOut">
              <a:rPr lang="en-US" smtClean="0"/>
              <a:t>9/9/2026</a:t>
            </a:fld>
            <a:endParaRPr lang="en-US"/>
          </a:p>
        </p:txBody>
      </p:sp>
      <p:sp>
        <p:nvSpPr>
          <p:cNvPr id="5" name="Footer Placeholder 4">
            <a:extLst>
              <a:ext uri="{FF2B5EF4-FFF2-40B4-BE49-F238E27FC236}">
                <a16:creationId xmlns:a16="http://schemas.microsoft.com/office/drawing/2014/main" id="{174D3FC7-DFB6-89E3-4ECF-1AF7FF6980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C114A3-4F69-A5B6-32A4-0365164F21E2}"/>
              </a:ext>
            </a:extLst>
          </p:cNvPr>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2713648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A31C88-6160-49B0-5939-26719CD07270}"/>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E0E06FA-BEDC-8348-9A02-80329800143D}"/>
              </a:ext>
            </a:extLst>
          </p:cNvPr>
          <p:cNvSpPr>
            <a:spLocks noGrp="1"/>
          </p:cNvSpPr>
          <p:nvPr>
            <p:ph type="body" idx="1"/>
          </p:nvPr>
        </p:nvSpPr>
        <p:spPr>
          <a:xfrm>
            <a:off x="628650" y="1825625"/>
            <a:ext cx="78867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D8D976-A636-FE03-6B5E-432C706E8725}"/>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40CDC23-E565-C848-9AF6-12BD09C53D91}" type="datetimeFigureOut">
              <a:rPr lang="en-US" smtClean="0"/>
              <a:t>9/9/2026</a:t>
            </a:fld>
            <a:endParaRPr lang="en-US"/>
          </a:p>
        </p:txBody>
      </p:sp>
      <p:sp>
        <p:nvSpPr>
          <p:cNvPr id="5" name="Footer Placeholder 4">
            <a:extLst>
              <a:ext uri="{FF2B5EF4-FFF2-40B4-BE49-F238E27FC236}">
                <a16:creationId xmlns:a16="http://schemas.microsoft.com/office/drawing/2014/main" id="{F7B344D3-60B9-48FF-607D-C9CBAE397E03}"/>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AD8B360-BCFE-C7B1-E66D-08BE5B2F261F}"/>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07771B2-D7F7-364E-B6F3-F7FE93606BCE}" type="slidenum">
              <a:rPr lang="en-US" smtClean="0"/>
              <a:t>‹#›</a:t>
            </a:fld>
            <a:endParaRPr lang="en-US"/>
          </a:p>
        </p:txBody>
      </p:sp>
    </p:spTree>
    <p:extLst>
      <p:ext uri="{BB962C8B-B14F-4D97-AF65-F5344CB8AC3E}">
        <p14:creationId xmlns:p14="http://schemas.microsoft.com/office/powerpoint/2010/main" val="41432423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5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C77EF-F7B4-0F4E-808E-038637B131DF}"/>
              </a:ext>
            </a:extLst>
          </p:cNvPr>
          <p:cNvSpPr>
            <a:spLocks noGrp="1"/>
          </p:cNvSpPr>
          <p:nvPr>
            <p:ph type="title"/>
          </p:nvPr>
        </p:nvSpPr>
        <p:spPr>
          <a:xfrm>
            <a:off x="762000" y="229390"/>
            <a:ext cx="7886700" cy="315910"/>
          </a:xfrm>
        </p:spPr>
        <p:txBody>
          <a:bodyPr>
            <a:normAutofit fontScale="90000"/>
          </a:bodyPr>
          <a:lstStyle/>
          <a:p>
            <a:r>
              <a:rPr lang="en-IN" b="1" dirty="0"/>
              <a:t>Data Sparsity Problem in N-gram LMs: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06156CC-2762-7C2F-7890-EE28C553EC5B}"/>
                  </a:ext>
                </a:extLst>
              </p:cNvPr>
              <p:cNvSpPr>
                <a:spLocks noGrp="1"/>
              </p:cNvSpPr>
              <p:nvPr>
                <p:ph idx="1"/>
              </p:nvPr>
            </p:nvSpPr>
            <p:spPr>
              <a:xfrm>
                <a:off x="617764" y="609600"/>
                <a:ext cx="7886700" cy="5861055"/>
              </a:xfrm>
            </p:spPr>
            <p:txBody>
              <a:bodyPr>
                <a:normAutofit/>
              </a:bodyPr>
              <a:lstStyle/>
              <a:p>
                <a:pPr algn="just"/>
                <a:r>
                  <a:rPr lang="en-IN" dirty="0"/>
                  <a:t>Human language has a massive, combinatorial vocabulary, meaning that even huge text corpora contain only a tiny fraction of all valid word combinations.</a:t>
                </a:r>
              </a:p>
              <a:p>
                <a:pPr algn="just"/>
                <a:r>
                  <a:rPr lang="en-IN" dirty="0"/>
                  <a:t>As a result, a large majority of perfectly natural, grammatical </a:t>
                </a:r>
                <a14:m>
                  <m:oMath xmlns:m="http://schemas.openxmlformats.org/officeDocument/2006/math">
                    <m:r>
                      <a:rPr lang="en-IN" i="1">
                        <a:latin typeface="Cambria Math" panose="02040503050406030204" pitchFamily="18" charset="0"/>
                      </a:rPr>
                      <m:t>𝑁</m:t>
                    </m:r>
                  </m:oMath>
                </a14:m>
                <a:r>
                  <a:rPr lang="en-IN" dirty="0"/>
                  <a:t>-grams never appear in the training corpus, receiving an empirical count of zero (</a:t>
                </a:r>
                <a14:m>
                  <m:oMath xmlns:m="http://schemas.openxmlformats.org/officeDocument/2006/math">
                    <m:r>
                      <a:rPr lang="en-IN" i="1">
                        <a:latin typeface="Cambria Math" panose="02040503050406030204" pitchFamily="18" charset="0"/>
                      </a:rPr>
                      <m:t>𝐶</m:t>
                    </m:r>
                    <m:d>
                      <m:dPr>
                        <m:ctrlPr>
                          <a:rPr lang="en-IN" i="1">
                            <a:latin typeface="Cambria Math" panose="02040503050406030204" pitchFamily="18" charset="0"/>
                          </a:rPr>
                        </m:ctrlPr>
                      </m:dPr>
                      <m:e>
                        <m:sSubSup>
                          <m:sSubSupPr>
                            <m:ctrlPr>
                              <a:rPr lang="en-IN" i="1">
                                <a:latin typeface="Cambria Math" panose="02040503050406030204" pitchFamily="18" charset="0"/>
                              </a:rPr>
                            </m:ctrlPr>
                          </m:sSubSupPr>
                          <m:e>
                            <m:r>
                              <a:rPr lang="en-IN" i="1">
                                <a:latin typeface="Cambria Math" panose="02040503050406030204" pitchFamily="18" charset="0"/>
                              </a:rPr>
                              <m:t>𝑤</m:t>
                            </m:r>
                          </m:e>
                          <m:sub>
                            <m:r>
                              <a:rPr lang="en-IN" i="1" smtClean="0">
                                <a:latin typeface="Cambria Math" panose="02040503050406030204" pitchFamily="18" charset="0"/>
                              </a:rPr>
                              <m:t>𝑘</m:t>
                            </m:r>
                            <m:r>
                              <a:rPr lang="en-IN">
                                <a:latin typeface="Cambria Math" panose="02040503050406030204" pitchFamily="18" charset="0"/>
                              </a:rPr>
                              <m:t>−</m:t>
                            </m:r>
                            <m:r>
                              <a:rPr lang="en-IN" b="0" i="1" smtClean="0">
                                <a:latin typeface="Cambria Math" panose="02040503050406030204" pitchFamily="18" charset="0"/>
                              </a:rPr>
                              <m:t>𝑁</m:t>
                            </m:r>
                            <m:r>
                              <a:rPr lang="en-IN">
                                <a:latin typeface="Cambria Math" panose="02040503050406030204" pitchFamily="18" charset="0"/>
                              </a:rPr>
                              <m:t>+1</m:t>
                            </m:r>
                            <m:r>
                              <a:rPr lang="en-IN" b="0" i="0" smtClean="0">
                                <a:latin typeface="Cambria Math" panose="02040503050406030204" pitchFamily="18" charset="0"/>
                              </a:rPr>
                              <m:t>:</m:t>
                            </m:r>
                            <m:r>
                              <m:rPr>
                                <m:sty m:val="p"/>
                              </m:rPr>
                              <a:rPr lang="en-IN" b="0" i="0" smtClean="0">
                                <a:latin typeface="Cambria Math" panose="02040503050406030204" pitchFamily="18" charset="0"/>
                              </a:rPr>
                              <m:t>k</m:t>
                            </m:r>
                            <m:r>
                              <a:rPr lang="en-IN" b="0" i="0" smtClean="0">
                                <a:latin typeface="Cambria Math" panose="02040503050406030204" pitchFamily="18" charset="0"/>
                              </a:rPr>
                              <m:t>−1 </m:t>
                            </m:r>
                          </m:sub>
                          <m:sup/>
                        </m:sSubSup>
                        <m:r>
                          <a:rPr lang="en-IN" b="0" i="1" smtClean="0">
                            <a:latin typeface="Cambria Math" panose="02040503050406030204" pitchFamily="18" charset="0"/>
                          </a:rPr>
                          <m:t>,</m:t>
                        </m:r>
                        <m:sSubSup>
                          <m:sSubSupPr>
                            <m:ctrlPr>
                              <a:rPr lang="en-IN" i="1">
                                <a:latin typeface="Cambria Math" panose="02040503050406030204" pitchFamily="18" charset="0"/>
                              </a:rPr>
                            </m:ctrlPr>
                          </m:sSubSupPr>
                          <m:e>
                            <m:r>
                              <a:rPr lang="en-IN" i="1">
                                <a:latin typeface="Cambria Math" panose="02040503050406030204" pitchFamily="18" charset="0"/>
                              </a:rPr>
                              <m:t>𝑤</m:t>
                            </m:r>
                          </m:e>
                          <m:sub>
                            <m:r>
                              <a:rPr lang="en-IN" i="1">
                                <a:latin typeface="Cambria Math" panose="02040503050406030204" pitchFamily="18" charset="0"/>
                              </a:rPr>
                              <m:t>𝑘</m:t>
                            </m:r>
                            <m:r>
                              <a:rPr lang="en-IN">
                                <a:latin typeface="Cambria Math" panose="02040503050406030204" pitchFamily="18" charset="0"/>
                              </a:rPr>
                              <m:t> </m:t>
                            </m:r>
                          </m:sub>
                          <m:sup/>
                        </m:sSubSup>
                      </m:e>
                    </m:d>
                    <m:r>
                      <a:rPr lang="en-IN">
                        <a:latin typeface="Cambria Math" panose="02040503050406030204" pitchFamily="18" charset="0"/>
                      </a:rPr>
                      <m:t>=0</m:t>
                    </m:r>
                  </m:oMath>
                </a14:m>
                <a:r>
                  <a:rPr lang="en-IN" dirty="0"/>
                  <a:t>).</a:t>
                </a:r>
              </a:p>
              <a:p>
                <a:pPr lvl="0" algn="just"/>
                <a:r>
                  <a:rPr lang="en-IN" b="1" dirty="0"/>
                  <a:t>Sequence Probability Collapse:</a:t>
                </a:r>
                <a:r>
                  <a:rPr lang="en-IN" dirty="0"/>
                  <a:t> Because the joint probability of a sentence is computed as a product of conditional probabilities, a single unseen </a:t>
                </a:r>
                <a14:m>
                  <m:oMath xmlns:m="http://schemas.openxmlformats.org/officeDocument/2006/math">
                    <m:r>
                      <a:rPr lang="en-IN" i="1">
                        <a:latin typeface="Cambria Math" panose="02040503050406030204" pitchFamily="18" charset="0"/>
                      </a:rPr>
                      <m:t>𝑁</m:t>
                    </m:r>
                  </m:oMath>
                </a14:m>
                <a:r>
                  <a:rPr lang="en-IN" dirty="0"/>
                  <a:t>-gram causes the probability of the entire sequence to drop to zero:</a:t>
                </a:r>
              </a:p>
              <a:p>
                <a:pPr marL="342900" lvl="1" indent="0" algn="just">
                  <a:buNone/>
                </a:pPr>
                <a14:m>
                  <m:oMathPara xmlns:m="http://schemas.openxmlformats.org/officeDocument/2006/math">
                    <m:oMath>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𝑊</m:t>
                          </m:r>
                        </m:e>
                      </m:d>
                      <m:r>
                        <a:rPr lang="en-IN">
                          <a:latin typeface="Cambria Math" panose="02040503050406030204" pitchFamily="18" charset="0"/>
                        </a:rPr>
                        <m:t>=</m:t>
                      </m:r>
                      <m:nary>
                        <m:naryPr>
                          <m:chr m:val="∏"/>
                          <m:limLoc m:val="undOvr"/>
                          <m:ctrlPr>
                            <a:rPr lang="en-IN" b="0" i="1" smtClean="0">
                              <a:latin typeface="Cambria Math" panose="02040503050406030204" pitchFamily="18" charset="0"/>
                            </a:rPr>
                          </m:ctrlPr>
                        </m:naryPr>
                        <m:sub>
                          <m:r>
                            <a:rPr lang="en-IN" b="0" i="1" smtClean="0">
                              <a:latin typeface="Cambria Math" panose="02040503050406030204" pitchFamily="18" charset="0"/>
                            </a:rPr>
                            <m:t>𝑘</m:t>
                          </m:r>
                          <m:r>
                            <a:rPr lang="en-IN">
                              <a:latin typeface="Cambria Math" panose="02040503050406030204" pitchFamily="18" charset="0"/>
                            </a:rPr>
                            <m:t>=1</m:t>
                          </m:r>
                        </m:sub>
                        <m:sup>
                          <m:r>
                            <a:rPr lang="en-IN" i="1">
                              <a:latin typeface="Cambria Math" panose="02040503050406030204" pitchFamily="18" charset="0"/>
                            </a:rPr>
                            <m:t>𝑛</m:t>
                          </m:r>
                        </m:sup>
                        <m:e>
                          <m:r>
                            <a:rPr lang="en-IN" i="1">
                              <a:latin typeface="Cambria Math" panose="02040503050406030204" pitchFamily="18" charset="0"/>
                            </a:rPr>
                            <m:t>𝑃</m:t>
                          </m:r>
                        </m:e>
                      </m:nary>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i="1">
                                  <a:latin typeface="Cambria Math" panose="02040503050406030204" pitchFamily="18" charset="0"/>
                                </a:rPr>
                                <m:t>𝑘</m:t>
                              </m:r>
                            </m:sub>
                          </m:sSub>
                          <m:r>
                            <a:rPr lang="en-IN">
                              <a:latin typeface="Cambria Math" panose="02040503050406030204" pitchFamily="18" charset="0"/>
                            </a:rPr>
                            <m:t>∣</m:t>
                          </m:r>
                          <m:sSubSup>
                            <m:sSubSupPr>
                              <m:ctrlPr>
                                <a:rPr lang="en-IN" i="1">
                                  <a:latin typeface="Cambria Math" panose="02040503050406030204" pitchFamily="18" charset="0"/>
                                </a:rPr>
                              </m:ctrlPr>
                            </m:sSubSupPr>
                            <m:e>
                              <m:r>
                                <a:rPr lang="en-IN" i="1">
                                  <a:latin typeface="Cambria Math" panose="02040503050406030204" pitchFamily="18" charset="0"/>
                                </a:rPr>
                                <m:t>𝑤</m:t>
                              </m:r>
                            </m:e>
                            <m:sub>
                              <m:r>
                                <a:rPr lang="en-IN" i="1">
                                  <a:latin typeface="Cambria Math" panose="02040503050406030204" pitchFamily="18" charset="0"/>
                                </a:rPr>
                                <m:t>𝑘</m:t>
                              </m:r>
                              <m:r>
                                <a:rPr lang="en-IN">
                                  <a:latin typeface="Cambria Math" panose="02040503050406030204" pitchFamily="18" charset="0"/>
                                </a:rPr>
                                <m:t>−</m:t>
                              </m:r>
                              <m:r>
                                <a:rPr lang="en-IN" i="1">
                                  <a:latin typeface="Cambria Math" panose="02040503050406030204" pitchFamily="18" charset="0"/>
                                </a:rPr>
                                <m:t>𝑁</m:t>
                              </m:r>
                              <m:r>
                                <a:rPr lang="en-IN">
                                  <a:latin typeface="Cambria Math" panose="02040503050406030204" pitchFamily="18" charset="0"/>
                                </a:rPr>
                                <m:t>+1:</m:t>
                              </m:r>
                              <m:r>
                                <a:rPr lang="en-IN" i="1">
                                  <a:latin typeface="Cambria Math" panose="02040503050406030204" pitchFamily="18" charset="0"/>
                                </a:rPr>
                                <m:t>𝑘</m:t>
                              </m:r>
                              <m:r>
                                <a:rPr lang="en-IN">
                                  <a:latin typeface="Cambria Math" panose="02040503050406030204" pitchFamily="18" charset="0"/>
                                </a:rPr>
                                <m:t>−1</m:t>
                              </m:r>
                            </m:sub>
                            <m:sup/>
                          </m:sSubSup>
                        </m:e>
                      </m:d>
                      <m:r>
                        <a:rPr lang="en-IN">
                          <a:latin typeface="Cambria Math" panose="02040503050406030204" pitchFamily="18" charset="0"/>
                        </a:rPr>
                        <m:t>=0</m:t>
                      </m:r>
                    </m:oMath>
                  </m:oMathPara>
                </a14:m>
                <a:endParaRPr lang="en-IN" dirty="0"/>
              </a:p>
              <a:p>
                <a:pPr lvl="0" algn="just"/>
                <a:r>
                  <a:rPr lang="en-IN" b="1" dirty="0"/>
                  <a:t>Perplexity Explosion:</a:t>
                </a:r>
                <a:r>
                  <a:rPr lang="en-IN" dirty="0"/>
                  <a:t> Evaluating test data containing an unseen </a:t>
                </a:r>
                <a14:m>
                  <m:oMath xmlns:m="http://schemas.openxmlformats.org/officeDocument/2006/math">
                    <m:r>
                      <a:rPr lang="en-IN" i="1">
                        <a:latin typeface="Cambria Math" panose="02040503050406030204" pitchFamily="18" charset="0"/>
                      </a:rPr>
                      <m:t>𝑁</m:t>
                    </m:r>
                  </m:oMath>
                </a14:m>
                <a:r>
                  <a:rPr lang="en-IN" dirty="0"/>
                  <a:t>-gram makes cross-entropy undefined (</a:t>
                </a:r>
                <a14:m>
                  <m:oMath xmlns:m="http://schemas.openxmlformats.org/officeDocument/2006/math">
                    <m:func>
                      <m:funcPr>
                        <m:ctrlPr>
                          <a:rPr lang="en-IN" i="1">
                            <a:latin typeface="Cambria Math" panose="02040503050406030204" pitchFamily="18" charset="0"/>
                          </a:rPr>
                        </m:ctrlPr>
                      </m:funcPr>
                      <m:fName>
                        <m:sSub>
                          <m:sSubPr>
                            <m:ctrlPr>
                              <a:rPr lang="en-IN">
                                <a:latin typeface="Cambria Math" panose="02040503050406030204" pitchFamily="18" charset="0"/>
                              </a:rPr>
                            </m:ctrlPr>
                          </m:sSubPr>
                          <m:e>
                            <m:r>
                              <m:rPr>
                                <m:sty m:val="p"/>
                              </m:rPr>
                              <a:rPr lang="en-IN">
                                <a:latin typeface="Cambria Math" panose="02040503050406030204" pitchFamily="18" charset="0"/>
                              </a:rPr>
                              <m:t>log</m:t>
                            </m:r>
                          </m:e>
                          <m:sub>
                            <m:r>
                              <a:rPr lang="en-IN">
                                <a:latin typeface="Cambria Math" panose="02040503050406030204" pitchFamily="18" charset="0"/>
                              </a:rPr>
                              <m:t>2</m:t>
                            </m:r>
                          </m:sub>
                        </m:sSub>
                      </m:fName>
                      <m:e>
                        <m:d>
                          <m:dPr>
                            <m:ctrlPr>
                              <a:rPr lang="en-IN">
                                <a:latin typeface="Cambria Math" panose="02040503050406030204" pitchFamily="18" charset="0"/>
                              </a:rPr>
                            </m:ctrlPr>
                          </m:dPr>
                          <m:e>
                            <m:r>
                              <a:rPr lang="en-IN">
                                <a:latin typeface="Cambria Math" panose="02040503050406030204" pitchFamily="18" charset="0"/>
                              </a:rPr>
                              <m:t>0</m:t>
                            </m:r>
                          </m:e>
                        </m:d>
                      </m:e>
                    </m:func>
                    <m:r>
                      <a:rPr lang="en-IN">
                        <a:latin typeface="Cambria Math" panose="02040503050406030204" pitchFamily="18" charset="0"/>
                      </a:rPr>
                      <m:t>→−∞</m:t>
                    </m:r>
                  </m:oMath>
                </a14:m>
                <a:r>
                  <a:rPr lang="en-IN" dirty="0"/>
                  <a:t>) and drives perplexity to infinity (</a:t>
                </a:r>
                <a14:m>
                  <m:oMath xmlns:m="http://schemas.openxmlformats.org/officeDocument/2006/math">
                    <m:r>
                      <a:rPr lang="en-IN" i="1">
                        <a:latin typeface="Cambria Math" panose="02040503050406030204" pitchFamily="18" charset="0"/>
                      </a:rPr>
                      <m:t>𝑃𝑃</m:t>
                    </m:r>
                    <m:d>
                      <m:dPr>
                        <m:ctrlPr>
                          <a:rPr lang="en-IN" i="1">
                            <a:latin typeface="Cambria Math" panose="02040503050406030204" pitchFamily="18" charset="0"/>
                          </a:rPr>
                        </m:ctrlPr>
                      </m:dPr>
                      <m:e>
                        <m:r>
                          <a:rPr lang="en-IN" i="1">
                            <a:latin typeface="Cambria Math" panose="02040503050406030204" pitchFamily="18" charset="0"/>
                          </a:rPr>
                          <m:t>𝑊</m:t>
                        </m:r>
                      </m:e>
                    </m:d>
                    <m:r>
                      <a:rPr lang="en-IN">
                        <a:latin typeface="Cambria Math" panose="02040503050406030204" pitchFamily="18" charset="0"/>
                      </a:rPr>
                      <m:t>→∞</m:t>
                    </m:r>
                  </m:oMath>
                </a14:m>
                <a:r>
                  <a:rPr lang="en-IN" dirty="0"/>
                  <a:t>).</a:t>
                </a:r>
              </a:p>
              <a:p>
                <a:pPr algn="just"/>
                <a:r>
                  <a:rPr lang="en-IN" dirty="0"/>
                  <a:t>A count of zero does not mean a phrase is impossible—it simply means the training sample was not large enough to observe it. </a:t>
                </a:r>
              </a:p>
              <a:p>
                <a:pPr algn="just"/>
                <a:endParaRPr lang="en-IN" dirty="0"/>
              </a:p>
              <a:p>
                <a:pPr algn="just"/>
                <a:endParaRPr lang="en-IN" dirty="0"/>
              </a:p>
              <a:p>
                <a:endParaRPr lang="en-IN" dirty="0"/>
              </a:p>
            </p:txBody>
          </p:sp>
        </mc:Choice>
        <mc:Fallback xmlns="">
          <p:sp>
            <p:nvSpPr>
              <p:cNvPr id="3" name="Content Placeholder 2">
                <a:extLst>
                  <a:ext uri="{FF2B5EF4-FFF2-40B4-BE49-F238E27FC236}">
                    <a16:creationId xmlns:a16="http://schemas.microsoft.com/office/drawing/2014/main" id="{006156CC-2762-7C2F-7890-EE28C553EC5B}"/>
                  </a:ext>
                </a:extLst>
              </p:cNvPr>
              <p:cNvSpPr>
                <a:spLocks noGrp="1" noRot="1" noChangeAspect="1" noMove="1" noResize="1" noEditPoints="1" noAdjustHandles="1" noChangeArrowheads="1" noChangeShapeType="1" noTextEdit="1"/>
              </p:cNvSpPr>
              <p:nvPr>
                <p:ph idx="1"/>
              </p:nvPr>
            </p:nvSpPr>
            <p:spPr>
              <a:xfrm>
                <a:off x="617764" y="609600"/>
                <a:ext cx="7886700" cy="5861055"/>
              </a:xfrm>
              <a:blipFill>
                <a:blip r:embed="rId2"/>
                <a:stretch>
                  <a:fillRect l="-773" t="-1145" r="-927"/>
                </a:stretch>
              </a:blipFill>
            </p:spPr>
            <p:txBody>
              <a:bodyPr/>
              <a:lstStyle/>
              <a:p>
                <a:r>
                  <a:rPr lang="en-IN">
                    <a:noFill/>
                  </a:rPr>
                  <a:t> </a:t>
                </a:r>
              </a:p>
            </p:txBody>
          </p:sp>
        </mc:Fallback>
      </mc:AlternateContent>
    </p:spTree>
    <p:extLst>
      <p:ext uri="{BB962C8B-B14F-4D97-AF65-F5344CB8AC3E}">
        <p14:creationId xmlns:p14="http://schemas.microsoft.com/office/powerpoint/2010/main" val="16102789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4294B-7B05-C1DE-49FD-2C51EACACC3B}"/>
              </a:ext>
            </a:extLst>
          </p:cNvPr>
          <p:cNvSpPr>
            <a:spLocks noGrp="1"/>
          </p:cNvSpPr>
          <p:nvPr>
            <p:ph type="title"/>
          </p:nvPr>
        </p:nvSpPr>
        <p:spPr>
          <a:xfrm>
            <a:off x="645757" y="457200"/>
            <a:ext cx="7886700" cy="315910"/>
          </a:xfrm>
        </p:spPr>
        <p:txBody>
          <a:bodyPr>
            <a:normAutofit fontScale="90000"/>
          </a:bodyPr>
          <a:lstStyle/>
          <a:p>
            <a:r>
              <a:rPr lang="en-IN" b="1" dirty="0"/>
              <a:t>Solutions: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96C3F08-1802-687B-EA67-7D4283F7EC9C}"/>
                  </a:ext>
                </a:extLst>
              </p:cNvPr>
              <p:cNvSpPr>
                <a:spLocks noGrp="1"/>
              </p:cNvSpPr>
              <p:nvPr>
                <p:ph idx="1"/>
              </p:nvPr>
            </p:nvSpPr>
            <p:spPr>
              <a:xfrm>
                <a:off x="622430" y="1371600"/>
                <a:ext cx="7886700" cy="3476984"/>
              </a:xfrm>
            </p:spPr>
            <p:txBody>
              <a:bodyPr>
                <a:normAutofit/>
              </a:bodyPr>
              <a:lstStyle/>
              <a:p>
                <a:pPr lvl="0" algn="just"/>
                <a:r>
                  <a:rPr lang="en-IN" b="1" dirty="0"/>
                  <a:t>Smoothing (Discounting):</a:t>
                </a:r>
                <a:r>
                  <a:rPr lang="en-IN" dirty="0"/>
                  <a:t> Reallocating probability mass from high-frequency </a:t>
                </a:r>
                <a14:m>
                  <m:oMath xmlns:m="http://schemas.openxmlformats.org/officeDocument/2006/math">
                    <m:r>
                      <a:rPr lang="en-IN" i="1">
                        <a:latin typeface="Cambria Math" panose="02040503050406030204" pitchFamily="18" charset="0"/>
                      </a:rPr>
                      <m:t>𝑁</m:t>
                    </m:r>
                  </m:oMath>
                </a14:m>
                <a:r>
                  <a:rPr lang="en-IN" dirty="0"/>
                  <a:t>-grams to reserve a non-zero probability budget for unseen events (e.g., Laplace, Add-</a:t>
                </a:r>
                <a14:m>
                  <m:oMath xmlns:m="http://schemas.openxmlformats.org/officeDocument/2006/math">
                    <m:r>
                      <a:rPr lang="en-IN" b="0" i="1" smtClean="0">
                        <a:latin typeface="Cambria Math" panose="02040503050406030204" pitchFamily="18" charset="0"/>
                      </a:rPr>
                      <m:t>𝑚</m:t>
                    </m:r>
                  </m:oMath>
                </a14:m>
                <a:r>
                  <a:rPr lang="en-IN" dirty="0"/>
                  <a:t>, Good-Turing).</a:t>
                </a:r>
              </a:p>
              <a:p>
                <a:pPr lvl="0" algn="just"/>
                <a:r>
                  <a:rPr lang="en-IN" b="1" dirty="0"/>
                  <a:t>Back-off &amp; Interpolation:</a:t>
                </a:r>
                <a:r>
                  <a:rPr lang="en-IN" dirty="0"/>
                  <a:t> Falling back to or blending with lower-order models (such as backing off from trigrams to bigrams and unigrams), where counts are much denser and more reliable.</a:t>
                </a:r>
              </a:p>
              <a:p>
                <a:pPr lvl="0" algn="just"/>
                <a:r>
                  <a:rPr lang="en-IN" b="1" dirty="0"/>
                  <a:t>Continuous / Neural Representations:</a:t>
                </a:r>
                <a:r>
                  <a:rPr lang="en-IN" dirty="0"/>
                  <a:t> Modern neural language models (RNNs, Transformers) mitigate this fundamentally by representing words in dense, continuous vector spaces (embeddings), where semantically similar contexts share statistical strength instead of relying on exact string matches.</a:t>
                </a:r>
              </a:p>
              <a:p>
                <a:endParaRPr lang="en-IN" dirty="0"/>
              </a:p>
            </p:txBody>
          </p:sp>
        </mc:Choice>
        <mc:Fallback xmlns="">
          <p:sp>
            <p:nvSpPr>
              <p:cNvPr id="3" name="Content Placeholder 2">
                <a:extLst>
                  <a:ext uri="{FF2B5EF4-FFF2-40B4-BE49-F238E27FC236}">
                    <a16:creationId xmlns:a16="http://schemas.microsoft.com/office/drawing/2014/main" id="{696C3F08-1802-687B-EA67-7D4283F7EC9C}"/>
                  </a:ext>
                </a:extLst>
              </p:cNvPr>
              <p:cNvSpPr>
                <a:spLocks noGrp="1" noRot="1" noChangeAspect="1" noMove="1" noResize="1" noEditPoints="1" noAdjustHandles="1" noChangeArrowheads="1" noChangeShapeType="1" noTextEdit="1"/>
              </p:cNvSpPr>
              <p:nvPr>
                <p:ph idx="1"/>
              </p:nvPr>
            </p:nvSpPr>
            <p:spPr>
              <a:xfrm>
                <a:off x="622430" y="1371600"/>
                <a:ext cx="7886700" cy="3476984"/>
              </a:xfrm>
              <a:blipFill>
                <a:blip r:embed="rId2"/>
                <a:stretch>
                  <a:fillRect l="-773" t="-1930" r="-927" b="-3158"/>
                </a:stretch>
              </a:blipFill>
            </p:spPr>
            <p:txBody>
              <a:bodyPr/>
              <a:lstStyle/>
              <a:p>
                <a:r>
                  <a:rPr lang="en-IN">
                    <a:noFill/>
                  </a:rPr>
                  <a:t> </a:t>
                </a:r>
              </a:p>
            </p:txBody>
          </p:sp>
        </mc:Fallback>
      </mc:AlternateContent>
    </p:spTree>
    <p:extLst>
      <p:ext uri="{BB962C8B-B14F-4D97-AF65-F5344CB8AC3E}">
        <p14:creationId xmlns:p14="http://schemas.microsoft.com/office/powerpoint/2010/main" val="3942223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noChangeArrowheads="1"/>
          </p:cNvSpPr>
          <p:nvPr>
            <p:ph type="title"/>
          </p:nvPr>
        </p:nvSpPr>
        <p:spPr>
          <a:xfrm>
            <a:off x="76200" y="-457200"/>
            <a:ext cx="7886700" cy="1325563"/>
          </a:xfrm>
        </p:spPr>
        <p:txBody>
          <a:bodyPr>
            <a:normAutofit/>
          </a:bodyPr>
          <a:lstStyle/>
          <a:p>
            <a:r>
              <a:rPr lang="en-IN" b="1" dirty="0"/>
              <a:t>Intuition of Smoothing:</a:t>
            </a:r>
            <a:endParaRPr lang="en-US" b="1" dirty="0">
              <a:solidFill>
                <a:srgbClr val="FF0000"/>
              </a:solidFill>
              <a:ea typeface="ＭＳ Ｐゴシック" charset="0"/>
              <a:cs typeface="ＭＳ Ｐゴシック" charset="0"/>
            </a:endParaRPr>
          </a:p>
        </p:txBody>
      </p:sp>
      <p:sp>
        <p:nvSpPr>
          <p:cNvPr id="64514" name="Rectangle 3"/>
          <p:cNvSpPr>
            <a:spLocks noGrp="1" noChangeArrowheads="1"/>
          </p:cNvSpPr>
          <p:nvPr>
            <p:ph idx="1"/>
          </p:nvPr>
        </p:nvSpPr>
        <p:spPr>
          <a:xfrm>
            <a:off x="822961" y="1524496"/>
            <a:ext cx="7543801" cy="1828800"/>
          </a:xfrm>
        </p:spPr>
        <p:txBody>
          <a:bodyPr>
            <a:normAutofit/>
          </a:bodyPr>
          <a:lstStyle/>
          <a:p>
            <a:pPr eaLnBrk="1" hangingPunct="1">
              <a:lnSpc>
                <a:spcPct val="70000"/>
              </a:lnSpc>
            </a:pPr>
            <a:endParaRPr lang="en-US" sz="1400" dirty="0">
              <a:latin typeface="Calibri"/>
              <a:ea typeface="ＭＳ Ｐゴシック" charset="0"/>
              <a:cs typeface="Calibri"/>
            </a:endParaRPr>
          </a:p>
          <a:p>
            <a:pPr eaLnBrk="1" hangingPunct="1">
              <a:lnSpc>
                <a:spcPct val="70000"/>
              </a:lnSpc>
            </a:pPr>
            <a:endParaRPr lang="en-US" sz="1400" dirty="0">
              <a:latin typeface="Calibri"/>
              <a:ea typeface="ＭＳ Ｐゴシック" charset="0"/>
              <a:cs typeface="Calibri"/>
            </a:endParaRPr>
          </a:p>
          <a:p>
            <a:pPr marL="0" indent="0">
              <a:lnSpc>
                <a:spcPct val="70000"/>
              </a:lnSpc>
              <a:buNone/>
            </a:pPr>
            <a:endParaRPr lang="en-US" sz="1400" dirty="0">
              <a:latin typeface="Calibri"/>
              <a:ea typeface="ＭＳ Ｐゴシック" charset="0"/>
              <a:cs typeface="Calibri"/>
            </a:endParaRPr>
          </a:p>
          <a:p>
            <a:pPr marL="0" indent="0">
              <a:lnSpc>
                <a:spcPct val="70000"/>
              </a:lnSpc>
              <a:buNone/>
            </a:pPr>
            <a:endParaRPr lang="en-US" sz="1400" dirty="0">
              <a:latin typeface="Calibri"/>
              <a:ea typeface="ＭＳ Ｐゴシック" charset="0"/>
              <a:cs typeface="Calibri"/>
            </a:endParaRPr>
          </a:p>
        </p:txBody>
      </p:sp>
      <p:sp>
        <p:nvSpPr>
          <p:cNvPr id="3" name="Rectangle 3">
            <a:extLst>
              <a:ext uri="{FF2B5EF4-FFF2-40B4-BE49-F238E27FC236}">
                <a16:creationId xmlns:a16="http://schemas.microsoft.com/office/drawing/2014/main" id="{09B85656-08A2-915D-9A2F-1A9C95C4EDF6}"/>
              </a:ext>
            </a:extLst>
          </p:cNvPr>
          <p:cNvSpPr txBox="1">
            <a:spLocks noChangeArrowheads="1"/>
          </p:cNvSpPr>
          <p:nvPr/>
        </p:nvSpPr>
        <p:spPr>
          <a:xfrm>
            <a:off x="113522" y="837716"/>
            <a:ext cx="7543801" cy="319817"/>
          </a:xfrm>
          <a:prstGeom prst="rect">
            <a:avLst/>
          </a:prstGeom>
        </p:spPr>
        <p:txBody>
          <a:bodyPr vert="horz" lIns="91440" tIns="45720" rIns="91440" bIns="45720" rtlCol="0">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marR="0" lvl="0" indent="-171450" algn="l" defTabSz="685800" rtl="0" eaLnBrk="1" fontAlgn="auto" latinLnBrk="0" hangingPunct="1">
              <a:lnSpc>
                <a:spcPct val="70000"/>
              </a:lnSpc>
              <a:spcBef>
                <a:spcPts val="75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ri"/>
                <a:ea typeface="ＭＳ Ｐゴシック" charset="0"/>
                <a:cs typeface="Calibri"/>
              </a:rPr>
              <a:t>When we have sparse statistics:</a:t>
            </a:r>
          </a:p>
          <a:p>
            <a:pPr marL="171450" marR="0" lvl="0" indent="-171450" algn="l" defTabSz="685800" rtl="0" eaLnBrk="1" fontAlgn="auto" latinLnBrk="0" hangingPunct="1">
              <a:lnSpc>
                <a:spcPct val="70000"/>
              </a:lnSpc>
              <a:spcBef>
                <a:spcPts val="75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Calibri"/>
              <a:ea typeface="ＭＳ Ｐゴシック" charset="0"/>
              <a:cs typeface="Calibri"/>
            </a:endParaRPr>
          </a:p>
          <a:p>
            <a:pPr marL="171450" marR="0" lvl="0" indent="-171450" algn="l" defTabSz="685800" rtl="0" eaLnBrk="1" fontAlgn="auto" latinLnBrk="0" hangingPunct="1">
              <a:lnSpc>
                <a:spcPct val="70000"/>
              </a:lnSpc>
              <a:spcBef>
                <a:spcPts val="75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Calibri"/>
              <a:ea typeface="ＭＳ Ｐゴシック" charset="0"/>
              <a:cs typeface="Calibri"/>
            </a:endParaRPr>
          </a:p>
          <a:p>
            <a:pPr marL="171450" marR="0" lvl="0" indent="-171450" algn="l" defTabSz="685800" rtl="0" eaLnBrk="1" fontAlgn="auto" latinLnBrk="0" hangingPunct="1">
              <a:lnSpc>
                <a:spcPct val="70000"/>
              </a:lnSpc>
              <a:spcBef>
                <a:spcPts val="75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Calibri"/>
              <a:ea typeface="ＭＳ Ｐゴシック" charset="0"/>
              <a:cs typeface="Calibri"/>
            </a:endParaRPr>
          </a:p>
          <a:p>
            <a:pPr marL="171450" marR="0" lvl="0" indent="-171450" algn="l" defTabSz="685800" rtl="0" eaLnBrk="1" fontAlgn="auto" latinLnBrk="0" hangingPunct="1">
              <a:lnSpc>
                <a:spcPct val="70000"/>
              </a:lnSpc>
              <a:spcBef>
                <a:spcPts val="75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Calibri"/>
              <a:ea typeface="ＭＳ Ｐゴシック" charset="0"/>
              <a:cs typeface="Calibri"/>
            </a:endParaRPr>
          </a:p>
          <a:p>
            <a:pPr marL="0" marR="0" lvl="0" indent="0" algn="l" defTabSz="685800" rtl="0" eaLnBrk="1" fontAlgn="auto" latinLnBrk="0" hangingPunct="1">
              <a:lnSpc>
                <a:spcPct val="70000"/>
              </a:lnSpc>
              <a:spcBef>
                <a:spcPts val="750"/>
              </a:spcBef>
              <a:spcAft>
                <a:spcPts val="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prstClr val="black"/>
              </a:solidFill>
              <a:effectLst/>
              <a:uLnTx/>
              <a:uFillTx/>
              <a:latin typeface="Calibri"/>
              <a:ea typeface="ＭＳ Ｐゴシック" charset="0"/>
              <a:cs typeface="Calibri"/>
            </a:endParaRPr>
          </a:p>
          <a:p>
            <a:pPr marL="171450" marR="0" lvl="0" indent="-171450" algn="l" defTabSz="685800" rtl="0" eaLnBrk="1" fontAlgn="auto" latinLnBrk="0" hangingPunct="1">
              <a:lnSpc>
                <a:spcPct val="70000"/>
              </a:lnSpc>
              <a:spcBef>
                <a:spcPts val="75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Calibri"/>
              <a:ea typeface="ＭＳ Ｐゴシック" charset="0"/>
              <a:cs typeface="Calibri"/>
            </a:endParaRPr>
          </a:p>
          <a:p>
            <a:pPr marL="171450" marR="0" lvl="0" indent="-171450" algn="l" defTabSz="685800" rtl="0" eaLnBrk="1" fontAlgn="auto" latinLnBrk="0" hangingPunct="1">
              <a:lnSpc>
                <a:spcPct val="70000"/>
              </a:lnSpc>
              <a:spcBef>
                <a:spcPts val="75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Calibri"/>
              <a:ea typeface="ＭＳ Ｐゴシック" charset="0"/>
              <a:cs typeface="Calibri"/>
            </a:endParaRPr>
          </a:p>
          <a:p>
            <a:pPr marL="171450" marR="0" lvl="0" indent="-171450" algn="l" defTabSz="685800" rtl="0" eaLnBrk="1" fontAlgn="auto" latinLnBrk="0" hangingPunct="1">
              <a:lnSpc>
                <a:spcPct val="70000"/>
              </a:lnSpc>
              <a:spcBef>
                <a:spcPts val="75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Calibri"/>
              <a:ea typeface="ＭＳ Ｐゴシック" charset="0"/>
              <a:cs typeface="Calibri"/>
            </a:endParaRPr>
          </a:p>
          <a:p>
            <a:pPr marL="171450" marR="0" lvl="0" indent="-171450" algn="l" defTabSz="685800" rtl="0" eaLnBrk="1" fontAlgn="auto" latinLnBrk="0" hangingPunct="1">
              <a:lnSpc>
                <a:spcPct val="70000"/>
              </a:lnSpc>
              <a:spcBef>
                <a:spcPts val="75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Calibri"/>
              <a:ea typeface="ＭＳ Ｐゴシック" charset="0"/>
              <a:cs typeface="Calibri"/>
            </a:endParaRPr>
          </a:p>
          <a:p>
            <a:pPr marL="171450" marR="0" lvl="0" indent="-171450" algn="l" defTabSz="685800" rtl="0" eaLnBrk="1" fontAlgn="auto" latinLnBrk="0" hangingPunct="1">
              <a:lnSpc>
                <a:spcPct val="70000"/>
              </a:lnSpc>
              <a:spcBef>
                <a:spcPts val="75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Calibri"/>
              <a:ea typeface="ＭＳ Ｐゴシック" charset="0"/>
              <a:cs typeface="Calibri"/>
            </a:endParaRPr>
          </a:p>
          <a:p>
            <a:pPr marL="171450" marR="0" lvl="0" indent="-171450" algn="l" defTabSz="685800" rtl="0" eaLnBrk="1" fontAlgn="auto" latinLnBrk="0" hangingPunct="1">
              <a:lnSpc>
                <a:spcPct val="70000"/>
              </a:lnSpc>
              <a:spcBef>
                <a:spcPts val="75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Calibri"/>
              <a:ea typeface="ＭＳ Ｐゴシック" charset="0"/>
              <a:cs typeface="Calibri"/>
            </a:endParaRPr>
          </a:p>
          <a:p>
            <a:pPr marL="171450" marR="0" lvl="0" indent="-171450" algn="l" defTabSz="685800" rtl="0" eaLnBrk="1" fontAlgn="auto" latinLnBrk="0" hangingPunct="1">
              <a:lnSpc>
                <a:spcPct val="70000"/>
              </a:lnSpc>
              <a:spcBef>
                <a:spcPts val="75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Calibri"/>
              <a:ea typeface="ＭＳ Ｐゴシック" charset="0"/>
              <a:cs typeface="Calibri"/>
            </a:endParaRPr>
          </a:p>
          <a:p>
            <a:pPr marL="171450" marR="0" lvl="0" indent="-171450" algn="l" defTabSz="685800" rtl="0" eaLnBrk="1" fontAlgn="auto" latinLnBrk="0" hangingPunct="1">
              <a:lnSpc>
                <a:spcPct val="70000"/>
              </a:lnSpc>
              <a:spcBef>
                <a:spcPts val="75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Calibri"/>
              <a:ea typeface="ＭＳ Ｐゴシック" charset="0"/>
              <a:cs typeface="Calibri"/>
            </a:endParaRPr>
          </a:p>
          <a:p>
            <a:pPr marL="171450" marR="0" lvl="0" indent="-171450" algn="l" defTabSz="685800" rtl="0" eaLnBrk="1" fontAlgn="auto" latinLnBrk="0" hangingPunct="1">
              <a:lnSpc>
                <a:spcPct val="70000"/>
              </a:lnSpc>
              <a:spcBef>
                <a:spcPts val="75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Calibri"/>
              <a:ea typeface="ＭＳ Ｐゴシック" charset="0"/>
              <a:cs typeface="Calibri"/>
            </a:endParaRPr>
          </a:p>
          <a:p>
            <a:pPr marL="0" marR="0" lvl="0" indent="0" algn="l" defTabSz="685800" rtl="0" eaLnBrk="1" fontAlgn="auto" latinLnBrk="0" hangingPunct="1">
              <a:lnSpc>
                <a:spcPct val="70000"/>
              </a:lnSpc>
              <a:spcBef>
                <a:spcPts val="750"/>
              </a:spcBef>
              <a:spcAft>
                <a:spcPts val="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prstClr val="black"/>
              </a:solidFill>
              <a:effectLst/>
              <a:uLnTx/>
              <a:uFillTx/>
              <a:latin typeface="Calibri"/>
              <a:ea typeface="ＭＳ Ｐゴシック" charset="0"/>
              <a:cs typeface="Calibri"/>
            </a:endParaRPr>
          </a:p>
        </p:txBody>
      </p:sp>
      <p:sp>
        <p:nvSpPr>
          <p:cNvPr id="4" name="Text Box 4">
            <a:extLst>
              <a:ext uri="{FF2B5EF4-FFF2-40B4-BE49-F238E27FC236}">
                <a16:creationId xmlns:a16="http://schemas.microsoft.com/office/drawing/2014/main" id="{02C7547F-50E2-C860-E9EC-E370283B64D4}"/>
              </a:ext>
            </a:extLst>
          </p:cNvPr>
          <p:cNvSpPr txBox="1">
            <a:spLocks noChangeArrowheads="1"/>
          </p:cNvSpPr>
          <p:nvPr/>
        </p:nvSpPr>
        <p:spPr bwMode="auto">
          <a:xfrm>
            <a:off x="190500" y="1163753"/>
            <a:ext cx="2438400" cy="16312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ＭＳ Ｐゴシック" charset="0"/>
                <a:cs typeface="Calibri"/>
              </a:rPr>
              <a:t>Count(w | denied the)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ＭＳ Ｐゴシック" charset="0"/>
                <a:cs typeface="Calibri"/>
              </a:rPr>
              <a:t>  3 allegations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ＭＳ Ｐゴシック" charset="0"/>
                <a:cs typeface="Calibri"/>
              </a:rPr>
              <a:t>  2 reports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ＭＳ Ｐゴシック" charset="0"/>
                <a:cs typeface="Calibri"/>
              </a:rPr>
              <a:t>  1 claims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ＭＳ Ｐゴシック" charset="0"/>
                <a:cs typeface="Calibri"/>
              </a:rPr>
              <a:t>  1 request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400" b="0" i="0" u="none" strike="noStrike" kern="1200" cap="none" spc="0" normalizeH="0" baseline="0" noProof="0" dirty="0">
              <a:ln>
                <a:noFill/>
              </a:ln>
              <a:solidFill>
                <a:prstClr val="black"/>
              </a:solidFill>
              <a:effectLst/>
              <a:uLnTx/>
              <a:uFillTx/>
              <a:latin typeface="Calibri"/>
              <a:ea typeface="ＭＳ Ｐゴシック" charset="0"/>
              <a:cs typeface="Calibri"/>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ＭＳ Ｐゴシック" charset="0"/>
                <a:cs typeface="Calibri"/>
              </a:rPr>
              <a:t>  7 total</a:t>
            </a:r>
          </a:p>
        </p:txBody>
      </p:sp>
      <p:sp>
        <p:nvSpPr>
          <p:cNvPr id="64541" name="Text Box 30">
            <a:extLst>
              <a:ext uri="{FF2B5EF4-FFF2-40B4-BE49-F238E27FC236}">
                <a16:creationId xmlns:a16="http://schemas.microsoft.com/office/drawing/2014/main" id="{FAA8DFC9-BB4F-7AD7-BC0A-B39B907C48EB}"/>
              </a:ext>
            </a:extLst>
          </p:cNvPr>
          <p:cNvSpPr txBox="1">
            <a:spLocks noChangeArrowheads="1"/>
          </p:cNvSpPr>
          <p:nvPr/>
        </p:nvSpPr>
        <p:spPr bwMode="auto">
          <a:xfrm>
            <a:off x="215382" y="3690511"/>
            <a:ext cx="2438400" cy="18158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ＭＳ Ｐゴシック" charset="0"/>
                <a:cs typeface="Calibri"/>
              </a:rPr>
              <a:t>Count(w | denied the)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ＭＳ Ｐゴシック" charset="0"/>
                <a:cs typeface="Calibri"/>
              </a:rPr>
              <a:t>  2.5 allegations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ＭＳ Ｐゴシック" charset="0"/>
                <a:cs typeface="Calibri"/>
              </a:rPr>
              <a:t>  1.5 reports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ＭＳ Ｐゴシック" charset="0"/>
                <a:cs typeface="Calibri"/>
              </a:rPr>
              <a:t>  0.5 claims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ＭＳ Ｐゴシック" charset="0"/>
                <a:cs typeface="Calibri"/>
              </a:rPr>
              <a:t>  0.5 request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ＭＳ Ｐゴシック" charset="0"/>
                <a:cs typeface="Calibri"/>
              </a:rPr>
              <a:t>  </a:t>
            </a:r>
            <a:r>
              <a:rPr kumimoji="0" lang="en-US" sz="1400" b="0" i="0" u="none" strike="noStrike" kern="1200" cap="none" spc="0" normalizeH="0" baseline="0" noProof="0" dirty="0">
                <a:ln>
                  <a:noFill/>
                </a:ln>
                <a:solidFill>
                  <a:srgbClr val="CC0000"/>
                </a:solidFill>
                <a:effectLst/>
                <a:uLnTx/>
                <a:uFillTx/>
                <a:latin typeface="Calibri"/>
                <a:ea typeface="ＭＳ Ｐゴシック" charset="0"/>
                <a:cs typeface="Calibri"/>
              </a:rPr>
              <a:t>2 others</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a:ea typeface="ＭＳ Ｐゴシック" charset="0"/>
              <a:cs typeface="Calibri"/>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ＭＳ Ｐゴシック" charset="0"/>
                <a:cs typeface="Calibri"/>
              </a:rPr>
              <a:t>  7 total</a:t>
            </a:r>
          </a:p>
        </p:txBody>
      </p:sp>
      <p:sp>
        <p:nvSpPr>
          <p:cNvPr id="5" name="Rectangle 14">
            <a:extLst>
              <a:ext uri="{FF2B5EF4-FFF2-40B4-BE49-F238E27FC236}">
                <a16:creationId xmlns:a16="http://schemas.microsoft.com/office/drawing/2014/main" id="{F8F6452B-F4EF-C33A-C23D-72018EB6649B}"/>
              </a:ext>
            </a:extLst>
          </p:cNvPr>
          <p:cNvSpPr>
            <a:spLocks noChangeArrowheads="1"/>
          </p:cNvSpPr>
          <p:nvPr/>
        </p:nvSpPr>
        <p:spPr bwMode="auto">
          <a:xfrm>
            <a:off x="4038600" y="1219200"/>
            <a:ext cx="3962400" cy="167640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Lucida Sans" charset="0"/>
              <a:ea typeface="ＭＳ Ｐゴシック" charset="0"/>
              <a:cs typeface="+mn-cs"/>
            </a:endParaRPr>
          </a:p>
        </p:txBody>
      </p:sp>
      <p:sp>
        <p:nvSpPr>
          <p:cNvPr id="6" name="Rectangle 15">
            <a:extLst>
              <a:ext uri="{FF2B5EF4-FFF2-40B4-BE49-F238E27FC236}">
                <a16:creationId xmlns:a16="http://schemas.microsoft.com/office/drawing/2014/main" id="{E75C4D9B-674C-4485-46B2-C6036DE2C6E7}"/>
              </a:ext>
            </a:extLst>
          </p:cNvPr>
          <p:cNvSpPr>
            <a:spLocks noChangeArrowheads="1"/>
          </p:cNvSpPr>
          <p:nvPr/>
        </p:nvSpPr>
        <p:spPr bwMode="auto">
          <a:xfrm rot="16200000">
            <a:off x="3581400" y="1905000"/>
            <a:ext cx="1600200" cy="381000"/>
          </a:xfrm>
          <a:prstGeom prst="rect">
            <a:avLst/>
          </a:prstGeom>
          <a:solidFill>
            <a:srgbClr val="00B0F0"/>
          </a:solidFill>
          <a:ln w="9525">
            <a:solidFill>
              <a:schemeClr val="tx1"/>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charset="0"/>
                <a:ea typeface="ＭＳ Ｐゴシック" charset="0"/>
                <a:cs typeface="+mn-cs"/>
              </a:rPr>
              <a:t>allegations</a:t>
            </a:r>
          </a:p>
        </p:txBody>
      </p:sp>
      <p:sp>
        <p:nvSpPr>
          <p:cNvPr id="7" name="Rectangle 16">
            <a:extLst>
              <a:ext uri="{FF2B5EF4-FFF2-40B4-BE49-F238E27FC236}">
                <a16:creationId xmlns:a16="http://schemas.microsoft.com/office/drawing/2014/main" id="{31248F65-037F-B202-4EDF-7BE00C70762A}"/>
              </a:ext>
            </a:extLst>
          </p:cNvPr>
          <p:cNvSpPr>
            <a:spLocks noChangeArrowheads="1"/>
          </p:cNvSpPr>
          <p:nvPr/>
        </p:nvSpPr>
        <p:spPr bwMode="auto">
          <a:xfrm rot="16200000">
            <a:off x="4305300" y="2171700"/>
            <a:ext cx="1066800" cy="381000"/>
          </a:xfrm>
          <a:prstGeom prst="rect">
            <a:avLst/>
          </a:prstGeom>
          <a:solidFill>
            <a:srgbClr val="00B0F0"/>
          </a:solidFill>
          <a:ln w="9525">
            <a:solidFill>
              <a:schemeClr val="tx1"/>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Lucida Sans" charset="0"/>
                <a:ea typeface="ＭＳ Ｐゴシック" charset="0"/>
                <a:cs typeface="+mn-cs"/>
              </a:rPr>
              <a:t>reports</a:t>
            </a:r>
          </a:p>
        </p:txBody>
      </p:sp>
      <p:sp>
        <p:nvSpPr>
          <p:cNvPr id="8" name="Rectangle 17">
            <a:extLst>
              <a:ext uri="{FF2B5EF4-FFF2-40B4-BE49-F238E27FC236}">
                <a16:creationId xmlns:a16="http://schemas.microsoft.com/office/drawing/2014/main" id="{748EC2E2-19EC-AB5B-5375-711711F518DD}"/>
              </a:ext>
            </a:extLst>
          </p:cNvPr>
          <p:cNvSpPr>
            <a:spLocks noChangeArrowheads="1"/>
          </p:cNvSpPr>
          <p:nvPr/>
        </p:nvSpPr>
        <p:spPr bwMode="auto">
          <a:xfrm rot="16200000">
            <a:off x="4991100" y="2400300"/>
            <a:ext cx="609600" cy="381000"/>
          </a:xfrm>
          <a:prstGeom prst="rect">
            <a:avLst/>
          </a:prstGeom>
          <a:solidFill>
            <a:srgbClr val="00B0F0"/>
          </a:solidFill>
          <a:ln w="9525">
            <a:solidFill>
              <a:schemeClr val="tx1"/>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Lucida Sans" charset="0"/>
                <a:ea typeface="ＭＳ Ｐゴシック" charset="0"/>
                <a:cs typeface="+mn-cs"/>
              </a:rPr>
              <a:t>claims</a:t>
            </a:r>
          </a:p>
        </p:txBody>
      </p:sp>
      <p:sp>
        <p:nvSpPr>
          <p:cNvPr id="9" name="Text Box 18">
            <a:extLst>
              <a:ext uri="{FF2B5EF4-FFF2-40B4-BE49-F238E27FC236}">
                <a16:creationId xmlns:a16="http://schemas.microsoft.com/office/drawing/2014/main" id="{669F5D1B-50F6-1D72-8CAD-4D895320F1B1}"/>
              </a:ext>
            </a:extLst>
          </p:cNvPr>
          <p:cNvSpPr txBox="1">
            <a:spLocks noChangeArrowheads="1"/>
          </p:cNvSpPr>
          <p:nvPr/>
        </p:nvSpPr>
        <p:spPr bwMode="auto">
          <a:xfrm rot="16200000">
            <a:off x="5737225" y="2147888"/>
            <a:ext cx="11430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Arial" charset="0"/>
                <a:ea typeface="ＭＳ Ｐゴシック" charset="0"/>
              </a:rPr>
              <a:t>attack</a:t>
            </a:r>
          </a:p>
        </p:txBody>
      </p:sp>
      <p:sp>
        <p:nvSpPr>
          <p:cNvPr id="10" name="Rectangle 19">
            <a:extLst>
              <a:ext uri="{FF2B5EF4-FFF2-40B4-BE49-F238E27FC236}">
                <a16:creationId xmlns:a16="http://schemas.microsoft.com/office/drawing/2014/main" id="{DFD97C13-2CAF-0569-5C0A-65B13A0BFC63}"/>
              </a:ext>
            </a:extLst>
          </p:cNvPr>
          <p:cNvSpPr>
            <a:spLocks noChangeArrowheads="1"/>
          </p:cNvSpPr>
          <p:nvPr/>
        </p:nvSpPr>
        <p:spPr bwMode="auto">
          <a:xfrm rot="16200000">
            <a:off x="5448300" y="2400300"/>
            <a:ext cx="609600" cy="381000"/>
          </a:xfrm>
          <a:prstGeom prst="rect">
            <a:avLst/>
          </a:prstGeom>
          <a:solidFill>
            <a:srgbClr val="00B0F0"/>
          </a:solidFill>
          <a:ln w="9525">
            <a:solidFill>
              <a:schemeClr val="tx1"/>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Lucida Sans" charset="0"/>
                <a:ea typeface="ＭＳ Ｐゴシック" charset="0"/>
                <a:cs typeface="+mn-cs"/>
              </a:rPr>
              <a:t>request</a:t>
            </a:r>
          </a:p>
        </p:txBody>
      </p:sp>
      <p:sp>
        <p:nvSpPr>
          <p:cNvPr id="11" name="Text Box 20">
            <a:extLst>
              <a:ext uri="{FF2B5EF4-FFF2-40B4-BE49-F238E27FC236}">
                <a16:creationId xmlns:a16="http://schemas.microsoft.com/office/drawing/2014/main" id="{7B8059D3-768E-2998-FF37-F4FE6E7BF8A0}"/>
              </a:ext>
            </a:extLst>
          </p:cNvPr>
          <p:cNvSpPr txBox="1">
            <a:spLocks noChangeArrowheads="1"/>
          </p:cNvSpPr>
          <p:nvPr/>
        </p:nvSpPr>
        <p:spPr bwMode="auto">
          <a:xfrm rot="16200000">
            <a:off x="6118225" y="2155825"/>
            <a:ext cx="11430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Arial" charset="0"/>
                <a:ea typeface="ＭＳ Ｐゴシック" charset="0"/>
              </a:rPr>
              <a:t>man</a:t>
            </a:r>
          </a:p>
        </p:txBody>
      </p:sp>
      <p:sp>
        <p:nvSpPr>
          <p:cNvPr id="12" name="Text Box 21">
            <a:extLst>
              <a:ext uri="{FF2B5EF4-FFF2-40B4-BE49-F238E27FC236}">
                <a16:creationId xmlns:a16="http://schemas.microsoft.com/office/drawing/2014/main" id="{DEC69879-FC26-F9D2-8732-2B7630FC0226}"/>
              </a:ext>
            </a:extLst>
          </p:cNvPr>
          <p:cNvSpPr txBox="1">
            <a:spLocks noChangeArrowheads="1"/>
          </p:cNvSpPr>
          <p:nvPr/>
        </p:nvSpPr>
        <p:spPr bwMode="auto">
          <a:xfrm rot="16200000">
            <a:off x="6499225" y="2155825"/>
            <a:ext cx="11430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Arial" charset="0"/>
                <a:ea typeface="ＭＳ Ｐゴシック" charset="0"/>
              </a:rPr>
              <a:t>outcome</a:t>
            </a:r>
          </a:p>
        </p:txBody>
      </p:sp>
      <p:sp>
        <p:nvSpPr>
          <p:cNvPr id="13" name="Text Box 22">
            <a:extLst>
              <a:ext uri="{FF2B5EF4-FFF2-40B4-BE49-F238E27FC236}">
                <a16:creationId xmlns:a16="http://schemas.microsoft.com/office/drawing/2014/main" id="{09DF7891-5F5D-C646-082B-BCDC6C161F63}"/>
              </a:ext>
            </a:extLst>
          </p:cNvPr>
          <p:cNvSpPr txBox="1">
            <a:spLocks noChangeArrowheads="1"/>
          </p:cNvSpPr>
          <p:nvPr/>
        </p:nvSpPr>
        <p:spPr bwMode="auto">
          <a:xfrm>
            <a:off x="7315200" y="2209800"/>
            <a:ext cx="533400" cy="579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3200" b="0" i="0" u="none" strike="noStrike" kern="1200" cap="none" spc="0" normalizeH="0" baseline="0" noProof="0">
                <a:ln>
                  <a:noFill/>
                </a:ln>
                <a:solidFill>
                  <a:prstClr val="black"/>
                </a:solidFill>
                <a:effectLst/>
                <a:uLnTx/>
                <a:uFillTx/>
                <a:latin typeface="Arial" charset="0"/>
                <a:ea typeface="ＭＳ Ｐゴシック" charset="0"/>
              </a:rPr>
              <a:t>…</a:t>
            </a:r>
          </a:p>
        </p:txBody>
      </p:sp>
      <p:sp>
        <p:nvSpPr>
          <p:cNvPr id="50" name="Rectangle 5">
            <a:extLst>
              <a:ext uri="{FF2B5EF4-FFF2-40B4-BE49-F238E27FC236}">
                <a16:creationId xmlns:a16="http://schemas.microsoft.com/office/drawing/2014/main" id="{342750E9-B89D-23D1-1AE9-496CFB1A1346}"/>
              </a:ext>
            </a:extLst>
          </p:cNvPr>
          <p:cNvSpPr>
            <a:spLocks noChangeArrowheads="1"/>
          </p:cNvSpPr>
          <p:nvPr/>
        </p:nvSpPr>
        <p:spPr bwMode="auto">
          <a:xfrm>
            <a:off x="4038600" y="3657599"/>
            <a:ext cx="3962400" cy="167640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Lucida Sans" charset="0"/>
              <a:ea typeface="ＭＳ Ｐゴシック" charset="0"/>
              <a:cs typeface="+mn-cs"/>
            </a:endParaRPr>
          </a:p>
        </p:txBody>
      </p:sp>
      <p:sp>
        <p:nvSpPr>
          <p:cNvPr id="51" name="Rectangle 6">
            <a:extLst>
              <a:ext uri="{FF2B5EF4-FFF2-40B4-BE49-F238E27FC236}">
                <a16:creationId xmlns:a16="http://schemas.microsoft.com/office/drawing/2014/main" id="{DB7D7C6F-52C6-0CEA-8FD5-2071D882A935}"/>
              </a:ext>
            </a:extLst>
          </p:cNvPr>
          <p:cNvSpPr>
            <a:spLocks noChangeArrowheads="1"/>
          </p:cNvSpPr>
          <p:nvPr/>
        </p:nvSpPr>
        <p:spPr bwMode="auto">
          <a:xfrm rot="16200000">
            <a:off x="3619500" y="4381499"/>
            <a:ext cx="1524000" cy="381000"/>
          </a:xfrm>
          <a:prstGeom prst="rect">
            <a:avLst/>
          </a:prstGeom>
          <a:solidFill>
            <a:srgbClr val="FF0000"/>
          </a:solidFill>
          <a:ln w="9525">
            <a:solidFill>
              <a:schemeClr val="tx1"/>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charset="0"/>
              <a:ea typeface="ＭＳ Ｐゴシック" charset="0"/>
              <a:cs typeface="+mn-cs"/>
            </a:endParaRPr>
          </a:p>
        </p:txBody>
      </p:sp>
      <p:sp>
        <p:nvSpPr>
          <p:cNvPr id="52" name="Rectangle 7">
            <a:extLst>
              <a:ext uri="{FF2B5EF4-FFF2-40B4-BE49-F238E27FC236}">
                <a16:creationId xmlns:a16="http://schemas.microsoft.com/office/drawing/2014/main" id="{C58127EB-E407-0450-B1A5-D0289AAAA604}"/>
              </a:ext>
            </a:extLst>
          </p:cNvPr>
          <p:cNvSpPr>
            <a:spLocks noChangeArrowheads="1"/>
          </p:cNvSpPr>
          <p:nvPr/>
        </p:nvSpPr>
        <p:spPr bwMode="auto">
          <a:xfrm rot="16200000">
            <a:off x="4305300" y="4610099"/>
            <a:ext cx="1066800" cy="381000"/>
          </a:xfrm>
          <a:prstGeom prst="rect">
            <a:avLst/>
          </a:prstGeom>
          <a:solidFill>
            <a:srgbClr val="FF0000"/>
          </a:solidFill>
          <a:ln w="9525">
            <a:solidFill>
              <a:schemeClr val="tx1"/>
            </a:solidFill>
            <a:miter lim="800000"/>
            <a:headEnd/>
            <a:tailEnd/>
          </a:ln>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Lucida Sans" charset="0"/>
              <a:ea typeface="ＭＳ Ｐゴシック" charset="0"/>
              <a:cs typeface="+mn-cs"/>
            </a:endParaRPr>
          </a:p>
        </p:txBody>
      </p:sp>
      <p:sp>
        <p:nvSpPr>
          <p:cNvPr id="53" name="Rectangle 8">
            <a:extLst>
              <a:ext uri="{FF2B5EF4-FFF2-40B4-BE49-F238E27FC236}">
                <a16:creationId xmlns:a16="http://schemas.microsoft.com/office/drawing/2014/main" id="{2552E3AE-6838-214E-8843-F12876FC46D9}"/>
              </a:ext>
            </a:extLst>
          </p:cNvPr>
          <p:cNvSpPr>
            <a:spLocks noChangeArrowheads="1"/>
          </p:cNvSpPr>
          <p:nvPr/>
        </p:nvSpPr>
        <p:spPr bwMode="auto">
          <a:xfrm rot="16200000">
            <a:off x="4991100" y="4838699"/>
            <a:ext cx="609600" cy="381000"/>
          </a:xfrm>
          <a:prstGeom prst="rect">
            <a:avLst/>
          </a:prstGeom>
          <a:solidFill>
            <a:srgbClr val="FF0000"/>
          </a:solidFill>
          <a:ln w="9525">
            <a:solidFill>
              <a:schemeClr val="tx1"/>
            </a:solidFill>
            <a:miter lim="800000"/>
            <a:headEnd/>
            <a:tailEnd/>
          </a:ln>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Lucida Sans" charset="0"/>
              <a:ea typeface="ＭＳ Ｐゴシック" charset="0"/>
              <a:cs typeface="+mn-cs"/>
            </a:endParaRPr>
          </a:p>
        </p:txBody>
      </p:sp>
      <p:sp>
        <p:nvSpPr>
          <p:cNvPr id="54" name="Text Box 9">
            <a:extLst>
              <a:ext uri="{FF2B5EF4-FFF2-40B4-BE49-F238E27FC236}">
                <a16:creationId xmlns:a16="http://schemas.microsoft.com/office/drawing/2014/main" id="{33B517D1-63A4-9277-D7B5-23E4EE42500C}"/>
              </a:ext>
            </a:extLst>
          </p:cNvPr>
          <p:cNvSpPr txBox="1">
            <a:spLocks noChangeArrowheads="1"/>
          </p:cNvSpPr>
          <p:nvPr/>
        </p:nvSpPr>
        <p:spPr bwMode="auto">
          <a:xfrm rot="16200000">
            <a:off x="5661025" y="4518024"/>
            <a:ext cx="11430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Arial" charset="0"/>
                <a:ea typeface="ＭＳ Ｐゴシック" charset="0"/>
              </a:rPr>
              <a:t>attack</a:t>
            </a:r>
          </a:p>
        </p:txBody>
      </p:sp>
      <p:sp>
        <p:nvSpPr>
          <p:cNvPr id="55" name="Rectangle 10">
            <a:extLst>
              <a:ext uri="{FF2B5EF4-FFF2-40B4-BE49-F238E27FC236}">
                <a16:creationId xmlns:a16="http://schemas.microsoft.com/office/drawing/2014/main" id="{91F61066-396B-7A88-D048-487C0881DCD6}"/>
              </a:ext>
            </a:extLst>
          </p:cNvPr>
          <p:cNvSpPr>
            <a:spLocks noChangeArrowheads="1"/>
          </p:cNvSpPr>
          <p:nvPr/>
        </p:nvSpPr>
        <p:spPr bwMode="auto">
          <a:xfrm rot="16200000">
            <a:off x="5448300" y="4838699"/>
            <a:ext cx="609600" cy="381000"/>
          </a:xfrm>
          <a:prstGeom prst="rect">
            <a:avLst/>
          </a:prstGeom>
          <a:solidFill>
            <a:srgbClr val="FF0000"/>
          </a:solidFill>
          <a:ln w="9525">
            <a:solidFill>
              <a:schemeClr val="tx1"/>
            </a:solidFill>
            <a:miter lim="800000"/>
            <a:headEnd/>
            <a:tailEnd/>
          </a:ln>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Lucida Sans" charset="0"/>
              <a:ea typeface="ＭＳ Ｐゴシック" charset="0"/>
              <a:cs typeface="+mn-cs"/>
            </a:endParaRPr>
          </a:p>
        </p:txBody>
      </p:sp>
      <p:sp>
        <p:nvSpPr>
          <p:cNvPr id="56" name="Text Box 11">
            <a:extLst>
              <a:ext uri="{FF2B5EF4-FFF2-40B4-BE49-F238E27FC236}">
                <a16:creationId xmlns:a16="http://schemas.microsoft.com/office/drawing/2014/main" id="{9DF94099-3669-0894-A22D-38D610A57D45}"/>
              </a:ext>
            </a:extLst>
          </p:cNvPr>
          <p:cNvSpPr txBox="1">
            <a:spLocks noChangeArrowheads="1"/>
          </p:cNvSpPr>
          <p:nvPr/>
        </p:nvSpPr>
        <p:spPr bwMode="auto">
          <a:xfrm rot="16200000">
            <a:off x="6073775" y="4518024"/>
            <a:ext cx="11430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Arial" charset="0"/>
                <a:ea typeface="ＭＳ Ｐゴシック" charset="0"/>
              </a:rPr>
              <a:t>man</a:t>
            </a:r>
          </a:p>
        </p:txBody>
      </p:sp>
      <p:sp>
        <p:nvSpPr>
          <p:cNvPr id="57" name="Text Box 12">
            <a:extLst>
              <a:ext uri="{FF2B5EF4-FFF2-40B4-BE49-F238E27FC236}">
                <a16:creationId xmlns:a16="http://schemas.microsoft.com/office/drawing/2014/main" id="{161430C0-3553-447C-5694-1984310ACD30}"/>
              </a:ext>
            </a:extLst>
          </p:cNvPr>
          <p:cNvSpPr txBox="1">
            <a:spLocks noChangeArrowheads="1"/>
          </p:cNvSpPr>
          <p:nvPr/>
        </p:nvSpPr>
        <p:spPr bwMode="auto">
          <a:xfrm rot="16200000">
            <a:off x="6530975" y="4518024"/>
            <a:ext cx="11430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Arial" charset="0"/>
                <a:ea typeface="ＭＳ Ｐゴシック" charset="0"/>
              </a:rPr>
              <a:t>outcome</a:t>
            </a:r>
          </a:p>
        </p:txBody>
      </p:sp>
      <p:sp>
        <p:nvSpPr>
          <p:cNvPr id="58" name="Text Box 13">
            <a:extLst>
              <a:ext uri="{FF2B5EF4-FFF2-40B4-BE49-F238E27FC236}">
                <a16:creationId xmlns:a16="http://schemas.microsoft.com/office/drawing/2014/main" id="{8757D159-4C7D-C596-A8AC-C0625A44E2D6}"/>
              </a:ext>
            </a:extLst>
          </p:cNvPr>
          <p:cNvSpPr txBox="1">
            <a:spLocks noChangeArrowheads="1"/>
          </p:cNvSpPr>
          <p:nvPr/>
        </p:nvSpPr>
        <p:spPr bwMode="auto">
          <a:xfrm>
            <a:off x="7315200" y="4648199"/>
            <a:ext cx="533400" cy="579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3200" b="0" i="0" u="none" strike="noStrike" kern="1200" cap="none" spc="0" normalizeH="0" baseline="0" noProof="0">
                <a:ln>
                  <a:noFill/>
                </a:ln>
                <a:solidFill>
                  <a:prstClr val="black"/>
                </a:solidFill>
                <a:effectLst/>
                <a:uLnTx/>
                <a:uFillTx/>
                <a:latin typeface="Arial" charset="0"/>
                <a:ea typeface="ＭＳ Ｐゴシック" charset="0"/>
              </a:rPr>
              <a:t>…</a:t>
            </a:r>
          </a:p>
        </p:txBody>
      </p:sp>
      <p:sp>
        <p:nvSpPr>
          <p:cNvPr id="59" name="Rectangle 23">
            <a:extLst>
              <a:ext uri="{FF2B5EF4-FFF2-40B4-BE49-F238E27FC236}">
                <a16:creationId xmlns:a16="http://schemas.microsoft.com/office/drawing/2014/main" id="{3B1C3B31-EEC1-50C4-3901-691BEE613B01}"/>
              </a:ext>
            </a:extLst>
          </p:cNvPr>
          <p:cNvSpPr>
            <a:spLocks noChangeArrowheads="1"/>
          </p:cNvSpPr>
          <p:nvPr/>
        </p:nvSpPr>
        <p:spPr bwMode="auto">
          <a:xfrm rot="16200000">
            <a:off x="3851564" y="4613562"/>
            <a:ext cx="1059872" cy="381000"/>
          </a:xfrm>
          <a:prstGeom prst="rect">
            <a:avLst/>
          </a:prstGeom>
          <a:solidFill>
            <a:srgbClr val="00B0F0"/>
          </a:solidFill>
          <a:ln w="9525">
            <a:solidFill>
              <a:schemeClr val="tx1"/>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charset="0"/>
                <a:ea typeface="ＭＳ Ｐゴシック" charset="0"/>
                <a:cs typeface="+mn-cs"/>
              </a:rPr>
              <a:t>allegations</a:t>
            </a:r>
          </a:p>
        </p:txBody>
      </p:sp>
      <p:sp>
        <p:nvSpPr>
          <p:cNvPr id="60" name="Rectangle 24">
            <a:extLst>
              <a:ext uri="{FF2B5EF4-FFF2-40B4-BE49-F238E27FC236}">
                <a16:creationId xmlns:a16="http://schemas.microsoft.com/office/drawing/2014/main" id="{957C6EA5-10BD-93C3-DC31-C3B2B7F3B84E}"/>
              </a:ext>
            </a:extLst>
          </p:cNvPr>
          <p:cNvSpPr>
            <a:spLocks noChangeArrowheads="1"/>
          </p:cNvSpPr>
          <p:nvPr/>
        </p:nvSpPr>
        <p:spPr bwMode="auto">
          <a:xfrm rot="16200000">
            <a:off x="4495800" y="4800598"/>
            <a:ext cx="685800" cy="381000"/>
          </a:xfrm>
          <a:prstGeom prst="rect">
            <a:avLst/>
          </a:prstGeom>
          <a:solidFill>
            <a:srgbClr val="00B0F0"/>
          </a:solidFill>
          <a:ln w="9525">
            <a:solidFill>
              <a:schemeClr val="tx1"/>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charset="0"/>
                <a:ea typeface="ＭＳ Ｐゴシック" charset="0"/>
                <a:cs typeface="+mn-cs"/>
              </a:rPr>
              <a:t>reports</a:t>
            </a:r>
          </a:p>
        </p:txBody>
      </p:sp>
      <p:sp>
        <p:nvSpPr>
          <p:cNvPr id="61" name="Rectangle 25">
            <a:extLst>
              <a:ext uri="{FF2B5EF4-FFF2-40B4-BE49-F238E27FC236}">
                <a16:creationId xmlns:a16="http://schemas.microsoft.com/office/drawing/2014/main" id="{98712DE1-5D1C-C81C-A36E-34EF5BDAF768}"/>
              </a:ext>
            </a:extLst>
          </p:cNvPr>
          <p:cNvSpPr>
            <a:spLocks noChangeArrowheads="1"/>
          </p:cNvSpPr>
          <p:nvPr/>
        </p:nvSpPr>
        <p:spPr bwMode="auto">
          <a:xfrm rot="16200000">
            <a:off x="5067300" y="4914899"/>
            <a:ext cx="457201" cy="381000"/>
          </a:xfrm>
          <a:prstGeom prst="rect">
            <a:avLst/>
          </a:prstGeom>
          <a:solidFill>
            <a:srgbClr val="00B0F0"/>
          </a:solidFill>
          <a:ln w="9525">
            <a:solidFill>
              <a:schemeClr val="tx1"/>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Lucida Sans" charset="0"/>
                <a:ea typeface="ＭＳ Ｐゴシック" charset="0"/>
                <a:cs typeface="+mn-cs"/>
              </a:rPr>
              <a:t>claims</a:t>
            </a:r>
          </a:p>
        </p:txBody>
      </p:sp>
      <p:sp>
        <p:nvSpPr>
          <p:cNvPr id="62" name="Rectangle 26">
            <a:extLst>
              <a:ext uri="{FF2B5EF4-FFF2-40B4-BE49-F238E27FC236}">
                <a16:creationId xmlns:a16="http://schemas.microsoft.com/office/drawing/2014/main" id="{E0BB8C97-C79E-C215-735B-6E7239928310}"/>
              </a:ext>
            </a:extLst>
          </p:cNvPr>
          <p:cNvSpPr>
            <a:spLocks noChangeArrowheads="1"/>
          </p:cNvSpPr>
          <p:nvPr/>
        </p:nvSpPr>
        <p:spPr bwMode="auto">
          <a:xfrm rot="16200000">
            <a:off x="5524499" y="4914898"/>
            <a:ext cx="457202" cy="381000"/>
          </a:xfrm>
          <a:prstGeom prst="rect">
            <a:avLst/>
          </a:prstGeom>
          <a:solidFill>
            <a:srgbClr val="00B0F0"/>
          </a:solidFill>
          <a:ln w="9525">
            <a:solidFill>
              <a:schemeClr val="tx1"/>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Lucida Sans" charset="0"/>
                <a:ea typeface="ＭＳ Ｐゴシック" charset="0"/>
                <a:cs typeface="+mn-cs"/>
              </a:rPr>
              <a:t>request</a:t>
            </a:r>
          </a:p>
        </p:txBody>
      </p:sp>
      <p:sp>
        <p:nvSpPr>
          <p:cNvPr id="63" name="Rectangle 27">
            <a:extLst>
              <a:ext uri="{FF2B5EF4-FFF2-40B4-BE49-F238E27FC236}">
                <a16:creationId xmlns:a16="http://schemas.microsoft.com/office/drawing/2014/main" id="{4A6A4B16-A3B8-2B20-EAAD-5FF8F21C6A5D}"/>
              </a:ext>
            </a:extLst>
          </p:cNvPr>
          <p:cNvSpPr>
            <a:spLocks noChangeArrowheads="1"/>
          </p:cNvSpPr>
          <p:nvPr/>
        </p:nvSpPr>
        <p:spPr bwMode="auto">
          <a:xfrm rot="16200000">
            <a:off x="6172200" y="5105399"/>
            <a:ext cx="76200" cy="381000"/>
          </a:xfrm>
          <a:prstGeom prst="rect">
            <a:avLst/>
          </a:prstGeom>
          <a:solidFill>
            <a:srgbClr val="FF0000"/>
          </a:solidFill>
          <a:ln w="9525">
            <a:solidFill>
              <a:schemeClr val="tx1"/>
            </a:solidFill>
            <a:miter lim="800000"/>
            <a:headEnd/>
            <a:tailEnd/>
          </a:ln>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Lucida Sans" charset="0"/>
              <a:ea typeface="ＭＳ Ｐゴシック" charset="0"/>
              <a:cs typeface="+mn-cs"/>
            </a:endParaRPr>
          </a:p>
        </p:txBody>
      </p:sp>
      <p:sp>
        <p:nvSpPr>
          <p:cNvPr id="64" name="Rectangle 28">
            <a:extLst>
              <a:ext uri="{FF2B5EF4-FFF2-40B4-BE49-F238E27FC236}">
                <a16:creationId xmlns:a16="http://schemas.microsoft.com/office/drawing/2014/main" id="{A1504F75-C2D1-0065-3E45-037E8EBA1E07}"/>
              </a:ext>
            </a:extLst>
          </p:cNvPr>
          <p:cNvSpPr>
            <a:spLocks noChangeArrowheads="1"/>
          </p:cNvSpPr>
          <p:nvPr/>
        </p:nvSpPr>
        <p:spPr bwMode="auto">
          <a:xfrm rot="16200000">
            <a:off x="6629400" y="5105399"/>
            <a:ext cx="76200" cy="381000"/>
          </a:xfrm>
          <a:prstGeom prst="rect">
            <a:avLst/>
          </a:prstGeom>
          <a:solidFill>
            <a:srgbClr val="FF0000"/>
          </a:solidFill>
          <a:ln w="9525">
            <a:solidFill>
              <a:schemeClr val="tx1"/>
            </a:solidFill>
            <a:miter lim="800000"/>
            <a:headEnd/>
            <a:tailEnd/>
          </a:ln>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Lucida Sans" charset="0"/>
              <a:ea typeface="ＭＳ Ｐゴシック" charset="0"/>
              <a:cs typeface="+mn-cs"/>
            </a:endParaRPr>
          </a:p>
        </p:txBody>
      </p:sp>
      <p:sp>
        <p:nvSpPr>
          <p:cNvPr id="65" name="Rectangle 29">
            <a:extLst>
              <a:ext uri="{FF2B5EF4-FFF2-40B4-BE49-F238E27FC236}">
                <a16:creationId xmlns:a16="http://schemas.microsoft.com/office/drawing/2014/main" id="{B065CE66-3F30-458A-3F6A-8866F7929195}"/>
              </a:ext>
            </a:extLst>
          </p:cNvPr>
          <p:cNvSpPr>
            <a:spLocks noChangeArrowheads="1"/>
          </p:cNvSpPr>
          <p:nvPr/>
        </p:nvSpPr>
        <p:spPr bwMode="auto">
          <a:xfrm rot="16200000">
            <a:off x="7086600" y="5105399"/>
            <a:ext cx="76200" cy="381000"/>
          </a:xfrm>
          <a:prstGeom prst="rect">
            <a:avLst/>
          </a:prstGeom>
          <a:solidFill>
            <a:srgbClr val="FF0000"/>
          </a:solidFill>
          <a:ln w="9525">
            <a:solidFill>
              <a:schemeClr val="tx1"/>
            </a:solidFill>
            <a:miter lim="800000"/>
            <a:headEnd/>
            <a:tailEnd/>
          </a:ln>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Lucida Sans" charset="0"/>
              <a:ea typeface="ＭＳ Ｐゴシック" charset="0"/>
              <a:cs typeface="+mn-cs"/>
            </a:endParaRPr>
          </a:p>
        </p:txBody>
      </p:sp>
      <p:sp>
        <p:nvSpPr>
          <p:cNvPr id="14" name="Rectangle 3">
            <a:extLst>
              <a:ext uri="{FF2B5EF4-FFF2-40B4-BE49-F238E27FC236}">
                <a16:creationId xmlns:a16="http://schemas.microsoft.com/office/drawing/2014/main" id="{DB37C0DC-959B-97A5-CD6E-BCD22B06DCB0}"/>
              </a:ext>
            </a:extLst>
          </p:cNvPr>
          <p:cNvSpPr txBox="1">
            <a:spLocks noChangeArrowheads="1"/>
          </p:cNvSpPr>
          <p:nvPr/>
        </p:nvSpPr>
        <p:spPr>
          <a:xfrm>
            <a:off x="304799" y="3232816"/>
            <a:ext cx="7543801" cy="365984"/>
          </a:xfrm>
          <a:prstGeom prst="rect">
            <a:avLst/>
          </a:prstGeom>
        </p:spPr>
        <p:txBody>
          <a:bodyPr vert="horz" lIns="0" tIns="45720" rIns="0" bIns="45720" rtlCol="0">
            <a:normAutofit/>
          </a:bodyPr>
          <a:lstStyle>
            <a:lvl1pPr marL="7938" indent="-7938"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tabLst/>
              <a:defRPr sz="2800" kern="1200" baseline="0">
                <a:solidFill>
                  <a:schemeClr val="tx1">
                    <a:lumMod val="75000"/>
                    <a:lumOff val="25000"/>
                  </a:schemeClr>
                </a:solidFill>
                <a:latin typeface="+mn-lt"/>
                <a:ea typeface="+mn-ea"/>
                <a:cs typeface="+mn-cs"/>
              </a:defRPr>
            </a:lvl1pPr>
            <a:lvl2pPr marL="404813" indent="-254000" algn="l" defTabSz="685800" rtl="0" eaLnBrk="1" latinLnBrk="0" hangingPunct="1">
              <a:lnSpc>
                <a:spcPct val="90000"/>
              </a:lnSpc>
              <a:spcBef>
                <a:spcPts val="150"/>
              </a:spcBef>
              <a:spcAft>
                <a:spcPts val="300"/>
              </a:spcAft>
              <a:buClr>
                <a:schemeClr val="accent1"/>
              </a:buClr>
              <a:buFont typeface="Calibri" pitchFamily="34" charset="0"/>
              <a:buChar char="◦"/>
              <a:tabLst/>
              <a:defRPr sz="2400" kern="1200" baseline="0">
                <a:solidFill>
                  <a:schemeClr val="tx1">
                    <a:lumMod val="75000"/>
                    <a:lumOff val="25000"/>
                  </a:schemeClr>
                </a:solidFill>
                <a:latin typeface="+mn-lt"/>
                <a:ea typeface="+mn-ea"/>
                <a:cs typeface="+mn-cs"/>
              </a:defRPr>
            </a:lvl2pPr>
            <a:lvl3pPr marL="515938" indent="-228600" algn="l" defTabSz="685800" rtl="0" eaLnBrk="1" latinLnBrk="0" hangingPunct="1">
              <a:lnSpc>
                <a:spcPct val="90000"/>
              </a:lnSpc>
              <a:spcBef>
                <a:spcPts val="150"/>
              </a:spcBef>
              <a:spcAft>
                <a:spcPts val="300"/>
              </a:spcAft>
              <a:buClr>
                <a:schemeClr val="accent1"/>
              </a:buClr>
              <a:buFont typeface="Calibri" pitchFamily="34" charset="0"/>
              <a:buChar char="◦"/>
              <a:tabLst/>
              <a:defRPr sz="2000" kern="1200" baseline="0">
                <a:solidFill>
                  <a:schemeClr val="tx1">
                    <a:lumMod val="75000"/>
                    <a:lumOff val="25000"/>
                  </a:schemeClr>
                </a:solidFill>
                <a:latin typeface="+mn-lt"/>
                <a:ea typeface="+mn-ea"/>
                <a:cs typeface="+mn-cs"/>
              </a:defRPr>
            </a:lvl3pPr>
            <a:lvl4pPr marL="690563" indent="-265113" algn="l" defTabSz="685800" rtl="0" eaLnBrk="1" latinLnBrk="0" hangingPunct="1">
              <a:lnSpc>
                <a:spcPct val="90000"/>
              </a:lnSpc>
              <a:spcBef>
                <a:spcPts val="150"/>
              </a:spcBef>
              <a:spcAft>
                <a:spcPts val="300"/>
              </a:spcAft>
              <a:buClr>
                <a:schemeClr val="accent1"/>
              </a:buClr>
              <a:buFont typeface="Calibri" pitchFamily="34" charset="0"/>
              <a:buChar char="◦"/>
              <a:tabLst/>
              <a:defRPr sz="1600" kern="1200" baseline="0">
                <a:solidFill>
                  <a:schemeClr val="tx1">
                    <a:lumMod val="75000"/>
                    <a:lumOff val="25000"/>
                  </a:schemeClr>
                </a:solidFill>
                <a:latin typeface="+mn-lt"/>
                <a:ea typeface="+mn-ea"/>
                <a:cs typeface="+mn-cs"/>
              </a:defRPr>
            </a:lvl4pPr>
            <a:lvl5pPr marL="801688" indent="-239713" algn="l" defTabSz="685800" rtl="0" eaLnBrk="1" latinLnBrk="0" hangingPunct="1">
              <a:lnSpc>
                <a:spcPct val="90000"/>
              </a:lnSpc>
              <a:spcBef>
                <a:spcPts val="150"/>
              </a:spcBef>
              <a:spcAft>
                <a:spcPts val="300"/>
              </a:spcAft>
              <a:buClr>
                <a:schemeClr val="accent1"/>
              </a:buClr>
              <a:buFont typeface="Calibri" pitchFamily="34" charset="0"/>
              <a:buChar char="◦"/>
              <a:tabLst/>
              <a:defRPr sz="1400" kern="1200" baseline="0">
                <a:solidFill>
                  <a:schemeClr val="tx1">
                    <a:lumMod val="75000"/>
                    <a:lumOff val="25000"/>
                  </a:schemeClr>
                </a:solidFill>
                <a:latin typeface="+mj-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a:lstStyle>
          <a:p>
            <a:pPr marL="0" marR="0" lvl="0" indent="0" algn="l" defTabSz="685800" rtl="0" eaLnBrk="1" fontAlgn="auto" latinLnBrk="0" hangingPunct="1">
              <a:lnSpc>
                <a:spcPct val="70000"/>
              </a:lnSpc>
              <a:spcBef>
                <a:spcPts val="900"/>
              </a:spcBef>
              <a:spcAft>
                <a:spcPts val="150"/>
              </a:spcAft>
              <a:buClr>
                <a:srgbClr val="4472C4"/>
              </a:buClr>
              <a:buSzPct val="100000"/>
              <a:buFont typeface="Calibri" panose="020F0502020204030204" pitchFamily="34" charset="0"/>
              <a:buNone/>
              <a:tabLst/>
              <a:defRPr/>
            </a:pPr>
            <a:r>
              <a:rPr kumimoji="0" lang="en-US" sz="2200" b="0" i="0" u="none" strike="noStrike" kern="1200" cap="none" spc="0" normalizeH="0" baseline="0" noProof="0" dirty="0">
                <a:ln>
                  <a:noFill/>
                </a:ln>
                <a:solidFill>
                  <a:prstClr val="black">
                    <a:lumMod val="75000"/>
                    <a:lumOff val="25000"/>
                  </a:prstClr>
                </a:solidFill>
                <a:effectLst/>
                <a:uLnTx/>
                <a:uFillTx/>
                <a:latin typeface="Calibri"/>
                <a:ea typeface="ＭＳ Ｐゴシック" charset="0"/>
                <a:cs typeface="Calibri"/>
              </a:rPr>
              <a:t>Steal probability mass to generalize better</a:t>
            </a:r>
          </a:p>
        </p:txBody>
      </p:sp>
    </p:spTree>
    <p:extLst>
      <p:ext uri="{BB962C8B-B14F-4D97-AF65-F5344CB8AC3E}">
        <p14:creationId xmlns:p14="http://schemas.microsoft.com/office/powerpoint/2010/main" val="3574197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54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41" grpId="0"/>
      <p:bldP spid="50" grpId="0" animBg="1"/>
      <p:bldP spid="51" grpId="0" animBg="1"/>
      <p:bldP spid="52" grpId="0" animBg="1"/>
      <p:bldP spid="53" grpId="0" animBg="1"/>
      <p:bldP spid="54" grpId="0"/>
      <p:bldP spid="55" grpId="0" animBg="1"/>
      <p:bldP spid="56" grpId="0"/>
      <p:bldP spid="57" grpId="0"/>
      <p:bldP spid="58" grpId="0"/>
      <p:bldP spid="59" grpId="0" animBg="1"/>
      <p:bldP spid="60" grpId="0" animBg="1"/>
      <p:bldP spid="61" grpId="0" animBg="1"/>
      <p:bldP spid="62" grpId="0" animBg="1"/>
      <p:bldP spid="63" grpId="0" animBg="1"/>
      <p:bldP spid="64" grpId="0" animBg="1"/>
      <p:bldP spid="65" grpId="0" animBg="1"/>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C147B-4D18-5384-B57A-28634AF62E29}"/>
              </a:ext>
            </a:extLst>
          </p:cNvPr>
          <p:cNvSpPr>
            <a:spLocks noGrp="1"/>
          </p:cNvSpPr>
          <p:nvPr>
            <p:ph type="title"/>
          </p:nvPr>
        </p:nvSpPr>
        <p:spPr>
          <a:xfrm>
            <a:off x="608434" y="-95477"/>
            <a:ext cx="7886700" cy="1325563"/>
          </a:xfrm>
        </p:spPr>
        <p:txBody>
          <a:bodyPr/>
          <a:lstStyle/>
          <a:p>
            <a:r>
              <a:rPr lang="en-IN" b="1" dirty="0"/>
              <a:t>The Zero-Probability Problem: Solution -&gt; Smoothing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2BF1737-DD0A-8AB3-A483-943FB8FCC3B4}"/>
                  </a:ext>
                </a:extLst>
              </p:cNvPr>
              <p:cNvSpPr>
                <a:spLocks noGrp="1"/>
              </p:cNvSpPr>
              <p:nvPr>
                <p:ph idx="1"/>
              </p:nvPr>
            </p:nvSpPr>
            <p:spPr>
              <a:xfrm>
                <a:off x="628650" y="1143000"/>
                <a:ext cx="7906916" cy="5714999"/>
              </a:xfrm>
            </p:spPr>
            <p:txBody>
              <a:bodyPr>
                <a:normAutofit/>
              </a:bodyPr>
              <a:lstStyle/>
              <a:p>
                <a:r>
                  <a:rPr lang="en-IN" dirty="0"/>
                  <a:t>Smoothing solves this by shaving off a small amount of probability mass from frequent events and reallocating it to unseen events (zero-count </a:t>
                </a:r>
                <a14:m>
                  <m:oMath xmlns:m="http://schemas.openxmlformats.org/officeDocument/2006/math">
                    <m:r>
                      <a:rPr lang="en-IN" i="1">
                        <a:latin typeface="Cambria Math" panose="02040503050406030204" pitchFamily="18" charset="0"/>
                      </a:rPr>
                      <m:t>𝑁</m:t>
                    </m:r>
                  </m:oMath>
                </a14:m>
                <a:r>
                  <a:rPr lang="en-IN" dirty="0"/>
                  <a:t>-grams).</a:t>
                </a:r>
              </a:p>
              <a:p>
                <a:r>
                  <a:rPr lang="en-IN" b="1" dirty="0"/>
                  <a:t>Laplace (Add-1) Smoothing</a:t>
                </a:r>
                <a:endParaRPr lang="en-IN" dirty="0"/>
              </a:p>
              <a:p>
                <a:r>
                  <a:rPr lang="en-IN" dirty="0"/>
                  <a:t>Laplace smoothing pretends that every possible </a:t>
                </a:r>
                <a14:m>
                  <m:oMath xmlns:m="http://schemas.openxmlformats.org/officeDocument/2006/math">
                    <m:r>
                      <a:rPr lang="en-IN" i="1">
                        <a:latin typeface="Cambria Math" panose="02040503050406030204" pitchFamily="18" charset="0"/>
                      </a:rPr>
                      <m:t>𝑁</m:t>
                    </m:r>
                  </m:oMath>
                </a14:m>
                <a:r>
                  <a:rPr lang="en-IN" dirty="0"/>
                  <a:t>-gram in the vocabulary has been observed </a:t>
                </a:r>
                <a:r>
                  <a:rPr lang="en-IN" b="1" dirty="0"/>
                  <a:t>one extra time</a:t>
                </a:r>
                <a:r>
                  <a:rPr lang="en-IN" dirty="0"/>
                  <a:t>.</a:t>
                </a:r>
              </a:p>
              <a:p>
                <a:pPr lvl="0"/>
                <a:r>
                  <a:rPr lang="en-IN" b="1" dirty="0"/>
                  <a:t>Bigram Formula:</a:t>
                </a:r>
                <a:endParaRPr lang="en-IN" dirty="0"/>
              </a:p>
              <a:p>
                <a:pPr lvl="0"/>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𝑃</m:t>
                        </m:r>
                      </m:e>
                      <m:sub>
                        <m:r>
                          <m:rPr>
                            <m:nor/>
                          </m:rPr>
                          <a:rPr lang="en-IN" i="0"/>
                          <m:t>Laplace</m:t>
                        </m:r>
                      </m:sub>
                    </m:sSub>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e>
                    </m:d>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𝐶</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sub>
                            </m:sSub>
                          </m:e>
                        </m:d>
                        <m:r>
                          <a:rPr lang="en-IN">
                            <a:latin typeface="Cambria Math" panose="02040503050406030204" pitchFamily="18" charset="0"/>
                          </a:rPr>
                          <m:t>+1</m:t>
                        </m:r>
                      </m:num>
                      <m:den>
                        <m:r>
                          <a:rPr lang="en-IN" i="1">
                            <a:latin typeface="Cambria Math" panose="02040503050406030204" pitchFamily="18" charset="0"/>
                          </a:rPr>
                          <m:t>𝐶</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e>
                        </m:d>
                        <m:r>
                          <a:rPr lang="en-IN">
                            <a:latin typeface="Cambria Math" panose="02040503050406030204" pitchFamily="18" charset="0"/>
                          </a:rPr>
                          <m:t>+|</m:t>
                        </m:r>
                        <m:r>
                          <a:rPr lang="en-IN" i="1">
                            <a:latin typeface="Cambria Math" panose="02040503050406030204" pitchFamily="18" charset="0"/>
                          </a:rPr>
                          <m:t>𝑉</m:t>
                        </m:r>
                        <m:r>
                          <a:rPr lang="en-IN">
                            <a:latin typeface="Cambria Math" panose="02040503050406030204" pitchFamily="18" charset="0"/>
                          </a:rPr>
                          <m:t>|</m:t>
                        </m:r>
                      </m:den>
                    </m:f>
                  </m:oMath>
                </a14:m>
                <a:endParaRPr lang="en-IN" dirty="0"/>
              </a:p>
              <a:p>
                <a:pPr lvl="1"/>
                <a14:m>
                  <m:oMath xmlns:m="http://schemas.openxmlformats.org/officeDocument/2006/math">
                    <m:r>
                      <a:rPr lang="en-IN" i="1">
                        <a:latin typeface="Cambria Math" panose="02040503050406030204" pitchFamily="18" charset="0"/>
                      </a:rPr>
                      <m:t>𝐶</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sub>
                        </m:sSub>
                      </m:e>
                    </m:d>
                  </m:oMath>
                </a14:m>
                <a:r>
                  <a:rPr lang="en-IN" dirty="0"/>
                  <a:t>is the bigram frequency.</a:t>
                </a:r>
              </a:p>
              <a:p>
                <a:pPr lvl="1"/>
                <a14:m>
                  <m:oMath xmlns:m="http://schemas.openxmlformats.org/officeDocument/2006/math">
                    <m:r>
                      <a:rPr lang="en-IN" i="1">
                        <a:latin typeface="Cambria Math" panose="02040503050406030204" pitchFamily="18" charset="0"/>
                      </a:rPr>
                      <m:t>𝐶</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e>
                    </m:d>
                  </m:oMath>
                </a14:m>
                <a:r>
                  <a:rPr lang="en-IN" dirty="0"/>
                  <a:t>is the history frequency.</a:t>
                </a:r>
              </a:p>
              <a:p>
                <a:pPr lvl="1"/>
                <a14:m>
                  <m:oMath xmlns:m="http://schemas.openxmlformats.org/officeDocument/2006/math">
                    <m:r>
                      <a:rPr lang="en-IN">
                        <a:latin typeface="Cambria Math" panose="02040503050406030204" pitchFamily="18" charset="0"/>
                      </a:rPr>
                      <m:t>|</m:t>
                    </m:r>
                    <m:r>
                      <a:rPr lang="en-IN" i="1">
                        <a:latin typeface="Cambria Math" panose="02040503050406030204" pitchFamily="18" charset="0"/>
                      </a:rPr>
                      <m:t>𝑉</m:t>
                    </m:r>
                    <m:r>
                      <a:rPr lang="en-IN">
                        <a:latin typeface="Cambria Math" panose="02040503050406030204" pitchFamily="18" charset="0"/>
                      </a:rPr>
                      <m:t>|</m:t>
                    </m:r>
                  </m:oMath>
                </a14:m>
                <a:r>
                  <a:rPr lang="en-IN" dirty="0"/>
                  <a:t>is the total vocabulary size.</a:t>
                </a:r>
              </a:p>
              <a:p>
                <a:pPr lvl="0"/>
                <a:r>
                  <a:rPr lang="en-IN" b="1" dirty="0"/>
                  <a:t>Why Add </a:t>
                </a:r>
                <a14:m>
                  <m:oMath xmlns:m="http://schemas.openxmlformats.org/officeDocument/2006/math">
                    <m:r>
                      <a:rPr lang="en-IN">
                        <a:latin typeface="Cambria Math" panose="02040503050406030204" pitchFamily="18" charset="0"/>
                      </a:rPr>
                      <m:t>|</m:t>
                    </m:r>
                    <m:r>
                      <a:rPr lang="en-IN" i="1">
                        <a:latin typeface="Cambria Math" panose="02040503050406030204" pitchFamily="18" charset="0"/>
                      </a:rPr>
                      <m:t>𝑉</m:t>
                    </m:r>
                    <m:r>
                      <a:rPr lang="en-IN">
                        <a:latin typeface="Cambria Math" panose="02040503050406030204" pitchFamily="18" charset="0"/>
                      </a:rPr>
                      <m:t>|</m:t>
                    </m:r>
                  </m:oMath>
                </a14:m>
                <a:r>
                  <a:rPr lang="en-IN" b="1" dirty="0"/>
                  <a:t>to the Denominator?</a:t>
                </a:r>
                <a:endParaRPr lang="en-IN" dirty="0"/>
              </a:p>
              <a:p>
                <a:pPr lvl="0"/>
                <a:r>
                  <a:rPr lang="en-IN" dirty="0"/>
                  <a:t>To maintain a valid probability distribution where </a:t>
                </a:r>
                <a14:m>
                  <m:oMath xmlns:m="http://schemas.openxmlformats.org/officeDocument/2006/math">
                    <m:nary>
                      <m:naryPr>
                        <m:chr m:val="∑"/>
                        <m:limLoc m:val="undOvr"/>
                        <m:supHide m:val="on"/>
                        <m:ctrlPr>
                          <a:rPr lang="en-IN" i="1">
                            <a:latin typeface="Cambria Math" panose="02040503050406030204" pitchFamily="18" charset="0"/>
                          </a:rPr>
                        </m:ctrlPr>
                      </m:naryPr>
                      <m:sub>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sub>
                        </m:sSub>
                        <m:r>
                          <a:rPr lang="en-IN">
                            <a:latin typeface="Cambria Math" panose="02040503050406030204" pitchFamily="18" charset="0"/>
                          </a:rPr>
                          <m:t>∈</m:t>
                        </m:r>
                        <m:r>
                          <a:rPr lang="en-IN" i="1">
                            <a:latin typeface="Cambria Math" panose="02040503050406030204" pitchFamily="18" charset="0"/>
                          </a:rPr>
                          <m:t>𝑉</m:t>
                        </m:r>
                      </m:sub>
                      <m:sup/>
                      <m:e>
                        <m:r>
                          <a:rPr lang="en-IN" i="1">
                            <a:latin typeface="Cambria Math" panose="02040503050406030204" pitchFamily="18" charset="0"/>
                          </a:rPr>
                          <m:t>𝑃</m:t>
                        </m:r>
                      </m:e>
                    </m:nary>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e>
                    </m:d>
                    <m:r>
                      <a:rPr lang="en-IN">
                        <a:latin typeface="Cambria Math" panose="02040503050406030204" pitchFamily="18" charset="0"/>
                      </a:rPr>
                      <m:t>=1</m:t>
                    </m:r>
                  </m:oMath>
                </a14:m>
                <a:r>
                  <a:rPr lang="en-IN" dirty="0"/>
                  <a:t>:</a:t>
                </a:r>
              </a:p>
              <a:p>
                <a:pPr lvl="0"/>
                <a14:m>
                  <m:oMath xmlns:m="http://schemas.openxmlformats.org/officeDocument/2006/math">
                    <m:nary>
                      <m:naryPr>
                        <m:chr m:val="∑"/>
                        <m:limLoc m:val="undOvr"/>
                        <m:supHide m:val="on"/>
                        <m:ctrlPr>
                          <a:rPr lang="en-IN" i="1">
                            <a:latin typeface="Cambria Math" panose="02040503050406030204" pitchFamily="18" charset="0"/>
                          </a:rPr>
                        </m:ctrlPr>
                      </m:naryPr>
                      <m:sub>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sub>
                        </m:sSub>
                        <m:r>
                          <a:rPr lang="en-IN">
                            <a:latin typeface="Cambria Math" panose="02040503050406030204" pitchFamily="18" charset="0"/>
                          </a:rPr>
                          <m:t>∈</m:t>
                        </m:r>
                        <m:r>
                          <a:rPr lang="en-IN" i="1">
                            <a:latin typeface="Cambria Math" panose="02040503050406030204" pitchFamily="18" charset="0"/>
                          </a:rPr>
                          <m:t>𝑉</m:t>
                        </m:r>
                      </m:sub>
                      <m:sup/>
                      <m:e>
                        <m:f>
                          <m:fPr>
                            <m:ctrlPr>
                              <a:rPr lang="en-IN" i="1">
                                <a:latin typeface="Cambria Math" panose="02040503050406030204" pitchFamily="18" charset="0"/>
                              </a:rPr>
                            </m:ctrlPr>
                          </m:fPr>
                          <m:num>
                            <m:r>
                              <a:rPr lang="en-IN" i="1">
                                <a:latin typeface="Cambria Math" panose="02040503050406030204" pitchFamily="18" charset="0"/>
                              </a:rPr>
                              <m:t>𝐶</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sub>
                                </m:sSub>
                              </m:e>
                            </m:d>
                            <m:r>
                              <a:rPr lang="en-IN">
                                <a:latin typeface="Cambria Math" panose="02040503050406030204" pitchFamily="18" charset="0"/>
                              </a:rPr>
                              <m:t>+1</m:t>
                            </m:r>
                          </m:num>
                          <m:den>
                            <m:r>
                              <a:rPr lang="en-IN" i="1">
                                <a:latin typeface="Cambria Math" panose="02040503050406030204" pitchFamily="18" charset="0"/>
                              </a:rPr>
                              <m:t>𝐶</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e>
                            </m:d>
                            <m:r>
                              <a:rPr lang="en-IN">
                                <a:latin typeface="Cambria Math" panose="02040503050406030204" pitchFamily="18" charset="0"/>
                              </a:rPr>
                              <m:t>+|</m:t>
                            </m:r>
                            <m:r>
                              <a:rPr lang="en-IN" i="1">
                                <a:latin typeface="Cambria Math" panose="02040503050406030204" pitchFamily="18" charset="0"/>
                              </a:rPr>
                              <m:t>𝑉</m:t>
                            </m:r>
                            <m:r>
                              <a:rPr lang="en-IN">
                                <a:latin typeface="Cambria Math" panose="02040503050406030204" pitchFamily="18" charset="0"/>
                              </a:rPr>
                              <m:t>|</m:t>
                            </m:r>
                          </m:den>
                        </m:f>
                      </m:e>
                    </m:nary>
                    <m:r>
                      <a:rPr lang="en-IN">
                        <a:latin typeface="Cambria Math" panose="02040503050406030204" pitchFamily="18" charset="0"/>
                      </a:rPr>
                      <m:t>=</m:t>
                    </m:r>
                    <m:f>
                      <m:fPr>
                        <m:ctrlPr>
                          <a:rPr lang="en-IN" i="1">
                            <a:latin typeface="Cambria Math" panose="02040503050406030204" pitchFamily="18" charset="0"/>
                          </a:rPr>
                        </m:ctrlPr>
                      </m:fPr>
                      <m:num>
                        <m:nary>
                          <m:naryPr>
                            <m:chr m:val="∑"/>
                            <m:limLoc m:val="undOvr"/>
                            <m:supHide m:val="on"/>
                            <m:ctrlPr>
                              <a:rPr lang="en-IN" i="1">
                                <a:latin typeface="Cambria Math" panose="02040503050406030204" pitchFamily="18" charset="0"/>
                              </a:rPr>
                            </m:ctrlPr>
                          </m:naryPr>
                          <m:sub>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i="1">
                                    <a:latin typeface="Cambria Math" panose="02040503050406030204" pitchFamily="18" charset="0"/>
                                  </a:rPr>
                                  <m:t>𝑖</m:t>
                                </m:r>
                              </m:sub>
                            </m:sSub>
                          </m:sub>
                          <m:sup/>
                          <m:e>
                            <m:r>
                              <a:rPr lang="en-IN" i="1">
                                <a:latin typeface="Cambria Math" panose="02040503050406030204" pitchFamily="18" charset="0"/>
                              </a:rPr>
                              <m:t>𝐶</m:t>
                            </m:r>
                          </m:e>
                        </m:nary>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sub>
                            </m:sSub>
                          </m:e>
                        </m:d>
                        <m:r>
                          <a:rPr lang="en-IN">
                            <a:latin typeface="Cambria Math" panose="02040503050406030204" pitchFamily="18" charset="0"/>
                          </a:rPr>
                          <m:t>+</m:t>
                        </m:r>
                        <m:nary>
                          <m:naryPr>
                            <m:chr m:val="∑"/>
                            <m:limLoc m:val="undOvr"/>
                            <m:supHide m:val="on"/>
                            <m:ctrlPr>
                              <a:rPr lang="en-IN" i="1">
                                <a:latin typeface="Cambria Math" panose="02040503050406030204" pitchFamily="18" charset="0"/>
                              </a:rPr>
                            </m:ctrlPr>
                          </m:naryPr>
                          <m:sub>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i="1">
                                    <a:latin typeface="Cambria Math" panose="02040503050406030204" pitchFamily="18" charset="0"/>
                                  </a:rPr>
                                  <m:t>𝑖</m:t>
                                </m:r>
                              </m:sub>
                            </m:sSub>
                          </m:sub>
                          <m:sup/>
                          <m:e>
                            <m:r>
                              <a:rPr lang="en-IN">
                                <a:latin typeface="Cambria Math" panose="02040503050406030204" pitchFamily="18" charset="0"/>
                              </a:rPr>
                              <m:t>1</m:t>
                            </m:r>
                          </m:e>
                        </m:nary>
                      </m:num>
                      <m:den>
                        <m:r>
                          <a:rPr lang="en-IN" i="1">
                            <a:latin typeface="Cambria Math" panose="02040503050406030204" pitchFamily="18" charset="0"/>
                          </a:rPr>
                          <m:t>𝐶</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e>
                        </m:d>
                        <m:r>
                          <a:rPr lang="en-IN">
                            <a:latin typeface="Cambria Math" panose="02040503050406030204" pitchFamily="18" charset="0"/>
                          </a:rPr>
                          <m:t>+|</m:t>
                        </m:r>
                        <m:r>
                          <a:rPr lang="en-IN" i="1">
                            <a:latin typeface="Cambria Math" panose="02040503050406030204" pitchFamily="18" charset="0"/>
                          </a:rPr>
                          <m:t>𝑉</m:t>
                        </m:r>
                        <m:r>
                          <a:rPr lang="en-IN">
                            <a:latin typeface="Cambria Math" panose="02040503050406030204" pitchFamily="18" charset="0"/>
                          </a:rPr>
                          <m:t>|</m:t>
                        </m:r>
                      </m:den>
                    </m:f>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𝐶</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e>
                        </m:d>
                        <m:r>
                          <a:rPr lang="en-IN">
                            <a:latin typeface="Cambria Math" panose="02040503050406030204" pitchFamily="18" charset="0"/>
                          </a:rPr>
                          <m:t>+|</m:t>
                        </m:r>
                        <m:r>
                          <a:rPr lang="en-IN" i="1">
                            <a:latin typeface="Cambria Math" panose="02040503050406030204" pitchFamily="18" charset="0"/>
                          </a:rPr>
                          <m:t>𝑉</m:t>
                        </m:r>
                        <m:r>
                          <a:rPr lang="en-IN">
                            <a:latin typeface="Cambria Math" panose="02040503050406030204" pitchFamily="18" charset="0"/>
                          </a:rPr>
                          <m:t>|</m:t>
                        </m:r>
                      </m:num>
                      <m:den>
                        <m:r>
                          <a:rPr lang="en-IN" i="1">
                            <a:latin typeface="Cambria Math" panose="02040503050406030204" pitchFamily="18" charset="0"/>
                          </a:rPr>
                          <m:t>𝐶</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e>
                        </m:d>
                        <m:r>
                          <a:rPr lang="en-IN">
                            <a:latin typeface="Cambria Math" panose="02040503050406030204" pitchFamily="18" charset="0"/>
                          </a:rPr>
                          <m:t>+|</m:t>
                        </m:r>
                        <m:r>
                          <a:rPr lang="en-IN" i="1">
                            <a:latin typeface="Cambria Math" panose="02040503050406030204" pitchFamily="18" charset="0"/>
                          </a:rPr>
                          <m:t>𝑉</m:t>
                        </m:r>
                        <m:r>
                          <a:rPr lang="en-IN">
                            <a:latin typeface="Cambria Math" panose="02040503050406030204" pitchFamily="18" charset="0"/>
                          </a:rPr>
                          <m:t>|</m:t>
                        </m:r>
                      </m:den>
                    </m:f>
                    <m:r>
                      <a:rPr lang="en-IN">
                        <a:latin typeface="Cambria Math" panose="02040503050406030204" pitchFamily="18" charset="0"/>
                      </a:rPr>
                      <m:t>=1</m:t>
                    </m:r>
                  </m:oMath>
                </a14:m>
                <a:endParaRPr lang="en-IN" dirty="0"/>
              </a:p>
            </p:txBody>
          </p:sp>
        </mc:Choice>
        <mc:Fallback xmlns="">
          <p:sp>
            <p:nvSpPr>
              <p:cNvPr id="3" name="Content Placeholder 2">
                <a:extLst>
                  <a:ext uri="{FF2B5EF4-FFF2-40B4-BE49-F238E27FC236}">
                    <a16:creationId xmlns:a16="http://schemas.microsoft.com/office/drawing/2014/main" id="{52BF1737-DD0A-8AB3-A483-943FB8FCC3B4}"/>
                  </a:ext>
                </a:extLst>
              </p:cNvPr>
              <p:cNvSpPr>
                <a:spLocks noGrp="1" noRot="1" noChangeAspect="1" noMove="1" noResize="1" noEditPoints="1" noAdjustHandles="1" noChangeArrowheads="1" noChangeShapeType="1" noTextEdit="1"/>
              </p:cNvSpPr>
              <p:nvPr>
                <p:ph idx="1"/>
              </p:nvPr>
            </p:nvSpPr>
            <p:spPr>
              <a:xfrm>
                <a:off x="628650" y="1143000"/>
                <a:ext cx="7906916" cy="5714999"/>
              </a:xfrm>
              <a:blipFill>
                <a:blip r:embed="rId2"/>
                <a:stretch>
                  <a:fillRect l="-771" t="-1281" r="-308" b="-1174"/>
                </a:stretch>
              </a:blipFill>
            </p:spPr>
            <p:txBody>
              <a:bodyPr/>
              <a:lstStyle/>
              <a:p>
                <a:r>
                  <a:rPr lang="en-IN">
                    <a:noFill/>
                  </a:rPr>
                  <a:t> </a:t>
                </a:r>
              </a:p>
            </p:txBody>
          </p:sp>
        </mc:Fallback>
      </mc:AlternateContent>
    </p:spTree>
    <p:extLst>
      <p:ext uri="{BB962C8B-B14F-4D97-AF65-F5344CB8AC3E}">
        <p14:creationId xmlns:p14="http://schemas.microsoft.com/office/powerpoint/2010/main" val="3605892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B25AC-7399-111E-54F1-E2151BB2389D}"/>
              </a:ext>
            </a:extLst>
          </p:cNvPr>
          <p:cNvSpPr>
            <a:spLocks noGrp="1"/>
          </p:cNvSpPr>
          <p:nvPr>
            <p:ph type="title"/>
          </p:nvPr>
        </p:nvSpPr>
        <p:spPr>
          <a:xfrm>
            <a:off x="644201" y="18254"/>
            <a:ext cx="7886700" cy="1325563"/>
          </a:xfrm>
        </p:spPr>
        <p:txBody>
          <a:bodyPr/>
          <a:lstStyle/>
          <a:p>
            <a:r>
              <a:rPr lang="en-IN" b="1" dirty="0"/>
              <a:t>The Zero-Probability Problem: Solution -&gt; Smoothing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0A265EB-91F7-ED4A-7691-31591DA0FD38}"/>
                  </a:ext>
                </a:extLst>
              </p:cNvPr>
              <p:cNvSpPr>
                <a:spLocks noGrp="1"/>
              </p:cNvSpPr>
              <p:nvPr>
                <p:ph idx="1"/>
              </p:nvPr>
            </p:nvSpPr>
            <p:spPr>
              <a:xfrm>
                <a:off x="628650" y="1343817"/>
                <a:ext cx="7886700" cy="5056983"/>
              </a:xfrm>
            </p:spPr>
            <p:txBody>
              <a:bodyPr>
                <a:normAutofit lnSpcReduction="10000"/>
              </a:bodyPr>
              <a:lstStyle/>
              <a:p>
                <a:pPr algn="just"/>
                <a:r>
                  <a:rPr lang="en-IN" b="1" dirty="0"/>
                  <a:t>Add-</a:t>
                </a:r>
                <a14:m>
                  <m:oMath xmlns:m="http://schemas.openxmlformats.org/officeDocument/2006/math">
                    <m:r>
                      <a:rPr lang="en-IN" b="0" i="1" smtClean="0">
                        <a:latin typeface="Cambria Math" panose="02040503050406030204" pitchFamily="18" charset="0"/>
                      </a:rPr>
                      <m:t>𝑚</m:t>
                    </m:r>
                  </m:oMath>
                </a14:m>
                <a:r>
                  <a:rPr lang="en-IN" b="1" dirty="0"/>
                  <a:t> (Lidstone) Smoothing</a:t>
                </a:r>
                <a:endParaRPr lang="en-IN" dirty="0"/>
              </a:p>
              <a:p>
                <a:pPr algn="just"/>
                <a:r>
                  <a:rPr lang="en-IN" dirty="0"/>
                  <a:t>While Laplace smoothing prevents zero probabilities, adding an entire virtual count of </a:t>
                </a:r>
                <a14:m>
                  <m:oMath xmlns:m="http://schemas.openxmlformats.org/officeDocument/2006/math">
                    <m:r>
                      <a:rPr lang="en-IN">
                        <a:latin typeface="Cambria Math" panose="02040503050406030204" pitchFamily="18" charset="0"/>
                      </a:rPr>
                      <m:t>1</m:t>
                    </m:r>
                  </m:oMath>
                </a14:m>
                <a:r>
                  <a:rPr lang="en-IN" dirty="0"/>
                  <a:t>is far too aggressive when </a:t>
                </a:r>
                <a14:m>
                  <m:oMath xmlns:m="http://schemas.openxmlformats.org/officeDocument/2006/math">
                    <m:r>
                      <a:rPr lang="en-IN">
                        <a:latin typeface="Cambria Math" panose="02040503050406030204" pitchFamily="18" charset="0"/>
                      </a:rPr>
                      <m:t>|</m:t>
                    </m:r>
                    <m:r>
                      <a:rPr lang="en-IN" i="1">
                        <a:latin typeface="Cambria Math" panose="02040503050406030204" pitchFamily="18" charset="0"/>
                      </a:rPr>
                      <m:t>𝑉</m:t>
                    </m:r>
                    <m:r>
                      <a:rPr lang="en-IN">
                        <a:latin typeface="Cambria Math" panose="02040503050406030204" pitchFamily="18" charset="0"/>
                      </a:rPr>
                      <m:t>|</m:t>
                    </m:r>
                  </m:oMath>
                </a14:m>
                <a:r>
                  <a:rPr lang="en-IN" dirty="0"/>
                  <a:t>is large (e.g., </a:t>
                </a:r>
                <a14:m>
                  <m:oMath xmlns:m="http://schemas.openxmlformats.org/officeDocument/2006/math">
                    <m:r>
                      <a:rPr lang="en-IN">
                        <a:latin typeface="Cambria Math" panose="02040503050406030204" pitchFamily="18" charset="0"/>
                      </a:rPr>
                      <m:t>|</m:t>
                    </m:r>
                    <m:r>
                      <a:rPr lang="en-IN" i="1">
                        <a:latin typeface="Cambria Math" panose="02040503050406030204" pitchFamily="18" charset="0"/>
                      </a:rPr>
                      <m:t>𝑉</m:t>
                    </m:r>
                    <m:r>
                      <a:rPr lang="en-IN">
                        <a:latin typeface="Cambria Math" panose="02040503050406030204" pitchFamily="18" charset="0"/>
                      </a:rPr>
                      <m:t>|=50,000</m:t>
                    </m:r>
                  </m:oMath>
                </a14:m>
                <a:r>
                  <a:rPr lang="en-IN" dirty="0"/>
                  <a:t>). It shifts an overwhelming amount of probability mass from observed data to unseen pairs, severely degrading model accuracy.</a:t>
                </a:r>
              </a:p>
              <a:p>
                <a:pPr algn="just"/>
                <a:r>
                  <a:rPr lang="en-IN" b="1" dirty="0"/>
                  <a:t>Add-</a:t>
                </a:r>
                <a14:m>
                  <m:oMath xmlns:m="http://schemas.openxmlformats.org/officeDocument/2006/math">
                    <m:r>
                      <a:rPr lang="en-IN" b="0" i="1" smtClean="0">
                        <a:latin typeface="Cambria Math" panose="02040503050406030204" pitchFamily="18" charset="0"/>
                      </a:rPr>
                      <m:t>𝑚</m:t>
                    </m:r>
                  </m:oMath>
                </a14:m>
                <a:r>
                  <a:rPr lang="en-IN" b="1" dirty="0"/>
                  <a:t> smoothing</a:t>
                </a:r>
                <a:r>
                  <a:rPr lang="en-IN" dirty="0"/>
                  <a:t> relaxes this by replacing the integer </a:t>
                </a:r>
                <a14:m>
                  <m:oMath xmlns:m="http://schemas.openxmlformats.org/officeDocument/2006/math">
                    <m:r>
                      <a:rPr lang="en-IN">
                        <a:latin typeface="Cambria Math" panose="02040503050406030204" pitchFamily="18" charset="0"/>
                      </a:rPr>
                      <m:t>1</m:t>
                    </m:r>
                  </m:oMath>
                </a14:m>
                <a:r>
                  <a:rPr lang="en-IN" dirty="0"/>
                  <a:t>with a fractional pseudo-count </a:t>
                </a:r>
                <a14:m>
                  <m:oMath xmlns:m="http://schemas.openxmlformats.org/officeDocument/2006/math">
                    <m:r>
                      <a:rPr lang="en-IN" b="0" i="1" smtClean="0">
                        <a:latin typeface="Cambria Math" panose="02040503050406030204" pitchFamily="18" charset="0"/>
                      </a:rPr>
                      <m:t>𝑚</m:t>
                    </m:r>
                  </m:oMath>
                </a14:m>
                <a:r>
                  <a:rPr lang="en-IN" dirty="0"/>
                  <a:t>(typically </a:t>
                </a:r>
                <a14:m>
                  <m:oMath xmlns:m="http://schemas.openxmlformats.org/officeDocument/2006/math">
                    <m:r>
                      <a:rPr lang="en-IN">
                        <a:latin typeface="Cambria Math" panose="02040503050406030204" pitchFamily="18" charset="0"/>
                      </a:rPr>
                      <m:t>0&lt;</m:t>
                    </m:r>
                    <m:r>
                      <a:rPr lang="en-IN" b="0" i="1" smtClean="0">
                        <a:latin typeface="Cambria Math" panose="02040503050406030204" pitchFamily="18" charset="0"/>
                      </a:rPr>
                      <m:t>𝑚</m:t>
                    </m:r>
                    <m:r>
                      <a:rPr lang="en-IN">
                        <a:latin typeface="Cambria Math" panose="02040503050406030204" pitchFamily="18" charset="0"/>
                      </a:rPr>
                      <m:t>&lt;1</m:t>
                    </m:r>
                  </m:oMath>
                </a14:m>
                <a:r>
                  <a:rPr lang="en-IN" dirty="0"/>
                  <a:t>, such as </a:t>
                </a:r>
                <a14:m>
                  <m:oMath xmlns:m="http://schemas.openxmlformats.org/officeDocument/2006/math">
                    <m:r>
                      <a:rPr lang="en-IN" b="0" i="1" smtClean="0">
                        <a:latin typeface="Cambria Math" panose="02040503050406030204" pitchFamily="18" charset="0"/>
                      </a:rPr>
                      <m:t>𝑚</m:t>
                    </m:r>
                    <m:r>
                      <a:rPr lang="en-IN">
                        <a:latin typeface="Cambria Math" panose="02040503050406030204" pitchFamily="18" charset="0"/>
                      </a:rPr>
                      <m:t>=0.05</m:t>
                    </m:r>
                  </m:oMath>
                </a14:m>
                <a:r>
                  <a:rPr lang="en-IN" dirty="0"/>
                  <a:t> or </a:t>
                </a:r>
                <a14:m>
                  <m:oMath xmlns:m="http://schemas.openxmlformats.org/officeDocument/2006/math">
                    <m:r>
                      <a:rPr lang="en-IN" b="0" i="1" smtClean="0">
                        <a:latin typeface="Cambria Math" panose="02040503050406030204" pitchFamily="18" charset="0"/>
                      </a:rPr>
                      <m:t>𝑚</m:t>
                    </m:r>
                    <m:r>
                      <a:rPr lang="en-IN">
                        <a:latin typeface="Cambria Math" panose="02040503050406030204" pitchFamily="18" charset="0"/>
                      </a:rPr>
                      <m:t>=0.1</m:t>
                    </m:r>
                  </m:oMath>
                </a14:m>
                <a:r>
                  <a:rPr lang="en-IN" dirty="0"/>
                  <a:t>):</a:t>
                </a:r>
              </a:p>
              <a:p>
                <a:pPr algn="just"/>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𝑃</m:t>
                        </m:r>
                      </m:e>
                      <m:sub>
                        <m:r>
                          <m:rPr>
                            <m:nor/>
                          </m:rPr>
                          <a:rPr lang="en-IN" i="0"/>
                          <m:t>Add−</m:t>
                        </m:r>
                        <m:r>
                          <a:rPr lang="en-IN" b="0" i="1" smtClean="0">
                            <a:latin typeface="Cambria Math" panose="02040503050406030204" pitchFamily="18" charset="0"/>
                          </a:rPr>
                          <m:t>𝑚</m:t>
                        </m:r>
                      </m:sub>
                    </m:sSub>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e>
                    </m:d>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𝐶</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sub>
                            </m:sSub>
                          </m:e>
                        </m:d>
                        <m:r>
                          <a:rPr lang="en-IN">
                            <a:latin typeface="Cambria Math" panose="02040503050406030204" pitchFamily="18" charset="0"/>
                          </a:rPr>
                          <m:t>+</m:t>
                        </m:r>
                        <m:r>
                          <a:rPr lang="en-IN" b="0" i="1" smtClean="0">
                            <a:latin typeface="Cambria Math" panose="02040503050406030204" pitchFamily="18" charset="0"/>
                          </a:rPr>
                          <m:t>𝑚</m:t>
                        </m:r>
                      </m:num>
                      <m:den>
                        <m:r>
                          <a:rPr lang="en-IN" i="1">
                            <a:latin typeface="Cambria Math" panose="02040503050406030204" pitchFamily="18" charset="0"/>
                          </a:rPr>
                          <m:t>𝐶</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e>
                        </m:d>
                        <m:r>
                          <a:rPr lang="en-IN">
                            <a:latin typeface="Cambria Math" panose="02040503050406030204" pitchFamily="18" charset="0"/>
                          </a:rPr>
                          <m:t>+</m:t>
                        </m:r>
                        <m:r>
                          <a:rPr lang="en-IN" b="0" i="1" smtClean="0">
                            <a:latin typeface="Cambria Math" panose="02040503050406030204" pitchFamily="18" charset="0"/>
                          </a:rPr>
                          <m:t>𝑚</m:t>
                        </m:r>
                        <m:r>
                          <a:rPr lang="en-IN">
                            <a:latin typeface="Cambria Math" panose="02040503050406030204" pitchFamily="18" charset="0"/>
                          </a:rPr>
                          <m:t>|</m:t>
                        </m:r>
                        <m:r>
                          <a:rPr lang="en-IN" i="1">
                            <a:latin typeface="Cambria Math" panose="02040503050406030204" pitchFamily="18" charset="0"/>
                          </a:rPr>
                          <m:t>𝑉</m:t>
                        </m:r>
                        <m:r>
                          <a:rPr lang="en-IN">
                            <a:latin typeface="Cambria Math" panose="02040503050406030204" pitchFamily="18" charset="0"/>
                          </a:rPr>
                          <m:t>|</m:t>
                        </m:r>
                      </m:den>
                    </m:f>
                  </m:oMath>
                </a14:m>
                <a:endParaRPr lang="en-IN" dirty="0"/>
              </a:p>
              <a:p>
                <a:pPr lvl="0" algn="just"/>
                <a:r>
                  <a:rPr lang="en-IN" b="1" dirty="0" err="1"/>
                  <a:t>Tuning</a:t>
                </a:r>
                <a:r>
                  <a:rPr lang="en-IN" b="1" dirty="0"/>
                  <a:t> </a:t>
                </a:r>
                <a14:m>
                  <m:oMath xmlns:m="http://schemas.openxmlformats.org/officeDocument/2006/math">
                    <m:r>
                      <a:rPr lang="en-IN" b="0" i="1" smtClean="0">
                        <a:latin typeface="Cambria Math" panose="02040503050406030204" pitchFamily="18" charset="0"/>
                      </a:rPr>
                      <m:t>𝑚</m:t>
                    </m:r>
                  </m:oMath>
                </a14:m>
                <a:r>
                  <a:rPr lang="en-IN" b="1" dirty="0"/>
                  <a:t>:</a:t>
                </a:r>
                <a:r>
                  <a:rPr lang="en-IN" dirty="0"/>
                  <a:t> The parameter </a:t>
                </a:r>
                <a14:m>
                  <m:oMath xmlns:m="http://schemas.openxmlformats.org/officeDocument/2006/math">
                    <m:r>
                      <a:rPr lang="en-IN" b="0" i="1" smtClean="0">
                        <a:latin typeface="Cambria Math" panose="02040503050406030204" pitchFamily="18" charset="0"/>
                      </a:rPr>
                      <m:t>𝑚</m:t>
                    </m:r>
                    <m:r>
                      <a:rPr lang="en-IN" b="0" i="1" smtClean="0">
                        <a:latin typeface="Cambria Math" panose="02040503050406030204" pitchFamily="18" charset="0"/>
                      </a:rPr>
                      <m:t> </m:t>
                    </m:r>
                  </m:oMath>
                </a14:m>
                <a:r>
                  <a:rPr lang="en-IN" dirty="0"/>
                  <a:t>is treated as a hyperparameter and tuned on a </a:t>
                </a:r>
                <a:r>
                  <a:rPr lang="en-IN" b="1" dirty="0"/>
                  <a:t>validation (held-out) set</a:t>
                </a:r>
                <a:r>
                  <a:rPr lang="en-IN" dirty="0"/>
                  <a:t> to minimize perplexity before evaluating on the test set.</a:t>
                </a:r>
              </a:p>
              <a:p>
                <a:pPr lvl="0" algn="just"/>
                <a:r>
                  <a:rPr lang="en-IN" b="1" dirty="0" err="1"/>
                  <a:t>Behavior</a:t>
                </a:r>
                <a:r>
                  <a:rPr lang="en-IN" b="1" dirty="0"/>
                  <a:t>:</a:t>
                </a:r>
                <a:r>
                  <a:rPr lang="en-IN" dirty="0"/>
                  <a:t> As </a:t>
                </a:r>
                <a14:m>
                  <m:oMath xmlns:m="http://schemas.openxmlformats.org/officeDocument/2006/math">
                    <m:r>
                      <a:rPr lang="en-IN" b="0" i="1" smtClean="0">
                        <a:latin typeface="Cambria Math" panose="02040503050406030204" pitchFamily="18" charset="0"/>
                      </a:rPr>
                      <m:t>𝑚</m:t>
                    </m:r>
                    <m:r>
                      <a:rPr lang="en-IN">
                        <a:latin typeface="Cambria Math" panose="02040503050406030204" pitchFamily="18" charset="0"/>
                      </a:rPr>
                      <m:t>→0</m:t>
                    </m:r>
                  </m:oMath>
                </a14:m>
                <a:r>
                  <a:rPr lang="en-IN" dirty="0"/>
                  <a:t>, the estimate approaches pure MLE. As </a:t>
                </a:r>
                <a14:m>
                  <m:oMath xmlns:m="http://schemas.openxmlformats.org/officeDocument/2006/math">
                    <m:r>
                      <a:rPr lang="en-IN" b="0" i="1" smtClean="0">
                        <a:latin typeface="Cambria Math" panose="02040503050406030204" pitchFamily="18" charset="0"/>
                      </a:rPr>
                      <m:t>𝑚</m:t>
                    </m:r>
                    <m:r>
                      <a:rPr lang="en-IN">
                        <a:latin typeface="Cambria Math" panose="02040503050406030204" pitchFamily="18" charset="0"/>
                      </a:rPr>
                      <m:t>→1</m:t>
                    </m:r>
                  </m:oMath>
                </a14:m>
                <a:r>
                  <a:rPr lang="en-IN" dirty="0"/>
                  <a:t>, it becomes standard Laplace smoothing.</a:t>
                </a:r>
              </a:p>
              <a:p>
                <a:endParaRPr lang="en-IN" dirty="0"/>
              </a:p>
            </p:txBody>
          </p:sp>
        </mc:Choice>
        <mc:Fallback xmlns="">
          <p:sp>
            <p:nvSpPr>
              <p:cNvPr id="3" name="Content Placeholder 2">
                <a:extLst>
                  <a:ext uri="{FF2B5EF4-FFF2-40B4-BE49-F238E27FC236}">
                    <a16:creationId xmlns:a16="http://schemas.microsoft.com/office/drawing/2014/main" id="{40A265EB-91F7-ED4A-7691-31591DA0FD38}"/>
                  </a:ext>
                </a:extLst>
              </p:cNvPr>
              <p:cNvSpPr>
                <a:spLocks noGrp="1" noRot="1" noChangeAspect="1" noMove="1" noResize="1" noEditPoints="1" noAdjustHandles="1" noChangeArrowheads="1" noChangeShapeType="1" noTextEdit="1"/>
              </p:cNvSpPr>
              <p:nvPr>
                <p:ph idx="1"/>
              </p:nvPr>
            </p:nvSpPr>
            <p:spPr>
              <a:xfrm>
                <a:off x="628650" y="1343817"/>
                <a:ext cx="7886700" cy="5056983"/>
              </a:xfrm>
              <a:blipFill>
                <a:blip r:embed="rId2"/>
                <a:stretch>
                  <a:fillRect l="-773" t="-1807" r="-927"/>
                </a:stretch>
              </a:blipFill>
            </p:spPr>
            <p:txBody>
              <a:bodyPr/>
              <a:lstStyle/>
              <a:p>
                <a:r>
                  <a:rPr lang="en-IN">
                    <a:noFill/>
                  </a:rPr>
                  <a:t> </a:t>
                </a:r>
              </a:p>
            </p:txBody>
          </p:sp>
        </mc:Fallback>
      </mc:AlternateContent>
    </p:spTree>
    <p:extLst>
      <p:ext uri="{BB962C8B-B14F-4D97-AF65-F5344CB8AC3E}">
        <p14:creationId xmlns:p14="http://schemas.microsoft.com/office/powerpoint/2010/main" val="539148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A782D-D6A9-809F-726B-24E307B041AC}"/>
              </a:ext>
            </a:extLst>
          </p:cNvPr>
          <p:cNvSpPr>
            <a:spLocks noGrp="1"/>
          </p:cNvSpPr>
          <p:nvPr>
            <p:ph type="title"/>
          </p:nvPr>
        </p:nvSpPr>
        <p:spPr>
          <a:xfrm>
            <a:off x="628650" y="18253"/>
            <a:ext cx="7886700" cy="819947"/>
          </a:xfrm>
        </p:spPr>
        <p:txBody>
          <a:bodyPr/>
          <a:lstStyle/>
          <a:p>
            <a:r>
              <a:rPr lang="en-IN" dirty="0"/>
              <a:t>Branching factor in N-gram LMs: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66C0EB0-9640-7526-FCAB-B0934D283841}"/>
                  </a:ext>
                </a:extLst>
              </p:cNvPr>
              <p:cNvSpPr>
                <a:spLocks noGrp="1"/>
              </p:cNvSpPr>
              <p:nvPr>
                <p:ph idx="1"/>
              </p:nvPr>
            </p:nvSpPr>
            <p:spPr>
              <a:xfrm>
                <a:off x="628650" y="1219200"/>
                <a:ext cx="7886700" cy="4957765"/>
              </a:xfrm>
            </p:spPr>
            <p:txBody>
              <a:bodyPr>
                <a:normAutofit/>
              </a:bodyPr>
              <a:lstStyle/>
              <a:p>
                <a:pPr algn="just"/>
                <a:r>
                  <a:rPr lang="en-IN" dirty="0"/>
                  <a:t>In an </a:t>
                </a:r>
                <a14:m>
                  <m:oMath xmlns:m="http://schemas.openxmlformats.org/officeDocument/2006/math">
                    <m:r>
                      <a:rPr lang="en-IN" i="1">
                        <a:latin typeface="Cambria Math" panose="02040503050406030204" pitchFamily="18" charset="0"/>
                      </a:rPr>
                      <m:t>𝑁</m:t>
                    </m:r>
                  </m:oMath>
                </a14:m>
                <a:r>
                  <a:rPr lang="en-IN" dirty="0"/>
                  <a:t>-gram language model, the </a:t>
                </a:r>
                <a:r>
                  <a:rPr lang="en-IN" b="1" dirty="0"/>
                  <a:t>branching factor</a:t>
                </a:r>
                <a:r>
                  <a:rPr lang="en-IN" dirty="0"/>
                  <a:t> represents the number of plausible next words the model is trying to choose among given a preceding history </a:t>
                </a:r>
                <a14:m>
                  <m:oMath xmlns:m="http://schemas.openxmlformats.org/officeDocument/2006/math">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m:rPr>
                                <m:sty m:val="p"/>
                              </m:rPr>
                              <a:rPr lang="en-IN" b="0" i="0" smtClean="0">
                                <a:latin typeface="Cambria Math" panose="02040503050406030204" pitchFamily="18" charset="0"/>
                              </a:rPr>
                              <m:t>k</m:t>
                            </m:r>
                            <m:r>
                              <a:rPr lang="en-IN">
                                <a:latin typeface="Cambria Math" panose="02040503050406030204" pitchFamily="18" charset="0"/>
                              </a:rPr>
                              <m:t>−</m:t>
                            </m:r>
                            <m:r>
                              <a:rPr lang="en-IN" b="0" i="1" smtClean="0">
                                <a:latin typeface="Cambria Math" panose="02040503050406030204" pitchFamily="18" charset="0"/>
                              </a:rPr>
                              <m:t>𝑁</m:t>
                            </m:r>
                            <m:r>
                              <a:rPr lang="en-IN">
                                <a:latin typeface="Cambria Math" panose="02040503050406030204" pitchFamily="18" charset="0"/>
                              </a:rPr>
                              <m:t>+1</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e>
                    </m:d>
                  </m:oMath>
                </a14:m>
                <a:r>
                  <a:rPr lang="en-IN" dirty="0"/>
                  <a:t>.</a:t>
                </a:r>
              </a:p>
              <a:p>
                <a:pPr algn="just"/>
                <a:r>
                  <a:rPr lang="en-IN" dirty="0"/>
                  <a:t>Because human language distributions are non-uniform—some words are highly probable while others are nearly impossible—the branching factor is measured as an </a:t>
                </a:r>
                <a:r>
                  <a:rPr lang="en-IN" b="1" dirty="0"/>
                  <a:t>effective branching factor</a:t>
                </a:r>
                <a:r>
                  <a:rPr lang="en-IN" dirty="0"/>
                  <a:t>, which is mathematically identical to </a:t>
                </a:r>
                <a:r>
                  <a:rPr lang="en-IN" b="1" dirty="0"/>
                  <a:t>perplexity (</a:t>
                </a:r>
                <a14:m>
                  <m:oMath xmlns:m="http://schemas.openxmlformats.org/officeDocument/2006/math">
                    <m:r>
                      <a:rPr lang="en-IN" i="1">
                        <a:latin typeface="Cambria Math" panose="02040503050406030204" pitchFamily="18" charset="0"/>
                      </a:rPr>
                      <m:t>𝑃𝑃</m:t>
                    </m:r>
                  </m:oMath>
                </a14:m>
                <a:r>
                  <a:rPr lang="en-IN" b="1" dirty="0"/>
                  <a:t>)</a:t>
                </a:r>
                <a:r>
                  <a:rPr lang="en-IN" dirty="0"/>
                  <a:t>:</a:t>
                </a:r>
              </a:p>
              <a:p>
                <a:pPr algn="just"/>
                <a:r>
                  <a:rPr lang="en-IN" b="1" dirty="0"/>
                  <a:t>Why perplexity equals the branching factor?</a:t>
                </a:r>
              </a:p>
              <a:p>
                <a:endParaRPr lang="en-IN" dirty="0"/>
              </a:p>
            </p:txBody>
          </p:sp>
        </mc:Choice>
        <mc:Fallback xmlns="">
          <p:sp>
            <p:nvSpPr>
              <p:cNvPr id="3" name="Content Placeholder 2">
                <a:extLst>
                  <a:ext uri="{FF2B5EF4-FFF2-40B4-BE49-F238E27FC236}">
                    <a16:creationId xmlns:a16="http://schemas.microsoft.com/office/drawing/2014/main" id="{C66C0EB0-9640-7526-FCAB-B0934D283841}"/>
                  </a:ext>
                </a:extLst>
              </p:cNvPr>
              <p:cNvSpPr>
                <a:spLocks noGrp="1" noRot="1" noChangeAspect="1" noMove="1" noResize="1" noEditPoints="1" noAdjustHandles="1" noChangeArrowheads="1" noChangeShapeType="1" noTextEdit="1"/>
              </p:cNvSpPr>
              <p:nvPr>
                <p:ph idx="1"/>
              </p:nvPr>
            </p:nvSpPr>
            <p:spPr>
              <a:xfrm>
                <a:off x="628650" y="1219200"/>
                <a:ext cx="7886700" cy="4957765"/>
              </a:xfrm>
              <a:blipFill>
                <a:blip r:embed="rId2"/>
                <a:stretch>
                  <a:fillRect l="-773" t="-1353" r="-927"/>
                </a:stretch>
              </a:blipFill>
            </p:spPr>
            <p:txBody>
              <a:bodyPr/>
              <a:lstStyle/>
              <a:p>
                <a:r>
                  <a:rPr lang="en-IN">
                    <a:noFill/>
                  </a:rPr>
                  <a:t> </a:t>
                </a:r>
              </a:p>
            </p:txBody>
          </p:sp>
        </mc:Fallback>
      </mc:AlternateContent>
    </p:spTree>
    <p:extLst>
      <p:ext uri="{BB962C8B-B14F-4D97-AF65-F5344CB8AC3E}">
        <p14:creationId xmlns:p14="http://schemas.microsoft.com/office/powerpoint/2010/main" val="3300829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19E63-C26B-F0A2-73D6-D0669ED4BAEB}"/>
              </a:ext>
            </a:extLst>
          </p:cNvPr>
          <p:cNvSpPr>
            <a:spLocks noGrp="1"/>
          </p:cNvSpPr>
          <p:nvPr>
            <p:ph type="title"/>
          </p:nvPr>
        </p:nvSpPr>
        <p:spPr>
          <a:xfrm>
            <a:off x="533400" y="-152400"/>
            <a:ext cx="7886700" cy="1325563"/>
          </a:xfrm>
        </p:spPr>
        <p:txBody>
          <a:bodyPr/>
          <a:lstStyle/>
          <a:p>
            <a:r>
              <a:rPr lang="en-IN" dirty="0"/>
              <a:t>Branching factor in N-gram LMs: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91C927D-8790-CE58-89FA-9B3975A680EA}"/>
                  </a:ext>
                </a:extLst>
              </p:cNvPr>
              <p:cNvSpPr>
                <a:spLocks noGrp="1"/>
              </p:cNvSpPr>
              <p:nvPr>
                <p:ph idx="1"/>
              </p:nvPr>
            </p:nvSpPr>
            <p:spPr>
              <a:xfrm>
                <a:off x="538065" y="762000"/>
                <a:ext cx="7886700" cy="5980306"/>
              </a:xfrm>
            </p:spPr>
            <p:txBody>
              <a:bodyPr>
                <a:normAutofit/>
              </a:bodyPr>
              <a:lstStyle/>
              <a:p>
                <a:pPr lvl="0" algn="just"/>
                <a:r>
                  <a:rPr lang="en-IN" b="1" dirty="0"/>
                  <a:t>Uniform Uncertainty (Worst Case):</a:t>
                </a:r>
                <a:endParaRPr lang="en-IN" dirty="0"/>
              </a:p>
              <a:p>
                <a:pPr lvl="1" algn="just"/>
                <a:r>
                  <a:rPr lang="en-IN" dirty="0"/>
                  <a:t>If a model has a vocabulary of size </a:t>
                </a:r>
                <a14:m>
                  <m:oMath xmlns:m="http://schemas.openxmlformats.org/officeDocument/2006/math">
                    <m:r>
                      <a:rPr lang="en-IN">
                        <a:latin typeface="Cambria Math" panose="02040503050406030204" pitchFamily="18" charset="0"/>
                      </a:rPr>
                      <m:t>|</m:t>
                    </m:r>
                    <m:r>
                      <a:rPr lang="en-IN" i="1">
                        <a:latin typeface="Cambria Math" panose="02040503050406030204" pitchFamily="18" charset="0"/>
                      </a:rPr>
                      <m:t>𝑉</m:t>
                    </m:r>
                    <m:r>
                      <a:rPr lang="en-IN">
                        <a:latin typeface="Cambria Math" panose="02040503050406030204" pitchFamily="18" charset="0"/>
                      </a:rPr>
                      <m:t>|=10,000</m:t>
                    </m:r>
                  </m:oMath>
                </a14:m>
                <a:r>
                  <a:rPr lang="en-IN" dirty="0"/>
                  <a:t>and predicts that every word in </a:t>
                </a:r>
                <a14:m>
                  <m:oMath xmlns:m="http://schemas.openxmlformats.org/officeDocument/2006/math">
                    <m:r>
                      <a:rPr lang="en-IN" i="1">
                        <a:latin typeface="Cambria Math" panose="02040503050406030204" pitchFamily="18" charset="0"/>
                      </a:rPr>
                      <m:t>𝑉</m:t>
                    </m:r>
                  </m:oMath>
                </a14:m>
                <a:r>
                  <a:rPr lang="en-IN" dirty="0"/>
                  <a:t>is equally likely (</a:t>
                </a:r>
                <a14:m>
                  <m:oMath xmlns:m="http://schemas.openxmlformats.org/officeDocument/2006/math">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𝑤</m:t>
                        </m:r>
                      </m:e>
                    </m:d>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1</m:t>
                        </m:r>
                      </m:num>
                      <m:den>
                        <m:r>
                          <a:rPr lang="en-IN">
                            <a:latin typeface="Cambria Math" panose="02040503050406030204" pitchFamily="18" charset="0"/>
                          </a:rPr>
                          <m:t>10,000</m:t>
                        </m:r>
                      </m:den>
                    </m:f>
                  </m:oMath>
                </a14:m>
                <a:r>
                  <a:rPr lang="en-IN" dirty="0"/>
                  <a:t>):</a:t>
                </a:r>
              </a:p>
              <a:p>
                <a:pPr lvl="1" algn="just"/>
                <a14:m>
                  <m:oMath xmlns:m="http://schemas.openxmlformats.org/officeDocument/2006/math">
                    <m:r>
                      <a:rPr lang="en-IN" i="1">
                        <a:latin typeface="Cambria Math" panose="02040503050406030204" pitchFamily="18" charset="0"/>
                      </a:rPr>
                      <m:t>𝐻</m:t>
                    </m:r>
                    <m:r>
                      <a:rPr lang="en-IN">
                        <a:latin typeface="Cambria Math" panose="02040503050406030204" pitchFamily="18" charset="0"/>
                      </a:rPr>
                      <m:t>=−</m:t>
                    </m:r>
                    <m:func>
                      <m:funcPr>
                        <m:ctrlPr>
                          <a:rPr lang="en-IN" i="1">
                            <a:latin typeface="Cambria Math" panose="02040503050406030204" pitchFamily="18" charset="0"/>
                          </a:rPr>
                        </m:ctrlPr>
                      </m:funcPr>
                      <m:fName>
                        <m:sSub>
                          <m:sSubPr>
                            <m:ctrlPr>
                              <a:rPr lang="en-IN">
                                <a:latin typeface="Cambria Math" panose="02040503050406030204" pitchFamily="18" charset="0"/>
                              </a:rPr>
                            </m:ctrlPr>
                          </m:sSubPr>
                          <m:e>
                            <m:r>
                              <m:rPr>
                                <m:sty m:val="p"/>
                              </m:rPr>
                              <a:rPr lang="en-IN">
                                <a:latin typeface="Cambria Math" panose="02040503050406030204" pitchFamily="18" charset="0"/>
                              </a:rPr>
                              <m:t>log</m:t>
                            </m:r>
                          </m:e>
                          <m:sub>
                            <m:r>
                              <a:rPr lang="en-IN">
                                <a:latin typeface="Cambria Math" panose="02040503050406030204" pitchFamily="18" charset="0"/>
                              </a:rPr>
                              <m:t>2</m:t>
                            </m:r>
                          </m:sub>
                        </m:sSub>
                      </m:fName>
                      <m:e>
                        <m:d>
                          <m:dPr>
                            <m:ctrlPr>
                              <a:rPr lang="en-IN" i="1">
                                <a:latin typeface="Cambria Math" panose="02040503050406030204" pitchFamily="18" charset="0"/>
                              </a:rPr>
                            </m:ctrlPr>
                          </m:dPr>
                          <m:e>
                            <m:f>
                              <m:fPr>
                                <m:ctrlPr>
                                  <a:rPr lang="en-IN">
                                    <a:latin typeface="Cambria Math" panose="02040503050406030204" pitchFamily="18" charset="0"/>
                                  </a:rPr>
                                </m:ctrlPr>
                              </m:fPr>
                              <m:num>
                                <m:r>
                                  <a:rPr lang="en-IN">
                                    <a:latin typeface="Cambria Math" panose="02040503050406030204" pitchFamily="18" charset="0"/>
                                  </a:rPr>
                                  <m:t>1</m:t>
                                </m:r>
                              </m:num>
                              <m:den>
                                <m:r>
                                  <a:rPr lang="en-IN">
                                    <a:latin typeface="Cambria Math" panose="02040503050406030204" pitchFamily="18" charset="0"/>
                                  </a:rPr>
                                  <m:t>10,000</m:t>
                                </m:r>
                              </m:den>
                            </m:f>
                          </m:e>
                        </m:d>
                      </m:e>
                    </m:func>
                    <m:r>
                      <a:rPr lang="en-IN">
                        <a:latin typeface="Cambria Math" panose="02040503050406030204" pitchFamily="18" charset="0"/>
                      </a:rPr>
                      <m:t>=</m:t>
                    </m:r>
                    <m:func>
                      <m:funcPr>
                        <m:ctrlPr>
                          <a:rPr lang="en-IN" i="1">
                            <a:latin typeface="Cambria Math" panose="02040503050406030204" pitchFamily="18" charset="0"/>
                          </a:rPr>
                        </m:ctrlPr>
                      </m:funcPr>
                      <m:fName>
                        <m:sSub>
                          <m:sSubPr>
                            <m:ctrlPr>
                              <a:rPr lang="en-IN">
                                <a:latin typeface="Cambria Math" panose="02040503050406030204" pitchFamily="18" charset="0"/>
                              </a:rPr>
                            </m:ctrlPr>
                          </m:sSubPr>
                          <m:e>
                            <m:r>
                              <m:rPr>
                                <m:sty m:val="p"/>
                              </m:rPr>
                              <a:rPr lang="en-IN">
                                <a:latin typeface="Cambria Math" panose="02040503050406030204" pitchFamily="18" charset="0"/>
                              </a:rPr>
                              <m:t>log</m:t>
                            </m:r>
                          </m:e>
                          <m:sub>
                            <m:r>
                              <a:rPr lang="en-IN">
                                <a:latin typeface="Cambria Math" panose="02040503050406030204" pitchFamily="18" charset="0"/>
                              </a:rPr>
                              <m:t>2</m:t>
                            </m:r>
                          </m:sub>
                        </m:sSub>
                      </m:fName>
                      <m:e>
                        <m:d>
                          <m:dPr>
                            <m:ctrlPr>
                              <a:rPr lang="en-IN">
                                <a:latin typeface="Cambria Math" panose="02040503050406030204" pitchFamily="18" charset="0"/>
                              </a:rPr>
                            </m:ctrlPr>
                          </m:dPr>
                          <m:e>
                            <m:r>
                              <a:rPr lang="en-IN">
                                <a:latin typeface="Cambria Math" panose="02040503050406030204" pitchFamily="18" charset="0"/>
                              </a:rPr>
                              <m:t>10,000</m:t>
                            </m:r>
                          </m:e>
                        </m:d>
                      </m:e>
                    </m:func>
                    <m:r>
                      <a:rPr lang="en-IN">
                        <a:latin typeface="Cambria Math" panose="02040503050406030204" pitchFamily="18" charset="0"/>
                      </a:rPr>
                      <m:t>≈13.29</m:t>
                    </m:r>
                    <m:r>
                      <m:rPr>
                        <m:nor/>
                      </m:rPr>
                      <a:rPr lang="en-IN" i="0"/>
                      <m:t> bits</m:t>
                    </m:r>
                  </m:oMath>
                </a14:m>
                <a:endParaRPr lang="en-IN" dirty="0"/>
              </a:p>
              <a:p>
                <a:pPr lvl="1" algn="just"/>
                <a14:m>
                  <m:oMath xmlns:m="http://schemas.openxmlformats.org/officeDocument/2006/math">
                    <m:r>
                      <a:rPr lang="en-IN" i="1">
                        <a:latin typeface="Cambria Math" panose="02040503050406030204" pitchFamily="18" charset="0"/>
                      </a:rPr>
                      <m:t>𝑃𝑃</m:t>
                    </m:r>
                    <m:r>
                      <a:rPr lang="en-IN">
                        <a:latin typeface="Cambria Math" panose="02040503050406030204" pitchFamily="18" charset="0"/>
                      </a:rPr>
                      <m:t>=</m:t>
                    </m:r>
                    <m:sSup>
                      <m:sSupPr>
                        <m:ctrlPr>
                          <a:rPr lang="en-IN">
                            <a:latin typeface="Cambria Math" panose="02040503050406030204" pitchFamily="18" charset="0"/>
                          </a:rPr>
                        </m:ctrlPr>
                      </m:sSupPr>
                      <m:e>
                        <m:r>
                          <a:rPr lang="en-IN">
                            <a:latin typeface="Cambria Math" panose="02040503050406030204" pitchFamily="18" charset="0"/>
                          </a:rPr>
                          <m:t>2</m:t>
                        </m:r>
                      </m:e>
                      <m:sup>
                        <m:r>
                          <a:rPr lang="en-IN" i="1">
                            <a:latin typeface="Cambria Math" panose="02040503050406030204" pitchFamily="18" charset="0"/>
                          </a:rPr>
                          <m:t>𝐻</m:t>
                        </m:r>
                      </m:sup>
                    </m:sSup>
                    <m:r>
                      <a:rPr lang="en-IN">
                        <a:latin typeface="Cambria Math" panose="02040503050406030204" pitchFamily="18" charset="0"/>
                      </a:rPr>
                      <m:t>=10,000</m:t>
                    </m:r>
                  </m:oMath>
                </a14:m>
                <a:endParaRPr lang="en-IN" dirty="0"/>
              </a:p>
              <a:p>
                <a:pPr lvl="1" algn="just"/>
                <a:r>
                  <a:rPr lang="en-IN" dirty="0"/>
                  <a:t>The effective branching factor is exactly </a:t>
                </a:r>
                <a14:m>
                  <m:oMath xmlns:m="http://schemas.openxmlformats.org/officeDocument/2006/math">
                    <m:r>
                      <a:rPr lang="en-IN">
                        <a:latin typeface="Cambria Math" panose="02040503050406030204" pitchFamily="18" charset="0"/>
                      </a:rPr>
                      <m:t>10,000</m:t>
                    </m:r>
                  </m:oMath>
                </a14:m>
                <a:r>
                  <a:rPr lang="en-IN" dirty="0"/>
                  <a:t>—the model has zero context and makes a blind choice across the entire vocabulary.</a:t>
                </a:r>
              </a:p>
              <a:p>
                <a:pPr lvl="0" algn="just"/>
                <a:endParaRPr lang="en-IN" b="1" dirty="0"/>
              </a:p>
              <a:p>
                <a:pPr lvl="0" algn="just"/>
                <a:r>
                  <a:rPr lang="en-IN" b="1" dirty="0"/>
                  <a:t>Skewed / Informed Distribution (Realistic Case):</a:t>
                </a:r>
                <a:endParaRPr lang="en-IN" dirty="0"/>
              </a:p>
              <a:p>
                <a:pPr lvl="1" algn="just"/>
                <a:r>
                  <a:rPr lang="en-IN" dirty="0"/>
                  <a:t>The model does not consider all </a:t>
                </a:r>
                <a14:m>
                  <m:oMath xmlns:m="http://schemas.openxmlformats.org/officeDocument/2006/math">
                    <m:r>
                      <a:rPr lang="en-IN">
                        <a:latin typeface="Cambria Math" panose="02040503050406030204" pitchFamily="18" charset="0"/>
                      </a:rPr>
                      <m:t>10,000</m:t>
                    </m:r>
                  </m:oMath>
                </a14:m>
                <a:r>
                  <a:rPr lang="en-IN" dirty="0"/>
                  <a:t> words equally; it concentrates high probability mass on some words with residual probability scattered among a few others.</a:t>
                </a:r>
              </a:p>
              <a:p>
                <a:pPr lvl="1" algn="just"/>
                <a:r>
                  <a:rPr lang="en-IN" dirty="0"/>
                  <a:t>The resulting cross-entropy is </a:t>
                </a:r>
                <a14:m>
                  <m:oMath xmlns:m="http://schemas.openxmlformats.org/officeDocument/2006/math">
                    <m:r>
                      <a:rPr lang="en-IN" i="1">
                        <a:latin typeface="Cambria Math" panose="02040503050406030204" pitchFamily="18" charset="0"/>
                      </a:rPr>
                      <m:t>𝐻</m:t>
                    </m:r>
                    <m:r>
                      <a:rPr lang="en-IN" b="0" i="0" smtClean="0">
                        <a:latin typeface="Cambria Math" panose="02040503050406030204" pitchFamily="18" charset="0"/>
                      </a:rPr>
                      <m:t>&lt;</m:t>
                    </m:r>
                    <m:r>
                      <a:rPr lang="en-IN">
                        <a:latin typeface="Cambria Math" panose="02040503050406030204" pitchFamily="18" charset="0"/>
                      </a:rPr>
                      <m:t>13.29</m:t>
                    </m:r>
                    <m:r>
                      <m:rPr>
                        <m:nor/>
                      </m:rPr>
                      <a:rPr lang="en-IN" i="0"/>
                      <m:t> bits</m:t>
                    </m:r>
                  </m:oMath>
                </a14:m>
                <a:r>
                  <a:rPr lang="en-IN" dirty="0"/>
                  <a:t>, the perplexity is: </a:t>
                </a:r>
                <a14:m>
                  <m:oMath xmlns:m="http://schemas.openxmlformats.org/officeDocument/2006/math">
                    <m:r>
                      <a:rPr lang="en-IN" i="1">
                        <a:latin typeface="Cambria Math" panose="02040503050406030204" pitchFamily="18" charset="0"/>
                      </a:rPr>
                      <m:t>𝑃𝑃</m:t>
                    </m:r>
                    <m:r>
                      <a:rPr lang="en-IN" b="0" i="1" smtClean="0">
                        <a:latin typeface="Cambria Math" panose="02040503050406030204" pitchFamily="18" charset="0"/>
                      </a:rPr>
                      <m:t>&lt;</m:t>
                    </m:r>
                  </m:oMath>
                </a14:m>
                <a:r>
                  <a:rPr lang="en-IN" b="0" dirty="0"/>
                  <a:t> </a:t>
                </a:r>
                <a14:m>
                  <m:oMath xmlns:m="http://schemas.openxmlformats.org/officeDocument/2006/math">
                    <m:r>
                      <a:rPr lang="en-IN">
                        <a:latin typeface="Cambria Math" panose="02040503050406030204" pitchFamily="18" charset="0"/>
                      </a:rPr>
                      <m:t>10,000</m:t>
                    </m:r>
                  </m:oMath>
                </a14:m>
                <a:endParaRPr lang="en-IN" b="0" dirty="0"/>
              </a:p>
              <a:p>
                <a:pPr lvl="1" algn="just"/>
                <a:r>
                  <a:rPr lang="en-IN" b="1" dirty="0"/>
                  <a:t>Interpretation:</a:t>
                </a:r>
                <a:r>
                  <a:rPr lang="en-IN" dirty="0"/>
                  <a:t> Even though the vocabulary has </a:t>
                </a:r>
                <a14:m>
                  <m:oMath xmlns:m="http://schemas.openxmlformats.org/officeDocument/2006/math">
                    <m:r>
                      <a:rPr lang="en-IN">
                        <a:latin typeface="Cambria Math" panose="02040503050406030204" pitchFamily="18" charset="0"/>
                      </a:rPr>
                      <m:t>10,000</m:t>
                    </m:r>
                  </m:oMath>
                </a14:m>
                <a:r>
                  <a:rPr lang="en-IN" dirty="0"/>
                  <a:t> words, the model's uncertainty is equivalent to choosing uniformly among less equally likely words compared to uniform uncertainty case.</a:t>
                </a:r>
              </a:p>
              <a:p>
                <a:endParaRPr lang="en-IN" dirty="0"/>
              </a:p>
            </p:txBody>
          </p:sp>
        </mc:Choice>
        <mc:Fallback xmlns="">
          <p:sp>
            <p:nvSpPr>
              <p:cNvPr id="3" name="Content Placeholder 2">
                <a:extLst>
                  <a:ext uri="{FF2B5EF4-FFF2-40B4-BE49-F238E27FC236}">
                    <a16:creationId xmlns:a16="http://schemas.microsoft.com/office/drawing/2014/main" id="{191C927D-8790-CE58-89FA-9B3975A680EA}"/>
                  </a:ext>
                </a:extLst>
              </p:cNvPr>
              <p:cNvSpPr>
                <a:spLocks noGrp="1" noRot="1" noChangeAspect="1" noMove="1" noResize="1" noEditPoints="1" noAdjustHandles="1" noChangeArrowheads="1" noChangeShapeType="1" noTextEdit="1"/>
              </p:cNvSpPr>
              <p:nvPr>
                <p:ph idx="1"/>
              </p:nvPr>
            </p:nvSpPr>
            <p:spPr>
              <a:xfrm>
                <a:off x="538065" y="762000"/>
                <a:ext cx="7886700" cy="5980306"/>
              </a:xfrm>
              <a:blipFill>
                <a:blip r:embed="rId2"/>
                <a:stretch>
                  <a:fillRect l="-773" t="-1121" r="-696"/>
                </a:stretch>
              </a:blipFill>
            </p:spPr>
            <p:txBody>
              <a:bodyPr/>
              <a:lstStyle/>
              <a:p>
                <a:r>
                  <a:rPr lang="en-IN">
                    <a:noFill/>
                  </a:rPr>
                  <a:t> </a:t>
                </a:r>
              </a:p>
            </p:txBody>
          </p:sp>
        </mc:Fallback>
      </mc:AlternateContent>
    </p:spTree>
    <p:extLst>
      <p:ext uri="{BB962C8B-B14F-4D97-AF65-F5344CB8AC3E}">
        <p14:creationId xmlns:p14="http://schemas.microsoft.com/office/powerpoint/2010/main" val="3124619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786A6-E4BB-DA43-89CB-2E14C387B6F1}"/>
              </a:ext>
            </a:extLst>
          </p:cNvPr>
          <p:cNvSpPr>
            <a:spLocks noGrp="1"/>
          </p:cNvSpPr>
          <p:nvPr>
            <p:ph type="title"/>
          </p:nvPr>
        </p:nvSpPr>
        <p:spPr>
          <a:xfrm>
            <a:off x="655087" y="26437"/>
            <a:ext cx="7886700" cy="549275"/>
          </a:xfrm>
        </p:spPr>
        <p:txBody>
          <a:bodyPr/>
          <a:lstStyle/>
          <a:p>
            <a:r>
              <a:rPr lang="en-IN" b="1"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C8ABF4-09AB-999A-D8D8-ACC48C2E8DAB}"/>
                  </a:ext>
                </a:extLst>
              </p:cNvPr>
              <p:cNvSpPr>
                <a:spLocks noGrp="1"/>
              </p:cNvSpPr>
              <p:nvPr>
                <p:ph idx="1"/>
              </p:nvPr>
            </p:nvSpPr>
            <p:spPr>
              <a:xfrm>
                <a:off x="628650" y="575712"/>
                <a:ext cx="7886700" cy="6282287"/>
              </a:xfrm>
            </p:spPr>
            <p:txBody>
              <a:bodyPr>
                <a:normAutofit fontScale="70000" lnSpcReduction="20000"/>
              </a:bodyPr>
              <a:lstStyle/>
              <a:p>
                <a:r>
                  <a:rPr lang="en-IN" dirty="0"/>
                  <a:t>Using the earlier corpus, here is the complete step-by-step numerical calculation of perplexity for a </a:t>
                </a:r>
                <a:r>
                  <a:rPr lang="en-IN" b="1" dirty="0"/>
                  <a:t>Bigram (</a:t>
                </a:r>
                <a14:m>
                  <m:oMath xmlns:m="http://schemas.openxmlformats.org/officeDocument/2006/math">
                    <m:r>
                      <a:rPr lang="en-IN" i="1">
                        <a:latin typeface="Cambria Math" panose="02040503050406030204" pitchFamily="18" charset="0"/>
                      </a:rPr>
                      <m:t>𝑛</m:t>
                    </m:r>
                    <m:r>
                      <a:rPr lang="en-IN">
                        <a:latin typeface="Cambria Math" panose="02040503050406030204" pitchFamily="18" charset="0"/>
                      </a:rPr>
                      <m:t>=2</m:t>
                    </m:r>
                  </m:oMath>
                </a14:m>
                <a:r>
                  <a:rPr lang="en-IN" b="1" dirty="0"/>
                  <a:t>) model with Laplace (Add-1) smoothing</a:t>
                </a:r>
                <a:r>
                  <a:rPr lang="en-IN" dirty="0"/>
                  <a:t>.</a:t>
                </a:r>
              </a:p>
              <a:p>
                <a:r>
                  <a:rPr lang="en-IN" b="1" dirty="0"/>
                  <a:t>1. Training Corpus &amp; Vocabulary Definition</a:t>
                </a:r>
                <a:endParaRPr lang="en-IN" dirty="0"/>
              </a:p>
              <a:p>
                <a:r>
                  <a:rPr lang="en-IN" b="1" dirty="0"/>
                  <a:t>Corpus Sentences:</a:t>
                </a:r>
                <a:endParaRPr lang="en-IN" dirty="0"/>
              </a:p>
              <a:p>
                <a:pPr lvl="0"/>
                <a:r>
                  <a:rPr lang="en-IN" dirty="0"/>
                  <a:t>&lt;s&gt; I am Sam &lt;/s&gt;</a:t>
                </a:r>
              </a:p>
              <a:p>
                <a:pPr lvl="0"/>
                <a:r>
                  <a:rPr lang="en-IN" dirty="0"/>
                  <a:t>&lt;s&gt; Sam I am &lt;/s&gt;</a:t>
                </a:r>
              </a:p>
              <a:p>
                <a:pPr lvl="0"/>
                <a:r>
                  <a:rPr lang="en-IN" dirty="0"/>
                  <a:t>&lt;s&gt; I do not like green eggs &lt;/s&gt;</a:t>
                </a:r>
              </a:p>
              <a:p>
                <a:r>
                  <a:rPr lang="en-IN" b="1" dirty="0"/>
                  <a:t>Vocabulary Extraction:</a:t>
                </a:r>
                <a:endParaRPr lang="en-IN" dirty="0"/>
              </a:p>
              <a:p>
                <a:pPr lvl="0"/>
                <a:r>
                  <a:rPr lang="en-IN" dirty="0"/>
                  <a:t>Unique word types (</a:t>
                </a:r>
                <a14:m>
                  <m:oMath xmlns:m="http://schemas.openxmlformats.org/officeDocument/2006/math">
                    <m:r>
                      <a:rPr lang="en-IN" i="1">
                        <a:latin typeface="Cambria Math" panose="02040503050406030204" pitchFamily="18" charset="0"/>
                      </a:rPr>
                      <m:t>𝑉</m:t>
                    </m:r>
                  </m:oMath>
                </a14:m>
                <a:r>
                  <a:rPr lang="en-IN" dirty="0"/>
                  <a:t>): {"&lt;s&gt;", "&lt;/s&gt;", "I", "am", "Sam", "do", "not", "like", "green", "eggs"}</a:t>
                </a:r>
              </a:p>
              <a:p>
                <a:pPr lvl="0"/>
                <a:r>
                  <a:rPr lang="en-IN" b="1" dirty="0"/>
                  <a:t>Vocabulary Size (</a:t>
                </a:r>
                <a14:m>
                  <m:oMath xmlns:m="http://schemas.openxmlformats.org/officeDocument/2006/math">
                    <m:r>
                      <a:rPr lang="en-IN">
                        <a:latin typeface="Cambria Math" panose="02040503050406030204" pitchFamily="18" charset="0"/>
                      </a:rPr>
                      <m:t>|</m:t>
                    </m:r>
                    <m:r>
                      <a:rPr lang="en-IN" i="1">
                        <a:latin typeface="Cambria Math" panose="02040503050406030204" pitchFamily="18" charset="0"/>
                      </a:rPr>
                      <m:t>𝑉</m:t>
                    </m:r>
                    <m:r>
                      <a:rPr lang="en-IN">
                        <a:latin typeface="Cambria Math" panose="02040503050406030204" pitchFamily="18" charset="0"/>
                      </a:rPr>
                      <m:t>|</m:t>
                    </m:r>
                  </m:oMath>
                </a14:m>
                <a:r>
                  <a:rPr lang="en-IN" b="1" dirty="0"/>
                  <a:t>):</a:t>
                </a:r>
                <a:r>
                  <a:rPr lang="en-IN" dirty="0"/>
                  <a:t> </a:t>
                </a:r>
                <a14:m>
                  <m:oMath xmlns:m="http://schemas.openxmlformats.org/officeDocument/2006/math">
                    <m:r>
                      <a:rPr lang="en-IN">
                        <a:latin typeface="Cambria Math" panose="02040503050406030204" pitchFamily="18" charset="0"/>
                      </a:rPr>
                      <m:t>10</m:t>
                    </m:r>
                  </m:oMath>
                </a14:m>
                <a:endParaRPr lang="en-IN" dirty="0"/>
              </a:p>
              <a:p>
                <a:r>
                  <a:rPr lang="en-IN" b="1" dirty="0"/>
                  <a:t>2. Count Tables</a:t>
                </a:r>
                <a:endParaRPr lang="en-IN" dirty="0"/>
              </a:p>
              <a:p>
                <a:r>
                  <a:rPr lang="en-IN" b="1" dirty="0"/>
                  <a:t>Unigram Counts </a:t>
                </a:r>
                <a14:m>
                  <m:oMath xmlns:m="http://schemas.openxmlformats.org/officeDocument/2006/math">
                    <m:r>
                      <a:rPr lang="en-IN" i="1">
                        <a:latin typeface="Cambria Math" panose="02040503050406030204" pitchFamily="18" charset="0"/>
                      </a:rPr>
                      <m:t>𝐶</m:t>
                    </m:r>
                    <m:d>
                      <m:dPr>
                        <m:ctrlPr>
                          <a:rPr lang="en-IN" i="1">
                            <a:latin typeface="Cambria Math" panose="02040503050406030204" pitchFamily="18" charset="0"/>
                          </a:rPr>
                        </m:ctrlPr>
                      </m:dPr>
                      <m:e>
                        <m:r>
                          <a:rPr lang="en-IN" i="1">
                            <a:latin typeface="Cambria Math" panose="02040503050406030204" pitchFamily="18" charset="0"/>
                          </a:rPr>
                          <m:t>𝑤</m:t>
                        </m:r>
                      </m:e>
                    </m:d>
                  </m:oMath>
                </a14:m>
                <a:r>
                  <a:rPr lang="en-IN" b="1" dirty="0"/>
                  <a:t>:</a:t>
                </a:r>
                <a:endParaRPr lang="en-IN" dirty="0"/>
              </a:p>
              <a:p>
                <a:pPr lvl="0"/>
                <a14:m>
                  <m:oMath xmlns:m="http://schemas.openxmlformats.org/officeDocument/2006/math">
                    <m:r>
                      <a:rPr lang="en-IN" i="1">
                        <a:latin typeface="Cambria Math" panose="02040503050406030204" pitchFamily="18" charset="0"/>
                      </a:rPr>
                      <m:t>𝐶</m:t>
                    </m:r>
                    <m:d>
                      <m:dPr>
                        <m:ctrlPr>
                          <a:rPr lang="en-IN" i="0"/>
                        </m:ctrlPr>
                      </m:dPr>
                      <m:e>
                        <m:r>
                          <m:rPr>
                            <m:nor/>
                          </m:rPr>
                          <a:rPr lang="en-IN" i="0"/>
                          <m:t>&lt;s&gt;</m:t>
                        </m:r>
                      </m:e>
                    </m:d>
                    <m:r>
                      <a:rPr lang="en-IN">
                        <a:latin typeface="Cambria Math" panose="02040503050406030204" pitchFamily="18" charset="0"/>
                      </a:rPr>
                      <m:t>=3</m:t>
                    </m:r>
                  </m:oMath>
                </a14:m>
                <a:endParaRPr lang="en-IN" dirty="0"/>
              </a:p>
              <a:p>
                <a:pPr lvl="0"/>
                <a14:m>
                  <m:oMath xmlns:m="http://schemas.openxmlformats.org/officeDocument/2006/math">
                    <m:r>
                      <a:rPr lang="en-IN" i="1">
                        <a:latin typeface="Cambria Math" panose="02040503050406030204" pitchFamily="18" charset="0"/>
                      </a:rPr>
                      <m:t>𝐶</m:t>
                    </m:r>
                    <m:d>
                      <m:dPr>
                        <m:ctrlPr>
                          <a:rPr lang="en-IN" i="0"/>
                        </m:ctrlPr>
                      </m:dPr>
                      <m:e>
                        <m:r>
                          <m:rPr>
                            <m:nor/>
                          </m:rPr>
                          <a:rPr lang="en-IN" i="0"/>
                          <m:t>&lt;/s&gt;</m:t>
                        </m:r>
                      </m:e>
                    </m:d>
                    <m:r>
                      <a:rPr lang="en-IN">
                        <a:latin typeface="Cambria Math" panose="02040503050406030204" pitchFamily="18" charset="0"/>
                      </a:rPr>
                      <m:t>=3</m:t>
                    </m:r>
                  </m:oMath>
                </a14:m>
                <a:endParaRPr lang="en-IN" dirty="0"/>
              </a:p>
              <a:p>
                <a:pPr lvl="0"/>
                <a14:m>
                  <m:oMath xmlns:m="http://schemas.openxmlformats.org/officeDocument/2006/math">
                    <m:r>
                      <a:rPr lang="en-IN" i="1">
                        <a:latin typeface="Cambria Math" panose="02040503050406030204" pitchFamily="18" charset="0"/>
                      </a:rPr>
                      <m:t>𝐶</m:t>
                    </m:r>
                    <m:d>
                      <m:dPr>
                        <m:ctrlPr>
                          <a:rPr lang="en-IN" i="0"/>
                        </m:ctrlPr>
                      </m:dPr>
                      <m:e>
                        <m:r>
                          <m:rPr>
                            <m:nor/>
                          </m:rPr>
                          <a:rPr lang="en-IN" i="0"/>
                          <m:t>I</m:t>
                        </m:r>
                      </m:e>
                    </m:d>
                    <m:r>
                      <a:rPr lang="en-IN">
                        <a:latin typeface="Cambria Math" panose="02040503050406030204" pitchFamily="18" charset="0"/>
                      </a:rPr>
                      <m:t>=3</m:t>
                    </m:r>
                  </m:oMath>
                </a14:m>
                <a:endParaRPr lang="en-IN" dirty="0"/>
              </a:p>
              <a:p>
                <a:pPr lvl="0"/>
                <a14:m>
                  <m:oMath xmlns:m="http://schemas.openxmlformats.org/officeDocument/2006/math">
                    <m:r>
                      <a:rPr lang="en-IN" i="1">
                        <a:latin typeface="Cambria Math" panose="02040503050406030204" pitchFamily="18" charset="0"/>
                      </a:rPr>
                      <m:t>𝐶</m:t>
                    </m:r>
                    <m:d>
                      <m:dPr>
                        <m:ctrlPr>
                          <a:rPr lang="en-IN" i="0"/>
                        </m:ctrlPr>
                      </m:dPr>
                      <m:e>
                        <m:r>
                          <m:rPr>
                            <m:nor/>
                          </m:rPr>
                          <a:rPr lang="en-IN" i="0"/>
                          <m:t>am</m:t>
                        </m:r>
                      </m:e>
                    </m:d>
                    <m:r>
                      <a:rPr lang="en-IN">
                        <a:latin typeface="Cambria Math" panose="02040503050406030204" pitchFamily="18" charset="0"/>
                      </a:rPr>
                      <m:t>=2</m:t>
                    </m:r>
                  </m:oMath>
                </a14:m>
                <a:endParaRPr lang="en-IN" dirty="0"/>
              </a:p>
              <a:p>
                <a:pPr lvl="0"/>
                <a14:m>
                  <m:oMath xmlns:m="http://schemas.openxmlformats.org/officeDocument/2006/math">
                    <m:r>
                      <a:rPr lang="en-IN" i="1">
                        <a:latin typeface="Cambria Math" panose="02040503050406030204" pitchFamily="18" charset="0"/>
                      </a:rPr>
                      <m:t>𝐶</m:t>
                    </m:r>
                    <m:d>
                      <m:dPr>
                        <m:ctrlPr>
                          <a:rPr lang="en-IN" i="0"/>
                        </m:ctrlPr>
                      </m:dPr>
                      <m:e>
                        <m:r>
                          <m:rPr>
                            <m:nor/>
                          </m:rPr>
                          <a:rPr lang="en-IN" i="0"/>
                          <m:t>Sam</m:t>
                        </m:r>
                      </m:e>
                    </m:d>
                    <m:r>
                      <a:rPr lang="en-IN">
                        <a:latin typeface="Cambria Math" panose="02040503050406030204" pitchFamily="18" charset="0"/>
                      </a:rPr>
                      <m:t>=2</m:t>
                    </m:r>
                  </m:oMath>
                </a14:m>
                <a:endParaRPr lang="en-IN" dirty="0"/>
              </a:p>
              <a:p>
                <a:pPr lvl="0"/>
                <a14:m>
                  <m:oMath xmlns:m="http://schemas.openxmlformats.org/officeDocument/2006/math">
                    <m:r>
                      <a:rPr lang="en-IN" i="1">
                        <a:latin typeface="Cambria Math" panose="02040503050406030204" pitchFamily="18" charset="0"/>
                      </a:rPr>
                      <m:t>𝐶</m:t>
                    </m:r>
                    <m:d>
                      <m:dPr>
                        <m:ctrlPr>
                          <a:rPr lang="en-IN" i="0"/>
                        </m:ctrlPr>
                      </m:dPr>
                      <m:e>
                        <m:r>
                          <m:rPr>
                            <m:nor/>
                          </m:rPr>
                          <a:rPr lang="en-IN" i="0"/>
                          <m:t>do</m:t>
                        </m:r>
                      </m:e>
                    </m:d>
                    <m:r>
                      <a:rPr lang="en-IN">
                        <a:latin typeface="Cambria Math" panose="02040503050406030204" pitchFamily="18" charset="0"/>
                      </a:rPr>
                      <m:t>=1</m:t>
                    </m:r>
                  </m:oMath>
                </a14:m>
                <a:endParaRPr lang="en-IN" dirty="0"/>
              </a:p>
              <a:p>
                <a:pPr lvl="0"/>
                <a14:m>
                  <m:oMath xmlns:m="http://schemas.openxmlformats.org/officeDocument/2006/math">
                    <m:r>
                      <a:rPr lang="en-IN" i="1">
                        <a:latin typeface="Cambria Math" panose="02040503050406030204" pitchFamily="18" charset="0"/>
                      </a:rPr>
                      <m:t>𝐶</m:t>
                    </m:r>
                    <m:d>
                      <m:dPr>
                        <m:ctrlPr>
                          <a:rPr lang="en-IN" i="0"/>
                        </m:ctrlPr>
                      </m:dPr>
                      <m:e>
                        <m:r>
                          <m:rPr>
                            <m:nor/>
                          </m:rPr>
                          <a:rPr lang="en-IN" i="0"/>
                          <m:t>not</m:t>
                        </m:r>
                      </m:e>
                    </m:d>
                    <m:r>
                      <a:rPr lang="en-IN">
                        <a:latin typeface="Cambria Math" panose="02040503050406030204" pitchFamily="18" charset="0"/>
                      </a:rPr>
                      <m:t>=1</m:t>
                    </m:r>
                  </m:oMath>
                </a14:m>
                <a:endParaRPr lang="en-IN" dirty="0"/>
              </a:p>
              <a:p>
                <a:pPr lvl="0"/>
                <a14:m>
                  <m:oMath xmlns:m="http://schemas.openxmlformats.org/officeDocument/2006/math">
                    <m:r>
                      <a:rPr lang="en-IN" i="1">
                        <a:latin typeface="Cambria Math" panose="02040503050406030204" pitchFamily="18" charset="0"/>
                      </a:rPr>
                      <m:t>𝐶</m:t>
                    </m:r>
                    <m:d>
                      <m:dPr>
                        <m:ctrlPr>
                          <a:rPr lang="en-IN" i="0"/>
                        </m:ctrlPr>
                      </m:dPr>
                      <m:e>
                        <m:r>
                          <m:rPr>
                            <m:nor/>
                          </m:rPr>
                          <a:rPr lang="en-IN" i="0"/>
                          <m:t>like</m:t>
                        </m:r>
                      </m:e>
                    </m:d>
                    <m:r>
                      <a:rPr lang="en-IN">
                        <a:latin typeface="Cambria Math" panose="02040503050406030204" pitchFamily="18" charset="0"/>
                      </a:rPr>
                      <m:t>=1</m:t>
                    </m:r>
                  </m:oMath>
                </a14:m>
                <a:endParaRPr lang="en-IN" dirty="0"/>
              </a:p>
              <a:p>
                <a:pPr lvl="0"/>
                <a14:m>
                  <m:oMath xmlns:m="http://schemas.openxmlformats.org/officeDocument/2006/math">
                    <m:r>
                      <a:rPr lang="en-IN" i="1">
                        <a:latin typeface="Cambria Math" panose="02040503050406030204" pitchFamily="18" charset="0"/>
                      </a:rPr>
                      <m:t>𝐶</m:t>
                    </m:r>
                    <m:d>
                      <m:dPr>
                        <m:ctrlPr>
                          <a:rPr lang="en-IN" i="0"/>
                        </m:ctrlPr>
                      </m:dPr>
                      <m:e>
                        <m:r>
                          <m:rPr>
                            <m:nor/>
                          </m:rPr>
                          <a:rPr lang="en-IN" i="0"/>
                          <m:t>green</m:t>
                        </m:r>
                      </m:e>
                    </m:d>
                    <m:r>
                      <a:rPr lang="en-IN">
                        <a:latin typeface="Cambria Math" panose="02040503050406030204" pitchFamily="18" charset="0"/>
                      </a:rPr>
                      <m:t>=1</m:t>
                    </m:r>
                  </m:oMath>
                </a14:m>
                <a:endParaRPr lang="en-IN" dirty="0"/>
              </a:p>
              <a:p>
                <a:pPr lvl="0"/>
                <a14:m>
                  <m:oMath xmlns:m="http://schemas.openxmlformats.org/officeDocument/2006/math">
                    <m:r>
                      <a:rPr lang="en-IN" i="1">
                        <a:latin typeface="Cambria Math" panose="02040503050406030204" pitchFamily="18" charset="0"/>
                      </a:rPr>
                      <m:t>𝐶</m:t>
                    </m:r>
                    <m:d>
                      <m:dPr>
                        <m:ctrlPr>
                          <a:rPr lang="en-IN" i="0"/>
                        </m:ctrlPr>
                      </m:dPr>
                      <m:e>
                        <m:r>
                          <m:rPr>
                            <m:nor/>
                          </m:rPr>
                          <a:rPr lang="en-IN" i="0"/>
                          <m:t>eggs</m:t>
                        </m:r>
                      </m:e>
                    </m:d>
                    <m:r>
                      <a:rPr lang="en-IN">
                        <a:latin typeface="Cambria Math" panose="02040503050406030204" pitchFamily="18" charset="0"/>
                      </a:rPr>
                      <m:t>=1</m:t>
                    </m:r>
                  </m:oMath>
                </a14:m>
                <a:endParaRPr lang="en-IN" dirty="0"/>
              </a:p>
              <a:p>
                <a:endParaRPr lang="en-IN" dirty="0"/>
              </a:p>
            </p:txBody>
          </p:sp>
        </mc:Choice>
        <mc:Fallback xmlns="">
          <p:sp>
            <p:nvSpPr>
              <p:cNvPr id="3" name="Content Placeholder 2">
                <a:extLst>
                  <a:ext uri="{FF2B5EF4-FFF2-40B4-BE49-F238E27FC236}">
                    <a16:creationId xmlns:a16="http://schemas.microsoft.com/office/drawing/2014/main" id="{13C8ABF4-09AB-999A-D8D8-ACC48C2E8DAB}"/>
                  </a:ext>
                </a:extLst>
              </p:cNvPr>
              <p:cNvSpPr>
                <a:spLocks noGrp="1" noRot="1" noChangeAspect="1" noMove="1" noResize="1" noEditPoints="1" noAdjustHandles="1" noChangeArrowheads="1" noChangeShapeType="1" noTextEdit="1"/>
              </p:cNvSpPr>
              <p:nvPr>
                <p:ph idx="1"/>
              </p:nvPr>
            </p:nvSpPr>
            <p:spPr>
              <a:xfrm>
                <a:off x="628650" y="575712"/>
                <a:ext cx="7886700" cy="6282287"/>
              </a:xfrm>
              <a:blipFill>
                <a:blip r:embed="rId2"/>
                <a:stretch>
                  <a:fillRect l="-232" t="-1067" r="-464"/>
                </a:stretch>
              </a:blipFill>
            </p:spPr>
            <p:txBody>
              <a:bodyPr/>
              <a:lstStyle/>
              <a:p>
                <a:r>
                  <a:rPr lang="en-IN">
                    <a:noFill/>
                  </a:rPr>
                  <a:t> </a:t>
                </a:r>
              </a:p>
            </p:txBody>
          </p:sp>
        </mc:Fallback>
      </mc:AlternateContent>
    </p:spTree>
    <p:extLst>
      <p:ext uri="{BB962C8B-B14F-4D97-AF65-F5344CB8AC3E}">
        <p14:creationId xmlns:p14="http://schemas.microsoft.com/office/powerpoint/2010/main" val="1974325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9A01B-B6BD-7E3B-FC46-C250AE076020}"/>
              </a:ext>
            </a:extLst>
          </p:cNvPr>
          <p:cNvSpPr>
            <a:spLocks noGrp="1"/>
          </p:cNvSpPr>
          <p:nvPr>
            <p:ph type="title"/>
          </p:nvPr>
        </p:nvSpPr>
        <p:spPr>
          <a:xfrm>
            <a:off x="645756" y="76200"/>
            <a:ext cx="7886700" cy="315910"/>
          </a:xfrm>
        </p:spPr>
        <p:txBody>
          <a:bodyPr>
            <a:normAutofit fontScale="90000"/>
          </a:bodyPr>
          <a:lstStyle/>
          <a:p>
            <a:r>
              <a:rPr lang="en-IN" b="1" dirty="0"/>
              <a:t>Example: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081577D-9E6F-5692-BBD6-D46E15A11A98}"/>
                  </a:ext>
                </a:extLst>
              </p:cNvPr>
              <p:cNvSpPr>
                <a:spLocks noGrp="1"/>
              </p:cNvSpPr>
              <p:nvPr>
                <p:ph idx="1"/>
              </p:nvPr>
            </p:nvSpPr>
            <p:spPr>
              <a:xfrm>
                <a:off x="628650" y="685801"/>
                <a:ext cx="7886700" cy="5491164"/>
              </a:xfrm>
            </p:spPr>
            <p:txBody>
              <a:bodyPr>
                <a:normAutofit fontScale="92500" lnSpcReduction="10000"/>
              </a:bodyPr>
              <a:lstStyle/>
              <a:p>
                <a:r>
                  <a:rPr lang="en-IN" b="1" dirty="0"/>
                  <a:t>Relevant Bigram Counts </a:t>
                </a:r>
                <a14:m>
                  <m:oMath xmlns:m="http://schemas.openxmlformats.org/officeDocument/2006/math">
                    <m:r>
                      <a:rPr lang="en-IN" i="1">
                        <a:latin typeface="Cambria Math" panose="02040503050406030204" pitchFamily="18" charset="0"/>
                      </a:rPr>
                      <m:t>𝐶</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sub>
                        </m:sSub>
                      </m:e>
                    </m:d>
                  </m:oMath>
                </a14:m>
                <a:r>
                  <a:rPr lang="en-IN" b="1" dirty="0"/>
                  <a:t>:</a:t>
                </a:r>
                <a:endParaRPr lang="en-IN" dirty="0"/>
              </a:p>
              <a:p>
                <a:pPr lvl="0"/>
                <a14:m>
                  <m:oMath xmlns:m="http://schemas.openxmlformats.org/officeDocument/2006/math">
                    <m:r>
                      <a:rPr lang="en-IN" i="1">
                        <a:latin typeface="Cambria Math" panose="02040503050406030204" pitchFamily="18" charset="0"/>
                      </a:rPr>
                      <m:t>𝐶</m:t>
                    </m:r>
                    <m:d>
                      <m:dPr>
                        <m:ctrlPr>
                          <a:rPr lang="en-IN" i="0"/>
                        </m:ctrlPr>
                      </m:dPr>
                      <m:e>
                        <m:r>
                          <m:rPr>
                            <m:nor/>
                          </m:rPr>
                          <a:rPr lang="en-IN" i="0"/>
                          <m:t>&lt;s&gt;</m:t>
                        </m:r>
                        <m:r>
                          <a:rPr lang="en-IN">
                            <a:latin typeface="Cambria Math" panose="02040503050406030204" pitchFamily="18" charset="0"/>
                          </a:rPr>
                          <m:t>,</m:t>
                        </m:r>
                        <m:r>
                          <m:rPr>
                            <m:nor/>
                          </m:rPr>
                          <a:rPr lang="en-IN" i="0"/>
                          <m:t>I</m:t>
                        </m:r>
                      </m:e>
                    </m:d>
                    <m:r>
                      <a:rPr lang="en-IN">
                        <a:latin typeface="Cambria Math" panose="02040503050406030204" pitchFamily="18" charset="0"/>
                      </a:rPr>
                      <m:t>=2</m:t>
                    </m:r>
                  </m:oMath>
                </a14:m>
                <a:endParaRPr lang="en-IN" dirty="0"/>
              </a:p>
              <a:p>
                <a:pPr lvl="0"/>
                <a14:m>
                  <m:oMath xmlns:m="http://schemas.openxmlformats.org/officeDocument/2006/math">
                    <m:r>
                      <a:rPr lang="en-IN" i="1">
                        <a:latin typeface="Cambria Math" panose="02040503050406030204" pitchFamily="18" charset="0"/>
                      </a:rPr>
                      <m:t>𝐶</m:t>
                    </m:r>
                    <m:d>
                      <m:dPr>
                        <m:ctrlPr>
                          <a:rPr lang="en-IN" i="0"/>
                        </m:ctrlPr>
                      </m:dPr>
                      <m:e>
                        <m:r>
                          <m:rPr>
                            <m:nor/>
                          </m:rPr>
                          <a:rPr lang="en-IN" i="0"/>
                          <m:t>&lt;s&gt;</m:t>
                        </m:r>
                        <m:r>
                          <a:rPr lang="en-IN">
                            <a:latin typeface="Cambria Math" panose="02040503050406030204" pitchFamily="18" charset="0"/>
                          </a:rPr>
                          <m:t>,</m:t>
                        </m:r>
                        <m:r>
                          <m:rPr>
                            <m:nor/>
                          </m:rPr>
                          <a:rPr lang="en-IN" i="0"/>
                          <m:t>Sam</m:t>
                        </m:r>
                      </m:e>
                    </m:d>
                    <m:r>
                      <a:rPr lang="en-IN">
                        <a:latin typeface="Cambria Math" panose="02040503050406030204" pitchFamily="18" charset="0"/>
                      </a:rPr>
                      <m:t>=1</m:t>
                    </m:r>
                  </m:oMath>
                </a14:m>
                <a:endParaRPr lang="en-IN" dirty="0"/>
              </a:p>
              <a:p>
                <a:pPr lvl="0"/>
                <a14:m>
                  <m:oMath xmlns:m="http://schemas.openxmlformats.org/officeDocument/2006/math">
                    <m:r>
                      <a:rPr lang="en-IN" i="1">
                        <a:latin typeface="Cambria Math" panose="02040503050406030204" pitchFamily="18" charset="0"/>
                      </a:rPr>
                      <m:t>𝐶</m:t>
                    </m:r>
                    <m:d>
                      <m:dPr>
                        <m:ctrlPr>
                          <a:rPr lang="en-IN" i="0"/>
                        </m:ctrlPr>
                      </m:dPr>
                      <m:e>
                        <m:r>
                          <m:rPr>
                            <m:nor/>
                          </m:rPr>
                          <a:rPr lang="en-IN" i="0"/>
                          <m:t>I</m:t>
                        </m:r>
                        <m:r>
                          <a:rPr lang="en-IN">
                            <a:latin typeface="Cambria Math" panose="02040503050406030204" pitchFamily="18" charset="0"/>
                          </a:rPr>
                          <m:t>,</m:t>
                        </m:r>
                        <m:r>
                          <m:rPr>
                            <m:nor/>
                          </m:rPr>
                          <a:rPr lang="en-IN" i="0"/>
                          <m:t>am</m:t>
                        </m:r>
                      </m:e>
                    </m:d>
                    <m:r>
                      <a:rPr lang="en-IN">
                        <a:latin typeface="Cambria Math" panose="02040503050406030204" pitchFamily="18" charset="0"/>
                      </a:rPr>
                      <m:t>=2</m:t>
                    </m:r>
                  </m:oMath>
                </a14:m>
                <a:endParaRPr lang="en-IN" dirty="0"/>
              </a:p>
              <a:p>
                <a:pPr lvl="0"/>
                <a14:m>
                  <m:oMath xmlns:m="http://schemas.openxmlformats.org/officeDocument/2006/math">
                    <m:r>
                      <a:rPr lang="en-IN" i="1">
                        <a:latin typeface="Cambria Math" panose="02040503050406030204" pitchFamily="18" charset="0"/>
                      </a:rPr>
                      <m:t>𝐶</m:t>
                    </m:r>
                    <m:d>
                      <m:dPr>
                        <m:ctrlPr>
                          <a:rPr lang="en-IN" i="0"/>
                        </m:ctrlPr>
                      </m:dPr>
                      <m:e>
                        <m:r>
                          <m:rPr>
                            <m:nor/>
                          </m:rPr>
                          <a:rPr lang="en-IN" i="0"/>
                          <m:t>I</m:t>
                        </m:r>
                        <m:r>
                          <a:rPr lang="en-IN">
                            <a:latin typeface="Cambria Math" panose="02040503050406030204" pitchFamily="18" charset="0"/>
                          </a:rPr>
                          <m:t>,</m:t>
                        </m:r>
                        <m:r>
                          <m:rPr>
                            <m:nor/>
                          </m:rPr>
                          <a:rPr lang="en-IN" i="0"/>
                          <m:t>do</m:t>
                        </m:r>
                      </m:e>
                    </m:d>
                    <m:r>
                      <a:rPr lang="en-IN">
                        <a:latin typeface="Cambria Math" panose="02040503050406030204" pitchFamily="18" charset="0"/>
                      </a:rPr>
                      <m:t>=1</m:t>
                    </m:r>
                  </m:oMath>
                </a14:m>
                <a:endParaRPr lang="en-IN" dirty="0"/>
              </a:p>
              <a:p>
                <a:pPr lvl="0"/>
                <a14:m>
                  <m:oMath xmlns:m="http://schemas.openxmlformats.org/officeDocument/2006/math">
                    <m:r>
                      <a:rPr lang="en-IN" i="1">
                        <a:latin typeface="Cambria Math" panose="02040503050406030204" pitchFamily="18" charset="0"/>
                      </a:rPr>
                      <m:t>𝐶</m:t>
                    </m:r>
                    <m:d>
                      <m:dPr>
                        <m:ctrlPr>
                          <a:rPr lang="en-IN" i="0"/>
                        </m:ctrlPr>
                      </m:dPr>
                      <m:e>
                        <m:r>
                          <m:rPr>
                            <m:nor/>
                          </m:rPr>
                          <a:rPr lang="en-IN" i="0"/>
                          <m:t>am</m:t>
                        </m:r>
                        <m:r>
                          <a:rPr lang="en-IN">
                            <a:latin typeface="Cambria Math" panose="02040503050406030204" pitchFamily="18" charset="0"/>
                          </a:rPr>
                          <m:t>,</m:t>
                        </m:r>
                        <m:r>
                          <m:rPr>
                            <m:nor/>
                          </m:rPr>
                          <a:rPr lang="en-IN" i="0"/>
                          <m:t>Sam</m:t>
                        </m:r>
                      </m:e>
                    </m:d>
                    <m:r>
                      <a:rPr lang="en-IN">
                        <a:latin typeface="Cambria Math" panose="02040503050406030204" pitchFamily="18" charset="0"/>
                      </a:rPr>
                      <m:t>=1</m:t>
                    </m:r>
                  </m:oMath>
                </a14:m>
                <a:endParaRPr lang="en-IN" dirty="0"/>
              </a:p>
              <a:p>
                <a:pPr lvl="0"/>
                <a14:m>
                  <m:oMath xmlns:m="http://schemas.openxmlformats.org/officeDocument/2006/math">
                    <m:r>
                      <a:rPr lang="en-IN" i="1">
                        <a:latin typeface="Cambria Math" panose="02040503050406030204" pitchFamily="18" charset="0"/>
                      </a:rPr>
                      <m:t>𝐶</m:t>
                    </m:r>
                    <m:d>
                      <m:dPr>
                        <m:ctrlPr>
                          <a:rPr lang="en-IN" i="0"/>
                        </m:ctrlPr>
                      </m:dPr>
                      <m:e>
                        <m:r>
                          <m:rPr>
                            <m:nor/>
                          </m:rPr>
                          <a:rPr lang="en-IN" i="0"/>
                          <m:t>am</m:t>
                        </m:r>
                        <m:r>
                          <a:rPr lang="en-IN">
                            <a:latin typeface="Cambria Math" panose="02040503050406030204" pitchFamily="18" charset="0"/>
                          </a:rPr>
                          <m:t>,</m:t>
                        </m:r>
                        <m:r>
                          <m:rPr>
                            <m:nor/>
                          </m:rPr>
                          <a:rPr lang="en-IN" i="0"/>
                          <m:t>&lt;/s&gt;</m:t>
                        </m:r>
                      </m:e>
                    </m:d>
                    <m:r>
                      <a:rPr lang="en-IN">
                        <a:latin typeface="Cambria Math" panose="02040503050406030204" pitchFamily="18" charset="0"/>
                      </a:rPr>
                      <m:t>=1</m:t>
                    </m:r>
                  </m:oMath>
                </a14:m>
                <a:endParaRPr lang="en-IN" dirty="0"/>
              </a:p>
              <a:p>
                <a:pPr lvl="0"/>
                <a14:m>
                  <m:oMath xmlns:m="http://schemas.openxmlformats.org/officeDocument/2006/math">
                    <m:r>
                      <a:rPr lang="en-IN" i="1">
                        <a:latin typeface="Cambria Math" panose="02040503050406030204" pitchFamily="18" charset="0"/>
                      </a:rPr>
                      <m:t>𝐶</m:t>
                    </m:r>
                    <m:d>
                      <m:dPr>
                        <m:ctrlPr>
                          <a:rPr lang="en-IN" i="0"/>
                        </m:ctrlPr>
                      </m:dPr>
                      <m:e>
                        <m:r>
                          <m:rPr>
                            <m:nor/>
                          </m:rPr>
                          <a:rPr lang="en-IN" i="0"/>
                          <m:t>Sam</m:t>
                        </m:r>
                        <m:r>
                          <a:rPr lang="en-IN">
                            <a:latin typeface="Cambria Math" panose="02040503050406030204" pitchFamily="18" charset="0"/>
                          </a:rPr>
                          <m:t>,</m:t>
                        </m:r>
                        <m:r>
                          <m:rPr>
                            <m:nor/>
                          </m:rPr>
                          <a:rPr lang="en-IN" i="0"/>
                          <m:t>&lt;/s&gt;</m:t>
                        </m:r>
                      </m:e>
                    </m:d>
                    <m:r>
                      <a:rPr lang="en-IN">
                        <a:latin typeface="Cambria Math" panose="02040503050406030204" pitchFamily="18" charset="0"/>
                      </a:rPr>
                      <m:t>=1</m:t>
                    </m:r>
                  </m:oMath>
                </a14:m>
                <a:endParaRPr lang="en-IN" dirty="0"/>
              </a:p>
              <a:p>
                <a:pPr lvl="0"/>
                <a14:m>
                  <m:oMath xmlns:m="http://schemas.openxmlformats.org/officeDocument/2006/math">
                    <m:r>
                      <a:rPr lang="en-IN" i="1">
                        <a:latin typeface="Cambria Math" panose="02040503050406030204" pitchFamily="18" charset="0"/>
                      </a:rPr>
                      <m:t>𝐶</m:t>
                    </m:r>
                    <m:d>
                      <m:dPr>
                        <m:ctrlPr>
                          <a:rPr lang="en-IN" i="0"/>
                        </m:ctrlPr>
                      </m:dPr>
                      <m:e>
                        <m:r>
                          <m:rPr>
                            <m:nor/>
                          </m:rPr>
                          <a:rPr lang="en-IN" i="0"/>
                          <m:t>Sam</m:t>
                        </m:r>
                        <m:r>
                          <a:rPr lang="en-IN">
                            <a:latin typeface="Cambria Math" panose="02040503050406030204" pitchFamily="18" charset="0"/>
                          </a:rPr>
                          <m:t>,</m:t>
                        </m:r>
                        <m:r>
                          <m:rPr>
                            <m:nor/>
                          </m:rPr>
                          <a:rPr lang="en-IN" i="0"/>
                          <m:t>I</m:t>
                        </m:r>
                      </m:e>
                    </m:d>
                    <m:r>
                      <a:rPr lang="en-IN">
                        <a:latin typeface="Cambria Math" panose="02040503050406030204" pitchFamily="18" charset="0"/>
                      </a:rPr>
                      <m:t>=1</m:t>
                    </m:r>
                  </m:oMath>
                </a14:m>
                <a:endParaRPr lang="en-IN" dirty="0"/>
              </a:p>
              <a:p>
                <a:pPr lvl="0"/>
                <a:r>
                  <a:rPr lang="en-IN" dirty="0"/>
                  <a:t>All other bigrams = </a:t>
                </a:r>
                <a14:m>
                  <m:oMath xmlns:m="http://schemas.openxmlformats.org/officeDocument/2006/math">
                    <m:r>
                      <a:rPr lang="en-IN">
                        <a:latin typeface="Cambria Math" panose="02040503050406030204" pitchFamily="18" charset="0"/>
                      </a:rPr>
                      <m:t>0</m:t>
                    </m:r>
                  </m:oMath>
                </a14:m>
                <a:endParaRPr lang="en-IN" dirty="0"/>
              </a:p>
              <a:p>
                <a:r>
                  <a:rPr lang="en-IN" b="1" dirty="0"/>
                  <a:t>3. Test Sequence to Evaluate</a:t>
                </a:r>
                <a:endParaRPr lang="en-IN" dirty="0"/>
              </a:p>
              <a:p>
                <a:r>
                  <a:rPr lang="en-IN" dirty="0"/>
                  <a:t>Let the test sequence </a:t>
                </a:r>
                <a14:m>
                  <m:oMath xmlns:m="http://schemas.openxmlformats.org/officeDocument/2006/math">
                    <m:r>
                      <a:rPr lang="en-IN" i="1">
                        <a:latin typeface="Cambria Math" panose="02040503050406030204" pitchFamily="18" charset="0"/>
                      </a:rPr>
                      <m:t>𝑊</m:t>
                    </m:r>
                  </m:oMath>
                </a14:m>
                <a:r>
                  <a:rPr lang="en-IN" dirty="0"/>
                  <a:t>be the sentence:</a:t>
                </a:r>
              </a:p>
              <a:p>
                <a:r>
                  <a:rPr lang="en-IN" dirty="0"/>
                  <a:t>&lt;s&gt; I am Sam &lt;/s&gt;</a:t>
                </a:r>
              </a:p>
              <a:p>
                <a:pPr lvl="0"/>
                <a:r>
                  <a:rPr lang="en-IN" dirty="0"/>
                  <a:t>Tokens to predict: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a:latin typeface="Cambria Math" panose="02040503050406030204" pitchFamily="18" charset="0"/>
                          </a:rPr>
                          <m:t>1</m:t>
                        </m:r>
                      </m:sub>
                    </m:sSub>
                    <m:r>
                      <a:rPr lang="en-IN">
                        <a:latin typeface="Cambria Math" panose="02040503050406030204" pitchFamily="18" charset="0"/>
                      </a:rPr>
                      <m:t>=</m:t>
                    </m:r>
                    <m:r>
                      <m:rPr>
                        <m:nor/>
                      </m:rPr>
                      <a:rPr lang="en-IN" i="0"/>
                      <m:t>I</m:t>
                    </m:r>
                    <m:r>
                      <a:rPr lang="en-IN">
                        <a:latin typeface="Cambria Math" panose="02040503050406030204" pitchFamily="18" charset="0"/>
                      </a:rPr>
                      <m:t>, </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a:latin typeface="Cambria Math" panose="02040503050406030204" pitchFamily="18" charset="0"/>
                          </a:rPr>
                          <m:t>2</m:t>
                        </m:r>
                      </m:sub>
                    </m:sSub>
                    <m:r>
                      <a:rPr lang="en-IN">
                        <a:latin typeface="Cambria Math" panose="02040503050406030204" pitchFamily="18" charset="0"/>
                      </a:rPr>
                      <m:t>=</m:t>
                    </m:r>
                    <m:r>
                      <m:rPr>
                        <m:nor/>
                      </m:rPr>
                      <a:rPr lang="en-IN" i="0"/>
                      <m:t>am</m:t>
                    </m:r>
                    <m:r>
                      <a:rPr lang="en-IN">
                        <a:latin typeface="Cambria Math" panose="02040503050406030204" pitchFamily="18" charset="0"/>
                      </a:rPr>
                      <m:t>, </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a:latin typeface="Cambria Math" panose="02040503050406030204" pitchFamily="18" charset="0"/>
                          </a:rPr>
                          <m:t>3</m:t>
                        </m:r>
                      </m:sub>
                    </m:sSub>
                    <m:r>
                      <a:rPr lang="en-IN">
                        <a:latin typeface="Cambria Math" panose="02040503050406030204" pitchFamily="18" charset="0"/>
                      </a:rPr>
                      <m:t>=</m:t>
                    </m:r>
                    <m:r>
                      <m:rPr>
                        <m:nor/>
                      </m:rPr>
                      <a:rPr lang="en-IN" i="0"/>
                      <m:t>Sam</m:t>
                    </m:r>
                    <m:r>
                      <a:rPr lang="en-IN">
                        <a:latin typeface="Cambria Math" panose="02040503050406030204" pitchFamily="18" charset="0"/>
                      </a:rPr>
                      <m:t>, </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a:latin typeface="Cambria Math" panose="02040503050406030204" pitchFamily="18" charset="0"/>
                          </a:rPr>
                          <m:t>4</m:t>
                        </m:r>
                      </m:sub>
                    </m:sSub>
                    <m:r>
                      <a:rPr lang="en-IN">
                        <a:latin typeface="Cambria Math" panose="02040503050406030204" pitchFamily="18" charset="0"/>
                      </a:rPr>
                      <m:t>=</m:t>
                    </m:r>
                    <m:r>
                      <m:rPr>
                        <m:nor/>
                      </m:rPr>
                      <a:rPr lang="en-IN" i="0"/>
                      <m:t>&lt;/s&gt;</m:t>
                    </m:r>
                  </m:oMath>
                </a14:m>
                <a:endParaRPr lang="en-IN" dirty="0"/>
              </a:p>
              <a:p>
                <a:pPr lvl="0"/>
                <a:r>
                  <a:rPr lang="en-IN" b="1" dirty="0"/>
                  <a:t>Total test tokens (</a:t>
                </a:r>
                <a14:m>
                  <m:oMath xmlns:m="http://schemas.openxmlformats.org/officeDocument/2006/math">
                    <m:r>
                      <a:rPr lang="en-IN" b="0" i="1" smtClean="0">
                        <a:latin typeface="Cambria Math" panose="02040503050406030204" pitchFamily="18" charset="0"/>
                      </a:rPr>
                      <m:t>𝑛</m:t>
                    </m:r>
                  </m:oMath>
                </a14:m>
                <a:r>
                  <a:rPr lang="en-IN" b="1" dirty="0"/>
                  <a:t>):</a:t>
                </a:r>
                <a:r>
                  <a:rPr lang="en-IN" dirty="0"/>
                  <a:t> </a:t>
                </a:r>
                <a14:m>
                  <m:oMath xmlns:m="http://schemas.openxmlformats.org/officeDocument/2006/math">
                    <m:r>
                      <a:rPr lang="en-IN">
                        <a:latin typeface="Cambria Math" panose="02040503050406030204" pitchFamily="18" charset="0"/>
                      </a:rPr>
                      <m:t>4</m:t>
                    </m:r>
                  </m:oMath>
                </a14:m>
                <a:r>
                  <a:rPr lang="en-IN" dirty="0"/>
                  <a:t>(standard convention includes the end-of-sentence marker &lt;/s&gt;, while &lt;s&gt; serves as initial conditioning context).</a:t>
                </a:r>
              </a:p>
              <a:p>
                <a:endParaRPr lang="en-IN" dirty="0"/>
              </a:p>
            </p:txBody>
          </p:sp>
        </mc:Choice>
        <mc:Fallback xmlns="">
          <p:sp>
            <p:nvSpPr>
              <p:cNvPr id="3" name="Content Placeholder 2">
                <a:extLst>
                  <a:ext uri="{FF2B5EF4-FFF2-40B4-BE49-F238E27FC236}">
                    <a16:creationId xmlns:a16="http://schemas.microsoft.com/office/drawing/2014/main" id="{3081577D-9E6F-5692-BBD6-D46E15A11A98}"/>
                  </a:ext>
                </a:extLst>
              </p:cNvPr>
              <p:cNvSpPr>
                <a:spLocks noGrp="1" noRot="1" noChangeAspect="1" noMove="1" noResize="1" noEditPoints="1" noAdjustHandles="1" noChangeArrowheads="1" noChangeShapeType="1" noTextEdit="1"/>
              </p:cNvSpPr>
              <p:nvPr>
                <p:ph idx="1"/>
              </p:nvPr>
            </p:nvSpPr>
            <p:spPr>
              <a:xfrm>
                <a:off x="628650" y="685801"/>
                <a:ext cx="7886700" cy="5491164"/>
              </a:xfrm>
              <a:blipFill>
                <a:blip r:embed="rId2"/>
                <a:stretch>
                  <a:fillRect l="-541" t="-1444" b="-1333"/>
                </a:stretch>
              </a:blipFill>
            </p:spPr>
            <p:txBody>
              <a:bodyPr/>
              <a:lstStyle/>
              <a:p>
                <a:r>
                  <a:rPr lang="en-IN">
                    <a:noFill/>
                  </a:rPr>
                  <a:t> </a:t>
                </a:r>
              </a:p>
            </p:txBody>
          </p:sp>
        </mc:Fallback>
      </mc:AlternateContent>
    </p:spTree>
    <p:extLst>
      <p:ext uri="{BB962C8B-B14F-4D97-AF65-F5344CB8AC3E}">
        <p14:creationId xmlns:p14="http://schemas.microsoft.com/office/powerpoint/2010/main" val="3331094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DA526-B314-9510-8ABB-08530E59BDBE}"/>
              </a:ext>
            </a:extLst>
          </p:cNvPr>
          <p:cNvSpPr>
            <a:spLocks noGrp="1"/>
          </p:cNvSpPr>
          <p:nvPr>
            <p:ph type="title"/>
          </p:nvPr>
        </p:nvSpPr>
        <p:spPr>
          <a:xfrm>
            <a:off x="628650" y="365125"/>
            <a:ext cx="7886700" cy="549275"/>
          </a:xfrm>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A593AA9-FE75-5FE7-01F3-BAD80C9BBEFE}"/>
                  </a:ext>
                </a:extLst>
              </p:cNvPr>
              <p:cNvSpPr>
                <a:spLocks noGrp="1"/>
              </p:cNvSpPr>
              <p:nvPr>
                <p:ph idx="1"/>
              </p:nvPr>
            </p:nvSpPr>
            <p:spPr>
              <a:xfrm>
                <a:off x="628650" y="1066800"/>
                <a:ext cx="7886700" cy="5426075"/>
              </a:xfrm>
            </p:spPr>
            <p:txBody>
              <a:bodyPr>
                <a:normAutofit fontScale="77500" lnSpcReduction="20000"/>
              </a:bodyPr>
              <a:lstStyle/>
              <a:p>
                <a:r>
                  <a:rPr lang="en-IN" b="1" dirty="0"/>
                  <a:t>4. Laplace (Add-1) Smoothed Probability Estimation</a:t>
                </a:r>
                <a:endParaRPr lang="en-IN" dirty="0"/>
              </a:p>
              <a:p>
                <a:r>
                  <a:rPr lang="en-IN" dirty="0"/>
                  <a:t>The Add-1 smoothed probability formula is:</a:t>
                </a:r>
              </a:p>
              <a:p>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𝑃</m:t>
                        </m:r>
                      </m:e>
                      <m:sub>
                        <m:r>
                          <a:rPr lang="en-IN" i="1">
                            <a:latin typeface="Cambria Math" panose="02040503050406030204" pitchFamily="18" charset="0"/>
                          </a:rPr>
                          <m:t>𝐿𝑎𝑝𝑙𝑎𝑐𝑒</m:t>
                        </m:r>
                      </m:sub>
                    </m:sSub>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e>
                    </m:d>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𝐶</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sub>
                            </m:sSub>
                          </m:e>
                        </m:d>
                        <m:r>
                          <a:rPr lang="en-IN">
                            <a:latin typeface="Cambria Math" panose="02040503050406030204" pitchFamily="18" charset="0"/>
                          </a:rPr>
                          <m:t>+1</m:t>
                        </m:r>
                      </m:num>
                      <m:den>
                        <m:r>
                          <a:rPr lang="en-IN" i="1">
                            <a:latin typeface="Cambria Math" panose="02040503050406030204" pitchFamily="18" charset="0"/>
                          </a:rPr>
                          <m:t>𝐶</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e>
                        </m:d>
                        <m:r>
                          <a:rPr lang="en-IN">
                            <a:latin typeface="Cambria Math" panose="02040503050406030204" pitchFamily="18" charset="0"/>
                          </a:rPr>
                          <m:t>+|</m:t>
                        </m:r>
                        <m:r>
                          <a:rPr lang="en-IN" i="1">
                            <a:latin typeface="Cambria Math" panose="02040503050406030204" pitchFamily="18" charset="0"/>
                          </a:rPr>
                          <m:t>𝑉</m:t>
                        </m:r>
                        <m:r>
                          <a:rPr lang="en-IN">
                            <a:latin typeface="Cambria Math" panose="02040503050406030204" pitchFamily="18" charset="0"/>
                          </a:rPr>
                          <m:t>|</m:t>
                        </m:r>
                      </m:den>
                    </m:f>
                  </m:oMath>
                </a14:m>
                <a:endParaRPr lang="en-IN" dirty="0"/>
              </a:p>
              <a:p>
                <a:r>
                  <a:rPr lang="en-IN" dirty="0"/>
                  <a:t>Where </a:t>
                </a:r>
                <a14:m>
                  <m:oMath xmlns:m="http://schemas.openxmlformats.org/officeDocument/2006/math">
                    <m:r>
                      <a:rPr lang="en-IN">
                        <a:latin typeface="Cambria Math" panose="02040503050406030204" pitchFamily="18" charset="0"/>
                      </a:rPr>
                      <m:t>|</m:t>
                    </m:r>
                    <m:r>
                      <a:rPr lang="en-IN" i="1">
                        <a:latin typeface="Cambria Math" panose="02040503050406030204" pitchFamily="18" charset="0"/>
                      </a:rPr>
                      <m:t>𝑉</m:t>
                    </m:r>
                    <m:r>
                      <a:rPr lang="en-IN">
                        <a:latin typeface="Cambria Math" panose="02040503050406030204" pitchFamily="18" charset="0"/>
                      </a:rPr>
                      <m:t>|=10</m:t>
                    </m:r>
                  </m:oMath>
                </a14:m>
                <a:r>
                  <a:rPr lang="en-IN" dirty="0"/>
                  <a:t>.</a:t>
                </a:r>
              </a:p>
              <a:p>
                <a:pPr lvl="0"/>
                <a:r>
                  <a:rPr lang="en-IN" b="1" dirty="0"/>
                  <a:t>Step 1: </a:t>
                </a:r>
                <a14:m>
                  <m:oMath xmlns:m="http://schemas.openxmlformats.org/officeDocument/2006/math">
                    <m:r>
                      <a:rPr lang="en-IN" i="1">
                        <a:latin typeface="Cambria Math" panose="02040503050406030204" pitchFamily="18" charset="0"/>
                      </a:rPr>
                      <m:t>𝑃</m:t>
                    </m:r>
                    <m:d>
                      <m:dPr>
                        <m:ctrlPr>
                          <a:rPr lang="en-IN" i="0"/>
                        </m:ctrlPr>
                      </m:dPr>
                      <m:e>
                        <m:r>
                          <m:rPr>
                            <m:nor/>
                          </m:rPr>
                          <a:rPr lang="en-IN" i="0"/>
                          <m:t>I</m:t>
                        </m:r>
                        <m:r>
                          <a:rPr lang="en-IN">
                            <a:latin typeface="Cambria Math" panose="02040503050406030204" pitchFamily="18" charset="0"/>
                          </a:rPr>
                          <m:t>∣</m:t>
                        </m:r>
                        <m:r>
                          <m:rPr>
                            <m:nor/>
                          </m:rPr>
                          <a:rPr lang="en-IN" i="0"/>
                          <m:t>&lt;s&gt;</m:t>
                        </m:r>
                      </m:e>
                    </m:d>
                  </m:oMath>
                </a14:m>
                <a:endParaRPr lang="en-IN" dirty="0"/>
              </a:p>
              <a:p>
                <a:pPr lvl="0"/>
                <a14:m>
                  <m:oMath xmlns:m="http://schemas.openxmlformats.org/officeDocument/2006/math">
                    <m:r>
                      <a:rPr lang="en-IN" i="1">
                        <a:latin typeface="Cambria Math" panose="02040503050406030204" pitchFamily="18" charset="0"/>
                      </a:rPr>
                      <m:t>𝑃</m:t>
                    </m:r>
                    <m:d>
                      <m:dPr>
                        <m:ctrlPr>
                          <a:rPr lang="en-IN" i="0"/>
                        </m:ctrlPr>
                      </m:dPr>
                      <m:e>
                        <m:r>
                          <m:rPr>
                            <m:nor/>
                          </m:rPr>
                          <a:rPr lang="en-IN" i="0"/>
                          <m:t>I</m:t>
                        </m:r>
                        <m:r>
                          <a:rPr lang="en-IN">
                            <a:latin typeface="Cambria Math" panose="02040503050406030204" pitchFamily="18" charset="0"/>
                          </a:rPr>
                          <m:t>∣</m:t>
                        </m:r>
                        <m:r>
                          <m:rPr>
                            <m:nor/>
                          </m:rPr>
                          <a:rPr lang="en-IN" i="0"/>
                          <m:t>&lt;s&gt;</m:t>
                        </m:r>
                      </m:e>
                    </m:d>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𝐶</m:t>
                        </m:r>
                        <m:d>
                          <m:dPr>
                            <m:ctrlPr>
                              <a:rPr lang="en-IN" i="0"/>
                            </m:ctrlPr>
                          </m:dPr>
                          <m:e>
                            <m:r>
                              <m:rPr>
                                <m:nor/>
                              </m:rPr>
                              <a:rPr lang="en-IN" i="0"/>
                              <m:t>&lt;s&gt;</m:t>
                            </m:r>
                            <m:r>
                              <a:rPr lang="en-IN">
                                <a:latin typeface="Cambria Math" panose="02040503050406030204" pitchFamily="18" charset="0"/>
                              </a:rPr>
                              <m:t>,</m:t>
                            </m:r>
                            <m:r>
                              <m:rPr>
                                <m:nor/>
                              </m:rPr>
                              <a:rPr lang="en-IN" i="0"/>
                              <m:t>I</m:t>
                            </m:r>
                          </m:e>
                        </m:d>
                        <m:r>
                          <a:rPr lang="en-IN">
                            <a:latin typeface="Cambria Math" panose="02040503050406030204" pitchFamily="18" charset="0"/>
                          </a:rPr>
                          <m:t>+1</m:t>
                        </m:r>
                      </m:num>
                      <m:den>
                        <m:r>
                          <a:rPr lang="en-IN" i="1">
                            <a:latin typeface="Cambria Math" panose="02040503050406030204" pitchFamily="18" charset="0"/>
                          </a:rPr>
                          <m:t>𝐶</m:t>
                        </m:r>
                        <m:d>
                          <m:dPr>
                            <m:ctrlPr>
                              <a:rPr lang="en-IN" i="0"/>
                            </m:ctrlPr>
                          </m:dPr>
                          <m:e>
                            <m:r>
                              <m:rPr>
                                <m:nor/>
                              </m:rPr>
                              <a:rPr lang="en-IN" i="0"/>
                              <m:t>&lt;s&gt;</m:t>
                            </m:r>
                          </m:e>
                        </m:d>
                        <m:r>
                          <a:rPr lang="en-IN">
                            <a:latin typeface="Cambria Math" panose="02040503050406030204" pitchFamily="18" charset="0"/>
                          </a:rPr>
                          <m:t>+10</m:t>
                        </m:r>
                      </m:den>
                    </m:f>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2+1</m:t>
                        </m:r>
                      </m:num>
                      <m:den>
                        <m:r>
                          <a:rPr lang="en-IN">
                            <a:latin typeface="Cambria Math" panose="02040503050406030204" pitchFamily="18" charset="0"/>
                          </a:rPr>
                          <m:t>3+10</m:t>
                        </m:r>
                      </m:den>
                    </m:f>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3</m:t>
                        </m:r>
                      </m:num>
                      <m:den>
                        <m:r>
                          <a:rPr lang="en-IN">
                            <a:latin typeface="Cambria Math" panose="02040503050406030204" pitchFamily="18" charset="0"/>
                          </a:rPr>
                          <m:t>13</m:t>
                        </m:r>
                      </m:den>
                    </m:f>
                    <m:r>
                      <a:rPr lang="en-IN">
                        <a:latin typeface="Cambria Math" panose="02040503050406030204" pitchFamily="18" charset="0"/>
                      </a:rPr>
                      <m:t>≈0.23077</m:t>
                    </m:r>
                  </m:oMath>
                </a14:m>
                <a:endParaRPr lang="en-IN" dirty="0"/>
              </a:p>
              <a:p>
                <a:pPr lvl="0"/>
                <a:r>
                  <a:rPr lang="en-IN" b="1" dirty="0"/>
                  <a:t>Step 2: </a:t>
                </a:r>
                <a14:m>
                  <m:oMath xmlns:m="http://schemas.openxmlformats.org/officeDocument/2006/math">
                    <m:r>
                      <a:rPr lang="en-IN" i="1">
                        <a:latin typeface="Cambria Math" panose="02040503050406030204" pitchFamily="18" charset="0"/>
                      </a:rPr>
                      <m:t>𝑃</m:t>
                    </m:r>
                    <m:d>
                      <m:dPr>
                        <m:ctrlPr>
                          <a:rPr lang="en-IN" i="0"/>
                        </m:ctrlPr>
                      </m:dPr>
                      <m:e>
                        <m:r>
                          <m:rPr>
                            <m:nor/>
                          </m:rPr>
                          <a:rPr lang="en-IN" i="0"/>
                          <m:t>am</m:t>
                        </m:r>
                        <m:r>
                          <a:rPr lang="en-IN">
                            <a:latin typeface="Cambria Math" panose="02040503050406030204" pitchFamily="18" charset="0"/>
                          </a:rPr>
                          <m:t>∣</m:t>
                        </m:r>
                        <m:r>
                          <m:rPr>
                            <m:nor/>
                          </m:rPr>
                          <a:rPr lang="en-IN" i="0"/>
                          <m:t>I</m:t>
                        </m:r>
                      </m:e>
                    </m:d>
                  </m:oMath>
                </a14:m>
                <a:endParaRPr lang="en-IN" dirty="0"/>
              </a:p>
              <a:p>
                <a:pPr lvl="0"/>
                <a14:m>
                  <m:oMath xmlns:m="http://schemas.openxmlformats.org/officeDocument/2006/math">
                    <m:r>
                      <a:rPr lang="en-IN" i="1">
                        <a:latin typeface="Cambria Math" panose="02040503050406030204" pitchFamily="18" charset="0"/>
                      </a:rPr>
                      <m:t>𝑃</m:t>
                    </m:r>
                    <m:d>
                      <m:dPr>
                        <m:ctrlPr>
                          <a:rPr lang="en-IN" i="0"/>
                        </m:ctrlPr>
                      </m:dPr>
                      <m:e>
                        <m:r>
                          <m:rPr>
                            <m:nor/>
                          </m:rPr>
                          <a:rPr lang="en-IN" i="0"/>
                          <m:t>am</m:t>
                        </m:r>
                        <m:r>
                          <a:rPr lang="en-IN">
                            <a:latin typeface="Cambria Math" panose="02040503050406030204" pitchFamily="18" charset="0"/>
                          </a:rPr>
                          <m:t>∣</m:t>
                        </m:r>
                        <m:r>
                          <m:rPr>
                            <m:nor/>
                          </m:rPr>
                          <a:rPr lang="en-IN" i="0"/>
                          <m:t>I</m:t>
                        </m:r>
                      </m:e>
                    </m:d>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𝐶</m:t>
                        </m:r>
                        <m:d>
                          <m:dPr>
                            <m:ctrlPr>
                              <a:rPr lang="en-IN" i="0"/>
                            </m:ctrlPr>
                          </m:dPr>
                          <m:e>
                            <m:r>
                              <m:rPr>
                                <m:nor/>
                              </m:rPr>
                              <a:rPr lang="en-IN" i="0"/>
                              <m:t>I</m:t>
                            </m:r>
                            <m:r>
                              <a:rPr lang="en-IN">
                                <a:latin typeface="Cambria Math" panose="02040503050406030204" pitchFamily="18" charset="0"/>
                              </a:rPr>
                              <m:t>,</m:t>
                            </m:r>
                            <m:r>
                              <m:rPr>
                                <m:nor/>
                              </m:rPr>
                              <a:rPr lang="en-IN" i="0"/>
                              <m:t>am</m:t>
                            </m:r>
                          </m:e>
                        </m:d>
                        <m:r>
                          <a:rPr lang="en-IN">
                            <a:latin typeface="Cambria Math" panose="02040503050406030204" pitchFamily="18" charset="0"/>
                          </a:rPr>
                          <m:t>+1</m:t>
                        </m:r>
                      </m:num>
                      <m:den>
                        <m:r>
                          <a:rPr lang="en-IN" i="1">
                            <a:latin typeface="Cambria Math" panose="02040503050406030204" pitchFamily="18" charset="0"/>
                          </a:rPr>
                          <m:t>𝐶</m:t>
                        </m:r>
                        <m:d>
                          <m:dPr>
                            <m:ctrlPr>
                              <a:rPr lang="en-IN" i="0"/>
                            </m:ctrlPr>
                          </m:dPr>
                          <m:e>
                            <m:r>
                              <m:rPr>
                                <m:nor/>
                              </m:rPr>
                              <a:rPr lang="en-IN" i="0"/>
                              <m:t>I</m:t>
                            </m:r>
                          </m:e>
                        </m:d>
                        <m:r>
                          <a:rPr lang="en-IN">
                            <a:latin typeface="Cambria Math" panose="02040503050406030204" pitchFamily="18" charset="0"/>
                          </a:rPr>
                          <m:t>+10</m:t>
                        </m:r>
                      </m:den>
                    </m:f>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2+1</m:t>
                        </m:r>
                      </m:num>
                      <m:den>
                        <m:r>
                          <a:rPr lang="en-IN">
                            <a:latin typeface="Cambria Math" panose="02040503050406030204" pitchFamily="18" charset="0"/>
                          </a:rPr>
                          <m:t>3+10</m:t>
                        </m:r>
                      </m:den>
                    </m:f>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3</m:t>
                        </m:r>
                      </m:num>
                      <m:den>
                        <m:r>
                          <a:rPr lang="en-IN">
                            <a:latin typeface="Cambria Math" panose="02040503050406030204" pitchFamily="18" charset="0"/>
                          </a:rPr>
                          <m:t>13</m:t>
                        </m:r>
                      </m:den>
                    </m:f>
                    <m:r>
                      <a:rPr lang="en-IN">
                        <a:latin typeface="Cambria Math" panose="02040503050406030204" pitchFamily="18" charset="0"/>
                      </a:rPr>
                      <m:t>≈0.23077</m:t>
                    </m:r>
                  </m:oMath>
                </a14:m>
                <a:endParaRPr lang="en-IN" dirty="0"/>
              </a:p>
              <a:p>
                <a:pPr lvl="0"/>
                <a:r>
                  <a:rPr lang="en-IN" b="1" dirty="0"/>
                  <a:t>Step 3: </a:t>
                </a:r>
                <a14:m>
                  <m:oMath xmlns:m="http://schemas.openxmlformats.org/officeDocument/2006/math">
                    <m:r>
                      <a:rPr lang="en-IN" i="1">
                        <a:latin typeface="Cambria Math" panose="02040503050406030204" pitchFamily="18" charset="0"/>
                      </a:rPr>
                      <m:t>𝑃</m:t>
                    </m:r>
                    <m:d>
                      <m:dPr>
                        <m:ctrlPr>
                          <a:rPr lang="en-IN" i="0"/>
                        </m:ctrlPr>
                      </m:dPr>
                      <m:e>
                        <m:r>
                          <m:rPr>
                            <m:nor/>
                          </m:rPr>
                          <a:rPr lang="en-IN" i="0"/>
                          <m:t>Sam</m:t>
                        </m:r>
                        <m:r>
                          <a:rPr lang="en-IN">
                            <a:latin typeface="Cambria Math" panose="02040503050406030204" pitchFamily="18" charset="0"/>
                          </a:rPr>
                          <m:t>∣</m:t>
                        </m:r>
                        <m:r>
                          <m:rPr>
                            <m:nor/>
                          </m:rPr>
                          <a:rPr lang="en-IN" i="0"/>
                          <m:t>am</m:t>
                        </m:r>
                      </m:e>
                    </m:d>
                  </m:oMath>
                </a14:m>
                <a:endParaRPr lang="en-IN" dirty="0"/>
              </a:p>
              <a:p>
                <a:pPr lvl="0"/>
                <a14:m>
                  <m:oMath xmlns:m="http://schemas.openxmlformats.org/officeDocument/2006/math">
                    <m:r>
                      <a:rPr lang="en-IN" i="1">
                        <a:latin typeface="Cambria Math" panose="02040503050406030204" pitchFamily="18" charset="0"/>
                      </a:rPr>
                      <m:t>𝑃</m:t>
                    </m:r>
                    <m:d>
                      <m:dPr>
                        <m:ctrlPr>
                          <a:rPr lang="en-IN" i="0"/>
                        </m:ctrlPr>
                      </m:dPr>
                      <m:e>
                        <m:r>
                          <m:rPr>
                            <m:nor/>
                          </m:rPr>
                          <a:rPr lang="en-IN" i="0"/>
                          <m:t>Sam</m:t>
                        </m:r>
                        <m:r>
                          <a:rPr lang="en-IN">
                            <a:latin typeface="Cambria Math" panose="02040503050406030204" pitchFamily="18" charset="0"/>
                          </a:rPr>
                          <m:t>∣</m:t>
                        </m:r>
                        <m:r>
                          <m:rPr>
                            <m:nor/>
                          </m:rPr>
                          <a:rPr lang="en-IN" i="0"/>
                          <m:t>am</m:t>
                        </m:r>
                      </m:e>
                    </m:d>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𝐶</m:t>
                        </m:r>
                        <m:d>
                          <m:dPr>
                            <m:ctrlPr>
                              <a:rPr lang="en-IN" i="0"/>
                            </m:ctrlPr>
                          </m:dPr>
                          <m:e>
                            <m:r>
                              <m:rPr>
                                <m:nor/>
                              </m:rPr>
                              <a:rPr lang="en-IN" i="0"/>
                              <m:t>am</m:t>
                            </m:r>
                            <m:r>
                              <a:rPr lang="en-IN">
                                <a:latin typeface="Cambria Math" panose="02040503050406030204" pitchFamily="18" charset="0"/>
                              </a:rPr>
                              <m:t>,</m:t>
                            </m:r>
                            <m:r>
                              <m:rPr>
                                <m:nor/>
                              </m:rPr>
                              <a:rPr lang="en-IN" i="0"/>
                              <m:t>Sam</m:t>
                            </m:r>
                          </m:e>
                        </m:d>
                        <m:r>
                          <a:rPr lang="en-IN">
                            <a:latin typeface="Cambria Math" panose="02040503050406030204" pitchFamily="18" charset="0"/>
                          </a:rPr>
                          <m:t>+1</m:t>
                        </m:r>
                      </m:num>
                      <m:den>
                        <m:r>
                          <a:rPr lang="en-IN" i="1">
                            <a:latin typeface="Cambria Math" panose="02040503050406030204" pitchFamily="18" charset="0"/>
                          </a:rPr>
                          <m:t>𝐶</m:t>
                        </m:r>
                        <m:d>
                          <m:dPr>
                            <m:ctrlPr>
                              <a:rPr lang="en-IN" i="0"/>
                            </m:ctrlPr>
                          </m:dPr>
                          <m:e>
                            <m:r>
                              <m:rPr>
                                <m:nor/>
                              </m:rPr>
                              <a:rPr lang="en-IN" i="0"/>
                              <m:t>am</m:t>
                            </m:r>
                          </m:e>
                        </m:d>
                        <m:r>
                          <a:rPr lang="en-IN">
                            <a:latin typeface="Cambria Math" panose="02040503050406030204" pitchFamily="18" charset="0"/>
                          </a:rPr>
                          <m:t>+10</m:t>
                        </m:r>
                      </m:den>
                    </m:f>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1+1</m:t>
                        </m:r>
                      </m:num>
                      <m:den>
                        <m:r>
                          <a:rPr lang="en-IN">
                            <a:latin typeface="Cambria Math" panose="02040503050406030204" pitchFamily="18" charset="0"/>
                          </a:rPr>
                          <m:t>2+10</m:t>
                        </m:r>
                      </m:den>
                    </m:f>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2</m:t>
                        </m:r>
                      </m:num>
                      <m:den>
                        <m:r>
                          <a:rPr lang="en-IN">
                            <a:latin typeface="Cambria Math" panose="02040503050406030204" pitchFamily="18" charset="0"/>
                          </a:rPr>
                          <m:t>12</m:t>
                        </m:r>
                      </m:den>
                    </m:f>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1</m:t>
                        </m:r>
                      </m:num>
                      <m:den>
                        <m:r>
                          <a:rPr lang="en-IN">
                            <a:latin typeface="Cambria Math" panose="02040503050406030204" pitchFamily="18" charset="0"/>
                          </a:rPr>
                          <m:t>6</m:t>
                        </m:r>
                      </m:den>
                    </m:f>
                    <m:r>
                      <a:rPr lang="en-IN">
                        <a:latin typeface="Cambria Math" panose="02040503050406030204" pitchFamily="18" charset="0"/>
                      </a:rPr>
                      <m:t>≈0.16667</m:t>
                    </m:r>
                  </m:oMath>
                </a14:m>
                <a:endParaRPr lang="en-IN" dirty="0"/>
              </a:p>
              <a:p>
                <a:pPr lvl="0"/>
                <a:r>
                  <a:rPr lang="en-IN" b="1" dirty="0"/>
                  <a:t>Step 4: </a:t>
                </a:r>
                <a14:m>
                  <m:oMath xmlns:m="http://schemas.openxmlformats.org/officeDocument/2006/math">
                    <m:r>
                      <a:rPr lang="en-IN" i="1">
                        <a:latin typeface="Cambria Math" panose="02040503050406030204" pitchFamily="18" charset="0"/>
                      </a:rPr>
                      <m:t>𝑃</m:t>
                    </m:r>
                    <m:d>
                      <m:dPr>
                        <m:ctrlPr>
                          <a:rPr lang="en-IN" i="0"/>
                        </m:ctrlPr>
                      </m:dPr>
                      <m:e>
                        <m:r>
                          <m:rPr>
                            <m:nor/>
                          </m:rPr>
                          <a:rPr lang="en-IN" i="0"/>
                          <m:t>&lt;/s&gt;</m:t>
                        </m:r>
                        <m:r>
                          <a:rPr lang="en-IN">
                            <a:latin typeface="Cambria Math" panose="02040503050406030204" pitchFamily="18" charset="0"/>
                          </a:rPr>
                          <m:t>∣</m:t>
                        </m:r>
                        <m:r>
                          <m:rPr>
                            <m:nor/>
                          </m:rPr>
                          <a:rPr lang="en-IN" i="0"/>
                          <m:t>Sam</m:t>
                        </m:r>
                      </m:e>
                    </m:d>
                  </m:oMath>
                </a14:m>
                <a:endParaRPr lang="en-IN" dirty="0"/>
              </a:p>
              <a:p>
                <a:pPr lvl="0"/>
                <a14:m>
                  <m:oMath xmlns:m="http://schemas.openxmlformats.org/officeDocument/2006/math">
                    <m:r>
                      <a:rPr lang="en-IN" i="1">
                        <a:latin typeface="Cambria Math" panose="02040503050406030204" pitchFamily="18" charset="0"/>
                      </a:rPr>
                      <m:t>𝑃</m:t>
                    </m:r>
                    <m:d>
                      <m:dPr>
                        <m:ctrlPr>
                          <a:rPr lang="en-IN" i="0"/>
                        </m:ctrlPr>
                      </m:dPr>
                      <m:e>
                        <m:r>
                          <m:rPr>
                            <m:nor/>
                          </m:rPr>
                          <a:rPr lang="en-IN" i="0"/>
                          <m:t>&lt;/s&gt;</m:t>
                        </m:r>
                        <m:r>
                          <a:rPr lang="en-IN">
                            <a:latin typeface="Cambria Math" panose="02040503050406030204" pitchFamily="18" charset="0"/>
                          </a:rPr>
                          <m:t>∣</m:t>
                        </m:r>
                        <m:r>
                          <m:rPr>
                            <m:nor/>
                          </m:rPr>
                          <a:rPr lang="en-IN" i="0"/>
                          <m:t>Sam</m:t>
                        </m:r>
                      </m:e>
                    </m:d>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𝐶</m:t>
                        </m:r>
                        <m:d>
                          <m:dPr>
                            <m:ctrlPr>
                              <a:rPr lang="en-IN" i="0"/>
                            </m:ctrlPr>
                          </m:dPr>
                          <m:e>
                            <m:r>
                              <m:rPr>
                                <m:nor/>
                              </m:rPr>
                              <a:rPr lang="en-IN" i="0"/>
                              <m:t>Sam</m:t>
                            </m:r>
                            <m:r>
                              <a:rPr lang="en-IN">
                                <a:latin typeface="Cambria Math" panose="02040503050406030204" pitchFamily="18" charset="0"/>
                              </a:rPr>
                              <m:t>,</m:t>
                            </m:r>
                            <m:r>
                              <m:rPr>
                                <m:nor/>
                              </m:rPr>
                              <a:rPr lang="en-IN" i="0"/>
                              <m:t>&lt;/s&gt;</m:t>
                            </m:r>
                          </m:e>
                        </m:d>
                        <m:r>
                          <a:rPr lang="en-IN">
                            <a:latin typeface="Cambria Math" panose="02040503050406030204" pitchFamily="18" charset="0"/>
                          </a:rPr>
                          <m:t>+1</m:t>
                        </m:r>
                      </m:num>
                      <m:den>
                        <m:r>
                          <a:rPr lang="en-IN" i="1">
                            <a:latin typeface="Cambria Math" panose="02040503050406030204" pitchFamily="18" charset="0"/>
                          </a:rPr>
                          <m:t>𝐶</m:t>
                        </m:r>
                        <m:d>
                          <m:dPr>
                            <m:ctrlPr>
                              <a:rPr lang="en-IN" i="0"/>
                            </m:ctrlPr>
                          </m:dPr>
                          <m:e>
                            <m:r>
                              <m:rPr>
                                <m:nor/>
                              </m:rPr>
                              <a:rPr lang="en-IN" i="0"/>
                              <m:t>Sam</m:t>
                            </m:r>
                          </m:e>
                        </m:d>
                        <m:r>
                          <a:rPr lang="en-IN">
                            <a:latin typeface="Cambria Math" panose="02040503050406030204" pitchFamily="18" charset="0"/>
                          </a:rPr>
                          <m:t>+10</m:t>
                        </m:r>
                      </m:den>
                    </m:f>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1+1</m:t>
                        </m:r>
                      </m:num>
                      <m:den>
                        <m:r>
                          <a:rPr lang="en-IN">
                            <a:latin typeface="Cambria Math" panose="02040503050406030204" pitchFamily="18" charset="0"/>
                          </a:rPr>
                          <m:t>2+10</m:t>
                        </m:r>
                      </m:den>
                    </m:f>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2</m:t>
                        </m:r>
                      </m:num>
                      <m:den>
                        <m:r>
                          <a:rPr lang="en-IN">
                            <a:latin typeface="Cambria Math" panose="02040503050406030204" pitchFamily="18" charset="0"/>
                          </a:rPr>
                          <m:t>12</m:t>
                        </m:r>
                      </m:den>
                    </m:f>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1</m:t>
                        </m:r>
                      </m:num>
                      <m:den>
                        <m:r>
                          <a:rPr lang="en-IN">
                            <a:latin typeface="Cambria Math" panose="02040503050406030204" pitchFamily="18" charset="0"/>
                          </a:rPr>
                          <m:t>6</m:t>
                        </m:r>
                      </m:den>
                    </m:f>
                    <m:r>
                      <a:rPr lang="en-IN">
                        <a:latin typeface="Cambria Math" panose="02040503050406030204" pitchFamily="18" charset="0"/>
                      </a:rPr>
                      <m:t>≈0.16667</m:t>
                    </m:r>
                  </m:oMath>
                </a14:m>
                <a:endParaRPr lang="en-IN" dirty="0"/>
              </a:p>
              <a:p>
                <a:r>
                  <a:rPr lang="en-IN" b="1" dirty="0"/>
                  <a:t>5. Total Sequence Probability </a:t>
                </a:r>
                <a14:m>
                  <m:oMath xmlns:m="http://schemas.openxmlformats.org/officeDocument/2006/math">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𝑊</m:t>
                        </m:r>
                      </m:e>
                    </m:d>
                  </m:oMath>
                </a14:m>
                <a:endParaRPr lang="en-IN" dirty="0"/>
              </a:p>
              <a:p>
                <a14:m>
                  <m:oMath xmlns:m="http://schemas.openxmlformats.org/officeDocument/2006/math">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𝑊</m:t>
                        </m:r>
                      </m:e>
                    </m:d>
                    <m:r>
                      <a:rPr lang="en-IN">
                        <a:latin typeface="Cambria Math" panose="02040503050406030204" pitchFamily="18" charset="0"/>
                      </a:rPr>
                      <m:t>=</m:t>
                    </m:r>
                    <m:r>
                      <a:rPr lang="en-IN" i="1">
                        <a:latin typeface="Cambria Math" panose="02040503050406030204" pitchFamily="18" charset="0"/>
                      </a:rPr>
                      <m:t>𝑃</m:t>
                    </m:r>
                    <m:d>
                      <m:dPr>
                        <m:ctrlPr>
                          <a:rPr lang="en-IN" i="0"/>
                        </m:ctrlPr>
                      </m:dPr>
                      <m:e>
                        <m:r>
                          <m:rPr>
                            <m:nor/>
                          </m:rPr>
                          <a:rPr lang="en-IN" i="0"/>
                          <m:t>I</m:t>
                        </m:r>
                        <m:r>
                          <a:rPr lang="en-IN">
                            <a:latin typeface="Cambria Math" panose="02040503050406030204" pitchFamily="18" charset="0"/>
                          </a:rPr>
                          <m:t>∣</m:t>
                        </m:r>
                        <m:r>
                          <m:rPr>
                            <m:nor/>
                          </m:rPr>
                          <a:rPr lang="en-IN" i="0"/>
                          <m:t>&lt;s&gt;</m:t>
                        </m:r>
                      </m:e>
                    </m:d>
                    <m:r>
                      <a:rPr lang="en-IN">
                        <a:latin typeface="Cambria Math" panose="02040503050406030204" pitchFamily="18" charset="0"/>
                      </a:rPr>
                      <m:t>×</m:t>
                    </m:r>
                    <m:r>
                      <a:rPr lang="en-IN" i="1">
                        <a:latin typeface="Cambria Math" panose="02040503050406030204" pitchFamily="18" charset="0"/>
                      </a:rPr>
                      <m:t>𝑃</m:t>
                    </m:r>
                    <m:d>
                      <m:dPr>
                        <m:ctrlPr>
                          <a:rPr lang="en-IN" i="0"/>
                        </m:ctrlPr>
                      </m:dPr>
                      <m:e>
                        <m:r>
                          <m:rPr>
                            <m:nor/>
                          </m:rPr>
                          <a:rPr lang="en-IN" i="0"/>
                          <m:t>am</m:t>
                        </m:r>
                        <m:r>
                          <a:rPr lang="en-IN">
                            <a:latin typeface="Cambria Math" panose="02040503050406030204" pitchFamily="18" charset="0"/>
                          </a:rPr>
                          <m:t>∣</m:t>
                        </m:r>
                        <m:r>
                          <m:rPr>
                            <m:nor/>
                          </m:rPr>
                          <a:rPr lang="en-IN" i="0"/>
                          <m:t>I</m:t>
                        </m:r>
                      </m:e>
                    </m:d>
                    <m:r>
                      <a:rPr lang="en-IN">
                        <a:latin typeface="Cambria Math" panose="02040503050406030204" pitchFamily="18" charset="0"/>
                      </a:rPr>
                      <m:t>×</m:t>
                    </m:r>
                    <m:r>
                      <a:rPr lang="en-IN" i="1">
                        <a:latin typeface="Cambria Math" panose="02040503050406030204" pitchFamily="18" charset="0"/>
                      </a:rPr>
                      <m:t>𝑃</m:t>
                    </m:r>
                    <m:d>
                      <m:dPr>
                        <m:ctrlPr>
                          <a:rPr lang="en-IN" i="0"/>
                        </m:ctrlPr>
                      </m:dPr>
                      <m:e>
                        <m:r>
                          <m:rPr>
                            <m:nor/>
                          </m:rPr>
                          <a:rPr lang="en-IN" i="0"/>
                          <m:t>Sam</m:t>
                        </m:r>
                        <m:r>
                          <a:rPr lang="en-IN">
                            <a:latin typeface="Cambria Math" panose="02040503050406030204" pitchFamily="18" charset="0"/>
                          </a:rPr>
                          <m:t>∣</m:t>
                        </m:r>
                        <m:r>
                          <m:rPr>
                            <m:nor/>
                          </m:rPr>
                          <a:rPr lang="en-IN" i="0"/>
                          <m:t>am</m:t>
                        </m:r>
                      </m:e>
                    </m:d>
                    <m:r>
                      <a:rPr lang="en-IN">
                        <a:latin typeface="Cambria Math" panose="02040503050406030204" pitchFamily="18" charset="0"/>
                      </a:rPr>
                      <m:t>×</m:t>
                    </m:r>
                    <m:r>
                      <a:rPr lang="en-IN" i="1">
                        <a:latin typeface="Cambria Math" panose="02040503050406030204" pitchFamily="18" charset="0"/>
                      </a:rPr>
                      <m:t>𝑃</m:t>
                    </m:r>
                    <m:d>
                      <m:dPr>
                        <m:ctrlPr>
                          <a:rPr lang="en-IN" i="0"/>
                        </m:ctrlPr>
                      </m:dPr>
                      <m:e>
                        <m:r>
                          <m:rPr>
                            <m:nor/>
                          </m:rPr>
                          <a:rPr lang="en-IN" i="0"/>
                          <m:t>&lt;/s&gt;</m:t>
                        </m:r>
                        <m:r>
                          <a:rPr lang="en-IN">
                            <a:latin typeface="Cambria Math" panose="02040503050406030204" pitchFamily="18" charset="0"/>
                          </a:rPr>
                          <m:t>∣</m:t>
                        </m:r>
                        <m:r>
                          <m:rPr>
                            <m:nor/>
                          </m:rPr>
                          <a:rPr lang="en-IN" i="0"/>
                          <m:t>Sam</m:t>
                        </m:r>
                      </m:e>
                    </m:d>
                  </m:oMath>
                </a14:m>
                <a:endParaRPr lang="en-IN" dirty="0"/>
              </a:p>
              <a:p>
                <a14:m>
                  <m:oMath xmlns:m="http://schemas.openxmlformats.org/officeDocument/2006/math">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𝑊</m:t>
                        </m:r>
                      </m:e>
                    </m:d>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3</m:t>
                        </m:r>
                      </m:num>
                      <m:den>
                        <m:r>
                          <a:rPr lang="en-IN">
                            <a:latin typeface="Cambria Math" panose="02040503050406030204" pitchFamily="18" charset="0"/>
                          </a:rPr>
                          <m:t>13</m:t>
                        </m:r>
                      </m:den>
                    </m:f>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3</m:t>
                        </m:r>
                      </m:num>
                      <m:den>
                        <m:r>
                          <a:rPr lang="en-IN">
                            <a:latin typeface="Cambria Math" panose="02040503050406030204" pitchFamily="18" charset="0"/>
                          </a:rPr>
                          <m:t>13</m:t>
                        </m:r>
                      </m:den>
                    </m:f>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1</m:t>
                        </m:r>
                      </m:num>
                      <m:den>
                        <m:r>
                          <a:rPr lang="en-IN">
                            <a:latin typeface="Cambria Math" panose="02040503050406030204" pitchFamily="18" charset="0"/>
                          </a:rPr>
                          <m:t>6</m:t>
                        </m:r>
                      </m:den>
                    </m:f>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1</m:t>
                        </m:r>
                      </m:num>
                      <m:den>
                        <m:r>
                          <a:rPr lang="en-IN">
                            <a:latin typeface="Cambria Math" panose="02040503050406030204" pitchFamily="18" charset="0"/>
                          </a:rPr>
                          <m:t>6</m:t>
                        </m:r>
                      </m:den>
                    </m:f>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9</m:t>
                        </m:r>
                      </m:num>
                      <m:den>
                        <m:r>
                          <a:rPr lang="en-IN">
                            <a:latin typeface="Cambria Math" panose="02040503050406030204" pitchFamily="18" charset="0"/>
                          </a:rPr>
                          <m:t>169×36</m:t>
                        </m:r>
                      </m:den>
                    </m:f>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9</m:t>
                        </m:r>
                      </m:num>
                      <m:den>
                        <m:r>
                          <a:rPr lang="en-IN">
                            <a:latin typeface="Cambria Math" panose="02040503050406030204" pitchFamily="18" charset="0"/>
                          </a:rPr>
                          <m:t>6084</m:t>
                        </m:r>
                      </m:den>
                    </m:f>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1</m:t>
                        </m:r>
                      </m:num>
                      <m:den>
                        <m:r>
                          <a:rPr lang="en-IN">
                            <a:latin typeface="Cambria Math" panose="02040503050406030204" pitchFamily="18" charset="0"/>
                          </a:rPr>
                          <m:t>676</m:t>
                        </m:r>
                      </m:den>
                    </m:f>
                    <m:r>
                      <a:rPr lang="en-IN">
                        <a:latin typeface="Cambria Math" panose="02040503050406030204" pitchFamily="18" charset="0"/>
                      </a:rPr>
                      <m:t>≈0.00147929</m:t>
                    </m:r>
                  </m:oMath>
                </a14:m>
                <a:endParaRPr lang="en-IN" dirty="0"/>
              </a:p>
              <a:p>
                <a:endParaRPr lang="en-IN" dirty="0"/>
              </a:p>
            </p:txBody>
          </p:sp>
        </mc:Choice>
        <mc:Fallback xmlns="">
          <p:sp>
            <p:nvSpPr>
              <p:cNvPr id="3" name="Content Placeholder 2">
                <a:extLst>
                  <a:ext uri="{FF2B5EF4-FFF2-40B4-BE49-F238E27FC236}">
                    <a16:creationId xmlns:a16="http://schemas.microsoft.com/office/drawing/2014/main" id="{3A593AA9-FE75-5FE7-01F3-BAD80C9BBEFE}"/>
                  </a:ext>
                </a:extLst>
              </p:cNvPr>
              <p:cNvSpPr>
                <a:spLocks noGrp="1" noRot="1" noChangeAspect="1" noMove="1" noResize="1" noEditPoints="1" noAdjustHandles="1" noChangeArrowheads="1" noChangeShapeType="1" noTextEdit="1"/>
              </p:cNvSpPr>
              <p:nvPr>
                <p:ph idx="1"/>
              </p:nvPr>
            </p:nvSpPr>
            <p:spPr>
              <a:xfrm>
                <a:off x="628650" y="1066800"/>
                <a:ext cx="7886700" cy="5426075"/>
              </a:xfrm>
              <a:blipFill>
                <a:blip r:embed="rId2"/>
                <a:stretch>
                  <a:fillRect l="-309" t="-1461"/>
                </a:stretch>
              </a:blipFill>
            </p:spPr>
            <p:txBody>
              <a:bodyPr/>
              <a:lstStyle/>
              <a:p>
                <a:r>
                  <a:rPr lang="en-IN">
                    <a:noFill/>
                  </a:rPr>
                  <a:t> </a:t>
                </a:r>
              </a:p>
            </p:txBody>
          </p:sp>
        </mc:Fallback>
      </mc:AlternateContent>
    </p:spTree>
    <p:extLst>
      <p:ext uri="{BB962C8B-B14F-4D97-AF65-F5344CB8AC3E}">
        <p14:creationId xmlns:p14="http://schemas.microsoft.com/office/powerpoint/2010/main" val="693919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49BEB-39BE-722E-42C2-A79FEAEC8D8A}"/>
              </a:ext>
            </a:extLst>
          </p:cNvPr>
          <p:cNvSpPr>
            <a:spLocks noGrp="1"/>
          </p:cNvSpPr>
          <p:nvPr>
            <p:ph type="title"/>
          </p:nvPr>
        </p:nvSpPr>
        <p:spPr>
          <a:xfrm>
            <a:off x="628650" y="207961"/>
            <a:ext cx="7886700" cy="473075"/>
          </a:xfrm>
        </p:spPr>
        <p:txBody>
          <a:bodyPr>
            <a:normAutofit fontScale="90000"/>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6FCAE0-687C-993D-507B-3151A66B2506}"/>
                  </a:ext>
                </a:extLst>
              </p:cNvPr>
              <p:cNvSpPr>
                <a:spLocks noGrp="1"/>
              </p:cNvSpPr>
              <p:nvPr>
                <p:ph idx="1"/>
              </p:nvPr>
            </p:nvSpPr>
            <p:spPr>
              <a:xfrm>
                <a:off x="628650" y="838199"/>
                <a:ext cx="7886700" cy="5338765"/>
              </a:xfrm>
            </p:spPr>
            <p:txBody>
              <a:bodyPr>
                <a:normAutofit fontScale="85000" lnSpcReduction="10000"/>
              </a:bodyPr>
              <a:lstStyle/>
              <a:p>
                <a:r>
                  <a:rPr lang="en-IN" b="1" dirty="0"/>
                  <a:t>6. Perplexity Calculation</a:t>
                </a:r>
                <a:endParaRPr lang="en-IN" dirty="0"/>
              </a:p>
              <a:p>
                <a:r>
                  <a:rPr lang="en-IN" dirty="0"/>
                  <a:t>Using the direct formula </a:t>
                </a:r>
                <a14:m>
                  <m:oMath xmlns:m="http://schemas.openxmlformats.org/officeDocument/2006/math">
                    <m:r>
                      <a:rPr lang="en-IN" i="1">
                        <a:latin typeface="Cambria Math" panose="02040503050406030204" pitchFamily="18" charset="0"/>
                      </a:rPr>
                      <m:t>𝑃𝑃</m:t>
                    </m:r>
                    <m:d>
                      <m:dPr>
                        <m:ctrlPr>
                          <a:rPr lang="en-IN" i="1">
                            <a:latin typeface="Cambria Math" panose="02040503050406030204" pitchFamily="18" charset="0"/>
                          </a:rPr>
                        </m:ctrlPr>
                      </m:dPr>
                      <m:e>
                        <m:r>
                          <a:rPr lang="en-IN" i="1">
                            <a:latin typeface="Cambria Math" panose="02040503050406030204" pitchFamily="18" charset="0"/>
                          </a:rPr>
                          <m:t>𝑊</m:t>
                        </m:r>
                      </m:e>
                    </m:d>
                    <m:r>
                      <a:rPr lang="en-IN">
                        <a:latin typeface="Cambria Math" panose="02040503050406030204" pitchFamily="18" charset="0"/>
                      </a:rPr>
                      <m:t>=</m:t>
                    </m:r>
                    <m:r>
                      <a:rPr lang="en-IN" i="1">
                        <a:latin typeface="Cambria Math" panose="02040503050406030204" pitchFamily="18" charset="0"/>
                      </a:rPr>
                      <m:t>𝑃</m:t>
                    </m:r>
                    <m:sSup>
                      <m:sSupPr>
                        <m:ctrlPr>
                          <a:rPr lang="en-IN" i="1">
                            <a:latin typeface="Cambria Math" panose="02040503050406030204" pitchFamily="18" charset="0"/>
                          </a:rPr>
                        </m:ctrlPr>
                      </m:sSupPr>
                      <m:e>
                        <m:d>
                          <m:dPr>
                            <m:ctrlPr>
                              <a:rPr lang="en-IN" i="1">
                                <a:latin typeface="Cambria Math" panose="02040503050406030204" pitchFamily="18" charset="0"/>
                              </a:rPr>
                            </m:ctrlPr>
                          </m:dPr>
                          <m:e>
                            <m:r>
                              <a:rPr lang="en-IN" i="1">
                                <a:latin typeface="Cambria Math" panose="02040503050406030204" pitchFamily="18" charset="0"/>
                              </a:rPr>
                              <m:t>𝑊</m:t>
                            </m:r>
                          </m:e>
                        </m:d>
                      </m:e>
                      <m:sup>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1</m:t>
                            </m:r>
                          </m:num>
                          <m:den>
                            <m:r>
                              <a:rPr lang="en-IN" b="0" i="1" smtClean="0">
                                <a:latin typeface="Cambria Math" panose="02040503050406030204" pitchFamily="18" charset="0"/>
                              </a:rPr>
                              <m:t>𝑛</m:t>
                            </m:r>
                          </m:den>
                        </m:f>
                      </m:sup>
                    </m:sSup>
                  </m:oMath>
                </a14:m>
                <a:r>
                  <a:rPr lang="en-IN" dirty="0"/>
                  <a:t>where </a:t>
                </a:r>
                <a14:m>
                  <m:oMath xmlns:m="http://schemas.openxmlformats.org/officeDocument/2006/math">
                    <m:r>
                      <a:rPr lang="en-IN" b="0" i="1" smtClean="0">
                        <a:latin typeface="Cambria Math" panose="02040503050406030204" pitchFamily="18" charset="0"/>
                      </a:rPr>
                      <m:t>𝑛</m:t>
                    </m:r>
                    <m:r>
                      <a:rPr lang="en-IN">
                        <a:latin typeface="Cambria Math" panose="02040503050406030204" pitchFamily="18" charset="0"/>
                      </a:rPr>
                      <m:t>=4</m:t>
                    </m:r>
                  </m:oMath>
                </a14:m>
                <a:r>
                  <a:rPr lang="en-IN" dirty="0"/>
                  <a:t>:</a:t>
                </a:r>
              </a:p>
              <a:p>
                <a14:m>
                  <m:oMath xmlns:m="http://schemas.openxmlformats.org/officeDocument/2006/math">
                    <m:r>
                      <a:rPr lang="en-IN" i="1">
                        <a:latin typeface="Cambria Math" panose="02040503050406030204" pitchFamily="18" charset="0"/>
                      </a:rPr>
                      <m:t>𝑃𝑃</m:t>
                    </m:r>
                    <m:d>
                      <m:dPr>
                        <m:ctrlPr>
                          <a:rPr lang="en-IN" i="1">
                            <a:latin typeface="Cambria Math" panose="02040503050406030204" pitchFamily="18" charset="0"/>
                          </a:rPr>
                        </m:ctrlPr>
                      </m:dPr>
                      <m:e>
                        <m:r>
                          <a:rPr lang="en-IN" i="1">
                            <a:latin typeface="Cambria Math" panose="02040503050406030204" pitchFamily="18" charset="0"/>
                          </a:rPr>
                          <m:t>𝑊</m:t>
                        </m:r>
                      </m:e>
                    </m:d>
                    <m:r>
                      <a:rPr lang="en-IN">
                        <a:latin typeface="Cambria Math" panose="02040503050406030204" pitchFamily="18" charset="0"/>
                      </a:rPr>
                      <m:t>=</m:t>
                    </m:r>
                    <m:sSup>
                      <m:sSupPr>
                        <m:ctrlPr>
                          <a:rPr lang="en-IN" i="1">
                            <a:latin typeface="Cambria Math" panose="02040503050406030204" pitchFamily="18" charset="0"/>
                          </a:rPr>
                        </m:ctrlPr>
                      </m:sSupPr>
                      <m:e>
                        <m:d>
                          <m:dPr>
                            <m:ctrlPr>
                              <a:rPr lang="en-IN" i="1">
                                <a:latin typeface="Cambria Math" panose="02040503050406030204" pitchFamily="18" charset="0"/>
                              </a:rPr>
                            </m:ctrlPr>
                          </m:dPr>
                          <m:e>
                            <m:f>
                              <m:fPr>
                                <m:ctrlPr>
                                  <a:rPr lang="en-IN">
                                    <a:latin typeface="Cambria Math" panose="02040503050406030204" pitchFamily="18" charset="0"/>
                                  </a:rPr>
                                </m:ctrlPr>
                              </m:fPr>
                              <m:num>
                                <m:r>
                                  <a:rPr lang="en-IN">
                                    <a:latin typeface="Cambria Math" panose="02040503050406030204" pitchFamily="18" charset="0"/>
                                  </a:rPr>
                                  <m:t>1</m:t>
                                </m:r>
                              </m:num>
                              <m:den>
                                <m:r>
                                  <a:rPr lang="en-IN">
                                    <a:latin typeface="Cambria Math" panose="02040503050406030204" pitchFamily="18" charset="0"/>
                                  </a:rPr>
                                  <m:t>676</m:t>
                                </m:r>
                              </m:den>
                            </m:f>
                          </m:e>
                        </m:d>
                      </m:e>
                      <m:sup>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1</m:t>
                            </m:r>
                          </m:num>
                          <m:den>
                            <m:r>
                              <a:rPr lang="en-IN">
                                <a:latin typeface="Cambria Math" panose="02040503050406030204" pitchFamily="18" charset="0"/>
                              </a:rPr>
                              <m:t>4</m:t>
                            </m:r>
                          </m:den>
                        </m:f>
                      </m:sup>
                    </m:sSup>
                    <m:r>
                      <a:rPr lang="en-IN">
                        <a:latin typeface="Cambria Math" panose="02040503050406030204" pitchFamily="18" charset="0"/>
                      </a:rPr>
                      <m:t>=</m:t>
                    </m:r>
                    <m:sSup>
                      <m:sSupPr>
                        <m:ctrlPr>
                          <a:rPr lang="en-IN" i="1">
                            <a:latin typeface="Cambria Math" panose="02040503050406030204" pitchFamily="18" charset="0"/>
                          </a:rPr>
                        </m:ctrlPr>
                      </m:sSupPr>
                      <m:e>
                        <m:d>
                          <m:dPr>
                            <m:ctrlPr>
                              <a:rPr lang="en-IN">
                                <a:latin typeface="Cambria Math" panose="02040503050406030204" pitchFamily="18" charset="0"/>
                              </a:rPr>
                            </m:ctrlPr>
                          </m:dPr>
                          <m:e>
                            <m:r>
                              <a:rPr lang="en-IN">
                                <a:latin typeface="Cambria Math" panose="02040503050406030204" pitchFamily="18" charset="0"/>
                              </a:rPr>
                              <m:t>676</m:t>
                            </m:r>
                          </m:e>
                        </m:d>
                      </m:e>
                      <m:sup>
                        <m:f>
                          <m:fPr>
                            <m:ctrlPr>
                              <a:rPr lang="en-IN">
                                <a:latin typeface="Cambria Math" panose="02040503050406030204" pitchFamily="18" charset="0"/>
                              </a:rPr>
                            </m:ctrlPr>
                          </m:fPr>
                          <m:num>
                            <m:r>
                              <a:rPr lang="en-IN">
                                <a:latin typeface="Cambria Math" panose="02040503050406030204" pitchFamily="18" charset="0"/>
                              </a:rPr>
                              <m:t>1</m:t>
                            </m:r>
                          </m:num>
                          <m:den>
                            <m:r>
                              <a:rPr lang="en-IN">
                                <a:latin typeface="Cambria Math" panose="02040503050406030204" pitchFamily="18" charset="0"/>
                              </a:rPr>
                              <m:t>4</m:t>
                            </m:r>
                          </m:den>
                        </m:f>
                      </m:sup>
                    </m:sSup>
                    <m:r>
                      <a:rPr lang="en-IN">
                        <a:latin typeface="Cambria Math" panose="02040503050406030204" pitchFamily="18" charset="0"/>
                      </a:rPr>
                      <m:t>=</m:t>
                    </m:r>
                    <m:rad>
                      <m:radPr>
                        <m:degHide m:val="on"/>
                        <m:ctrlPr>
                          <a:rPr lang="en-IN" i="1">
                            <a:latin typeface="Cambria Math" panose="02040503050406030204" pitchFamily="18" charset="0"/>
                          </a:rPr>
                        </m:ctrlPr>
                      </m:radPr>
                      <m:deg/>
                      <m:e>
                        <m:rad>
                          <m:radPr>
                            <m:degHide m:val="on"/>
                            <m:ctrlPr>
                              <a:rPr lang="en-IN" i="1">
                                <a:latin typeface="Cambria Math" panose="02040503050406030204" pitchFamily="18" charset="0"/>
                              </a:rPr>
                            </m:ctrlPr>
                          </m:radPr>
                          <m:deg/>
                          <m:e>
                            <m:r>
                              <a:rPr lang="en-IN">
                                <a:latin typeface="Cambria Math" panose="02040503050406030204" pitchFamily="18" charset="0"/>
                              </a:rPr>
                              <m:t>676</m:t>
                            </m:r>
                          </m:e>
                        </m:rad>
                      </m:e>
                    </m:rad>
                    <m:r>
                      <a:rPr lang="en-IN">
                        <a:latin typeface="Cambria Math" panose="02040503050406030204" pitchFamily="18" charset="0"/>
                      </a:rPr>
                      <m:t>=</m:t>
                    </m:r>
                    <m:rad>
                      <m:radPr>
                        <m:degHide m:val="on"/>
                        <m:ctrlPr>
                          <a:rPr lang="en-IN" i="1">
                            <a:latin typeface="Cambria Math" panose="02040503050406030204" pitchFamily="18" charset="0"/>
                          </a:rPr>
                        </m:ctrlPr>
                      </m:radPr>
                      <m:deg/>
                      <m:e>
                        <m:r>
                          <a:rPr lang="en-IN">
                            <a:latin typeface="Cambria Math" panose="02040503050406030204" pitchFamily="18" charset="0"/>
                          </a:rPr>
                          <m:t>26</m:t>
                        </m:r>
                      </m:e>
                    </m:rad>
                    <m:r>
                      <a:rPr lang="en-IN">
                        <a:latin typeface="Cambria Math" panose="02040503050406030204" pitchFamily="18" charset="0"/>
                      </a:rPr>
                      <m:t>≈5.099</m:t>
                    </m:r>
                  </m:oMath>
                </a14:m>
                <a:endParaRPr lang="en-IN" dirty="0"/>
              </a:p>
              <a:p>
                <a:r>
                  <a:rPr lang="en-IN" b="1" dirty="0"/>
                  <a:t>7. Alternative Calculation via Log Cross-Entropy (Base 2)</a:t>
                </a:r>
                <a:endParaRPr lang="en-IN" dirty="0"/>
              </a:p>
              <a:p>
                <a:pPr lvl="0"/>
                <a14:m>
                  <m:oMath xmlns:m="http://schemas.openxmlformats.org/officeDocument/2006/math">
                    <m:func>
                      <m:funcPr>
                        <m:ctrlPr>
                          <a:rPr lang="en-IN" i="1">
                            <a:latin typeface="Cambria Math" panose="02040503050406030204" pitchFamily="18" charset="0"/>
                          </a:rPr>
                        </m:ctrlPr>
                      </m:funcPr>
                      <m:fName>
                        <m:sSub>
                          <m:sSubPr>
                            <m:ctrlPr>
                              <a:rPr lang="en-IN">
                                <a:latin typeface="Cambria Math" panose="02040503050406030204" pitchFamily="18" charset="0"/>
                              </a:rPr>
                            </m:ctrlPr>
                          </m:sSubPr>
                          <m:e>
                            <m:r>
                              <m:rPr>
                                <m:sty m:val="p"/>
                              </m:rPr>
                              <a:rPr lang="en-IN">
                                <a:latin typeface="Cambria Math" panose="02040503050406030204" pitchFamily="18" charset="0"/>
                              </a:rPr>
                              <m:t>log</m:t>
                            </m:r>
                          </m:e>
                          <m:sub>
                            <m:r>
                              <a:rPr lang="en-IN">
                                <a:latin typeface="Cambria Math" panose="02040503050406030204" pitchFamily="18" charset="0"/>
                              </a:rPr>
                              <m:t>2</m:t>
                            </m:r>
                          </m:sub>
                        </m:sSub>
                      </m:fName>
                      <m:e>
                        <m:r>
                          <a:rPr lang="en-IN" i="1">
                            <a:latin typeface="Cambria Math" panose="02040503050406030204" pitchFamily="18" charset="0"/>
                          </a:rPr>
                          <m:t>𝑃</m:t>
                        </m:r>
                      </m:e>
                    </m:func>
                    <m:d>
                      <m:dPr>
                        <m:ctrlPr>
                          <a:rPr lang="en-IN" i="0"/>
                        </m:ctrlPr>
                      </m:dPr>
                      <m:e>
                        <m:r>
                          <m:rPr>
                            <m:nor/>
                          </m:rPr>
                          <a:rPr lang="en-IN" i="0"/>
                          <m:t>I</m:t>
                        </m:r>
                        <m:r>
                          <a:rPr lang="en-IN">
                            <a:latin typeface="Cambria Math" panose="02040503050406030204" pitchFamily="18" charset="0"/>
                          </a:rPr>
                          <m:t>∣</m:t>
                        </m:r>
                        <m:r>
                          <m:rPr>
                            <m:nor/>
                          </m:rPr>
                          <a:rPr lang="en-IN" i="0"/>
                          <m:t>&lt;s&gt;</m:t>
                        </m:r>
                      </m:e>
                    </m:d>
                    <m:r>
                      <a:rPr lang="en-IN">
                        <a:latin typeface="Cambria Math" panose="02040503050406030204" pitchFamily="18" charset="0"/>
                      </a:rPr>
                      <m:t>=</m:t>
                    </m:r>
                    <m:func>
                      <m:funcPr>
                        <m:ctrlPr>
                          <a:rPr lang="en-IN" i="1">
                            <a:latin typeface="Cambria Math" panose="02040503050406030204" pitchFamily="18" charset="0"/>
                          </a:rPr>
                        </m:ctrlPr>
                      </m:funcPr>
                      <m:fName>
                        <m:sSub>
                          <m:sSubPr>
                            <m:ctrlPr>
                              <a:rPr lang="en-IN">
                                <a:latin typeface="Cambria Math" panose="02040503050406030204" pitchFamily="18" charset="0"/>
                              </a:rPr>
                            </m:ctrlPr>
                          </m:sSubPr>
                          <m:e>
                            <m:r>
                              <m:rPr>
                                <m:sty m:val="p"/>
                              </m:rPr>
                              <a:rPr lang="en-IN">
                                <a:latin typeface="Cambria Math" panose="02040503050406030204" pitchFamily="18" charset="0"/>
                              </a:rPr>
                              <m:t>log</m:t>
                            </m:r>
                          </m:e>
                          <m:sub>
                            <m:r>
                              <a:rPr lang="en-IN">
                                <a:latin typeface="Cambria Math" panose="02040503050406030204" pitchFamily="18" charset="0"/>
                              </a:rPr>
                              <m:t>2</m:t>
                            </m:r>
                          </m:sub>
                        </m:sSub>
                      </m:fName>
                      <m:e>
                        <m:d>
                          <m:dPr>
                            <m:ctrlPr>
                              <a:rPr lang="en-IN">
                                <a:latin typeface="Cambria Math" panose="02040503050406030204" pitchFamily="18" charset="0"/>
                              </a:rPr>
                            </m:ctrlPr>
                          </m:dPr>
                          <m:e>
                            <m:r>
                              <a:rPr lang="en-IN">
                                <a:latin typeface="Cambria Math" panose="02040503050406030204" pitchFamily="18" charset="0"/>
                              </a:rPr>
                              <m:t>3/13</m:t>
                            </m:r>
                          </m:e>
                        </m:d>
                      </m:e>
                    </m:func>
                    <m:r>
                      <a:rPr lang="en-IN">
                        <a:latin typeface="Cambria Math" panose="02040503050406030204" pitchFamily="18" charset="0"/>
                      </a:rPr>
                      <m:t>≈−2.11547</m:t>
                    </m:r>
                  </m:oMath>
                </a14:m>
                <a:endParaRPr lang="en-IN" dirty="0"/>
              </a:p>
              <a:p>
                <a:pPr lvl="0"/>
                <a14:m>
                  <m:oMath xmlns:m="http://schemas.openxmlformats.org/officeDocument/2006/math">
                    <m:func>
                      <m:funcPr>
                        <m:ctrlPr>
                          <a:rPr lang="en-IN" i="1">
                            <a:latin typeface="Cambria Math" panose="02040503050406030204" pitchFamily="18" charset="0"/>
                          </a:rPr>
                        </m:ctrlPr>
                      </m:funcPr>
                      <m:fName>
                        <m:sSub>
                          <m:sSubPr>
                            <m:ctrlPr>
                              <a:rPr lang="en-IN">
                                <a:latin typeface="Cambria Math" panose="02040503050406030204" pitchFamily="18" charset="0"/>
                              </a:rPr>
                            </m:ctrlPr>
                          </m:sSubPr>
                          <m:e>
                            <m:r>
                              <m:rPr>
                                <m:sty m:val="p"/>
                              </m:rPr>
                              <a:rPr lang="en-IN">
                                <a:latin typeface="Cambria Math" panose="02040503050406030204" pitchFamily="18" charset="0"/>
                              </a:rPr>
                              <m:t>log</m:t>
                            </m:r>
                          </m:e>
                          <m:sub>
                            <m:r>
                              <a:rPr lang="en-IN">
                                <a:latin typeface="Cambria Math" panose="02040503050406030204" pitchFamily="18" charset="0"/>
                              </a:rPr>
                              <m:t>2</m:t>
                            </m:r>
                          </m:sub>
                        </m:sSub>
                      </m:fName>
                      <m:e>
                        <m:r>
                          <a:rPr lang="en-IN" i="1">
                            <a:latin typeface="Cambria Math" panose="02040503050406030204" pitchFamily="18" charset="0"/>
                          </a:rPr>
                          <m:t>𝑃</m:t>
                        </m:r>
                      </m:e>
                    </m:func>
                    <m:d>
                      <m:dPr>
                        <m:ctrlPr>
                          <a:rPr lang="en-IN" i="0"/>
                        </m:ctrlPr>
                      </m:dPr>
                      <m:e>
                        <m:r>
                          <m:rPr>
                            <m:nor/>
                          </m:rPr>
                          <a:rPr lang="en-IN" i="0"/>
                          <m:t>am</m:t>
                        </m:r>
                        <m:r>
                          <a:rPr lang="en-IN">
                            <a:latin typeface="Cambria Math" panose="02040503050406030204" pitchFamily="18" charset="0"/>
                          </a:rPr>
                          <m:t>∣</m:t>
                        </m:r>
                        <m:r>
                          <m:rPr>
                            <m:nor/>
                          </m:rPr>
                          <a:rPr lang="en-IN" i="0"/>
                          <m:t>I</m:t>
                        </m:r>
                      </m:e>
                    </m:d>
                    <m:r>
                      <a:rPr lang="en-IN">
                        <a:latin typeface="Cambria Math" panose="02040503050406030204" pitchFamily="18" charset="0"/>
                      </a:rPr>
                      <m:t>=</m:t>
                    </m:r>
                    <m:func>
                      <m:funcPr>
                        <m:ctrlPr>
                          <a:rPr lang="en-IN" i="1">
                            <a:latin typeface="Cambria Math" panose="02040503050406030204" pitchFamily="18" charset="0"/>
                          </a:rPr>
                        </m:ctrlPr>
                      </m:funcPr>
                      <m:fName>
                        <m:sSub>
                          <m:sSubPr>
                            <m:ctrlPr>
                              <a:rPr lang="en-IN">
                                <a:latin typeface="Cambria Math" panose="02040503050406030204" pitchFamily="18" charset="0"/>
                              </a:rPr>
                            </m:ctrlPr>
                          </m:sSubPr>
                          <m:e>
                            <m:r>
                              <m:rPr>
                                <m:sty m:val="p"/>
                              </m:rPr>
                              <a:rPr lang="en-IN">
                                <a:latin typeface="Cambria Math" panose="02040503050406030204" pitchFamily="18" charset="0"/>
                              </a:rPr>
                              <m:t>log</m:t>
                            </m:r>
                          </m:e>
                          <m:sub>
                            <m:r>
                              <a:rPr lang="en-IN">
                                <a:latin typeface="Cambria Math" panose="02040503050406030204" pitchFamily="18" charset="0"/>
                              </a:rPr>
                              <m:t>2</m:t>
                            </m:r>
                          </m:sub>
                        </m:sSub>
                      </m:fName>
                      <m:e>
                        <m:d>
                          <m:dPr>
                            <m:ctrlPr>
                              <a:rPr lang="en-IN">
                                <a:latin typeface="Cambria Math" panose="02040503050406030204" pitchFamily="18" charset="0"/>
                              </a:rPr>
                            </m:ctrlPr>
                          </m:dPr>
                          <m:e>
                            <m:r>
                              <a:rPr lang="en-IN">
                                <a:latin typeface="Cambria Math" panose="02040503050406030204" pitchFamily="18" charset="0"/>
                              </a:rPr>
                              <m:t>3/13</m:t>
                            </m:r>
                          </m:e>
                        </m:d>
                      </m:e>
                    </m:func>
                    <m:r>
                      <a:rPr lang="en-IN">
                        <a:latin typeface="Cambria Math" panose="02040503050406030204" pitchFamily="18" charset="0"/>
                      </a:rPr>
                      <m:t>≈−2.11547</m:t>
                    </m:r>
                  </m:oMath>
                </a14:m>
                <a:endParaRPr lang="en-IN" dirty="0"/>
              </a:p>
              <a:p>
                <a:pPr lvl="0"/>
                <a14:m>
                  <m:oMath xmlns:m="http://schemas.openxmlformats.org/officeDocument/2006/math">
                    <m:func>
                      <m:funcPr>
                        <m:ctrlPr>
                          <a:rPr lang="en-IN" i="1">
                            <a:latin typeface="Cambria Math" panose="02040503050406030204" pitchFamily="18" charset="0"/>
                          </a:rPr>
                        </m:ctrlPr>
                      </m:funcPr>
                      <m:fName>
                        <m:sSub>
                          <m:sSubPr>
                            <m:ctrlPr>
                              <a:rPr lang="en-IN">
                                <a:latin typeface="Cambria Math" panose="02040503050406030204" pitchFamily="18" charset="0"/>
                              </a:rPr>
                            </m:ctrlPr>
                          </m:sSubPr>
                          <m:e>
                            <m:r>
                              <m:rPr>
                                <m:sty m:val="p"/>
                              </m:rPr>
                              <a:rPr lang="en-IN">
                                <a:latin typeface="Cambria Math" panose="02040503050406030204" pitchFamily="18" charset="0"/>
                              </a:rPr>
                              <m:t>log</m:t>
                            </m:r>
                          </m:e>
                          <m:sub>
                            <m:r>
                              <a:rPr lang="en-IN">
                                <a:latin typeface="Cambria Math" panose="02040503050406030204" pitchFamily="18" charset="0"/>
                              </a:rPr>
                              <m:t>2</m:t>
                            </m:r>
                          </m:sub>
                        </m:sSub>
                      </m:fName>
                      <m:e>
                        <m:r>
                          <a:rPr lang="en-IN" i="1">
                            <a:latin typeface="Cambria Math" panose="02040503050406030204" pitchFamily="18" charset="0"/>
                          </a:rPr>
                          <m:t>𝑃</m:t>
                        </m:r>
                      </m:e>
                    </m:func>
                    <m:d>
                      <m:dPr>
                        <m:ctrlPr>
                          <a:rPr lang="en-IN" i="0"/>
                        </m:ctrlPr>
                      </m:dPr>
                      <m:e>
                        <m:r>
                          <m:rPr>
                            <m:nor/>
                          </m:rPr>
                          <a:rPr lang="en-IN" i="0"/>
                          <m:t>Sam</m:t>
                        </m:r>
                        <m:r>
                          <a:rPr lang="en-IN">
                            <a:latin typeface="Cambria Math" panose="02040503050406030204" pitchFamily="18" charset="0"/>
                          </a:rPr>
                          <m:t>∣</m:t>
                        </m:r>
                        <m:r>
                          <m:rPr>
                            <m:nor/>
                          </m:rPr>
                          <a:rPr lang="en-IN" i="0"/>
                          <m:t>am</m:t>
                        </m:r>
                      </m:e>
                    </m:d>
                    <m:r>
                      <a:rPr lang="en-IN">
                        <a:latin typeface="Cambria Math" panose="02040503050406030204" pitchFamily="18" charset="0"/>
                      </a:rPr>
                      <m:t>=</m:t>
                    </m:r>
                    <m:func>
                      <m:funcPr>
                        <m:ctrlPr>
                          <a:rPr lang="en-IN" i="1">
                            <a:latin typeface="Cambria Math" panose="02040503050406030204" pitchFamily="18" charset="0"/>
                          </a:rPr>
                        </m:ctrlPr>
                      </m:funcPr>
                      <m:fName>
                        <m:sSub>
                          <m:sSubPr>
                            <m:ctrlPr>
                              <a:rPr lang="en-IN">
                                <a:latin typeface="Cambria Math" panose="02040503050406030204" pitchFamily="18" charset="0"/>
                              </a:rPr>
                            </m:ctrlPr>
                          </m:sSubPr>
                          <m:e>
                            <m:r>
                              <m:rPr>
                                <m:sty m:val="p"/>
                              </m:rPr>
                              <a:rPr lang="en-IN">
                                <a:latin typeface="Cambria Math" panose="02040503050406030204" pitchFamily="18" charset="0"/>
                              </a:rPr>
                              <m:t>log</m:t>
                            </m:r>
                          </m:e>
                          <m:sub>
                            <m:r>
                              <a:rPr lang="en-IN">
                                <a:latin typeface="Cambria Math" panose="02040503050406030204" pitchFamily="18" charset="0"/>
                              </a:rPr>
                              <m:t>2</m:t>
                            </m:r>
                          </m:sub>
                        </m:sSub>
                      </m:fName>
                      <m:e>
                        <m:d>
                          <m:dPr>
                            <m:ctrlPr>
                              <a:rPr lang="en-IN">
                                <a:latin typeface="Cambria Math" panose="02040503050406030204" pitchFamily="18" charset="0"/>
                              </a:rPr>
                            </m:ctrlPr>
                          </m:dPr>
                          <m:e>
                            <m:r>
                              <a:rPr lang="en-IN">
                                <a:latin typeface="Cambria Math" panose="02040503050406030204" pitchFamily="18" charset="0"/>
                              </a:rPr>
                              <m:t>1/6</m:t>
                            </m:r>
                          </m:e>
                        </m:d>
                      </m:e>
                    </m:func>
                    <m:r>
                      <a:rPr lang="en-IN">
                        <a:latin typeface="Cambria Math" panose="02040503050406030204" pitchFamily="18" charset="0"/>
                      </a:rPr>
                      <m:t>≈−2.58496</m:t>
                    </m:r>
                  </m:oMath>
                </a14:m>
                <a:endParaRPr lang="en-IN" dirty="0"/>
              </a:p>
              <a:p>
                <a:pPr lvl="0"/>
                <a14:m>
                  <m:oMath xmlns:m="http://schemas.openxmlformats.org/officeDocument/2006/math">
                    <m:func>
                      <m:funcPr>
                        <m:ctrlPr>
                          <a:rPr lang="en-IN" i="1">
                            <a:latin typeface="Cambria Math" panose="02040503050406030204" pitchFamily="18" charset="0"/>
                          </a:rPr>
                        </m:ctrlPr>
                      </m:funcPr>
                      <m:fName>
                        <m:sSub>
                          <m:sSubPr>
                            <m:ctrlPr>
                              <a:rPr lang="en-IN">
                                <a:latin typeface="Cambria Math" panose="02040503050406030204" pitchFamily="18" charset="0"/>
                              </a:rPr>
                            </m:ctrlPr>
                          </m:sSubPr>
                          <m:e>
                            <m:r>
                              <m:rPr>
                                <m:sty m:val="p"/>
                              </m:rPr>
                              <a:rPr lang="en-IN">
                                <a:latin typeface="Cambria Math" panose="02040503050406030204" pitchFamily="18" charset="0"/>
                              </a:rPr>
                              <m:t>log</m:t>
                            </m:r>
                          </m:e>
                          <m:sub>
                            <m:r>
                              <a:rPr lang="en-IN">
                                <a:latin typeface="Cambria Math" panose="02040503050406030204" pitchFamily="18" charset="0"/>
                              </a:rPr>
                              <m:t>2</m:t>
                            </m:r>
                          </m:sub>
                        </m:sSub>
                      </m:fName>
                      <m:e>
                        <m:r>
                          <a:rPr lang="en-IN" i="1">
                            <a:latin typeface="Cambria Math" panose="02040503050406030204" pitchFamily="18" charset="0"/>
                          </a:rPr>
                          <m:t>𝑃</m:t>
                        </m:r>
                      </m:e>
                    </m:func>
                    <m:d>
                      <m:dPr>
                        <m:ctrlPr>
                          <a:rPr lang="en-IN" i="0"/>
                        </m:ctrlPr>
                      </m:dPr>
                      <m:e>
                        <m:r>
                          <m:rPr>
                            <m:nor/>
                          </m:rPr>
                          <a:rPr lang="en-IN" i="0"/>
                          <m:t>&lt;/s&gt;</m:t>
                        </m:r>
                        <m:r>
                          <a:rPr lang="en-IN">
                            <a:latin typeface="Cambria Math" panose="02040503050406030204" pitchFamily="18" charset="0"/>
                          </a:rPr>
                          <m:t>∣</m:t>
                        </m:r>
                        <m:r>
                          <m:rPr>
                            <m:nor/>
                          </m:rPr>
                          <a:rPr lang="en-IN" i="0"/>
                          <m:t>Sam</m:t>
                        </m:r>
                      </m:e>
                    </m:d>
                    <m:r>
                      <a:rPr lang="en-IN">
                        <a:latin typeface="Cambria Math" panose="02040503050406030204" pitchFamily="18" charset="0"/>
                      </a:rPr>
                      <m:t>=</m:t>
                    </m:r>
                    <m:func>
                      <m:funcPr>
                        <m:ctrlPr>
                          <a:rPr lang="en-IN" i="1">
                            <a:latin typeface="Cambria Math" panose="02040503050406030204" pitchFamily="18" charset="0"/>
                          </a:rPr>
                        </m:ctrlPr>
                      </m:funcPr>
                      <m:fName>
                        <m:sSub>
                          <m:sSubPr>
                            <m:ctrlPr>
                              <a:rPr lang="en-IN">
                                <a:latin typeface="Cambria Math" panose="02040503050406030204" pitchFamily="18" charset="0"/>
                              </a:rPr>
                            </m:ctrlPr>
                          </m:sSubPr>
                          <m:e>
                            <m:r>
                              <m:rPr>
                                <m:sty m:val="p"/>
                              </m:rPr>
                              <a:rPr lang="en-IN">
                                <a:latin typeface="Cambria Math" panose="02040503050406030204" pitchFamily="18" charset="0"/>
                              </a:rPr>
                              <m:t>log</m:t>
                            </m:r>
                          </m:e>
                          <m:sub>
                            <m:r>
                              <a:rPr lang="en-IN">
                                <a:latin typeface="Cambria Math" panose="02040503050406030204" pitchFamily="18" charset="0"/>
                              </a:rPr>
                              <m:t>2</m:t>
                            </m:r>
                          </m:sub>
                        </m:sSub>
                      </m:fName>
                      <m:e>
                        <m:d>
                          <m:dPr>
                            <m:ctrlPr>
                              <a:rPr lang="en-IN">
                                <a:latin typeface="Cambria Math" panose="02040503050406030204" pitchFamily="18" charset="0"/>
                              </a:rPr>
                            </m:ctrlPr>
                          </m:dPr>
                          <m:e>
                            <m:r>
                              <a:rPr lang="en-IN">
                                <a:latin typeface="Cambria Math" panose="02040503050406030204" pitchFamily="18" charset="0"/>
                              </a:rPr>
                              <m:t>1/6</m:t>
                            </m:r>
                          </m:e>
                        </m:d>
                      </m:e>
                    </m:func>
                    <m:r>
                      <a:rPr lang="en-IN">
                        <a:latin typeface="Cambria Math" panose="02040503050406030204" pitchFamily="18" charset="0"/>
                      </a:rPr>
                      <m:t>≈−2.58496</m:t>
                    </m:r>
                  </m:oMath>
                </a14:m>
                <a:endParaRPr lang="en-IN" dirty="0"/>
              </a:p>
              <a:p>
                <a:r>
                  <a:rPr lang="en-IN" b="1" dirty="0"/>
                  <a:t>Cross-Entropy </a:t>
                </a:r>
                <a14:m>
                  <m:oMath xmlns:m="http://schemas.openxmlformats.org/officeDocument/2006/math">
                    <m:r>
                      <a:rPr lang="en-IN" i="1">
                        <a:latin typeface="Cambria Math" panose="02040503050406030204" pitchFamily="18" charset="0"/>
                      </a:rPr>
                      <m:t>𝐻</m:t>
                    </m:r>
                    <m:d>
                      <m:dPr>
                        <m:ctrlPr>
                          <a:rPr lang="en-IN" i="1">
                            <a:latin typeface="Cambria Math" panose="02040503050406030204" pitchFamily="18" charset="0"/>
                          </a:rPr>
                        </m:ctrlPr>
                      </m:dPr>
                      <m:e>
                        <m:r>
                          <a:rPr lang="en-IN" i="1">
                            <a:latin typeface="Cambria Math" panose="02040503050406030204" pitchFamily="18" charset="0"/>
                          </a:rPr>
                          <m:t>𝑊</m:t>
                        </m:r>
                      </m:e>
                    </m:d>
                  </m:oMath>
                </a14:m>
                <a:r>
                  <a:rPr lang="en-IN" b="1" dirty="0"/>
                  <a:t>:</a:t>
                </a:r>
                <a:endParaRPr lang="en-IN" dirty="0"/>
              </a:p>
              <a:p>
                <a14:m>
                  <m:oMath xmlns:m="http://schemas.openxmlformats.org/officeDocument/2006/math">
                    <m:r>
                      <a:rPr lang="en-IN" i="1">
                        <a:latin typeface="Cambria Math" panose="02040503050406030204" pitchFamily="18" charset="0"/>
                      </a:rPr>
                      <m:t>𝐻</m:t>
                    </m:r>
                    <m:d>
                      <m:dPr>
                        <m:ctrlPr>
                          <a:rPr lang="en-IN" i="1">
                            <a:latin typeface="Cambria Math" panose="02040503050406030204" pitchFamily="18" charset="0"/>
                          </a:rPr>
                        </m:ctrlPr>
                      </m:dPr>
                      <m:e>
                        <m:r>
                          <a:rPr lang="en-IN" i="1">
                            <a:latin typeface="Cambria Math" panose="02040503050406030204" pitchFamily="18" charset="0"/>
                          </a:rPr>
                          <m:t>𝑊</m:t>
                        </m:r>
                      </m:e>
                    </m:d>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1</m:t>
                        </m:r>
                      </m:num>
                      <m:den>
                        <m:r>
                          <a:rPr lang="en-IN">
                            <a:latin typeface="Cambria Math" panose="02040503050406030204" pitchFamily="18" charset="0"/>
                          </a:rPr>
                          <m:t>4</m:t>
                        </m:r>
                      </m:den>
                    </m:f>
                    <m:d>
                      <m:dPr>
                        <m:ctrlPr>
                          <a:rPr lang="en-IN" i="1">
                            <a:latin typeface="Cambria Math" panose="02040503050406030204" pitchFamily="18" charset="0"/>
                          </a:rPr>
                        </m:ctrlPr>
                      </m:dPr>
                      <m:e>
                        <m:d>
                          <m:dPr>
                            <m:ctrlPr>
                              <a:rPr lang="en-IN">
                                <a:latin typeface="Cambria Math" panose="02040503050406030204" pitchFamily="18" charset="0"/>
                              </a:rPr>
                            </m:ctrlPr>
                          </m:dPr>
                          <m:e>
                            <m:r>
                              <a:rPr lang="en-IN">
                                <a:latin typeface="Cambria Math" panose="02040503050406030204" pitchFamily="18" charset="0"/>
                              </a:rPr>
                              <m:t>−2.11547</m:t>
                            </m:r>
                          </m:e>
                        </m:d>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−2.11547</m:t>
                            </m:r>
                          </m:e>
                        </m:d>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−2.58496</m:t>
                            </m:r>
                          </m:e>
                        </m:d>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−2.58496</m:t>
                            </m:r>
                          </m:e>
                        </m:d>
                      </m:e>
                    </m:d>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1</m:t>
                        </m:r>
                      </m:num>
                      <m:den>
                        <m:r>
                          <a:rPr lang="en-IN">
                            <a:latin typeface="Cambria Math" panose="02040503050406030204" pitchFamily="18" charset="0"/>
                          </a:rPr>
                          <m:t>4</m:t>
                        </m:r>
                      </m:den>
                    </m:f>
                    <m:d>
                      <m:dPr>
                        <m:ctrlPr>
                          <a:rPr lang="en-IN">
                            <a:latin typeface="Cambria Math" panose="02040503050406030204" pitchFamily="18" charset="0"/>
                          </a:rPr>
                        </m:ctrlPr>
                      </m:dPr>
                      <m:e>
                        <m:r>
                          <a:rPr lang="en-IN">
                            <a:latin typeface="Cambria Math" panose="02040503050406030204" pitchFamily="18" charset="0"/>
                          </a:rPr>
                          <m:t>−9.40086</m:t>
                        </m:r>
                      </m:e>
                    </m:d>
                    <m:r>
                      <a:rPr lang="en-IN">
                        <a:latin typeface="Cambria Math" panose="02040503050406030204" pitchFamily="18" charset="0"/>
                      </a:rPr>
                      <m:t>≈2.35022</m:t>
                    </m:r>
                    <m:r>
                      <m:rPr>
                        <m:nor/>
                      </m:rPr>
                      <a:rPr lang="en-IN" i="0"/>
                      <m:t> bits/word</m:t>
                    </m:r>
                  </m:oMath>
                </a14:m>
                <a:endParaRPr lang="en-IN" dirty="0"/>
              </a:p>
              <a:p>
                <a:r>
                  <a:rPr lang="en-IN" b="1" dirty="0"/>
                  <a:t>Perplexity:</a:t>
                </a:r>
                <a:endParaRPr lang="en-IN" dirty="0"/>
              </a:p>
              <a:p>
                <a14:m>
                  <m:oMath xmlns:m="http://schemas.openxmlformats.org/officeDocument/2006/math">
                    <m:r>
                      <a:rPr lang="en-IN" i="1">
                        <a:latin typeface="Cambria Math" panose="02040503050406030204" pitchFamily="18" charset="0"/>
                      </a:rPr>
                      <m:t>𝑃𝑃</m:t>
                    </m:r>
                    <m:d>
                      <m:dPr>
                        <m:ctrlPr>
                          <a:rPr lang="en-IN" i="1">
                            <a:latin typeface="Cambria Math" panose="02040503050406030204" pitchFamily="18" charset="0"/>
                          </a:rPr>
                        </m:ctrlPr>
                      </m:dPr>
                      <m:e>
                        <m:r>
                          <a:rPr lang="en-IN" i="1">
                            <a:latin typeface="Cambria Math" panose="02040503050406030204" pitchFamily="18" charset="0"/>
                          </a:rPr>
                          <m:t>𝑊</m:t>
                        </m:r>
                      </m:e>
                    </m:d>
                    <m:r>
                      <a:rPr lang="en-IN">
                        <a:latin typeface="Cambria Math" panose="02040503050406030204" pitchFamily="18" charset="0"/>
                      </a:rPr>
                      <m:t>=</m:t>
                    </m:r>
                    <m:sSup>
                      <m:sSupPr>
                        <m:ctrlPr>
                          <a:rPr lang="en-IN">
                            <a:latin typeface="Cambria Math" panose="02040503050406030204" pitchFamily="18" charset="0"/>
                          </a:rPr>
                        </m:ctrlPr>
                      </m:sSupPr>
                      <m:e>
                        <m:r>
                          <a:rPr lang="en-IN">
                            <a:latin typeface="Cambria Math" panose="02040503050406030204" pitchFamily="18" charset="0"/>
                          </a:rPr>
                          <m:t>2</m:t>
                        </m:r>
                      </m:e>
                      <m:sup>
                        <m:r>
                          <a:rPr lang="en-IN" i="1">
                            <a:latin typeface="Cambria Math" panose="02040503050406030204" pitchFamily="18" charset="0"/>
                          </a:rPr>
                          <m:t>𝐻</m:t>
                        </m:r>
                        <m:d>
                          <m:dPr>
                            <m:ctrlPr>
                              <a:rPr lang="en-IN" i="1">
                                <a:latin typeface="Cambria Math" panose="02040503050406030204" pitchFamily="18" charset="0"/>
                              </a:rPr>
                            </m:ctrlPr>
                          </m:dPr>
                          <m:e>
                            <m:r>
                              <a:rPr lang="en-IN" i="1">
                                <a:latin typeface="Cambria Math" panose="02040503050406030204" pitchFamily="18" charset="0"/>
                              </a:rPr>
                              <m:t>𝑊</m:t>
                            </m:r>
                          </m:e>
                        </m:d>
                      </m:sup>
                    </m:sSup>
                    <m:r>
                      <a:rPr lang="en-IN">
                        <a:latin typeface="Cambria Math" panose="02040503050406030204" pitchFamily="18" charset="0"/>
                      </a:rPr>
                      <m:t>=</m:t>
                    </m:r>
                    <m:sSup>
                      <m:sSupPr>
                        <m:ctrlPr>
                          <a:rPr lang="en-IN">
                            <a:latin typeface="Cambria Math" panose="02040503050406030204" pitchFamily="18" charset="0"/>
                          </a:rPr>
                        </m:ctrlPr>
                      </m:sSupPr>
                      <m:e>
                        <m:r>
                          <a:rPr lang="en-IN">
                            <a:latin typeface="Cambria Math" panose="02040503050406030204" pitchFamily="18" charset="0"/>
                          </a:rPr>
                          <m:t>2</m:t>
                        </m:r>
                      </m:e>
                      <m:sup>
                        <m:r>
                          <a:rPr lang="en-IN">
                            <a:latin typeface="Cambria Math" panose="02040503050406030204" pitchFamily="18" charset="0"/>
                          </a:rPr>
                          <m:t>2.35022</m:t>
                        </m:r>
                      </m:sup>
                    </m:sSup>
                    <m:r>
                      <a:rPr lang="en-IN">
                        <a:latin typeface="Cambria Math" panose="02040503050406030204" pitchFamily="18" charset="0"/>
                      </a:rPr>
                      <m:t>≈5.099</m:t>
                    </m:r>
                  </m:oMath>
                </a14:m>
                <a:endParaRPr lang="en-IN" dirty="0"/>
              </a:p>
              <a:p>
                <a:r>
                  <a:rPr lang="en-IN" dirty="0"/>
                  <a:t>The model exhibits an effective branching factor of </a:t>
                </a:r>
                <a:r>
                  <a:rPr lang="en-IN" b="1" dirty="0"/>
                  <a:t>~5.10</a:t>
                </a:r>
                <a:r>
                  <a:rPr lang="en-IN" dirty="0"/>
                  <a:t> on this test sequence.</a:t>
                </a:r>
              </a:p>
              <a:p>
                <a:endParaRPr lang="en-IN" dirty="0"/>
              </a:p>
            </p:txBody>
          </p:sp>
        </mc:Choice>
        <mc:Fallback xmlns="">
          <p:sp>
            <p:nvSpPr>
              <p:cNvPr id="3" name="Content Placeholder 2">
                <a:extLst>
                  <a:ext uri="{FF2B5EF4-FFF2-40B4-BE49-F238E27FC236}">
                    <a16:creationId xmlns:a16="http://schemas.microsoft.com/office/drawing/2014/main" id="{CD6FCAE0-687C-993D-507B-3151A66B2506}"/>
                  </a:ext>
                </a:extLst>
              </p:cNvPr>
              <p:cNvSpPr>
                <a:spLocks noGrp="1" noRot="1" noChangeAspect="1" noMove="1" noResize="1" noEditPoints="1" noAdjustHandles="1" noChangeArrowheads="1" noChangeShapeType="1" noTextEdit="1"/>
              </p:cNvSpPr>
              <p:nvPr>
                <p:ph idx="1"/>
              </p:nvPr>
            </p:nvSpPr>
            <p:spPr>
              <a:xfrm>
                <a:off x="628650" y="838199"/>
                <a:ext cx="7886700" cy="5338765"/>
              </a:xfrm>
              <a:blipFill>
                <a:blip r:embed="rId2"/>
                <a:stretch>
                  <a:fillRect l="-464" t="-1484"/>
                </a:stretch>
              </a:blipFill>
            </p:spPr>
            <p:txBody>
              <a:bodyPr/>
              <a:lstStyle/>
              <a:p>
                <a:r>
                  <a:rPr lang="en-IN">
                    <a:noFill/>
                  </a:rPr>
                  <a:t> </a:t>
                </a:r>
              </a:p>
            </p:txBody>
          </p:sp>
        </mc:Fallback>
      </mc:AlternateContent>
    </p:spTree>
    <p:extLst>
      <p:ext uri="{BB962C8B-B14F-4D97-AF65-F5344CB8AC3E}">
        <p14:creationId xmlns:p14="http://schemas.microsoft.com/office/powerpoint/2010/main" val="1340547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871B3-FC97-B0C8-41DC-CF27BB998005}"/>
              </a:ext>
            </a:extLst>
          </p:cNvPr>
          <p:cNvSpPr>
            <a:spLocks noGrp="1"/>
          </p:cNvSpPr>
          <p:nvPr>
            <p:ph type="title"/>
          </p:nvPr>
        </p:nvSpPr>
        <p:spPr>
          <a:xfrm>
            <a:off x="628650" y="-228600"/>
            <a:ext cx="7886700" cy="1325563"/>
          </a:xfrm>
        </p:spPr>
        <p:txBody>
          <a:bodyPr/>
          <a:lstStyle/>
          <a:p>
            <a:r>
              <a:rPr lang="en-IN" b="1" dirty="0"/>
              <a:t>The Zero-Probability Problem: Solution -&gt; Back-off &amp; Interpolation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CDAFC1-86F0-5C23-1C9F-B5984575304E}"/>
                  </a:ext>
                </a:extLst>
              </p:cNvPr>
              <p:cNvSpPr>
                <a:spLocks noGrp="1"/>
              </p:cNvSpPr>
              <p:nvPr>
                <p:ph idx="1"/>
              </p:nvPr>
            </p:nvSpPr>
            <p:spPr>
              <a:xfrm>
                <a:off x="608434" y="914400"/>
                <a:ext cx="7886700" cy="6172201"/>
              </a:xfrm>
            </p:spPr>
            <p:txBody>
              <a:bodyPr>
                <a:normAutofit lnSpcReduction="10000"/>
              </a:bodyPr>
              <a:lstStyle/>
              <a:p>
                <a:pPr algn="just"/>
                <a:r>
                  <a:rPr lang="en-IN" dirty="0"/>
                  <a:t>In </a:t>
                </a:r>
                <a14:m>
                  <m:oMath xmlns:m="http://schemas.openxmlformats.org/officeDocument/2006/math">
                    <m:r>
                      <a:rPr lang="en-IN" i="1">
                        <a:latin typeface="Cambria Math" panose="02040503050406030204" pitchFamily="18" charset="0"/>
                      </a:rPr>
                      <m:t>𝑁</m:t>
                    </m:r>
                  </m:oMath>
                </a14:m>
                <a:r>
                  <a:rPr lang="en-IN" dirty="0"/>
                  <a:t>-gram language </a:t>
                </a:r>
                <a:r>
                  <a:rPr lang="en-IN" dirty="0" err="1"/>
                  <a:t>modeling</a:t>
                </a:r>
                <a:r>
                  <a:rPr lang="en-IN" dirty="0"/>
                  <a:t>, both </a:t>
                </a:r>
                <a:r>
                  <a:rPr lang="en-IN" b="1" dirty="0"/>
                  <a:t>back-off</a:t>
                </a:r>
                <a:r>
                  <a:rPr lang="en-IN" dirty="0"/>
                  <a:t> and </a:t>
                </a:r>
                <a:r>
                  <a:rPr lang="en-IN" b="1" dirty="0"/>
                  <a:t>interpolation</a:t>
                </a:r>
                <a:r>
                  <a:rPr lang="en-IN" dirty="0"/>
                  <a:t> address data sparsity and the zero-probability problem by combining evidence from higher-order </a:t>
                </a:r>
                <a14:m>
                  <m:oMath xmlns:m="http://schemas.openxmlformats.org/officeDocument/2006/math">
                    <m:r>
                      <a:rPr lang="en-IN" i="1">
                        <a:latin typeface="Cambria Math" panose="02040503050406030204" pitchFamily="18" charset="0"/>
                      </a:rPr>
                      <m:t>𝑁</m:t>
                    </m:r>
                  </m:oMath>
                </a14:m>
                <a:r>
                  <a:rPr lang="en-IN" dirty="0"/>
                  <a:t>-grams (which offer rich context but are sparse) with lower-order </a:t>
                </a:r>
                <a14:m>
                  <m:oMath xmlns:m="http://schemas.openxmlformats.org/officeDocument/2006/math">
                    <m:r>
                      <a:rPr lang="en-IN" i="1">
                        <a:latin typeface="Cambria Math" panose="02040503050406030204" pitchFamily="18" charset="0"/>
                      </a:rPr>
                      <m:t>𝑁</m:t>
                    </m:r>
                  </m:oMath>
                </a14:m>
                <a:r>
                  <a:rPr lang="en-IN" dirty="0"/>
                  <a:t>-grams (which have weaker context but are frequently observed).</a:t>
                </a:r>
              </a:p>
              <a:p>
                <a:pPr algn="just"/>
                <a:r>
                  <a:rPr lang="en-IN" b="1" dirty="0"/>
                  <a:t>1. Interpolation</a:t>
                </a:r>
                <a:endParaRPr lang="en-IN" dirty="0"/>
              </a:p>
              <a:p>
                <a:pPr algn="just"/>
                <a:r>
                  <a:rPr lang="en-IN" dirty="0"/>
                  <a:t>In </a:t>
                </a:r>
                <a:r>
                  <a:rPr lang="en-IN" b="1" dirty="0"/>
                  <a:t>interpolation</a:t>
                </a:r>
                <a:r>
                  <a:rPr lang="en-IN" dirty="0"/>
                  <a:t>, the model </a:t>
                </a:r>
                <a:r>
                  <a:rPr lang="en-IN" b="1" dirty="0"/>
                  <a:t>always blends</a:t>
                </a:r>
                <a:r>
                  <a:rPr lang="en-IN" dirty="0"/>
                  <a:t> probability estimates from all orders (e.g., trigram, bigram, and unigram), regardless of whether the higher-order </a:t>
                </a:r>
                <a14:m>
                  <m:oMath xmlns:m="http://schemas.openxmlformats.org/officeDocument/2006/math">
                    <m:r>
                      <a:rPr lang="en-IN" i="1">
                        <a:latin typeface="Cambria Math" panose="02040503050406030204" pitchFamily="18" charset="0"/>
                      </a:rPr>
                      <m:t>𝑁</m:t>
                    </m:r>
                  </m:oMath>
                </a14:m>
                <a:r>
                  <a:rPr lang="en-IN" dirty="0"/>
                  <a:t>-gram was observed in the training corpus.</a:t>
                </a:r>
              </a:p>
              <a:p>
                <a:pPr lvl="0" algn="just"/>
                <a:r>
                  <a:rPr lang="en-IN" b="1" dirty="0"/>
                  <a:t>Linear Interpolation Formula (Trigram):</a:t>
                </a:r>
                <a:endParaRPr lang="en-IN" dirty="0"/>
              </a:p>
              <a:p>
                <a:pPr lvl="0" algn="just"/>
                <a14:m>
                  <m:oMath xmlns:m="http://schemas.openxmlformats.org/officeDocument/2006/math">
                    <m:acc>
                      <m:accPr>
                        <m:chr m:val="ˆ"/>
                        <m:ctrlPr>
                          <a:rPr lang="en-IN" i="1">
                            <a:latin typeface="Cambria Math" panose="02040503050406030204" pitchFamily="18" charset="0"/>
                          </a:rPr>
                        </m:ctrlPr>
                      </m:accPr>
                      <m:e>
                        <m:r>
                          <a:rPr lang="en-IN" i="1">
                            <a:latin typeface="Cambria Math" panose="02040503050406030204" pitchFamily="18" charset="0"/>
                          </a:rPr>
                          <m:t>𝑃</m:t>
                        </m:r>
                      </m:e>
                    </m:acc>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−2</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e>
                    </m:d>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𝜆</m:t>
                        </m:r>
                      </m:e>
                      <m:sub>
                        <m:r>
                          <a:rPr lang="en-IN">
                            <a:latin typeface="Cambria Math" panose="02040503050406030204" pitchFamily="18" charset="0"/>
                          </a:rPr>
                          <m:t>3</m:t>
                        </m:r>
                      </m:sub>
                    </m:sSub>
                    <m:sSub>
                      <m:sSubPr>
                        <m:ctrlPr>
                          <a:rPr lang="en-IN" i="1">
                            <a:latin typeface="Cambria Math" panose="02040503050406030204" pitchFamily="18" charset="0"/>
                          </a:rPr>
                        </m:ctrlPr>
                      </m:sSubPr>
                      <m:e>
                        <m:r>
                          <a:rPr lang="en-IN" i="1">
                            <a:latin typeface="Cambria Math" panose="02040503050406030204" pitchFamily="18" charset="0"/>
                          </a:rPr>
                          <m:t>𝑃</m:t>
                        </m:r>
                      </m:e>
                      <m:sub>
                        <m:r>
                          <a:rPr lang="en-IN" i="1">
                            <a:latin typeface="Cambria Math" panose="02040503050406030204" pitchFamily="18" charset="0"/>
                          </a:rPr>
                          <m:t>𝑀𝐿𝐸</m:t>
                        </m:r>
                      </m:sub>
                    </m:sSub>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−2</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e>
                    </m:d>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𝜆</m:t>
                        </m:r>
                      </m:e>
                      <m:sub>
                        <m:r>
                          <a:rPr lang="en-IN">
                            <a:latin typeface="Cambria Math" panose="02040503050406030204" pitchFamily="18" charset="0"/>
                          </a:rPr>
                          <m:t>2</m:t>
                        </m:r>
                      </m:sub>
                    </m:sSub>
                    <m:sSub>
                      <m:sSubPr>
                        <m:ctrlPr>
                          <a:rPr lang="en-IN" i="1">
                            <a:latin typeface="Cambria Math" panose="02040503050406030204" pitchFamily="18" charset="0"/>
                          </a:rPr>
                        </m:ctrlPr>
                      </m:sSubPr>
                      <m:e>
                        <m:r>
                          <a:rPr lang="en-IN" i="1">
                            <a:latin typeface="Cambria Math" panose="02040503050406030204" pitchFamily="18" charset="0"/>
                          </a:rPr>
                          <m:t>𝑃</m:t>
                        </m:r>
                      </m:e>
                      <m:sub>
                        <m:r>
                          <a:rPr lang="en-IN" i="1">
                            <a:latin typeface="Cambria Math" panose="02040503050406030204" pitchFamily="18" charset="0"/>
                          </a:rPr>
                          <m:t>𝑀𝐿𝐸</m:t>
                        </m:r>
                      </m:sub>
                    </m:sSub>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e>
                    </m:d>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𝜆</m:t>
                        </m:r>
                      </m:e>
                      <m:sub>
                        <m:r>
                          <a:rPr lang="en-IN">
                            <a:latin typeface="Cambria Math" panose="02040503050406030204" pitchFamily="18" charset="0"/>
                          </a:rPr>
                          <m:t>1</m:t>
                        </m:r>
                      </m:sub>
                    </m:sSub>
                    <m:sSub>
                      <m:sSubPr>
                        <m:ctrlPr>
                          <a:rPr lang="en-IN" i="1">
                            <a:latin typeface="Cambria Math" panose="02040503050406030204" pitchFamily="18" charset="0"/>
                          </a:rPr>
                        </m:ctrlPr>
                      </m:sSubPr>
                      <m:e>
                        <m:r>
                          <a:rPr lang="en-IN" i="1">
                            <a:latin typeface="Cambria Math" panose="02040503050406030204" pitchFamily="18" charset="0"/>
                          </a:rPr>
                          <m:t>𝑃</m:t>
                        </m:r>
                      </m:e>
                      <m:sub>
                        <m:r>
                          <a:rPr lang="en-IN" i="1">
                            <a:latin typeface="Cambria Math" panose="02040503050406030204" pitchFamily="18" charset="0"/>
                          </a:rPr>
                          <m:t>𝑀𝐿𝐸</m:t>
                        </m:r>
                      </m:sub>
                    </m:sSub>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sub>
                        </m:sSub>
                      </m:e>
                    </m:d>
                  </m:oMath>
                </a14:m>
                <a:r>
                  <a:rPr lang="en-IN" dirty="0"/>
                  <a:t>; </a:t>
                </a:r>
                <a14:m>
                  <m:oMath xmlns:m="http://schemas.openxmlformats.org/officeDocument/2006/math">
                    <m:r>
                      <a:rPr lang="en-IN" b="0" i="0" smtClean="0">
                        <a:latin typeface="Cambria Math" panose="02040503050406030204" pitchFamily="18" charset="0"/>
                      </a:rPr>
                      <m:t>     </m:t>
                    </m:r>
                    <m:nary>
                      <m:naryPr>
                        <m:chr m:val="∑"/>
                        <m:limLoc m:val="undOvr"/>
                        <m:ctrlPr>
                          <a:rPr lang="en-IN" i="1">
                            <a:latin typeface="Cambria Math" panose="02040503050406030204" pitchFamily="18" charset="0"/>
                          </a:rPr>
                        </m:ctrlPr>
                      </m:naryPr>
                      <m:sub>
                        <m:r>
                          <a:rPr lang="en-IN" i="1">
                            <a:latin typeface="Cambria Math" panose="02040503050406030204" pitchFamily="18" charset="0"/>
                          </a:rPr>
                          <m:t>𝑗</m:t>
                        </m:r>
                        <m:r>
                          <a:rPr lang="en-IN">
                            <a:latin typeface="Cambria Math" panose="02040503050406030204" pitchFamily="18" charset="0"/>
                          </a:rPr>
                          <m:t>=1</m:t>
                        </m:r>
                      </m:sub>
                      <m:sup>
                        <m:r>
                          <a:rPr lang="en-IN">
                            <a:latin typeface="Cambria Math" panose="02040503050406030204" pitchFamily="18" charset="0"/>
                          </a:rPr>
                          <m:t>3</m:t>
                        </m:r>
                      </m:sup>
                      <m:e>
                        <m:sSub>
                          <m:sSubPr>
                            <m:ctrlPr>
                              <a:rPr lang="en-IN" i="1">
                                <a:latin typeface="Cambria Math" panose="02040503050406030204" pitchFamily="18" charset="0"/>
                              </a:rPr>
                            </m:ctrlPr>
                          </m:sSubPr>
                          <m:e>
                            <m:r>
                              <a:rPr lang="en-IN" i="1">
                                <a:latin typeface="Cambria Math" panose="02040503050406030204" pitchFamily="18" charset="0"/>
                              </a:rPr>
                              <m:t>𝜆</m:t>
                            </m:r>
                          </m:e>
                          <m:sub>
                            <m:r>
                              <a:rPr lang="en-IN" i="1">
                                <a:latin typeface="Cambria Math" panose="02040503050406030204" pitchFamily="18" charset="0"/>
                              </a:rPr>
                              <m:t>𝑗</m:t>
                            </m:r>
                          </m:sub>
                        </m:sSub>
                      </m:e>
                    </m:nary>
                    <m:r>
                      <a:rPr lang="en-IN">
                        <a:latin typeface="Cambria Math" panose="02040503050406030204" pitchFamily="18" charset="0"/>
                      </a:rPr>
                      <m:t>=1 </m:t>
                    </m:r>
                    <m:r>
                      <m:rPr>
                        <m:nor/>
                      </m:rPr>
                      <a:rPr lang="en-IN" i="0"/>
                      <m:t>where </m:t>
                    </m:r>
                    <m:sSub>
                      <m:sSubPr>
                        <m:ctrlPr>
                          <a:rPr lang="en-IN" i="1">
                            <a:latin typeface="Cambria Math" panose="02040503050406030204" pitchFamily="18" charset="0"/>
                          </a:rPr>
                        </m:ctrlPr>
                      </m:sSubPr>
                      <m:e>
                        <m:r>
                          <a:rPr lang="en-IN" i="1">
                            <a:latin typeface="Cambria Math" panose="02040503050406030204" pitchFamily="18" charset="0"/>
                          </a:rPr>
                          <m:t>𝜆</m:t>
                        </m:r>
                      </m:e>
                      <m:sub>
                        <m:r>
                          <a:rPr lang="en-IN" i="1">
                            <a:latin typeface="Cambria Math" panose="02040503050406030204" pitchFamily="18" charset="0"/>
                          </a:rPr>
                          <m:t>𝑗</m:t>
                        </m:r>
                      </m:sub>
                    </m:sSub>
                    <m:r>
                      <a:rPr lang="en-IN">
                        <a:latin typeface="Cambria Math" panose="02040503050406030204" pitchFamily="18" charset="0"/>
                      </a:rPr>
                      <m:t>≥0</m:t>
                    </m:r>
                  </m:oMath>
                </a14:m>
                <a:endParaRPr lang="en-IN" dirty="0"/>
              </a:p>
              <a:p>
                <a:pPr lvl="0" algn="just"/>
                <a:r>
                  <a:rPr lang="en-IN" b="1" dirty="0"/>
                  <a:t>Setting the Weights:</a:t>
                </a:r>
                <a:endParaRPr lang="en-IN" dirty="0"/>
              </a:p>
              <a:p>
                <a:pPr lvl="1" algn="just"/>
                <a:r>
                  <a:rPr lang="en-IN" b="1" dirty="0"/>
                  <a:t>Static Weights:</a:t>
                </a:r>
                <a:r>
                  <a:rPr lang="en-IN" dirty="0"/>
                  <a:t> A fixed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𝜆</m:t>
                        </m:r>
                      </m:e>
                      <m:sub>
                        <m:r>
                          <a:rPr lang="en-IN">
                            <a:latin typeface="Cambria Math" panose="02040503050406030204" pitchFamily="18" charset="0"/>
                          </a:rPr>
                          <m:t>1</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𝜆</m:t>
                        </m:r>
                      </m:e>
                      <m:sub>
                        <m:r>
                          <a:rPr lang="en-IN">
                            <a:latin typeface="Cambria Math" panose="02040503050406030204" pitchFamily="18" charset="0"/>
                          </a:rPr>
                          <m:t>2</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𝜆</m:t>
                        </m:r>
                      </m:e>
                      <m:sub>
                        <m:r>
                          <a:rPr lang="en-IN">
                            <a:latin typeface="Cambria Math" panose="02040503050406030204" pitchFamily="18" charset="0"/>
                          </a:rPr>
                          <m:t>3</m:t>
                        </m:r>
                      </m:sub>
                    </m:sSub>
                  </m:oMath>
                </a14:m>
                <a:r>
                  <a:rPr lang="en-IN" dirty="0"/>
                  <a:t>tuned directly on a held-out validation set (often using the Expectation-Maximization algorithm) to minimize validation perplexity.</a:t>
                </a:r>
              </a:p>
              <a:p>
                <a:pPr lvl="1" algn="just"/>
                <a:r>
                  <a:rPr lang="en-IN" b="1" dirty="0"/>
                  <a:t>Context-Dependent Weights:</a:t>
                </a:r>
                <a:r>
                  <a:rPr lang="en-IN" dirty="0"/>
                  <a:t> Letting </a:t>
                </a:r>
                <a14:m>
                  <m:oMath xmlns:m="http://schemas.openxmlformats.org/officeDocument/2006/math">
                    <m:r>
                      <a:rPr lang="en-IN" i="1">
                        <a:latin typeface="Cambria Math" panose="02040503050406030204" pitchFamily="18" charset="0"/>
                      </a:rPr>
                      <m:t>𝜆</m:t>
                    </m:r>
                  </m:oMath>
                </a14:m>
                <a:r>
                  <a:rPr lang="en-IN" dirty="0"/>
                  <a:t>depend on context frequency, </a:t>
                </a:r>
                <a14:m>
                  <m:oMath xmlns:m="http://schemas.openxmlformats.org/officeDocument/2006/math">
                    <m:r>
                      <a:rPr lang="en-IN" i="1">
                        <a:latin typeface="Cambria Math" panose="02040503050406030204" pitchFamily="18" charset="0"/>
                      </a:rPr>
                      <m:t>𝜆</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−2</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e>
                    </m:d>
                  </m:oMath>
                </a14:m>
                <a:r>
                  <a:rPr lang="en-IN" dirty="0"/>
                  <a:t>. If the history context </a:t>
                </a:r>
                <a14:m>
                  <m:oMath xmlns:m="http://schemas.openxmlformats.org/officeDocument/2006/math">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−2</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e>
                    </m:d>
                  </m:oMath>
                </a14:m>
                <a:r>
                  <a:rPr lang="en-IN" dirty="0"/>
                  <a:t>appears frequently in training,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𝜆</m:t>
                        </m:r>
                      </m:e>
                      <m:sub>
                        <m:r>
                          <a:rPr lang="en-IN">
                            <a:latin typeface="Cambria Math" panose="02040503050406030204" pitchFamily="18" charset="0"/>
                          </a:rPr>
                          <m:t>3</m:t>
                        </m:r>
                      </m:sub>
                    </m:sSub>
                  </m:oMath>
                </a14:m>
                <a:r>
                  <a:rPr lang="en-IN" dirty="0"/>
                  <a:t>is assigned a higher weight; if the context is rare,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𝜆</m:t>
                        </m:r>
                      </m:e>
                      <m:sub>
                        <m:r>
                          <a:rPr lang="en-IN">
                            <a:latin typeface="Cambria Math" panose="02040503050406030204" pitchFamily="18" charset="0"/>
                          </a:rPr>
                          <m:t>3</m:t>
                        </m:r>
                      </m:sub>
                    </m:sSub>
                  </m:oMath>
                </a14:m>
                <a:r>
                  <a:rPr lang="en-IN" dirty="0"/>
                  <a:t>is downscaled in favour of lower-order estimates.</a:t>
                </a:r>
              </a:p>
              <a:p>
                <a:pPr marL="0" indent="0" algn="just">
                  <a:buNone/>
                </a:pPr>
                <a:endParaRPr lang="en-IN" dirty="0"/>
              </a:p>
            </p:txBody>
          </p:sp>
        </mc:Choice>
        <mc:Fallback xmlns="">
          <p:sp>
            <p:nvSpPr>
              <p:cNvPr id="3" name="Content Placeholder 2">
                <a:extLst>
                  <a:ext uri="{FF2B5EF4-FFF2-40B4-BE49-F238E27FC236}">
                    <a16:creationId xmlns:a16="http://schemas.microsoft.com/office/drawing/2014/main" id="{9CCDAFC1-86F0-5C23-1C9F-B5984575304E}"/>
                  </a:ext>
                </a:extLst>
              </p:cNvPr>
              <p:cNvSpPr>
                <a:spLocks noGrp="1" noRot="1" noChangeAspect="1" noMove="1" noResize="1" noEditPoints="1" noAdjustHandles="1" noChangeArrowheads="1" noChangeShapeType="1" noTextEdit="1"/>
              </p:cNvSpPr>
              <p:nvPr>
                <p:ph idx="1"/>
              </p:nvPr>
            </p:nvSpPr>
            <p:spPr>
              <a:xfrm>
                <a:off x="608434" y="914400"/>
                <a:ext cx="7886700" cy="6172201"/>
              </a:xfrm>
              <a:blipFill>
                <a:blip r:embed="rId2"/>
                <a:stretch>
                  <a:fillRect l="-773" t="-1481" r="-927"/>
                </a:stretch>
              </a:blipFill>
            </p:spPr>
            <p:txBody>
              <a:bodyPr/>
              <a:lstStyle/>
              <a:p>
                <a:r>
                  <a:rPr lang="en-IN">
                    <a:noFill/>
                  </a:rPr>
                  <a:t> </a:t>
                </a:r>
              </a:p>
            </p:txBody>
          </p:sp>
        </mc:Fallback>
      </mc:AlternateContent>
    </p:spTree>
    <p:extLst>
      <p:ext uri="{BB962C8B-B14F-4D97-AF65-F5344CB8AC3E}">
        <p14:creationId xmlns:p14="http://schemas.microsoft.com/office/powerpoint/2010/main" val="3967385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027C3-9CA7-713A-3D37-A104F4C3A8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1E157A-BC6E-4E11-ED10-2C6B44124BD4}"/>
              </a:ext>
            </a:extLst>
          </p:cNvPr>
          <p:cNvSpPr>
            <a:spLocks noGrp="1"/>
          </p:cNvSpPr>
          <p:nvPr>
            <p:ph type="title"/>
          </p:nvPr>
        </p:nvSpPr>
        <p:spPr>
          <a:xfrm>
            <a:off x="628650" y="-228600"/>
            <a:ext cx="7886700" cy="1325563"/>
          </a:xfrm>
        </p:spPr>
        <p:txBody>
          <a:bodyPr/>
          <a:lstStyle/>
          <a:p>
            <a:r>
              <a:rPr lang="en-IN" b="1" dirty="0"/>
              <a:t>The Zero-Probability Problem: Solution -&gt; Back-off &amp; Interpolation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77726E8-B184-60EC-1ECB-583ECBF53147}"/>
                  </a:ext>
                </a:extLst>
              </p:cNvPr>
              <p:cNvSpPr>
                <a:spLocks noGrp="1"/>
              </p:cNvSpPr>
              <p:nvPr>
                <p:ph idx="1"/>
              </p:nvPr>
            </p:nvSpPr>
            <p:spPr>
              <a:xfrm>
                <a:off x="628650" y="762000"/>
                <a:ext cx="7886700" cy="6172201"/>
              </a:xfrm>
            </p:spPr>
            <p:txBody>
              <a:bodyPr>
                <a:normAutofit lnSpcReduction="10000"/>
              </a:bodyPr>
              <a:lstStyle/>
              <a:p>
                <a:pPr algn="just"/>
                <a:r>
                  <a:rPr lang="en-IN" b="1" dirty="0"/>
                  <a:t>2.  Back-off</a:t>
                </a:r>
                <a:endParaRPr lang="en-IN" dirty="0"/>
              </a:p>
              <a:p>
                <a:pPr algn="just"/>
                <a:r>
                  <a:rPr lang="en-IN" dirty="0"/>
                  <a:t>In </a:t>
                </a:r>
                <a:r>
                  <a:rPr lang="en-IN" b="1" dirty="0"/>
                  <a:t>back-off</a:t>
                </a:r>
                <a:r>
                  <a:rPr lang="en-IN" dirty="0"/>
                  <a:t>, the model uses the highest-order </a:t>
                </a:r>
                <a14:m>
                  <m:oMath xmlns:m="http://schemas.openxmlformats.org/officeDocument/2006/math">
                    <m:r>
                      <a:rPr lang="en-IN" i="1">
                        <a:latin typeface="Cambria Math" panose="02040503050406030204" pitchFamily="18" charset="0"/>
                      </a:rPr>
                      <m:t>𝑁</m:t>
                    </m:r>
                  </m:oMath>
                </a14:m>
                <a:r>
                  <a:rPr lang="en-IN" dirty="0"/>
                  <a:t>-gram if it has sufficient evidence. It falls back to lower-order models </a:t>
                </a:r>
                <a:r>
                  <a:rPr lang="en-IN" b="1" dirty="0"/>
                  <a:t>only when the higher-order count is zero (or below a threshold)</a:t>
                </a:r>
                <a:r>
                  <a:rPr lang="en-IN" dirty="0"/>
                  <a:t>.</a:t>
                </a:r>
              </a:p>
              <a:p>
                <a:pPr algn="just"/>
                <a:r>
                  <a:rPr lang="en-IN" dirty="0"/>
                  <a:t>To make room for lower-order probabilities, the higher-order MLE counts must be </a:t>
                </a:r>
                <a:r>
                  <a:rPr lang="en-IN" b="1" dirty="0"/>
                  <a:t>discounted</a:t>
                </a:r>
                <a:r>
                  <a:rPr lang="en-IN" dirty="0"/>
                  <a:t> (using methods like Absolute Discounting or Good-Turing), freeing up a reserved probability mass that is redistributed to the fallback models.</a:t>
                </a:r>
              </a:p>
              <a:p>
                <a:pPr lvl="0" algn="just"/>
                <a:r>
                  <a:rPr lang="en-IN" b="1" dirty="0"/>
                  <a:t>Katz Back-off Formula (Trigram to Bigram):</a:t>
                </a:r>
                <a:endParaRPr lang="en-IN" dirty="0"/>
              </a:p>
              <a:p>
                <a:pPr lvl="0" algn="just"/>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𝑃</m:t>
                        </m:r>
                      </m:e>
                      <m:sub>
                        <m:r>
                          <m:rPr>
                            <m:nor/>
                          </m:rPr>
                          <a:rPr lang="en-IN" i="0"/>
                          <m:t>BO</m:t>
                        </m:r>
                      </m:sub>
                    </m:sSub>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−2</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e>
                    </m:d>
                    <m:r>
                      <a:rPr lang="en-IN">
                        <a:latin typeface="Cambria Math" panose="02040503050406030204" pitchFamily="18" charset="0"/>
                      </a:rPr>
                      <m:t>=</m:t>
                    </m:r>
                    <m:d>
                      <m:dPr>
                        <m:begChr m:val="{"/>
                        <m:endChr m:val=""/>
                        <m:ctrlPr>
                          <a:rPr lang="en-IN" i="1">
                            <a:latin typeface="Cambria Math" panose="02040503050406030204" pitchFamily="18" charset="0"/>
                          </a:rPr>
                        </m:ctrlPr>
                      </m:dPr>
                      <m:e>
                        <m:m>
                          <m:mPr>
                            <m:mcs>
                              <m:mc>
                                <m:mcPr>
                                  <m:count m:val="2"/>
                                  <m:mcJc m:val="center"/>
                                </m:mcPr>
                              </m:mc>
                            </m:mcs>
                            <m:ctrlPr>
                              <a:rPr lang="en-IN" i="1">
                                <a:latin typeface="Cambria Math" panose="02040503050406030204" pitchFamily="18" charset="0"/>
                              </a:rPr>
                            </m:ctrlPr>
                          </m:mPr>
                          <m:mr>
                            <m:e>
                              <m:sSup>
                                <m:sSupPr>
                                  <m:ctrlPr>
                                    <a:rPr lang="en-IN" i="1">
                                      <a:latin typeface="Cambria Math" panose="02040503050406030204" pitchFamily="18" charset="0"/>
                                    </a:rPr>
                                  </m:ctrlPr>
                                </m:sSupPr>
                                <m:e>
                                  <m:r>
                                    <a:rPr lang="en-IN" i="1">
                                      <a:latin typeface="Cambria Math" panose="02040503050406030204" pitchFamily="18" charset="0"/>
                                    </a:rPr>
                                    <m:t>𝑃</m:t>
                                  </m:r>
                                </m:e>
                                <m:sup>
                                  <m:r>
                                    <a:rPr lang="en-IN">
                                      <a:latin typeface="Cambria Math" panose="02040503050406030204" pitchFamily="18" charset="0"/>
                                    </a:rPr>
                                    <m:t>∗</m:t>
                                  </m:r>
                                </m:sup>
                              </m:sSup>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−2</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e>
                              </m:d>
                            </m:e>
                            <m:e>
                              <m:r>
                                <m:rPr>
                                  <m:nor/>
                                </m:rPr>
                                <a:rPr lang="en-IN" i="0"/>
                                <m:t>if </m:t>
                              </m:r>
                              <m:r>
                                <a:rPr lang="en-IN" i="1">
                                  <a:latin typeface="Cambria Math" panose="02040503050406030204" pitchFamily="18" charset="0"/>
                                </a:rPr>
                                <m:t>𝐶</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−2</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sub>
                                  </m:sSub>
                                </m:e>
                              </m:d>
                              <m:r>
                                <a:rPr lang="en-IN">
                                  <a:latin typeface="Cambria Math" panose="02040503050406030204" pitchFamily="18" charset="0"/>
                                </a:rPr>
                                <m:t>&gt;0</m:t>
                              </m:r>
                            </m:e>
                          </m:mr>
                          <m:mr>
                            <m:e>
                              <m:r>
                                <a:rPr lang="en-IN" i="1">
                                  <a:latin typeface="Cambria Math" panose="02040503050406030204" pitchFamily="18" charset="0"/>
                                </a:rPr>
                                <m:t>𝛼</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−2</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e>
                              </m:d>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𝑃</m:t>
                                  </m:r>
                                </m:e>
                                <m:sub>
                                  <m:r>
                                    <m:rPr>
                                      <m:nor/>
                                    </m:rPr>
                                    <a:rPr lang="en-IN" i="0"/>
                                    <m:t>BO</m:t>
                                  </m:r>
                                </m:sub>
                              </m:sSub>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e>
                              </m:d>
                            </m:e>
                            <m:e>
                              <m:r>
                                <m:rPr>
                                  <m:nor/>
                                </m:rPr>
                                <a:rPr lang="en-IN" i="0"/>
                                <m:t>if </m:t>
                              </m:r>
                              <m:r>
                                <a:rPr lang="en-IN" i="1">
                                  <a:latin typeface="Cambria Math" panose="02040503050406030204" pitchFamily="18" charset="0"/>
                                </a:rPr>
                                <m:t>𝐶</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−2</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sub>
                                  </m:sSub>
                                </m:e>
                              </m:d>
                              <m:r>
                                <a:rPr lang="en-IN">
                                  <a:latin typeface="Cambria Math" panose="02040503050406030204" pitchFamily="18" charset="0"/>
                                </a:rPr>
                                <m:t>=0</m:t>
                              </m:r>
                            </m:e>
                          </m:mr>
                        </m:m>
                      </m:e>
                    </m:d>
                  </m:oMath>
                </a14:m>
                <a:endParaRPr lang="en-IN" dirty="0"/>
              </a:p>
              <a:p>
                <a:pPr lvl="0" algn="just"/>
                <a:r>
                  <a:rPr lang="en-IN" b="1" dirty="0"/>
                  <a:t>Where:</a:t>
                </a:r>
                <a:endParaRPr lang="en-IN" dirty="0"/>
              </a:p>
              <a:p>
                <a:pPr lvl="1" algn="just"/>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𝑃</m:t>
                        </m:r>
                      </m:e>
                      <m:sup>
                        <m:r>
                          <a:rPr lang="en-IN">
                            <a:latin typeface="Cambria Math" panose="02040503050406030204" pitchFamily="18" charset="0"/>
                          </a:rPr>
                          <m:t>∗</m:t>
                        </m:r>
                      </m:sup>
                    </m:sSup>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−2</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e>
                    </m:d>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𝐶</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−2</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sub>
                            </m:sSub>
                          </m:e>
                        </m:d>
                        <m:r>
                          <a:rPr lang="en-IN">
                            <a:latin typeface="Cambria Math" panose="02040503050406030204" pitchFamily="18" charset="0"/>
                          </a:rPr>
                          <m:t>−</m:t>
                        </m:r>
                        <m:r>
                          <a:rPr lang="en-IN" i="1">
                            <a:latin typeface="Cambria Math" panose="02040503050406030204" pitchFamily="18" charset="0"/>
                          </a:rPr>
                          <m:t>𝑑</m:t>
                        </m:r>
                      </m:num>
                      <m:den>
                        <m:r>
                          <a:rPr lang="en-IN" i="1">
                            <a:latin typeface="Cambria Math" panose="02040503050406030204" pitchFamily="18" charset="0"/>
                          </a:rPr>
                          <m:t>𝐶</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−2</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e>
                        </m:d>
                      </m:den>
                    </m:f>
                  </m:oMath>
                </a14:m>
                <a:r>
                  <a:rPr lang="en-IN" dirty="0"/>
                  <a:t>is the discounted probability estimate (</a:t>
                </a:r>
                <a14:m>
                  <m:oMath xmlns:m="http://schemas.openxmlformats.org/officeDocument/2006/math">
                    <m:r>
                      <a:rPr lang="en-IN" i="1">
                        <a:latin typeface="Cambria Math" panose="02040503050406030204" pitchFamily="18" charset="0"/>
                      </a:rPr>
                      <m:t>𝑑</m:t>
                    </m:r>
                  </m:oMath>
                </a14:m>
                <a:r>
                  <a:rPr lang="en-IN" dirty="0"/>
                  <a:t> is the discount parameter, typically </a:t>
                </a:r>
                <a14:m>
                  <m:oMath xmlns:m="http://schemas.openxmlformats.org/officeDocument/2006/math">
                    <m:r>
                      <a:rPr lang="en-IN">
                        <a:latin typeface="Cambria Math" panose="02040503050406030204" pitchFamily="18" charset="0"/>
                      </a:rPr>
                      <m:t>0&lt;</m:t>
                    </m:r>
                    <m:r>
                      <a:rPr lang="en-IN" i="1">
                        <a:latin typeface="Cambria Math" panose="02040503050406030204" pitchFamily="18" charset="0"/>
                      </a:rPr>
                      <m:t>𝑑</m:t>
                    </m:r>
                    <m:r>
                      <a:rPr lang="en-IN">
                        <a:latin typeface="Cambria Math" panose="02040503050406030204" pitchFamily="18" charset="0"/>
                      </a:rPr>
                      <m:t>&lt;1</m:t>
                    </m:r>
                  </m:oMath>
                </a14:m>
                <a:r>
                  <a:rPr lang="en-IN" dirty="0"/>
                  <a:t>).</a:t>
                </a:r>
              </a:p>
              <a:p>
                <a:pPr lvl="1" algn="just"/>
                <a14:m>
                  <m:oMath xmlns:m="http://schemas.openxmlformats.org/officeDocument/2006/math">
                    <m:r>
                      <a:rPr lang="en-IN" i="1">
                        <a:latin typeface="Cambria Math" panose="02040503050406030204" pitchFamily="18" charset="0"/>
                      </a:rPr>
                      <m:t>𝛼</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−2</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e>
                    </m:d>
                  </m:oMath>
                </a14:m>
                <a:r>
                  <a:rPr lang="en-IN" dirty="0"/>
                  <a:t>is the </a:t>
                </a:r>
                <a:r>
                  <a:rPr lang="en-IN" b="1" dirty="0"/>
                  <a:t>normalization / back-off weight</a:t>
                </a:r>
                <a:r>
                  <a:rPr lang="en-IN" dirty="0"/>
                  <a:t>, ensuring that the remaining probability mass handed down to the lower order sums to exactly what was subtracted by discounting:</a:t>
                </a:r>
              </a:p>
              <a:p>
                <a:pPr lvl="1" algn="just"/>
                <a14:m>
                  <m:oMath xmlns:m="http://schemas.openxmlformats.org/officeDocument/2006/math">
                    <m:r>
                      <a:rPr lang="en-IN" i="1">
                        <a:latin typeface="Cambria Math" panose="02040503050406030204" pitchFamily="18" charset="0"/>
                      </a:rPr>
                      <m:t>𝛼</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−2</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e>
                    </m:d>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1−</m:t>
                        </m:r>
                        <m:nary>
                          <m:naryPr>
                            <m:chr m:val="∑"/>
                            <m:limLoc m:val="undOvr"/>
                            <m:supHide m:val="on"/>
                            <m:ctrlPr>
                              <a:rPr lang="en-IN" i="1">
                                <a:latin typeface="Cambria Math" panose="02040503050406030204" pitchFamily="18" charset="0"/>
                              </a:rPr>
                            </m:ctrlPr>
                          </m:naryPr>
                          <m:sub>
                            <m:r>
                              <a:rPr lang="en-IN" i="1">
                                <a:latin typeface="Cambria Math" panose="02040503050406030204" pitchFamily="18" charset="0"/>
                              </a:rPr>
                              <m:t>𝑤</m:t>
                            </m:r>
                            <m:r>
                              <a:rPr lang="en-IN">
                                <a:latin typeface="Cambria Math" panose="02040503050406030204" pitchFamily="18" charset="0"/>
                              </a:rPr>
                              <m:t>:</m:t>
                            </m:r>
                            <m:r>
                              <a:rPr lang="en-IN" i="1">
                                <a:latin typeface="Cambria Math" panose="02040503050406030204" pitchFamily="18" charset="0"/>
                              </a:rPr>
                              <m:t>𝐶</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−2</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r>
                                  <a:rPr lang="en-IN">
                                    <a:latin typeface="Cambria Math" panose="02040503050406030204" pitchFamily="18" charset="0"/>
                                  </a:rPr>
                                  <m:t>,</m:t>
                                </m:r>
                                <m:r>
                                  <a:rPr lang="en-IN" i="1">
                                    <a:latin typeface="Cambria Math" panose="02040503050406030204" pitchFamily="18" charset="0"/>
                                  </a:rPr>
                                  <m:t>𝑤</m:t>
                                </m:r>
                              </m:e>
                            </m:d>
                            <m:r>
                              <a:rPr lang="en-IN">
                                <a:latin typeface="Cambria Math" panose="02040503050406030204" pitchFamily="18" charset="0"/>
                              </a:rPr>
                              <m:t>&gt;0</m:t>
                            </m:r>
                          </m:sub>
                          <m:sup/>
                          <m:e>
                            <m:sSup>
                              <m:sSupPr>
                                <m:ctrlPr>
                                  <a:rPr lang="en-IN" i="1">
                                    <a:latin typeface="Cambria Math" panose="02040503050406030204" pitchFamily="18" charset="0"/>
                                  </a:rPr>
                                </m:ctrlPr>
                              </m:sSupPr>
                              <m:e>
                                <m:r>
                                  <a:rPr lang="en-IN" i="1">
                                    <a:latin typeface="Cambria Math" panose="02040503050406030204" pitchFamily="18" charset="0"/>
                                  </a:rPr>
                                  <m:t>𝑃</m:t>
                                </m:r>
                              </m:e>
                              <m:sup>
                                <m:r>
                                  <a:rPr lang="en-IN">
                                    <a:latin typeface="Cambria Math" panose="02040503050406030204" pitchFamily="18" charset="0"/>
                                  </a:rPr>
                                  <m:t>∗</m:t>
                                </m:r>
                              </m:sup>
                            </m:sSup>
                          </m:e>
                        </m:nary>
                        <m:d>
                          <m:dPr>
                            <m:ctrlPr>
                              <a:rPr lang="en-IN" i="1">
                                <a:latin typeface="Cambria Math" panose="02040503050406030204" pitchFamily="18" charset="0"/>
                              </a:rPr>
                            </m:ctrlPr>
                          </m:dPr>
                          <m:e>
                            <m:r>
                              <a:rPr lang="en-IN" i="1">
                                <a:latin typeface="Cambria Math" panose="02040503050406030204" pitchFamily="18" charset="0"/>
                              </a:rPr>
                              <m:t>𝑤</m:t>
                            </m:r>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−2</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e>
                        </m:d>
                      </m:num>
                      <m:den>
                        <m:nary>
                          <m:naryPr>
                            <m:chr m:val="∑"/>
                            <m:limLoc m:val="undOvr"/>
                            <m:supHide m:val="on"/>
                            <m:ctrlPr>
                              <a:rPr lang="en-IN" i="1">
                                <a:latin typeface="Cambria Math" panose="02040503050406030204" pitchFamily="18" charset="0"/>
                              </a:rPr>
                            </m:ctrlPr>
                          </m:naryPr>
                          <m:sub>
                            <m:r>
                              <a:rPr lang="en-IN" i="1">
                                <a:latin typeface="Cambria Math" panose="02040503050406030204" pitchFamily="18" charset="0"/>
                              </a:rPr>
                              <m:t>𝑤</m:t>
                            </m:r>
                            <m:r>
                              <a:rPr lang="en-IN">
                                <a:latin typeface="Cambria Math" panose="02040503050406030204" pitchFamily="18" charset="0"/>
                              </a:rPr>
                              <m:t>:</m:t>
                            </m:r>
                            <m:r>
                              <a:rPr lang="en-IN" i="1">
                                <a:latin typeface="Cambria Math" panose="02040503050406030204" pitchFamily="18" charset="0"/>
                              </a:rPr>
                              <m:t>𝐶</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−2</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r>
                                  <a:rPr lang="en-IN">
                                    <a:latin typeface="Cambria Math" panose="02040503050406030204" pitchFamily="18" charset="0"/>
                                  </a:rPr>
                                  <m:t>,</m:t>
                                </m:r>
                                <m:r>
                                  <a:rPr lang="en-IN" i="1">
                                    <a:latin typeface="Cambria Math" panose="02040503050406030204" pitchFamily="18" charset="0"/>
                                  </a:rPr>
                                  <m:t>𝑤</m:t>
                                </m:r>
                              </m:e>
                            </m:d>
                            <m:r>
                              <a:rPr lang="en-IN">
                                <a:latin typeface="Cambria Math" panose="02040503050406030204" pitchFamily="18" charset="0"/>
                              </a:rPr>
                              <m:t>=0</m:t>
                            </m:r>
                          </m:sub>
                          <m:sup/>
                          <m:e>
                            <m:sSub>
                              <m:sSubPr>
                                <m:ctrlPr>
                                  <a:rPr lang="en-IN" i="1">
                                    <a:latin typeface="Cambria Math" panose="02040503050406030204" pitchFamily="18" charset="0"/>
                                  </a:rPr>
                                </m:ctrlPr>
                              </m:sSubPr>
                              <m:e>
                                <m:r>
                                  <a:rPr lang="en-IN" i="1">
                                    <a:latin typeface="Cambria Math" panose="02040503050406030204" pitchFamily="18" charset="0"/>
                                  </a:rPr>
                                  <m:t>𝑃</m:t>
                                </m:r>
                              </m:e>
                              <m:sub>
                                <m:r>
                                  <m:rPr>
                                    <m:nor/>
                                  </m:rPr>
                                  <a:rPr lang="en-IN" i="0"/>
                                  <m:t>BO</m:t>
                                </m:r>
                              </m:sub>
                            </m:sSub>
                          </m:e>
                        </m:nary>
                        <m:d>
                          <m:dPr>
                            <m:ctrlPr>
                              <a:rPr lang="en-IN" i="1">
                                <a:latin typeface="Cambria Math" panose="02040503050406030204" pitchFamily="18" charset="0"/>
                              </a:rPr>
                            </m:ctrlPr>
                          </m:dPr>
                          <m:e>
                            <m:r>
                              <a:rPr lang="en-IN" i="1">
                                <a:latin typeface="Cambria Math" panose="02040503050406030204" pitchFamily="18" charset="0"/>
                              </a:rPr>
                              <m:t>𝑤</m:t>
                            </m:r>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b="0" i="1" smtClean="0">
                                    <a:latin typeface="Cambria Math" panose="02040503050406030204" pitchFamily="18" charset="0"/>
                                  </a:rPr>
                                  <m:t>𝑘</m:t>
                                </m:r>
                                <m:r>
                                  <a:rPr lang="en-IN">
                                    <a:latin typeface="Cambria Math" panose="02040503050406030204" pitchFamily="18" charset="0"/>
                                  </a:rPr>
                                  <m:t>−1</m:t>
                                </m:r>
                              </m:sub>
                            </m:sSub>
                          </m:e>
                        </m:d>
                      </m:den>
                    </m:f>
                  </m:oMath>
                </a14:m>
                <a:endParaRPr lang="en-IN" dirty="0"/>
              </a:p>
            </p:txBody>
          </p:sp>
        </mc:Choice>
        <mc:Fallback xmlns="">
          <p:sp>
            <p:nvSpPr>
              <p:cNvPr id="3" name="Content Placeholder 2">
                <a:extLst>
                  <a:ext uri="{FF2B5EF4-FFF2-40B4-BE49-F238E27FC236}">
                    <a16:creationId xmlns:a16="http://schemas.microsoft.com/office/drawing/2014/main" id="{E77726E8-B184-60EC-1ECB-583ECBF53147}"/>
                  </a:ext>
                </a:extLst>
              </p:cNvPr>
              <p:cNvSpPr>
                <a:spLocks noGrp="1" noRot="1" noChangeAspect="1" noMove="1" noResize="1" noEditPoints="1" noAdjustHandles="1" noChangeArrowheads="1" noChangeShapeType="1" noTextEdit="1"/>
              </p:cNvSpPr>
              <p:nvPr>
                <p:ph idx="1"/>
              </p:nvPr>
            </p:nvSpPr>
            <p:spPr>
              <a:xfrm>
                <a:off x="628650" y="762000"/>
                <a:ext cx="7886700" cy="6172201"/>
              </a:xfrm>
              <a:blipFill>
                <a:blip r:embed="rId2"/>
                <a:stretch>
                  <a:fillRect l="-773" t="-1481" r="-927"/>
                </a:stretch>
              </a:blipFill>
            </p:spPr>
            <p:txBody>
              <a:bodyPr/>
              <a:lstStyle/>
              <a:p>
                <a:r>
                  <a:rPr lang="en-IN">
                    <a:noFill/>
                  </a:rPr>
                  <a:t> </a:t>
                </a:r>
              </a:p>
            </p:txBody>
          </p:sp>
        </mc:Fallback>
      </mc:AlternateContent>
    </p:spTree>
    <p:extLst>
      <p:ext uri="{BB962C8B-B14F-4D97-AF65-F5344CB8AC3E}">
        <p14:creationId xmlns:p14="http://schemas.microsoft.com/office/powerpoint/2010/main" val="2146496948"/>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EC99728A6127F4F89CAF9F3240C8CFF" ma:contentTypeVersion="3" ma:contentTypeDescription="Create a new document." ma:contentTypeScope="" ma:versionID="7e7402f0dab3fcc782adb50016726280">
  <xsd:schema xmlns:xsd="http://www.w3.org/2001/XMLSchema" xmlns:xs="http://www.w3.org/2001/XMLSchema" xmlns:p="http://schemas.microsoft.com/office/2006/metadata/properties" xmlns:ns2="79306fda-43a2-430c-89ae-9679da3ec0e1" targetNamespace="http://schemas.microsoft.com/office/2006/metadata/properties" ma:root="true" ma:fieldsID="d53381ab9528536bd2d8f002f0f3cf7e" ns2:_="">
    <xsd:import namespace="79306fda-43a2-430c-89ae-9679da3ec0e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9306fda-43a2-430c-89ae-9679da3ec0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2CE5C7B-E71C-40C9-BAFB-A6A48D475C13}"/>
</file>

<file path=customXml/itemProps2.xml><?xml version="1.0" encoding="utf-8"?>
<ds:datastoreItem xmlns:ds="http://schemas.openxmlformats.org/officeDocument/2006/customXml" ds:itemID="{678E6A8B-7DE9-4336-8B3F-93A902794E45}"/>
</file>

<file path=customXml/itemProps3.xml><?xml version="1.0" encoding="utf-8"?>
<ds:datastoreItem xmlns:ds="http://schemas.openxmlformats.org/officeDocument/2006/customXml" ds:itemID="{26F0D5A9-1AFD-4831-BDF5-0C304F1455C0}"/>
</file>

<file path=docProps/app.xml><?xml version="1.0" encoding="utf-8"?>
<Properties xmlns="http://schemas.openxmlformats.org/officeDocument/2006/extended-properties" xmlns:vt="http://schemas.openxmlformats.org/officeDocument/2006/docPropsVTypes">
  <TotalTime>13638</TotalTime>
  <Words>1756</Words>
  <Application>Microsoft Office PowerPoint</Application>
  <PresentationFormat>On-screen Show (4:3)</PresentationFormat>
  <Paragraphs>183</Paragraphs>
  <Slides>13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ＭＳ Ｐゴシック</vt:lpstr>
      <vt:lpstr>Arial</vt:lpstr>
      <vt:lpstr>Calibri</vt:lpstr>
      <vt:lpstr>Calibri Light</vt:lpstr>
      <vt:lpstr>Cambria Math</vt:lpstr>
      <vt:lpstr>Lucida Sans</vt:lpstr>
      <vt:lpstr>1_Office Theme</vt:lpstr>
      <vt:lpstr>Data Sparsity Problem in N-gram LMs: </vt:lpstr>
      <vt:lpstr>Solutions:</vt:lpstr>
      <vt:lpstr>Intuition of Smoothing:</vt:lpstr>
      <vt:lpstr>The Zero-Probability Problem: Solution -&gt; Smoothing</vt:lpstr>
      <vt:lpstr>The Zero-Probability Problem: Solution -&gt; Smoothing</vt:lpstr>
      <vt:lpstr>Branching factor in N-gram LMs:</vt:lpstr>
      <vt:lpstr>Branching factor in N-gram LMs:</vt:lpstr>
      <vt:lpstr>Example:</vt:lpstr>
      <vt:lpstr>Example:</vt:lpstr>
      <vt:lpstr>Example:</vt:lpstr>
      <vt:lpstr>Example:</vt:lpstr>
      <vt:lpstr>The Zero-Probability Problem: Solution -&gt; Back-off &amp; Interpolation</vt:lpstr>
      <vt:lpstr>The Zero-Probability Problem: Solution -&gt; Back-off &amp; Interpolation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Probability Theory &amp; Random Variables</dc:title>
  <dc:creator>Jigar</dc:creator>
  <cp:lastModifiedBy>Jigarkumar Shah</cp:lastModifiedBy>
  <cp:revision>1235</cp:revision>
  <dcterms:created xsi:type="dcterms:W3CDTF">2006-08-16T00:00:00Z</dcterms:created>
  <dcterms:modified xsi:type="dcterms:W3CDTF">2026-09-09T06:53:03Z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0x010100EEC99728A6127F4F89CAF9F3240C8CFF</vt:lpwstr>
  </property>
</Properties>
</file>