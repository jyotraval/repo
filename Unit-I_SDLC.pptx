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5149850"/>
  <p:notesSz cx="9144000" cy="51498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343323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33234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3724695"/>
            <a:ext cx="5829300" cy="1098635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3724695"/>
            <a:ext cx="2400300" cy="1098635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350"/>
            </a:lvl4pPr>
            <a:lvl5pPr marL="1371600" indent="0" algn="ctr">
              <a:buNone/>
              <a:defRPr sz="1350"/>
            </a:lvl5pPr>
            <a:lvl6pPr marL="1714500" indent="0" algn="ctr">
              <a:buNone/>
              <a:defRPr sz="1350"/>
            </a:lvl6pPr>
            <a:lvl7pPr marL="2057400" indent="0" algn="ctr">
              <a:buNone/>
              <a:defRPr sz="1350"/>
            </a:lvl7pPr>
            <a:lvl8pPr marL="2400300" indent="0" algn="ctr">
              <a:buNone/>
              <a:defRPr sz="1350"/>
            </a:lvl8pPr>
            <a:lvl9pPr marL="2743200" indent="0" algn="ctr">
              <a:buNone/>
              <a:defRPr sz="135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52954"/>
            <a:ext cx="0" cy="686647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4617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</p:spTree>
    <p:extLst>
      <p:ext uri="{BB962C8B-B14F-4D97-AF65-F5344CB8AC3E}">
        <p14:creationId xmlns:p14="http://schemas.microsoft.com/office/powerpoint/2010/main" val="414762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343323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33234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4695"/>
            <a:ext cx="5829300" cy="1098635"/>
          </a:xfrm>
        </p:spPr>
        <p:txBody>
          <a:bodyPr anchor="ctr">
            <a:normAutofit/>
          </a:bodyPr>
          <a:lstStyle>
            <a:lvl1pPr algn="r">
              <a:defRPr sz="3750" b="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3724695"/>
            <a:ext cx="2400300" cy="1098635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52954"/>
            <a:ext cx="0" cy="686647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527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439454"/>
            <a:ext cx="7290054" cy="11261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5" y="1716617"/>
            <a:ext cx="3566160" cy="3021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1716617"/>
            <a:ext cx="3566160" cy="3021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</p:spTree>
    <p:extLst>
      <p:ext uri="{BB962C8B-B14F-4D97-AF65-F5344CB8AC3E}">
        <p14:creationId xmlns:p14="http://schemas.microsoft.com/office/powerpoint/2010/main" val="1218938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636745"/>
            <a:ext cx="3566160" cy="617982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725" b="0" cap="none" baseline="0">
                <a:solidFill>
                  <a:schemeClr val="accent1"/>
                </a:solidFill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228589"/>
            <a:ext cx="3566160" cy="25092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3166" y="1636745"/>
            <a:ext cx="3566160" cy="617982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725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3166" y="2228589"/>
            <a:ext cx="3566160" cy="25092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</p:spTree>
    <p:extLst>
      <p:ext uri="{BB962C8B-B14F-4D97-AF65-F5344CB8AC3E}">
        <p14:creationId xmlns:p14="http://schemas.microsoft.com/office/powerpoint/2010/main" val="2377628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</p:spTree>
    <p:extLst>
      <p:ext uri="{BB962C8B-B14F-4D97-AF65-F5344CB8AC3E}">
        <p14:creationId xmlns:p14="http://schemas.microsoft.com/office/powerpoint/2010/main" val="3371263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</p:spTree>
    <p:extLst>
      <p:ext uri="{BB962C8B-B14F-4D97-AF65-F5344CB8AC3E}">
        <p14:creationId xmlns:p14="http://schemas.microsoft.com/office/powerpoint/2010/main" val="476935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354068"/>
            <a:ext cx="3291840" cy="1304629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617982"/>
            <a:ext cx="4258818" cy="3893287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1695220"/>
            <a:ext cx="3291840" cy="282520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450"/>
              </a:spcBef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</p:spTree>
    <p:extLst>
      <p:ext uri="{BB962C8B-B14F-4D97-AF65-F5344CB8AC3E}">
        <p14:creationId xmlns:p14="http://schemas.microsoft.com/office/powerpoint/2010/main" val="2396252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4696"/>
            <a:ext cx="5829300" cy="1098635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3433233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3724696"/>
            <a:ext cx="2400300" cy="1098635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52954"/>
            <a:ext cx="0" cy="68664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0445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</p:spTree>
    <p:extLst>
      <p:ext uri="{BB962C8B-B14F-4D97-AF65-F5344CB8AC3E}">
        <p14:creationId xmlns:p14="http://schemas.microsoft.com/office/powerpoint/2010/main" val="2148440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572206"/>
            <a:ext cx="1971675" cy="4062659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572206"/>
            <a:ext cx="5686425" cy="40626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44925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7392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439454"/>
            <a:ext cx="7290054" cy="1126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716617"/>
            <a:ext cx="7290055" cy="3021245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4859019"/>
            <a:ext cx="1615607" cy="2059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D8BD707-D9CF-40AE-B4C6-C98DA3205C09}" type="datetimeFigureOut">
              <a:rPr lang="en-US" smtClean="0"/>
              <a:t>8/8/2023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4859019"/>
            <a:ext cx="4426094" cy="2059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4859019"/>
            <a:ext cx="730250" cy="2059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marL="38100">
              <a:lnSpc>
                <a:spcPts val="3135"/>
              </a:lnSpc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620508"/>
            <a:ext cx="0" cy="68664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229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3750" kern="1200" cap="all" spc="75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19888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3360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44577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58293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795528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912114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0218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6963" y="1589531"/>
            <a:ext cx="5861685" cy="1658620"/>
          </a:xfrm>
          <a:prstGeom prst="rect">
            <a:avLst/>
          </a:prstGeom>
          <a:solidFill>
            <a:srgbClr val="FFFF99"/>
          </a:solidFill>
          <a:ln w="9144">
            <a:solidFill>
              <a:srgbClr val="FF0000"/>
            </a:solidFill>
          </a:ln>
        </p:spPr>
        <p:txBody>
          <a:bodyPr vert="horz" wrap="square" lIns="0" tIns="45148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54"/>
              </a:spcBef>
            </a:pPr>
            <a:r>
              <a:rPr sz="4500" spc="-25" dirty="0">
                <a:solidFill>
                  <a:srgbClr val="0000CC"/>
                </a:solidFill>
              </a:rPr>
              <a:t>Life</a:t>
            </a:r>
            <a:r>
              <a:rPr sz="4500" spc="-15" dirty="0">
                <a:solidFill>
                  <a:srgbClr val="0000CC"/>
                </a:solidFill>
              </a:rPr>
              <a:t> </a:t>
            </a:r>
            <a:r>
              <a:rPr sz="4500" spc="-20" dirty="0">
                <a:solidFill>
                  <a:srgbClr val="0000CC"/>
                </a:solidFill>
              </a:rPr>
              <a:t>Cycle</a:t>
            </a:r>
            <a:r>
              <a:rPr sz="4500" spc="-60" dirty="0">
                <a:solidFill>
                  <a:srgbClr val="0000CC"/>
                </a:solidFill>
              </a:rPr>
              <a:t> </a:t>
            </a:r>
            <a:r>
              <a:rPr sz="4500" spc="-10" dirty="0">
                <a:solidFill>
                  <a:srgbClr val="0000CC"/>
                </a:solidFill>
              </a:rPr>
              <a:t>Models</a:t>
            </a:r>
            <a:endParaRPr sz="4500"/>
          </a:p>
        </p:txBody>
      </p:sp>
      <p:sp>
        <p:nvSpPr>
          <p:cNvPr id="3" name="object 3"/>
          <p:cNvSpPr txBox="1"/>
          <p:nvPr/>
        </p:nvSpPr>
        <p:spPr>
          <a:xfrm>
            <a:off x="8381492" y="4625746"/>
            <a:ext cx="23114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20736" y="514553"/>
            <a:ext cx="1444625" cy="911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7780">
              <a:lnSpc>
                <a:spcPct val="100000"/>
              </a:lnSpc>
              <a:spcBef>
                <a:spcPts val="105"/>
              </a:spcBef>
            </a:pPr>
            <a:r>
              <a:rPr sz="2900" spc="-10" dirty="0">
                <a:solidFill>
                  <a:srgbClr val="000000"/>
                </a:solidFill>
              </a:rPr>
              <a:t>Software </a:t>
            </a:r>
            <a:r>
              <a:rPr sz="2900" spc="-645" dirty="0">
                <a:solidFill>
                  <a:srgbClr val="000000"/>
                </a:solidFill>
              </a:rPr>
              <a:t> </a:t>
            </a:r>
            <a:r>
              <a:rPr sz="2900" spc="-15" dirty="0">
                <a:solidFill>
                  <a:srgbClr val="000000"/>
                </a:solidFill>
              </a:rPr>
              <a:t>Life</a:t>
            </a:r>
            <a:r>
              <a:rPr sz="2900" spc="-75" dirty="0">
                <a:solidFill>
                  <a:srgbClr val="000000"/>
                </a:solidFill>
              </a:rPr>
              <a:t> </a:t>
            </a:r>
            <a:r>
              <a:rPr sz="2900" spc="-15" dirty="0">
                <a:solidFill>
                  <a:srgbClr val="000000"/>
                </a:solidFill>
              </a:rPr>
              <a:t>Cycle</a:t>
            </a:r>
            <a:endParaRPr sz="2900"/>
          </a:p>
        </p:txBody>
      </p:sp>
      <p:sp>
        <p:nvSpPr>
          <p:cNvPr id="3" name="object 3"/>
          <p:cNvSpPr/>
          <p:nvPr/>
        </p:nvSpPr>
        <p:spPr>
          <a:xfrm>
            <a:off x="2479548" y="617219"/>
            <a:ext cx="4197350" cy="3797935"/>
          </a:xfrm>
          <a:custGeom>
            <a:avLst/>
            <a:gdLst/>
            <a:ahLst/>
            <a:cxnLst/>
            <a:rect l="l" t="t" r="r" b="b"/>
            <a:pathLst>
              <a:path w="4197350" h="3797935">
                <a:moveTo>
                  <a:pt x="0" y="1898903"/>
                </a:moveTo>
                <a:lnTo>
                  <a:pt x="607" y="1852765"/>
                </a:lnTo>
                <a:lnTo>
                  <a:pt x="2419" y="1806897"/>
                </a:lnTo>
                <a:lnTo>
                  <a:pt x="5424" y="1761312"/>
                </a:lnTo>
                <a:lnTo>
                  <a:pt x="9606" y="1716022"/>
                </a:lnTo>
                <a:lnTo>
                  <a:pt x="14952" y="1671039"/>
                </a:lnTo>
                <a:lnTo>
                  <a:pt x="21449" y="1626376"/>
                </a:lnTo>
                <a:lnTo>
                  <a:pt x="29083" y="1582045"/>
                </a:lnTo>
                <a:lnTo>
                  <a:pt x="37839" y="1538059"/>
                </a:lnTo>
                <a:lnTo>
                  <a:pt x="47705" y="1494430"/>
                </a:lnTo>
                <a:lnTo>
                  <a:pt x="58666" y="1451171"/>
                </a:lnTo>
                <a:lnTo>
                  <a:pt x="70709" y="1408294"/>
                </a:lnTo>
                <a:lnTo>
                  <a:pt x="83820" y="1365812"/>
                </a:lnTo>
                <a:lnTo>
                  <a:pt x="97985" y="1323736"/>
                </a:lnTo>
                <a:lnTo>
                  <a:pt x="113191" y="1282080"/>
                </a:lnTo>
                <a:lnTo>
                  <a:pt x="129423" y="1240855"/>
                </a:lnTo>
                <a:lnTo>
                  <a:pt x="146668" y="1200075"/>
                </a:lnTo>
                <a:lnTo>
                  <a:pt x="164913" y="1159752"/>
                </a:lnTo>
                <a:lnTo>
                  <a:pt x="184143" y="1119897"/>
                </a:lnTo>
                <a:lnTo>
                  <a:pt x="204345" y="1080524"/>
                </a:lnTo>
                <a:lnTo>
                  <a:pt x="225505" y="1041645"/>
                </a:lnTo>
                <a:lnTo>
                  <a:pt x="247610" y="1003272"/>
                </a:lnTo>
                <a:lnTo>
                  <a:pt x="270645" y="965418"/>
                </a:lnTo>
                <a:lnTo>
                  <a:pt x="294596" y="928096"/>
                </a:lnTo>
                <a:lnTo>
                  <a:pt x="319451" y="891317"/>
                </a:lnTo>
                <a:lnTo>
                  <a:pt x="345196" y="855094"/>
                </a:lnTo>
                <a:lnTo>
                  <a:pt x="371816" y="819440"/>
                </a:lnTo>
                <a:lnTo>
                  <a:pt x="399297" y="784366"/>
                </a:lnTo>
                <a:lnTo>
                  <a:pt x="427627" y="749886"/>
                </a:lnTo>
                <a:lnTo>
                  <a:pt x="456791" y="716012"/>
                </a:lnTo>
                <a:lnTo>
                  <a:pt x="486776" y="682756"/>
                </a:lnTo>
                <a:lnTo>
                  <a:pt x="517568" y="650131"/>
                </a:lnTo>
                <a:lnTo>
                  <a:pt x="549153" y="618149"/>
                </a:lnTo>
                <a:lnTo>
                  <a:pt x="581518" y="586823"/>
                </a:lnTo>
                <a:lnTo>
                  <a:pt x="614648" y="556164"/>
                </a:lnTo>
                <a:lnTo>
                  <a:pt x="648530" y="526186"/>
                </a:lnTo>
                <a:lnTo>
                  <a:pt x="683150" y="496901"/>
                </a:lnTo>
                <a:lnTo>
                  <a:pt x="718495" y="468321"/>
                </a:lnTo>
                <a:lnTo>
                  <a:pt x="754550" y="440459"/>
                </a:lnTo>
                <a:lnTo>
                  <a:pt x="791303" y="413327"/>
                </a:lnTo>
                <a:lnTo>
                  <a:pt x="828738" y="386938"/>
                </a:lnTo>
                <a:lnTo>
                  <a:pt x="866844" y="361303"/>
                </a:lnTo>
                <a:lnTo>
                  <a:pt x="905605" y="336436"/>
                </a:lnTo>
                <a:lnTo>
                  <a:pt x="945008" y="312349"/>
                </a:lnTo>
                <a:lnTo>
                  <a:pt x="985039" y="289054"/>
                </a:lnTo>
                <a:lnTo>
                  <a:pt x="1025685" y="266565"/>
                </a:lnTo>
                <a:lnTo>
                  <a:pt x="1066931" y="244892"/>
                </a:lnTo>
                <a:lnTo>
                  <a:pt x="1108765" y="224049"/>
                </a:lnTo>
                <a:lnTo>
                  <a:pt x="1151172" y="204047"/>
                </a:lnTo>
                <a:lnTo>
                  <a:pt x="1194139" y="184901"/>
                </a:lnTo>
                <a:lnTo>
                  <a:pt x="1237651" y="166621"/>
                </a:lnTo>
                <a:lnTo>
                  <a:pt x="1281695" y="149221"/>
                </a:lnTo>
                <a:lnTo>
                  <a:pt x="1326258" y="132712"/>
                </a:lnTo>
                <a:lnTo>
                  <a:pt x="1371326" y="117107"/>
                </a:lnTo>
                <a:lnTo>
                  <a:pt x="1416884" y="102420"/>
                </a:lnTo>
                <a:lnTo>
                  <a:pt x="1462920" y="88661"/>
                </a:lnTo>
                <a:lnTo>
                  <a:pt x="1509418" y="75844"/>
                </a:lnTo>
                <a:lnTo>
                  <a:pt x="1556367" y="63980"/>
                </a:lnTo>
                <a:lnTo>
                  <a:pt x="1603751" y="53083"/>
                </a:lnTo>
                <a:lnTo>
                  <a:pt x="1651558" y="43165"/>
                </a:lnTo>
                <a:lnTo>
                  <a:pt x="1699773" y="34238"/>
                </a:lnTo>
                <a:lnTo>
                  <a:pt x="1748383" y="26315"/>
                </a:lnTo>
                <a:lnTo>
                  <a:pt x="1797373" y="19408"/>
                </a:lnTo>
                <a:lnTo>
                  <a:pt x="1846731" y="13530"/>
                </a:lnTo>
                <a:lnTo>
                  <a:pt x="1896442" y="8692"/>
                </a:lnTo>
                <a:lnTo>
                  <a:pt x="1946493" y="4908"/>
                </a:lnTo>
                <a:lnTo>
                  <a:pt x="1996870" y="2189"/>
                </a:lnTo>
                <a:lnTo>
                  <a:pt x="2047560" y="549"/>
                </a:lnTo>
                <a:lnTo>
                  <a:pt x="2098548" y="0"/>
                </a:lnTo>
                <a:lnTo>
                  <a:pt x="2149535" y="549"/>
                </a:lnTo>
                <a:lnTo>
                  <a:pt x="2200225" y="2189"/>
                </a:lnTo>
                <a:lnTo>
                  <a:pt x="2250602" y="4908"/>
                </a:lnTo>
                <a:lnTo>
                  <a:pt x="2300653" y="8692"/>
                </a:lnTo>
                <a:lnTo>
                  <a:pt x="2350364" y="13530"/>
                </a:lnTo>
                <a:lnTo>
                  <a:pt x="2399722" y="19408"/>
                </a:lnTo>
                <a:lnTo>
                  <a:pt x="2448712" y="26315"/>
                </a:lnTo>
                <a:lnTo>
                  <a:pt x="2497322" y="34238"/>
                </a:lnTo>
                <a:lnTo>
                  <a:pt x="2545537" y="43165"/>
                </a:lnTo>
                <a:lnTo>
                  <a:pt x="2593344" y="53083"/>
                </a:lnTo>
                <a:lnTo>
                  <a:pt x="2640728" y="63980"/>
                </a:lnTo>
                <a:lnTo>
                  <a:pt x="2687677" y="75844"/>
                </a:lnTo>
                <a:lnTo>
                  <a:pt x="2734175" y="88661"/>
                </a:lnTo>
                <a:lnTo>
                  <a:pt x="2780211" y="102420"/>
                </a:lnTo>
                <a:lnTo>
                  <a:pt x="2825769" y="117107"/>
                </a:lnTo>
                <a:lnTo>
                  <a:pt x="2870837" y="132712"/>
                </a:lnTo>
                <a:lnTo>
                  <a:pt x="2915400" y="149221"/>
                </a:lnTo>
                <a:lnTo>
                  <a:pt x="2959444" y="166621"/>
                </a:lnTo>
                <a:lnTo>
                  <a:pt x="3002956" y="184901"/>
                </a:lnTo>
                <a:lnTo>
                  <a:pt x="3045923" y="204047"/>
                </a:lnTo>
                <a:lnTo>
                  <a:pt x="3088330" y="224049"/>
                </a:lnTo>
                <a:lnTo>
                  <a:pt x="3130164" y="244892"/>
                </a:lnTo>
                <a:lnTo>
                  <a:pt x="3171410" y="266565"/>
                </a:lnTo>
                <a:lnTo>
                  <a:pt x="3212056" y="289054"/>
                </a:lnTo>
                <a:lnTo>
                  <a:pt x="3252087" y="312349"/>
                </a:lnTo>
                <a:lnTo>
                  <a:pt x="3291490" y="336436"/>
                </a:lnTo>
                <a:lnTo>
                  <a:pt x="3330251" y="361303"/>
                </a:lnTo>
                <a:lnTo>
                  <a:pt x="3368357" y="386938"/>
                </a:lnTo>
                <a:lnTo>
                  <a:pt x="3405792" y="413327"/>
                </a:lnTo>
                <a:lnTo>
                  <a:pt x="3442545" y="440459"/>
                </a:lnTo>
                <a:lnTo>
                  <a:pt x="3478600" y="468321"/>
                </a:lnTo>
                <a:lnTo>
                  <a:pt x="3513945" y="496901"/>
                </a:lnTo>
                <a:lnTo>
                  <a:pt x="3548565" y="526186"/>
                </a:lnTo>
                <a:lnTo>
                  <a:pt x="3582447" y="556164"/>
                </a:lnTo>
                <a:lnTo>
                  <a:pt x="3615577" y="586823"/>
                </a:lnTo>
                <a:lnTo>
                  <a:pt x="3647942" y="618149"/>
                </a:lnTo>
                <a:lnTo>
                  <a:pt x="3679527" y="650131"/>
                </a:lnTo>
                <a:lnTo>
                  <a:pt x="3710319" y="682756"/>
                </a:lnTo>
                <a:lnTo>
                  <a:pt x="3740304" y="716012"/>
                </a:lnTo>
                <a:lnTo>
                  <a:pt x="3769468" y="749886"/>
                </a:lnTo>
                <a:lnTo>
                  <a:pt x="3797798" y="784366"/>
                </a:lnTo>
                <a:lnTo>
                  <a:pt x="3825279" y="819440"/>
                </a:lnTo>
                <a:lnTo>
                  <a:pt x="3851899" y="855094"/>
                </a:lnTo>
                <a:lnTo>
                  <a:pt x="3877644" y="891317"/>
                </a:lnTo>
                <a:lnTo>
                  <a:pt x="3902499" y="928096"/>
                </a:lnTo>
                <a:lnTo>
                  <a:pt x="3926450" y="965418"/>
                </a:lnTo>
                <a:lnTo>
                  <a:pt x="3949485" y="1003272"/>
                </a:lnTo>
                <a:lnTo>
                  <a:pt x="3971590" y="1041645"/>
                </a:lnTo>
                <a:lnTo>
                  <a:pt x="3992750" y="1080524"/>
                </a:lnTo>
                <a:lnTo>
                  <a:pt x="4012952" y="1119897"/>
                </a:lnTo>
                <a:lnTo>
                  <a:pt x="4032182" y="1159752"/>
                </a:lnTo>
                <a:lnTo>
                  <a:pt x="4050427" y="1200075"/>
                </a:lnTo>
                <a:lnTo>
                  <a:pt x="4067672" y="1240855"/>
                </a:lnTo>
                <a:lnTo>
                  <a:pt x="4083904" y="1282080"/>
                </a:lnTo>
                <a:lnTo>
                  <a:pt x="4099110" y="1323736"/>
                </a:lnTo>
                <a:lnTo>
                  <a:pt x="4113275" y="1365812"/>
                </a:lnTo>
                <a:lnTo>
                  <a:pt x="4126386" y="1408294"/>
                </a:lnTo>
                <a:lnTo>
                  <a:pt x="4138429" y="1451171"/>
                </a:lnTo>
                <a:lnTo>
                  <a:pt x="4149390" y="1494430"/>
                </a:lnTo>
                <a:lnTo>
                  <a:pt x="4159256" y="1538059"/>
                </a:lnTo>
                <a:lnTo>
                  <a:pt x="4168012" y="1582045"/>
                </a:lnTo>
                <a:lnTo>
                  <a:pt x="4175646" y="1626376"/>
                </a:lnTo>
                <a:lnTo>
                  <a:pt x="4182143" y="1671039"/>
                </a:lnTo>
                <a:lnTo>
                  <a:pt x="4187489" y="1716022"/>
                </a:lnTo>
                <a:lnTo>
                  <a:pt x="4191671" y="1761312"/>
                </a:lnTo>
                <a:lnTo>
                  <a:pt x="4194676" y="1806897"/>
                </a:lnTo>
                <a:lnTo>
                  <a:pt x="4196488" y="1852765"/>
                </a:lnTo>
                <a:lnTo>
                  <a:pt x="4197096" y="1898903"/>
                </a:lnTo>
                <a:lnTo>
                  <a:pt x="4196488" y="1945042"/>
                </a:lnTo>
                <a:lnTo>
                  <a:pt x="4194676" y="1990910"/>
                </a:lnTo>
                <a:lnTo>
                  <a:pt x="4191671" y="2036495"/>
                </a:lnTo>
                <a:lnTo>
                  <a:pt x="4187489" y="2081785"/>
                </a:lnTo>
                <a:lnTo>
                  <a:pt x="4182143" y="2126768"/>
                </a:lnTo>
                <a:lnTo>
                  <a:pt x="4175646" y="2171431"/>
                </a:lnTo>
                <a:lnTo>
                  <a:pt x="4168012" y="2215762"/>
                </a:lnTo>
                <a:lnTo>
                  <a:pt x="4159256" y="2259748"/>
                </a:lnTo>
                <a:lnTo>
                  <a:pt x="4149390" y="2303377"/>
                </a:lnTo>
                <a:lnTo>
                  <a:pt x="4138429" y="2346636"/>
                </a:lnTo>
                <a:lnTo>
                  <a:pt x="4126386" y="2389513"/>
                </a:lnTo>
                <a:lnTo>
                  <a:pt x="4113275" y="2431995"/>
                </a:lnTo>
                <a:lnTo>
                  <a:pt x="4099110" y="2474071"/>
                </a:lnTo>
                <a:lnTo>
                  <a:pt x="4083904" y="2515727"/>
                </a:lnTo>
                <a:lnTo>
                  <a:pt x="4067672" y="2556952"/>
                </a:lnTo>
                <a:lnTo>
                  <a:pt x="4050427" y="2597732"/>
                </a:lnTo>
                <a:lnTo>
                  <a:pt x="4032182" y="2638055"/>
                </a:lnTo>
                <a:lnTo>
                  <a:pt x="4012952" y="2677910"/>
                </a:lnTo>
                <a:lnTo>
                  <a:pt x="3992750" y="2717283"/>
                </a:lnTo>
                <a:lnTo>
                  <a:pt x="3971590" y="2756162"/>
                </a:lnTo>
                <a:lnTo>
                  <a:pt x="3949485" y="2794535"/>
                </a:lnTo>
                <a:lnTo>
                  <a:pt x="3926450" y="2832389"/>
                </a:lnTo>
                <a:lnTo>
                  <a:pt x="3902499" y="2869711"/>
                </a:lnTo>
                <a:lnTo>
                  <a:pt x="3877644" y="2906490"/>
                </a:lnTo>
                <a:lnTo>
                  <a:pt x="3851899" y="2942713"/>
                </a:lnTo>
                <a:lnTo>
                  <a:pt x="3825279" y="2978367"/>
                </a:lnTo>
                <a:lnTo>
                  <a:pt x="3797798" y="3013441"/>
                </a:lnTo>
                <a:lnTo>
                  <a:pt x="3769468" y="3047921"/>
                </a:lnTo>
                <a:lnTo>
                  <a:pt x="3740304" y="3081795"/>
                </a:lnTo>
                <a:lnTo>
                  <a:pt x="3710319" y="3115051"/>
                </a:lnTo>
                <a:lnTo>
                  <a:pt x="3679527" y="3147676"/>
                </a:lnTo>
                <a:lnTo>
                  <a:pt x="3647942" y="3179658"/>
                </a:lnTo>
                <a:lnTo>
                  <a:pt x="3615577" y="3210984"/>
                </a:lnTo>
                <a:lnTo>
                  <a:pt x="3582447" y="3241643"/>
                </a:lnTo>
                <a:lnTo>
                  <a:pt x="3548565" y="3271621"/>
                </a:lnTo>
                <a:lnTo>
                  <a:pt x="3513945" y="3300906"/>
                </a:lnTo>
                <a:lnTo>
                  <a:pt x="3478600" y="3329486"/>
                </a:lnTo>
                <a:lnTo>
                  <a:pt x="3442545" y="3357348"/>
                </a:lnTo>
                <a:lnTo>
                  <a:pt x="3405792" y="3384480"/>
                </a:lnTo>
                <a:lnTo>
                  <a:pt x="3368357" y="3410869"/>
                </a:lnTo>
                <a:lnTo>
                  <a:pt x="3330251" y="3436504"/>
                </a:lnTo>
                <a:lnTo>
                  <a:pt x="3291490" y="3461371"/>
                </a:lnTo>
                <a:lnTo>
                  <a:pt x="3252087" y="3485458"/>
                </a:lnTo>
                <a:lnTo>
                  <a:pt x="3212056" y="3508753"/>
                </a:lnTo>
                <a:lnTo>
                  <a:pt x="3171410" y="3531242"/>
                </a:lnTo>
                <a:lnTo>
                  <a:pt x="3130164" y="3552915"/>
                </a:lnTo>
                <a:lnTo>
                  <a:pt x="3088330" y="3573758"/>
                </a:lnTo>
                <a:lnTo>
                  <a:pt x="3045923" y="3593760"/>
                </a:lnTo>
                <a:lnTo>
                  <a:pt x="3002956" y="3612906"/>
                </a:lnTo>
                <a:lnTo>
                  <a:pt x="2959444" y="3631186"/>
                </a:lnTo>
                <a:lnTo>
                  <a:pt x="2915400" y="3648586"/>
                </a:lnTo>
                <a:lnTo>
                  <a:pt x="2870837" y="3665095"/>
                </a:lnTo>
                <a:lnTo>
                  <a:pt x="2825769" y="3680700"/>
                </a:lnTo>
                <a:lnTo>
                  <a:pt x="2780211" y="3695387"/>
                </a:lnTo>
                <a:lnTo>
                  <a:pt x="2734175" y="3709146"/>
                </a:lnTo>
                <a:lnTo>
                  <a:pt x="2687677" y="3721963"/>
                </a:lnTo>
                <a:lnTo>
                  <a:pt x="2640728" y="3733827"/>
                </a:lnTo>
                <a:lnTo>
                  <a:pt x="2593344" y="3744724"/>
                </a:lnTo>
                <a:lnTo>
                  <a:pt x="2545537" y="3754642"/>
                </a:lnTo>
                <a:lnTo>
                  <a:pt x="2497322" y="3763569"/>
                </a:lnTo>
                <a:lnTo>
                  <a:pt x="2448712" y="3771492"/>
                </a:lnTo>
                <a:lnTo>
                  <a:pt x="2399722" y="3778399"/>
                </a:lnTo>
                <a:lnTo>
                  <a:pt x="2350364" y="3784277"/>
                </a:lnTo>
                <a:lnTo>
                  <a:pt x="2300653" y="3789115"/>
                </a:lnTo>
                <a:lnTo>
                  <a:pt x="2250602" y="3792899"/>
                </a:lnTo>
                <a:lnTo>
                  <a:pt x="2200225" y="3795618"/>
                </a:lnTo>
                <a:lnTo>
                  <a:pt x="2149535" y="3797258"/>
                </a:lnTo>
                <a:lnTo>
                  <a:pt x="2098548" y="3797807"/>
                </a:lnTo>
                <a:lnTo>
                  <a:pt x="2047560" y="3797258"/>
                </a:lnTo>
                <a:lnTo>
                  <a:pt x="1996870" y="3795618"/>
                </a:lnTo>
                <a:lnTo>
                  <a:pt x="1946493" y="3792899"/>
                </a:lnTo>
                <a:lnTo>
                  <a:pt x="1896442" y="3789115"/>
                </a:lnTo>
                <a:lnTo>
                  <a:pt x="1846731" y="3784277"/>
                </a:lnTo>
                <a:lnTo>
                  <a:pt x="1797373" y="3778399"/>
                </a:lnTo>
                <a:lnTo>
                  <a:pt x="1748383" y="3771492"/>
                </a:lnTo>
                <a:lnTo>
                  <a:pt x="1699773" y="3763569"/>
                </a:lnTo>
                <a:lnTo>
                  <a:pt x="1651558" y="3754642"/>
                </a:lnTo>
                <a:lnTo>
                  <a:pt x="1603751" y="3744724"/>
                </a:lnTo>
                <a:lnTo>
                  <a:pt x="1556367" y="3733827"/>
                </a:lnTo>
                <a:lnTo>
                  <a:pt x="1509418" y="3721963"/>
                </a:lnTo>
                <a:lnTo>
                  <a:pt x="1462920" y="3709146"/>
                </a:lnTo>
                <a:lnTo>
                  <a:pt x="1416884" y="3695387"/>
                </a:lnTo>
                <a:lnTo>
                  <a:pt x="1371326" y="3680700"/>
                </a:lnTo>
                <a:lnTo>
                  <a:pt x="1326258" y="3665095"/>
                </a:lnTo>
                <a:lnTo>
                  <a:pt x="1281695" y="3648586"/>
                </a:lnTo>
                <a:lnTo>
                  <a:pt x="1237651" y="3631186"/>
                </a:lnTo>
                <a:lnTo>
                  <a:pt x="1194139" y="3612906"/>
                </a:lnTo>
                <a:lnTo>
                  <a:pt x="1151172" y="3593760"/>
                </a:lnTo>
                <a:lnTo>
                  <a:pt x="1108765" y="3573758"/>
                </a:lnTo>
                <a:lnTo>
                  <a:pt x="1066931" y="3552915"/>
                </a:lnTo>
                <a:lnTo>
                  <a:pt x="1025685" y="3531242"/>
                </a:lnTo>
                <a:lnTo>
                  <a:pt x="985039" y="3508753"/>
                </a:lnTo>
                <a:lnTo>
                  <a:pt x="945008" y="3485458"/>
                </a:lnTo>
                <a:lnTo>
                  <a:pt x="905605" y="3461371"/>
                </a:lnTo>
                <a:lnTo>
                  <a:pt x="866844" y="3436504"/>
                </a:lnTo>
                <a:lnTo>
                  <a:pt x="828738" y="3410869"/>
                </a:lnTo>
                <a:lnTo>
                  <a:pt x="791303" y="3384480"/>
                </a:lnTo>
                <a:lnTo>
                  <a:pt x="754550" y="3357348"/>
                </a:lnTo>
                <a:lnTo>
                  <a:pt x="718495" y="3329486"/>
                </a:lnTo>
                <a:lnTo>
                  <a:pt x="683150" y="3300906"/>
                </a:lnTo>
                <a:lnTo>
                  <a:pt x="648530" y="3271621"/>
                </a:lnTo>
                <a:lnTo>
                  <a:pt x="614648" y="3241643"/>
                </a:lnTo>
                <a:lnTo>
                  <a:pt x="581518" y="3210984"/>
                </a:lnTo>
                <a:lnTo>
                  <a:pt x="549153" y="3179658"/>
                </a:lnTo>
                <a:lnTo>
                  <a:pt x="517568" y="3147676"/>
                </a:lnTo>
                <a:lnTo>
                  <a:pt x="486776" y="3115051"/>
                </a:lnTo>
                <a:lnTo>
                  <a:pt x="456791" y="3081795"/>
                </a:lnTo>
                <a:lnTo>
                  <a:pt x="427627" y="3047921"/>
                </a:lnTo>
                <a:lnTo>
                  <a:pt x="399297" y="3013441"/>
                </a:lnTo>
                <a:lnTo>
                  <a:pt x="371816" y="2978367"/>
                </a:lnTo>
                <a:lnTo>
                  <a:pt x="345196" y="2942713"/>
                </a:lnTo>
                <a:lnTo>
                  <a:pt x="319451" y="2906490"/>
                </a:lnTo>
                <a:lnTo>
                  <a:pt x="294596" y="2869711"/>
                </a:lnTo>
                <a:lnTo>
                  <a:pt x="270645" y="2832389"/>
                </a:lnTo>
                <a:lnTo>
                  <a:pt x="247610" y="2794535"/>
                </a:lnTo>
                <a:lnTo>
                  <a:pt x="225505" y="2756162"/>
                </a:lnTo>
                <a:lnTo>
                  <a:pt x="204345" y="2717283"/>
                </a:lnTo>
                <a:lnTo>
                  <a:pt x="184143" y="2677910"/>
                </a:lnTo>
                <a:lnTo>
                  <a:pt x="164913" y="2638055"/>
                </a:lnTo>
                <a:lnTo>
                  <a:pt x="146668" y="2597732"/>
                </a:lnTo>
                <a:lnTo>
                  <a:pt x="129423" y="2556952"/>
                </a:lnTo>
                <a:lnTo>
                  <a:pt x="113191" y="2515727"/>
                </a:lnTo>
                <a:lnTo>
                  <a:pt x="97985" y="2474071"/>
                </a:lnTo>
                <a:lnTo>
                  <a:pt x="83820" y="2431995"/>
                </a:lnTo>
                <a:lnTo>
                  <a:pt x="70709" y="2389513"/>
                </a:lnTo>
                <a:lnTo>
                  <a:pt x="58666" y="2346636"/>
                </a:lnTo>
                <a:lnTo>
                  <a:pt x="47705" y="2303377"/>
                </a:lnTo>
                <a:lnTo>
                  <a:pt x="37839" y="2259748"/>
                </a:lnTo>
                <a:lnTo>
                  <a:pt x="29083" y="2215762"/>
                </a:lnTo>
                <a:lnTo>
                  <a:pt x="21449" y="2171431"/>
                </a:lnTo>
                <a:lnTo>
                  <a:pt x="14952" y="2126768"/>
                </a:lnTo>
                <a:lnTo>
                  <a:pt x="9606" y="2081785"/>
                </a:lnTo>
                <a:lnTo>
                  <a:pt x="5424" y="2036495"/>
                </a:lnTo>
                <a:lnTo>
                  <a:pt x="2419" y="1990910"/>
                </a:lnTo>
                <a:lnTo>
                  <a:pt x="607" y="1945042"/>
                </a:lnTo>
                <a:lnTo>
                  <a:pt x="0" y="1898903"/>
                </a:lnTo>
                <a:close/>
              </a:path>
            </a:pathLst>
          </a:custGeom>
          <a:ln w="57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13403" y="504443"/>
            <a:ext cx="1645920" cy="295910"/>
          </a:xfrm>
          <a:prstGeom prst="rect">
            <a:avLst/>
          </a:prstGeom>
          <a:solidFill>
            <a:srgbClr val="FFFF99"/>
          </a:solidFill>
          <a:ln w="27431">
            <a:solidFill>
              <a:srgbClr val="CC33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45"/>
              </a:spcBef>
            </a:pPr>
            <a:r>
              <a:rPr sz="1600" b="1" spc="15" dirty="0">
                <a:latin typeface="Comic Sans MS"/>
                <a:cs typeface="Comic Sans MS"/>
              </a:rPr>
              <a:t>Conceptualize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72100" y="1184147"/>
            <a:ext cx="1645920" cy="295910"/>
          </a:xfrm>
          <a:prstGeom prst="rect">
            <a:avLst/>
          </a:prstGeom>
          <a:solidFill>
            <a:srgbClr val="FFFF99"/>
          </a:solidFill>
          <a:ln w="27432">
            <a:solidFill>
              <a:srgbClr val="CC33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 marL="443865">
              <a:lnSpc>
                <a:spcPct val="100000"/>
              </a:lnSpc>
              <a:spcBef>
                <a:spcPts val="55"/>
              </a:spcBef>
            </a:pPr>
            <a:r>
              <a:rPr sz="1600" b="1" spc="10" dirty="0">
                <a:latin typeface="Comic Sans MS"/>
                <a:cs typeface="Comic Sans MS"/>
              </a:rPr>
              <a:t>Specify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84164" y="2092451"/>
            <a:ext cx="1645920" cy="295910"/>
          </a:xfrm>
          <a:prstGeom prst="rect">
            <a:avLst/>
          </a:prstGeom>
          <a:solidFill>
            <a:srgbClr val="FFFF99"/>
          </a:solidFill>
          <a:ln w="27432">
            <a:solidFill>
              <a:srgbClr val="CC33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499109">
              <a:lnSpc>
                <a:spcPct val="100000"/>
              </a:lnSpc>
              <a:spcBef>
                <a:spcPts val="50"/>
              </a:spcBef>
            </a:pPr>
            <a:r>
              <a:rPr sz="1600" b="1" spc="15" dirty="0">
                <a:latin typeface="Comic Sans MS"/>
                <a:cs typeface="Comic Sans MS"/>
              </a:rPr>
              <a:t>Design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55564" y="3393947"/>
            <a:ext cx="1645920" cy="299085"/>
          </a:xfrm>
          <a:prstGeom prst="rect">
            <a:avLst/>
          </a:prstGeom>
          <a:solidFill>
            <a:srgbClr val="FFFF99"/>
          </a:solidFill>
          <a:ln w="27432">
            <a:solidFill>
              <a:srgbClr val="CC33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0"/>
              </a:spcBef>
            </a:pPr>
            <a:r>
              <a:rPr sz="1600" b="1" spc="15" dirty="0">
                <a:latin typeface="Comic Sans MS"/>
                <a:cs typeface="Comic Sans MS"/>
              </a:rPr>
              <a:t>Code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84091" y="4189476"/>
            <a:ext cx="1645920" cy="295910"/>
          </a:xfrm>
          <a:prstGeom prst="rect">
            <a:avLst/>
          </a:prstGeom>
          <a:solidFill>
            <a:srgbClr val="FFFF99"/>
          </a:solidFill>
          <a:ln w="27431">
            <a:solidFill>
              <a:srgbClr val="CC33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sz="1600" b="1" spc="10" dirty="0">
                <a:latin typeface="Comic Sans MS"/>
                <a:cs typeface="Comic Sans MS"/>
              </a:rPr>
              <a:t>Test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13332" y="2318003"/>
            <a:ext cx="1645920" cy="295910"/>
          </a:xfrm>
          <a:prstGeom prst="rect">
            <a:avLst/>
          </a:prstGeom>
          <a:solidFill>
            <a:srgbClr val="FFFF99"/>
          </a:solidFill>
          <a:ln w="27432">
            <a:solidFill>
              <a:srgbClr val="CC33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 marL="397510">
              <a:lnSpc>
                <a:spcPct val="100000"/>
              </a:lnSpc>
              <a:spcBef>
                <a:spcPts val="55"/>
              </a:spcBef>
            </a:pPr>
            <a:r>
              <a:rPr sz="1600" b="1" spc="15" dirty="0">
                <a:latin typeface="Comic Sans MS"/>
                <a:cs typeface="Comic Sans MS"/>
              </a:rPr>
              <a:t>Maintain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912620" y="1354835"/>
            <a:ext cx="1645920" cy="295910"/>
          </a:xfrm>
          <a:custGeom>
            <a:avLst/>
            <a:gdLst/>
            <a:ahLst/>
            <a:cxnLst/>
            <a:rect l="l" t="t" r="r" b="b"/>
            <a:pathLst>
              <a:path w="1645920" h="295910">
                <a:moveTo>
                  <a:pt x="1645920" y="0"/>
                </a:moveTo>
                <a:lnTo>
                  <a:pt x="0" y="0"/>
                </a:lnTo>
                <a:lnTo>
                  <a:pt x="0" y="295656"/>
                </a:lnTo>
                <a:lnTo>
                  <a:pt x="1645920" y="295656"/>
                </a:lnTo>
                <a:lnTo>
                  <a:pt x="164592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912620" y="1354835"/>
            <a:ext cx="1645920" cy="295910"/>
          </a:xfrm>
          <a:prstGeom prst="rect">
            <a:avLst/>
          </a:prstGeom>
          <a:ln w="27431">
            <a:solidFill>
              <a:srgbClr val="CC33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508634">
              <a:lnSpc>
                <a:spcPct val="100000"/>
              </a:lnSpc>
              <a:spcBef>
                <a:spcPts val="45"/>
              </a:spcBef>
            </a:pPr>
            <a:r>
              <a:rPr sz="1600" b="1" spc="15" dirty="0">
                <a:latin typeface="Comic Sans MS"/>
                <a:cs typeface="Comic Sans MS"/>
              </a:rPr>
              <a:t>Retire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67483" y="3451859"/>
            <a:ext cx="1645920" cy="295910"/>
          </a:xfrm>
          <a:prstGeom prst="rect">
            <a:avLst/>
          </a:prstGeom>
          <a:solidFill>
            <a:srgbClr val="FFFF99"/>
          </a:solidFill>
          <a:ln w="27431">
            <a:solidFill>
              <a:srgbClr val="CC33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473709">
              <a:lnSpc>
                <a:spcPct val="100000"/>
              </a:lnSpc>
              <a:spcBef>
                <a:spcPts val="60"/>
              </a:spcBef>
            </a:pPr>
            <a:r>
              <a:rPr sz="1600" b="1" spc="10" dirty="0">
                <a:latin typeface="Comic Sans MS"/>
                <a:cs typeface="Comic Sans MS"/>
              </a:rPr>
              <a:t>Deliver</a:t>
            </a:r>
            <a:endParaRPr sz="1600">
              <a:latin typeface="Comic Sans MS"/>
              <a:cs typeface="Comic Sans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054351" y="362711"/>
            <a:ext cx="4651375" cy="3939540"/>
            <a:chOff x="2054351" y="362711"/>
            <a:chExt cx="4651375" cy="3939540"/>
          </a:xfrm>
        </p:grpSpPr>
        <p:sp>
          <p:nvSpPr>
            <p:cNvPr id="14" name="object 14"/>
            <p:cNvSpPr/>
            <p:nvPr/>
          </p:nvSpPr>
          <p:spPr>
            <a:xfrm>
              <a:off x="2393061" y="903731"/>
              <a:ext cx="4312920" cy="3398520"/>
            </a:xfrm>
            <a:custGeom>
              <a:avLst/>
              <a:gdLst/>
              <a:ahLst/>
              <a:cxnLst/>
              <a:rect l="l" t="t" r="r" b="b"/>
              <a:pathLst>
                <a:path w="4312920" h="3398520">
                  <a:moveTo>
                    <a:pt x="284226" y="2012061"/>
                  </a:moveTo>
                  <a:lnTo>
                    <a:pt x="86487" y="1755648"/>
                  </a:lnTo>
                  <a:lnTo>
                    <a:pt x="0" y="2067560"/>
                  </a:lnTo>
                  <a:lnTo>
                    <a:pt x="284226" y="2012061"/>
                  </a:lnTo>
                  <a:close/>
                </a:path>
                <a:path w="4312920" h="3398520">
                  <a:moveTo>
                    <a:pt x="325374" y="1105916"/>
                  </a:moveTo>
                  <a:lnTo>
                    <a:pt x="257175" y="789432"/>
                  </a:lnTo>
                  <a:lnTo>
                    <a:pt x="44958" y="1033907"/>
                  </a:lnTo>
                  <a:lnTo>
                    <a:pt x="325374" y="1105916"/>
                  </a:lnTo>
                  <a:close/>
                </a:path>
                <a:path w="4312920" h="3398520">
                  <a:moveTo>
                    <a:pt x="911733" y="2955544"/>
                  </a:moveTo>
                  <a:lnTo>
                    <a:pt x="595503" y="2886456"/>
                  </a:lnTo>
                  <a:lnTo>
                    <a:pt x="729996" y="3180931"/>
                  </a:lnTo>
                  <a:lnTo>
                    <a:pt x="802703" y="3090761"/>
                  </a:lnTo>
                  <a:lnTo>
                    <a:pt x="860793" y="3137598"/>
                  </a:lnTo>
                  <a:lnTo>
                    <a:pt x="897128" y="3092513"/>
                  </a:lnTo>
                  <a:lnTo>
                    <a:pt x="839038" y="3045701"/>
                  </a:lnTo>
                  <a:lnTo>
                    <a:pt x="853694" y="3027515"/>
                  </a:lnTo>
                  <a:lnTo>
                    <a:pt x="911733" y="2955544"/>
                  </a:lnTo>
                  <a:close/>
                </a:path>
                <a:path w="4312920" h="3398520">
                  <a:moveTo>
                    <a:pt x="3359658" y="3373183"/>
                  </a:moveTo>
                  <a:lnTo>
                    <a:pt x="3308908" y="3288893"/>
                  </a:lnTo>
                  <a:lnTo>
                    <a:pt x="3299930" y="3273996"/>
                  </a:lnTo>
                  <a:lnTo>
                    <a:pt x="3335401" y="3252635"/>
                  </a:lnTo>
                  <a:lnTo>
                    <a:pt x="3305429" y="3203029"/>
                  </a:lnTo>
                  <a:lnTo>
                    <a:pt x="3270034" y="3224339"/>
                  </a:lnTo>
                  <a:lnTo>
                    <a:pt x="3210306" y="3125114"/>
                  </a:lnTo>
                  <a:lnTo>
                    <a:pt x="3036951" y="3398520"/>
                  </a:lnTo>
                  <a:lnTo>
                    <a:pt x="3359658" y="3373183"/>
                  </a:lnTo>
                  <a:close/>
                </a:path>
                <a:path w="4312920" h="3398520">
                  <a:moveTo>
                    <a:pt x="3716655" y="280416"/>
                  </a:moveTo>
                  <a:lnTo>
                    <a:pt x="3554857" y="0"/>
                  </a:lnTo>
                  <a:lnTo>
                    <a:pt x="3395218" y="241554"/>
                  </a:lnTo>
                  <a:lnTo>
                    <a:pt x="3716655" y="280416"/>
                  </a:lnTo>
                  <a:close/>
                </a:path>
                <a:path w="4312920" h="3398520">
                  <a:moveTo>
                    <a:pt x="4299585" y="2274697"/>
                  </a:moveTo>
                  <a:lnTo>
                    <a:pt x="4259694" y="2258822"/>
                  </a:lnTo>
                  <a:lnTo>
                    <a:pt x="4191965" y="2231872"/>
                  </a:lnTo>
                  <a:lnTo>
                    <a:pt x="4197731" y="2217420"/>
                  </a:lnTo>
                  <a:lnTo>
                    <a:pt x="4143883" y="2196084"/>
                  </a:lnTo>
                  <a:lnTo>
                    <a:pt x="4138168" y="2210460"/>
                  </a:lnTo>
                  <a:lnTo>
                    <a:pt x="4030599" y="2167636"/>
                  </a:lnTo>
                  <a:lnTo>
                    <a:pt x="4058031" y="2490216"/>
                  </a:lnTo>
                  <a:lnTo>
                    <a:pt x="4299585" y="2274697"/>
                  </a:lnTo>
                  <a:close/>
                </a:path>
                <a:path w="4312920" h="3398520">
                  <a:moveTo>
                    <a:pt x="4312666" y="876046"/>
                  </a:moveTo>
                  <a:lnTo>
                    <a:pt x="4028948" y="933958"/>
                  </a:lnTo>
                  <a:lnTo>
                    <a:pt x="4228719" y="1188720"/>
                  </a:lnTo>
                  <a:lnTo>
                    <a:pt x="4312666" y="8760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054351" y="362711"/>
              <a:ext cx="1533525" cy="911860"/>
            </a:xfrm>
            <a:custGeom>
              <a:avLst/>
              <a:gdLst/>
              <a:ahLst/>
              <a:cxnLst/>
              <a:rect l="l" t="t" r="r" b="b"/>
              <a:pathLst>
                <a:path w="1533525" h="911860">
                  <a:moveTo>
                    <a:pt x="1533144" y="0"/>
                  </a:moveTo>
                  <a:lnTo>
                    <a:pt x="0" y="0"/>
                  </a:lnTo>
                  <a:lnTo>
                    <a:pt x="0" y="911351"/>
                  </a:lnTo>
                  <a:lnTo>
                    <a:pt x="1533144" y="911351"/>
                  </a:lnTo>
                  <a:lnTo>
                    <a:pt x="1533144" y="0"/>
                  </a:lnTo>
                  <a:close/>
                </a:path>
              </a:pathLst>
            </a:custGeom>
            <a:solidFill>
              <a:srgbClr val="F7E9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901568" y="826388"/>
              <a:ext cx="709930" cy="528955"/>
            </a:xfrm>
            <a:custGeom>
              <a:avLst/>
              <a:gdLst/>
              <a:ahLst/>
              <a:cxnLst/>
              <a:rect l="l" t="t" r="r" b="b"/>
              <a:pathLst>
                <a:path w="709929" h="528955">
                  <a:moveTo>
                    <a:pt x="0" y="528574"/>
                  </a:moveTo>
                  <a:lnTo>
                    <a:pt x="31526" y="494180"/>
                  </a:lnTo>
                  <a:lnTo>
                    <a:pt x="64074" y="460307"/>
                  </a:lnTo>
                  <a:lnTo>
                    <a:pt x="97627" y="426969"/>
                  </a:lnTo>
                  <a:lnTo>
                    <a:pt x="132167" y="394179"/>
                  </a:lnTo>
                  <a:lnTo>
                    <a:pt x="167677" y="361949"/>
                  </a:lnTo>
                  <a:lnTo>
                    <a:pt x="204140" y="330294"/>
                  </a:lnTo>
                  <a:lnTo>
                    <a:pt x="241538" y="299225"/>
                  </a:lnTo>
                  <a:lnTo>
                    <a:pt x="279855" y="268757"/>
                  </a:lnTo>
                  <a:lnTo>
                    <a:pt x="319071" y="238902"/>
                  </a:lnTo>
                  <a:lnTo>
                    <a:pt x="359171" y="209675"/>
                  </a:lnTo>
                  <a:lnTo>
                    <a:pt x="400136" y="181087"/>
                  </a:lnTo>
                  <a:lnTo>
                    <a:pt x="441950" y="153152"/>
                  </a:lnTo>
                  <a:lnTo>
                    <a:pt x="484595" y="125884"/>
                  </a:lnTo>
                  <a:lnTo>
                    <a:pt x="528053" y="99295"/>
                  </a:lnTo>
                  <a:lnTo>
                    <a:pt x="572308" y="73399"/>
                  </a:lnTo>
                  <a:lnTo>
                    <a:pt x="617341" y="48209"/>
                  </a:lnTo>
                  <a:lnTo>
                    <a:pt x="663136" y="23738"/>
                  </a:lnTo>
                  <a:lnTo>
                    <a:pt x="709676" y="0"/>
                  </a:lnTo>
                </a:path>
              </a:pathLst>
            </a:custGeom>
            <a:ln w="76200">
              <a:solidFill>
                <a:srgbClr val="F5E4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509507" y="4793386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1876" y="183007"/>
            <a:ext cx="26015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000000"/>
                </a:solidFill>
              </a:rPr>
              <a:t>Life</a:t>
            </a:r>
            <a:r>
              <a:rPr sz="3000" spc="-65" dirty="0">
                <a:solidFill>
                  <a:srgbClr val="000000"/>
                </a:solidFill>
              </a:rPr>
              <a:t> </a:t>
            </a:r>
            <a:r>
              <a:rPr sz="3000" spc="-15" dirty="0">
                <a:solidFill>
                  <a:srgbClr val="000000"/>
                </a:solidFill>
              </a:rPr>
              <a:t>Cycle</a:t>
            </a:r>
            <a:r>
              <a:rPr sz="3000" spc="-35" dirty="0">
                <a:solidFill>
                  <a:srgbClr val="000000"/>
                </a:solidFill>
              </a:rPr>
              <a:t> </a:t>
            </a:r>
            <a:r>
              <a:rPr sz="3000" spc="-10" dirty="0">
                <a:solidFill>
                  <a:srgbClr val="000000"/>
                </a:solidFill>
              </a:rPr>
              <a:t>Model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8356092" y="4727168"/>
            <a:ext cx="281940" cy="431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z="3200" b="1" spc="-5" dirty="0">
                <a:solidFill>
                  <a:srgbClr val="888888"/>
                </a:solidFill>
                <a:latin typeface="Calibri"/>
                <a:cs typeface="Calibri"/>
              </a:rPr>
              <a:t>3</a:t>
            </a:fld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3111" y="513461"/>
            <a:ext cx="8878570" cy="3715385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244475" indent="-232410">
              <a:lnSpc>
                <a:spcPct val="100000"/>
              </a:lnSpc>
              <a:spcBef>
                <a:spcPts val="2075"/>
              </a:spcBef>
              <a:buFont typeface="Arial MT"/>
              <a:buChar char="•"/>
              <a:tabLst>
                <a:tab pos="245110" algn="l"/>
                <a:tab pos="5041265" algn="l"/>
              </a:tabLst>
            </a:pPr>
            <a:r>
              <a:rPr sz="2800" spc="5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2800" spc="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CC"/>
                </a:solidFill>
                <a:latin typeface="Calibri"/>
                <a:cs typeface="Calibri"/>
              </a:rPr>
              <a:t>software</a:t>
            </a:r>
            <a:r>
              <a:rPr sz="2800" spc="-5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0000CC"/>
                </a:solidFill>
                <a:latin typeface="Calibri"/>
                <a:cs typeface="Calibri"/>
              </a:rPr>
              <a:t>life</a:t>
            </a:r>
            <a:r>
              <a:rPr sz="2800" spc="-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CC"/>
                </a:solidFill>
                <a:latin typeface="Calibri"/>
                <a:cs typeface="Calibri"/>
              </a:rPr>
              <a:t>cycle</a:t>
            </a:r>
            <a:r>
              <a:rPr sz="2800" spc="-5" dirty="0">
                <a:solidFill>
                  <a:srgbClr val="0000CC"/>
                </a:solidFill>
                <a:latin typeface="Calibri"/>
                <a:cs typeface="Calibri"/>
              </a:rPr>
              <a:t> model</a:t>
            </a:r>
            <a:r>
              <a:rPr sz="2800" spc="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CC"/>
                </a:solidFill>
                <a:latin typeface="Calibri"/>
                <a:cs typeface="Calibri"/>
              </a:rPr>
              <a:t>(also	</a:t>
            </a:r>
            <a:r>
              <a:rPr sz="2800" spc="-10" dirty="0">
                <a:solidFill>
                  <a:srgbClr val="0000CC"/>
                </a:solidFill>
                <a:latin typeface="Calibri"/>
                <a:cs typeface="Calibri"/>
              </a:rPr>
              <a:t>process</a:t>
            </a:r>
            <a:r>
              <a:rPr sz="2800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CC"/>
                </a:solidFill>
                <a:latin typeface="Calibri"/>
                <a:cs typeface="Calibri"/>
              </a:rPr>
              <a:t>model</a:t>
            </a:r>
            <a:r>
              <a:rPr sz="2800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CC"/>
                </a:solidFill>
                <a:latin typeface="Calibri"/>
                <a:cs typeface="Calibri"/>
              </a:rPr>
              <a:t>or</a:t>
            </a:r>
            <a:r>
              <a:rPr sz="2800" spc="-4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CC"/>
                </a:solidFill>
                <a:latin typeface="Calibri"/>
                <a:cs typeface="Calibri"/>
              </a:rPr>
              <a:t>SDLC):</a:t>
            </a:r>
            <a:endParaRPr sz="2800">
              <a:latin typeface="Calibri"/>
              <a:cs typeface="Calibri"/>
            </a:endParaRPr>
          </a:p>
          <a:p>
            <a:pPr marL="515620" marR="554990" indent="-192405">
              <a:lnSpc>
                <a:spcPct val="120100"/>
              </a:lnSpc>
              <a:spcBef>
                <a:spcPts val="1295"/>
              </a:spcBef>
            </a:pPr>
            <a:r>
              <a:rPr sz="2800" dirty="0">
                <a:solidFill>
                  <a:srgbClr val="0000CC"/>
                </a:solidFill>
                <a:latin typeface="Arial MT"/>
                <a:cs typeface="Arial MT"/>
              </a:rPr>
              <a:t>–</a:t>
            </a:r>
            <a:r>
              <a:rPr sz="2800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2800" spc="-5" dirty="0">
                <a:solidFill>
                  <a:srgbClr val="0000CC"/>
                </a:solidFill>
                <a:latin typeface="Calibri"/>
                <a:cs typeface="Calibri"/>
              </a:rPr>
              <a:t> descriptive</a:t>
            </a:r>
            <a:r>
              <a:rPr sz="2800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CC"/>
                </a:solidFill>
                <a:latin typeface="Calibri"/>
                <a:cs typeface="Calibri"/>
              </a:rPr>
              <a:t>and</a:t>
            </a:r>
            <a:r>
              <a:rPr sz="2800" spc="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CC"/>
                </a:solidFill>
                <a:latin typeface="Calibri"/>
                <a:cs typeface="Calibri"/>
              </a:rPr>
              <a:t>diagrammatic</a:t>
            </a:r>
            <a:r>
              <a:rPr sz="2800" spc="-5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CC"/>
                </a:solidFill>
                <a:latin typeface="Calibri"/>
                <a:cs typeface="Calibri"/>
              </a:rPr>
              <a:t>model</a:t>
            </a:r>
            <a:r>
              <a:rPr sz="2800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CC"/>
                </a:solidFill>
                <a:latin typeface="Calibri"/>
                <a:cs typeface="Calibri"/>
              </a:rPr>
              <a:t>of</a:t>
            </a:r>
            <a:r>
              <a:rPr sz="2800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CC"/>
                </a:solidFill>
                <a:latin typeface="Calibri"/>
                <a:cs typeface="Calibri"/>
              </a:rPr>
              <a:t>software</a:t>
            </a:r>
            <a:r>
              <a:rPr sz="2800" spc="-6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0000CC"/>
                </a:solidFill>
                <a:latin typeface="Calibri"/>
                <a:cs typeface="Calibri"/>
              </a:rPr>
              <a:t>life </a:t>
            </a:r>
            <a:r>
              <a:rPr sz="2800" spc="-6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CC"/>
                </a:solidFill>
                <a:latin typeface="Calibri"/>
                <a:cs typeface="Calibri"/>
              </a:rPr>
              <a:t>cycle</a:t>
            </a:r>
            <a:r>
              <a:rPr sz="2800" spc="-10" dirty="0">
                <a:solidFill>
                  <a:srgbClr val="FFFF00"/>
                </a:solidFill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939"/>
              </a:spcBef>
            </a:pPr>
            <a:r>
              <a:rPr sz="2400" spc="15" dirty="0">
                <a:latin typeface="Arial MT"/>
                <a:cs typeface="Arial MT"/>
              </a:rPr>
              <a:t>–</a:t>
            </a:r>
            <a:r>
              <a:rPr sz="2400" spc="15" dirty="0">
                <a:latin typeface="Calibri"/>
                <a:cs typeface="Calibri"/>
              </a:rPr>
              <a:t>Identifies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activities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undertaken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during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product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development,</a:t>
            </a:r>
            <a:endParaRPr sz="24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895"/>
              </a:spcBef>
            </a:pPr>
            <a:r>
              <a:rPr sz="2400" spc="10" dirty="0">
                <a:latin typeface="Arial MT"/>
                <a:cs typeface="Arial MT"/>
              </a:rPr>
              <a:t>–</a:t>
            </a:r>
            <a:r>
              <a:rPr sz="2400" spc="10" dirty="0">
                <a:latin typeface="Calibri"/>
                <a:cs typeface="Calibri"/>
              </a:rPr>
              <a:t>Establishes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precedence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ordering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among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different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activities,</a:t>
            </a:r>
            <a:endParaRPr sz="24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875"/>
              </a:spcBef>
            </a:pPr>
            <a:r>
              <a:rPr sz="2400" spc="20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400" spc="20" dirty="0">
                <a:solidFill>
                  <a:srgbClr val="0000FF"/>
                </a:solidFill>
                <a:latin typeface="Calibri"/>
                <a:cs typeface="Calibri"/>
              </a:rPr>
              <a:t>Divides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life</a:t>
            </a:r>
            <a:r>
              <a:rPr sz="24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cycle</a:t>
            </a:r>
            <a:r>
              <a:rPr sz="2400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into</a:t>
            </a:r>
            <a:r>
              <a:rPr sz="24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phases.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0754" y="213436"/>
            <a:ext cx="36823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solidFill>
                  <a:srgbClr val="0000CC"/>
                </a:solidFill>
              </a:rPr>
              <a:t>Life</a:t>
            </a:r>
            <a:r>
              <a:rPr sz="3600" spc="5" dirty="0">
                <a:solidFill>
                  <a:srgbClr val="0000CC"/>
                </a:solidFill>
              </a:rPr>
              <a:t> </a:t>
            </a:r>
            <a:r>
              <a:rPr sz="3600" spc="-15" dirty="0">
                <a:solidFill>
                  <a:srgbClr val="0000CC"/>
                </a:solidFill>
              </a:rPr>
              <a:t>Cycle</a:t>
            </a:r>
            <a:r>
              <a:rPr sz="3600" spc="-20" dirty="0">
                <a:solidFill>
                  <a:srgbClr val="0000CC"/>
                </a:solidFill>
              </a:rPr>
              <a:t> </a:t>
            </a:r>
            <a:r>
              <a:rPr sz="3600" dirty="0">
                <a:solidFill>
                  <a:srgbClr val="0000CC"/>
                </a:solidFill>
              </a:rPr>
              <a:t>Model</a:t>
            </a:r>
            <a:r>
              <a:rPr sz="3600" spc="-5" dirty="0">
                <a:solidFill>
                  <a:srgbClr val="0000CC"/>
                </a:solidFill>
              </a:rPr>
              <a:t> </a:t>
            </a:r>
            <a:r>
              <a:rPr sz="1100" spc="-10" dirty="0">
                <a:solidFill>
                  <a:srgbClr val="0000CC"/>
                </a:solidFill>
              </a:rPr>
              <a:t>(CONT.)</a:t>
            </a:r>
            <a:endParaRPr sz="1100"/>
          </a:p>
        </p:txBody>
      </p:sp>
      <p:sp>
        <p:nvSpPr>
          <p:cNvPr id="4" name="object 4"/>
          <p:cNvSpPr txBox="1"/>
          <p:nvPr/>
        </p:nvSpPr>
        <p:spPr>
          <a:xfrm>
            <a:off x="8356092" y="4727168"/>
            <a:ext cx="281940" cy="431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z="3200" b="1" spc="-5" dirty="0">
                <a:solidFill>
                  <a:srgbClr val="888888"/>
                </a:solidFill>
                <a:latin typeface="Calibri"/>
                <a:cs typeface="Calibri"/>
              </a:rPr>
              <a:t>4</a:t>
            </a:fld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9615" y="604359"/>
            <a:ext cx="8594090" cy="3458210"/>
          </a:xfrm>
          <a:prstGeom prst="rect">
            <a:avLst/>
          </a:prstGeom>
        </p:spPr>
        <p:txBody>
          <a:bodyPr vert="horz" wrap="square" lIns="0" tIns="285750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2250"/>
              </a:spcBef>
              <a:buFont typeface="Arial MT"/>
              <a:buChar char="•"/>
              <a:tabLst>
                <a:tab pos="244475" algn="l"/>
                <a:tab pos="3845560" algn="l"/>
              </a:tabLst>
            </a:pPr>
            <a:r>
              <a:rPr sz="3250" spc="-10" dirty="0">
                <a:latin typeface="Calibri"/>
                <a:cs typeface="Calibri"/>
              </a:rPr>
              <a:t>Each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life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cycle</a:t>
            </a:r>
            <a:r>
              <a:rPr sz="3250" spc="-3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phase	</a:t>
            </a:r>
            <a:r>
              <a:rPr sz="3250" spc="-5" dirty="0">
                <a:latin typeface="Calibri"/>
                <a:cs typeface="Calibri"/>
              </a:rPr>
              <a:t>consists</a:t>
            </a:r>
            <a:r>
              <a:rPr sz="3250" spc="-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of</a:t>
            </a:r>
            <a:r>
              <a:rPr sz="3250" spc="-10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several</a:t>
            </a:r>
            <a:r>
              <a:rPr sz="3250" spc="-3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activities.</a:t>
            </a:r>
            <a:endParaRPr sz="325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1970"/>
              </a:spcBef>
            </a:pPr>
            <a:r>
              <a:rPr sz="3000" spc="-20" dirty="0">
                <a:latin typeface="Arial MT"/>
                <a:cs typeface="Arial MT"/>
              </a:rPr>
              <a:t>–</a:t>
            </a:r>
            <a:r>
              <a:rPr sz="3000" spc="-20" dirty="0">
                <a:latin typeface="Calibri"/>
                <a:cs typeface="Calibri"/>
              </a:rPr>
              <a:t>For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example,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design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stage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might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consist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of:</a:t>
            </a:r>
            <a:endParaRPr sz="3000">
              <a:latin typeface="Calibri"/>
              <a:cs typeface="Calibri"/>
            </a:endParaRPr>
          </a:p>
          <a:p>
            <a:pPr marL="789940" lvl="1" indent="-155575">
              <a:lnSpc>
                <a:spcPct val="100000"/>
              </a:lnSpc>
              <a:spcBef>
                <a:spcPts val="1910"/>
              </a:spcBef>
              <a:buFont typeface="Arial MT"/>
              <a:buChar char="•"/>
              <a:tabLst>
                <a:tab pos="789940" algn="l"/>
              </a:tabLst>
            </a:pPr>
            <a:r>
              <a:rPr sz="2700" spc="-5" dirty="0">
                <a:latin typeface="Calibri"/>
                <a:cs typeface="Calibri"/>
              </a:rPr>
              <a:t>structured</a:t>
            </a:r>
            <a:r>
              <a:rPr sz="2700" spc="4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analysis</a:t>
            </a:r>
            <a:endParaRPr sz="2700">
              <a:latin typeface="Calibri"/>
              <a:cs typeface="Calibri"/>
            </a:endParaRPr>
          </a:p>
          <a:p>
            <a:pPr marL="789940" lvl="1" indent="-155575">
              <a:lnSpc>
                <a:spcPct val="100000"/>
              </a:lnSpc>
              <a:spcBef>
                <a:spcPts val="1875"/>
              </a:spcBef>
              <a:buFont typeface="Arial MT"/>
              <a:buChar char="•"/>
              <a:tabLst>
                <a:tab pos="789940" algn="l"/>
              </a:tabLst>
            </a:pPr>
            <a:r>
              <a:rPr sz="2700" spc="-5" dirty="0">
                <a:latin typeface="Calibri"/>
                <a:cs typeface="Calibri"/>
              </a:rPr>
              <a:t>structured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design</a:t>
            </a:r>
            <a:endParaRPr sz="2700">
              <a:latin typeface="Calibri"/>
              <a:cs typeface="Calibri"/>
            </a:endParaRPr>
          </a:p>
          <a:p>
            <a:pPr marL="789940" lvl="1" indent="-155575">
              <a:lnSpc>
                <a:spcPct val="100000"/>
              </a:lnSpc>
              <a:spcBef>
                <a:spcPts val="1900"/>
              </a:spcBef>
              <a:buFont typeface="Arial MT"/>
              <a:buChar char="•"/>
              <a:tabLst>
                <a:tab pos="789940" algn="l"/>
              </a:tabLst>
            </a:pPr>
            <a:r>
              <a:rPr sz="2700" spc="5" dirty="0">
                <a:latin typeface="Calibri"/>
                <a:cs typeface="Calibri"/>
              </a:rPr>
              <a:t>Design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review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6964" y="228980"/>
            <a:ext cx="44157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27605" algn="l"/>
              </a:tabLst>
            </a:pPr>
            <a:r>
              <a:rPr sz="3600" spc="-20" dirty="0">
                <a:solidFill>
                  <a:srgbClr val="0000CC"/>
                </a:solidFill>
              </a:rPr>
              <a:t>Why</a:t>
            </a:r>
            <a:r>
              <a:rPr sz="3600" spc="5" dirty="0">
                <a:solidFill>
                  <a:srgbClr val="0000CC"/>
                </a:solidFill>
              </a:rPr>
              <a:t> </a:t>
            </a:r>
            <a:r>
              <a:rPr sz="3600" dirty="0">
                <a:solidFill>
                  <a:srgbClr val="0000CC"/>
                </a:solidFill>
              </a:rPr>
              <a:t>Model	</a:t>
            </a:r>
            <a:r>
              <a:rPr sz="3600" spc="-20" dirty="0">
                <a:solidFill>
                  <a:srgbClr val="0000CC"/>
                </a:solidFill>
              </a:rPr>
              <a:t>Life</a:t>
            </a:r>
            <a:r>
              <a:rPr sz="3600" spc="-80" dirty="0">
                <a:solidFill>
                  <a:srgbClr val="0000CC"/>
                </a:solidFill>
              </a:rPr>
              <a:t> </a:t>
            </a:r>
            <a:r>
              <a:rPr sz="3600" spc="-10" dirty="0">
                <a:solidFill>
                  <a:srgbClr val="0000CC"/>
                </a:solidFill>
              </a:rPr>
              <a:t>Cycle?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8356092" y="4727168"/>
            <a:ext cx="281940" cy="431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z="3200" b="1" spc="-5" dirty="0">
                <a:solidFill>
                  <a:srgbClr val="888888"/>
                </a:solidFill>
                <a:latin typeface="Calibri"/>
                <a:cs typeface="Calibri"/>
              </a:rPr>
              <a:t>5</a:t>
            </a:fld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5361" y="805383"/>
            <a:ext cx="8622030" cy="331787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115"/>
              </a:spcBef>
              <a:buFont typeface="Arial MT"/>
              <a:buChar char="•"/>
              <a:tabLst>
                <a:tab pos="244475" algn="l"/>
              </a:tabLst>
            </a:pPr>
            <a:r>
              <a:rPr sz="2700" spc="5" dirty="0">
                <a:latin typeface="Calibri"/>
                <a:cs typeface="Calibri"/>
              </a:rPr>
              <a:t>A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graphical</a:t>
            </a:r>
            <a:r>
              <a:rPr sz="2700" spc="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 </a:t>
            </a:r>
            <a:r>
              <a:rPr sz="2700" spc="-5" dirty="0">
                <a:latin typeface="Calibri"/>
                <a:cs typeface="Calibri"/>
              </a:rPr>
              <a:t>written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description:</a:t>
            </a:r>
            <a:endParaRPr sz="2700">
              <a:latin typeface="Calibri"/>
              <a:cs typeface="Calibri"/>
            </a:endParaRPr>
          </a:p>
          <a:p>
            <a:pPr marL="515620" marR="5080" indent="-192405">
              <a:lnSpc>
                <a:spcPct val="125000"/>
              </a:lnSpc>
              <a:spcBef>
                <a:spcPts val="1510"/>
              </a:spcBef>
            </a:pPr>
            <a:r>
              <a:rPr sz="2450" spc="15" dirty="0">
                <a:solidFill>
                  <a:srgbClr val="C00000"/>
                </a:solidFill>
                <a:latin typeface="Arial MT"/>
                <a:cs typeface="Arial MT"/>
              </a:rPr>
              <a:t>–</a:t>
            </a:r>
            <a:r>
              <a:rPr sz="2450" b="1" spc="15" dirty="0">
                <a:solidFill>
                  <a:srgbClr val="C00000"/>
                </a:solidFill>
                <a:latin typeface="Calibri"/>
                <a:cs typeface="Calibri"/>
              </a:rPr>
              <a:t>Helps</a:t>
            </a:r>
            <a:r>
              <a:rPr sz="2450" b="1" spc="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C00000"/>
                </a:solidFill>
                <a:latin typeface="Calibri"/>
                <a:cs typeface="Calibri"/>
              </a:rPr>
              <a:t>common</a:t>
            </a:r>
            <a:r>
              <a:rPr sz="245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C00000"/>
                </a:solidFill>
                <a:latin typeface="Calibri"/>
                <a:cs typeface="Calibri"/>
              </a:rPr>
              <a:t>understanding</a:t>
            </a:r>
            <a:r>
              <a:rPr sz="245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45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C00000"/>
                </a:solidFill>
                <a:latin typeface="Calibri"/>
                <a:cs typeface="Calibri"/>
              </a:rPr>
              <a:t>activities</a:t>
            </a:r>
            <a:r>
              <a:rPr sz="2450" b="1" spc="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C00000"/>
                </a:solidFill>
                <a:latin typeface="Calibri"/>
                <a:cs typeface="Calibri"/>
              </a:rPr>
              <a:t>among the</a:t>
            </a:r>
            <a:r>
              <a:rPr sz="2450" b="1" spc="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15" dirty="0">
                <a:solidFill>
                  <a:srgbClr val="C00000"/>
                </a:solidFill>
                <a:latin typeface="Calibri"/>
                <a:cs typeface="Calibri"/>
              </a:rPr>
              <a:t>software </a:t>
            </a:r>
            <a:r>
              <a:rPr sz="2450" b="1" spc="-5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C00000"/>
                </a:solidFill>
                <a:latin typeface="Calibri"/>
                <a:cs typeface="Calibri"/>
              </a:rPr>
              <a:t>developers.</a:t>
            </a:r>
            <a:endParaRPr sz="2450">
              <a:latin typeface="Calibri"/>
              <a:cs typeface="Calibri"/>
            </a:endParaRPr>
          </a:p>
          <a:p>
            <a:pPr marL="515620" marR="81915" indent="-192405">
              <a:lnSpc>
                <a:spcPct val="125000"/>
              </a:lnSpc>
              <a:spcBef>
                <a:spcPts val="1390"/>
              </a:spcBef>
            </a:pPr>
            <a:r>
              <a:rPr sz="2450" spc="15" dirty="0">
                <a:solidFill>
                  <a:srgbClr val="C00000"/>
                </a:solidFill>
                <a:latin typeface="Arial MT"/>
                <a:cs typeface="Arial MT"/>
              </a:rPr>
              <a:t>–</a:t>
            </a:r>
            <a:r>
              <a:rPr sz="2450" b="1" spc="15" dirty="0">
                <a:solidFill>
                  <a:srgbClr val="C00000"/>
                </a:solidFill>
                <a:latin typeface="Calibri"/>
                <a:cs typeface="Calibri"/>
              </a:rPr>
              <a:t>Helps</a:t>
            </a:r>
            <a:r>
              <a:rPr sz="2450" b="1" spc="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20" dirty="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sz="245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C00000"/>
                </a:solidFill>
                <a:latin typeface="Calibri"/>
                <a:cs typeface="Calibri"/>
              </a:rPr>
              <a:t>identify</a:t>
            </a:r>
            <a:r>
              <a:rPr sz="2450" b="1" spc="-10" dirty="0">
                <a:solidFill>
                  <a:srgbClr val="C00000"/>
                </a:solidFill>
                <a:latin typeface="Calibri"/>
                <a:cs typeface="Calibri"/>
              </a:rPr>
              <a:t> inconsistencies,</a:t>
            </a:r>
            <a:r>
              <a:rPr sz="245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C00000"/>
                </a:solidFill>
                <a:latin typeface="Calibri"/>
                <a:cs typeface="Calibri"/>
              </a:rPr>
              <a:t>redundancies,</a:t>
            </a:r>
            <a:r>
              <a:rPr sz="245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sz="245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C00000"/>
                </a:solidFill>
                <a:latin typeface="Calibri"/>
                <a:cs typeface="Calibri"/>
              </a:rPr>
              <a:t>omissions </a:t>
            </a:r>
            <a:r>
              <a:rPr sz="2450" b="1" spc="-5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C00000"/>
                </a:solidFill>
                <a:latin typeface="Calibri"/>
                <a:cs typeface="Calibri"/>
              </a:rPr>
              <a:t>in the</a:t>
            </a:r>
            <a:r>
              <a:rPr sz="245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C00000"/>
                </a:solidFill>
                <a:latin typeface="Calibri"/>
                <a:cs typeface="Calibri"/>
              </a:rPr>
              <a:t>development</a:t>
            </a:r>
            <a:r>
              <a:rPr sz="2450" b="1" spc="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C00000"/>
                </a:solidFill>
                <a:latin typeface="Calibri"/>
                <a:cs typeface="Calibri"/>
              </a:rPr>
              <a:t>process.</a:t>
            </a:r>
            <a:endParaRPr sz="245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2130"/>
              </a:spcBef>
            </a:pPr>
            <a:r>
              <a:rPr sz="2450" spc="15" dirty="0">
                <a:solidFill>
                  <a:srgbClr val="C00000"/>
                </a:solidFill>
                <a:latin typeface="Arial MT"/>
                <a:cs typeface="Arial MT"/>
              </a:rPr>
              <a:t>–</a:t>
            </a:r>
            <a:r>
              <a:rPr sz="2450" b="1" spc="15" dirty="0">
                <a:solidFill>
                  <a:srgbClr val="C00000"/>
                </a:solidFill>
                <a:latin typeface="Calibri"/>
                <a:cs typeface="Calibri"/>
              </a:rPr>
              <a:t>Helps</a:t>
            </a:r>
            <a:r>
              <a:rPr sz="2450" b="1" spc="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sz="245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C00000"/>
                </a:solidFill>
                <a:latin typeface="Calibri"/>
                <a:cs typeface="Calibri"/>
              </a:rPr>
              <a:t>tailoring</a:t>
            </a:r>
            <a:r>
              <a:rPr sz="2450" b="1" spc="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450" b="1" spc="-5" dirty="0">
                <a:solidFill>
                  <a:srgbClr val="C00000"/>
                </a:solidFill>
                <a:latin typeface="Calibri"/>
                <a:cs typeface="Calibri"/>
              </a:rPr>
              <a:t> process</a:t>
            </a:r>
            <a:r>
              <a:rPr sz="245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C00000"/>
                </a:solidFill>
                <a:latin typeface="Calibri"/>
                <a:cs typeface="Calibri"/>
              </a:rPr>
              <a:t>model </a:t>
            </a:r>
            <a:r>
              <a:rPr sz="2450" b="1" spc="-20" dirty="0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sz="2450" b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C00000"/>
                </a:solidFill>
                <a:latin typeface="Calibri"/>
                <a:cs typeface="Calibri"/>
              </a:rPr>
              <a:t>specific</a:t>
            </a:r>
            <a:r>
              <a:rPr sz="245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C00000"/>
                </a:solidFill>
                <a:latin typeface="Calibri"/>
                <a:cs typeface="Calibri"/>
              </a:rPr>
              <a:t>projects.</a:t>
            </a:r>
            <a:endParaRPr sz="2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2400" y="228980"/>
            <a:ext cx="36817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solidFill>
                  <a:srgbClr val="0000CC"/>
                </a:solidFill>
              </a:rPr>
              <a:t>Life</a:t>
            </a:r>
            <a:r>
              <a:rPr sz="3600" spc="10" dirty="0">
                <a:solidFill>
                  <a:srgbClr val="0000CC"/>
                </a:solidFill>
              </a:rPr>
              <a:t> </a:t>
            </a:r>
            <a:r>
              <a:rPr sz="3600" spc="-15" dirty="0">
                <a:solidFill>
                  <a:srgbClr val="0000CC"/>
                </a:solidFill>
              </a:rPr>
              <a:t>Cycle</a:t>
            </a:r>
            <a:r>
              <a:rPr sz="3600" spc="-30" dirty="0">
                <a:solidFill>
                  <a:srgbClr val="0000CC"/>
                </a:solidFill>
              </a:rPr>
              <a:t> </a:t>
            </a:r>
            <a:r>
              <a:rPr sz="3600" dirty="0">
                <a:solidFill>
                  <a:srgbClr val="0000CC"/>
                </a:solidFill>
              </a:rPr>
              <a:t>Model</a:t>
            </a:r>
            <a:r>
              <a:rPr sz="3600" spc="-5" dirty="0">
                <a:solidFill>
                  <a:srgbClr val="0000CC"/>
                </a:solidFill>
              </a:rPr>
              <a:t> </a:t>
            </a:r>
            <a:r>
              <a:rPr sz="1100" spc="-10" dirty="0">
                <a:solidFill>
                  <a:srgbClr val="0000CC"/>
                </a:solidFill>
              </a:rPr>
              <a:t>(CONT.)</a:t>
            </a:r>
            <a:endParaRPr sz="1100"/>
          </a:p>
        </p:txBody>
      </p:sp>
      <p:sp>
        <p:nvSpPr>
          <p:cNvPr id="4" name="object 4"/>
          <p:cNvSpPr txBox="1"/>
          <p:nvPr/>
        </p:nvSpPr>
        <p:spPr>
          <a:xfrm>
            <a:off x="8356092" y="4727168"/>
            <a:ext cx="281940" cy="431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z="3200" b="1" spc="-5" dirty="0">
                <a:solidFill>
                  <a:srgbClr val="888888"/>
                </a:solidFill>
                <a:latin typeface="Calibri"/>
                <a:cs typeface="Calibri"/>
              </a:rPr>
              <a:t>6</a:t>
            </a:fld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506" y="784159"/>
            <a:ext cx="8954135" cy="3521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5080" indent="-231775">
              <a:lnSpc>
                <a:spcPct val="119400"/>
              </a:lnSpc>
              <a:spcBef>
                <a:spcPts val="100"/>
              </a:spcBef>
              <a:buFont typeface="Arial MT"/>
              <a:buChar char="•"/>
              <a:tabLst>
                <a:tab pos="244475" algn="l"/>
              </a:tabLst>
            </a:pPr>
            <a:r>
              <a:rPr sz="3000" dirty="0">
                <a:latin typeface="Calibri"/>
                <a:cs typeface="Calibri"/>
              </a:rPr>
              <a:t>The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development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team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must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identify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suitable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life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cycle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model:</a:t>
            </a:r>
            <a:endParaRPr sz="30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2100"/>
              </a:spcBef>
            </a:pPr>
            <a:r>
              <a:rPr sz="2700" spc="5" dirty="0">
                <a:latin typeface="Arial MT"/>
                <a:cs typeface="Arial MT"/>
              </a:rPr>
              <a:t>–</a:t>
            </a:r>
            <a:r>
              <a:rPr sz="2700" spc="5" dirty="0">
                <a:latin typeface="Calibri"/>
                <a:cs typeface="Calibri"/>
              </a:rPr>
              <a:t>and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then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adhere</a:t>
            </a:r>
            <a:r>
              <a:rPr sz="2700" spc="4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to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it.</a:t>
            </a:r>
            <a:endParaRPr sz="27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1995"/>
              </a:spcBef>
            </a:pPr>
            <a:r>
              <a:rPr sz="2700" dirty="0">
                <a:solidFill>
                  <a:srgbClr val="0000CC"/>
                </a:solidFill>
                <a:latin typeface="Arial MT"/>
                <a:cs typeface="Arial MT"/>
              </a:rPr>
              <a:t>–</a:t>
            </a:r>
            <a:r>
              <a:rPr sz="2700" dirty="0">
                <a:solidFill>
                  <a:srgbClr val="0000CC"/>
                </a:solidFill>
                <a:latin typeface="Calibri"/>
                <a:cs typeface="Calibri"/>
              </a:rPr>
              <a:t>Primary</a:t>
            </a:r>
            <a:r>
              <a:rPr sz="2700" spc="5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0000CC"/>
                </a:solidFill>
                <a:latin typeface="Calibri"/>
                <a:cs typeface="Calibri"/>
              </a:rPr>
              <a:t>advantage</a:t>
            </a:r>
            <a:r>
              <a:rPr sz="2700" spc="5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CC"/>
                </a:solidFill>
                <a:latin typeface="Calibri"/>
                <a:cs typeface="Calibri"/>
              </a:rPr>
              <a:t>of</a:t>
            </a:r>
            <a:r>
              <a:rPr sz="2700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CC"/>
                </a:solidFill>
                <a:latin typeface="Calibri"/>
                <a:cs typeface="Calibri"/>
              </a:rPr>
              <a:t>adhering</a:t>
            </a:r>
            <a:r>
              <a:rPr sz="2700" spc="7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0000CC"/>
                </a:solidFill>
                <a:latin typeface="Calibri"/>
                <a:cs typeface="Calibri"/>
              </a:rPr>
              <a:t>to </a:t>
            </a:r>
            <a:r>
              <a:rPr sz="2700" spc="5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2700" spc="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spc="-15" dirty="0">
                <a:solidFill>
                  <a:srgbClr val="0000CC"/>
                </a:solidFill>
                <a:latin typeface="Calibri"/>
                <a:cs typeface="Calibri"/>
              </a:rPr>
              <a:t>life</a:t>
            </a:r>
            <a:r>
              <a:rPr sz="2700" dirty="0">
                <a:solidFill>
                  <a:srgbClr val="0000CC"/>
                </a:solidFill>
                <a:latin typeface="Calibri"/>
                <a:cs typeface="Calibri"/>
              </a:rPr>
              <a:t> cycle</a:t>
            </a:r>
            <a:r>
              <a:rPr sz="2700" spc="5" dirty="0">
                <a:solidFill>
                  <a:srgbClr val="0000CC"/>
                </a:solidFill>
                <a:latin typeface="Calibri"/>
                <a:cs typeface="Calibri"/>
              </a:rPr>
              <a:t> model:</a:t>
            </a:r>
            <a:endParaRPr sz="2700">
              <a:latin typeface="Calibri"/>
              <a:cs typeface="Calibri"/>
            </a:endParaRPr>
          </a:p>
          <a:p>
            <a:pPr marL="789940" marR="245745" lvl="1" indent="-155575">
              <a:lnSpc>
                <a:spcPct val="120000"/>
              </a:lnSpc>
              <a:spcBef>
                <a:spcPts val="1300"/>
              </a:spcBef>
              <a:buFont typeface="Arial MT"/>
              <a:buChar char="•"/>
              <a:tabLst>
                <a:tab pos="790575" algn="l"/>
                <a:tab pos="7356475" algn="l"/>
              </a:tabLst>
            </a:pPr>
            <a:r>
              <a:rPr sz="2450" dirty="0">
                <a:solidFill>
                  <a:srgbClr val="0000CC"/>
                </a:solidFill>
                <a:latin typeface="Calibri"/>
                <a:cs typeface="Calibri"/>
              </a:rPr>
              <a:t>H</a:t>
            </a:r>
            <a:r>
              <a:rPr sz="2450" spc="-5" dirty="0">
                <a:solidFill>
                  <a:srgbClr val="0000CC"/>
                </a:solidFill>
                <a:latin typeface="Calibri"/>
                <a:cs typeface="Calibri"/>
              </a:rPr>
              <a:t>el</a:t>
            </a:r>
            <a:r>
              <a:rPr sz="2450" spc="-25" dirty="0">
                <a:solidFill>
                  <a:srgbClr val="0000CC"/>
                </a:solidFill>
                <a:latin typeface="Calibri"/>
                <a:cs typeface="Calibri"/>
              </a:rPr>
              <a:t>p</a:t>
            </a:r>
            <a:r>
              <a:rPr sz="2450" spc="-5" dirty="0">
                <a:solidFill>
                  <a:srgbClr val="0000CC"/>
                </a:solidFill>
                <a:latin typeface="Calibri"/>
                <a:cs typeface="Calibri"/>
              </a:rPr>
              <a:t>s </a:t>
            </a:r>
            <a:r>
              <a:rPr sz="2450" dirty="0">
                <a:solidFill>
                  <a:srgbClr val="0000CC"/>
                </a:solidFill>
                <a:latin typeface="Calibri"/>
                <a:cs typeface="Calibri"/>
              </a:rPr>
              <a:t>d</a:t>
            </a:r>
            <a:r>
              <a:rPr sz="2450" spc="-25" dirty="0">
                <a:solidFill>
                  <a:srgbClr val="0000CC"/>
                </a:solidFill>
                <a:latin typeface="Calibri"/>
                <a:cs typeface="Calibri"/>
              </a:rPr>
              <a:t>e</a:t>
            </a:r>
            <a:r>
              <a:rPr sz="2450" spc="-35" dirty="0">
                <a:solidFill>
                  <a:srgbClr val="0000CC"/>
                </a:solidFill>
                <a:latin typeface="Calibri"/>
                <a:cs typeface="Calibri"/>
              </a:rPr>
              <a:t>v</a:t>
            </a:r>
            <a:r>
              <a:rPr sz="2450" spc="-5" dirty="0">
                <a:solidFill>
                  <a:srgbClr val="0000CC"/>
                </a:solidFill>
                <a:latin typeface="Calibri"/>
                <a:cs typeface="Calibri"/>
              </a:rPr>
              <a:t>elo</a:t>
            </a:r>
            <a:r>
              <a:rPr sz="2450" dirty="0">
                <a:solidFill>
                  <a:srgbClr val="0000CC"/>
                </a:solidFill>
                <a:latin typeface="Calibri"/>
                <a:cs typeface="Calibri"/>
              </a:rPr>
              <a:t>p</a:t>
            </a:r>
            <a:r>
              <a:rPr sz="2450" spc="-20" dirty="0">
                <a:solidFill>
                  <a:srgbClr val="0000CC"/>
                </a:solidFill>
                <a:latin typeface="Calibri"/>
                <a:cs typeface="Calibri"/>
              </a:rPr>
              <a:t>m</a:t>
            </a:r>
            <a:r>
              <a:rPr sz="2450" spc="-5" dirty="0">
                <a:solidFill>
                  <a:srgbClr val="0000CC"/>
                </a:solidFill>
                <a:latin typeface="Calibri"/>
                <a:cs typeface="Calibri"/>
              </a:rPr>
              <a:t>e</a:t>
            </a:r>
            <a:r>
              <a:rPr sz="2450" spc="-15" dirty="0">
                <a:solidFill>
                  <a:srgbClr val="0000CC"/>
                </a:solidFill>
                <a:latin typeface="Calibri"/>
                <a:cs typeface="Calibri"/>
              </a:rPr>
              <a:t>n</a:t>
            </a:r>
            <a:r>
              <a:rPr sz="2450" spc="-5" dirty="0">
                <a:solidFill>
                  <a:srgbClr val="0000CC"/>
                </a:solidFill>
                <a:latin typeface="Calibri"/>
                <a:cs typeface="Calibri"/>
              </a:rPr>
              <a:t>t</a:t>
            </a:r>
            <a:r>
              <a:rPr sz="2450" spc="-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0000CC"/>
                </a:solidFill>
                <a:latin typeface="Calibri"/>
                <a:cs typeface="Calibri"/>
              </a:rPr>
              <a:t>o</a:t>
            </a:r>
            <a:r>
              <a:rPr sz="2450" spc="-5" dirty="0">
                <a:solidFill>
                  <a:srgbClr val="0000CC"/>
                </a:solidFill>
                <a:latin typeface="Calibri"/>
                <a:cs typeface="Calibri"/>
              </a:rPr>
              <a:t>f </a:t>
            </a:r>
            <a:r>
              <a:rPr sz="2450" spc="-10" dirty="0">
                <a:solidFill>
                  <a:srgbClr val="0000CC"/>
                </a:solidFill>
                <a:latin typeface="Calibri"/>
                <a:cs typeface="Calibri"/>
              </a:rPr>
              <a:t>s</a:t>
            </a:r>
            <a:r>
              <a:rPr sz="2450" dirty="0">
                <a:solidFill>
                  <a:srgbClr val="0000CC"/>
                </a:solidFill>
                <a:latin typeface="Calibri"/>
                <a:cs typeface="Calibri"/>
              </a:rPr>
              <a:t>o</a:t>
            </a:r>
            <a:r>
              <a:rPr sz="2450" spc="-10" dirty="0">
                <a:solidFill>
                  <a:srgbClr val="0000CC"/>
                </a:solidFill>
                <a:latin typeface="Calibri"/>
                <a:cs typeface="Calibri"/>
              </a:rPr>
              <a:t>ft</a:t>
            </a:r>
            <a:r>
              <a:rPr sz="2450" spc="-35" dirty="0">
                <a:solidFill>
                  <a:srgbClr val="0000CC"/>
                </a:solidFill>
                <a:latin typeface="Calibri"/>
                <a:cs typeface="Calibri"/>
              </a:rPr>
              <a:t>w</a:t>
            </a:r>
            <a:r>
              <a:rPr sz="2450" spc="-5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2450" spc="-15" dirty="0">
                <a:solidFill>
                  <a:srgbClr val="0000CC"/>
                </a:solidFill>
                <a:latin typeface="Calibri"/>
                <a:cs typeface="Calibri"/>
              </a:rPr>
              <a:t>r</a:t>
            </a:r>
            <a:r>
              <a:rPr sz="2450" spc="-5" dirty="0">
                <a:solidFill>
                  <a:srgbClr val="0000CC"/>
                </a:solidFill>
                <a:latin typeface="Calibri"/>
                <a:cs typeface="Calibri"/>
              </a:rPr>
              <a:t>e</a:t>
            </a:r>
            <a:r>
              <a:rPr sz="2450" spc="-4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0000CC"/>
                </a:solidFill>
                <a:latin typeface="Calibri"/>
                <a:cs typeface="Calibri"/>
              </a:rPr>
              <a:t>i</a:t>
            </a:r>
            <a:r>
              <a:rPr sz="2450" spc="-5" dirty="0">
                <a:solidFill>
                  <a:srgbClr val="0000CC"/>
                </a:solidFill>
                <a:latin typeface="Calibri"/>
                <a:cs typeface="Calibri"/>
              </a:rPr>
              <a:t>n</a:t>
            </a:r>
            <a:r>
              <a:rPr sz="2450" spc="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spc="-5" dirty="0">
                <a:solidFill>
                  <a:srgbClr val="0000CC"/>
                </a:solidFill>
                <a:latin typeface="Calibri"/>
                <a:cs typeface="Calibri"/>
              </a:rPr>
              <a:t>a </a:t>
            </a:r>
            <a:r>
              <a:rPr sz="2450" spc="-50" dirty="0">
                <a:solidFill>
                  <a:srgbClr val="0000CC"/>
                </a:solidFill>
                <a:latin typeface="Calibri"/>
                <a:cs typeface="Calibri"/>
              </a:rPr>
              <a:t>s</a:t>
            </a:r>
            <a:r>
              <a:rPr sz="2450" spc="-35" dirty="0">
                <a:solidFill>
                  <a:srgbClr val="0000CC"/>
                </a:solidFill>
                <a:latin typeface="Calibri"/>
                <a:cs typeface="Calibri"/>
              </a:rPr>
              <a:t>y</a:t>
            </a:r>
            <a:r>
              <a:rPr sz="2450" spc="-30" dirty="0">
                <a:solidFill>
                  <a:srgbClr val="0000CC"/>
                </a:solidFill>
                <a:latin typeface="Calibri"/>
                <a:cs typeface="Calibri"/>
              </a:rPr>
              <a:t>s</a:t>
            </a:r>
            <a:r>
              <a:rPr sz="2450" spc="-35" dirty="0">
                <a:solidFill>
                  <a:srgbClr val="0000CC"/>
                </a:solidFill>
                <a:latin typeface="Calibri"/>
                <a:cs typeface="Calibri"/>
              </a:rPr>
              <a:t>t</a:t>
            </a:r>
            <a:r>
              <a:rPr sz="2450" spc="-5" dirty="0">
                <a:solidFill>
                  <a:srgbClr val="0000CC"/>
                </a:solidFill>
                <a:latin typeface="Calibri"/>
                <a:cs typeface="Calibri"/>
              </a:rPr>
              <a:t>em</a:t>
            </a:r>
            <a:r>
              <a:rPr sz="2450" spc="-35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2450" spc="-5" dirty="0">
                <a:solidFill>
                  <a:srgbClr val="0000CC"/>
                </a:solidFill>
                <a:latin typeface="Calibri"/>
                <a:cs typeface="Calibri"/>
              </a:rPr>
              <a:t>t</a:t>
            </a:r>
            <a:r>
              <a:rPr sz="2450" spc="-20" dirty="0">
                <a:solidFill>
                  <a:srgbClr val="0000CC"/>
                </a:solidFill>
                <a:latin typeface="Calibri"/>
                <a:cs typeface="Calibri"/>
              </a:rPr>
              <a:t>i</a:t>
            </a:r>
            <a:r>
              <a:rPr sz="2450" spc="-5" dirty="0">
                <a:solidFill>
                  <a:srgbClr val="0000CC"/>
                </a:solidFill>
                <a:latin typeface="Calibri"/>
                <a:cs typeface="Calibri"/>
              </a:rPr>
              <a:t>c</a:t>
            </a:r>
            <a:r>
              <a:rPr sz="2450" spc="4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spc="-5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2450" spc="5" dirty="0">
                <a:solidFill>
                  <a:srgbClr val="0000CC"/>
                </a:solidFill>
                <a:latin typeface="Calibri"/>
                <a:cs typeface="Calibri"/>
              </a:rPr>
              <a:t>n</a:t>
            </a:r>
            <a:r>
              <a:rPr sz="2450" spc="-5" dirty="0">
                <a:solidFill>
                  <a:srgbClr val="0000CC"/>
                </a:solidFill>
                <a:latin typeface="Calibri"/>
                <a:cs typeface="Calibri"/>
              </a:rPr>
              <a:t>d</a:t>
            </a:r>
            <a:r>
              <a:rPr sz="2450" dirty="0">
                <a:solidFill>
                  <a:srgbClr val="0000CC"/>
                </a:solidFill>
                <a:latin typeface="Calibri"/>
                <a:cs typeface="Calibri"/>
              </a:rPr>
              <a:t>	d</a:t>
            </a:r>
            <a:r>
              <a:rPr sz="2450" spc="-20" dirty="0">
                <a:solidFill>
                  <a:srgbClr val="0000CC"/>
                </a:solidFill>
                <a:latin typeface="Calibri"/>
                <a:cs typeface="Calibri"/>
              </a:rPr>
              <a:t>i</a:t>
            </a:r>
            <a:r>
              <a:rPr sz="2450" spc="-10" dirty="0">
                <a:solidFill>
                  <a:srgbClr val="0000CC"/>
                </a:solidFill>
                <a:latin typeface="Calibri"/>
                <a:cs typeface="Calibri"/>
              </a:rPr>
              <a:t>sc</a:t>
            </a:r>
            <a:r>
              <a:rPr sz="2450" spc="-20" dirty="0">
                <a:solidFill>
                  <a:srgbClr val="0000CC"/>
                </a:solidFill>
                <a:latin typeface="Calibri"/>
                <a:cs typeface="Calibri"/>
              </a:rPr>
              <a:t>i</a:t>
            </a:r>
            <a:r>
              <a:rPr sz="2450" dirty="0">
                <a:solidFill>
                  <a:srgbClr val="0000CC"/>
                </a:solidFill>
                <a:latin typeface="Calibri"/>
                <a:cs typeface="Calibri"/>
              </a:rPr>
              <a:t>p</a:t>
            </a:r>
            <a:r>
              <a:rPr sz="2450" spc="-20" dirty="0">
                <a:solidFill>
                  <a:srgbClr val="0000CC"/>
                </a:solidFill>
                <a:latin typeface="Calibri"/>
                <a:cs typeface="Calibri"/>
              </a:rPr>
              <a:t>li</a:t>
            </a:r>
            <a:r>
              <a:rPr sz="2450" dirty="0">
                <a:solidFill>
                  <a:srgbClr val="0000CC"/>
                </a:solidFill>
                <a:latin typeface="Calibri"/>
                <a:cs typeface="Calibri"/>
              </a:rPr>
              <a:t>n</a:t>
            </a:r>
            <a:r>
              <a:rPr sz="2450" spc="-5" dirty="0">
                <a:solidFill>
                  <a:srgbClr val="0000CC"/>
                </a:solidFill>
                <a:latin typeface="Calibri"/>
                <a:cs typeface="Calibri"/>
              </a:rPr>
              <a:t>ed  </a:t>
            </a:r>
            <a:r>
              <a:rPr sz="2450" spc="-35" dirty="0">
                <a:solidFill>
                  <a:srgbClr val="0000CC"/>
                </a:solidFill>
                <a:latin typeface="Calibri"/>
                <a:cs typeface="Calibri"/>
              </a:rPr>
              <a:t>manner.</a:t>
            </a:r>
            <a:endParaRPr sz="2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7504" y="263474"/>
            <a:ext cx="308483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0000CC"/>
                </a:solidFill>
              </a:rPr>
              <a:t>Life</a:t>
            </a:r>
            <a:r>
              <a:rPr sz="3000" spc="-60" dirty="0">
                <a:solidFill>
                  <a:srgbClr val="0000CC"/>
                </a:solidFill>
              </a:rPr>
              <a:t> </a:t>
            </a:r>
            <a:r>
              <a:rPr sz="3000" spc="-15" dirty="0">
                <a:solidFill>
                  <a:srgbClr val="0000CC"/>
                </a:solidFill>
              </a:rPr>
              <a:t>Cycle</a:t>
            </a:r>
            <a:r>
              <a:rPr sz="3000" spc="-25" dirty="0">
                <a:solidFill>
                  <a:srgbClr val="0000CC"/>
                </a:solidFill>
              </a:rPr>
              <a:t> </a:t>
            </a:r>
            <a:r>
              <a:rPr sz="3000" spc="-10" dirty="0">
                <a:solidFill>
                  <a:srgbClr val="0000CC"/>
                </a:solidFill>
              </a:rPr>
              <a:t>Model</a:t>
            </a:r>
            <a:r>
              <a:rPr sz="3000" dirty="0">
                <a:solidFill>
                  <a:srgbClr val="0000CC"/>
                </a:solidFill>
              </a:rPr>
              <a:t> </a:t>
            </a:r>
            <a:r>
              <a:rPr sz="950" dirty="0">
                <a:solidFill>
                  <a:srgbClr val="0000CC"/>
                </a:solidFill>
              </a:rPr>
              <a:t>(CONT.)</a:t>
            </a:r>
            <a:endParaRPr sz="950"/>
          </a:p>
        </p:txBody>
      </p:sp>
      <p:sp>
        <p:nvSpPr>
          <p:cNvPr id="3" name="object 3"/>
          <p:cNvSpPr txBox="1"/>
          <p:nvPr/>
        </p:nvSpPr>
        <p:spPr>
          <a:xfrm>
            <a:off x="-36779" y="666845"/>
            <a:ext cx="8548370" cy="1652270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1785"/>
              </a:spcBef>
              <a:buFont typeface="Arial MT"/>
              <a:buChar char="•"/>
              <a:tabLst>
                <a:tab pos="244475" algn="l"/>
              </a:tabLst>
            </a:pPr>
            <a:r>
              <a:rPr sz="2450" dirty="0">
                <a:latin typeface="Calibri"/>
                <a:cs typeface="Calibri"/>
              </a:rPr>
              <a:t>When</a:t>
            </a:r>
            <a:r>
              <a:rPr sz="2450" spc="-4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 </a:t>
            </a:r>
            <a:r>
              <a:rPr sz="2450" spc="-15" dirty="0">
                <a:latin typeface="Calibri"/>
                <a:cs typeface="Calibri"/>
              </a:rPr>
              <a:t>program</a:t>
            </a:r>
            <a:r>
              <a:rPr sz="2450" spc="-3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is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developed</a:t>
            </a:r>
            <a:r>
              <a:rPr sz="2450" spc="-6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by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single </a:t>
            </a:r>
            <a:r>
              <a:rPr sz="2450" spc="-15" dirty="0">
                <a:latin typeface="Calibri"/>
                <a:cs typeface="Calibri"/>
              </a:rPr>
              <a:t>programmer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---</a:t>
            </a:r>
            <a:endParaRPr sz="2450">
              <a:latin typeface="Calibri"/>
              <a:cs typeface="Calibri"/>
            </a:endParaRPr>
          </a:p>
          <a:p>
            <a:pPr marL="515620" lvl="1" indent="-192405">
              <a:lnSpc>
                <a:spcPct val="100000"/>
              </a:lnSpc>
              <a:spcBef>
                <a:spcPts val="1535"/>
              </a:spcBef>
              <a:buFont typeface="Arial MT"/>
              <a:buChar char="–"/>
              <a:tabLst>
                <a:tab pos="515620" algn="l"/>
              </a:tabLst>
            </a:pPr>
            <a:r>
              <a:rPr sz="2150" spc="10" dirty="0">
                <a:latin typeface="Calibri"/>
                <a:cs typeface="Calibri"/>
              </a:rPr>
              <a:t>The problem</a:t>
            </a:r>
            <a:r>
              <a:rPr sz="2150" spc="-2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is</a:t>
            </a:r>
            <a:r>
              <a:rPr sz="2150" spc="-2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within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the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grasp</a:t>
            </a:r>
            <a:r>
              <a:rPr sz="2150" spc="-5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of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15" dirty="0">
                <a:latin typeface="Calibri"/>
                <a:cs typeface="Calibri"/>
              </a:rPr>
              <a:t>an</a:t>
            </a:r>
            <a:r>
              <a:rPr sz="2150" spc="-3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individual.</a:t>
            </a:r>
            <a:endParaRPr sz="2150">
              <a:latin typeface="Calibri"/>
              <a:cs typeface="Calibri"/>
            </a:endParaRPr>
          </a:p>
          <a:p>
            <a:pPr marL="515620" lvl="1" indent="-192405">
              <a:lnSpc>
                <a:spcPct val="100000"/>
              </a:lnSpc>
              <a:spcBef>
                <a:spcPts val="1480"/>
              </a:spcBef>
              <a:buFont typeface="Arial MT"/>
              <a:buChar char="–"/>
              <a:tabLst>
                <a:tab pos="515620" algn="l"/>
                <a:tab pos="7561580" algn="l"/>
              </a:tabLst>
            </a:pPr>
            <a:r>
              <a:rPr sz="2150" spc="15" dirty="0">
                <a:latin typeface="Calibri"/>
                <a:cs typeface="Calibri"/>
              </a:rPr>
              <a:t>He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spc="15" dirty="0">
                <a:latin typeface="Calibri"/>
                <a:cs typeface="Calibri"/>
              </a:rPr>
              <a:t>has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the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freedom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to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decide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his </a:t>
            </a:r>
            <a:r>
              <a:rPr sz="2150" spc="-10" dirty="0">
                <a:latin typeface="Calibri"/>
                <a:cs typeface="Calibri"/>
              </a:rPr>
              <a:t>exact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steps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spc="15" dirty="0">
                <a:latin typeface="Calibri"/>
                <a:cs typeface="Calibri"/>
              </a:rPr>
              <a:t>and </a:t>
            </a:r>
            <a:r>
              <a:rPr sz="2150" dirty="0">
                <a:latin typeface="Calibri"/>
                <a:cs typeface="Calibri"/>
              </a:rPr>
              <a:t>still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succeed	</a:t>
            </a:r>
            <a:r>
              <a:rPr sz="2150" spc="10" dirty="0">
                <a:solidFill>
                  <a:srgbClr val="0000FF"/>
                </a:solidFill>
                <a:latin typeface="Calibri"/>
                <a:cs typeface="Calibri"/>
              </a:rPr>
              <a:t>---</a:t>
            </a:r>
            <a:r>
              <a:rPr sz="2150" spc="-8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5" dirty="0">
                <a:solidFill>
                  <a:srgbClr val="0000FF"/>
                </a:solidFill>
                <a:latin typeface="Calibri"/>
                <a:cs typeface="Calibri"/>
              </a:rPr>
              <a:t>called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6140" y="2326081"/>
            <a:ext cx="5566410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dirty="0">
                <a:solidFill>
                  <a:srgbClr val="0000FF"/>
                </a:solidFill>
                <a:latin typeface="Calibri"/>
                <a:cs typeface="Calibri"/>
              </a:rPr>
              <a:t>Exploratory</a:t>
            </a:r>
            <a:r>
              <a:rPr sz="215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15" dirty="0">
                <a:solidFill>
                  <a:srgbClr val="0000FF"/>
                </a:solidFill>
                <a:latin typeface="Calibri"/>
                <a:cs typeface="Calibri"/>
              </a:rPr>
              <a:t>model---</a:t>
            </a:r>
            <a:r>
              <a:rPr sz="215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15" dirty="0">
                <a:solidFill>
                  <a:srgbClr val="0000FF"/>
                </a:solidFill>
                <a:latin typeface="Calibri"/>
                <a:cs typeface="Calibri"/>
              </a:rPr>
              <a:t>One</a:t>
            </a:r>
            <a:r>
              <a:rPr sz="215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5" dirty="0">
                <a:solidFill>
                  <a:srgbClr val="0000FF"/>
                </a:solidFill>
                <a:latin typeface="Calibri"/>
                <a:cs typeface="Calibri"/>
              </a:rPr>
              <a:t>can</a:t>
            </a:r>
            <a:r>
              <a:rPr sz="215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15" dirty="0">
                <a:solidFill>
                  <a:srgbClr val="0000FF"/>
                </a:solidFill>
                <a:latin typeface="Calibri"/>
                <a:cs typeface="Calibri"/>
              </a:rPr>
              <a:t>use</a:t>
            </a:r>
            <a:r>
              <a:rPr sz="215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10" dirty="0">
                <a:solidFill>
                  <a:srgbClr val="0000FF"/>
                </a:solidFill>
                <a:latin typeface="Calibri"/>
                <a:cs typeface="Calibri"/>
              </a:rPr>
              <a:t>it</a:t>
            </a:r>
            <a:r>
              <a:rPr sz="21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10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21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10" dirty="0">
                <a:solidFill>
                  <a:srgbClr val="0000FF"/>
                </a:solidFill>
                <a:latin typeface="Calibri"/>
                <a:cs typeface="Calibri"/>
              </a:rPr>
              <a:t>many</a:t>
            </a:r>
            <a:r>
              <a:rPr sz="215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0000FF"/>
                </a:solidFill>
                <a:latin typeface="Calibri"/>
                <a:cs typeface="Calibri"/>
              </a:rPr>
              <a:t>ways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4116" y="2659288"/>
            <a:ext cx="4904740" cy="1577975"/>
          </a:xfrm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204470" indent="-192405">
              <a:lnSpc>
                <a:spcPct val="100000"/>
              </a:lnSpc>
              <a:spcBef>
                <a:spcPts val="1595"/>
              </a:spcBef>
              <a:buFont typeface="Arial MT"/>
              <a:buChar char="–"/>
              <a:tabLst>
                <a:tab pos="205104" algn="l"/>
              </a:tabLst>
            </a:pPr>
            <a:r>
              <a:rPr sz="2150" spc="-10" dirty="0">
                <a:solidFill>
                  <a:srgbClr val="0000FF"/>
                </a:solidFill>
                <a:latin typeface="Calibri"/>
                <a:cs typeface="Calibri"/>
              </a:rPr>
              <a:t>Code</a:t>
            </a:r>
            <a:r>
              <a:rPr sz="2150" spc="-10" dirty="0">
                <a:solidFill>
                  <a:srgbClr val="0000FF"/>
                </a:solidFill>
                <a:latin typeface="Wingdings"/>
                <a:cs typeface="Wingdings"/>
              </a:rPr>
              <a:t></a:t>
            </a:r>
            <a:r>
              <a:rPr sz="2150" spc="-10" dirty="0">
                <a:solidFill>
                  <a:srgbClr val="0000FF"/>
                </a:solidFill>
                <a:latin typeface="Calibri"/>
                <a:cs typeface="Calibri"/>
              </a:rPr>
              <a:t>Test</a:t>
            </a:r>
            <a:r>
              <a:rPr sz="2150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15" dirty="0">
                <a:solidFill>
                  <a:srgbClr val="0000FF"/>
                </a:solidFill>
                <a:latin typeface="Wingdings"/>
                <a:cs typeface="Wingdings"/>
              </a:rPr>
              <a:t></a:t>
            </a:r>
            <a:r>
              <a:rPr sz="2150" spc="15" dirty="0">
                <a:solidFill>
                  <a:srgbClr val="0000FF"/>
                </a:solidFill>
                <a:latin typeface="Calibri"/>
                <a:cs typeface="Calibri"/>
              </a:rPr>
              <a:t>Design</a:t>
            </a:r>
            <a:endParaRPr sz="2150">
              <a:latin typeface="Calibri"/>
              <a:cs typeface="Calibri"/>
            </a:endParaRPr>
          </a:p>
          <a:p>
            <a:pPr marL="204470" indent="-192405">
              <a:lnSpc>
                <a:spcPct val="100000"/>
              </a:lnSpc>
              <a:spcBef>
                <a:spcPts val="1500"/>
              </a:spcBef>
              <a:buFont typeface="Arial MT"/>
              <a:buChar char="–"/>
              <a:tabLst>
                <a:tab pos="205104" algn="l"/>
              </a:tabLst>
            </a:pPr>
            <a:r>
              <a:rPr sz="2150" spc="15" dirty="0">
                <a:solidFill>
                  <a:srgbClr val="0000FF"/>
                </a:solidFill>
                <a:latin typeface="Calibri"/>
                <a:cs typeface="Calibri"/>
              </a:rPr>
              <a:t>Code</a:t>
            </a:r>
            <a:r>
              <a:rPr sz="2150" spc="15" dirty="0">
                <a:solidFill>
                  <a:srgbClr val="0000FF"/>
                </a:solidFill>
                <a:latin typeface="Wingdings"/>
                <a:cs typeface="Wingdings"/>
              </a:rPr>
              <a:t></a:t>
            </a:r>
            <a:r>
              <a:rPr sz="2150" spc="15" dirty="0">
                <a:solidFill>
                  <a:srgbClr val="0000FF"/>
                </a:solidFill>
                <a:latin typeface="Calibri"/>
                <a:cs typeface="Calibri"/>
              </a:rPr>
              <a:t>Design</a:t>
            </a:r>
            <a:r>
              <a:rPr sz="215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-30" dirty="0">
                <a:solidFill>
                  <a:srgbClr val="0000FF"/>
                </a:solidFill>
                <a:latin typeface="Wingdings"/>
                <a:cs typeface="Wingdings"/>
              </a:rPr>
              <a:t></a:t>
            </a:r>
            <a:r>
              <a:rPr sz="2150" spc="-30" dirty="0">
                <a:solidFill>
                  <a:srgbClr val="0000FF"/>
                </a:solidFill>
                <a:latin typeface="Calibri"/>
                <a:cs typeface="Calibri"/>
              </a:rPr>
              <a:t>Test </a:t>
            </a:r>
            <a:r>
              <a:rPr sz="2150" spc="35" dirty="0">
                <a:solidFill>
                  <a:srgbClr val="0000FF"/>
                </a:solidFill>
                <a:latin typeface="Wingdings"/>
                <a:cs typeface="Wingdings"/>
              </a:rPr>
              <a:t></a:t>
            </a:r>
            <a:r>
              <a:rPr sz="2150" spc="-7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50" spc="15" dirty="0">
                <a:solidFill>
                  <a:srgbClr val="0000FF"/>
                </a:solidFill>
                <a:latin typeface="Calibri"/>
                <a:cs typeface="Calibri"/>
              </a:rPr>
              <a:t>Change</a:t>
            </a:r>
            <a:r>
              <a:rPr sz="2150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20" dirty="0">
                <a:solidFill>
                  <a:srgbClr val="0000FF"/>
                </a:solidFill>
                <a:latin typeface="Calibri"/>
                <a:cs typeface="Calibri"/>
              </a:rPr>
              <a:t>Code</a:t>
            </a:r>
            <a:r>
              <a:rPr sz="215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35" dirty="0">
                <a:solidFill>
                  <a:srgbClr val="0000FF"/>
                </a:solidFill>
                <a:latin typeface="Wingdings"/>
                <a:cs typeface="Wingdings"/>
              </a:rPr>
              <a:t></a:t>
            </a:r>
            <a:endParaRPr sz="2150">
              <a:latin typeface="Wingdings"/>
              <a:cs typeface="Wingdings"/>
            </a:endParaRPr>
          </a:p>
          <a:p>
            <a:pPr marL="204470" indent="-192405">
              <a:lnSpc>
                <a:spcPct val="100000"/>
              </a:lnSpc>
              <a:spcBef>
                <a:spcPts val="1480"/>
              </a:spcBef>
              <a:buFont typeface="Arial MT"/>
              <a:buChar char="–"/>
              <a:tabLst>
                <a:tab pos="205104" algn="l"/>
              </a:tabLst>
            </a:pPr>
            <a:r>
              <a:rPr sz="2150" spc="10" dirty="0">
                <a:solidFill>
                  <a:srgbClr val="0000FF"/>
                </a:solidFill>
                <a:latin typeface="Calibri"/>
                <a:cs typeface="Calibri"/>
              </a:rPr>
              <a:t>Specify </a:t>
            </a:r>
            <a:r>
              <a:rPr sz="2150" spc="10" dirty="0">
                <a:solidFill>
                  <a:srgbClr val="0000FF"/>
                </a:solidFill>
                <a:latin typeface="Wingdings"/>
                <a:cs typeface="Wingdings"/>
              </a:rPr>
              <a:t></a:t>
            </a:r>
            <a:r>
              <a:rPr sz="2150" spc="10" dirty="0">
                <a:solidFill>
                  <a:srgbClr val="0000FF"/>
                </a:solidFill>
                <a:latin typeface="Calibri"/>
                <a:cs typeface="Calibri"/>
              </a:rPr>
              <a:t>code</a:t>
            </a:r>
            <a:r>
              <a:rPr sz="21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15" dirty="0">
                <a:solidFill>
                  <a:srgbClr val="0000FF"/>
                </a:solidFill>
                <a:latin typeface="Wingdings"/>
                <a:cs typeface="Wingdings"/>
              </a:rPr>
              <a:t></a:t>
            </a:r>
            <a:r>
              <a:rPr sz="2150" spc="15" dirty="0">
                <a:solidFill>
                  <a:srgbClr val="0000FF"/>
                </a:solidFill>
                <a:latin typeface="Calibri"/>
                <a:cs typeface="Calibri"/>
              </a:rPr>
              <a:t>Design</a:t>
            </a:r>
            <a:r>
              <a:rPr sz="215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-30" dirty="0">
                <a:solidFill>
                  <a:srgbClr val="0000FF"/>
                </a:solidFill>
                <a:latin typeface="Wingdings"/>
                <a:cs typeface="Wingdings"/>
              </a:rPr>
              <a:t></a:t>
            </a:r>
            <a:r>
              <a:rPr sz="2150" spc="-30" dirty="0">
                <a:solidFill>
                  <a:srgbClr val="0000FF"/>
                </a:solidFill>
                <a:latin typeface="Calibri"/>
                <a:cs typeface="Calibri"/>
              </a:rPr>
              <a:t>Test</a:t>
            </a:r>
            <a:r>
              <a:rPr sz="215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50" spc="35" dirty="0">
                <a:solidFill>
                  <a:srgbClr val="0000FF"/>
                </a:solidFill>
                <a:latin typeface="Wingdings"/>
                <a:cs typeface="Wingdings"/>
              </a:rPr>
              <a:t></a:t>
            </a:r>
            <a:r>
              <a:rPr sz="2150" spc="43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50" spc="-5" dirty="0">
                <a:solidFill>
                  <a:srgbClr val="0000FF"/>
                </a:solidFill>
                <a:latin typeface="Calibri"/>
                <a:cs typeface="Calibri"/>
              </a:rPr>
              <a:t>etc</a:t>
            </a:r>
            <a:r>
              <a:rPr sz="2150" spc="-5" dirty="0">
                <a:latin typeface="Calibri"/>
                <a:cs typeface="Calibri"/>
              </a:rPr>
              <a:t>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69508" y="3101339"/>
            <a:ext cx="585470" cy="61912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117475" rIns="0" bIns="0" rtlCol="0">
            <a:spAutoFit/>
          </a:bodyPr>
          <a:lstStyle/>
          <a:p>
            <a:pPr marL="59055" marR="52705" indent="8890">
              <a:lnSpc>
                <a:spcPct val="100000"/>
              </a:lnSpc>
              <a:spcBef>
                <a:spcPts val="925"/>
              </a:spcBef>
            </a:pPr>
            <a:r>
              <a:rPr sz="1200" b="1" spc="-10" dirty="0">
                <a:latin typeface="Comic Sans MS"/>
                <a:cs typeface="Comic Sans MS"/>
              </a:rPr>
              <a:t>I</a:t>
            </a:r>
            <a:r>
              <a:rPr sz="1200" b="1" spc="-5" dirty="0">
                <a:latin typeface="Comic Sans MS"/>
                <a:cs typeface="Comic Sans MS"/>
              </a:rPr>
              <a:t>ni</a:t>
            </a:r>
            <a:r>
              <a:rPr sz="1200" b="1" spc="5" dirty="0">
                <a:latin typeface="Comic Sans MS"/>
                <a:cs typeface="Comic Sans MS"/>
              </a:rPr>
              <a:t>t</a:t>
            </a:r>
            <a:r>
              <a:rPr sz="1200" b="1" spc="-5" dirty="0">
                <a:latin typeface="Comic Sans MS"/>
                <a:cs typeface="Comic Sans MS"/>
              </a:rPr>
              <a:t>i</a:t>
            </a:r>
            <a:r>
              <a:rPr sz="1200" b="1" dirty="0">
                <a:latin typeface="Comic Sans MS"/>
                <a:cs typeface="Comic Sans MS"/>
              </a:rPr>
              <a:t>al  C</a:t>
            </a:r>
            <a:r>
              <a:rPr sz="1200" b="1" spc="-10" dirty="0">
                <a:latin typeface="Comic Sans MS"/>
                <a:cs typeface="Comic Sans MS"/>
              </a:rPr>
              <a:t>od</a:t>
            </a:r>
            <a:r>
              <a:rPr sz="1200" b="1" spc="-5" dirty="0">
                <a:latin typeface="Comic Sans MS"/>
                <a:cs typeface="Comic Sans MS"/>
              </a:rPr>
              <a:t>in</a:t>
            </a:r>
            <a:r>
              <a:rPr sz="1200" b="1" dirty="0">
                <a:latin typeface="Comic Sans MS"/>
                <a:cs typeface="Comic Sans MS"/>
              </a:rPr>
              <a:t>g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14741" y="3409644"/>
            <a:ext cx="6311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C70429"/>
                </a:solidFill>
                <a:latin typeface="Comic Sans MS"/>
                <a:cs typeface="Comic Sans MS"/>
              </a:rPr>
              <a:t>Do</a:t>
            </a:r>
            <a:r>
              <a:rPr sz="1200" b="1" spc="-70" dirty="0">
                <a:solidFill>
                  <a:srgbClr val="C70429"/>
                </a:solidFill>
                <a:latin typeface="Comic Sans MS"/>
                <a:cs typeface="Comic Sans MS"/>
              </a:rPr>
              <a:t> </a:t>
            </a:r>
            <a:r>
              <a:rPr sz="1200" b="1" dirty="0">
                <a:solidFill>
                  <a:srgbClr val="C70429"/>
                </a:solidFill>
                <a:latin typeface="Comic Sans MS"/>
                <a:cs typeface="Comic Sans MS"/>
              </a:rPr>
              <a:t>Until</a:t>
            </a:r>
            <a:endParaRPr sz="120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solidFill>
                  <a:srgbClr val="C70429"/>
                </a:solidFill>
                <a:latin typeface="Comic Sans MS"/>
                <a:cs typeface="Comic Sans MS"/>
              </a:rPr>
              <a:t>Done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35142" y="3271265"/>
            <a:ext cx="625475" cy="228600"/>
          </a:xfrm>
          <a:custGeom>
            <a:avLst/>
            <a:gdLst/>
            <a:ahLst/>
            <a:cxnLst/>
            <a:rect l="l" t="t" r="r" b="b"/>
            <a:pathLst>
              <a:path w="625475" h="228600">
                <a:moveTo>
                  <a:pt x="397764" y="0"/>
                </a:moveTo>
                <a:lnTo>
                  <a:pt x="397001" y="76213"/>
                </a:lnTo>
                <a:lnTo>
                  <a:pt x="435102" y="76580"/>
                </a:lnTo>
                <a:lnTo>
                  <a:pt x="434340" y="152780"/>
                </a:lnTo>
                <a:lnTo>
                  <a:pt x="396236" y="152780"/>
                </a:lnTo>
                <a:lnTo>
                  <a:pt x="395478" y="228599"/>
                </a:lnTo>
                <a:lnTo>
                  <a:pt x="550984" y="152780"/>
                </a:lnTo>
                <a:lnTo>
                  <a:pt x="434340" y="152780"/>
                </a:lnTo>
                <a:lnTo>
                  <a:pt x="551738" y="152413"/>
                </a:lnTo>
                <a:lnTo>
                  <a:pt x="625221" y="116585"/>
                </a:lnTo>
                <a:lnTo>
                  <a:pt x="397764" y="0"/>
                </a:lnTo>
                <a:close/>
              </a:path>
              <a:path w="625475" h="228600">
                <a:moveTo>
                  <a:pt x="397001" y="76213"/>
                </a:moveTo>
                <a:lnTo>
                  <a:pt x="396239" y="152413"/>
                </a:lnTo>
                <a:lnTo>
                  <a:pt x="434340" y="152780"/>
                </a:lnTo>
                <a:lnTo>
                  <a:pt x="435102" y="76580"/>
                </a:lnTo>
                <a:lnTo>
                  <a:pt x="397001" y="76213"/>
                </a:lnTo>
                <a:close/>
              </a:path>
              <a:path w="625475" h="228600">
                <a:moveTo>
                  <a:pt x="762" y="72389"/>
                </a:moveTo>
                <a:lnTo>
                  <a:pt x="0" y="148589"/>
                </a:lnTo>
                <a:lnTo>
                  <a:pt x="396239" y="152413"/>
                </a:lnTo>
                <a:lnTo>
                  <a:pt x="397001" y="76213"/>
                </a:lnTo>
                <a:lnTo>
                  <a:pt x="762" y="72389"/>
                </a:lnTo>
                <a:close/>
              </a:path>
            </a:pathLst>
          </a:custGeom>
          <a:solidFill>
            <a:srgbClr val="C7042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7266241" y="3096577"/>
            <a:ext cx="1779270" cy="582930"/>
            <a:chOff x="7266241" y="3096577"/>
            <a:chExt cx="1779270" cy="582930"/>
          </a:xfrm>
        </p:grpSpPr>
        <p:sp>
          <p:nvSpPr>
            <p:cNvPr id="10" name="object 10"/>
            <p:cNvSpPr/>
            <p:nvPr/>
          </p:nvSpPr>
          <p:spPr>
            <a:xfrm>
              <a:off x="7840980" y="3267455"/>
              <a:ext cx="1203960" cy="228600"/>
            </a:xfrm>
            <a:custGeom>
              <a:avLst/>
              <a:gdLst/>
              <a:ahLst/>
              <a:cxnLst/>
              <a:rect l="l" t="t" r="r" b="b"/>
              <a:pathLst>
                <a:path w="1203959" h="228600">
                  <a:moveTo>
                    <a:pt x="975360" y="0"/>
                  </a:moveTo>
                  <a:lnTo>
                    <a:pt x="975360" y="228600"/>
                  </a:lnTo>
                  <a:lnTo>
                    <a:pt x="1127760" y="152400"/>
                  </a:lnTo>
                  <a:lnTo>
                    <a:pt x="1013460" y="152400"/>
                  </a:lnTo>
                  <a:lnTo>
                    <a:pt x="1013460" y="76200"/>
                  </a:lnTo>
                  <a:lnTo>
                    <a:pt x="1127760" y="76200"/>
                  </a:lnTo>
                  <a:lnTo>
                    <a:pt x="975360" y="0"/>
                  </a:lnTo>
                  <a:close/>
                </a:path>
                <a:path w="1203959" h="228600">
                  <a:moveTo>
                    <a:pt x="975360" y="76200"/>
                  </a:moveTo>
                  <a:lnTo>
                    <a:pt x="0" y="76200"/>
                  </a:lnTo>
                  <a:lnTo>
                    <a:pt x="0" y="152400"/>
                  </a:lnTo>
                  <a:lnTo>
                    <a:pt x="975360" y="152400"/>
                  </a:lnTo>
                  <a:lnTo>
                    <a:pt x="975360" y="76200"/>
                  </a:lnTo>
                  <a:close/>
                </a:path>
                <a:path w="1203959" h="228600">
                  <a:moveTo>
                    <a:pt x="1127760" y="76200"/>
                  </a:moveTo>
                  <a:lnTo>
                    <a:pt x="1013460" y="76200"/>
                  </a:lnTo>
                  <a:lnTo>
                    <a:pt x="1013460" y="152400"/>
                  </a:lnTo>
                  <a:lnTo>
                    <a:pt x="1127760" y="152400"/>
                  </a:lnTo>
                  <a:lnTo>
                    <a:pt x="1203960" y="114300"/>
                  </a:lnTo>
                  <a:lnTo>
                    <a:pt x="1127760" y="76200"/>
                  </a:lnTo>
                  <a:close/>
                </a:path>
              </a:pathLst>
            </a:custGeom>
            <a:solidFill>
              <a:srgbClr val="C704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71004" y="3101339"/>
              <a:ext cx="561340" cy="573405"/>
            </a:xfrm>
            <a:custGeom>
              <a:avLst/>
              <a:gdLst/>
              <a:ahLst/>
              <a:cxnLst/>
              <a:rect l="l" t="t" r="r" b="b"/>
              <a:pathLst>
                <a:path w="561340" h="573404">
                  <a:moveTo>
                    <a:pt x="0" y="573023"/>
                  </a:moveTo>
                  <a:lnTo>
                    <a:pt x="560831" y="573023"/>
                  </a:lnTo>
                  <a:lnTo>
                    <a:pt x="560831" y="0"/>
                  </a:lnTo>
                  <a:lnTo>
                    <a:pt x="0" y="0"/>
                  </a:lnTo>
                  <a:lnTo>
                    <a:pt x="0" y="57302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314056" y="3242005"/>
            <a:ext cx="47815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spc="10" dirty="0">
                <a:latin typeface="Comic Sans MS"/>
                <a:cs typeface="Comic Sans MS"/>
              </a:rPr>
              <a:t>T</a:t>
            </a:r>
            <a:r>
              <a:rPr sz="1600" b="1" spc="-10" dirty="0">
                <a:latin typeface="Comic Sans MS"/>
                <a:cs typeface="Comic Sans MS"/>
              </a:rPr>
              <a:t>e</a:t>
            </a:r>
            <a:r>
              <a:rPr sz="1600" b="1" spc="10" dirty="0">
                <a:latin typeface="Comic Sans MS"/>
                <a:cs typeface="Comic Sans MS"/>
              </a:rPr>
              <a:t>s</a:t>
            </a:r>
            <a:r>
              <a:rPr sz="1600" b="1" dirty="0">
                <a:latin typeface="Comic Sans MS"/>
                <a:cs typeface="Comic Sans MS"/>
              </a:rPr>
              <a:t>t</a:t>
            </a:r>
            <a:endParaRPr sz="1600">
              <a:latin typeface="Comic Sans MS"/>
              <a:cs typeface="Comic Sans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573011" y="2307145"/>
            <a:ext cx="1172210" cy="1189355"/>
            <a:chOff x="6573011" y="2307145"/>
            <a:chExt cx="1172210" cy="1189355"/>
          </a:xfrm>
        </p:grpSpPr>
        <p:sp>
          <p:nvSpPr>
            <p:cNvPr id="14" name="object 14"/>
            <p:cNvSpPr/>
            <p:nvPr/>
          </p:nvSpPr>
          <p:spPr>
            <a:xfrm>
              <a:off x="6573011" y="3267455"/>
              <a:ext cx="698500" cy="228600"/>
            </a:xfrm>
            <a:custGeom>
              <a:avLst/>
              <a:gdLst/>
              <a:ahLst/>
              <a:cxnLst/>
              <a:rect l="l" t="t" r="r" b="b"/>
              <a:pathLst>
                <a:path w="698500" h="228600">
                  <a:moveTo>
                    <a:pt x="469392" y="0"/>
                  </a:moveTo>
                  <a:lnTo>
                    <a:pt x="469392" y="228600"/>
                  </a:lnTo>
                  <a:lnTo>
                    <a:pt x="621792" y="152400"/>
                  </a:lnTo>
                  <a:lnTo>
                    <a:pt x="507492" y="152400"/>
                  </a:lnTo>
                  <a:lnTo>
                    <a:pt x="507492" y="76200"/>
                  </a:lnTo>
                  <a:lnTo>
                    <a:pt x="621792" y="76200"/>
                  </a:lnTo>
                  <a:lnTo>
                    <a:pt x="469392" y="0"/>
                  </a:lnTo>
                  <a:close/>
                </a:path>
                <a:path w="698500" h="228600">
                  <a:moveTo>
                    <a:pt x="469392" y="76200"/>
                  </a:moveTo>
                  <a:lnTo>
                    <a:pt x="0" y="76200"/>
                  </a:lnTo>
                  <a:lnTo>
                    <a:pt x="0" y="152400"/>
                  </a:lnTo>
                  <a:lnTo>
                    <a:pt x="469392" y="152400"/>
                  </a:lnTo>
                  <a:lnTo>
                    <a:pt x="469392" y="76200"/>
                  </a:lnTo>
                  <a:close/>
                </a:path>
                <a:path w="698500" h="228600">
                  <a:moveTo>
                    <a:pt x="621792" y="76200"/>
                  </a:moveTo>
                  <a:lnTo>
                    <a:pt x="507492" y="76200"/>
                  </a:lnTo>
                  <a:lnTo>
                    <a:pt x="507492" y="152400"/>
                  </a:lnTo>
                  <a:lnTo>
                    <a:pt x="621792" y="152400"/>
                  </a:lnTo>
                  <a:lnTo>
                    <a:pt x="697992" y="114300"/>
                  </a:lnTo>
                  <a:lnTo>
                    <a:pt x="621792" y="76200"/>
                  </a:lnTo>
                  <a:close/>
                </a:path>
              </a:pathLst>
            </a:custGeom>
            <a:solidFill>
              <a:srgbClr val="C704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179563" y="2311907"/>
              <a:ext cx="561340" cy="573405"/>
            </a:xfrm>
            <a:custGeom>
              <a:avLst/>
              <a:gdLst/>
              <a:ahLst/>
              <a:cxnLst/>
              <a:rect l="l" t="t" r="r" b="b"/>
              <a:pathLst>
                <a:path w="561340" h="573405">
                  <a:moveTo>
                    <a:pt x="0" y="573024"/>
                  </a:moveTo>
                  <a:lnTo>
                    <a:pt x="560831" y="573024"/>
                  </a:lnTo>
                  <a:lnTo>
                    <a:pt x="560831" y="0"/>
                  </a:lnTo>
                  <a:lnTo>
                    <a:pt x="0" y="0"/>
                  </a:lnTo>
                  <a:lnTo>
                    <a:pt x="0" y="57302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277227" y="2435174"/>
            <a:ext cx="3651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latin typeface="Comic Sans MS"/>
                <a:cs typeface="Comic Sans MS"/>
              </a:rPr>
              <a:t>F</a:t>
            </a:r>
            <a:r>
              <a:rPr sz="1800" b="1" spc="-5" dirty="0">
                <a:latin typeface="Comic Sans MS"/>
                <a:cs typeface="Comic Sans MS"/>
              </a:rPr>
              <a:t>ix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810756" y="2516377"/>
            <a:ext cx="1290955" cy="865505"/>
            <a:chOff x="6810756" y="2516377"/>
            <a:chExt cx="1290955" cy="865505"/>
          </a:xfrm>
        </p:grpSpPr>
        <p:sp>
          <p:nvSpPr>
            <p:cNvPr id="18" name="object 18"/>
            <p:cNvSpPr/>
            <p:nvPr/>
          </p:nvSpPr>
          <p:spPr>
            <a:xfrm>
              <a:off x="8063484" y="2634995"/>
              <a:ext cx="0" cy="746760"/>
            </a:xfrm>
            <a:custGeom>
              <a:avLst/>
              <a:gdLst/>
              <a:ahLst/>
              <a:cxnLst/>
              <a:rect l="l" t="t" r="r" b="b"/>
              <a:pathLst>
                <a:path h="746760">
                  <a:moveTo>
                    <a:pt x="0" y="0"/>
                  </a:moveTo>
                  <a:lnTo>
                    <a:pt x="0" y="746759"/>
                  </a:lnTo>
                </a:path>
              </a:pathLst>
            </a:custGeom>
            <a:ln w="76200">
              <a:solidFill>
                <a:srgbClr val="C704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10756" y="2516377"/>
              <a:ext cx="1254760" cy="865505"/>
            </a:xfrm>
            <a:custGeom>
              <a:avLst/>
              <a:gdLst/>
              <a:ahLst/>
              <a:cxnLst/>
              <a:rect l="l" t="t" r="r" b="b"/>
              <a:pathLst>
                <a:path w="1254759" h="865504">
                  <a:moveTo>
                    <a:pt x="228600" y="639064"/>
                  </a:moveTo>
                  <a:lnTo>
                    <a:pt x="152400" y="637540"/>
                  </a:lnTo>
                  <a:lnTo>
                    <a:pt x="163068" y="104140"/>
                  </a:lnTo>
                  <a:lnTo>
                    <a:pt x="86868" y="102616"/>
                  </a:lnTo>
                  <a:lnTo>
                    <a:pt x="76200" y="636016"/>
                  </a:lnTo>
                  <a:lnTo>
                    <a:pt x="0" y="634492"/>
                  </a:lnTo>
                  <a:lnTo>
                    <a:pt x="109728" y="865378"/>
                  </a:lnTo>
                  <a:lnTo>
                    <a:pt x="209384" y="675640"/>
                  </a:lnTo>
                  <a:lnTo>
                    <a:pt x="228600" y="639064"/>
                  </a:lnTo>
                  <a:close/>
                </a:path>
                <a:path w="1254759" h="865504">
                  <a:moveTo>
                    <a:pt x="1254506" y="80518"/>
                  </a:moveTo>
                  <a:lnTo>
                    <a:pt x="1159764" y="76085"/>
                  </a:lnTo>
                  <a:lnTo>
                    <a:pt x="1159840" y="74295"/>
                  </a:lnTo>
                  <a:lnTo>
                    <a:pt x="1163320" y="0"/>
                  </a:lnTo>
                  <a:lnTo>
                    <a:pt x="929640" y="103378"/>
                  </a:lnTo>
                  <a:lnTo>
                    <a:pt x="1152652" y="228346"/>
                  </a:lnTo>
                  <a:lnTo>
                    <a:pt x="1156208" y="152196"/>
                  </a:lnTo>
                  <a:lnTo>
                    <a:pt x="1250950" y="156718"/>
                  </a:lnTo>
                  <a:lnTo>
                    <a:pt x="1254506" y="80518"/>
                  </a:lnTo>
                  <a:close/>
                </a:path>
              </a:pathLst>
            </a:custGeom>
            <a:solidFill>
              <a:srgbClr val="C704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935724" y="2619755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40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ln w="76200">
              <a:solidFill>
                <a:srgbClr val="C704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356092" y="4727168"/>
            <a:ext cx="281940" cy="431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z="3200" b="1" spc="-5" dirty="0">
                <a:solidFill>
                  <a:srgbClr val="888888"/>
                </a:solidFill>
                <a:latin typeface="Calibri"/>
                <a:cs typeface="Calibri"/>
              </a:rPr>
              <a:t>7</a:t>
            </a:fld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8701" y="251917"/>
            <a:ext cx="4066540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-15" dirty="0">
                <a:solidFill>
                  <a:srgbClr val="0000CC"/>
                </a:solidFill>
              </a:rPr>
              <a:t>Life</a:t>
            </a:r>
            <a:r>
              <a:rPr sz="4000" spc="-60" dirty="0">
                <a:solidFill>
                  <a:srgbClr val="0000CC"/>
                </a:solidFill>
              </a:rPr>
              <a:t> </a:t>
            </a:r>
            <a:r>
              <a:rPr sz="4000" spc="-15" dirty="0">
                <a:solidFill>
                  <a:srgbClr val="0000CC"/>
                </a:solidFill>
              </a:rPr>
              <a:t>Cycle </a:t>
            </a:r>
            <a:r>
              <a:rPr sz="4000" dirty="0">
                <a:solidFill>
                  <a:srgbClr val="0000CC"/>
                </a:solidFill>
              </a:rPr>
              <a:t>Model</a:t>
            </a:r>
            <a:r>
              <a:rPr sz="4000" spc="-20" dirty="0">
                <a:solidFill>
                  <a:srgbClr val="0000CC"/>
                </a:solidFill>
              </a:rPr>
              <a:t> </a:t>
            </a:r>
            <a:r>
              <a:rPr sz="1200" spc="-20" dirty="0">
                <a:solidFill>
                  <a:srgbClr val="0000CC"/>
                </a:solidFill>
              </a:rPr>
              <a:t>(CONT.)</a:t>
            </a:r>
            <a:endParaRPr sz="1200"/>
          </a:p>
        </p:txBody>
      </p:sp>
      <p:sp>
        <p:nvSpPr>
          <p:cNvPr id="4" name="object 4"/>
          <p:cNvSpPr txBox="1"/>
          <p:nvPr/>
        </p:nvSpPr>
        <p:spPr>
          <a:xfrm>
            <a:off x="8356092" y="4727168"/>
            <a:ext cx="281940" cy="431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z="3200" b="1" spc="-5" dirty="0">
                <a:solidFill>
                  <a:srgbClr val="888888"/>
                </a:solidFill>
                <a:latin typeface="Calibri"/>
                <a:cs typeface="Calibri"/>
              </a:rPr>
              <a:t>8</a:t>
            </a:fld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7657" y="1116278"/>
            <a:ext cx="8025130" cy="2452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4475" algn="l"/>
              </a:tabLst>
            </a:pPr>
            <a:r>
              <a:rPr sz="3000" dirty="0">
                <a:latin typeface="Calibri"/>
                <a:cs typeface="Calibri"/>
              </a:rPr>
              <a:t>When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software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being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developed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by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5" dirty="0">
                <a:latin typeface="Calibri"/>
                <a:cs typeface="Calibri"/>
              </a:rPr>
              <a:t> team:</a:t>
            </a:r>
            <a:endParaRPr sz="3000">
              <a:latin typeface="Calibri"/>
              <a:cs typeface="Calibri"/>
            </a:endParaRPr>
          </a:p>
          <a:p>
            <a:pPr marL="515620" marR="215900" indent="-192405">
              <a:lnSpc>
                <a:spcPct val="126699"/>
              </a:lnSpc>
              <a:spcBef>
                <a:spcPts val="1625"/>
              </a:spcBef>
            </a:pPr>
            <a:r>
              <a:rPr sz="2700" spc="-10" dirty="0">
                <a:latin typeface="Arial MT"/>
                <a:cs typeface="Arial MT"/>
              </a:rPr>
              <a:t>–</a:t>
            </a:r>
            <a:r>
              <a:rPr sz="2700" spc="-10" dirty="0">
                <a:latin typeface="Calibri"/>
                <a:cs typeface="Calibri"/>
              </a:rPr>
              <a:t>There</a:t>
            </a:r>
            <a:r>
              <a:rPr sz="2700" spc="5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must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be </a:t>
            </a:r>
            <a:r>
              <a:rPr sz="2700" spc="5" dirty="0">
                <a:latin typeface="Calibri"/>
                <a:cs typeface="Calibri"/>
              </a:rPr>
              <a:t>a </a:t>
            </a:r>
            <a:r>
              <a:rPr sz="2700" spc="-5" dirty="0">
                <a:latin typeface="Calibri"/>
                <a:cs typeface="Calibri"/>
              </a:rPr>
              <a:t>precise</a:t>
            </a:r>
            <a:r>
              <a:rPr sz="2700" spc="5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understanding</a:t>
            </a:r>
            <a:r>
              <a:rPr sz="2700" spc="8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among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team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members</a:t>
            </a:r>
            <a:r>
              <a:rPr sz="2700" spc="7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as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to </a:t>
            </a:r>
            <a:r>
              <a:rPr sz="2700" dirty="0">
                <a:latin typeface="Calibri"/>
                <a:cs typeface="Calibri"/>
              </a:rPr>
              <a:t>when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to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do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what,</a:t>
            </a:r>
            <a:endParaRPr sz="27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2425"/>
              </a:spcBef>
              <a:tabLst>
                <a:tab pos="7039609" algn="l"/>
              </a:tabLst>
            </a:pPr>
            <a:r>
              <a:rPr sz="2700" spc="5" dirty="0">
                <a:latin typeface="Arial MT"/>
                <a:cs typeface="Arial MT"/>
              </a:rPr>
              <a:t>–</a:t>
            </a:r>
            <a:r>
              <a:rPr sz="2700" dirty="0">
                <a:latin typeface="Calibri"/>
                <a:cs typeface="Calibri"/>
              </a:rPr>
              <a:t>Oth</a:t>
            </a:r>
            <a:r>
              <a:rPr sz="2700" spc="-10" dirty="0">
                <a:latin typeface="Calibri"/>
                <a:cs typeface="Calibri"/>
              </a:rPr>
              <a:t>e</a:t>
            </a:r>
            <a:r>
              <a:rPr sz="2700" spc="15" dirty="0">
                <a:latin typeface="Calibri"/>
                <a:cs typeface="Calibri"/>
              </a:rPr>
              <a:t>r</a:t>
            </a:r>
            <a:r>
              <a:rPr sz="2700" spc="5" dirty="0">
                <a:latin typeface="Calibri"/>
                <a:cs typeface="Calibri"/>
              </a:rPr>
              <a:t>wis</a:t>
            </a:r>
            <a:r>
              <a:rPr sz="2700" spc="-10" dirty="0">
                <a:latin typeface="Calibri"/>
                <a:cs typeface="Calibri"/>
              </a:rPr>
              <a:t>e</a:t>
            </a:r>
            <a:r>
              <a:rPr sz="2700" dirty="0">
                <a:latin typeface="Calibri"/>
                <a:cs typeface="Calibri"/>
              </a:rPr>
              <a:t>,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it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w</a:t>
            </a:r>
            <a:r>
              <a:rPr sz="2700" spc="10" dirty="0">
                <a:latin typeface="Calibri"/>
                <a:cs typeface="Calibri"/>
              </a:rPr>
              <a:t>o</a:t>
            </a:r>
            <a:r>
              <a:rPr sz="2700" spc="-5" dirty="0">
                <a:latin typeface="Calibri"/>
                <a:cs typeface="Calibri"/>
              </a:rPr>
              <a:t>u</a:t>
            </a:r>
            <a:r>
              <a:rPr sz="2700" spc="5" dirty="0">
                <a:latin typeface="Calibri"/>
                <a:cs typeface="Calibri"/>
              </a:rPr>
              <a:t>ld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le</a:t>
            </a:r>
            <a:r>
              <a:rPr sz="2700" spc="-10" dirty="0">
                <a:latin typeface="Calibri"/>
                <a:cs typeface="Calibri"/>
              </a:rPr>
              <a:t>a</a:t>
            </a:r>
            <a:r>
              <a:rPr sz="2700" spc="5" dirty="0">
                <a:latin typeface="Calibri"/>
                <a:cs typeface="Calibri"/>
              </a:rPr>
              <a:t>d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t</a:t>
            </a:r>
            <a:r>
              <a:rPr sz="2700" spc="5" dirty="0">
                <a:latin typeface="Calibri"/>
                <a:cs typeface="Calibri"/>
              </a:rPr>
              <a:t>o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ch</a:t>
            </a:r>
            <a:r>
              <a:rPr sz="2700" spc="-5" dirty="0">
                <a:latin typeface="Calibri"/>
                <a:cs typeface="Calibri"/>
              </a:rPr>
              <a:t>a</a:t>
            </a:r>
            <a:r>
              <a:rPr sz="2700" spc="10" dirty="0">
                <a:latin typeface="Calibri"/>
                <a:cs typeface="Calibri"/>
              </a:rPr>
              <a:t>o</a:t>
            </a:r>
            <a:r>
              <a:rPr sz="2700" spc="5" dirty="0">
                <a:latin typeface="Calibri"/>
                <a:cs typeface="Calibri"/>
              </a:rPr>
              <a:t>s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and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</a:t>
            </a:r>
            <a:r>
              <a:rPr sz="2700" spc="-55" dirty="0">
                <a:latin typeface="Calibri"/>
                <a:cs typeface="Calibri"/>
              </a:rPr>
              <a:t>r</a:t>
            </a:r>
            <a:r>
              <a:rPr sz="2700" spc="10" dirty="0">
                <a:latin typeface="Calibri"/>
                <a:cs typeface="Calibri"/>
              </a:rPr>
              <a:t>o</a:t>
            </a:r>
            <a:r>
              <a:rPr sz="2700" spc="-5" dirty="0">
                <a:latin typeface="Calibri"/>
                <a:cs typeface="Calibri"/>
              </a:rPr>
              <a:t>je</a:t>
            </a:r>
            <a:r>
              <a:rPr sz="2700" spc="5" dirty="0">
                <a:latin typeface="Calibri"/>
                <a:cs typeface="Calibri"/>
              </a:rPr>
              <a:t>ct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65" dirty="0">
                <a:latin typeface="Calibri"/>
                <a:cs typeface="Calibri"/>
              </a:rPr>
              <a:t>f</a:t>
            </a:r>
            <a:r>
              <a:rPr sz="2700" dirty="0">
                <a:latin typeface="Calibri"/>
                <a:cs typeface="Calibri"/>
              </a:rPr>
              <a:t>ail</a:t>
            </a:r>
            <a:r>
              <a:rPr sz="2700" spc="-10" dirty="0">
                <a:latin typeface="Calibri"/>
                <a:cs typeface="Calibri"/>
              </a:rPr>
              <a:t>u</a:t>
            </a:r>
            <a:r>
              <a:rPr sz="2700" spc="-55" dirty="0">
                <a:latin typeface="Calibri"/>
                <a:cs typeface="Calibri"/>
              </a:rPr>
              <a:t>r</a:t>
            </a:r>
            <a:r>
              <a:rPr sz="2700" spc="5" dirty="0">
                <a:latin typeface="Calibri"/>
                <a:cs typeface="Calibri"/>
              </a:rPr>
              <a:t>e.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91357" y="281127"/>
            <a:ext cx="308673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0000CC"/>
                </a:solidFill>
              </a:rPr>
              <a:t>Life</a:t>
            </a:r>
            <a:r>
              <a:rPr sz="3000" spc="-50" dirty="0">
                <a:solidFill>
                  <a:srgbClr val="0000CC"/>
                </a:solidFill>
              </a:rPr>
              <a:t> </a:t>
            </a:r>
            <a:r>
              <a:rPr sz="3000" spc="-15" dirty="0">
                <a:solidFill>
                  <a:srgbClr val="0000CC"/>
                </a:solidFill>
              </a:rPr>
              <a:t>Cycle</a:t>
            </a:r>
            <a:r>
              <a:rPr sz="3000" spc="-25" dirty="0">
                <a:solidFill>
                  <a:srgbClr val="0000CC"/>
                </a:solidFill>
              </a:rPr>
              <a:t> </a:t>
            </a:r>
            <a:r>
              <a:rPr sz="3000" spc="-5" dirty="0">
                <a:solidFill>
                  <a:srgbClr val="0000CC"/>
                </a:solidFill>
              </a:rPr>
              <a:t>Model</a:t>
            </a:r>
            <a:r>
              <a:rPr sz="3000" spc="-25" dirty="0">
                <a:solidFill>
                  <a:srgbClr val="0000CC"/>
                </a:solidFill>
              </a:rPr>
              <a:t> </a:t>
            </a:r>
            <a:r>
              <a:rPr sz="950" dirty="0">
                <a:solidFill>
                  <a:srgbClr val="0000CC"/>
                </a:solidFill>
              </a:rPr>
              <a:t>(CONT.)</a:t>
            </a:r>
            <a:endParaRPr sz="950"/>
          </a:p>
        </p:txBody>
      </p:sp>
      <p:sp>
        <p:nvSpPr>
          <p:cNvPr id="4" name="object 4"/>
          <p:cNvSpPr txBox="1"/>
          <p:nvPr/>
        </p:nvSpPr>
        <p:spPr>
          <a:xfrm>
            <a:off x="8356092" y="4727168"/>
            <a:ext cx="281940" cy="431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z="3200" b="1" spc="-5" dirty="0">
                <a:solidFill>
                  <a:srgbClr val="888888"/>
                </a:solidFill>
                <a:latin typeface="Calibri"/>
                <a:cs typeface="Calibri"/>
              </a:rPr>
              <a:t>9</a:t>
            </a:fld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677" y="666360"/>
            <a:ext cx="8669020" cy="3127375"/>
          </a:xfrm>
          <a:prstGeom prst="rect">
            <a:avLst/>
          </a:prstGeom>
        </p:spPr>
        <p:txBody>
          <a:bodyPr vert="horz" wrap="square" lIns="0" tIns="220979" rIns="0" bIns="0" rtlCol="0">
            <a:spAutoFit/>
          </a:bodyPr>
          <a:lstStyle/>
          <a:p>
            <a:pPr marL="326390" indent="-314325">
              <a:lnSpc>
                <a:spcPct val="100000"/>
              </a:lnSpc>
              <a:spcBef>
                <a:spcPts val="1739"/>
              </a:spcBef>
              <a:buSzPct val="87500"/>
              <a:buFont typeface="Arial MT"/>
              <a:buChar char="•"/>
              <a:tabLst>
                <a:tab pos="326390" algn="l"/>
                <a:tab pos="327025" algn="l"/>
              </a:tabLst>
            </a:pPr>
            <a:r>
              <a:rPr sz="3200" spc="-5" dirty="0">
                <a:latin typeface="Calibri"/>
                <a:cs typeface="Calibri"/>
              </a:rPr>
              <a:t>A </a:t>
            </a:r>
            <a:r>
              <a:rPr sz="3200" spc="-20" dirty="0">
                <a:latin typeface="Calibri"/>
                <a:cs typeface="Calibri"/>
              </a:rPr>
              <a:t>software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project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will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never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succeed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if:</a:t>
            </a:r>
            <a:endParaRPr sz="32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460"/>
              </a:spcBef>
            </a:pPr>
            <a:r>
              <a:rPr sz="2800" dirty="0">
                <a:latin typeface="Arial MT"/>
                <a:cs typeface="Arial MT"/>
              </a:rPr>
              <a:t>–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engineer </a:t>
            </a:r>
            <a:r>
              <a:rPr sz="2800" spc="-10" dirty="0">
                <a:latin typeface="Calibri"/>
                <a:cs typeface="Calibri"/>
              </a:rPr>
              <a:t>starts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writing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code,</a:t>
            </a:r>
            <a:endParaRPr sz="28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345"/>
              </a:spcBef>
            </a:pP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5" dirty="0">
                <a:latin typeface="Calibri"/>
                <a:cs typeface="Calibri"/>
              </a:rPr>
              <a:t>another</a:t>
            </a:r>
            <a:r>
              <a:rPr sz="2800" spc="-15" dirty="0">
                <a:latin typeface="Calibri"/>
                <a:cs typeface="Calibri"/>
              </a:rPr>
              <a:t> concentrates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writing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test document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first,</a:t>
            </a:r>
            <a:endParaRPr sz="28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345"/>
              </a:spcBef>
            </a:pPr>
            <a:r>
              <a:rPr sz="2800" spc="-15" dirty="0">
                <a:latin typeface="Arial MT"/>
                <a:cs typeface="Arial MT"/>
              </a:rPr>
              <a:t>–</a:t>
            </a:r>
            <a:r>
              <a:rPr sz="2800" spc="-15" dirty="0">
                <a:latin typeface="Calibri"/>
                <a:cs typeface="Calibri"/>
              </a:rPr>
              <a:t>yet </a:t>
            </a:r>
            <a:r>
              <a:rPr sz="2800" spc="-5" dirty="0">
                <a:latin typeface="Calibri"/>
                <a:cs typeface="Calibri"/>
              </a:rPr>
              <a:t>another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engineer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first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defines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file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structure</a:t>
            </a:r>
            <a:endParaRPr sz="28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350"/>
              </a:spcBef>
            </a:pP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5" dirty="0">
                <a:latin typeface="Calibri"/>
                <a:cs typeface="Calibri"/>
              </a:rPr>
              <a:t>another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defines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I/O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for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his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portion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first.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645" y="80013"/>
            <a:ext cx="7729220" cy="3546475"/>
          </a:xfrm>
          <a:prstGeom prst="rect">
            <a:avLst/>
          </a:prstGeom>
        </p:spPr>
        <p:txBody>
          <a:bodyPr vert="horz" wrap="square" lIns="0" tIns="274955" rIns="0" bIns="0" rtlCol="0">
            <a:spAutoFit/>
          </a:bodyPr>
          <a:lstStyle/>
          <a:p>
            <a:pPr marL="2149475">
              <a:lnSpc>
                <a:spcPct val="100000"/>
              </a:lnSpc>
              <a:spcBef>
                <a:spcPts val="2165"/>
              </a:spcBef>
            </a:pPr>
            <a:r>
              <a:rPr sz="3000" b="1" dirty="0">
                <a:solidFill>
                  <a:srgbClr val="0000CC"/>
                </a:solidFill>
                <a:latin typeface="Calibri"/>
                <a:cs typeface="Calibri"/>
              </a:rPr>
              <a:t>Phase</a:t>
            </a:r>
            <a:r>
              <a:rPr sz="3000" b="1" spc="-4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0000CC"/>
                </a:solidFill>
                <a:latin typeface="Calibri"/>
                <a:cs typeface="Calibri"/>
              </a:rPr>
              <a:t>Entry</a:t>
            </a:r>
            <a:r>
              <a:rPr sz="3000" b="1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0000CC"/>
                </a:solidFill>
                <a:latin typeface="Calibri"/>
                <a:cs typeface="Calibri"/>
              </a:rPr>
              <a:t>and</a:t>
            </a:r>
            <a:r>
              <a:rPr sz="3000" b="1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0000CC"/>
                </a:solidFill>
                <a:latin typeface="Calibri"/>
                <a:cs typeface="Calibri"/>
              </a:rPr>
              <a:t>Exit</a:t>
            </a:r>
            <a:r>
              <a:rPr sz="3000" b="1" spc="-10" dirty="0">
                <a:solidFill>
                  <a:srgbClr val="0000CC"/>
                </a:solidFill>
                <a:latin typeface="Calibri"/>
                <a:cs typeface="Calibri"/>
              </a:rPr>
              <a:t> Criteria</a:t>
            </a:r>
            <a:endParaRPr sz="3000">
              <a:latin typeface="Calibri"/>
              <a:cs typeface="Calibri"/>
            </a:endParaRPr>
          </a:p>
          <a:p>
            <a:pPr marL="243840" indent="-231775">
              <a:lnSpc>
                <a:spcPct val="100000"/>
              </a:lnSpc>
              <a:spcBef>
                <a:spcPts val="2270"/>
              </a:spcBef>
              <a:buFont typeface="Arial MT"/>
              <a:buChar char="•"/>
              <a:tabLst>
                <a:tab pos="244475" algn="l"/>
              </a:tabLst>
            </a:pPr>
            <a:r>
              <a:rPr sz="3250" spc="5" dirty="0">
                <a:latin typeface="Calibri"/>
                <a:cs typeface="Calibri"/>
              </a:rPr>
              <a:t>A</a:t>
            </a:r>
            <a:r>
              <a:rPr sz="3250" spc="-30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life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cycle</a:t>
            </a:r>
            <a:r>
              <a:rPr sz="3250" spc="-5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model:</a:t>
            </a:r>
            <a:endParaRPr sz="325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1900"/>
              </a:spcBef>
              <a:tabLst>
                <a:tab pos="1832610" algn="l"/>
              </a:tabLst>
            </a:pPr>
            <a:r>
              <a:rPr sz="3000" spc="-10" dirty="0">
                <a:latin typeface="Arial MT"/>
                <a:cs typeface="Arial MT"/>
              </a:rPr>
              <a:t>–</a:t>
            </a:r>
            <a:r>
              <a:rPr sz="3000" spc="-10" dirty="0">
                <a:latin typeface="Calibri"/>
                <a:cs typeface="Calibri"/>
              </a:rPr>
              <a:t>defines	</a:t>
            </a:r>
            <a:r>
              <a:rPr sz="3000" spc="-5" dirty="0">
                <a:latin typeface="Calibri"/>
                <a:cs typeface="Calibri"/>
              </a:rPr>
              <a:t>entry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exit</a:t>
            </a:r>
            <a:r>
              <a:rPr sz="3000" spc="-5" dirty="0">
                <a:latin typeface="Calibri"/>
                <a:cs typeface="Calibri"/>
              </a:rPr>
              <a:t> criteria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30" dirty="0">
                <a:latin typeface="Calibri"/>
                <a:cs typeface="Calibri"/>
              </a:rPr>
              <a:t>for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every</a:t>
            </a:r>
            <a:r>
              <a:rPr sz="3000" dirty="0">
                <a:latin typeface="Calibri"/>
                <a:cs typeface="Calibri"/>
              </a:rPr>
              <a:t> phase.</a:t>
            </a:r>
            <a:endParaRPr sz="30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1800"/>
              </a:spcBef>
            </a:pPr>
            <a:r>
              <a:rPr sz="3000" spc="-10" dirty="0">
                <a:latin typeface="Arial MT"/>
                <a:cs typeface="Arial MT"/>
              </a:rPr>
              <a:t>–</a:t>
            </a:r>
            <a:r>
              <a:rPr sz="3000" spc="-10" dirty="0">
                <a:latin typeface="Calibri"/>
                <a:cs typeface="Calibri"/>
              </a:rPr>
              <a:t>A</a:t>
            </a:r>
            <a:r>
              <a:rPr sz="3000" dirty="0">
                <a:latin typeface="Calibri"/>
                <a:cs typeface="Calibri"/>
              </a:rPr>
              <a:t> phase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considered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to</a:t>
            </a:r>
            <a:r>
              <a:rPr sz="3000" spc="-5" dirty="0">
                <a:latin typeface="Calibri"/>
                <a:cs typeface="Calibri"/>
              </a:rPr>
              <a:t> be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complete:</a:t>
            </a:r>
            <a:endParaRPr sz="3000">
              <a:latin typeface="Calibri"/>
              <a:cs typeface="Calibri"/>
            </a:endParaRPr>
          </a:p>
          <a:p>
            <a:pPr marL="789940" lvl="1" indent="-156210">
              <a:lnSpc>
                <a:spcPct val="100000"/>
              </a:lnSpc>
              <a:spcBef>
                <a:spcPts val="1745"/>
              </a:spcBef>
              <a:buFont typeface="Arial MT"/>
              <a:buChar char="•"/>
              <a:tabLst>
                <a:tab pos="790575" algn="l"/>
              </a:tabLst>
            </a:pPr>
            <a:r>
              <a:rPr sz="2700" spc="5" dirty="0">
                <a:latin typeface="Calibri"/>
                <a:cs typeface="Calibri"/>
              </a:rPr>
              <a:t>only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when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all its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exit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criteria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are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satisfied.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759452" y="1112519"/>
            <a:ext cx="4167504" cy="338455"/>
            <a:chOff x="4759452" y="1112519"/>
            <a:chExt cx="4167504" cy="338455"/>
          </a:xfrm>
        </p:grpSpPr>
        <p:sp>
          <p:nvSpPr>
            <p:cNvPr id="4" name="object 4"/>
            <p:cNvSpPr/>
            <p:nvPr/>
          </p:nvSpPr>
          <p:spPr>
            <a:xfrm>
              <a:off x="5410200" y="1124711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5334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533400" y="30480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10200" y="1124711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0" y="304800"/>
                  </a:moveTo>
                  <a:lnTo>
                    <a:pt x="533400" y="3048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4384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53200" y="1133855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5334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533400" y="30480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53200" y="1133855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0" y="304800"/>
                  </a:moveTo>
                  <a:lnTo>
                    <a:pt x="533400" y="3048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4384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44743" y="1172844"/>
              <a:ext cx="610235" cy="228600"/>
            </a:xfrm>
            <a:custGeom>
              <a:avLst/>
              <a:gdLst/>
              <a:ahLst/>
              <a:cxnLst/>
              <a:rect l="l" t="t" r="r" b="b"/>
              <a:pathLst>
                <a:path w="610234" h="228600">
                  <a:moveTo>
                    <a:pt x="474853" y="0"/>
                  </a:moveTo>
                  <a:lnTo>
                    <a:pt x="473227" y="91411"/>
                  </a:lnTo>
                  <a:lnTo>
                    <a:pt x="496062" y="91820"/>
                  </a:lnTo>
                  <a:lnTo>
                    <a:pt x="495300" y="137540"/>
                  </a:lnTo>
                  <a:lnTo>
                    <a:pt x="472406" y="137540"/>
                  </a:lnTo>
                  <a:lnTo>
                    <a:pt x="470789" y="228473"/>
                  </a:lnTo>
                  <a:lnTo>
                    <a:pt x="584040" y="137540"/>
                  </a:lnTo>
                  <a:lnTo>
                    <a:pt x="495300" y="137540"/>
                  </a:lnTo>
                  <a:lnTo>
                    <a:pt x="472413" y="137130"/>
                  </a:lnTo>
                  <a:lnTo>
                    <a:pt x="584552" y="137130"/>
                  </a:lnTo>
                  <a:lnTo>
                    <a:pt x="609981" y="116712"/>
                  </a:lnTo>
                  <a:lnTo>
                    <a:pt x="474853" y="0"/>
                  </a:lnTo>
                  <a:close/>
                </a:path>
                <a:path w="610234" h="228600">
                  <a:moveTo>
                    <a:pt x="473227" y="91411"/>
                  </a:moveTo>
                  <a:lnTo>
                    <a:pt x="472413" y="137130"/>
                  </a:lnTo>
                  <a:lnTo>
                    <a:pt x="495300" y="137540"/>
                  </a:lnTo>
                  <a:lnTo>
                    <a:pt x="496062" y="91820"/>
                  </a:lnTo>
                  <a:lnTo>
                    <a:pt x="473227" y="91411"/>
                  </a:lnTo>
                  <a:close/>
                </a:path>
                <a:path w="610234" h="228600">
                  <a:moveTo>
                    <a:pt x="762" y="82930"/>
                  </a:moveTo>
                  <a:lnTo>
                    <a:pt x="0" y="128650"/>
                  </a:lnTo>
                  <a:lnTo>
                    <a:pt x="472413" y="137130"/>
                  </a:lnTo>
                  <a:lnTo>
                    <a:pt x="473227" y="91411"/>
                  </a:lnTo>
                  <a:lnTo>
                    <a:pt x="762" y="8293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38872" y="1133855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5334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533400" y="30480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38872" y="1133855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0" y="304800"/>
                  </a:moveTo>
                  <a:lnTo>
                    <a:pt x="533400" y="3048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24384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759452" y="1173479"/>
              <a:ext cx="4167504" cy="243840"/>
            </a:xfrm>
            <a:custGeom>
              <a:avLst/>
              <a:gdLst/>
              <a:ahLst/>
              <a:cxnLst/>
              <a:rect l="l" t="t" r="r" b="b"/>
              <a:pathLst>
                <a:path w="4167504" h="243840">
                  <a:moveTo>
                    <a:pt x="652653" y="114300"/>
                  </a:moveTo>
                  <a:lnTo>
                    <a:pt x="625221" y="91440"/>
                  </a:lnTo>
                  <a:lnTo>
                    <a:pt x="515493" y="0"/>
                  </a:lnTo>
                  <a:lnTo>
                    <a:pt x="515493" y="91440"/>
                  </a:lnTo>
                  <a:lnTo>
                    <a:pt x="0" y="91440"/>
                  </a:lnTo>
                  <a:lnTo>
                    <a:pt x="0" y="137160"/>
                  </a:lnTo>
                  <a:lnTo>
                    <a:pt x="515493" y="137160"/>
                  </a:lnTo>
                  <a:lnTo>
                    <a:pt x="515493" y="228600"/>
                  </a:lnTo>
                  <a:lnTo>
                    <a:pt x="625208" y="137160"/>
                  </a:lnTo>
                  <a:lnTo>
                    <a:pt x="652653" y="114300"/>
                  </a:lnTo>
                  <a:close/>
                </a:path>
                <a:path w="4167504" h="243840">
                  <a:moveTo>
                    <a:pt x="2981325" y="114300"/>
                  </a:moveTo>
                  <a:lnTo>
                    <a:pt x="2953893" y="91440"/>
                  </a:lnTo>
                  <a:lnTo>
                    <a:pt x="2844165" y="0"/>
                  </a:lnTo>
                  <a:lnTo>
                    <a:pt x="2844165" y="91440"/>
                  </a:lnTo>
                  <a:lnTo>
                    <a:pt x="2328672" y="91440"/>
                  </a:lnTo>
                  <a:lnTo>
                    <a:pt x="2328672" y="137160"/>
                  </a:lnTo>
                  <a:lnTo>
                    <a:pt x="2844165" y="137160"/>
                  </a:lnTo>
                  <a:lnTo>
                    <a:pt x="2844165" y="228600"/>
                  </a:lnTo>
                  <a:lnTo>
                    <a:pt x="2953893" y="137160"/>
                  </a:lnTo>
                  <a:lnTo>
                    <a:pt x="2981325" y="114300"/>
                  </a:lnTo>
                  <a:close/>
                </a:path>
                <a:path w="4167504" h="243840">
                  <a:moveTo>
                    <a:pt x="4166997" y="129540"/>
                  </a:moveTo>
                  <a:lnTo>
                    <a:pt x="4139565" y="106680"/>
                  </a:lnTo>
                  <a:lnTo>
                    <a:pt x="4029837" y="15240"/>
                  </a:lnTo>
                  <a:lnTo>
                    <a:pt x="4029837" y="106680"/>
                  </a:lnTo>
                  <a:lnTo>
                    <a:pt x="3514344" y="106680"/>
                  </a:lnTo>
                  <a:lnTo>
                    <a:pt x="3514344" y="152400"/>
                  </a:lnTo>
                  <a:lnTo>
                    <a:pt x="4029837" y="152400"/>
                  </a:lnTo>
                  <a:lnTo>
                    <a:pt x="4029837" y="243840"/>
                  </a:lnTo>
                  <a:lnTo>
                    <a:pt x="4139565" y="152400"/>
                  </a:lnTo>
                  <a:lnTo>
                    <a:pt x="4166997" y="12954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6661" y="272237"/>
            <a:ext cx="36823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solidFill>
                  <a:srgbClr val="0000CC"/>
                </a:solidFill>
              </a:rPr>
              <a:t>Life</a:t>
            </a:r>
            <a:r>
              <a:rPr sz="3600" dirty="0">
                <a:solidFill>
                  <a:srgbClr val="0000CC"/>
                </a:solidFill>
              </a:rPr>
              <a:t> </a:t>
            </a:r>
            <a:r>
              <a:rPr sz="3600" spc="-15" dirty="0">
                <a:solidFill>
                  <a:srgbClr val="0000CC"/>
                </a:solidFill>
              </a:rPr>
              <a:t>Cycle</a:t>
            </a:r>
            <a:r>
              <a:rPr sz="3600" spc="-25" dirty="0">
                <a:solidFill>
                  <a:srgbClr val="0000CC"/>
                </a:solidFill>
              </a:rPr>
              <a:t> </a:t>
            </a:r>
            <a:r>
              <a:rPr sz="3600" dirty="0">
                <a:solidFill>
                  <a:srgbClr val="0000CC"/>
                </a:solidFill>
              </a:rPr>
              <a:t>Model</a:t>
            </a:r>
            <a:r>
              <a:rPr sz="3600" spc="-10" dirty="0">
                <a:solidFill>
                  <a:srgbClr val="0000CC"/>
                </a:solidFill>
              </a:rPr>
              <a:t> </a:t>
            </a:r>
            <a:r>
              <a:rPr sz="1100" spc="-5" dirty="0">
                <a:solidFill>
                  <a:srgbClr val="0000CC"/>
                </a:solidFill>
              </a:rPr>
              <a:t>(CONT.)</a:t>
            </a:r>
            <a:endParaRPr sz="11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84835" y="809548"/>
            <a:ext cx="8996680" cy="20694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5080" indent="-231775">
              <a:lnSpc>
                <a:spcPct val="110100"/>
              </a:lnSpc>
              <a:spcBef>
                <a:spcPts val="100"/>
              </a:spcBef>
              <a:buFont typeface="Arial MT"/>
              <a:buChar char="•"/>
              <a:tabLst>
                <a:tab pos="244475" algn="l"/>
              </a:tabLst>
            </a:pPr>
            <a:r>
              <a:rPr sz="2800" spc="-10" dirty="0">
                <a:latin typeface="Calibri"/>
                <a:cs typeface="Calibri"/>
              </a:rPr>
              <a:t>What </a:t>
            </a:r>
            <a:r>
              <a:rPr sz="2800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phase </a:t>
            </a:r>
            <a:r>
              <a:rPr sz="2800" spc="-10" dirty="0">
                <a:latin typeface="Calibri"/>
                <a:cs typeface="Calibri"/>
              </a:rPr>
              <a:t>exit </a:t>
            </a:r>
            <a:r>
              <a:rPr sz="2800" spc="-5" dirty="0">
                <a:latin typeface="Calibri"/>
                <a:cs typeface="Calibri"/>
              </a:rPr>
              <a:t>criteria </a:t>
            </a:r>
            <a:r>
              <a:rPr sz="2800" spc="-15" dirty="0">
                <a:latin typeface="Calibri"/>
                <a:cs typeface="Calibri"/>
              </a:rPr>
              <a:t>for </a:t>
            </a:r>
            <a:r>
              <a:rPr sz="2800" spc="-5" dirty="0">
                <a:latin typeface="Calibri"/>
                <a:cs typeface="Calibri"/>
              </a:rPr>
              <a:t>the software </a:t>
            </a:r>
            <a:r>
              <a:rPr sz="2800" spc="-15" dirty="0">
                <a:latin typeface="Calibri"/>
                <a:cs typeface="Calibri"/>
              </a:rPr>
              <a:t>requirements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specification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phase?</a:t>
            </a:r>
            <a:endParaRPr sz="2800">
              <a:latin typeface="Calibri"/>
              <a:cs typeface="Calibri"/>
            </a:endParaRPr>
          </a:p>
          <a:p>
            <a:pPr marL="515620" marR="484505" indent="-192405">
              <a:lnSpc>
                <a:spcPct val="110100"/>
              </a:lnSpc>
              <a:spcBef>
                <a:spcPts val="1295"/>
              </a:spcBef>
            </a:pPr>
            <a:r>
              <a:rPr sz="2800" spc="-5" dirty="0">
                <a:solidFill>
                  <a:srgbClr val="660033"/>
                </a:solidFill>
                <a:latin typeface="Arial MT"/>
                <a:cs typeface="Arial MT"/>
              </a:rPr>
              <a:t>–</a:t>
            </a:r>
            <a:r>
              <a:rPr sz="2800" spc="-5" dirty="0">
                <a:solidFill>
                  <a:srgbClr val="660033"/>
                </a:solidFill>
                <a:latin typeface="Calibri"/>
                <a:cs typeface="Calibri"/>
              </a:rPr>
              <a:t>Software </a:t>
            </a:r>
            <a:r>
              <a:rPr sz="2800" spc="-15" dirty="0">
                <a:solidFill>
                  <a:srgbClr val="660033"/>
                </a:solidFill>
                <a:latin typeface="Calibri"/>
                <a:cs typeface="Calibri"/>
              </a:rPr>
              <a:t>Requirements </a:t>
            </a:r>
            <a:r>
              <a:rPr sz="2800" spc="-5" dirty="0">
                <a:solidFill>
                  <a:srgbClr val="660033"/>
                </a:solidFill>
                <a:latin typeface="Calibri"/>
                <a:cs typeface="Calibri"/>
              </a:rPr>
              <a:t>Specification </a:t>
            </a:r>
            <a:r>
              <a:rPr sz="2800" spc="-10" dirty="0">
                <a:solidFill>
                  <a:srgbClr val="660033"/>
                </a:solidFill>
                <a:latin typeface="Calibri"/>
                <a:cs typeface="Calibri"/>
              </a:rPr>
              <a:t>(SRS) document </a:t>
            </a:r>
            <a:r>
              <a:rPr sz="2800" dirty="0">
                <a:solidFill>
                  <a:srgbClr val="660033"/>
                </a:solidFill>
                <a:latin typeface="Calibri"/>
                <a:cs typeface="Calibri"/>
              </a:rPr>
              <a:t>is </a:t>
            </a:r>
            <a:r>
              <a:rPr sz="2800" spc="-620" dirty="0">
                <a:solidFill>
                  <a:srgbClr val="6600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660033"/>
                </a:solidFill>
                <a:latin typeface="Calibri"/>
                <a:cs typeface="Calibri"/>
              </a:rPr>
              <a:t>complete,</a:t>
            </a:r>
            <a:r>
              <a:rPr sz="2800" spc="-5" dirty="0">
                <a:solidFill>
                  <a:srgbClr val="6600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660033"/>
                </a:solidFill>
                <a:latin typeface="Calibri"/>
                <a:cs typeface="Calibri"/>
              </a:rPr>
              <a:t>reviewed, </a:t>
            </a:r>
            <a:r>
              <a:rPr sz="2800" dirty="0">
                <a:solidFill>
                  <a:srgbClr val="660033"/>
                </a:solidFill>
                <a:latin typeface="Calibri"/>
                <a:cs typeface="Calibri"/>
              </a:rPr>
              <a:t>and</a:t>
            </a:r>
            <a:r>
              <a:rPr sz="2800" spc="-5" dirty="0">
                <a:solidFill>
                  <a:srgbClr val="6600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660033"/>
                </a:solidFill>
                <a:latin typeface="Calibri"/>
                <a:cs typeface="Calibri"/>
              </a:rPr>
              <a:t>approved</a:t>
            </a:r>
            <a:r>
              <a:rPr sz="2800" spc="-5" dirty="0">
                <a:solidFill>
                  <a:srgbClr val="6600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660033"/>
                </a:solidFill>
                <a:latin typeface="Calibri"/>
                <a:cs typeface="Calibri"/>
              </a:rPr>
              <a:t>by</a:t>
            </a:r>
            <a:r>
              <a:rPr sz="2800" spc="5" dirty="0">
                <a:solidFill>
                  <a:srgbClr val="6600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660033"/>
                </a:solidFill>
                <a:latin typeface="Calibri"/>
                <a:cs typeface="Calibri"/>
              </a:rPr>
              <a:t>the</a:t>
            </a:r>
            <a:r>
              <a:rPr sz="2800" dirty="0">
                <a:solidFill>
                  <a:srgbClr val="660033"/>
                </a:solidFill>
                <a:latin typeface="Calibri"/>
                <a:cs typeface="Calibri"/>
              </a:rPr>
              <a:t> </a:t>
            </a:r>
            <a:r>
              <a:rPr sz="2800" spc="-40" dirty="0">
                <a:solidFill>
                  <a:srgbClr val="660033"/>
                </a:solidFill>
                <a:latin typeface="Calibri"/>
                <a:cs typeface="Calibri"/>
              </a:rPr>
              <a:t>customer.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835" y="3059379"/>
            <a:ext cx="15049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dirty="0"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0124" y="3183635"/>
            <a:ext cx="8610600" cy="1051560"/>
          </a:xfrm>
          <a:prstGeom prst="rect">
            <a:avLst/>
          </a:prstGeom>
          <a:solidFill>
            <a:srgbClr val="FFFFCC"/>
          </a:solidFill>
          <a:ln w="9144">
            <a:solidFill>
              <a:srgbClr val="C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9060">
              <a:lnSpc>
                <a:spcPts val="2490"/>
              </a:lnSpc>
            </a:pPr>
            <a:r>
              <a:rPr sz="2800" spc="5" dirty="0">
                <a:latin typeface="Calibri"/>
                <a:cs typeface="Calibri"/>
              </a:rPr>
              <a:t>A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phase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start:</a:t>
            </a:r>
            <a:endParaRPr sz="2800">
              <a:latin typeface="Calibri"/>
              <a:cs typeface="Calibri"/>
            </a:endParaRPr>
          </a:p>
          <a:p>
            <a:pPr marL="177800">
              <a:lnSpc>
                <a:spcPct val="100000"/>
              </a:lnSpc>
              <a:spcBef>
                <a:spcPts val="1635"/>
              </a:spcBef>
            </a:pPr>
            <a:r>
              <a:rPr sz="2800" spc="-5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800" spc="-5" dirty="0">
                <a:solidFill>
                  <a:srgbClr val="0000FF"/>
                </a:solidFill>
                <a:latin typeface="Calibri"/>
                <a:cs typeface="Calibri"/>
              </a:rPr>
              <a:t>Only</a:t>
            </a:r>
            <a:r>
              <a:rPr sz="28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if its</a:t>
            </a:r>
            <a:r>
              <a:rPr sz="2800" spc="-5" dirty="0">
                <a:solidFill>
                  <a:srgbClr val="0000FF"/>
                </a:solidFill>
                <a:latin typeface="Calibri"/>
                <a:cs typeface="Calibri"/>
              </a:rPr>
              <a:t> phase-entry criteria</a:t>
            </a:r>
            <a:r>
              <a:rPr sz="2800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000FF"/>
                </a:solidFill>
                <a:latin typeface="Calibri"/>
                <a:cs typeface="Calibri"/>
              </a:rPr>
              <a:t>have</a:t>
            </a:r>
            <a:r>
              <a:rPr sz="2800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Calibri"/>
                <a:cs typeface="Calibri"/>
              </a:rPr>
              <a:t>been satisfied.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3200" y="2225039"/>
            <a:ext cx="1752600" cy="19476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76425" y="381076"/>
            <a:ext cx="54476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solidFill>
                  <a:srgbClr val="0000CC"/>
                </a:solidFill>
              </a:rPr>
              <a:t>Life</a:t>
            </a:r>
            <a:r>
              <a:rPr sz="3600" spc="10" dirty="0">
                <a:solidFill>
                  <a:srgbClr val="0000CC"/>
                </a:solidFill>
              </a:rPr>
              <a:t> </a:t>
            </a:r>
            <a:r>
              <a:rPr sz="3600" spc="-15" dirty="0">
                <a:solidFill>
                  <a:srgbClr val="0000CC"/>
                </a:solidFill>
              </a:rPr>
              <a:t>Cycle </a:t>
            </a:r>
            <a:r>
              <a:rPr sz="3600" dirty="0">
                <a:solidFill>
                  <a:srgbClr val="0000CC"/>
                </a:solidFill>
              </a:rPr>
              <a:t>Model:</a:t>
            </a:r>
            <a:r>
              <a:rPr sz="3600" spc="-40" dirty="0">
                <a:solidFill>
                  <a:srgbClr val="0000CC"/>
                </a:solidFill>
              </a:rPr>
              <a:t> </a:t>
            </a:r>
            <a:r>
              <a:rPr sz="3600" spc="-10" dirty="0">
                <a:solidFill>
                  <a:srgbClr val="0000CC"/>
                </a:solidFill>
              </a:rPr>
              <a:t>Milestones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407619" y="1122375"/>
            <a:ext cx="7804150" cy="26301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244475" algn="l"/>
              </a:tabLst>
            </a:pPr>
            <a:r>
              <a:rPr sz="3300" spc="5" dirty="0">
                <a:latin typeface="Calibri"/>
                <a:cs typeface="Calibri"/>
              </a:rPr>
              <a:t>Milestones</a:t>
            </a:r>
            <a:r>
              <a:rPr sz="3300" spc="-20" dirty="0">
                <a:latin typeface="Calibri"/>
                <a:cs typeface="Calibri"/>
              </a:rPr>
              <a:t> </a:t>
            </a:r>
            <a:r>
              <a:rPr sz="3300" spc="10" dirty="0">
                <a:latin typeface="Calibri"/>
                <a:cs typeface="Calibri"/>
              </a:rPr>
              <a:t>help</a:t>
            </a:r>
            <a:r>
              <a:rPr sz="3300" spc="-15" dirty="0">
                <a:latin typeface="Calibri"/>
                <a:cs typeface="Calibri"/>
              </a:rPr>
              <a:t> </a:t>
            </a:r>
            <a:r>
              <a:rPr sz="3300" spc="-5" dirty="0">
                <a:latin typeface="Calibri"/>
                <a:cs typeface="Calibri"/>
              </a:rPr>
              <a:t>software</a:t>
            </a:r>
            <a:r>
              <a:rPr sz="3300" spc="35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project</a:t>
            </a:r>
            <a:r>
              <a:rPr sz="3300" spc="25" dirty="0">
                <a:latin typeface="Calibri"/>
                <a:cs typeface="Calibri"/>
              </a:rPr>
              <a:t> </a:t>
            </a:r>
            <a:r>
              <a:rPr sz="3300" spc="5" dirty="0">
                <a:latin typeface="Calibri"/>
                <a:cs typeface="Calibri"/>
              </a:rPr>
              <a:t>managers:</a:t>
            </a:r>
            <a:endParaRPr sz="33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2490"/>
              </a:spcBef>
            </a:pPr>
            <a:r>
              <a:rPr sz="3000" spc="-45" dirty="0">
                <a:latin typeface="Arial MT"/>
                <a:cs typeface="Arial MT"/>
              </a:rPr>
              <a:t>–</a:t>
            </a:r>
            <a:r>
              <a:rPr sz="3000" spc="-45" dirty="0">
                <a:latin typeface="Calibri"/>
                <a:cs typeface="Calibri"/>
              </a:rPr>
              <a:t>Track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progress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of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project.</a:t>
            </a:r>
            <a:endParaRPr sz="3000">
              <a:latin typeface="Calibri"/>
              <a:cs typeface="Calibri"/>
            </a:endParaRPr>
          </a:p>
          <a:p>
            <a:pPr marL="515620" marR="3538220" indent="-192405">
              <a:lnSpc>
                <a:spcPct val="124800"/>
              </a:lnSpc>
              <a:spcBef>
                <a:spcPts val="1440"/>
              </a:spcBef>
            </a:pPr>
            <a:r>
              <a:rPr sz="3000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3000" dirty="0">
                <a:solidFill>
                  <a:srgbClr val="0000FF"/>
                </a:solidFill>
                <a:latin typeface="Calibri"/>
                <a:cs typeface="Calibri"/>
              </a:rPr>
              <a:t>Phase</a:t>
            </a:r>
            <a:r>
              <a:rPr sz="3000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00FF"/>
                </a:solidFill>
                <a:latin typeface="Calibri"/>
                <a:cs typeface="Calibri"/>
              </a:rPr>
              <a:t>entry</a:t>
            </a:r>
            <a:r>
              <a:rPr sz="3000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0000FF"/>
                </a:solidFill>
                <a:latin typeface="Calibri"/>
                <a:cs typeface="Calibri"/>
              </a:rPr>
              <a:t>and</a:t>
            </a:r>
            <a:r>
              <a:rPr sz="30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spc="-20" dirty="0">
                <a:solidFill>
                  <a:srgbClr val="0000FF"/>
                </a:solidFill>
                <a:latin typeface="Calibri"/>
                <a:cs typeface="Calibri"/>
              </a:rPr>
              <a:t>exit </a:t>
            </a:r>
            <a:r>
              <a:rPr sz="3000" spc="-15" dirty="0">
                <a:solidFill>
                  <a:srgbClr val="0000FF"/>
                </a:solidFill>
                <a:latin typeface="Calibri"/>
                <a:cs typeface="Calibri"/>
              </a:rPr>
              <a:t>are </a:t>
            </a:r>
            <a:r>
              <a:rPr sz="3000" spc="-6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0000FF"/>
                </a:solidFill>
                <a:latin typeface="Calibri"/>
                <a:cs typeface="Calibri"/>
              </a:rPr>
              <a:t>important</a:t>
            </a:r>
            <a:r>
              <a:rPr sz="3000" spc="-9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0000FF"/>
                </a:solidFill>
                <a:latin typeface="Calibri"/>
                <a:cs typeface="Calibri"/>
              </a:rPr>
              <a:t>milestones.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911" y="237890"/>
            <a:ext cx="8757285" cy="4030979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491490" algn="ctr">
              <a:lnSpc>
                <a:spcPct val="100000"/>
              </a:lnSpc>
              <a:spcBef>
                <a:spcPts val="894"/>
              </a:spcBef>
            </a:pPr>
            <a:r>
              <a:rPr sz="3200" b="1" spc="-20" dirty="0">
                <a:solidFill>
                  <a:srgbClr val="0000CC"/>
                </a:solidFill>
                <a:latin typeface="Calibri"/>
                <a:cs typeface="Calibri"/>
              </a:rPr>
              <a:t>Life</a:t>
            </a:r>
            <a:r>
              <a:rPr sz="3200" b="1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0000CC"/>
                </a:solidFill>
                <a:latin typeface="Calibri"/>
                <a:cs typeface="Calibri"/>
              </a:rPr>
              <a:t>Cycle</a:t>
            </a:r>
            <a:r>
              <a:rPr sz="3200" b="1" spc="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0000CC"/>
                </a:solidFill>
                <a:latin typeface="Calibri"/>
                <a:cs typeface="Calibri"/>
              </a:rPr>
              <a:t>and</a:t>
            </a:r>
            <a:r>
              <a:rPr sz="320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0000CC"/>
                </a:solidFill>
                <a:latin typeface="Calibri"/>
                <a:cs typeface="Calibri"/>
              </a:rPr>
              <a:t>Project</a:t>
            </a:r>
            <a:r>
              <a:rPr sz="3200" b="1" spc="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0000CC"/>
                </a:solidFill>
                <a:latin typeface="Calibri"/>
                <a:cs typeface="Calibri"/>
              </a:rPr>
              <a:t>Management</a:t>
            </a:r>
            <a:endParaRPr sz="3200">
              <a:latin typeface="Calibri"/>
              <a:cs typeface="Calibri"/>
            </a:endParaRPr>
          </a:p>
          <a:p>
            <a:pPr marL="244475" indent="-232410">
              <a:lnSpc>
                <a:spcPct val="100000"/>
              </a:lnSpc>
              <a:spcBef>
                <a:spcPts val="905"/>
              </a:spcBef>
              <a:buFont typeface="Arial MT"/>
              <a:buChar char="•"/>
              <a:tabLst>
                <a:tab pos="245110" algn="l"/>
              </a:tabLst>
            </a:pPr>
            <a:r>
              <a:rPr sz="3600" spc="-5" dirty="0">
                <a:latin typeface="Calibri"/>
                <a:cs typeface="Calibri"/>
              </a:rPr>
              <a:t>When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spc="-30" dirty="0">
                <a:latin typeface="Calibri"/>
                <a:cs typeface="Calibri"/>
              </a:rPr>
              <a:t>life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cycle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model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is </a:t>
            </a:r>
            <a:r>
              <a:rPr sz="3600" spc="-20" dirty="0">
                <a:latin typeface="Calibri"/>
                <a:cs typeface="Calibri"/>
              </a:rPr>
              <a:t>followed:</a:t>
            </a:r>
            <a:endParaRPr sz="3600">
              <a:latin typeface="Calibri"/>
              <a:cs typeface="Calibri"/>
            </a:endParaRPr>
          </a:p>
          <a:p>
            <a:pPr marL="515620" marR="1242060" indent="-192405">
              <a:lnSpc>
                <a:spcPct val="125099"/>
              </a:lnSpc>
              <a:spcBef>
                <a:spcPts val="1265"/>
              </a:spcBef>
            </a:pPr>
            <a:r>
              <a:rPr sz="3200" spc="-10" dirty="0">
                <a:latin typeface="Arial MT"/>
                <a:cs typeface="Arial MT"/>
              </a:rPr>
              <a:t>–</a:t>
            </a:r>
            <a:r>
              <a:rPr sz="3200" spc="-10" dirty="0">
                <a:latin typeface="Calibri"/>
                <a:cs typeface="Calibri"/>
              </a:rPr>
              <a:t>The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project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manager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can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at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any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time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fairly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accurately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tell,</a:t>
            </a:r>
            <a:endParaRPr sz="3200">
              <a:latin typeface="Calibri"/>
              <a:cs typeface="Calibri"/>
            </a:endParaRPr>
          </a:p>
          <a:p>
            <a:pPr marL="789940" marR="5080" lvl="1" indent="-155575">
              <a:lnSpc>
                <a:spcPct val="125099"/>
              </a:lnSpc>
              <a:spcBef>
                <a:spcPts val="1200"/>
              </a:spcBef>
              <a:buFont typeface="Arial MT"/>
              <a:buChar char="•"/>
              <a:tabLst>
                <a:tab pos="790575" algn="l"/>
                <a:tab pos="3375025" algn="l"/>
              </a:tabLst>
            </a:pPr>
            <a:r>
              <a:rPr sz="3200" spc="-45" dirty="0">
                <a:latin typeface="Calibri"/>
                <a:cs typeface="Calibri"/>
              </a:rPr>
              <a:t>At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which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stage	</a:t>
            </a:r>
            <a:r>
              <a:rPr sz="3200" dirty="0">
                <a:latin typeface="Calibri"/>
                <a:cs typeface="Calibri"/>
              </a:rPr>
              <a:t>(e.g.,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design,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code,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test,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etc.)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project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911" y="165535"/>
            <a:ext cx="9067165" cy="3872229"/>
          </a:xfrm>
          <a:prstGeom prst="rect">
            <a:avLst/>
          </a:prstGeom>
        </p:spPr>
        <p:txBody>
          <a:bodyPr vert="horz" wrap="square" lIns="0" tIns="2317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825"/>
              </a:spcBef>
            </a:pPr>
            <a:r>
              <a:rPr sz="2700" b="1" dirty="0">
                <a:solidFill>
                  <a:srgbClr val="0000CC"/>
                </a:solidFill>
                <a:latin typeface="Calibri"/>
                <a:cs typeface="Calibri"/>
              </a:rPr>
              <a:t>Project</a:t>
            </a:r>
            <a:r>
              <a:rPr sz="2700" b="1" spc="1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00CC"/>
                </a:solidFill>
                <a:latin typeface="Calibri"/>
                <a:cs typeface="Calibri"/>
              </a:rPr>
              <a:t>Management</a:t>
            </a:r>
            <a:r>
              <a:rPr sz="2700" b="1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CC"/>
                </a:solidFill>
                <a:latin typeface="Calibri"/>
                <a:cs typeface="Calibri"/>
              </a:rPr>
              <a:t>Without</a:t>
            </a:r>
            <a:r>
              <a:rPr sz="2700" b="1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0000CC"/>
                </a:solidFill>
                <a:latin typeface="Calibri"/>
                <a:cs typeface="Calibri"/>
              </a:rPr>
              <a:t>Life</a:t>
            </a:r>
            <a:r>
              <a:rPr sz="2700" b="1" spc="-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00CC"/>
                </a:solidFill>
                <a:latin typeface="Calibri"/>
                <a:cs typeface="Calibri"/>
              </a:rPr>
              <a:t>Cycle</a:t>
            </a:r>
            <a:r>
              <a:rPr sz="2700" b="1" spc="-2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CC"/>
                </a:solidFill>
                <a:latin typeface="Calibri"/>
                <a:cs typeface="Calibri"/>
              </a:rPr>
              <a:t>Model</a:t>
            </a:r>
            <a:endParaRPr sz="2700">
              <a:latin typeface="Calibri"/>
              <a:cs typeface="Calibri"/>
            </a:endParaRPr>
          </a:p>
          <a:p>
            <a:pPr marL="244475" indent="-232410">
              <a:lnSpc>
                <a:spcPct val="100000"/>
              </a:lnSpc>
              <a:spcBef>
                <a:spcPts val="1785"/>
              </a:spcBef>
              <a:buFont typeface="Arial MT"/>
              <a:buChar char="•"/>
              <a:tabLst>
                <a:tab pos="245110" algn="l"/>
              </a:tabLst>
            </a:pPr>
            <a:r>
              <a:rPr sz="2800" spc="-5" dirty="0">
                <a:latin typeface="Calibri"/>
                <a:cs typeface="Calibri"/>
              </a:rPr>
              <a:t>It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becomes</a:t>
            </a:r>
            <a:r>
              <a:rPr sz="2800" dirty="0">
                <a:latin typeface="Calibri"/>
                <a:cs typeface="Calibri"/>
              </a:rPr>
              <a:t> very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difficult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track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progress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project.</a:t>
            </a:r>
            <a:endParaRPr sz="2800">
              <a:latin typeface="Calibri"/>
              <a:cs typeface="Calibri"/>
            </a:endParaRPr>
          </a:p>
          <a:p>
            <a:pPr marL="515620" marR="5080" indent="-192405">
              <a:lnSpc>
                <a:spcPct val="120100"/>
              </a:lnSpc>
              <a:spcBef>
                <a:spcPts val="1345"/>
              </a:spcBef>
            </a:pP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project </a:t>
            </a:r>
            <a:r>
              <a:rPr sz="2800" spc="-5" dirty="0">
                <a:latin typeface="Calibri"/>
                <a:cs typeface="Calibri"/>
              </a:rPr>
              <a:t>manager would </a:t>
            </a:r>
            <a:r>
              <a:rPr sz="2800" spc="-20" dirty="0">
                <a:latin typeface="Calibri"/>
                <a:cs typeface="Calibri"/>
              </a:rPr>
              <a:t>have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depend </a:t>
            </a:r>
            <a:r>
              <a:rPr sz="2800" dirty="0">
                <a:latin typeface="Calibri"/>
                <a:cs typeface="Calibri"/>
              </a:rPr>
              <a:t>on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guesses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team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members.</a:t>
            </a:r>
            <a:endParaRPr sz="2800">
              <a:latin typeface="Calibri"/>
              <a:cs typeface="Calibri"/>
            </a:endParaRPr>
          </a:p>
          <a:p>
            <a:pPr marL="244475" indent="-232410">
              <a:lnSpc>
                <a:spcPct val="100000"/>
              </a:lnSpc>
              <a:spcBef>
                <a:spcPts val="2020"/>
              </a:spcBef>
              <a:buFont typeface="Arial MT"/>
              <a:buChar char="•"/>
              <a:tabLst>
                <a:tab pos="245110" algn="l"/>
              </a:tabLst>
            </a:pPr>
            <a:r>
              <a:rPr sz="2800" spc="-5" dirty="0">
                <a:latin typeface="Calibri"/>
                <a:cs typeface="Calibri"/>
              </a:rPr>
              <a:t>This usually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leads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problem:</a:t>
            </a:r>
            <a:endParaRPr sz="28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2020"/>
              </a:spcBef>
              <a:tabLst>
                <a:tab pos="2616200" algn="l"/>
              </a:tabLst>
            </a:pPr>
            <a:r>
              <a:rPr sz="2800" dirty="0">
                <a:latin typeface="Arial MT"/>
                <a:cs typeface="Arial MT"/>
              </a:rPr>
              <a:t>–</a:t>
            </a:r>
            <a:r>
              <a:rPr sz="2800" dirty="0">
                <a:latin typeface="Calibri"/>
                <a:cs typeface="Calibri"/>
              </a:rPr>
              <a:t>known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	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99%</a:t>
            </a:r>
            <a:r>
              <a:rPr sz="2800" b="1" spc="-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complete</a:t>
            </a:r>
            <a:r>
              <a:rPr sz="2800" b="1" spc="-8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00CC"/>
                </a:solidFill>
                <a:latin typeface="Calibri"/>
                <a:cs typeface="Calibri"/>
              </a:rPr>
              <a:t>syndrome.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2935" y="268985"/>
            <a:ext cx="5503545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spc="-5" dirty="0">
                <a:solidFill>
                  <a:srgbClr val="000000"/>
                </a:solidFill>
              </a:rPr>
              <a:t>Project</a:t>
            </a:r>
            <a:r>
              <a:rPr sz="2700" spc="15" dirty="0">
                <a:solidFill>
                  <a:srgbClr val="000000"/>
                </a:solidFill>
              </a:rPr>
              <a:t> </a:t>
            </a:r>
            <a:r>
              <a:rPr sz="2700" spc="-5" dirty="0">
                <a:solidFill>
                  <a:srgbClr val="000000"/>
                </a:solidFill>
              </a:rPr>
              <a:t>Deliverables:</a:t>
            </a:r>
            <a:r>
              <a:rPr sz="2700" spc="25" dirty="0">
                <a:solidFill>
                  <a:srgbClr val="000000"/>
                </a:solidFill>
              </a:rPr>
              <a:t> </a:t>
            </a:r>
            <a:r>
              <a:rPr sz="2700" spc="10" dirty="0">
                <a:solidFill>
                  <a:srgbClr val="000000"/>
                </a:solidFill>
              </a:rPr>
              <a:t>Myth</a:t>
            </a:r>
            <a:r>
              <a:rPr sz="2700" spc="-40" dirty="0">
                <a:solidFill>
                  <a:srgbClr val="000000"/>
                </a:solidFill>
              </a:rPr>
              <a:t> </a:t>
            </a:r>
            <a:r>
              <a:rPr sz="2700" spc="5" dirty="0">
                <a:solidFill>
                  <a:srgbClr val="000000"/>
                </a:solidFill>
              </a:rPr>
              <a:t>and</a:t>
            </a:r>
            <a:r>
              <a:rPr sz="2700" spc="-5" dirty="0">
                <a:solidFill>
                  <a:srgbClr val="000000"/>
                </a:solidFill>
              </a:rPr>
              <a:t> Reality</a:t>
            </a:r>
            <a:endParaRPr sz="27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54939" y="807211"/>
            <a:ext cx="8241030" cy="34829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b="1" spc="10" dirty="0">
                <a:solidFill>
                  <a:srgbClr val="0000FF"/>
                </a:solidFill>
                <a:latin typeface="Calibri"/>
                <a:cs typeface="Calibri"/>
              </a:rPr>
              <a:t>Myth:</a:t>
            </a:r>
            <a:endParaRPr sz="2700">
              <a:latin typeface="Calibri"/>
              <a:cs typeface="Calibri"/>
            </a:endParaRPr>
          </a:p>
          <a:p>
            <a:pPr marL="356870" marR="78105" indent="-344805">
              <a:lnSpc>
                <a:spcPct val="121600"/>
              </a:lnSpc>
              <a:spcBef>
                <a:spcPts val="1415"/>
              </a:spcBef>
            </a:pPr>
            <a:r>
              <a:rPr sz="2700" dirty="0">
                <a:latin typeface="Calibri"/>
                <a:cs typeface="Calibri"/>
              </a:rPr>
              <a:t>The</a:t>
            </a:r>
            <a:r>
              <a:rPr sz="2700" spc="5" dirty="0">
                <a:latin typeface="Calibri"/>
                <a:cs typeface="Calibri"/>
              </a:rPr>
              <a:t> only</a:t>
            </a:r>
            <a:r>
              <a:rPr sz="2700" spc="3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deliverable</a:t>
            </a:r>
            <a:r>
              <a:rPr sz="2700" spc="3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for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a </a:t>
            </a:r>
            <a:r>
              <a:rPr sz="2700" spc="-5" dirty="0">
                <a:latin typeface="Calibri"/>
                <a:cs typeface="Calibri"/>
              </a:rPr>
              <a:t>successful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project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the </a:t>
            </a:r>
            <a:r>
              <a:rPr sz="2700" spc="-5" dirty="0">
                <a:latin typeface="Calibri"/>
                <a:cs typeface="Calibri"/>
              </a:rPr>
              <a:t>working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program.</a:t>
            </a:r>
            <a:endParaRPr sz="2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40"/>
              </a:spcBef>
            </a:pPr>
            <a:r>
              <a:rPr sz="2700" b="1" dirty="0">
                <a:solidFill>
                  <a:srgbClr val="0000FF"/>
                </a:solidFill>
                <a:latin typeface="Calibri"/>
                <a:cs typeface="Calibri"/>
              </a:rPr>
              <a:t>Reality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:</a:t>
            </a:r>
            <a:endParaRPr sz="2700">
              <a:latin typeface="Calibri"/>
              <a:cs typeface="Calibri"/>
            </a:endParaRPr>
          </a:p>
          <a:p>
            <a:pPr marL="356870" marR="5080" indent="-344805">
              <a:lnSpc>
                <a:spcPct val="120800"/>
              </a:lnSpc>
              <a:spcBef>
                <a:spcPts val="1465"/>
              </a:spcBef>
            </a:pPr>
            <a:r>
              <a:rPr sz="2700" spc="-5" dirty="0">
                <a:latin typeface="Calibri"/>
                <a:cs typeface="Calibri"/>
              </a:rPr>
              <a:t>Documentation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of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7E0000"/>
                </a:solidFill>
                <a:latin typeface="Calibri"/>
                <a:cs typeface="Calibri"/>
              </a:rPr>
              <a:t>all</a:t>
            </a:r>
            <a:r>
              <a:rPr sz="2700" spc="-5" dirty="0">
                <a:solidFill>
                  <a:srgbClr val="7E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7E0000"/>
                </a:solidFill>
                <a:latin typeface="Calibri"/>
                <a:cs typeface="Calibri"/>
              </a:rPr>
              <a:t>aspects</a:t>
            </a:r>
            <a:r>
              <a:rPr sz="2700" spc="50" dirty="0">
                <a:solidFill>
                  <a:srgbClr val="7E0000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of </a:t>
            </a:r>
            <a:r>
              <a:rPr sz="2700" spc="-10" dirty="0">
                <a:latin typeface="Calibri"/>
                <a:cs typeface="Calibri"/>
              </a:rPr>
              <a:t>software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development</a:t>
            </a:r>
            <a:r>
              <a:rPr sz="2700" spc="9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are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needed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to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help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 </a:t>
            </a:r>
            <a:r>
              <a:rPr sz="2700" spc="-5" dirty="0">
                <a:latin typeface="Calibri"/>
                <a:cs typeface="Calibri"/>
              </a:rPr>
              <a:t>operation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5" dirty="0">
                <a:latin typeface="Calibri"/>
                <a:cs typeface="Calibri"/>
              </a:rPr>
              <a:t> maintenance.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57800" y="1597151"/>
            <a:ext cx="3301365" cy="65278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60325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475"/>
              </a:spcBef>
            </a:pPr>
            <a:r>
              <a:rPr sz="3000" b="1" spc="-10" dirty="0">
                <a:solidFill>
                  <a:srgbClr val="0000CC"/>
                </a:solidFill>
                <a:latin typeface="Calibri"/>
                <a:cs typeface="Calibri"/>
              </a:rPr>
              <a:t>Life</a:t>
            </a:r>
            <a:r>
              <a:rPr sz="3000" b="1" spc="-5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b="1" spc="-15" dirty="0">
                <a:solidFill>
                  <a:srgbClr val="0000CC"/>
                </a:solidFill>
                <a:latin typeface="Calibri"/>
                <a:cs typeface="Calibri"/>
              </a:rPr>
              <a:t>Cycle</a:t>
            </a:r>
            <a:r>
              <a:rPr sz="3000" b="1" spc="-2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3000" b="1" spc="-5" dirty="0">
                <a:solidFill>
                  <a:srgbClr val="0000CC"/>
                </a:solidFill>
                <a:latin typeface="Calibri"/>
                <a:cs typeface="Calibri"/>
              </a:rPr>
              <a:t>Model</a:t>
            </a:r>
            <a:r>
              <a:rPr sz="3000" b="1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1050" b="1" spc="10" dirty="0">
                <a:solidFill>
                  <a:srgbClr val="0000CC"/>
                </a:solidFill>
                <a:latin typeface="Calibri"/>
                <a:cs typeface="Calibri"/>
              </a:rPr>
              <a:t>(CONT.)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3111" y="75208"/>
            <a:ext cx="8109584" cy="1122045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244475" indent="-232410">
              <a:lnSpc>
                <a:spcPct val="100000"/>
              </a:lnSpc>
              <a:spcBef>
                <a:spcPts val="1390"/>
              </a:spcBef>
              <a:buFont typeface="Arial MT"/>
              <a:buChar char="•"/>
              <a:tabLst>
                <a:tab pos="245110" algn="l"/>
              </a:tabLst>
            </a:pPr>
            <a:r>
              <a:rPr sz="2400" spc="-10" dirty="0">
                <a:latin typeface="Calibri"/>
                <a:cs typeface="Calibri"/>
              </a:rPr>
              <a:t>Many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life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cycle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have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been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proposed.</a:t>
            </a:r>
            <a:endParaRPr sz="2800">
              <a:latin typeface="Calibri"/>
              <a:cs typeface="Calibri"/>
            </a:endParaRPr>
          </a:p>
          <a:p>
            <a:pPr marL="244475" indent="-232410">
              <a:lnSpc>
                <a:spcPct val="100000"/>
              </a:lnSpc>
              <a:spcBef>
                <a:spcPts val="1100"/>
              </a:spcBef>
              <a:buFont typeface="Arial MT"/>
              <a:buChar char="•"/>
              <a:tabLst>
                <a:tab pos="245110" algn="l"/>
              </a:tabLst>
            </a:pPr>
            <a:r>
              <a:rPr sz="2400" spc="-50" dirty="0">
                <a:latin typeface="Calibri"/>
                <a:cs typeface="Calibri"/>
              </a:rPr>
              <a:t>We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confine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attention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few</a:t>
            </a:r>
            <a:r>
              <a:rPr sz="2400" spc="-5" dirty="0">
                <a:latin typeface="Calibri"/>
                <a:cs typeface="Calibri"/>
              </a:rPr>
              <a:t> commonly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4312" y="1171254"/>
            <a:ext cx="1877695" cy="3008630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400" spc="-5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400" b="1" spc="-5" dirty="0">
                <a:solidFill>
                  <a:srgbClr val="0000FF"/>
                </a:solidFill>
                <a:latin typeface="Calibri"/>
                <a:cs typeface="Calibri"/>
              </a:rPr>
              <a:t>Waterfall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2400" spc="85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400" b="1" spc="85" dirty="0">
                <a:solidFill>
                  <a:srgbClr val="0000FF"/>
                </a:solidFill>
                <a:latin typeface="Calibri"/>
                <a:cs typeface="Calibri"/>
              </a:rPr>
              <a:t>V</a:t>
            </a:r>
            <a:r>
              <a:rPr sz="2400" b="1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Calibri"/>
                <a:cs typeface="Calibri"/>
              </a:rPr>
              <a:t>model,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2400" spc="-5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400" b="1" spc="-5" dirty="0">
                <a:solidFill>
                  <a:srgbClr val="0000FF"/>
                </a:solidFill>
                <a:latin typeface="Calibri"/>
                <a:cs typeface="Calibri"/>
              </a:rPr>
              <a:t>Evolutionary,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2400" spc="10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400" b="1" spc="10" dirty="0">
                <a:solidFill>
                  <a:srgbClr val="0000FF"/>
                </a:solidFill>
                <a:latin typeface="Calibri"/>
                <a:cs typeface="Calibri"/>
              </a:rPr>
              <a:t>Prototyping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2400" spc="15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400" b="1" spc="15" dirty="0">
                <a:solidFill>
                  <a:srgbClr val="0000FF"/>
                </a:solidFill>
                <a:latin typeface="Calibri"/>
                <a:cs typeface="Calibri"/>
              </a:rPr>
              <a:t>Spiral</a:t>
            </a:r>
            <a:r>
              <a:rPr sz="2400" b="1" spc="-7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Calibri"/>
                <a:cs typeface="Calibri"/>
              </a:rPr>
              <a:t>model,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2400" spc="30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400" b="1" spc="30" dirty="0">
                <a:solidFill>
                  <a:srgbClr val="0000FF"/>
                </a:solidFill>
                <a:latin typeface="Calibri"/>
                <a:cs typeface="Calibri"/>
              </a:rPr>
              <a:t>Agile</a:t>
            </a:r>
            <a:r>
              <a:rPr sz="2400" b="1" spc="-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Calibri"/>
                <a:cs typeface="Calibri"/>
              </a:rPr>
              <a:t>models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63723" y="1507235"/>
            <a:ext cx="829310" cy="2228215"/>
          </a:xfrm>
          <a:custGeom>
            <a:avLst/>
            <a:gdLst/>
            <a:ahLst/>
            <a:cxnLst/>
            <a:rect l="l" t="t" r="r" b="b"/>
            <a:pathLst>
              <a:path w="829310" h="2228215">
                <a:moveTo>
                  <a:pt x="0" y="0"/>
                </a:moveTo>
                <a:lnTo>
                  <a:pt x="74523" y="1114"/>
                </a:lnTo>
                <a:lnTo>
                  <a:pt x="144659" y="4328"/>
                </a:lnTo>
                <a:lnTo>
                  <a:pt x="209239" y="9445"/>
                </a:lnTo>
                <a:lnTo>
                  <a:pt x="267093" y="16267"/>
                </a:lnTo>
                <a:lnTo>
                  <a:pt x="317050" y="24598"/>
                </a:lnTo>
                <a:lnTo>
                  <a:pt x="357942" y="34242"/>
                </a:lnTo>
                <a:lnTo>
                  <a:pt x="407850" y="56684"/>
                </a:lnTo>
                <a:lnTo>
                  <a:pt x="414527" y="69087"/>
                </a:lnTo>
                <a:lnTo>
                  <a:pt x="414527" y="1044956"/>
                </a:lnTo>
                <a:lnTo>
                  <a:pt x="421205" y="1057359"/>
                </a:lnTo>
                <a:lnTo>
                  <a:pt x="471113" y="1079801"/>
                </a:lnTo>
                <a:lnTo>
                  <a:pt x="512005" y="1089445"/>
                </a:lnTo>
                <a:lnTo>
                  <a:pt x="561962" y="1097776"/>
                </a:lnTo>
                <a:lnTo>
                  <a:pt x="619816" y="1104598"/>
                </a:lnTo>
                <a:lnTo>
                  <a:pt x="684396" y="1109715"/>
                </a:lnTo>
                <a:lnTo>
                  <a:pt x="754532" y="1112929"/>
                </a:lnTo>
                <a:lnTo>
                  <a:pt x="829056" y="1114044"/>
                </a:lnTo>
                <a:lnTo>
                  <a:pt x="754532" y="1115158"/>
                </a:lnTo>
                <a:lnTo>
                  <a:pt x="684396" y="1118372"/>
                </a:lnTo>
                <a:lnTo>
                  <a:pt x="619816" y="1123489"/>
                </a:lnTo>
                <a:lnTo>
                  <a:pt x="561962" y="1130311"/>
                </a:lnTo>
                <a:lnTo>
                  <a:pt x="512005" y="1138642"/>
                </a:lnTo>
                <a:lnTo>
                  <a:pt x="471113" y="1148286"/>
                </a:lnTo>
                <a:lnTo>
                  <a:pt x="421205" y="1170728"/>
                </a:lnTo>
                <a:lnTo>
                  <a:pt x="414527" y="1183132"/>
                </a:lnTo>
                <a:lnTo>
                  <a:pt x="414527" y="2159000"/>
                </a:lnTo>
                <a:lnTo>
                  <a:pt x="407850" y="2171403"/>
                </a:lnTo>
                <a:lnTo>
                  <a:pt x="357942" y="2193845"/>
                </a:lnTo>
                <a:lnTo>
                  <a:pt x="317050" y="2203489"/>
                </a:lnTo>
                <a:lnTo>
                  <a:pt x="267093" y="2211820"/>
                </a:lnTo>
                <a:lnTo>
                  <a:pt x="209239" y="2218642"/>
                </a:lnTo>
                <a:lnTo>
                  <a:pt x="144659" y="2223759"/>
                </a:lnTo>
                <a:lnTo>
                  <a:pt x="74523" y="2226973"/>
                </a:lnTo>
                <a:lnTo>
                  <a:pt x="0" y="2228088"/>
                </a:lnTo>
              </a:path>
            </a:pathLst>
          </a:custGeom>
          <a:ln w="396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42310" y="2428494"/>
            <a:ext cx="203898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20" dirty="0">
                <a:solidFill>
                  <a:srgbClr val="0000FF"/>
                </a:solidFill>
                <a:latin typeface="Calibri"/>
                <a:cs typeface="Calibri"/>
              </a:rPr>
              <a:t>Traditional</a:t>
            </a:r>
            <a:r>
              <a:rPr sz="2000" b="1" spc="38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Calibri"/>
                <a:cs typeface="Calibri"/>
              </a:rPr>
              <a:t>models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76800" y="3029711"/>
            <a:ext cx="3276600" cy="8534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42875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1125"/>
              </a:spcBef>
            </a:pPr>
            <a:r>
              <a:rPr sz="3200" b="1" spc="-15" dirty="0">
                <a:solidFill>
                  <a:srgbClr val="0000CC"/>
                </a:solidFill>
                <a:latin typeface="Calibri"/>
                <a:cs typeface="Calibri"/>
              </a:rPr>
              <a:t>Software </a:t>
            </a:r>
            <a:r>
              <a:rPr sz="3200" b="1" spc="-20" dirty="0">
                <a:solidFill>
                  <a:srgbClr val="0000CC"/>
                </a:solidFill>
                <a:latin typeface="Calibri"/>
                <a:cs typeface="Calibri"/>
              </a:rPr>
              <a:t>Life</a:t>
            </a:r>
            <a:r>
              <a:rPr sz="3200" b="1" spc="-15" dirty="0">
                <a:solidFill>
                  <a:srgbClr val="0000CC"/>
                </a:solidFill>
                <a:latin typeface="Calibri"/>
                <a:cs typeface="Calibri"/>
              </a:rPr>
              <a:t> Cycle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5" dirty="0"/>
              <a:t>17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76911" y="184984"/>
            <a:ext cx="8510905" cy="2780665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244475" indent="-232410">
              <a:lnSpc>
                <a:spcPct val="100000"/>
              </a:lnSpc>
              <a:spcBef>
                <a:spcPts val="910"/>
              </a:spcBef>
              <a:buFont typeface="Arial MT"/>
              <a:buChar char="•"/>
              <a:tabLst>
                <a:tab pos="245110" algn="l"/>
              </a:tabLst>
            </a:pPr>
            <a:r>
              <a:rPr sz="2800" spc="-10" dirty="0">
                <a:latin typeface="Calibri"/>
                <a:cs typeface="Calibri"/>
              </a:rPr>
              <a:t>Software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life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cycle </a:t>
            </a:r>
            <a:r>
              <a:rPr sz="2800" spc="-5" dirty="0">
                <a:latin typeface="Calibri"/>
                <a:cs typeface="Calibri"/>
              </a:rPr>
              <a:t>(or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0000CC"/>
                </a:solidFill>
                <a:latin typeface="Calibri"/>
                <a:cs typeface="Calibri"/>
              </a:rPr>
              <a:t>software</a:t>
            </a:r>
            <a:r>
              <a:rPr sz="2800" spc="-6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CC"/>
                </a:solidFill>
                <a:latin typeface="Calibri"/>
                <a:cs typeface="Calibri"/>
              </a:rPr>
              <a:t>process</a:t>
            </a:r>
            <a:r>
              <a:rPr sz="2800" spc="-10" dirty="0">
                <a:latin typeface="Calibri"/>
                <a:cs typeface="Calibri"/>
              </a:rPr>
              <a:t>):</a:t>
            </a:r>
            <a:endParaRPr sz="2800">
              <a:latin typeface="Calibri"/>
              <a:cs typeface="Calibri"/>
            </a:endParaRPr>
          </a:p>
          <a:p>
            <a:pPr marL="515620" marR="5080" indent="-192405">
              <a:lnSpc>
                <a:spcPct val="117500"/>
              </a:lnSpc>
              <a:spcBef>
                <a:spcPts val="190"/>
              </a:spcBef>
            </a:pPr>
            <a:r>
              <a:rPr sz="2400" spc="20" dirty="0">
                <a:solidFill>
                  <a:srgbClr val="CC3300"/>
                </a:solidFill>
                <a:latin typeface="Arial MT"/>
                <a:cs typeface="Arial MT"/>
              </a:rPr>
              <a:t>–</a:t>
            </a:r>
            <a:r>
              <a:rPr sz="2400" b="1" spc="20" dirty="0">
                <a:solidFill>
                  <a:srgbClr val="CC3300"/>
                </a:solidFill>
                <a:latin typeface="Comic Sans MS"/>
                <a:cs typeface="Comic Sans MS"/>
              </a:rPr>
              <a:t>Series </a:t>
            </a:r>
            <a:r>
              <a:rPr sz="2400" b="1" dirty="0">
                <a:solidFill>
                  <a:srgbClr val="CC3300"/>
                </a:solidFill>
                <a:latin typeface="Comic Sans MS"/>
                <a:cs typeface="Comic Sans MS"/>
              </a:rPr>
              <a:t>of </a:t>
            </a:r>
            <a:r>
              <a:rPr sz="2400" b="1" spc="-5" dirty="0">
                <a:solidFill>
                  <a:srgbClr val="CC3300"/>
                </a:solidFill>
                <a:latin typeface="Comic Sans MS"/>
                <a:cs typeface="Comic Sans MS"/>
              </a:rPr>
              <a:t>identifiable </a:t>
            </a:r>
            <a:r>
              <a:rPr sz="2400" b="1" dirty="0">
                <a:solidFill>
                  <a:srgbClr val="CC3300"/>
                </a:solidFill>
                <a:latin typeface="Comic Sans MS"/>
                <a:cs typeface="Comic Sans MS"/>
              </a:rPr>
              <a:t>stages </a:t>
            </a:r>
            <a:r>
              <a:rPr sz="2400" b="1" spc="-5" dirty="0">
                <a:solidFill>
                  <a:srgbClr val="CC3300"/>
                </a:solidFill>
                <a:latin typeface="Comic Sans MS"/>
                <a:cs typeface="Comic Sans MS"/>
              </a:rPr>
              <a:t>that </a:t>
            </a:r>
            <a:r>
              <a:rPr sz="2400" b="1" dirty="0">
                <a:solidFill>
                  <a:srgbClr val="CC3300"/>
                </a:solidFill>
                <a:latin typeface="Comic Sans MS"/>
                <a:cs typeface="Comic Sans MS"/>
              </a:rPr>
              <a:t>a </a:t>
            </a:r>
            <a:r>
              <a:rPr sz="2400" b="1" spc="-5" dirty="0">
                <a:solidFill>
                  <a:srgbClr val="CC3300"/>
                </a:solidFill>
                <a:latin typeface="Comic Sans MS"/>
                <a:cs typeface="Comic Sans MS"/>
              </a:rPr>
              <a:t>software product </a:t>
            </a:r>
            <a:r>
              <a:rPr sz="2400" b="1" spc="-1035" dirty="0">
                <a:solidFill>
                  <a:srgbClr val="CC3300"/>
                </a:solidFill>
                <a:latin typeface="Comic Sans MS"/>
                <a:cs typeface="Comic Sans MS"/>
              </a:rPr>
              <a:t> </a:t>
            </a:r>
            <a:r>
              <a:rPr sz="2400" b="1" spc="-5" dirty="0">
                <a:solidFill>
                  <a:srgbClr val="CC3300"/>
                </a:solidFill>
                <a:latin typeface="Comic Sans MS"/>
                <a:cs typeface="Comic Sans MS"/>
              </a:rPr>
              <a:t>undergoes</a:t>
            </a:r>
            <a:r>
              <a:rPr sz="2400" b="1" spc="-30" dirty="0">
                <a:solidFill>
                  <a:srgbClr val="CC3300"/>
                </a:solidFill>
                <a:latin typeface="Comic Sans MS"/>
                <a:cs typeface="Comic Sans MS"/>
              </a:rPr>
              <a:t> </a:t>
            </a:r>
            <a:r>
              <a:rPr sz="2400" b="1" spc="-5" dirty="0">
                <a:solidFill>
                  <a:srgbClr val="CC3300"/>
                </a:solidFill>
                <a:latin typeface="Comic Sans MS"/>
                <a:cs typeface="Comic Sans MS"/>
              </a:rPr>
              <a:t>during</a:t>
            </a:r>
            <a:r>
              <a:rPr sz="2400" b="1" dirty="0">
                <a:solidFill>
                  <a:srgbClr val="CC3300"/>
                </a:solidFill>
                <a:latin typeface="Comic Sans MS"/>
                <a:cs typeface="Comic Sans MS"/>
              </a:rPr>
              <a:t> </a:t>
            </a:r>
            <a:r>
              <a:rPr sz="2400" b="1" spc="-5" dirty="0">
                <a:solidFill>
                  <a:srgbClr val="CC3300"/>
                </a:solidFill>
                <a:latin typeface="Comic Sans MS"/>
                <a:cs typeface="Comic Sans MS"/>
              </a:rPr>
              <a:t>its</a:t>
            </a:r>
            <a:r>
              <a:rPr sz="2400" b="1" spc="-10" dirty="0">
                <a:solidFill>
                  <a:srgbClr val="CC3300"/>
                </a:solidFill>
                <a:latin typeface="Comic Sans MS"/>
                <a:cs typeface="Comic Sans MS"/>
              </a:rPr>
              <a:t> </a:t>
            </a:r>
            <a:r>
              <a:rPr sz="2400" b="1" spc="-5" dirty="0">
                <a:solidFill>
                  <a:srgbClr val="CC3300"/>
                </a:solidFill>
                <a:latin typeface="Comic Sans MS"/>
                <a:cs typeface="Comic Sans MS"/>
              </a:rPr>
              <a:t>life</a:t>
            </a:r>
            <a:r>
              <a:rPr sz="2400" b="1" spc="10" dirty="0">
                <a:solidFill>
                  <a:srgbClr val="CC3300"/>
                </a:solidFill>
                <a:latin typeface="Comic Sans MS"/>
                <a:cs typeface="Comic Sans MS"/>
              </a:rPr>
              <a:t> </a:t>
            </a:r>
            <a:r>
              <a:rPr sz="2400" b="1" spc="-5" dirty="0">
                <a:solidFill>
                  <a:srgbClr val="CC3300"/>
                </a:solidFill>
                <a:latin typeface="Comic Sans MS"/>
                <a:cs typeface="Comic Sans MS"/>
              </a:rPr>
              <a:t>time:</a:t>
            </a:r>
            <a:endParaRPr sz="2400">
              <a:latin typeface="Comic Sans MS"/>
              <a:cs typeface="Comic Sans MS"/>
            </a:endParaRPr>
          </a:p>
          <a:p>
            <a:pPr marL="789940" lvl="1" indent="-15621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790575" algn="l"/>
              </a:tabLst>
            </a:pPr>
            <a:r>
              <a:rPr sz="2400" b="1" spc="-5" dirty="0">
                <a:solidFill>
                  <a:srgbClr val="0000FF"/>
                </a:solidFill>
                <a:latin typeface="Calibri"/>
                <a:cs typeface="Calibri"/>
              </a:rPr>
              <a:t>Feasibility</a:t>
            </a:r>
            <a:r>
              <a:rPr sz="2400" b="1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Calibri"/>
                <a:cs typeface="Calibri"/>
              </a:rPr>
              <a:t>study</a:t>
            </a:r>
            <a:endParaRPr sz="2400">
              <a:latin typeface="Calibri"/>
              <a:cs typeface="Calibri"/>
            </a:endParaRPr>
          </a:p>
          <a:p>
            <a:pPr marL="789940" lvl="1" indent="-15621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790575" algn="l"/>
              </a:tabLst>
            </a:pPr>
            <a:r>
              <a:rPr sz="2400" b="1" spc="-10" dirty="0">
                <a:solidFill>
                  <a:srgbClr val="0000FF"/>
                </a:solidFill>
                <a:latin typeface="Calibri"/>
                <a:cs typeface="Calibri"/>
              </a:rPr>
              <a:t>Requirements</a:t>
            </a:r>
            <a:r>
              <a:rPr sz="2400" b="1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Calibri"/>
                <a:cs typeface="Calibri"/>
              </a:rPr>
              <a:t>analysis</a:t>
            </a:r>
            <a:r>
              <a:rPr sz="2400" b="1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Calibri"/>
                <a:cs typeface="Calibri"/>
              </a:rPr>
              <a:t>and specification,</a:t>
            </a:r>
            <a:endParaRPr sz="2400">
              <a:latin typeface="Calibri"/>
              <a:cs typeface="Calibri"/>
            </a:endParaRPr>
          </a:p>
          <a:p>
            <a:pPr marL="789940" lvl="1" indent="-15621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790575" algn="l"/>
              </a:tabLst>
            </a:pPr>
            <a:r>
              <a:rPr sz="2400" b="1" spc="-5" dirty="0">
                <a:solidFill>
                  <a:srgbClr val="0000FF"/>
                </a:solidFill>
                <a:latin typeface="Calibri"/>
                <a:cs typeface="Calibri"/>
              </a:rPr>
              <a:t>Design,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9008" y="2940303"/>
            <a:ext cx="1931035" cy="13430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67640" indent="-15557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168275" algn="l"/>
              </a:tabLst>
            </a:pP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Coding,</a:t>
            </a:r>
            <a:endParaRPr sz="2400">
              <a:latin typeface="Calibri"/>
              <a:cs typeface="Calibri"/>
            </a:endParaRPr>
          </a:p>
          <a:p>
            <a:pPr marL="167640" indent="-15557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168275" algn="l"/>
              </a:tabLst>
            </a:pPr>
            <a:r>
              <a:rPr sz="2400" b="1" spc="-35" dirty="0">
                <a:solidFill>
                  <a:srgbClr val="0000FF"/>
                </a:solidFill>
                <a:latin typeface="Calibri"/>
                <a:cs typeface="Calibri"/>
              </a:rPr>
              <a:t>Testing</a:t>
            </a:r>
            <a:endParaRPr sz="2400">
              <a:latin typeface="Calibri"/>
              <a:cs typeface="Calibri"/>
            </a:endParaRPr>
          </a:p>
          <a:p>
            <a:pPr marL="167640" indent="-15557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68275" algn="l"/>
              </a:tabLst>
            </a:pPr>
            <a:r>
              <a:rPr sz="2400" b="1" spc="-10" dirty="0">
                <a:solidFill>
                  <a:srgbClr val="0000FF"/>
                </a:solidFill>
                <a:latin typeface="Calibri"/>
                <a:cs typeface="Calibri"/>
              </a:rPr>
              <a:t>Ma</a:t>
            </a:r>
            <a:r>
              <a:rPr sz="2400" b="1" spc="5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2400" b="1" spc="-20" dirty="0">
                <a:solidFill>
                  <a:srgbClr val="0000FF"/>
                </a:solidFill>
                <a:latin typeface="Calibri"/>
                <a:cs typeface="Calibri"/>
              </a:rPr>
              <a:t>nt</a:t>
            </a:r>
            <a:r>
              <a:rPr sz="2400" b="1" spc="-10" dirty="0">
                <a:solidFill>
                  <a:srgbClr val="0000FF"/>
                </a:solidFill>
                <a:latin typeface="Calibri"/>
                <a:cs typeface="Calibri"/>
              </a:rPr>
              <a:t>e</a:t>
            </a:r>
            <a:r>
              <a:rPr sz="2400" b="1" dirty="0">
                <a:solidFill>
                  <a:srgbClr val="0000FF"/>
                </a:solidFill>
                <a:latin typeface="Calibri"/>
                <a:cs typeface="Calibri"/>
              </a:rPr>
              <a:t>nance.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9001" y="293573"/>
            <a:ext cx="426720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/>
              <a:t>Classical</a:t>
            </a:r>
            <a:r>
              <a:rPr sz="3200" spc="-15" dirty="0"/>
              <a:t> </a:t>
            </a:r>
            <a:r>
              <a:rPr sz="3200" spc="-35" dirty="0"/>
              <a:t>Waterfall</a:t>
            </a:r>
            <a:r>
              <a:rPr sz="3200" spc="-20" dirty="0"/>
              <a:t> </a:t>
            </a:r>
            <a:r>
              <a:rPr sz="3200" spc="-10" dirty="0"/>
              <a:t>Model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063" y="690672"/>
            <a:ext cx="8464550" cy="1064260"/>
          </a:xfrm>
          <a:prstGeom prst="rect">
            <a:avLst/>
          </a:prstGeom>
        </p:spPr>
        <p:txBody>
          <a:bodyPr vert="horz" wrap="square" lIns="0" tIns="171450" rIns="0" bIns="0" rtlCol="0">
            <a:spAutoFit/>
          </a:bodyPr>
          <a:lstStyle/>
          <a:p>
            <a:pPr marL="244475" indent="-232410">
              <a:lnSpc>
                <a:spcPct val="100000"/>
              </a:lnSpc>
              <a:spcBef>
                <a:spcPts val="1350"/>
              </a:spcBef>
              <a:buFont typeface="Arial MT"/>
              <a:buChar char="•"/>
              <a:tabLst>
                <a:tab pos="245110" algn="l"/>
              </a:tabLst>
            </a:pPr>
            <a:r>
              <a:rPr sz="2500" spc="-5" dirty="0">
                <a:latin typeface="Calibri"/>
                <a:cs typeface="Calibri"/>
              </a:rPr>
              <a:t>Classical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waterfall</a:t>
            </a:r>
            <a:r>
              <a:rPr sz="2500" spc="-5" dirty="0">
                <a:latin typeface="Calibri"/>
                <a:cs typeface="Calibri"/>
              </a:rPr>
              <a:t> model</a:t>
            </a:r>
            <a:r>
              <a:rPr sz="2500" spc="1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divides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life</a:t>
            </a:r>
            <a:r>
              <a:rPr sz="2500" spc="1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cycle</a:t>
            </a:r>
            <a:r>
              <a:rPr sz="2500" spc="1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into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following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phases:</a:t>
            </a:r>
            <a:endParaRPr sz="25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165"/>
              </a:spcBef>
            </a:pPr>
            <a:r>
              <a:rPr sz="2300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300" spc="-409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300" spc="-30" dirty="0">
                <a:solidFill>
                  <a:srgbClr val="0000FF"/>
                </a:solidFill>
                <a:latin typeface="Calibri"/>
                <a:cs typeface="Calibri"/>
              </a:rPr>
              <a:t>F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ea</a:t>
            </a:r>
            <a:r>
              <a:rPr sz="2300" spc="10" dirty="0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2300" spc="-15" dirty="0">
                <a:solidFill>
                  <a:srgbClr val="0000FF"/>
                </a:solidFill>
                <a:latin typeface="Calibri"/>
                <a:cs typeface="Calibri"/>
              </a:rPr>
              <a:t>b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il</a:t>
            </a:r>
            <a:r>
              <a:rPr sz="2300" spc="-10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ty</a:t>
            </a:r>
            <a:r>
              <a:rPr sz="23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t</a:t>
            </a:r>
            <a:r>
              <a:rPr sz="2300" spc="-20" dirty="0">
                <a:solidFill>
                  <a:srgbClr val="0000FF"/>
                </a:solidFill>
                <a:latin typeface="Calibri"/>
                <a:cs typeface="Calibri"/>
              </a:rPr>
              <a:t>u</a:t>
            </a:r>
            <a:r>
              <a:rPr sz="2300" spc="-15" dirty="0">
                <a:solidFill>
                  <a:srgbClr val="0000FF"/>
                </a:solidFill>
                <a:latin typeface="Calibri"/>
                <a:cs typeface="Calibri"/>
              </a:rPr>
              <a:t>d</a:t>
            </a:r>
            <a:r>
              <a:rPr sz="2300" spc="-180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5264" y="1728886"/>
            <a:ext cx="5016500" cy="2480945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300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300" spc="-409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300" spc="-55" dirty="0">
                <a:solidFill>
                  <a:srgbClr val="0000FF"/>
                </a:solidFill>
                <a:latin typeface="Calibri"/>
                <a:cs typeface="Calibri"/>
              </a:rPr>
              <a:t>R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e</a:t>
            </a:r>
            <a:r>
              <a:rPr sz="2300" spc="-10" dirty="0">
                <a:solidFill>
                  <a:srgbClr val="0000FF"/>
                </a:solidFill>
                <a:latin typeface="Calibri"/>
                <a:cs typeface="Calibri"/>
              </a:rPr>
              <a:t>q</a:t>
            </a:r>
            <a:r>
              <a:rPr sz="2300" spc="-15" dirty="0">
                <a:solidFill>
                  <a:srgbClr val="0000FF"/>
                </a:solidFill>
                <a:latin typeface="Calibri"/>
                <a:cs typeface="Calibri"/>
              </a:rPr>
              <a:t>u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2300" spc="-40" dirty="0">
                <a:solidFill>
                  <a:srgbClr val="0000FF"/>
                </a:solidFill>
                <a:latin typeface="Calibri"/>
                <a:cs typeface="Calibri"/>
              </a:rPr>
              <a:t>r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e</a:t>
            </a:r>
            <a:r>
              <a:rPr sz="2300" spc="10" dirty="0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e</a:t>
            </a:r>
            <a:r>
              <a:rPr sz="2300" spc="-35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ts</a:t>
            </a:r>
            <a:r>
              <a:rPr sz="2300" spc="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2300" spc="-15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al</a:t>
            </a:r>
            <a:r>
              <a:rPr sz="2300" spc="-40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2300" spc="5" dirty="0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is</a:t>
            </a:r>
            <a:r>
              <a:rPr sz="23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2300" spc="-15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d</a:t>
            </a:r>
            <a:r>
              <a:rPr sz="2300" spc="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300" spc="5" dirty="0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r>
              <a:rPr sz="2300" spc="-15" dirty="0">
                <a:solidFill>
                  <a:srgbClr val="0000FF"/>
                </a:solidFill>
                <a:latin typeface="Calibri"/>
                <a:cs typeface="Calibri"/>
              </a:rPr>
              <a:t>p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e</a:t>
            </a:r>
            <a:r>
              <a:rPr sz="2300" spc="10" dirty="0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2300" spc="-10" dirty="0">
                <a:solidFill>
                  <a:srgbClr val="0000FF"/>
                </a:solidFill>
                <a:latin typeface="Calibri"/>
                <a:cs typeface="Calibri"/>
              </a:rPr>
              <a:t>f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2300" spc="-20" dirty="0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sz="2300" spc="-30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t</a:t>
            </a:r>
            <a:r>
              <a:rPr sz="2300" spc="-10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2300" spc="5" dirty="0">
                <a:solidFill>
                  <a:srgbClr val="0000FF"/>
                </a:solidFill>
                <a:latin typeface="Calibri"/>
                <a:cs typeface="Calibri"/>
              </a:rPr>
              <a:t>o</a:t>
            </a:r>
            <a:r>
              <a:rPr sz="2300" spc="-15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300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300" spc="-409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300" spc="-5" dirty="0">
                <a:solidFill>
                  <a:srgbClr val="0000FF"/>
                </a:solidFill>
                <a:latin typeface="Calibri"/>
                <a:cs typeface="Calibri"/>
              </a:rPr>
              <a:t>De</a:t>
            </a:r>
            <a:r>
              <a:rPr sz="2300" spc="5" dirty="0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2300" spc="-10" dirty="0">
                <a:solidFill>
                  <a:srgbClr val="0000FF"/>
                </a:solidFill>
                <a:latin typeface="Calibri"/>
                <a:cs typeface="Calibri"/>
              </a:rPr>
              <a:t>g</a:t>
            </a:r>
            <a:r>
              <a:rPr sz="2300" spc="-15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300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300" spc="-409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300" spc="-5" dirty="0">
                <a:solidFill>
                  <a:srgbClr val="0000FF"/>
                </a:solidFill>
                <a:latin typeface="Calibri"/>
                <a:cs typeface="Calibri"/>
              </a:rPr>
              <a:t>Co</a:t>
            </a:r>
            <a:r>
              <a:rPr sz="2300" spc="-10" dirty="0">
                <a:solidFill>
                  <a:srgbClr val="0000FF"/>
                </a:solidFill>
                <a:latin typeface="Calibri"/>
                <a:cs typeface="Calibri"/>
              </a:rPr>
              <a:t>d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2300" spc="-15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g</a:t>
            </a:r>
            <a:r>
              <a:rPr sz="2300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2300" spc="-15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d</a:t>
            </a:r>
            <a:r>
              <a:rPr sz="23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300" spc="-5" dirty="0">
                <a:solidFill>
                  <a:srgbClr val="0000FF"/>
                </a:solidFill>
                <a:latin typeface="Calibri"/>
                <a:cs typeface="Calibri"/>
              </a:rPr>
              <a:t>u</a:t>
            </a:r>
            <a:r>
              <a:rPr sz="2300" spc="-15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it</a:t>
            </a:r>
            <a:r>
              <a:rPr sz="2300" spc="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300" spc="-30" dirty="0">
                <a:solidFill>
                  <a:srgbClr val="0000FF"/>
                </a:solidFill>
                <a:latin typeface="Calibri"/>
                <a:cs typeface="Calibri"/>
              </a:rPr>
              <a:t>t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e</a:t>
            </a:r>
            <a:r>
              <a:rPr sz="2300" spc="-15" dirty="0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t</a:t>
            </a:r>
            <a:r>
              <a:rPr sz="2300" spc="-10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2300" spc="-15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sz="2300" spc="15" dirty="0">
                <a:solidFill>
                  <a:srgbClr val="0000FF"/>
                </a:solidFill>
                <a:latin typeface="Calibri"/>
                <a:cs typeface="Calibri"/>
              </a:rPr>
              <a:t>g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300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300" spc="-409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2300" spc="-40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sz="2300" spc="-30" dirty="0">
                <a:solidFill>
                  <a:srgbClr val="0000FF"/>
                </a:solidFill>
                <a:latin typeface="Calibri"/>
                <a:cs typeface="Calibri"/>
              </a:rPr>
              <a:t>t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eg</a:t>
            </a:r>
            <a:r>
              <a:rPr sz="2300" spc="-60" dirty="0">
                <a:solidFill>
                  <a:srgbClr val="0000FF"/>
                </a:solidFill>
                <a:latin typeface="Calibri"/>
                <a:cs typeface="Calibri"/>
              </a:rPr>
              <a:t>r</a:t>
            </a:r>
            <a:r>
              <a:rPr sz="2300" spc="-25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tion</a:t>
            </a:r>
            <a:r>
              <a:rPr sz="2300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2300" spc="-10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d</a:t>
            </a:r>
            <a:r>
              <a:rPr sz="2300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300" spc="-40" dirty="0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r>
              <a:rPr sz="2300" spc="-35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r>
              <a:rPr sz="2300" spc="-15" dirty="0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r>
              <a:rPr sz="2300" spc="-30" dirty="0">
                <a:solidFill>
                  <a:srgbClr val="0000FF"/>
                </a:solidFill>
                <a:latin typeface="Calibri"/>
                <a:cs typeface="Calibri"/>
              </a:rPr>
              <a:t>t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em</a:t>
            </a:r>
            <a:r>
              <a:rPr sz="23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300" spc="-30" dirty="0">
                <a:solidFill>
                  <a:srgbClr val="0000FF"/>
                </a:solidFill>
                <a:latin typeface="Calibri"/>
                <a:cs typeface="Calibri"/>
              </a:rPr>
              <a:t>t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e</a:t>
            </a:r>
            <a:r>
              <a:rPr sz="2300" spc="-10" dirty="0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ti</a:t>
            </a:r>
            <a:r>
              <a:rPr sz="2300" spc="-20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sz="2300" spc="15" dirty="0">
                <a:solidFill>
                  <a:srgbClr val="0000FF"/>
                </a:solidFill>
                <a:latin typeface="Calibri"/>
                <a:cs typeface="Calibri"/>
              </a:rPr>
              <a:t>g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300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300" spc="-409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Mai</a:t>
            </a:r>
            <a:r>
              <a:rPr sz="2300" spc="-40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sz="2300" spc="-30" dirty="0">
                <a:solidFill>
                  <a:srgbClr val="0000FF"/>
                </a:solidFill>
                <a:latin typeface="Calibri"/>
                <a:cs typeface="Calibri"/>
              </a:rPr>
              <a:t>t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ena</a:t>
            </a:r>
            <a:r>
              <a:rPr sz="2300" spc="-15" dirty="0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sz="2300" spc="5" dirty="0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e.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71844" y="2217419"/>
            <a:ext cx="1990725" cy="1996439"/>
          </a:xfrm>
          <a:custGeom>
            <a:avLst/>
            <a:gdLst/>
            <a:ahLst/>
            <a:cxnLst/>
            <a:rect l="l" t="t" r="r" b="b"/>
            <a:pathLst>
              <a:path w="1990725" h="1996439">
                <a:moveTo>
                  <a:pt x="0" y="998220"/>
                </a:moveTo>
                <a:lnTo>
                  <a:pt x="1147" y="949854"/>
                </a:lnTo>
                <a:lnTo>
                  <a:pt x="4555" y="902083"/>
                </a:lnTo>
                <a:lnTo>
                  <a:pt x="10171" y="854959"/>
                </a:lnTo>
                <a:lnTo>
                  <a:pt x="17943" y="808533"/>
                </a:lnTo>
                <a:lnTo>
                  <a:pt x="27818" y="762858"/>
                </a:lnTo>
                <a:lnTo>
                  <a:pt x="39746" y="717987"/>
                </a:lnTo>
                <a:lnTo>
                  <a:pt x="53673" y="673970"/>
                </a:lnTo>
                <a:lnTo>
                  <a:pt x="69548" y="630862"/>
                </a:lnTo>
                <a:lnTo>
                  <a:pt x="87319" y="588714"/>
                </a:lnTo>
                <a:lnTo>
                  <a:pt x="106932" y="547579"/>
                </a:lnTo>
                <a:lnTo>
                  <a:pt x="128337" y="507508"/>
                </a:lnTo>
                <a:lnTo>
                  <a:pt x="151481" y="468554"/>
                </a:lnTo>
                <a:lnTo>
                  <a:pt x="176312" y="430769"/>
                </a:lnTo>
                <a:lnTo>
                  <a:pt x="202778" y="394206"/>
                </a:lnTo>
                <a:lnTo>
                  <a:pt x="230827" y="358917"/>
                </a:lnTo>
                <a:lnTo>
                  <a:pt x="260407" y="324954"/>
                </a:lnTo>
                <a:lnTo>
                  <a:pt x="291464" y="292369"/>
                </a:lnTo>
                <a:lnTo>
                  <a:pt x="323949" y="261216"/>
                </a:lnTo>
                <a:lnTo>
                  <a:pt x="357808" y="231545"/>
                </a:lnTo>
                <a:lnTo>
                  <a:pt x="392989" y="203409"/>
                </a:lnTo>
                <a:lnTo>
                  <a:pt x="429440" y="176861"/>
                </a:lnTo>
                <a:lnTo>
                  <a:pt x="467109" y="151953"/>
                </a:lnTo>
                <a:lnTo>
                  <a:pt x="505944" y="128737"/>
                </a:lnTo>
                <a:lnTo>
                  <a:pt x="545892" y="107266"/>
                </a:lnTo>
                <a:lnTo>
                  <a:pt x="586903" y="87591"/>
                </a:lnTo>
                <a:lnTo>
                  <a:pt x="628923" y="69765"/>
                </a:lnTo>
                <a:lnTo>
                  <a:pt x="671900" y="53841"/>
                </a:lnTo>
                <a:lnTo>
                  <a:pt x="715783" y="39870"/>
                </a:lnTo>
                <a:lnTo>
                  <a:pt x="760518" y="27905"/>
                </a:lnTo>
                <a:lnTo>
                  <a:pt x="806055" y="17999"/>
                </a:lnTo>
                <a:lnTo>
                  <a:pt x="852341" y="10202"/>
                </a:lnTo>
                <a:lnTo>
                  <a:pt x="899324" y="4569"/>
                </a:lnTo>
                <a:lnTo>
                  <a:pt x="946951" y="1151"/>
                </a:lnTo>
                <a:lnTo>
                  <a:pt x="995172" y="0"/>
                </a:lnTo>
                <a:lnTo>
                  <a:pt x="1043392" y="1151"/>
                </a:lnTo>
                <a:lnTo>
                  <a:pt x="1091019" y="4569"/>
                </a:lnTo>
                <a:lnTo>
                  <a:pt x="1138002" y="10202"/>
                </a:lnTo>
                <a:lnTo>
                  <a:pt x="1184288" y="17999"/>
                </a:lnTo>
                <a:lnTo>
                  <a:pt x="1229825" y="27905"/>
                </a:lnTo>
                <a:lnTo>
                  <a:pt x="1274560" y="39870"/>
                </a:lnTo>
                <a:lnTo>
                  <a:pt x="1318443" y="53841"/>
                </a:lnTo>
                <a:lnTo>
                  <a:pt x="1361420" y="69765"/>
                </a:lnTo>
                <a:lnTo>
                  <a:pt x="1403440" y="87591"/>
                </a:lnTo>
                <a:lnTo>
                  <a:pt x="1444451" y="107266"/>
                </a:lnTo>
                <a:lnTo>
                  <a:pt x="1484399" y="128737"/>
                </a:lnTo>
                <a:lnTo>
                  <a:pt x="1523234" y="151953"/>
                </a:lnTo>
                <a:lnTo>
                  <a:pt x="1560903" y="176861"/>
                </a:lnTo>
                <a:lnTo>
                  <a:pt x="1597354" y="203409"/>
                </a:lnTo>
                <a:lnTo>
                  <a:pt x="1632535" y="231545"/>
                </a:lnTo>
                <a:lnTo>
                  <a:pt x="1666394" y="261216"/>
                </a:lnTo>
                <a:lnTo>
                  <a:pt x="1698878" y="292369"/>
                </a:lnTo>
                <a:lnTo>
                  <a:pt x="1729936" y="324954"/>
                </a:lnTo>
                <a:lnTo>
                  <a:pt x="1759516" y="358917"/>
                </a:lnTo>
                <a:lnTo>
                  <a:pt x="1787565" y="394206"/>
                </a:lnTo>
                <a:lnTo>
                  <a:pt x="1814031" y="430769"/>
                </a:lnTo>
                <a:lnTo>
                  <a:pt x="1838862" y="468554"/>
                </a:lnTo>
                <a:lnTo>
                  <a:pt x="1862006" y="507508"/>
                </a:lnTo>
                <a:lnTo>
                  <a:pt x="1883411" y="547579"/>
                </a:lnTo>
                <a:lnTo>
                  <a:pt x="1903024" y="588714"/>
                </a:lnTo>
                <a:lnTo>
                  <a:pt x="1920795" y="630862"/>
                </a:lnTo>
                <a:lnTo>
                  <a:pt x="1936670" y="673970"/>
                </a:lnTo>
                <a:lnTo>
                  <a:pt x="1950597" y="717987"/>
                </a:lnTo>
                <a:lnTo>
                  <a:pt x="1962525" y="762858"/>
                </a:lnTo>
                <a:lnTo>
                  <a:pt x="1972400" y="808533"/>
                </a:lnTo>
                <a:lnTo>
                  <a:pt x="1980172" y="854959"/>
                </a:lnTo>
                <a:lnTo>
                  <a:pt x="1985788" y="902083"/>
                </a:lnTo>
                <a:lnTo>
                  <a:pt x="1989196" y="949854"/>
                </a:lnTo>
                <a:lnTo>
                  <a:pt x="1990344" y="998220"/>
                </a:lnTo>
                <a:lnTo>
                  <a:pt x="1989196" y="1046585"/>
                </a:lnTo>
                <a:lnTo>
                  <a:pt x="1985788" y="1094356"/>
                </a:lnTo>
                <a:lnTo>
                  <a:pt x="1980172" y="1141480"/>
                </a:lnTo>
                <a:lnTo>
                  <a:pt x="1972400" y="1187906"/>
                </a:lnTo>
                <a:lnTo>
                  <a:pt x="1962525" y="1233581"/>
                </a:lnTo>
                <a:lnTo>
                  <a:pt x="1950597" y="1278452"/>
                </a:lnTo>
                <a:lnTo>
                  <a:pt x="1936670" y="1322469"/>
                </a:lnTo>
                <a:lnTo>
                  <a:pt x="1920795" y="1365577"/>
                </a:lnTo>
                <a:lnTo>
                  <a:pt x="1903024" y="1407725"/>
                </a:lnTo>
                <a:lnTo>
                  <a:pt x="1883411" y="1448860"/>
                </a:lnTo>
                <a:lnTo>
                  <a:pt x="1862006" y="1488931"/>
                </a:lnTo>
                <a:lnTo>
                  <a:pt x="1838862" y="1527885"/>
                </a:lnTo>
                <a:lnTo>
                  <a:pt x="1814031" y="1565670"/>
                </a:lnTo>
                <a:lnTo>
                  <a:pt x="1787565" y="1602233"/>
                </a:lnTo>
                <a:lnTo>
                  <a:pt x="1759516" y="1637522"/>
                </a:lnTo>
                <a:lnTo>
                  <a:pt x="1729936" y="1671485"/>
                </a:lnTo>
                <a:lnTo>
                  <a:pt x="1698878" y="1704070"/>
                </a:lnTo>
                <a:lnTo>
                  <a:pt x="1666394" y="1735223"/>
                </a:lnTo>
                <a:lnTo>
                  <a:pt x="1632535" y="1764894"/>
                </a:lnTo>
                <a:lnTo>
                  <a:pt x="1597354" y="1793030"/>
                </a:lnTo>
                <a:lnTo>
                  <a:pt x="1560903" y="1819578"/>
                </a:lnTo>
                <a:lnTo>
                  <a:pt x="1523234" y="1844486"/>
                </a:lnTo>
                <a:lnTo>
                  <a:pt x="1484399" y="1867702"/>
                </a:lnTo>
                <a:lnTo>
                  <a:pt x="1444451" y="1889173"/>
                </a:lnTo>
                <a:lnTo>
                  <a:pt x="1403440" y="1908848"/>
                </a:lnTo>
                <a:lnTo>
                  <a:pt x="1361420" y="1926674"/>
                </a:lnTo>
                <a:lnTo>
                  <a:pt x="1318443" y="1942598"/>
                </a:lnTo>
                <a:lnTo>
                  <a:pt x="1274560" y="1956569"/>
                </a:lnTo>
                <a:lnTo>
                  <a:pt x="1229825" y="1968534"/>
                </a:lnTo>
                <a:lnTo>
                  <a:pt x="1184288" y="1978440"/>
                </a:lnTo>
                <a:lnTo>
                  <a:pt x="1138002" y="1986237"/>
                </a:lnTo>
                <a:lnTo>
                  <a:pt x="1091019" y="1991870"/>
                </a:lnTo>
                <a:lnTo>
                  <a:pt x="1043392" y="1995288"/>
                </a:lnTo>
                <a:lnTo>
                  <a:pt x="995172" y="1996440"/>
                </a:lnTo>
                <a:lnTo>
                  <a:pt x="946951" y="1995288"/>
                </a:lnTo>
                <a:lnTo>
                  <a:pt x="899324" y="1991870"/>
                </a:lnTo>
                <a:lnTo>
                  <a:pt x="852341" y="1986237"/>
                </a:lnTo>
                <a:lnTo>
                  <a:pt x="806055" y="1978440"/>
                </a:lnTo>
                <a:lnTo>
                  <a:pt x="760518" y="1968534"/>
                </a:lnTo>
                <a:lnTo>
                  <a:pt x="715783" y="1956569"/>
                </a:lnTo>
                <a:lnTo>
                  <a:pt x="671900" y="1942598"/>
                </a:lnTo>
                <a:lnTo>
                  <a:pt x="628923" y="1926674"/>
                </a:lnTo>
                <a:lnTo>
                  <a:pt x="586903" y="1908848"/>
                </a:lnTo>
                <a:lnTo>
                  <a:pt x="545892" y="1889173"/>
                </a:lnTo>
                <a:lnTo>
                  <a:pt x="505944" y="1867702"/>
                </a:lnTo>
                <a:lnTo>
                  <a:pt x="467109" y="1844486"/>
                </a:lnTo>
                <a:lnTo>
                  <a:pt x="429440" y="1819578"/>
                </a:lnTo>
                <a:lnTo>
                  <a:pt x="392989" y="1793030"/>
                </a:lnTo>
                <a:lnTo>
                  <a:pt x="357808" y="1764894"/>
                </a:lnTo>
                <a:lnTo>
                  <a:pt x="323949" y="1735223"/>
                </a:lnTo>
                <a:lnTo>
                  <a:pt x="291464" y="1704070"/>
                </a:lnTo>
                <a:lnTo>
                  <a:pt x="260407" y="1671485"/>
                </a:lnTo>
                <a:lnTo>
                  <a:pt x="230827" y="1637522"/>
                </a:lnTo>
                <a:lnTo>
                  <a:pt x="202778" y="1602233"/>
                </a:lnTo>
                <a:lnTo>
                  <a:pt x="176312" y="1565670"/>
                </a:lnTo>
                <a:lnTo>
                  <a:pt x="151481" y="1527885"/>
                </a:lnTo>
                <a:lnTo>
                  <a:pt x="128337" y="1488931"/>
                </a:lnTo>
                <a:lnTo>
                  <a:pt x="106932" y="1448860"/>
                </a:lnTo>
                <a:lnTo>
                  <a:pt x="87319" y="1407725"/>
                </a:lnTo>
                <a:lnTo>
                  <a:pt x="69548" y="1365577"/>
                </a:lnTo>
                <a:lnTo>
                  <a:pt x="53673" y="1322469"/>
                </a:lnTo>
                <a:lnTo>
                  <a:pt x="39746" y="1278452"/>
                </a:lnTo>
                <a:lnTo>
                  <a:pt x="27818" y="1233581"/>
                </a:lnTo>
                <a:lnTo>
                  <a:pt x="17943" y="1187906"/>
                </a:lnTo>
                <a:lnTo>
                  <a:pt x="10171" y="1141480"/>
                </a:lnTo>
                <a:lnTo>
                  <a:pt x="4555" y="1094356"/>
                </a:lnTo>
                <a:lnTo>
                  <a:pt x="1147" y="1046585"/>
                </a:lnTo>
                <a:lnTo>
                  <a:pt x="0" y="998220"/>
                </a:lnTo>
                <a:close/>
              </a:path>
            </a:pathLst>
          </a:custGeom>
          <a:ln w="57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795516" y="2202179"/>
            <a:ext cx="984885" cy="201295"/>
          </a:xfrm>
          <a:prstGeom prst="rect">
            <a:avLst/>
          </a:prstGeom>
          <a:solidFill>
            <a:srgbClr val="FFFF99"/>
          </a:solidFill>
          <a:ln w="27432">
            <a:solidFill>
              <a:srgbClr val="CC33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61594">
              <a:lnSpc>
                <a:spcPct val="100000"/>
              </a:lnSpc>
              <a:spcBef>
                <a:spcPts val="120"/>
              </a:spcBef>
            </a:pPr>
            <a:r>
              <a:rPr sz="950" b="1" dirty="0">
                <a:latin typeface="Comic Sans MS"/>
                <a:cs typeface="Comic Sans MS"/>
              </a:rPr>
              <a:t>Conceptualize</a:t>
            </a:r>
            <a:endParaRPr sz="950">
              <a:latin typeface="Comic Sans MS"/>
              <a:cs typeface="Comic Sans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40395" y="2516123"/>
            <a:ext cx="783590" cy="219710"/>
          </a:xfrm>
          <a:custGeom>
            <a:avLst/>
            <a:gdLst/>
            <a:ahLst/>
            <a:cxnLst/>
            <a:rect l="l" t="t" r="r" b="b"/>
            <a:pathLst>
              <a:path w="783590" h="219710">
                <a:moveTo>
                  <a:pt x="783335" y="0"/>
                </a:moveTo>
                <a:lnTo>
                  <a:pt x="0" y="0"/>
                </a:lnTo>
                <a:lnTo>
                  <a:pt x="0" y="219456"/>
                </a:lnTo>
                <a:lnTo>
                  <a:pt x="783335" y="219456"/>
                </a:lnTo>
                <a:lnTo>
                  <a:pt x="783335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740395" y="2516123"/>
            <a:ext cx="783590" cy="219710"/>
          </a:xfrm>
          <a:prstGeom prst="rect">
            <a:avLst/>
          </a:prstGeom>
          <a:ln w="27432">
            <a:solidFill>
              <a:srgbClr val="CC33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144145">
              <a:lnSpc>
                <a:spcPct val="100000"/>
              </a:lnSpc>
              <a:spcBef>
                <a:spcPts val="125"/>
              </a:spcBef>
            </a:pPr>
            <a:r>
              <a:rPr sz="1050" b="1" spc="10" dirty="0">
                <a:latin typeface="Comic Sans MS"/>
                <a:cs typeface="Comic Sans MS"/>
              </a:rPr>
              <a:t>Specify</a:t>
            </a:r>
            <a:endParaRPr sz="105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4235" y="2991611"/>
            <a:ext cx="780415" cy="219710"/>
          </a:xfrm>
          <a:prstGeom prst="rect">
            <a:avLst/>
          </a:prstGeom>
          <a:solidFill>
            <a:srgbClr val="FFFF99"/>
          </a:solidFill>
          <a:ln w="27432">
            <a:solidFill>
              <a:srgbClr val="CC3300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130"/>
              </a:spcBef>
            </a:pPr>
            <a:r>
              <a:rPr sz="1050" b="1" spc="10" dirty="0">
                <a:latin typeface="Comic Sans MS"/>
                <a:cs typeface="Comic Sans MS"/>
              </a:rPr>
              <a:t>Design</a:t>
            </a:r>
            <a:endParaRPr sz="105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74507" y="3677411"/>
            <a:ext cx="783590" cy="219710"/>
          </a:xfrm>
          <a:prstGeom prst="rect">
            <a:avLst/>
          </a:prstGeom>
          <a:solidFill>
            <a:srgbClr val="FFFF99"/>
          </a:solidFill>
          <a:ln w="27432">
            <a:solidFill>
              <a:srgbClr val="CC33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235585">
              <a:lnSpc>
                <a:spcPct val="100000"/>
              </a:lnSpc>
              <a:spcBef>
                <a:spcPts val="135"/>
              </a:spcBef>
            </a:pPr>
            <a:r>
              <a:rPr sz="1050" b="1" spc="10" dirty="0">
                <a:latin typeface="Comic Sans MS"/>
                <a:cs typeface="Comic Sans MS"/>
              </a:rPr>
              <a:t>Code</a:t>
            </a:r>
            <a:endParaRPr sz="1050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90588" y="4094988"/>
            <a:ext cx="777240" cy="219710"/>
          </a:xfrm>
          <a:prstGeom prst="rect">
            <a:avLst/>
          </a:prstGeom>
          <a:solidFill>
            <a:srgbClr val="FFFF99"/>
          </a:solidFill>
          <a:ln w="27432">
            <a:solidFill>
              <a:srgbClr val="CC33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236854">
              <a:lnSpc>
                <a:spcPct val="100000"/>
              </a:lnSpc>
              <a:spcBef>
                <a:spcPts val="135"/>
              </a:spcBef>
            </a:pPr>
            <a:r>
              <a:rPr sz="1050" b="1" spc="10" dirty="0">
                <a:latin typeface="Comic Sans MS"/>
                <a:cs typeface="Comic Sans MS"/>
              </a:rPr>
              <a:t>Test</a:t>
            </a:r>
            <a:endParaRPr sz="1050">
              <a:latin typeface="Comic Sans MS"/>
              <a:cs typeface="Comic Sans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911596" y="3110483"/>
            <a:ext cx="783590" cy="219710"/>
          </a:xfrm>
          <a:custGeom>
            <a:avLst/>
            <a:gdLst/>
            <a:ahLst/>
            <a:cxnLst/>
            <a:rect l="l" t="t" r="r" b="b"/>
            <a:pathLst>
              <a:path w="783590" h="219710">
                <a:moveTo>
                  <a:pt x="783335" y="0"/>
                </a:moveTo>
                <a:lnTo>
                  <a:pt x="0" y="0"/>
                </a:lnTo>
                <a:lnTo>
                  <a:pt x="0" y="219456"/>
                </a:lnTo>
                <a:lnTo>
                  <a:pt x="783335" y="219456"/>
                </a:lnTo>
                <a:lnTo>
                  <a:pt x="783335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911596" y="3110483"/>
            <a:ext cx="783590" cy="219710"/>
          </a:xfrm>
          <a:prstGeom prst="rect">
            <a:avLst/>
          </a:prstGeom>
          <a:ln w="27432">
            <a:solidFill>
              <a:srgbClr val="CC3300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40"/>
              </a:spcBef>
            </a:pPr>
            <a:r>
              <a:rPr sz="1050" b="1" spc="15" dirty="0">
                <a:latin typeface="Comic Sans MS"/>
                <a:cs typeface="Comic Sans MS"/>
              </a:rPr>
              <a:t>Maintain</a:t>
            </a:r>
            <a:endParaRPr sz="1050">
              <a:latin typeface="Comic Sans MS"/>
              <a:cs typeface="Comic Sans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100571" y="2558795"/>
            <a:ext cx="780415" cy="219710"/>
          </a:xfrm>
          <a:custGeom>
            <a:avLst/>
            <a:gdLst/>
            <a:ahLst/>
            <a:cxnLst/>
            <a:rect l="l" t="t" r="r" b="b"/>
            <a:pathLst>
              <a:path w="780415" h="219710">
                <a:moveTo>
                  <a:pt x="780287" y="0"/>
                </a:moveTo>
                <a:lnTo>
                  <a:pt x="0" y="0"/>
                </a:lnTo>
                <a:lnTo>
                  <a:pt x="0" y="219456"/>
                </a:lnTo>
                <a:lnTo>
                  <a:pt x="780287" y="219456"/>
                </a:lnTo>
                <a:lnTo>
                  <a:pt x="780287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100571" y="2558795"/>
            <a:ext cx="780415" cy="219710"/>
          </a:xfrm>
          <a:prstGeom prst="rect">
            <a:avLst/>
          </a:prstGeom>
          <a:ln w="27432">
            <a:solidFill>
              <a:srgbClr val="CC33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185420">
              <a:lnSpc>
                <a:spcPct val="100000"/>
              </a:lnSpc>
              <a:spcBef>
                <a:spcPts val="125"/>
              </a:spcBef>
            </a:pPr>
            <a:r>
              <a:rPr sz="1050" b="1" spc="10" dirty="0">
                <a:latin typeface="Comic Sans MS"/>
                <a:cs typeface="Comic Sans MS"/>
              </a:rPr>
              <a:t>Retire</a:t>
            </a:r>
            <a:endParaRPr sz="1050">
              <a:latin typeface="Comic Sans MS"/>
              <a:cs typeface="Comic Sans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131052" y="3704844"/>
            <a:ext cx="777240" cy="219710"/>
          </a:xfrm>
          <a:custGeom>
            <a:avLst/>
            <a:gdLst/>
            <a:ahLst/>
            <a:cxnLst/>
            <a:rect l="l" t="t" r="r" b="b"/>
            <a:pathLst>
              <a:path w="777240" h="219710">
                <a:moveTo>
                  <a:pt x="777240" y="0"/>
                </a:moveTo>
                <a:lnTo>
                  <a:pt x="0" y="0"/>
                </a:lnTo>
                <a:lnTo>
                  <a:pt x="0" y="219455"/>
                </a:lnTo>
                <a:lnTo>
                  <a:pt x="777240" y="219455"/>
                </a:lnTo>
                <a:lnTo>
                  <a:pt x="77724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131052" y="3704844"/>
            <a:ext cx="777240" cy="219710"/>
          </a:xfrm>
          <a:prstGeom prst="rect">
            <a:avLst/>
          </a:prstGeom>
          <a:ln w="27432">
            <a:solidFill>
              <a:srgbClr val="CC33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157480">
              <a:lnSpc>
                <a:spcPct val="100000"/>
              </a:lnSpc>
              <a:spcBef>
                <a:spcPts val="145"/>
              </a:spcBef>
            </a:pPr>
            <a:r>
              <a:rPr sz="1050" b="1" spc="5" dirty="0">
                <a:latin typeface="Comic Sans MS"/>
                <a:cs typeface="Comic Sans MS"/>
              </a:rPr>
              <a:t>Deliver</a:t>
            </a:r>
            <a:endParaRPr sz="1050">
              <a:latin typeface="Comic Sans MS"/>
              <a:cs typeface="Comic Sans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120384" y="2039111"/>
            <a:ext cx="2313940" cy="2113915"/>
            <a:chOff x="6120384" y="2039111"/>
            <a:chExt cx="2313940" cy="2113915"/>
          </a:xfrm>
        </p:grpSpPr>
        <p:sp>
          <p:nvSpPr>
            <p:cNvPr id="19" name="object 19"/>
            <p:cNvSpPr/>
            <p:nvPr/>
          </p:nvSpPr>
          <p:spPr>
            <a:xfrm>
              <a:off x="6120384" y="2039111"/>
              <a:ext cx="661670" cy="518159"/>
            </a:xfrm>
            <a:custGeom>
              <a:avLst/>
              <a:gdLst/>
              <a:ahLst/>
              <a:cxnLst/>
              <a:rect l="l" t="t" r="r" b="b"/>
              <a:pathLst>
                <a:path w="661670" h="518160">
                  <a:moveTo>
                    <a:pt x="661415" y="0"/>
                  </a:moveTo>
                  <a:lnTo>
                    <a:pt x="0" y="0"/>
                  </a:lnTo>
                  <a:lnTo>
                    <a:pt x="0" y="518160"/>
                  </a:lnTo>
                  <a:lnTo>
                    <a:pt x="661415" y="518160"/>
                  </a:lnTo>
                  <a:lnTo>
                    <a:pt x="661415" y="0"/>
                  </a:lnTo>
                  <a:close/>
                </a:path>
              </a:pathLst>
            </a:custGeom>
            <a:solidFill>
              <a:srgbClr val="F5E4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301359" y="2270759"/>
              <a:ext cx="2132965" cy="1882139"/>
            </a:xfrm>
            <a:custGeom>
              <a:avLst/>
              <a:gdLst/>
              <a:ahLst/>
              <a:cxnLst/>
              <a:rect l="l" t="t" r="r" b="b"/>
              <a:pathLst>
                <a:path w="2132965" h="1882139">
                  <a:moveTo>
                    <a:pt x="169291" y="815213"/>
                  </a:moveTo>
                  <a:lnTo>
                    <a:pt x="149733" y="513588"/>
                  </a:lnTo>
                  <a:lnTo>
                    <a:pt x="0" y="776224"/>
                  </a:lnTo>
                  <a:lnTo>
                    <a:pt x="169291" y="815213"/>
                  </a:lnTo>
                  <a:close/>
                </a:path>
                <a:path w="2132965" h="1882139">
                  <a:moveTo>
                    <a:pt x="202819" y="1291336"/>
                  </a:moveTo>
                  <a:lnTo>
                    <a:pt x="70485" y="1019556"/>
                  </a:lnTo>
                  <a:lnTo>
                    <a:pt x="31369" y="1319276"/>
                  </a:lnTo>
                  <a:lnTo>
                    <a:pt x="202819" y="1291336"/>
                  </a:lnTo>
                  <a:close/>
                </a:path>
                <a:path w="2132965" h="1882139">
                  <a:moveTo>
                    <a:pt x="585597" y="1740979"/>
                  </a:moveTo>
                  <a:lnTo>
                    <a:pt x="311264" y="1613916"/>
                  </a:lnTo>
                  <a:lnTo>
                    <a:pt x="470408" y="1870989"/>
                  </a:lnTo>
                  <a:lnTo>
                    <a:pt x="585597" y="1740979"/>
                  </a:lnTo>
                  <a:close/>
                </a:path>
                <a:path w="2132965" h="1882139">
                  <a:moveTo>
                    <a:pt x="1756918" y="1798307"/>
                  </a:moveTo>
                  <a:lnTo>
                    <a:pt x="1662811" y="1652270"/>
                  </a:lnTo>
                  <a:lnTo>
                    <a:pt x="1466469" y="1882140"/>
                  </a:lnTo>
                  <a:lnTo>
                    <a:pt x="1756918" y="1798307"/>
                  </a:lnTo>
                  <a:close/>
                </a:path>
                <a:path w="2132965" h="1882139">
                  <a:moveTo>
                    <a:pt x="1789557" y="245364"/>
                  </a:moveTo>
                  <a:lnTo>
                    <a:pt x="1613027" y="0"/>
                  </a:lnTo>
                  <a:lnTo>
                    <a:pt x="1507109" y="137668"/>
                  </a:lnTo>
                  <a:lnTo>
                    <a:pt x="1789557" y="245364"/>
                  </a:lnTo>
                  <a:close/>
                </a:path>
                <a:path w="2132965" h="1882139">
                  <a:moveTo>
                    <a:pt x="2066544" y="420370"/>
                  </a:moveTo>
                  <a:lnTo>
                    <a:pt x="1895602" y="451739"/>
                  </a:lnTo>
                  <a:lnTo>
                    <a:pt x="2033397" y="720852"/>
                  </a:lnTo>
                  <a:lnTo>
                    <a:pt x="2066544" y="420370"/>
                  </a:lnTo>
                  <a:close/>
                </a:path>
                <a:path w="2132965" h="1882139">
                  <a:moveTo>
                    <a:pt x="2132457" y="1164844"/>
                  </a:moveTo>
                  <a:lnTo>
                    <a:pt x="1969389" y="1104900"/>
                  </a:lnTo>
                  <a:lnTo>
                    <a:pt x="1951101" y="1406652"/>
                  </a:lnTo>
                  <a:lnTo>
                    <a:pt x="2132457" y="11648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407907" y="4831562"/>
            <a:ext cx="22860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18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1813" y="493598"/>
            <a:ext cx="3625850" cy="4394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700" dirty="0"/>
              <a:t>Classical</a:t>
            </a:r>
            <a:r>
              <a:rPr sz="2700" spc="-35" dirty="0"/>
              <a:t> </a:t>
            </a:r>
            <a:r>
              <a:rPr sz="2700" spc="-20" dirty="0"/>
              <a:t>Waterfall</a:t>
            </a:r>
            <a:r>
              <a:rPr sz="2700" spc="-35" dirty="0"/>
              <a:t> </a:t>
            </a:r>
            <a:r>
              <a:rPr sz="2700" spc="5" dirty="0"/>
              <a:t>Model</a:t>
            </a:r>
            <a:endParaRPr sz="2700"/>
          </a:p>
        </p:txBody>
      </p:sp>
      <p:grpSp>
        <p:nvGrpSpPr>
          <p:cNvPr id="3" name="object 3"/>
          <p:cNvGrpSpPr/>
          <p:nvPr/>
        </p:nvGrpSpPr>
        <p:grpSpPr>
          <a:xfrm>
            <a:off x="362521" y="572833"/>
            <a:ext cx="3103245" cy="1180465"/>
            <a:chOff x="362521" y="572833"/>
            <a:chExt cx="3103245" cy="1180465"/>
          </a:xfrm>
        </p:grpSpPr>
        <p:sp>
          <p:nvSpPr>
            <p:cNvPr id="4" name="object 4"/>
            <p:cNvSpPr/>
            <p:nvPr/>
          </p:nvSpPr>
          <p:spPr>
            <a:xfrm>
              <a:off x="382524" y="592835"/>
              <a:ext cx="2289175" cy="363220"/>
            </a:xfrm>
            <a:custGeom>
              <a:avLst/>
              <a:gdLst/>
              <a:ahLst/>
              <a:cxnLst/>
              <a:rect l="l" t="t" r="r" b="b"/>
              <a:pathLst>
                <a:path w="2289175" h="363219">
                  <a:moveTo>
                    <a:pt x="2289048" y="0"/>
                  </a:moveTo>
                  <a:lnTo>
                    <a:pt x="0" y="0"/>
                  </a:lnTo>
                  <a:lnTo>
                    <a:pt x="0" y="362712"/>
                  </a:lnTo>
                  <a:lnTo>
                    <a:pt x="2289048" y="362712"/>
                  </a:lnTo>
                  <a:lnTo>
                    <a:pt x="2289048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2524" y="592835"/>
              <a:ext cx="2289175" cy="363220"/>
            </a:xfrm>
            <a:custGeom>
              <a:avLst/>
              <a:gdLst/>
              <a:ahLst/>
              <a:cxnLst/>
              <a:rect l="l" t="t" r="r" b="b"/>
              <a:pathLst>
                <a:path w="2289175" h="363219">
                  <a:moveTo>
                    <a:pt x="0" y="362712"/>
                  </a:moveTo>
                  <a:lnTo>
                    <a:pt x="2289048" y="362712"/>
                  </a:lnTo>
                  <a:lnTo>
                    <a:pt x="2289048" y="0"/>
                  </a:lnTo>
                  <a:lnTo>
                    <a:pt x="0" y="0"/>
                  </a:lnTo>
                  <a:lnTo>
                    <a:pt x="0" y="362712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99387" y="1324355"/>
              <a:ext cx="2246630" cy="408940"/>
            </a:xfrm>
            <a:custGeom>
              <a:avLst/>
              <a:gdLst/>
              <a:ahLst/>
              <a:cxnLst/>
              <a:rect l="l" t="t" r="r" b="b"/>
              <a:pathLst>
                <a:path w="2246629" h="408939">
                  <a:moveTo>
                    <a:pt x="2246376" y="0"/>
                  </a:moveTo>
                  <a:lnTo>
                    <a:pt x="0" y="0"/>
                  </a:lnTo>
                  <a:lnTo>
                    <a:pt x="0" y="408432"/>
                  </a:lnTo>
                  <a:lnTo>
                    <a:pt x="2246376" y="408432"/>
                  </a:lnTo>
                  <a:lnTo>
                    <a:pt x="224637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99387" y="1324355"/>
              <a:ext cx="2246630" cy="408940"/>
            </a:xfrm>
            <a:custGeom>
              <a:avLst/>
              <a:gdLst/>
              <a:ahLst/>
              <a:cxnLst/>
              <a:rect l="l" t="t" r="r" b="b"/>
              <a:pathLst>
                <a:path w="2246629" h="408939">
                  <a:moveTo>
                    <a:pt x="0" y="408432"/>
                  </a:moveTo>
                  <a:lnTo>
                    <a:pt x="2246376" y="408432"/>
                  </a:lnTo>
                  <a:lnTo>
                    <a:pt x="2246376" y="0"/>
                  </a:lnTo>
                  <a:lnTo>
                    <a:pt x="0" y="0"/>
                  </a:lnTo>
                  <a:lnTo>
                    <a:pt x="0" y="408432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89584" y="561593"/>
            <a:ext cx="2693670" cy="10610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b="1" spc="10" dirty="0">
                <a:latin typeface="Comic Sans MS"/>
                <a:cs typeface="Comic Sans MS"/>
              </a:rPr>
              <a:t>Feasibility</a:t>
            </a:r>
            <a:r>
              <a:rPr sz="1750" b="1" spc="-65" dirty="0">
                <a:latin typeface="Comic Sans MS"/>
                <a:cs typeface="Comic Sans MS"/>
              </a:rPr>
              <a:t> </a:t>
            </a:r>
            <a:r>
              <a:rPr sz="1750" b="1" spc="5" dirty="0">
                <a:latin typeface="Comic Sans MS"/>
                <a:cs typeface="Comic Sans MS"/>
              </a:rPr>
              <a:t>Study</a:t>
            </a:r>
            <a:endParaRPr sz="175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550">
              <a:latin typeface="Comic Sans MS"/>
              <a:cs typeface="Comic Sans MS"/>
            </a:endParaRPr>
          </a:p>
          <a:p>
            <a:pPr marL="781685">
              <a:lnSpc>
                <a:spcPct val="100000"/>
              </a:lnSpc>
              <a:tabLst>
                <a:tab pos="1676400" algn="l"/>
              </a:tabLst>
            </a:pPr>
            <a:r>
              <a:rPr sz="2050" b="1" spc="-10" dirty="0">
                <a:latin typeface="Comic Sans MS"/>
                <a:cs typeface="Comic Sans MS"/>
              </a:rPr>
              <a:t>Req.	</a:t>
            </a:r>
            <a:r>
              <a:rPr sz="2050" b="1" spc="-15" dirty="0">
                <a:latin typeface="Comic Sans MS"/>
                <a:cs typeface="Comic Sans MS"/>
              </a:rPr>
              <a:t>Analysis</a:t>
            </a:r>
            <a:endParaRPr sz="2050">
              <a:latin typeface="Comic Sans MS"/>
              <a:cs typeface="Comic Sans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86521" y="1907857"/>
            <a:ext cx="2286635" cy="448945"/>
            <a:chOff x="1886521" y="1907857"/>
            <a:chExt cx="2286635" cy="448945"/>
          </a:xfrm>
        </p:grpSpPr>
        <p:sp>
          <p:nvSpPr>
            <p:cNvPr id="10" name="object 10"/>
            <p:cNvSpPr/>
            <p:nvPr/>
          </p:nvSpPr>
          <p:spPr>
            <a:xfrm>
              <a:off x="1906523" y="1927859"/>
              <a:ext cx="2246630" cy="408940"/>
            </a:xfrm>
            <a:custGeom>
              <a:avLst/>
              <a:gdLst/>
              <a:ahLst/>
              <a:cxnLst/>
              <a:rect l="l" t="t" r="r" b="b"/>
              <a:pathLst>
                <a:path w="2246629" h="408939">
                  <a:moveTo>
                    <a:pt x="2246376" y="0"/>
                  </a:moveTo>
                  <a:lnTo>
                    <a:pt x="0" y="0"/>
                  </a:lnTo>
                  <a:lnTo>
                    <a:pt x="0" y="408431"/>
                  </a:lnTo>
                  <a:lnTo>
                    <a:pt x="2246376" y="408431"/>
                  </a:lnTo>
                  <a:lnTo>
                    <a:pt x="224637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06523" y="1927859"/>
              <a:ext cx="2246630" cy="408940"/>
            </a:xfrm>
            <a:custGeom>
              <a:avLst/>
              <a:gdLst/>
              <a:ahLst/>
              <a:cxnLst/>
              <a:rect l="l" t="t" r="r" b="b"/>
              <a:pathLst>
                <a:path w="2246629" h="408939">
                  <a:moveTo>
                    <a:pt x="0" y="408431"/>
                  </a:moveTo>
                  <a:lnTo>
                    <a:pt x="2246376" y="408431"/>
                  </a:lnTo>
                  <a:lnTo>
                    <a:pt x="2246376" y="0"/>
                  </a:lnTo>
                  <a:lnTo>
                    <a:pt x="0" y="0"/>
                  </a:lnTo>
                  <a:lnTo>
                    <a:pt x="0" y="408431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728976" y="1888363"/>
            <a:ext cx="82804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b="1" spc="-20" dirty="0">
                <a:latin typeface="Comic Sans MS"/>
                <a:cs typeface="Comic Sans MS"/>
              </a:rPr>
              <a:t>D</a:t>
            </a:r>
            <a:r>
              <a:rPr sz="2050" b="1" dirty="0">
                <a:latin typeface="Comic Sans MS"/>
                <a:cs typeface="Comic Sans MS"/>
              </a:rPr>
              <a:t>e</a:t>
            </a:r>
            <a:r>
              <a:rPr sz="2050" b="1" spc="-15" dirty="0">
                <a:latin typeface="Comic Sans MS"/>
                <a:cs typeface="Comic Sans MS"/>
              </a:rPr>
              <a:t>s</a:t>
            </a:r>
            <a:r>
              <a:rPr sz="2050" b="1" spc="-10" dirty="0">
                <a:latin typeface="Comic Sans MS"/>
                <a:cs typeface="Comic Sans MS"/>
              </a:rPr>
              <a:t>ign</a:t>
            </a:r>
            <a:endParaRPr sz="2050">
              <a:latin typeface="Comic Sans MS"/>
              <a:cs typeface="Comic Sans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706433" y="2535745"/>
            <a:ext cx="4124325" cy="1704339"/>
            <a:chOff x="2706433" y="2535745"/>
            <a:chExt cx="4124325" cy="1704339"/>
          </a:xfrm>
        </p:grpSpPr>
        <p:sp>
          <p:nvSpPr>
            <p:cNvPr id="14" name="object 14"/>
            <p:cNvSpPr/>
            <p:nvPr/>
          </p:nvSpPr>
          <p:spPr>
            <a:xfrm>
              <a:off x="2726435" y="2555747"/>
              <a:ext cx="2246630" cy="408940"/>
            </a:xfrm>
            <a:custGeom>
              <a:avLst/>
              <a:gdLst/>
              <a:ahLst/>
              <a:cxnLst/>
              <a:rect l="l" t="t" r="r" b="b"/>
              <a:pathLst>
                <a:path w="2246629" h="408939">
                  <a:moveTo>
                    <a:pt x="2246376" y="0"/>
                  </a:moveTo>
                  <a:lnTo>
                    <a:pt x="0" y="0"/>
                  </a:lnTo>
                  <a:lnTo>
                    <a:pt x="0" y="408431"/>
                  </a:lnTo>
                  <a:lnTo>
                    <a:pt x="2246376" y="408431"/>
                  </a:lnTo>
                  <a:lnTo>
                    <a:pt x="224637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26435" y="2555747"/>
              <a:ext cx="2246630" cy="408940"/>
            </a:xfrm>
            <a:custGeom>
              <a:avLst/>
              <a:gdLst/>
              <a:ahLst/>
              <a:cxnLst/>
              <a:rect l="l" t="t" r="r" b="b"/>
              <a:pathLst>
                <a:path w="2246629" h="408939">
                  <a:moveTo>
                    <a:pt x="0" y="408431"/>
                  </a:moveTo>
                  <a:lnTo>
                    <a:pt x="2246376" y="408431"/>
                  </a:lnTo>
                  <a:lnTo>
                    <a:pt x="2246376" y="0"/>
                  </a:lnTo>
                  <a:lnTo>
                    <a:pt x="0" y="0"/>
                  </a:lnTo>
                  <a:lnTo>
                    <a:pt x="0" y="408431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98163" y="3183635"/>
              <a:ext cx="2246630" cy="408940"/>
            </a:xfrm>
            <a:custGeom>
              <a:avLst/>
              <a:gdLst/>
              <a:ahLst/>
              <a:cxnLst/>
              <a:rect l="l" t="t" r="r" b="b"/>
              <a:pathLst>
                <a:path w="2246629" h="408939">
                  <a:moveTo>
                    <a:pt x="2246376" y="0"/>
                  </a:moveTo>
                  <a:lnTo>
                    <a:pt x="0" y="0"/>
                  </a:lnTo>
                  <a:lnTo>
                    <a:pt x="0" y="408431"/>
                  </a:lnTo>
                  <a:lnTo>
                    <a:pt x="2246376" y="408431"/>
                  </a:lnTo>
                  <a:lnTo>
                    <a:pt x="224637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598163" y="3183635"/>
              <a:ext cx="2246630" cy="408940"/>
            </a:xfrm>
            <a:custGeom>
              <a:avLst/>
              <a:gdLst/>
              <a:ahLst/>
              <a:cxnLst/>
              <a:rect l="l" t="t" r="r" b="b"/>
              <a:pathLst>
                <a:path w="2246629" h="408939">
                  <a:moveTo>
                    <a:pt x="0" y="408431"/>
                  </a:moveTo>
                  <a:lnTo>
                    <a:pt x="2246376" y="408431"/>
                  </a:lnTo>
                  <a:lnTo>
                    <a:pt x="2246376" y="0"/>
                  </a:lnTo>
                  <a:lnTo>
                    <a:pt x="0" y="0"/>
                  </a:lnTo>
                  <a:lnTo>
                    <a:pt x="0" y="408431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64379" y="3811523"/>
              <a:ext cx="2246630" cy="408940"/>
            </a:xfrm>
            <a:custGeom>
              <a:avLst/>
              <a:gdLst/>
              <a:ahLst/>
              <a:cxnLst/>
              <a:rect l="l" t="t" r="r" b="b"/>
              <a:pathLst>
                <a:path w="2246629" h="408939">
                  <a:moveTo>
                    <a:pt x="2246376" y="0"/>
                  </a:moveTo>
                  <a:lnTo>
                    <a:pt x="0" y="0"/>
                  </a:lnTo>
                  <a:lnTo>
                    <a:pt x="0" y="408431"/>
                  </a:lnTo>
                  <a:lnTo>
                    <a:pt x="2246376" y="408431"/>
                  </a:lnTo>
                  <a:lnTo>
                    <a:pt x="224637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64379" y="3811523"/>
              <a:ext cx="2246630" cy="408940"/>
            </a:xfrm>
            <a:custGeom>
              <a:avLst/>
              <a:gdLst/>
              <a:ahLst/>
              <a:cxnLst/>
              <a:rect l="l" t="t" r="r" b="b"/>
              <a:pathLst>
                <a:path w="2246629" h="408939">
                  <a:moveTo>
                    <a:pt x="0" y="408431"/>
                  </a:moveTo>
                  <a:lnTo>
                    <a:pt x="2246376" y="408431"/>
                  </a:lnTo>
                  <a:lnTo>
                    <a:pt x="2246376" y="0"/>
                  </a:lnTo>
                  <a:lnTo>
                    <a:pt x="0" y="0"/>
                  </a:lnTo>
                  <a:lnTo>
                    <a:pt x="0" y="408431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436365" y="2518410"/>
            <a:ext cx="3257550" cy="15932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b="1" spc="-10" dirty="0">
                <a:latin typeface="Comic Sans MS"/>
                <a:cs typeface="Comic Sans MS"/>
              </a:rPr>
              <a:t>Coding</a:t>
            </a:r>
            <a:endParaRPr sz="2050">
              <a:latin typeface="Comic Sans MS"/>
              <a:cs typeface="Comic Sans MS"/>
            </a:endParaRPr>
          </a:p>
          <a:p>
            <a:pPr marL="939165">
              <a:lnSpc>
                <a:spcPct val="100000"/>
              </a:lnSpc>
              <a:spcBef>
                <a:spcPts val="2485"/>
              </a:spcBef>
            </a:pPr>
            <a:r>
              <a:rPr sz="2050" b="1" spc="-10" dirty="0">
                <a:latin typeface="Comic Sans MS"/>
                <a:cs typeface="Comic Sans MS"/>
              </a:rPr>
              <a:t>Testing</a:t>
            </a:r>
            <a:endParaRPr sz="2050">
              <a:latin typeface="Comic Sans MS"/>
              <a:cs typeface="Comic Sans MS"/>
            </a:endParaRPr>
          </a:p>
          <a:p>
            <a:pPr marL="1706880">
              <a:lnSpc>
                <a:spcPct val="100000"/>
              </a:lnSpc>
              <a:spcBef>
                <a:spcPts val="2490"/>
              </a:spcBef>
            </a:pPr>
            <a:r>
              <a:rPr sz="2050" b="1" spc="-10" dirty="0">
                <a:latin typeface="Comic Sans MS"/>
                <a:cs typeface="Comic Sans MS"/>
              </a:rPr>
              <a:t>M</a:t>
            </a:r>
            <a:r>
              <a:rPr sz="2050" b="1" spc="-15" dirty="0">
                <a:latin typeface="Comic Sans MS"/>
                <a:cs typeface="Comic Sans MS"/>
              </a:rPr>
              <a:t>a</a:t>
            </a:r>
            <a:r>
              <a:rPr sz="2050" b="1" spc="-10" dirty="0">
                <a:latin typeface="Comic Sans MS"/>
                <a:cs typeface="Comic Sans MS"/>
              </a:rPr>
              <a:t>i</a:t>
            </a:r>
            <a:r>
              <a:rPr sz="2050" b="1" spc="-15" dirty="0">
                <a:latin typeface="Comic Sans MS"/>
                <a:cs typeface="Comic Sans MS"/>
              </a:rPr>
              <a:t>n</a:t>
            </a:r>
            <a:r>
              <a:rPr sz="2050" b="1" spc="-10" dirty="0">
                <a:latin typeface="Comic Sans MS"/>
                <a:cs typeface="Comic Sans MS"/>
              </a:rPr>
              <a:t>t</a:t>
            </a:r>
            <a:r>
              <a:rPr sz="2050" b="1" dirty="0">
                <a:latin typeface="Comic Sans MS"/>
                <a:cs typeface="Comic Sans MS"/>
              </a:rPr>
              <a:t>e</a:t>
            </a:r>
            <a:r>
              <a:rPr sz="2050" b="1" spc="-20" dirty="0">
                <a:latin typeface="Comic Sans MS"/>
                <a:cs typeface="Comic Sans MS"/>
              </a:rPr>
              <a:t>n</a:t>
            </a:r>
            <a:r>
              <a:rPr sz="2050" b="1" spc="-15" dirty="0">
                <a:latin typeface="Comic Sans MS"/>
                <a:cs typeface="Comic Sans MS"/>
              </a:rPr>
              <a:t>a</a:t>
            </a:r>
            <a:r>
              <a:rPr sz="2050" b="1" spc="-20" dirty="0">
                <a:latin typeface="Comic Sans MS"/>
                <a:cs typeface="Comic Sans MS"/>
              </a:rPr>
              <a:t>n</a:t>
            </a:r>
            <a:r>
              <a:rPr sz="2050" b="1" spc="-5" dirty="0">
                <a:latin typeface="Comic Sans MS"/>
                <a:cs typeface="Comic Sans MS"/>
              </a:rPr>
              <a:t>ce</a:t>
            </a:r>
            <a:endParaRPr sz="2050">
              <a:latin typeface="Comic Sans MS"/>
              <a:cs typeface="Comic Sans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657855" y="807719"/>
            <a:ext cx="3571875" cy="3004185"/>
            <a:chOff x="2657855" y="807719"/>
            <a:chExt cx="3571875" cy="3004185"/>
          </a:xfrm>
        </p:grpSpPr>
        <p:sp>
          <p:nvSpPr>
            <p:cNvPr id="22" name="object 22"/>
            <p:cNvSpPr/>
            <p:nvPr/>
          </p:nvSpPr>
          <p:spPr>
            <a:xfrm>
              <a:off x="2677667" y="827531"/>
              <a:ext cx="280670" cy="3175"/>
            </a:xfrm>
            <a:custGeom>
              <a:avLst/>
              <a:gdLst/>
              <a:ahLst/>
              <a:cxnLst/>
              <a:rect l="l" t="t" r="r" b="b"/>
              <a:pathLst>
                <a:path w="280669" h="3175">
                  <a:moveTo>
                    <a:pt x="-19812" y="1523"/>
                  </a:moveTo>
                  <a:lnTo>
                    <a:pt x="300227" y="1523"/>
                  </a:lnTo>
                </a:path>
              </a:pathLst>
            </a:custGeom>
            <a:ln w="42671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897885" y="827404"/>
              <a:ext cx="119380" cy="473075"/>
            </a:xfrm>
            <a:custGeom>
              <a:avLst/>
              <a:gdLst/>
              <a:ahLst/>
              <a:cxnLst/>
              <a:rect l="l" t="t" r="r" b="b"/>
              <a:pathLst>
                <a:path w="119380" h="473075">
                  <a:moveTo>
                    <a:pt x="39622" y="353822"/>
                  </a:moveTo>
                  <a:lnTo>
                    <a:pt x="0" y="354076"/>
                  </a:lnTo>
                  <a:lnTo>
                    <a:pt x="60197" y="472567"/>
                  </a:lnTo>
                  <a:lnTo>
                    <a:pt x="108874" y="373634"/>
                  </a:lnTo>
                  <a:lnTo>
                    <a:pt x="39750" y="373634"/>
                  </a:lnTo>
                  <a:lnTo>
                    <a:pt x="39622" y="353822"/>
                  </a:lnTo>
                  <a:close/>
                </a:path>
                <a:path w="119380" h="473075">
                  <a:moveTo>
                    <a:pt x="79246" y="353568"/>
                  </a:moveTo>
                  <a:lnTo>
                    <a:pt x="39622" y="353822"/>
                  </a:lnTo>
                  <a:lnTo>
                    <a:pt x="39750" y="373634"/>
                  </a:lnTo>
                  <a:lnTo>
                    <a:pt x="79375" y="373380"/>
                  </a:lnTo>
                  <a:lnTo>
                    <a:pt x="79246" y="353568"/>
                  </a:lnTo>
                  <a:close/>
                </a:path>
                <a:path w="119380" h="473075">
                  <a:moveTo>
                    <a:pt x="118871" y="353314"/>
                  </a:moveTo>
                  <a:lnTo>
                    <a:pt x="79246" y="353568"/>
                  </a:lnTo>
                  <a:lnTo>
                    <a:pt x="79375" y="373380"/>
                  </a:lnTo>
                  <a:lnTo>
                    <a:pt x="39750" y="373634"/>
                  </a:lnTo>
                  <a:lnTo>
                    <a:pt x="108874" y="373634"/>
                  </a:lnTo>
                  <a:lnTo>
                    <a:pt x="118871" y="353314"/>
                  </a:lnTo>
                  <a:close/>
                </a:path>
                <a:path w="119380" h="473075">
                  <a:moveTo>
                    <a:pt x="76962" y="0"/>
                  </a:moveTo>
                  <a:lnTo>
                    <a:pt x="37337" y="254"/>
                  </a:lnTo>
                  <a:lnTo>
                    <a:pt x="39622" y="353822"/>
                  </a:lnTo>
                  <a:lnTo>
                    <a:pt x="79246" y="353568"/>
                  </a:lnTo>
                  <a:lnTo>
                    <a:pt x="76962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436619" y="1534667"/>
              <a:ext cx="280670" cy="0"/>
            </a:xfrm>
            <a:custGeom>
              <a:avLst/>
              <a:gdLst/>
              <a:ahLst/>
              <a:cxnLst/>
              <a:rect l="l" t="t" r="r" b="b"/>
              <a:pathLst>
                <a:path w="280670">
                  <a:moveTo>
                    <a:pt x="0" y="0"/>
                  </a:moveTo>
                  <a:lnTo>
                    <a:pt x="280415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621023" y="1534667"/>
              <a:ext cx="119380" cy="393700"/>
            </a:xfrm>
            <a:custGeom>
              <a:avLst/>
              <a:gdLst/>
              <a:ahLst/>
              <a:cxnLst/>
              <a:rect l="l" t="t" r="r" b="b"/>
              <a:pathLst>
                <a:path w="119379" h="393700">
                  <a:moveTo>
                    <a:pt x="39624" y="274319"/>
                  </a:moveTo>
                  <a:lnTo>
                    <a:pt x="0" y="274319"/>
                  </a:lnTo>
                  <a:lnTo>
                    <a:pt x="59436" y="393191"/>
                  </a:lnTo>
                  <a:lnTo>
                    <a:pt x="108966" y="294131"/>
                  </a:lnTo>
                  <a:lnTo>
                    <a:pt x="39624" y="294131"/>
                  </a:lnTo>
                  <a:lnTo>
                    <a:pt x="39624" y="274319"/>
                  </a:lnTo>
                  <a:close/>
                </a:path>
                <a:path w="119379" h="393700">
                  <a:moveTo>
                    <a:pt x="79248" y="0"/>
                  </a:moveTo>
                  <a:lnTo>
                    <a:pt x="39624" y="0"/>
                  </a:lnTo>
                  <a:lnTo>
                    <a:pt x="39624" y="294131"/>
                  </a:lnTo>
                  <a:lnTo>
                    <a:pt x="79248" y="294131"/>
                  </a:lnTo>
                  <a:lnTo>
                    <a:pt x="79248" y="0"/>
                  </a:lnTo>
                  <a:close/>
                </a:path>
                <a:path w="119379" h="393700">
                  <a:moveTo>
                    <a:pt x="118872" y="274319"/>
                  </a:moveTo>
                  <a:lnTo>
                    <a:pt x="79248" y="274319"/>
                  </a:lnTo>
                  <a:lnTo>
                    <a:pt x="79248" y="294131"/>
                  </a:lnTo>
                  <a:lnTo>
                    <a:pt x="108966" y="294131"/>
                  </a:lnTo>
                  <a:lnTo>
                    <a:pt x="118872" y="274319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162044" y="2162555"/>
              <a:ext cx="280670" cy="3175"/>
            </a:xfrm>
            <a:custGeom>
              <a:avLst/>
              <a:gdLst/>
              <a:ahLst/>
              <a:cxnLst/>
              <a:rect l="l" t="t" r="r" b="b"/>
              <a:pathLst>
                <a:path w="280670" h="3175">
                  <a:moveTo>
                    <a:pt x="-19812" y="1524"/>
                  </a:moveTo>
                  <a:lnTo>
                    <a:pt x="300227" y="1524"/>
                  </a:lnTo>
                </a:path>
              </a:pathLst>
            </a:custGeom>
            <a:ln w="42672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43400" y="2162555"/>
              <a:ext cx="119380" cy="393700"/>
            </a:xfrm>
            <a:custGeom>
              <a:avLst/>
              <a:gdLst/>
              <a:ahLst/>
              <a:cxnLst/>
              <a:rect l="l" t="t" r="r" b="b"/>
              <a:pathLst>
                <a:path w="119379" h="393700">
                  <a:moveTo>
                    <a:pt x="39624" y="274319"/>
                  </a:moveTo>
                  <a:lnTo>
                    <a:pt x="0" y="274319"/>
                  </a:lnTo>
                  <a:lnTo>
                    <a:pt x="59436" y="393192"/>
                  </a:lnTo>
                  <a:lnTo>
                    <a:pt x="108966" y="294131"/>
                  </a:lnTo>
                  <a:lnTo>
                    <a:pt x="39624" y="294131"/>
                  </a:lnTo>
                  <a:lnTo>
                    <a:pt x="39624" y="274319"/>
                  </a:lnTo>
                  <a:close/>
                </a:path>
                <a:path w="119379" h="393700">
                  <a:moveTo>
                    <a:pt x="79248" y="0"/>
                  </a:moveTo>
                  <a:lnTo>
                    <a:pt x="39624" y="0"/>
                  </a:lnTo>
                  <a:lnTo>
                    <a:pt x="39624" y="294131"/>
                  </a:lnTo>
                  <a:lnTo>
                    <a:pt x="79248" y="294131"/>
                  </a:lnTo>
                  <a:lnTo>
                    <a:pt x="79248" y="0"/>
                  </a:lnTo>
                  <a:close/>
                </a:path>
                <a:path w="119379" h="393700">
                  <a:moveTo>
                    <a:pt x="118872" y="274319"/>
                  </a:moveTo>
                  <a:lnTo>
                    <a:pt x="79248" y="274319"/>
                  </a:lnTo>
                  <a:lnTo>
                    <a:pt x="79248" y="294131"/>
                  </a:lnTo>
                  <a:lnTo>
                    <a:pt x="108966" y="294131"/>
                  </a:lnTo>
                  <a:lnTo>
                    <a:pt x="118872" y="274319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966716" y="2790443"/>
              <a:ext cx="280670" cy="3175"/>
            </a:xfrm>
            <a:custGeom>
              <a:avLst/>
              <a:gdLst/>
              <a:ahLst/>
              <a:cxnLst/>
              <a:rect l="l" t="t" r="r" b="b"/>
              <a:pathLst>
                <a:path w="280670" h="3175">
                  <a:moveTo>
                    <a:pt x="-19812" y="1524"/>
                  </a:moveTo>
                  <a:lnTo>
                    <a:pt x="300228" y="1524"/>
                  </a:lnTo>
                </a:path>
              </a:pathLst>
            </a:custGeom>
            <a:ln w="42672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147182" y="2790316"/>
              <a:ext cx="119380" cy="393700"/>
            </a:xfrm>
            <a:custGeom>
              <a:avLst/>
              <a:gdLst/>
              <a:ahLst/>
              <a:cxnLst/>
              <a:rect l="l" t="t" r="r" b="b"/>
              <a:pathLst>
                <a:path w="119379" h="393700">
                  <a:moveTo>
                    <a:pt x="39597" y="274616"/>
                  </a:moveTo>
                  <a:lnTo>
                    <a:pt x="0" y="274955"/>
                  </a:lnTo>
                  <a:lnTo>
                    <a:pt x="60325" y="393319"/>
                  </a:lnTo>
                  <a:lnTo>
                    <a:pt x="108844" y="294386"/>
                  </a:lnTo>
                  <a:lnTo>
                    <a:pt x="39750" y="294386"/>
                  </a:lnTo>
                  <a:lnTo>
                    <a:pt x="39597" y="274616"/>
                  </a:lnTo>
                  <a:close/>
                </a:path>
                <a:path w="119379" h="393700">
                  <a:moveTo>
                    <a:pt x="79220" y="274277"/>
                  </a:moveTo>
                  <a:lnTo>
                    <a:pt x="39597" y="274616"/>
                  </a:lnTo>
                  <a:lnTo>
                    <a:pt x="39750" y="294386"/>
                  </a:lnTo>
                  <a:lnTo>
                    <a:pt x="79375" y="294131"/>
                  </a:lnTo>
                  <a:lnTo>
                    <a:pt x="79220" y="274277"/>
                  </a:lnTo>
                  <a:close/>
                </a:path>
                <a:path w="119379" h="393700">
                  <a:moveTo>
                    <a:pt x="118871" y="273938"/>
                  </a:moveTo>
                  <a:lnTo>
                    <a:pt x="79220" y="274277"/>
                  </a:lnTo>
                  <a:lnTo>
                    <a:pt x="79375" y="294131"/>
                  </a:lnTo>
                  <a:lnTo>
                    <a:pt x="39750" y="294386"/>
                  </a:lnTo>
                  <a:lnTo>
                    <a:pt x="108844" y="294386"/>
                  </a:lnTo>
                  <a:lnTo>
                    <a:pt x="118871" y="273938"/>
                  </a:lnTo>
                  <a:close/>
                </a:path>
                <a:path w="119379" h="393700">
                  <a:moveTo>
                    <a:pt x="77088" y="0"/>
                  </a:moveTo>
                  <a:lnTo>
                    <a:pt x="37464" y="254"/>
                  </a:lnTo>
                  <a:lnTo>
                    <a:pt x="39597" y="274616"/>
                  </a:lnTo>
                  <a:lnTo>
                    <a:pt x="79220" y="274277"/>
                  </a:lnTo>
                  <a:lnTo>
                    <a:pt x="77088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847588" y="3342131"/>
              <a:ext cx="320040" cy="0"/>
            </a:xfrm>
            <a:custGeom>
              <a:avLst/>
              <a:gdLst/>
              <a:ahLst/>
              <a:cxnLst/>
              <a:rect l="l" t="t" r="r" b="b"/>
              <a:pathLst>
                <a:path w="320039">
                  <a:moveTo>
                    <a:pt x="0" y="0"/>
                  </a:moveTo>
                  <a:lnTo>
                    <a:pt x="320039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110477" y="3342004"/>
              <a:ext cx="119380" cy="469900"/>
            </a:xfrm>
            <a:custGeom>
              <a:avLst/>
              <a:gdLst/>
              <a:ahLst/>
              <a:cxnLst/>
              <a:rect l="l" t="t" r="r" b="b"/>
              <a:pathLst>
                <a:path w="119379" h="469900">
                  <a:moveTo>
                    <a:pt x="39621" y="350774"/>
                  </a:moveTo>
                  <a:lnTo>
                    <a:pt x="0" y="351028"/>
                  </a:lnTo>
                  <a:lnTo>
                    <a:pt x="60198" y="469519"/>
                  </a:lnTo>
                  <a:lnTo>
                    <a:pt x="108874" y="370586"/>
                  </a:lnTo>
                  <a:lnTo>
                    <a:pt x="39750" y="370586"/>
                  </a:lnTo>
                  <a:lnTo>
                    <a:pt x="39621" y="350774"/>
                  </a:lnTo>
                  <a:close/>
                </a:path>
                <a:path w="119379" h="469900">
                  <a:moveTo>
                    <a:pt x="79245" y="350520"/>
                  </a:moveTo>
                  <a:lnTo>
                    <a:pt x="39621" y="350774"/>
                  </a:lnTo>
                  <a:lnTo>
                    <a:pt x="39750" y="370586"/>
                  </a:lnTo>
                  <a:lnTo>
                    <a:pt x="79375" y="370332"/>
                  </a:lnTo>
                  <a:lnTo>
                    <a:pt x="79245" y="350520"/>
                  </a:lnTo>
                  <a:close/>
                </a:path>
                <a:path w="119379" h="469900">
                  <a:moveTo>
                    <a:pt x="118872" y="350266"/>
                  </a:moveTo>
                  <a:lnTo>
                    <a:pt x="79245" y="350520"/>
                  </a:lnTo>
                  <a:lnTo>
                    <a:pt x="79375" y="370332"/>
                  </a:lnTo>
                  <a:lnTo>
                    <a:pt x="39750" y="370586"/>
                  </a:lnTo>
                  <a:lnTo>
                    <a:pt x="108874" y="370586"/>
                  </a:lnTo>
                  <a:lnTo>
                    <a:pt x="118872" y="350266"/>
                  </a:lnTo>
                  <a:close/>
                </a:path>
                <a:path w="119379" h="469900">
                  <a:moveTo>
                    <a:pt x="76962" y="0"/>
                  </a:moveTo>
                  <a:lnTo>
                    <a:pt x="37337" y="254"/>
                  </a:lnTo>
                  <a:lnTo>
                    <a:pt x="39621" y="350774"/>
                  </a:lnTo>
                  <a:lnTo>
                    <a:pt x="79245" y="350520"/>
                  </a:lnTo>
                  <a:lnTo>
                    <a:pt x="76962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646420" y="1763267"/>
            <a:ext cx="3194685" cy="777240"/>
          </a:xfrm>
          <a:prstGeom prst="rect">
            <a:avLst/>
          </a:prstGeom>
          <a:solidFill>
            <a:srgbClr val="FFFFCC"/>
          </a:solidFill>
          <a:ln w="9144">
            <a:solidFill>
              <a:srgbClr val="FF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90805" marR="761365">
              <a:lnSpc>
                <a:spcPts val="2690"/>
              </a:lnSpc>
              <a:spcBef>
                <a:spcPts val="235"/>
              </a:spcBef>
            </a:pPr>
            <a:r>
              <a:rPr sz="2400" b="1" spc="-5" dirty="0">
                <a:solidFill>
                  <a:srgbClr val="0000FF"/>
                </a:solidFill>
                <a:latin typeface="Calibri"/>
                <a:cs typeface="Calibri"/>
              </a:rPr>
              <a:t>Simplest</a:t>
            </a:r>
            <a:r>
              <a:rPr sz="2400" b="1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Calibri"/>
                <a:cs typeface="Calibri"/>
              </a:rPr>
              <a:t>and</a:t>
            </a:r>
            <a:r>
              <a:rPr sz="2400" b="1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00FF"/>
                </a:solidFill>
                <a:latin typeface="Calibri"/>
                <a:cs typeface="Calibri"/>
              </a:rPr>
              <a:t>most </a:t>
            </a:r>
            <a:r>
              <a:rPr sz="2400" b="1" spc="-5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Calibri"/>
                <a:cs typeface="Calibri"/>
              </a:rPr>
              <a:t>intuitive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407907" y="4831562"/>
            <a:ext cx="22860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19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6095" y="178384"/>
            <a:ext cx="4069079" cy="4940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050" spc="-15" dirty="0"/>
              <a:t>Relative</a:t>
            </a:r>
            <a:r>
              <a:rPr sz="3050" spc="-30" dirty="0"/>
              <a:t> </a:t>
            </a:r>
            <a:r>
              <a:rPr sz="3050" spc="-10" dirty="0"/>
              <a:t>Effort</a:t>
            </a:r>
            <a:r>
              <a:rPr sz="3050" spc="-95" dirty="0"/>
              <a:t> </a:t>
            </a:r>
            <a:r>
              <a:rPr sz="3050" spc="-5" dirty="0"/>
              <a:t>for</a:t>
            </a:r>
            <a:r>
              <a:rPr sz="3050" spc="-20" dirty="0"/>
              <a:t> </a:t>
            </a:r>
            <a:r>
              <a:rPr sz="3050" spc="5" dirty="0"/>
              <a:t>Phases</a:t>
            </a:r>
            <a:endParaRPr sz="3050"/>
          </a:p>
        </p:txBody>
      </p:sp>
      <p:grpSp>
        <p:nvGrpSpPr>
          <p:cNvPr id="3" name="object 3"/>
          <p:cNvGrpSpPr/>
          <p:nvPr/>
        </p:nvGrpSpPr>
        <p:grpSpPr>
          <a:xfrm>
            <a:off x="60960" y="649223"/>
            <a:ext cx="5965190" cy="3703320"/>
            <a:chOff x="60960" y="649223"/>
            <a:chExt cx="5965190" cy="3703320"/>
          </a:xfrm>
        </p:grpSpPr>
        <p:sp>
          <p:nvSpPr>
            <p:cNvPr id="4" name="object 4"/>
            <p:cNvSpPr/>
            <p:nvPr/>
          </p:nvSpPr>
          <p:spPr>
            <a:xfrm>
              <a:off x="230123" y="653795"/>
              <a:ext cx="5791200" cy="3694429"/>
            </a:xfrm>
            <a:custGeom>
              <a:avLst/>
              <a:gdLst/>
              <a:ahLst/>
              <a:cxnLst/>
              <a:rect l="l" t="t" r="r" b="b"/>
              <a:pathLst>
                <a:path w="5791200" h="3694429">
                  <a:moveTo>
                    <a:pt x="0" y="3694176"/>
                  </a:moveTo>
                  <a:lnTo>
                    <a:pt x="5791200" y="3694176"/>
                  </a:lnTo>
                  <a:lnTo>
                    <a:pt x="5791200" y="0"/>
                  </a:lnTo>
                  <a:lnTo>
                    <a:pt x="0" y="0"/>
                  </a:lnTo>
                  <a:lnTo>
                    <a:pt x="0" y="3694176"/>
                  </a:lnTo>
                  <a:close/>
                </a:path>
              </a:pathLst>
            </a:custGeom>
            <a:ln w="9144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60" y="1950669"/>
              <a:ext cx="495071" cy="6444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0416" y="1935518"/>
              <a:ext cx="3771646" cy="68715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0144" y="2432253"/>
              <a:ext cx="501192" cy="57739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9976" y="2417102"/>
              <a:ext cx="5079365" cy="62010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9976" y="2782862"/>
              <a:ext cx="1071181" cy="620102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29615" y="634568"/>
            <a:ext cx="5617210" cy="348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727075" indent="-231775">
              <a:lnSpc>
                <a:spcPct val="110300"/>
              </a:lnSpc>
              <a:spcBef>
                <a:spcPts val="100"/>
              </a:spcBef>
              <a:buFont typeface="Arial MT"/>
              <a:buChar char="•"/>
              <a:tabLst>
                <a:tab pos="244475" algn="l"/>
              </a:tabLst>
            </a:pPr>
            <a:r>
              <a:rPr sz="2450" dirty="0">
                <a:latin typeface="Calibri"/>
                <a:cs typeface="Calibri"/>
              </a:rPr>
              <a:t>Phases</a:t>
            </a:r>
            <a:r>
              <a:rPr sz="2450" spc="-3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between</a:t>
            </a:r>
            <a:r>
              <a:rPr sz="2450" spc="-5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feasibility</a:t>
            </a:r>
            <a:r>
              <a:rPr sz="2450" spc="5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study and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testing</a:t>
            </a:r>
            <a:endParaRPr sz="2450">
              <a:latin typeface="Calibri"/>
              <a:cs typeface="Calibri"/>
            </a:endParaRPr>
          </a:p>
          <a:p>
            <a:pPr marL="192405" marR="1932939" lvl="1" indent="-192405" algn="r">
              <a:lnSpc>
                <a:spcPct val="100000"/>
              </a:lnSpc>
              <a:spcBef>
                <a:spcPts val="865"/>
              </a:spcBef>
              <a:buFont typeface="Arial MT"/>
              <a:buChar char="–"/>
              <a:tabLst>
                <a:tab pos="192405" algn="l"/>
              </a:tabLst>
            </a:pPr>
            <a:r>
              <a:rPr sz="2150" spc="15" dirty="0">
                <a:latin typeface="Calibri"/>
                <a:cs typeface="Calibri"/>
              </a:rPr>
              <a:t>Called</a:t>
            </a:r>
            <a:r>
              <a:rPr sz="2150" spc="-55" dirty="0">
                <a:latin typeface="Calibri"/>
                <a:cs typeface="Calibri"/>
              </a:rPr>
              <a:t> </a:t>
            </a:r>
            <a:r>
              <a:rPr sz="2150" spc="10" dirty="0">
                <a:solidFill>
                  <a:srgbClr val="000099"/>
                </a:solidFill>
                <a:latin typeface="Calibri"/>
                <a:cs typeface="Calibri"/>
              </a:rPr>
              <a:t>development</a:t>
            </a:r>
            <a:r>
              <a:rPr sz="2150" spc="-5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150" spc="15" dirty="0">
                <a:solidFill>
                  <a:srgbClr val="000099"/>
                </a:solidFill>
                <a:latin typeface="Calibri"/>
                <a:cs typeface="Calibri"/>
              </a:rPr>
              <a:t>phases.</a:t>
            </a:r>
            <a:endParaRPr sz="2150">
              <a:latin typeface="Calibri"/>
              <a:cs typeface="Calibri"/>
            </a:endParaRPr>
          </a:p>
          <a:p>
            <a:pPr marL="243840" marR="2004695" indent="-244475" algn="r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244475" algn="l"/>
              </a:tabLst>
            </a:pPr>
            <a:r>
              <a:rPr sz="2450" spc="-5" dirty="0">
                <a:latin typeface="Calibri"/>
                <a:cs typeface="Calibri"/>
              </a:rPr>
              <a:t>Among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all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30" dirty="0">
                <a:latin typeface="Calibri"/>
                <a:cs typeface="Calibri"/>
              </a:rPr>
              <a:t>life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cycle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phases</a:t>
            </a:r>
            <a:endParaRPr sz="2450">
              <a:latin typeface="Calibri"/>
              <a:cs typeface="Calibri"/>
            </a:endParaRPr>
          </a:p>
          <a:p>
            <a:pPr marL="515620" lvl="1" indent="-192405">
              <a:lnSpc>
                <a:spcPct val="100000"/>
              </a:lnSpc>
              <a:spcBef>
                <a:spcPts val="865"/>
              </a:spcBef>
              <a:buFont typeface="Arial MT"/>
              <a:buChar char="–"/>
              <a:tabLst>
                <a:tab pos="515620" algn="l"/>
              </a:tabLst>
            </a:pPr>
            <a:r>
              <a:rPr sz="2150" spc="10" dirty="0">
                <a:solidFill>
                  <a:srgbClr val="800000"/>
                </a:solidFill>
                <a:latin typeface="Calibri"/>
                <a:cs typeface="Calibri"/>
              </a:rPr>
              <a:t>Maintenance</a:t>
            </a:r>
            <a:r>
              <a:rPr sz="2150" spc="-25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150" spc="15" dirty="0">
                <a:solidFill>
                  <a:srgbClr val="800000"/>
                </a:solidFill>
                <a:latin typeface="Calibri"/>
                <a:cs typeface="Calibri"/>
              </a:rPr>
              <a:t>phase</a:t>
            </a:r>
            <a:r>
              <a:rPr sz="2150" spc="-45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150" spc="10" dirty="0">
                <a:solidFill>
                  <a:srgbClr val="800000"/>
                </a:solidFill>
                <a:latin typeface="Calibri"/>
                <a:cs typeface="Calibri"/>
              </a:rPr>
              <a:t>consumes</a:t>
            </a:r>
            <a:r>
              <a:rPr sz="2150" spc="465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150" spc="15" dirty="0">
                <a:solidFill>
                  <a:srgbClr val="800000"/>
                </a:solidFill>
                <a:latin typeface="Calibri"/>
                <a:cs typeface="Calibri"/>
              </a:rPr>
              <a:t>maximum</a:t>
            </a:r>
            <a:endParaRPr sz="2150">
              <a:latin typeface="Calibri"/>
              <a:cs typeface="Calibri"/>
            </a:endParaRPr>
          </a:p>
          <a:p>
            <a:pPr marL="515620">
              <a:lnSpc>
                <a:spcPct val="100000"/>
              </a:lnSpc>
              <a:spcBef>
                <a:spcPts val="305"/>
              </a:spcBef>
            </a:pPr>
            <a:r>
              <a:rPr sz="2150" spc="-5" dirty="0">
                <a:solidFill>
                  <a:srgbClr val="800000"/>
                </a:solidFill>
                <a:latin typeface="Calibri"/>
                <a:cs typeface="Calibri"/>
              </a:rPr>
              <a:t>effort.</a:t>
            </a:r>
            <a:endParaRPr sz="2150">
              <a:latin typeface="Calibri"/>
              <a:cs typeface="Calibri"/>
            </a:endParaRPr>
          </a:p>
          <a:p>
            <a:pPr marL="243840" indent="-231775">
              <a:lnSpc>
                <a:spcPct val="100000"/>
              </a:lnSpc>
              <a:spcBef>
                <a:spcPts val="815"/>
              </a:spcBef>
              <a:buFont typeface="Arial MT"/>
              <a:buChar char="•"/>
              <a:tabLst>
                <a:tab pos="244475" algn="l"/>
              </a:tabLst>
            </a:pPr>
            <a:r>
              <a:rPr sz="2450" spc="-5" dirty="0">
                <a:latin typeface="Calibri"/>
                <a:cs typeface="Calibri"/>
              </a:rPr>
              <a:t>Among</a:t>
            </a:r>
            <a:r>
              <a:rPr sz="2450" spc="-10" dirty="0">
                <a:latin typeface="Calibri"/>
                <a:cs typeface="Calibri"/>
              </a:rPr>
              <a:t> development</a:t>
            </a:r>
            <a:r>
              <a:rPr sz="2450" spc="-4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phases,</a:t>
            </a:r>
            <a:endParaRPr sz="2450">
              <a:latin typeface="Calibri"/>
              <a:cs typeface="Calibri"/>
            </a:endParaRPr>
          </a:p>
          <a:p>
            <a:pPr marL="515620" lvl="1" indent="-192405">
              <a:lnSpc>
                <a:spcPct val="100000"/>
              </a:lnSpc>
              <a:spcBef>
                <a:spcPts val="895"/>
              </a:spcBef>
              <a:buFont typeface="Arial MT"/>
              <a:buChar char="–"/>
              <a:tabLst>
                <a:tab pos="515620" algn="l"/>
              </a:tabLst>
            </a:pPr>
            <a:r>
              <a:rPr sz="2150" spc="-20" dirty="0">
                <a:latin typeface="Calibri"/>
                <a:cs typeface="Calibri"/>
              </a:rPr>
              <a:t>Testing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15" dirty="0">
                <a:latin typeface="Calibri"/>
                <a:cs typeface="Calibri"/>
              </a:rPr>
              <a:t>phase</a:t>
            </a:r>
            <a:r>
              <a:rPr sz="2150" spc="-4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consumes</a:t>
            </a:r>
            <a:r>
              <a:rPr sz="2150" spc="-3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the </a:t>
            </a:r>
            <a:r>
              <a:rPr sz="2150" spc="15" dirty="0">
                <a:latin typeface="Calibri"/>
                <a:cs typeface="Calibri"/>
              </a:rPr>
              <a:t>maximum</a:t>
            </a:r>
            <a:r>
              <a:rPr sz="2150" spc="-5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effort.</a:t>
            </a:r>
            <a:endParaRPr sz="21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678134" y="1173065"/>
            <a:ext cx="2004060" cy="2117725"/>
            <a:chOff x="6678134" y="1173065"/>
            <a:chExt cx="2004060" cy="2117725"/>
          </a:xfrm>
        </p:grpSpPr>
        <p:sp>
          <p:nvSpPr>
            <p:cNvPr id="12" name="object 12"/>
            <p:cNvSpPr/>
            <p:nvPr/>
          </p:nvSpPr>
          <p:spPr>
            <a:xfrm>
              <a:off x="6704747" y="3263862"/>
              <a:ext cx="71120" cy="17780"/>
            </a:xfrm>
            <a:custGeom>
              <a:avLst/>
              <a:gdLst/>
              <a:ahLst/>
              <a:cxnLst/>
              <a:rect l="l" t="t" r="r" b="b"/>
              <a:pathLst>
                <a:path w="71120" h="17779">
                  <a:moveTo>
                    <a:pt x="0" y="17691"/>
                  </a:moveTo>
                  <a:lnTo>
                    <a:pt x="70942" y="17691"/>
                  </a:lnTo>
                  <a:lnTo>
                    <a:pt x="70942" y="0"/>
                  </a:lnTo>
                  <a:lnTo>
                    <a:pt x="0" y="0"/>
                  </a:lnTo>
                  <a:lnTo>
                    <a:pt x="0" y="17691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09186" y="3268285"/>
              <a:ext cx="26670" cy="17780"/>
            </a:xfrm>
            <a:custGeom>
              <a:avLst/>
              <a:gdLst/>
              <a:ahLst/>
              <a:cxnLst/>
              <a:rect l="l" t="t" r="r" b="b"/>
              <a:pathLst>
                <a:path w="26670" h="17779">
                  <a:moveTo>
                    <a:pt x="0" y="17691"/>
                  </a:moveTo>
                  <a:lnTo>
                    <a:pt x="26594" y="0"/>
                  </a:lnTo>
                </a:path>
              </a:pathLst>
            </a:custGeom>
            <a:ln w="88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744657" y="3268285"/>
              <a:ext cx="31115" cy="0"/>
            </a:xfrm>
            <a:custGeom>
              <a:avLst/>
              <a:gdLst/>
              <a:ahLst/>
              <a:cxnLst/>
              <a:rect l="l" t="t" r="r" b="b"/>
              <a:pathLst>
                <a:path w="31115">
                  <a:moveTo>
                    <a:pt x="0" y="0"/>
                  </a:moveTo>
                  <a:lnTo>
                    <a:pt x="31032" y="0"/>
                  </a:lnTo>
                </a:path>
              </a:pathLst>
            </a:custGeom>
            <a:ln w="8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855207" y="3263862"/>
              <a:ext cx="301625" cy="17780"/>
            </a:xfrm>
            <a:custGeom>
              <a:avLst/>
              <a:gdLst/>
              <a:ahLst/>
              <a:cxnLst/>
              <a:rect l="l" t="t" r="r" b="b"/>
              <a:pathLst>
                <a:path w="301625" h="17779">
                  <a:moveTo>
                    <a:pt x="0" y="17691"/>
                  </a:moveTo>
                  <a:lnTo>
                    <a:pt x="301153" y="17691"/>
                  </a:lnTo>
                  <a:lnTo>
                    <a:pt x="301153" y="0"/>
                  </a:lnTo>
                  <a:lnTo>
                    <a:pt x="0" y="0"/>
                  </a:lnTo>
                  <a:lnTo>
                    <a:pt x="0" y="17691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55207" y="3268285"/>
              <a:ext cx="301625" cy="0"/>
            </a:xfrm>
            <a:custGeom>
              <a:avLst/>
              <a:gdLst/>
              <a:ahLst/>
              <a:cxnLst/>
              <a:rect l="l" t="t" r="r" b="b"/>
              <a:pathLst>
                <a:path w="301625">
                  <a:moveTo>
                    <a:pt x="0" y="0"/>
                  </a:moveTo>
                  <a:lnTo>
                    <a:pt x="301153" y="0"/>
                  </a:lnTo>
                </a:path>
              </a:pathLst>
            </a:custGeom>
            <a:ln w="8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704756" y="3272704"/>
              <a:ext cx="452120" cy="0"/>
            </a:xfrm>
            <a:custGeom>
              <a:avLst/>
              <a:gdLst/>
              <a:ahLst/>
              <a:cxnLst/>
              <a:rect l="l" t="t" r="r" b="b"/>
              <a:pathLst>
                <a:path w="452120">
                  <a:moveTo>
                    <a:pt x="0" y="0"/>
                  </a:moveTo>
                  <a:lnTo>
                    <a:pt x="451604" y="0"/>
                  </a:lnTo>
                </a:path>
              </a:pathLst>
            </a:custGeom>
            <a:ln w="176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45030" y="3263862"/>
              <a:ext cx="301625" cy="17780"/>
            </a:xfrm>
            <a:custGeom>
              <a:avLst/>
              <a:gdLst/>
              <a:ahLst/>
              <a:cxnLst/>
              <a:rect l="l" t="t" r="r" b="b"/>
              <a:pathLst>
                <a:path w="301625" h="17779">
                  <a:moveTo>
                    <a:pt x="0" y="17691"/>
                  </a:moveTo>
                  <a:lnTo>
                    <a:pt x="301219" y="17691"/>
                  </a:lnTo>
                  <a:lnTo>
                    <a:pt x="301219" y="0"/>
                  </a:lnTo>
                  <a:lnTo>
                    <a:pt x="0" y="0"/>
                  </a:lnTo>
                  <a:lnTo>
                    <a:pt x="0" y="17691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45030" y="3268285"/>
              <a:ext cx="301625" cy="0"/>
            </a:xfrm>
            <a:custGeom>
              <a:avLst/>
              <a:gdLst/>
              <a:ahLst/>
              <a:cxnLst/>
              <a:rect l="l" t="t" r="r" b="b"/>
              <a:pathLst>
                <a:path w="301625">
                  <a:moveTo>
                    <a:pt x="0" y="0"/>
                  </a:moveTo>
                  <a:lnTo>
                    <a:pt x="301219" y="0"/>
                  </a:lnTo>
                </a:path>
              </a:pathLst>
            </a:custGeom>
            <a:ln w="8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245030" y="3263855"/>
              <a:ext cx="301625" cy="17780"/>
            </a:xfrm>
            <a:custGeom>
              <a:avLst/>
              <a:gdLst/>
              <a:ahLst/>
              <a:cxnLst/>
              <a:rect l="l" t="t" r="r" b="b"/>
              <a:pathLst>
                <a:path w="301625" h="17779">
                  <a:moveTo>
                    <a:pt x="0" y="17698"/>
                  </a:moveTo>
                  <a:lnTo>
                    <a:pt x="301219" y="17698"/>
                  </a:lnTo>
                  <a:lnTo>
                    <a:pt x="301219" y="0"/>
                  </a:lnTo>
                  <a:lnTo>
                    <a:pt x="0" y="0"/>
                  </a:lnTo>
                  <a:lnTo>
                    <a:pt x="0" y="176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704756" y="3279341"/>
              <a:ext cx="842010" cy="0"/>
            </a:xfrm>
            <a:custGeom>
              <a:avLst/>
              <a:gdLst/>
              <a:ahLst/>
              <a:cxnLst/>
              <a:rect l="l" t="t" r="r" b="b"/>
              <a:pathLst>
                <a:path w="842009">
                  <a:moveTo>
                    <a:pt x="0" y="0"/>
                  </a:moveTo>
                  <a:lnTo>
                    <a:pt x="841493" y="0"/>
                  </a:lnTo>
                </a:path>
              </a:pathLst>
            </a:custGeom>
            <a:ln w="4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625766" y="3263862"/>
              <a:ext cx="301625" cy="17780"/>
            </a:xfrm>
            <a:custGeom>
              <a:avLst/>
              <a:gdLst/>
              <a:ahLst/>
              <a:cxnLst/>
              <a:rect l="l" t="t" r="r" b="b"/>
              <a:pathLst>
                <a:path w="301625" h="17779">
                  <a:moveTo>
                    <a:pt x="0" y="17691"/>
                  </a:moveTo>
                  <a:lnTo>
                    <a:pt x="301164" y="17691"/>
                  </a:lnTo>
                  <a:lnTo>
                    <a:pt x="301164" y="0"/>
                  </a:lnTo>
                  <a:lnTo>
                    <a:pt x="0" y="0"/>
                  </a:lnTo>
                  <a:lnTo>
                    <a:pt x="0" y="17691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625766" y="3268285"/>
              <a:ext cx="301625" cy="0"/>
            </a:xfrm>
            <a:custGeom>
              <a:avLst/>
              <a:gdLst/>
              <a:ahLst/>
              <a:cxnLst/>
              <a:rect l="l" t="t" r="r" b="b"/>
              <a:pathLst>
                <a:path w="301625">
                  <a:moveTo>
                    <a:pt x="0" y="0"/>
                  </a:moveTo>
                  <a:lnTo>
                    <a:pt x="301164" y="0"/>
                  </a:lnTo>
                </a:path>
              </a:pathLst>
            </a:custGeom>
            <a:ln w="8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625766" y="3263855"/>
              <a:ext cx="301625" cy="17780"/>
            </a:xfrm>
            <a:custGeom>
              <a:avLst/>
              <a:gdLst/>
              <a:ahLst/>
              <a:cxnLst/>
              <a:rect l="l" t="t" r="r" b="b"/>
              <a:pathLst>
                <a:path w="301625" h="17779">
                  <a:moveTo>
                    <a:pt x="0" y="17698"/>
                  </a:moveTo>
                  <a:lnTo>
                    <a:pt x="301164" y="17698"/>
                  </a:lnTo>
                  <a:lnTo>
                    <a:pt x="301164" y="0"/>
                  </a:lnTo>
                  <a:lnTo>
                    <a:pt x="0" y="0"/>
                  </a:lnTo>
                  <a:lnTo>
                    <a:pt x="0" y="176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625766" y="3279341"/>
              <a:ext cx="301625" cy="0"/>
            </a:xfrm>
            <a:custGeom>
              <a:avLst/>
              <a:gdLst/>
              <a:ahLst/>
              <a:cxnLst/>
              <a:rect l="l" t="t" r="r" b="b"/>
              <a:pathLst>
                <a:path w="301625">
                  <a:moveTo>
                    <a:pt x="0" y="0"/>
                  </a:moveTo>
                  <a:lnTo>
                    <a:pt x="301164" y="0"/>
                  </a:lnTo>
                </a:path>
              </a:pathLst>
            </a:custGeom>
            <a:ln w="4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015601" y="3263862"/>
              <a:ext cx="300990" cy="17780"/>
            </a:xfrm>
            <a:custGeom>
              <a:avLst/>
              <a:gdLst/>
              <a:ahLst/>
              <a:cxnLst/>
              <a:rect l="l" t="t" r="r" b="b"/>
              <a:pathLst>
                <a:path w="300990" h="17779">
                  <a:moveTo>
                    <a:pt x="0" y="17691"/>
                  </a:moveTo>
                  <a:lnTo>
                    <a:pt x="300982" y="17691"/>
                  </a:lnTo>
                  <a:lnTo>
                    <a:pt x="300982" y="0"/>
                  </a:lnTo>
                  <a:lnTo>
                    <a:pt x="0" y="0"/>
                  </a:lnTo>
                  <a:lnTo>
                    <a:pt x="0" y="17691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015601" y="3268285"/>
              <a:ext cx="300990" cy="0"/>
            </a:xfrm>
            <a:custGeom>
              <a:avLst/>
              <a:gdLst/>
              <a:ahLst/>
              <a:cxnLst/>
              <a:rect l="l" t="t" r="r" b="b"/>
              <a:pathLst>
                <a:path w="300990">
                  <a:moveTo>
                    <a:pt x="0" y="0"/>
                  </a:moveTo>
                  <a:lnTo>
                    <a:pt x="300982" y="0"/>
                  </a:lnTo>
                </a:path>
              </a:pathLst>
            </a:custGeom>
            <a:ln w="8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015601" y="3263855"/>
              <a:ext cx="300990" cy="17780"/>
            </a:xfrm>
            <a:custGeom>
              <a:avLst/>
              <a:gdLst/>
              <a:ahLst/>
              <a:cxnLst/>
              <a:rect l="l" t="t" r="r" b="b"/>
              <a:pathLst>
                <a:path w="300990" h="17779">
                  <a:moveTo>
                    <a:pt x="0" y="17698"/>
                  </a:moveTo>
                  <a:lnTo>
                    <a:pt x="300982" y="17698"/>
                  </a:lnTo>
                  <a:lnTo>
                    <a:pt x="300982" y="0"/>
                  </a:lnTo>
                  <a:lnTo>
                    <a:pt x="0" y="0"/>
                  </a:lnTo>
                  <a:lnTo>
                    <a:pt x="0" y="176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015601" y="3279341"/>
              <a:ext cx="300990" cy="0"/>
            </a:xfrm>
            <a:custGeom>
              <a:avLst/>
              <a:gdLst/>
              <a:ahLst/>
              <a:cxnLst/>
              <a:rect l="l" t="t" r="r" b="b"/>
              <a:pathLst>
                <a:path w="300990">
                  <a:moveTo>
                    <a:pt x="0" y="0"/>
                  </a:moveTo>
                  <a:lnTo>
                    <a:pt x="300982" y="0"/>
                  </a:lnTo>
                </a:path>
              </a:pathLst>
            </a:custGeom>
            <a:ln w="4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396387" y="3263862"/>
              <a:ext cx="274955" cy="17780"/>
            </a:xfrm>
            <a:custGeom>
              <a:avLst/>
              <a:gdLst/>
              <a:ahLst/>
              <a:cxnLst/>
              <a:rect l="l" t="t" r="r" b="b"/>
              <a:pathLst>
                <a:path w="274954" h="17779">
                  <a:moveTo>
                    <a:pt x="0" y="17691"/>
                  </a:moveTo>
                  <a:lnTo>
                    <a:pt x="274556" y="17691"/>
                  </a:lnTo>
                  <a:lnTo>
                    <a:pt x="274556" y="0"/>
                  </a:lnTo>
                  <a:lnTo>
                    <a:pt x="0" y="0"/>
                  </a:lnTo>
                  <a:lnTo>
                    <a:pt x="0" y="17691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396387" y="3268285"/>
              <a:ext cx="270510" cy="0"/>
            </a:xfrm>
            <a:custGeom>
              <a:avLst/>
              <a:gdLst/>
              <a:ahLst/>
              <a:cxnLst/>
              <a:rect l="l" t="t" r="r" b="b"/>
              <a:pathLst>
                <a:path w="270509">
                  <a:moveTo>
                    <a:pt x="0" y="0"/>
                  </a:moveTo>
                  <a:lnTo>
                    <a:pt x="270070" y="0"/>
                  </a:lnTo>
                </a:path>
              </a:pathLst>
            </a:custGeom>
            <a:ln w="8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396387" y="3263855"/>
              <a:ext cx="283845" cy="17780"/>
            </a:xfrm>
            <a:custGeom>
              <a:avLst/>
              <a:gdLst/>
              <a:ahLst/>
              <a:cxnLst/>
              <a:rect l="l" t="t" r="r" b="b"/>
              <a:pathLst>
                <a:path w="283845" h="17779">
                  <a:moveTo>
                    <a:pt x="0" y="17698"/>
                  </a:moveTo>
                  <a:lnTo>
                    <a:pt x="283471" y="17698"/>
                  </a:lnTo>
                  <a:lnTo>
                    <a:pt x="283471" y="0"/>
                  </a:lnTo>
                  <a:lnTo>
                    <a:pt x="0" y="0"/>
                  </a:lnTo>
                  <a:lnTo>
                    <a:pt x="0" y="176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396387" y="3279341"/>
              <a:ext cx="283845" cy="0"/>
            </a:xfrm>
            <a:custGeom>
              <a:avLst/>
              <a:gdLst/>
              <a:ahLst/>
              <a:cxnLst/>
              <a:rect l="l" t="t" r="r" b="b"/>
              <a:pathLst>
                <a:path w="283845">
                  <a:moveTo>
                    <a:pt x="0" y="0"/>
                  </a:moveTo>
                  <a:lnTo>
                    <a:pt x="283471" y="0"/>
                  </a:lnTo>
                </a:path>
              </a:pathLst>
            </a:custGeom>
            <a:ln w="4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704756" y="3288190"/>
              <a:ext cx="1975485" cy="0"/>
            </a:xfrm>
            <a:custGeom>
              <a:avLst/>
              <a:gdLst/>
              <a:ahLst/>
              <a:cxnLst/>
              <a:rect l="l" t="t" r="r" b="b"/>
              <a:pathLst>
                <a:path w="1975484">
                  <a:moveTo>
                    <a:pt x="0" y="0"/>
                  </a:moveTo>
                  <a:lnTo>
                    <a:pt x="1975102" y="0"/>
                  </a:lnTo>
                </a:path>
              </a:pathLst>
            </a:custGeom>
            <a:ln w="4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709186" y="2922908"/>
              <a:ext cx="26670" cy="17780"/>
            </a:xfrm>
            <a:custGeom>
              <a:avLst/>
              <a:gdLst/>
              <a:ahLst/>
              <a:cxnLst/>
              <a:rect l="l" t="t" r="r" b="b"/>
              <a:pathLst>
                <a:path w="26670" h="17780">
                  <a:moveTo>
                    <a:pt x="0" y="17691"/>
                  </a:moveTo>
                  <a:lnTo>
                    <a:pt x="26594" y="0"/>
                  </a:lnTo>
                </a:path>
              </a:pathLst>
            </a:custGeom>
            <a:ln w="88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744657" y="2922908"/>
              <a:ext cx="802005" cy="0"/>
            </a:xfrm>
            <a:custGeom>
              <a:avLst/>
              <a:gdLst/>
              <a:ahLst/>
              <a:cxnLst/>
              <a:rect l="l" t="t" r="r" b="b"/>
              <a:pathLst>
                <a:path w="802004">
                  <a:moveTo>
                    <a:pt x="0" y="0"/>
                  </a:moveTo>
                  <a:lnTo>
                    <a:pt x="801592" y="0"/>
                  </a:lnTo>
                </a:path>
              </a:pathLst>
            </a:custGeom>
            <a:ln w="8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709185" y="2577225"/>
              <a:ext cx="26670" cy="17780"/>
            </a:xfrm>
            <a:custGeom>
              <a:avLst/>
              <a:gdLst/>
              <a:ahLst/>
              <a:cxnLst/>
              <a:rect l="l" t="t" r="r" b="b"/>
              <a:pathLst>
                <a:path w="26670" h="17780">
                  <a:moveTo>
                    <a:pt x="0" y="17691"/>
                  </a:moveTo>
                  <a:lnTo>
                    <a:pt x="26594" y="0"/>
                  </a:lnTo>
                </a:path>
              </a:pathLst>
            </a:custGeom>
            <a:ln w="88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744657" y="2568380"/>
              <a:ext cx="1572260" cy="0"/>
            </a:xfrm>
            <a:custGeom>
              <a:avLst/>
              <a:gdLst/>
              <a:ahLst/>
              <a:cxnLst/>
              <a:rect l="l" t="t" r="r" b="b"/>
              <a:pathLst>
                <a:path w="1572259">
                  <a:moveTo>
                    <a:pt x="0" y="0"/>
                  </a:moveTo>
                  <a:lnTo>
                    <a:pt x="1571926" y="0"/>
                  </a:lnTo>
                </a:path>
              </a:pathLst>
            </a:custGeom>
            <a:ln w="8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709185" y="2223050"/>
              <a:ext cx="26670" cy="26670"/>
            </a:xfrm>
            <a:custGeom>
              <a:avLst/>
              <a:gdLst/>
              <a:ahLst/>
              <a:cxnLst/>
              <a:rect l="l" t="t" r="r" b="b"/>
              <a:pathLst>
                <a:path w="26670" h="26669">
                  <a:moveTo>
                    <a:pt x="0" y="26536"/>
                  </a:moveTo>
                  <a:lnTo>
                    <a:pt x="26594" y="0"/>
                  </a:lnTo>
                </a:path>
              </a:pathLst>
            </a:custGeom>
            <a:ln w="88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744657" y="2214205"/>
              <a:ext cx="1572260" cy="0"/>
            </a:xfrm>
            <a:custGeom>
              <a:avLst/>
              <a:gdLst/>
              <a:ahLst/>
              <a:cxnLst/>
              <a:rect l="l" t="t" r="r" b="b"/>
              <a:pathLst>
                <a:path w="1572259">
                  <a:moveTo>
                    <a:pt x="0" y="0"/>
                  </a:moveTo>
                  <a:lnTo>
                    <a:pt x="1571927" y="0"/>
                  </a:lnTo>
                </a:path>
              </a:pathLst>
            </a:custGeom>
            <a:ln w="8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709185" y="1877367"/>
              <a:ext cx="26670" cy="17780"/>
            </a:xfrm>
            <a:custGeom>
              <a:avLst/>
              <a:gdLst/>
              <a:ahLst/>
              <a:cxnLst/>
              <a:rect l="l" t="t" r="r" b="b"/>
              <a:pathLst>
                <a:path w="26670" h="17780">
                  <a:moveTo>
                    <a:pt x="0" y="17691"/>
                  </a:moveTo>
                  <a:lnTo>
                    <a:pt x="26594" y="0"/>
                  </a:lnTo>
                </a:path>
              </a:pathLst>
            </a:custGeom>
            <a:ln w="88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744657" y="1868522"/>
              <a:ext cx="1572260" cy="0"/>
            </a:xfrm>
            <a:custGeom>
              <a:avLst/>
              <a:gdLst/>
              <a:ahLst/>
              <a:cxnLst/>
              <a:rect l="l" t="t" r="r" b="b"/>
              <a:pathLst>
                <a:path w="1572259">
                  <a:moveTo>
                    <a:pt x="0" y="0"/>
                  </a:moveTo>
                  <a:lnTo>
                    <a:pt x="1571927" y="0"/>
                  </a:lnTo>
                </a:path>
              </a:pathLst>
            </a:custGeom>
            <a:ln w="8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709185" y="1523193"/>
              <a:ext cx="26670" cy="17780"/>
            </a:xfrm>
            <a:custGeom>
              <a:avLst/>
              <a:gdLst/>
              <a:ahLst/>
              <a:cxnLst/>
              <a:rect l="l" t="t" r="r" b="b"/>
              <a:pathLst>
                <a:path w="26670" h="17780">
                  <a:moveTo>
                    <a:pt x="0" y="17691"/>
                  </a:moveTo>
                  <a:lnTo>
                    <a:pt x="26594" y="0"/>
                  </a:lnTo>
                </a:path>
              </a:pathLst>
            </a:custGeom>
            <a:ln w="88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744657" y="1523193"/>
              <a:ext cx="1572260" cy="0"/>
            </a:xfrm>
            <a:custGeom>
              <a:avLst/>
              <a:gdLst/>
              <a:ahLst/>
              <a:cxnLst/>
              <a:rect l="l" t="t" r="r" b="b"/>
              <a:pathLst>
                <a:path w="1572259">
                  <a:moveTo>
                    <a:pt x="0" y="0"/>
                  </a:moveTo>
                  <a:lnTo>
                    <a:pt x="1571927" y="0"/>
                  </a:lnTo>
                </a:path>
              </a:pathLst>
            </a:custGeom>
            <a:ln w="8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709185" y="1177510"/>
              <a:ext cx="1957705" cy="17780"/>
            </a:xfrm>
            <a:custGeom>
              <a:avLst/>
              <a:gdLst/>
              <a:ahLst/>
              <a:cxnLst/>
              <a:rect l="l" t="t" r="r" b="b"/>
              <a:pathLst>
                <a:path w="1957704" h="17780">
                  <a:moveTo>
                    <a:pt x="0" y="17691"/>
                  </a:moveTo>
                  <a:lnTo>
                    <a:pt x="26594" y="0"/>
                  </a:lnTo>
                </a:path>
                <a:path w="1957704" h="17780">
                  <a:moveTo>
                    <a:pt x="35471" y="0"/>
                  </a:moveTo>
                  <a:lnTo>
                    <a:pt x="1957271" y="0"/>
                  </a:lnTo>
                </a:path>
              </a:pathLst>
            </a:custGeom>
            <a:ln w="88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709185" y="1177510"/>
              <a:ext cx="35560" cy="2108835"/>
            </a:xfrm>
            <a:custGeom>
              <a:avLst/>
              <a:gdLst/>
              <a:ahLst/>
              <a:cxnLst/>
              <a:rect l="l" t="t" r="r" b="b"/>
              <a:pathLst>
                <a:path w="35559" h="2108835">
                  <a:moveTo>
                    <a:pt x="0" y="2108465"/>
                  </a:moveTo>
                  <a:lnTo>
                    <a:pt x="0" y="17691"/>
                  </a:lnTo>
                  <a:lnTo>
                    <a:pt x="35471" y="0"/>
                  </a:lnTo>
                  <a:lnTo>
                    <a:pt x="35471" y="2090774"/>
                  </a:lnTo>
                  <a:lnTo>
                    <a:pt x="0" y="2108465"/>
                  </a:lnTo>
                </a:path>
              </a:pathLst>
            </a:custGeom>
            <a:ln w="88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625766" y="1523193"/>
              <a:ext cx="1040765" cy="1400175"/>
            </a:xfrm>
            <a:custGeom>
              <a:avLst/>
              <a:gdLst/>
              <a:ahLst/>
              <a:cxnLst/>
              <a:rect l="l" t="t" r="r" b="b"/>
              <a:pathLst>
                <a:path w="1040765" h="1400175">
                  <a:moveTo>
                    <a:pt x="0" y="1399715"/>
                  </a:moveTo>
                  <a:lnTo>
                    <a:pt x="301164" y="1399715"/>
                  </a:lnTo>
                </a:path>
                <a:path w="1040765" h="1400175">
                  <a:moveTo>
                    <a:pt x="389834" y="1399715"/>
                  </a:moveTo>
                  <a:lnTo>
                    <a:pt x="690817" y="1399715"/>
                  </a:lnTo>
                </a:path>
                <a:path w="1040765" h="1400175">
                  <a:moveTo>
                    <a:pt x="770620" y="1399715"/>
                  </a:moveTo>
                  <a:lnTo>
                    <a:pt x="1040691" y="1399715"/>
                  </a:lnTo>
                </a:path>
                <a:path w="1040765" h="1400175">
                  <a:moveTo>
                    <a:pt x="770620" y="1045186"/>
                  </a:moveTo>
                  <a:lnTo>
                    <a:pt x="1040691" y="1045186"/>
                  </a:lnTo>
                </a:path>
                <a:path w="1040765" h="1400175">
                  <a:moveTo>
                    <a:pt x="770620" y="691012"/>
                  </a:moveTo>
                  <a:lnTo>
                    <a:pt x="1040690" y="691012"/>
                  </a:lnTo>
                </a:path>
                <a:path w="1040765" h="1400175">
                  <a:moveTo>
                    <a:pt x="770620" y="345329"/>
                  </a:moveTo>
                  <a:lnTo>
                    <a:pt x="1040690" y="345329"/>
                  </a:lnTo>
                </a:path>
                <a:path w="1040765" h="1400175">
                  <a:moveTo>
                    <a:pt x="770620" y="0"/>
                  </a:moveTo>
                  <a:lnTo>
                    <a:pt x="1040690" y="0"/>
                  </a:lnTo>
                </a:path>
              </a:pathLst>
            </a:custGeom>
            <a:ln w="8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744656" y="1177510"/>
              <a:ext cx="1931035" cy="2091055"/>
            </a:xfrm>
            <a:custGeom>
              <a:avLst/>
              <a:gdLst/>
              <a:ahLst/>
              <a:cxnLst/>
              <a:rect l="l" t="t" r="r" b="b"/>
              <a:pathLst>
                <a:path w="1931034" h="2091054">
                  <a:moveTo>
                    <a:pt x="0" y="2090774"/>
                  </a:moveTo>
                  <a:lnTo>
                    <a:pt x="0" y="0"/>
                  </a:lnTo>
                  <a:lnTo>
                    <a:pt x="1930771" y="0"/>
                  </a:lnTo>
                  <a:lnTo>
                    <a:pt x="1930771" y="2090774"/>
                  </a:lnTo>
                  <a:lnTo>
                    <a:pt x="0" y="2090774"/>
                  </a:lnTo>
                </a:path>
              </a:pathLst>
            </a:custGeom>
            <a:ln w="88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75685" y="3193123"/>
              <a:ext cx="123848" cy="97285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7245009" y="2989190"/>
              <a:ext cx="27305" cy="292735"/>
            </a:xfrm>
            <a:custGeom>
              <a:avLst/>
              <a:gdLst/>
              <a:ahLst/>
              <a:cxnLst/>
              <a:rect l="l" t="t" r="r" b="b"/>
              <a:pathLst>
                <a:path w="27304" h="292735">
                  <a:moveTo>
                    <a:pt x="26677" y="0"/>
                  </a:moveTo>
                  <a:lnTo>
                    <a:pt x="0" y="17691"/>
                  </a:lnTo>
                  <a:lnTo>
                    <a:pt x="0" y="292362"/>
                  </a:lnTo>
                  <a:lnTo>
                    <a:pt x="26677" y="274671"/>
                  </a:lnTo>
                  <a:lnTo>
                    <a:pt x="26677" y="0"/>
                  </a:lnTo>
                  <a:close/>
                </a:path>
              </a:pathLst>
            </a:custGeom>
            <a:solidFill>
              <a:srgbClr val="8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249494" y="2993672"/>
              <a:ext cx="26670" cy="292735"/>
            </a:xfrm>
            <a:custGeom>
              <a:avLst/>
              <a:gdLst/>
              <a:ahLst/>
              <a:cxnLst/>
              <a:rect l="l" t="t" r="r" b="b"/>
              <a:pathLst>
                <a:path w="26670" h="292735">
                  <a:moveTo>
                    <a:pt x="0" y="292303"/>
                  </a:moveTo>
                  <a:lnTo>
                    <a:pt x="0" y="17691"/>
                  </a:lnTo>
                  <a:lnTo>
                    <a:pt x="26559" y="0"/>
                  </a:lnTo>
                  <a:lnTo>
                    <a:pt x="26559" y="274612"/>
                  </a:lnTo>
                  <a:lnTo>
                    <a:pt x="0" y="292303"/>
                  </a:lnTo>
                </a:path>
              </a:pathLst>
            </a:custGeom>
            <a:ln w="88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156360" y="3006917"/>
              <a:ext cx="88900" cy="274955"/>
            </a:xfrm>
            <a:custGeom>
              <a:avLst/>
              <a:gdLst/>
              <a:ahLst/>
              <a:cxnLst/>
              <a:rect l="l" t="t" r="r" b="b"/>
              <a:pathLst>
                <a:path w="88900" h="274954">
                  <a:moveTo>
                    <a:pt x="88669" y="0"/>
                  </a:moveTo>
                  <a:lnTo>
                    <a:pt x="0" y="0"/>
                  </a:lnTo>
                  <a:lnTo>
                    <a:pt x="0" y="274635"/>
                  </a:lnTo>
                  <a:lnTo>
                    <a:pt x="88670" y="274635"/>
                  </a:lnTo>
                  <a:lnTo>
                    <a:pt x="88669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160845" y="3011363"/>
              <a:ext cx="88900" cy="274955"/>
            </a:xfrm>
            <a:custGeom>
              <a:avLst/>
              <a:gdLst/>
              <a:ahLst/>
              <a:cxnLst/>
              <a:rect l="l" t="t" r="r" b="b"/>
              <a:pathLst>
                <a:path w="88900" h="274954">
                  <a:moveTo>
                    <a:pt x="0" y="274612"/>
                  </a:moveTo>
                  <a:lnTo>
                    <a:pt x="0" y="0"/>
                  </a:lnTo>
                  <a:lnTo>
                    <a:pt x="88648" y="0"/>
                  </a:lnTo>
                  <a:lnTo>
                    <a:pt x="88648" y="274612"/>
                  </a:lnTo>
                  <a:lnTo>
                    <a:pt x="0" y="274612"/>
                  </a:lnTo>
                </a:path>
              </a:pathLst>
            </a:custGeom>
            <a:ln w="88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156360" y="2989190"/>
              <a:ext cx="115570" cy="17780"/>
            </a:xfrm>
            <a:custGeom>
              <a:avLst/>
              <a:gdLst/>
              <a:ahLst/>
              <a:cxnLst/>
              <a:rect l="l" t="t" r="r" b="b"/>
              <a:pathLst>
                <a:path w="115570" h="17780">
                  <a:moveTo>
                    <a:pt x="115325" y="0"/>
                  </a:moveTo>
                  <a:lnTo>
                    <a:pt x="26677" y="0"/>
                  </a:lnTo>
                  <a:lnTo>
                    <a:pt x="0" y="17691"/>
                  </a:lnTo>
                  <a:lnTo>
                    <a:pt x="88648" y="17691"/>
                  </a:lnTo>
                  <a:lnTo>
                    <a:pt x="115325" y="0"/>
                  </a:lnTo>
                  <a:close/>
                </a:path>
              </a:pathLst>
            </a:custGeom>
            <a:solidFill>
              <a:srgbClr val="BE4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160845" y="2993672"/>
              <a:ext cx="115570" cy="17780"/>
            </a:xfrm>
            <a:custGeom>
              <a:avLst/>
              <a:gdLst/>
              <a:ahLst/>
              <a:cxnLst/>
              <a:rect l="l" t="t" r="r" b="b"/>
              <a:pathLst>
                <a:path w="115570" h="17780">
                  <a:moveTo>
                    <a:pt x="88648" y="17691"/>
                  </a:moveTo>
                  <a:lnTo>
                    <a:pt x="115207" y="0"/>
                  </a:lnTo>
                  <a:lnTo>
                    <a:pt x="26559" y="0"/>
                  </a:lnTo>
                  <a:lnTo>
                    <a:pt x="0" y="17691"/>
                  </a:lnTo>
                  <a:lnTo>
                    <a:pt x="88648" y="17691"/>
                  </a:lnTo>
                </a:path>
              </a:pathLst>
            </a:custGeom>
            <a:ln w="8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625809" y="2847544"/>
              <a:ext cx="35560" cy="434340"/>
            </a:xfrm>
            <a:custGeom>
              <a:avLst/>
              <a:gdLst/>
              <a:ahLst/>
              <a:cxnLst/>
              <a:rect l="l" t="t" r="r" b="b"/>
              <a:pathLst>
                <a:path w="35559" h="434339">
                  <a:moveTo>
                    <a:pt x="35412" y="0"/>
                  </a:moveTo>
                  <a:lnTo>
                    <a:pt x="0" y="17573"/>
                  </a:lnTo>
                  <a:lnTo>
                    <a:pt x="0" y="434008"/>
                  </a:lnTo>
                  <a:lnTo>
                    <a:pt x="35412" y="416317"/>
                  </a:lnTo>
                  <a:lnTo>
                    <a:pt x="35412" y="0"/>
                  </a:lnTo>
                  <a:close/>
                </a:path>
              </a:pathLst>
            </a:custGeom>
            <a:solidFill>
              <a:srgbClr val="8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630176" y="2851908"/>
              <a:ext cx="35560" cy="434340"/>
            </a:xfrm>
            <a:custGeom>
              <a:avLst/>
              <a:gdLst/>
              <a:ahLst/>
              <a:cxnLst/>
              <a:rect l="l" t="t" r="r" b="b"/>
              <a:pathLst>
                <a:path w="35559" h="434339">
                  <a:moveTo>
                    <a:pt x="0" y="434067"/>
                  </a:moveTo>
                  <a:lnTo>
                    <a:pt x="0" y="17691"/>
                  </a:lnTo>
                  <a:lnTo>
                    <a:pt x="35530" y="0"/>
                  </a:lnTo>
                  <a:lnTo>
                    <a:pt x="35530" y="416376"/>
                  </a:lnTo>
                  <a:lnTo>
                    <a:pt x="0" y="434067"/>
                  </a:lnTo>
                </a:path>
              </a:pathLst>
            </a:custGeom>
            <a:ln w="88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546249" y="2865176"/>
              <a:ext cx="80010" cy="416559"/>
            </a:xfrm>
            <a:custGeom>
              <a:avLst/>
              <a:gdLst/>
              <a:ahLst/>
              <a:cxnLst/>
              <a:rect l="l" t="t" r="r" b="b"/>
              <a:pathLst>
                <a:path w="80009" h="416560">
                  <a:moveTo>
                    <a:pt x="79517" y="0"/>
                  </a:moveTo>
                  <a:lnTo>
                    <a:pt x="0" y="0"/>
                  </a:lnTo>
                  <a:lnTo>
                    <a:pt x="0" y="416376"/>
                  </a:lnTo>
                  <a:lnTo>
                    <a:pt x="79517" y="416376"/>
                  </a:lnTo>
                  <a:lnTo>
                    <a:pt x="79517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550735" y="2869599"/>
              <a:ext cx="80010" cy="416559"/>
            </a:xfrm>
            <a:custGeom>
              <a:avLst/>
              <a:gdLst/>
              <a:ahLst/>
              <a:cxnLst/>
              <a:rect l="l" t="t" r="r" b="b"/>
              <a:pathLst>
                <a:path w="80009" h="416560">
                  <a:moveTo>
                    <a:pt x="0" y="416376"/>
                  </a:moveTo>
                  <a:lnTo>
                    <a:pt x="0" y="0"/>
                  </a:lnTo>
                  <a:lnTo>
                    <a:pt x="79441" y="0"/>
                  </a:lnTo>
                  <a:lnTo>
                    <a:pt x="79441" y="416376"/>
                  </a:lnTo>
                  <a:lnTo>
                    <a:pt x="0" y="416376"/>
                  </a:lnTo>
                </a:path>
              </a:pathLst>
            </a:custGeom>
            <a:ln w="88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546249" y="2847544"/>
              <a:ext cx="115570" cy="17780"/>
            </a:xfrm>
            <a:custGeom>
              <a:avLst/>
              <a:gdLst/>
              <a:ahLst/>
              <a:cxnLst/>
              <a:rect l="l" t="t" r="r" b="b"/>
              <a:pathLst>
                <a:path w="115570" h="17780">
                  <a:moveTo>
                    <a:pt x="114971" y="0"/>
                  </a:moveTo>
                  <a:lnTo>
                    <a:pt x="26323" y="0"/>
                  </a:lnTo>
                  <a:lnTo>
                    <a:pt x="0" y="17573"/>
                  </a:lnTo>
                  <a:lnTo>
                    <a:pt x="79559" y="17573"/>
                  </a:lnTo>
                  <a:lnTo>
                    <a:pt x="114971" y="0"/>
                  </a:lnTo>
                  <a:close/>
                </a:path>
              </a:pathLst>
            </a:custGeom>
            <a:solidFill>
              <a:srgbClr val="BE4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550735" y="2851908"/>
              <a:ext cx="115570" cy="17780"/>
            </a:xfrm>
            <a:custGeom>
              <a:avLst/>
              <a:gdLst/>
              <a:ahLst/>
              <a:cxnLst/>
              <a:rect l="l" t="t" r="r" b="b"/>
              <a:pathLst>
                <a:path w="115570" h="17780">
                  <a:moveTo>
                    <a:pt x="79441" y="17691"/>
                  </a:moveTo>
                  <a:lnTo>
                    <a:pt x="114971" y="0"/>
                  </a:lnTo>
                  <a:lnTo>
                    <a:pt x="26323" y="0"/>
                  </a:lnTo>
                  <a:lnTo>
                    <a:pt x="0" y="17691"/>
                  </a:lnTo>
                  <a:lnTo>
                    <a:pt x="79441" y="17691"/>
                  </a:lnTo>
                </a:path>
              </a:pathLst>
            </a:custGeom>
            <a:ln w="8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015580" y="2635016"/>
              <a:ext cx="35560" cy="647065"/>
            </a:xfrm>
            <a:custGeom>
              <a:avLst/>
              <a:gdLst/>
              <a:ahLst/>
              <a:cxnLst/>
              <a:rect l="l" t="t" r="r" b="b"/>
              <a:pathLst>
                <a:path w="35559" h="647064">
                  <a:moveTo>
                    <a:pt x="35530" y="0"/>
                  </a:moveTo>
                  <a:lnTo>
                    <a:pt x="0" y="26536"/>
                  </a:lnTo>
                  <a:lnTo>
                    <a:pt x="0" y="646536"/>
                  </a:lnTo>
                  <a:lnTo>
                    <a:pt x="35530" y="628845"/>
                  </a:lnTo>
                  <a:lnTo>
                    <a:pt x="35530" y="0"/>
                  </a:lnTo>
                  <a:close/>
                </a:path>
              </a:pathLst>
            </a:custGeom>
            <a:solidFill>
              <a:srgbClr val="8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020065" y="2639498"/>
              <a:ext cx="35560" cy="647065"/>
            </a:xfrm>
            <a:custGeom>
              <a:avLst/>
              <a:gdLst/>
              <a:ahLst/>
              <a:cxnLst/>
              <a:rect l="l" t="t" r="r" b="b"/>
              <a:pathLst>
                <a:path w="35559" h="647064">
                  <a:moveTo>
                    <a:pt x="0" y="646477"/>
                  </a:moveTo>
                  <a:lnTo>
                    <a:pt x="0" y="26418"/>
                  </a:lnTo>
                  <a:lnTo>
                    <a:pt x="35530" y="0"/>
                  </a:lnTo>
                  <a:lnTo>
                    <a:pt x="35530" y="628786"/>
                  </a:lnTo>
                  <a:lnTo>
                    <a:pt x="0" y="646477"/>
                  </a:lnTo>
                </a:path>
              </a:pathLst>
            </a:custGeom>
            <a:ln w="88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926931" y="2661552"/>
              <a:ext cx="88900" cy="620395"/>
            </a:xfrm>
            <a:custGeom>
              <a:avLst/>
              <a:gdLst/>
              <a:ahLst/>
              <a:cxnLst/>
              <a:rect l="l" t="t" r="r" b="b"/>
              <a:pathLst>
                <a:path w="88900" h="620395">
                  <a:moveTo>
                    <a:pt x="88669" y="0"/>
                  </a:moveTo>
                  <a:lnTo>
                    <a:pt x="0" y="0"/>
                  </a:lnTo>
                  <a:lnTo>
                    <a:pt x="0" y="620000"/>
                  </a:lnTo>
                  <a:lnTo>
                    <a:pt x="88670" y="620000"/>
                  </a:lnTo>
                  <a:lnTo>
                    <a:pt x="88669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931416" y="2665916"/>
              <a:ext cx="88900" cy="620395"/>
            </a:xfrm>
            <a:custGeom>
              <a:avLst/>
              <a:gdLst/>
              <a:ahLst/>
              <a:cxnLst/>
              <a:rect l="l" t="t" r="r" b="b"/>
              <a:pathLst>
                <a:path w="88900" h="620395">
                  <a:moveTo>
                    <a:pt x="0" y="620059"/>
                  </a:moveTo>
                  <a:lnTo>
                    <a:pt x="0" y="0"/>
                  </a:lnTo>
                  <a:lnTo>
                    <a:pt x="88648" y="0"/>
                  </a:lnTo>
                  <a:lnTo>
                    <a:pt x="88648" y="620059"/>
                  </a:lnTo>
                  <a:lnTo>
                    <a:pt x="0" y="620059"/>
                  </a:lnTo>
                </a:path>
              </a:pathLst>
            </a:custGeom>
            <a:ln w="88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926931" y="2635016"/>
              <a:ext cx="124460" cy="26670"/>
            </a:xfrm>
            <a:custGeom>
              <a:avLst/>
              <a:gdLst/>
              <a:ahLst/>
              <a:cxnLst/>
              <a:rect l="l" t="t" r="r" b="b"/>
              <a:pathLst>
                <a:path w="124459" h="26669">
                  <a:moveTo>
                    <a:pt x="124179" y="0"/>
                  </a:moveTo>
                  <a:lnTo>
                    <a:pt x="26677" y="0"/>
                  </a:lnTo>
                  <a:lnTo>
                    <a:pt x="0" y="26536"/>
                  </a:lnTo>
                  <a:lnTo>
                    <a:pt x="88648" y="26536"/>
                  </a:lnTo>
                  <a:lnTo>
                    <a:pt x="124179" y="0"/>
                  </a:lnTo>
                  <a:close/>
                </a:path>
              </a:pathLst>
            </a:custGeom>
            <a:solidFill>
              <a:srgbClr val="BE4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931416" y="2639498"/>
              <a:ext cx="124460" cy="26670"/>
            </a:xfrm>
            <a:custGeom>
              <a:avLst/>
              <a:gdLst/>
              <a:ahLst/>
              <a:cxnLst/>
              <a:rect l="l" t="t" r="r" b="b"/>
              <a:pathLst>
                <a:path w="124459" h="26669">
                  <a:moveTo>
                    <a:pt x="88648" y="26418"/>
                  </a:moveTo>
                  <a:lnTo>
                    <a:pt x="124179" y="0"/>
                  </a:lnTo>
                  <a:lnTo>
                    <a:pt x="26559" y="0"/>
                  </a:lnTo>
                  <a:lnTo>
                    <a:pt x="0" y="26418"/>
                  </a:lnTo>
                  <a:lnTo>
                    <a:pt x="88648" y="26418"/>
                  </a:lnTo>
                </a:path>
              </a:pathLst>
            </a:custGeom>
            <a:ln w="8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8396379" y="1173146"/>
              <a:ext cx="35560" cy="2108835"/>
            </a:xfrm>
            <a:custGeom>
              <a:avLst/>
              <a:gdLst/>
              <a:ahLst/>
              <a:cxnLst/>
              <a:rect l="l" t="t" r="r" b="b"/>
              <a:pathLst>
                <a:path w="35559" h="2108835">
                  <a:moveTo>
                    <a:pt x="35412" y="0"/>
                  </a:moveTo>
                  <a:lnTo>
                    <a:pt x="0" y="17691"/>
                  </a:lnTo>
                  <a:lnTo>
                    <a:pt x="0" y="2108406"/>
                  </a:lnTo>
                  <a:lnTo>
                    <a:pt x="35412" y="2090715"/>
                  </a:lnTo>
                  <a:lnTo>
                    <a:pt x="35412" y="0"/>
                  </a:lnTo>
                  <a:close/>
                </a:path>
              </a:pathLst>
            </a:custGeom>
            <a:solidFill>
              <a:srgbClr val="8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400747" y="1177510"/>
              <a:ext cx="35560" cy="2108835"/>
            </a:xfrm>
            <a:custGeom>
              <a:avLst/>
              <a:gdLst/>
              <a:ahLst/>
              <a:cxnLst/>
              <a:rect l="l" t="t" r="r" b="b"/>
              <a:pathLst>
                <a:path w="35559" h="2108835">
                  <a:moveTo>
                    <a:pt x="0" y="2108465"/>
                  </a:moveTo>
                  <a:lnTo>
                    <a:pt x="0" y="17691"/>
                  </a:lnTo>
                  <a:lnTo>
                    <a:pt x="35530" y="0"/>
                  </a:lnTo>
                  <a:lnTo>
                    <a:pt x="35530" y="2090774"/>
                  </a:lnTo>
                  <a:lnTo>
                    <a:pt x="0" y="2108465"/>
                  </a:lnTo>
                </a:path>
              </a:pathLst>
            </a:custGeom>
            <a:ln w="88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316584" y="1190825"/>
              <a:ext cx="80010" cy="2091055"/>
            </a:xfrm>
            <a:custGeom>
              <a:avLst/>
              <a:gdLst/>
              <a:ahLst/>
              <a:cxnLst/>
              <a:rect l="l" t="t" r="r" b="b"/>
              <a:pathLst>
                <a:path w="80009" h="2091054">
                  <a:moveTo>
                    <a:pt x="79802" y="0"/>
                  </a:moveTo>
                  <a:lnTo>
                    <a:pt x="0" y="0"/>
                  </a:lnTo>
                  <a:lnTo>
                    <a:pt x="0" y="2090727"/>
                  </a:lnTo>
                  <a:lnTo>
                    <a:pt x="79803" y="2090727"/>
                  </a:lnTo>
                  <a:lnTo>
                    <a:pt x="79802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320951" y="1195201"/>
              <a:ext cx="80010" cy="2091055"/>
            </a:xfrm>
            <a:custGeom>
              <a:avLst/>
              <a:gdLst/>
              <a:ahLst/>
              <a:cxnLst/>
              <a:rect l="l" t="t" r="r" b="b"/>
              <a:pathLst>
                <a:path w="80009" h="2091054">
                  <a:moveTo>
                    <a:pt x="0" y="2090774"/>
                  </a:moveTo>
                  <a:lnTo>
                    <a:pt x="0" y="0"/>
                  </a:lnTo>
                  <a:lnTo>
                    <a:pt x="79795" y="0"/>
                  </a:lnTo>
                  <a:lnTo>
                    <a:pt x="79796" y="2090774"/>
                  </a:lnTo>
                  <a:lnTo>
                    <a:pt x="0" y="2090774"/>
                  </a:lnTo>
                </a:path>
              </a:pathLst>
            </a:custGeom>
            <a:ln w="88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316584" y="1173146"/>
              <a:ext cx="115570" cy="17780"/>
            </a:xfrm>
            <a:custGeom>
              <a:avLst/>
              <a:gdLst/>
              <a:ahLst/>
              <a:cxnLst/>
              <a:rect l="l" t="t" r="r" b="b"/>
              <a:pathLst>
                <a:path w="115570" h="17780">
                  <a:moveTo>
                    <a:pt x="115207" y="0"/>
                  </a:moveTo>
                  <a:lnTo>
                    <a:pt x="26559" y="0"/>
                  </a:lnTo>
                  <a:lnTo>
                    <a:pt x="0" y="17691"/>
                  </a:lnTo>
                  <a:lnTo>
                    <a:pt x="79795" y="17691"/>
                  </a:lnTo>
                  <a:lnTo>
                    <a:pt x="115207" y="0"/>
                  </a:lnTo>
                  <a:close/>
                </a:path>
              </a:pathLst>
            </a:custGeom>
            <a:solidFill>
              <a:srgbClr val="BE4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320951" y="1177510"/>
              <a:ext cx="115570" cy="17780"/>
            </a:xfrm>
            <a:custGeom>
              <a:avLst/>
              <a:gdLst/>
              <a:ahLst/>
              <a:cxnLst/>
              <a:rect l="l" t="t" r="r" b="b"/>
              <a:pathLst>
                <a:path w="115570" h="17780">
                  <a:moveTo>
                    <a:pt x="79795" y="17691"/>
                  </a:moveTo>
                  <a:lnTo>
                    <a:pt x="115325" y="0"/>
                  </a:lnTo>
                  <a:lnTo>
                    <a:pt x="26677" y="0"/>
                  </a:lnTo>
                  <a:lnTo>
                    <a:pt x="0" y="17691"/>
                  </a:lnTo>
                  <a:lnTo>
                    <a:pt x="79795" y="17691"/>
                  </a:lnTo>
                </a:path>
              </a:pathLst>
            </a:custGeom>
            <a:ln w="8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682579" y="1195201"/>
              <a:ext cx="26670" cy="2091055"/>
            </a:xfrm>
            <a:custGeom>
              <a:avLst/>
              <a:gdLst/>
              <a:ahLst/>
              <a:cxnLst/>
              <a:rect l="l" t="t" r="r" b="b"/>
              <a:pathLst>
                <a:path w="26670" h="2091054">
                  <a:moveTo>
                    <a:pt x="26606" y="2090774"/>
                  </a:moveTo>
                  <a:lnTo>
                    <a:pt x="26606" y="8845"/>
                  </a:lnTo>
                </a:path>
                <a:path w="26670" h="2091054">
                  <a:moveTo>
                    <a:pt x="26606" y="2090774"/>
                  </a:moveTo>
                  <a:lnTo>
                    <a:pt x="0" y="2090774"/>
                  </a:lnTo>
                </a:path>
                <a:path w="26670" h="2091054">
                  <a:moveTo>
                    <a:pt x="26606" y="1745398"/>
                  </a:moveTo>
                  <a:lnTo>
                    <a:pt x="0" y="1745398"/>
                  </a:lnTo>
                </a:path>
                <a:path w="26670" h="2091054">
                  <a:moveTo>
                    <a:pt x="26606" y="1399715"/>
                  </a:moveTo>
                  <a:lnTo>
                    <a:pt x="0" y="1399715"/>
                  </a:lnTo>
                </a:path>
                <a:path w="26670" h="2091054">
                  <a:moveTo>
                    <a:pt x="26606" y="1054386"/>
                  </a:moveTo>
                  <a:lnTo>
                    <a:pt x="0" y="1054386"/>
                  </a:lnTo>
                </a:path>
                <a:path w="26670" h="2091054">
                  <a:moveTo>
                    <a:pt x="26606" y="699857"/>
                  </a:moveTo>
                  <a:lnTo>
                    <a:pt x="0" y="699857"/>
                  </a:lnTo>
                </a:path>
                <a:path w="26670" h="2091054">
                  <a:moveTo>
                    <a:pt x="26606" y="345683"/>
                  </a:moveTo>
                  <a:lnTo>
                    <a:pt x="0" y="345683"/>
                  </a:lnTo>
                </a:path>
                <a:path w="26670" h="2091054">
                  <a:moveTo>
                    <a:pt x="26606" y="0"/>
                  </a:moveTo>
                  <a:lnTo>
                    <a:pt x="0" y="0"/>
                  </a:lnTo>
                </a:path>
              </a:pathLst>
            </a:custGeom>
            <a:ln w="88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6417460" y="946448"/>
            <a:ext cx="238760" cy="246189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650" b="1" spc="10" dirty="0">
                <a:latin typeface="Times New Roman"/>
                <a:cs typeface="Times New Roman"/>
              </a:rPr>
              <a:t>60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650" b="1" spc="10" dirty="0">
                <a:latin typeface="Times New Roman"/>
                <a:cs typeface="Times New Roman"/>
              </a:rPr>
              <a:t>50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650" b="1" spc="10" dirty="0">
                <a:latin typeface="Times New Roman"/>
                <a:cs typeface="Times New Roman"/>
              </a:rPr>
              <a:t>40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650" b="1" spc="10" dirty="0">
                <a:latin typeface="Times New Roman"/>
                <a:cs typeface="Times New Roman"/>
              </a:rPr>
              <a:t>30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650" b="1" spc="10" dirty="0">
                <a:latin typeface="Times New Roman"/>
                <a:cs typeface="Times New Roman"/>
              </a:rPr>
              <a:t>20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650" b="1" spc="10" dirty="0">
                <a:latin typeface="Times New Roman"/>
                <a:cs typeface="Times New Roman"/>
              </a:rPr>
              <a:t>10</a:t>
            </a:r>
            <a:endParaRPr sz="1650">
              <a:latin typeface="Times New Roman"/>
              <a:cs typeface="Times New Roman"/>
            </a:endParaRPr>
          </a:p>
          <a:p>
            <a:pPr marL="118745">
              <a:lnSpc>
                <a:spcPct val="100000"/>
              </a:lnSpc>
              <a:spcBef>
                <a:spcPts val="810"/>
              </a:spcBef>
            </a:pPr>
            <a:r>
              <a:rPr sz="1650" b="1" spc="15" dirty="0">
                <a:latin typeface="Times New Roman"/>
                <a:cs typeface="Times New Roman"/>
              </a:rPr>
              <a:t>0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6709185" y="3285976"/>
            <a:ext cx="1931035" cy="26670"/>
          </a:xfrm>
          <a:custGeom>
            <a:avLst/>
            <a:gdLst/>
            <a:ahLst/>
            <a:cxnLst/>
            <a:rect l="l" t="t" r="r" b="b"/>
            <a:pathLst>
              <a:path w="1931034" h="26670">
                <a:moveTo>
                  <a:pt x="0" y="0"/>
                </a:moveTo>
                <a:lnTo>
                  <a:pt x="1921859" y="0"/>
                </a:lnTo>
              </a:path>
              <a:path w="1931034" h="26670">
                <a:moveTo>
                  <a:pt x="0" y="0"/>
                </a:moveTo>
                <a:lnTo>
                  <a:pt x="0" y="26512"/>
                </a:lnTo>
              </a:path>
              <a:path w="1931034" h="26670">
                <a:moveTo>
                  <a:pt x="389570" y="0"/>
                </a:moveTo>
                <a:lnTo>
                  <a:pt x="389570" y="26512"/>
                </a:lnTo>
              </a:path>
              <a:path w="1931034" h="26670">
                <a:moveTo>
                  <a:pt x="779459" y="0"/>
                </a:moveTo>
                <a:lnTo>
                  <a:pt x="779459" y="26512"/>
                </a:lnTo>
              </a:path>
              <a:path w="1931034" h="26670">
                <a:moveTo>
                  <a:pt x="1160141" y="0"/>
                </a:moveTo>
                <a:lnTo>
                  <a:pt x="1160141" y="26512"/>
                </a:lnTo>
              </a:path>
              <a:path w="1931034" h="26670">
                <a:moveTo>
                  <a:pt x="1550030" y="0"/>
                </a:moveTo>
                <a:lnTo>
                  <a:pt x="1550030" y="26512"/>
                </a:lnTo>
              </a:path>
              <a:path w="1931034" h="26670">
                <a:moveTo>
                  <a:pt x="1930712" y="0"/>
                </a:moveTo>
                <a:lnTo>
                  <a:pt x="1930712" y="26512"/>
                </a:lnTo>
              </a:path>
            </a:pathLst>
          </a:custGeom>
          <a:ln w="88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6767621" y="3308189"/>
            <a:ext cx="1803400" cy="890269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635">
              <a:lnSpc>
                <a:spcPts val="1925"/>
              </a:lnSpc>
            </a:pPr>
            <a:r>
              <a:rPr sz="1650" b="1" dirty="0">
                <a:latin typeface="Times New Roman"/>
                <a:cs typeface="Times New Roman"/>
              </a:rPr>
              <a:t>Req.</a:t>
            </a:r>
            <a:r>
              <a:rPr sz="1650" b="1" spc="-3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Sp</a:t>
            </a:r>
            <a:endParaRPr sz="1650">
              <a:latin typeface="Times New Roman"/>
              <a:cs typeface="Times New Roman"/>
            </a:endParaRPr>
          </a:p>
          <a:p>
            <a:pPr marL="189865" marR="24765" indent="52705" algn="r">
              <a:lnSpc>
                <a:spcPts val="3070"/>
              </a:lnSpc>
              <a:spcBef>
                <a:spcPts val="210"/>
              </a:spcBef>
            </a:pPr>
            <a:r>
              <a:rPr sz="1650" b="1" spc="-30" dirty="0">
                <a:latin typeface="Times New Roman"/>
                <a:cs typeface="Times New Roman"/>
              </a:rPr>
              <a:t>D</a:t>
            </a:r>
            <a:r>
              <a:rPr sz="1650" b="1" spc="20" dirty="0">
                <a:latin typeface="Times New Roman"/>
                <a:cs typeface="Times New Roman"/>
              </a:rPr>
              <a:t>e</a:t>
            </a:r>
            <a:r>
              <a:rPr sz="1650" b="1" spc="-30" dirty="0">
                <a:latin typeface="Times New Roman"/>
                <a:cs typeface="Times New Roman"/>
              </a:rPr>
              <a:t>s</a:t>
            </a:r>
            <a:r>
              <a:rPr sz="1650" b="1" spc="20" dirty="0">
                <a:latin typeface="Times New Roman"/>
                <a:cs typeface="Times New Roman"/>
              </a:rPr>
              <a:t>i</a:t>
            </a:r>
            <a:r>
              <a:rPr sz="1650" b="1" dirty="0">
                <a:latin typeface="Times New Roman"/>
                <a:cs typeface="Times New Roman"/>
              </a:rPr>
              <a:t>gn  </a:t>
            </a:r>
            <a:r>
              <a:rPr sz="1650" b="1" spc="-30" dirty="0">
                <a:latin typeface="Times New Roman"/>
                <a:cs typeface="Times New Roman"/>
              </a:rPr>
              <a:t>C</a:t>
            </a:r>
            <a:r>
              <a:rPr sz="1650" b="1" dirty="0">
                <a:latin typeface="Times New Roman"/>
                <a:cs typeface="Times New Roman"/>
              </a:rPr>
              <a:t>o</a:t>
            </a:r>
            <a:r>
              <a:rPr sz="1650" b="1" spc="-30" dirty="0">
                <a:latin typeface="Times New Roman"/>
                <a:cs typeface="Times New Roman"/>
              </a:rPr>
              <a:t>d</a:t>
            </a:r>
            <a:r>
              <a:rPr sz="1650" b="1" spc="20" dirty="0">
                <a:latin typeface="Times New Roman"/>
                <a:cs typeface="Times New Roman"/>
              </a:rPr>
              <a:t>i</a:t>
            </a:r>
            <a:r>
              <a:rPr sz="1650" b="1" spc="-30" dirty="0">
                <a:latin typeface="Times New Roman"/>
                <a:cs typeface="Times New Roman"/>
              </a:rPr>
              <a:t>n</a:t>
            </a:r>
            <a:r>
              <a:rPr sz="1650" b="1" dirty="0">
                <a:latin typeface="Times New Roman"/>
                <a:cs typeface="Times New Roman"/>
              </a:rPr>
              <a:t>g</a:t>
            </a:r>
            <a:endParaRPr sz="1650">
              <a:latin typeface="Times New Roman"/>
              <a:cs typeface="Times New Roman"/>
            </a:endParaRPr>
          </a:p>
          <a:p>
            <a:pPr marL="12700" marR="5080" indent="451484" algn="r">
              <a:lnSpc>
                <a:spcPts val="3000"/>
              </a:lnSpc>
            </a:pPr>
            <a:r>
              <a:rPr sz="1650" b="1" spc="5" dirty="0">
                <a:latin typeface="Times New Roman"/>
                <a:cs typeface="Times New Roman"/>
              </a:rPr>
              <a:t>Test </a:t>
            </a:r>
            <a:r>
              <a:rPr sz="1650" b="1" spc="-400" dirty="0">
                <a:latin typeface="Times New Roman"/>
                <a:cs typeface="Times New Roman"/>
              </a:rPr>
              <a:t> </a:t>
            </a:r>
            <a:r>
              <a:rPr sz="1650" b="1" spc="15" dirty="0">
                <a:latin typeface="Times New Roman"/>
                <a:cs typeface="Times New Roman"/>
              </a:rPr>
              <a:t>M</a:t>
            </a:r>
            <a:r>
              <a:rPr sz="1650" b="1" dirty="0">
                <a:latin typeface="Times New Roman"/>
                <a:cs typeface="Times New Roman"/>
              </a:rPr>
              <a:t>a</a:t>
            </a:r>
            <a:r>
              <a:rPr sz="1650" b="1" spc="15" dirty="0">
                <a:latin typeface="Times New Roman"/>
                <a:cs typeface="Times New Roman"/>
              </a:rPr>
              <a:t>i</a:t>
            </a:r>
            <a:r>
              <a:rPr sz="1650" b="1" spc="-30" dirty="0">
                <a:latin typeface="Times New Roman"/>
                <a:cs typeface="Times New Roman"/>
              </a:rPr>
              <a:t>n</a:t>
            </a:r>
            <a:r>
              <a:rPr sz="1650" b="1" dirty="0">
                <a:latin typeface="Times New Roman"/>
                <a:cs typeface="Times New Roman"/>
              </a:rPr>
              <a:t>t</a:t>
            </a:r>
            <a:r>
              <a:rPr sz="1650" b="1" spc="-30" dirty="0">
                <a:latin typeface="Times New Roman"/>
                <a:cs typeface="Times New Roman"/>
              </a:rPr>
              <a:t>n</a:t>
            </a:r>
            <a:r>
              <a:rPr sz="1650" b="1" spc="20" dirty="0">
                <a:latin typeface="Times New Roman"/>
                <a:cs typeface="Times New Roman"/>
              </a:rPr>
              <a:t>c</a:t>
            </a:r>
            <a:r>
              <a:rPr sz="1650" b="1" dirty="0">
                <a:latin typeface="Times New Roman"/>
                <a:cs typeface="Times New Roman"/>
              </a:rPr>
              <a:t>e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142023" y="1800409"/>
            <a:ext cx="267970" cy="1304290"/>
          </a:xfrm>
          <a:prstGeom prst="rect">
            <a:avLst/>
          </a:prstGeom>
        </p:spPr>
        <p:txBody>
          <a:bodyPr vert="vert270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350" b="1" spc="5" dirty="0">
                <a:latin typeface="Comic Sans MS"/>
                <a:cs typeface="Comic Sans MS"/>
              </a:rPr>
              <a:t>Relative</a:t>
            </a:r>
            <a:r>
              <a:rPr sz="1350" b="1" spc="-95" dirty="0">
                <a:latin typeface="Comic Sans MS"/>
                <a:cs typeface="Comic Sans MS"/>
              </a:rPr>
              <a:t> </a:t>
            </a:r>
            <a:r>
              <a:rPr sz="1350" b="1" spc="5" dirty="0">
                <a:latin typeface="Comic Sans MS"/>
                <a:cs typeface="Comic Sans MS"/>
              </a:rPr>
              <a:t>Effort</a:t>
            </a:r>
            <a:endParaRPr sz="135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62600" y="2417063"/>
            <a:ext cx="2804160" cy="72898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99695" rIns="0" bIns="0" rtlCol="0">
            <a:spAutoFit/>
          </a:bodyPr>
          <a:lstStyle/>
          <a:p>
            <a:pPr marL="250825">
              <a:lnSpc>
                <a:spcPct val="100000"/>
              </a:lnSpc>
              <a:spcBef>
                <a:spcPts val="785"/>
              </a:spcBef>
            </a:pPr>
            <a:r>
              <a:rPr sz="3000" b="1" spc="-15" dirty="0">
                <a:solidFill>
                  <a:srgbClr val="0033CC"/>
                </a:solidFill>
                <a:latin typeface="Calibri"/>
                <a:cs typeface="Calibri"/>
              </a:rPr>
              <a:t>Process</a:t>
            </a:r>
            <a:r>
              <a:rPr sz="3000" b="1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3000" b="1" spc="-5" dirty="0">
                <a:solidFill>
                  <a:srgbClr val="0033CC"/>
                </a:solidFill>
                <a:latin typeface="Calibri"/>
                <a:cs typeface="Calibri"/>
              </a:rPr>
              <a:t>Model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3111" y="215708"/>
            <a:ext cx="8322945" cy="2028189"/>
          </a:xfrm>
          <a:prstGeom prst="rect">
            <a:avLst/>
          </a:prstGeom>
        </p:spPr>
        <p:txBody>
          <a:bodyPr vert="horz" wrap="square" lIns="0" tIns="206375" rIns="0" bIns="0" rtlCol="0">
            <a:spAutoFit/>
          </a:bodyPr>
          <a:lstStyle/>
          <a:p>
            <a:pPr marL="244475" indent="-232410">
              <a:lnSpc>
                <a:spcPct val="100000"/>
              </a:lnSpc>
              <a:spcBef>
                <a:spcPts val="1625"/>
              </a:spcBef>
              <a:buFont typeface="Arial MT"/>
              <a:buChar char="•"/>
              <a:tabLst>
                <a:tab pos="244475" algn="l"/>
                <a:tab pos="245110" algn="l"/>
              </a:tabLst>
            </a:pPr>
            <a:r>
              <a:rPr sz="2300" spc="-5" dirty="0">
                <a:latin typeface="Calibri"/>
                <a:cs typeface="Calibri"/>
              </a:rPr>
              <a:t>Most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organizations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usually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define:</a:t>
            </a:r>
            <a:endParaRPr sz="2300">
              <a:latin typeface="Calibri"/>
              <a:cs typeface="Calibri"/>
            </a:endParaRPr>
          </a:p>
          <a:p>
            <a:pPr marL="515620" lvl="1" indent="-192405">
              <a:lnSpc>
                <a:spcPct val="100000"/>
              </a:lnSpc>
              <a:spcBef>
                <a:spcPts val="1310"/>
              </a:spcBef>
              <a:buFont typeface="Arial MT"/>
              <a:buChar char="–"/>
              <a:tabLst>
                <a:tab pos="516255" algn="l"/>
              </a:tabLst>
            </a:pPr>
            <a:r>
              <a:rPr sz="2000" spc="-10" dirty="0">
                <a:latin typeface="Calibri"/>
                <a:cs typeface="Calibri"/>
              </a:rPr>
              <a:t>Standards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outputs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(deliverables)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produced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at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the end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every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phase</a:t>
            </a:r>
            <a:endParaRPr sz="2000">
              <a:latin typeface="Calibri"/>
              <a:cs typeface="Calibri"/>
            </a:endParaRPr>
          </a:p>
          <a:p>
            <a:pPr marL="515620" lvl="1" indent="-192405">
              <a:lnSpc>
                <a:spcPct val="100000"/>
              </a:lnSpc>
              <a:spcBef>
                <a:spcPts val="1300"/>
              </a:spcBef>
              <a:buFont typeface="Arial MT"/>
              <a:buChar char="–"/>
              <a:tabLst>
                <a:tab pos="516255" algn="l"/>
              </a:tabLst>
            </a:pPr>
            <a:r>
              <a:rPr sz="2000" spc="-10" dirty="0">
                <a:latin typeface="Calibri"/>
                <a:cs typeface="Calibri"/>
              </a:rPr>
              <a:t>Entry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5" dirty="0">
                <a:latin typeface="Calibri"/>
                <a:cs typeface="Calibri"/>
              </a:rPr>
              <a:t> exit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criteria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every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phase.</a:t>
            </a:r>
            <a:endParaRPr sz="2000">
              <a:latin typeface="Calibri"/>
              <a:cs typeface="Calibri"/>
            </a:endParaRPr>
          </a:p>
          <a:p>
            <a:pPr marL="244475" indent="-232410">
              <a:lnSpc>
                <a:spcPct val="100000"/>
              </a:lnSpc>
              <a:spcBef>
                <a:spcPts val="1310"/>
              </a:spcBef>
              <a:buFont typeface="Arial MT"/>
              <a:buChar char="•"/>
              <a:tabLst>
                <a:tab pos="244475" algn="l"/>
                <a:tab pos="245110" algn="l"/>
                <a:tab pos="2660015" algn="l"/>
              </a:tabLst>
            </a:pPr>
            <a:r>
              <a:rPr sz="2300" spc="-10" dirty="0">
                <a:latin typeface="Calibri"/>
                <a:cs typeface="Calibri"/>
              </a:rPr>
              <a:t>They</a:t>
            </a:r>
            <a:r>
              <a:rPr sz="2300" spc="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also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prescribe	</a:t>
            </a:r>
            <a:r>
              <a:rPr sz="2300" spc="-5" dirty="0">
                <a:latin typeface="Calibri"/>
                <a:cs typeface="Calibri"/>
              </a:rPr>
              <a:t>methodologies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for: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4312" y="2219182"/>
            <a:ext cx="2874645" cy="1898014"/>
          </a:xfrm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204470" indent="-192405">
              <a:lnSpc>
                <a:spcPct val="100000"/>
              </a:lnSpc>
              <a:spcBef>
                <a:spcPts val="1400"/>
              </a:spcBef>
              <a:buFont typeface="Arial MT"/>
              <a:buChar char="–"/>
              <a:tabLst>
                <a:tab pos="205104" algn="l"/>
              </a:tabLst>
            </a:pPr>
            <a:r>
              <a:rPr sz="2000" spc="-10" dirty="0">
                <a:solidFill>
                  <a:srgbClr val="0000FF"/>
                </a:solidFill>
                <a:latin typeface="Calibri"/>
                <a:cs typeface="Calibri"/>
              </a:rPr>
              <a:t>Specification,</a:t>
            </a:r>
            <a:endParaRPr sz="2000">
              <a:latin typeface="Calibri"/>
              <a:cs typeface="Calibri"/>
            </a:endParaRPr>
          </a:p>
          <a:p>
            <a:pPr marL="204470" indent="-192405">
              <a:lnSpc>
                <a:spcPct val="100000"/>
              </a:lnSpc>
              <a:spcBef>
                <a:spcPts val="1295"/>
              </a:spcBef>
              <a:buFont typeface="Arial MT"/>
              <a:buChar char="–"/>
              <a:tabLst>
                <a:tab pos="205104" algn="l"/>
              </a:tabLst>
            </a:pPr>
            <a:r>
              <a:rPr sz="2000" spc="-10" dirty="0">
                <a:solidFill>
                  <a:srgbClr val="0000FF"/>
                </a:solidFill>
                <a:latin typeface="Calibri"/>
                <a:cs typeface="Calibri"/>
              </a:rPr>
              <a:t>Design,</a:t>
            </a:r>
            <a:endParaRPr sz="2000">
              <a:latin typeface="Calibri"/>
              <a:cs typeface="Calibri"/>
            </a:endParaRPr>
          </a:p>
          <a:p>
            <a:pPr marL="204470" indent="-192405">
              <a:lnSpc>
                <a:spcPct val="100000"/>
              </a:lnSpc>
              <a:spcBef>
                <a:spcPts val="1275"/>
              </a:spcBef>
              <a:buFont typeface="Arial MT"/>
              <a:buChar char="–"/>
              <a:tabLst>
                <a:tab pos="205104" algn="l"/>
              </a:tabLst>
            </a:pPr>
            <a:r>
              <a:rPr sz="2000" spc="-30" dirty="0">
                <a:solidFill>
                  <a:srgbClr val="0000FF"/>
                </a:solidFill>
                <a:latin typeface="Calibri"/>
                <a:cs typeface="Calibri"/>
              </a:rPr>
              <a:t>Testing,</a:t>
            </a:r>
            <a:endParaRPr sz="2000">
              <a:latin typeface="Calibri"/>
              <a:cs typeface="Calibri"/>
            </a:endParaRPr>
          </a:p>
          <a:p>
            <a:pPr marL="204470" indent="-192405">
              <a:lnSpc>
                <a:spcPct val="100000"/>
              </a:lnSpc>
              <a:spcBef>
                <a:spcPts val="1275"/>
              </a:spcBef>
              <a:buFont typeface="Arial MT"/>
              <a:buChar char="–"/>
              <a:tabLst>
                <a:tab pos="205104" algn="l"/>
              </a:tabLst>
            </a:pPr>
            <a:r>
              <a:rPr sz="2000" spc="-10" dirty="0">
                <a:solidFill>
                  <a:srgbClr val="0000FF"/>
                </a:solidFill>
                <a:latin typeface="Calibri"/>
                <a:cs typeface="Calibri"/>
              </a:rPr>
              <a:t>Project management,</a:t>
            </a:r>
            <a:r>
              <a:rPr sz="2000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04669" y="231470"/>
            <a:ext cx="458089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/>
              <a:t>Classical</a:t>
            </a:r>
            <a:r>
              <a:rPr sz="3000" spc="-45" dirty="0"/>
              <a:t> </a:t>
            </a:r>
            <a:r>
              <a:rPr sz="3000" spc="-30" dirty="0"/>
              <a:t>Waterfall</a:t>
            </a:r>
            <a:r>
              <a:rPr sz="3000" spc="-40" dirty="0"/>
              <a:t> </a:t>
            </a:r>
            <a:r>
              <a:rPr sz="3000" spc="-5" dirty="0"/>
              <a:t>Model</a:t>
            </a:r>
            <a:r>
              <a:rPr sz="3000" spc="-10" dirty="0"/>
              <a:t> </a:t>
            </a:r>
            <a:r>
              <a:rPr sz="1200" spc="-5" dirty="0"/>
              <a:t>(CONT.)</a:t>
            </a:r>
            <a:endParaRPr sz="12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5" dirty="0"/>
              <a:t>22</a:t>
            </a:fld>
            <a:endParaRPr spc="-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98976" y="1481366"/>
            <a:ext cx="5082285" cy="69630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5361" y="640133"/>
            <a:ext cx="8700135" cy="3117215"/>
          </a:xfrm>
          <a:prstGeom prst="rect">
            <a:avLst/>
          </a:prstGeom>
        </p:spPr>
        <p:txBody>
          <a:bodyPr vert="horz" wrap="square" lIns="0" tIns="246379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1939"/>
              </a:spcBef>
              <a:buFont typeface="Arial MT"/>
              <a:buChar char="•"/>
              <a:tabLst>
                <a:tab pos="244475" algn="l"/>
                <a:tab pos="5208270" algn="l"/>
              </a:tabLst>
            </a:pPr>
            <a:r>
              <a:rPr sz="2700" dirty="0">
                <a:latin typeface="Calibri"/>
                <a:cs typeface="Calibri"/>
              </a:rPr>
              <a:t>The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guidelines</a:t>
            </a:r>
            <a:r>
              <a:rPr sz="2700" spc="9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and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methodologies	</a:t>
            </a:r>
            <a:r>
              <a:rPr sz="2700" spc="5" dirty="0">
                <a:latin typeface="Calibri"/>
                <a:cs typeface="Calibri"/>
              </a:rPr>
              <a:t>of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an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organization:</a:t>
            </a:r>
            <a:endParaRPr sz="27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1850"/>
              </a:spcBef>
            </a:pPr>
            <a:r>
              <a:rPr sz="2700" dirty="0">
                <a:latin typeface="Arial MT"/>
                <a:cs typeface="Arial MT"/>
              </a:rPr>
              <a:t>–</a:t>
            </a:r>
            <a:r>
              <a:rPr sz="2700" dirty="0">
                <a:latin typeface="Calibri"/>
                <a:cs typeface="Calibri"/>
              </a:rPr>
              <a:t>Called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the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organization's</a:t>
            </a:r>
            <a:r>
              <a:rPr sz="2700" spc="65" dirty="0"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0000FF"/>
                </a:solidFill>
                <a:latin typeface="Calibri"/>
                <a:cs typeface="Calibri"/>
              </a:rPr>
              <a:t>software</a:t>
            </a:r>
            <a:r>
              <a:rPr sz="245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0000FF"/>
                </a:solidFill>
                <a:latin typeface="Calibri"/>
                <a:cs typeface="Calibri"/>
              </a:rPr>
              <a:t>development</a:t>
            </a:r>
            <a:r>
              <a:rPr sz="245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0000FF"/>
                </a:solidFill>
                <a:latin typeface="Calibri"/>
                <a:cs typeface="Calibri"/>
              </a:rPr>
              <a:t>methodology.</a:t>
            </a:r>
            <a:endParaRPr sz="2450">
              <a:latin typeface="Calibri"/>
              <a:cs typeface="Calibri"/>
            </a:endParaRPr>
          </a:p>
          <a:p>
            <a:pPr marL="243840" indent="-231775">
              <a:lnSpc>
                <a:spcPct val="100000"/>
              </a:lnSpc>
              <a:spcBef>
                <a:spcPts val="1875"/>
              </a:spcBef>
              <a:buFont typeface="Arial MT"/>
              <a:buChar char="•"/>
              <a:tabLst>
                <a:tab pos="244475" algn="l"/>
              </a:tabLst>
            </a:pPr>
            <a:r>
              <a:rPr sz="2700" spc="-10" dirty="0">
                <a:latin typeface="Calibri"/>
                <a:cs typeface="Calibri"/>
              </a:rPr>
              <a:t>Software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development</a:t>
            </a:r>
            <a:r>
              <a:rPr sz="2700" spc="7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organizations:</a:t>
            </a:r>
            <a:endParaRPr sz="2700">
              <a:latin typeface="Calibri"/>
              <a:cs typeface="Calibri"/>
            </a:endParaRPr>
          </a:p>
          <a:p>
            <a:pPr marL="515620" marR="884555" indent="-192405">
              <a:lnSpc>
                <a:spcPct val="121600"/>
              </a:lnSpc>
              <a:spcBef>
                <a:spcPts val="1175"/>
              </a:spcBef>
              <a:tabLst>
                <a:tab pos="3898900" algn="l"/>
              </a:tabLst>
            </a:pPr>
            <a:r>
              <a:rPr sz="2450" dirty="0">
                <a:latin typeface="Arial MT"/>
                <a:cs typeface="Arial MT"/>
              </a:rPr>
              <a:t>–</a:t>
            </a:r>
            <a:r>
              <a:rPr sz="2450" spc="35" dirty="0">
                <a:latin typeface="Arial MT"/>
                <a:cs typeface="Arial MT"/>
              </a:rPr>
              <a:t> </a:t>
            </a:r>
            <a:r>
              <a:rPr sz="2700" dirty="0">
                <a:latin typeface="Calibri"/>
                <a:cs typeface="Calibri"/>
              </a:rPr>
              <a:t>Expect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fresh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engineers	to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master </a:t>
            </a:r>
            <a:r>
              <a:rPr sz="2700" spc="5" dirty="0">
                <a:latin typeface="Calibri"/>
                <a:cs typeface="Calibri"/>
              </a:rPr>
              <a:t>the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organization's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software</a:t>
            </a:r>
            <a:r>
              <a:rPr sz="2700" spc="5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development</a:t>
            </a:r>
            <a:r>
              <a:rPr sz="2700" spc="6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methodology.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38665" y="1981009"/>
            <a:ext cx="3039745" cy="1853564"/>
            <a:chOff x="3038665" y="1981009"/>
            <a:chExt cx="3039745" cy="1853564"/>
          </a:xfrm>
        </p:grpSpPr>
        <p:sp>
          <p:nvSpPr>
            <p:cNvPr id="3" name="object 3"/>
            <p:cNvSpPr/>
            <p:nvPr/>
          </p:nvSpPr>
          <p:spPr>
            <a:xfrm>
              <a:off x="3051047" y="1993392"/>
              <a:ext cx="3014980" cy="1828800"/>
            </a:xfrm>
            <a:custGeom>
              <a:avLst/>
              <a:gdLst/>
              <a:ahLst/>
              <a:cxnLst/>
              <a:rect l="l" t="t" r="r" b="b"/>
              <a:pathLst>
                <a:path w="3014979" h="1828800">
                  <a:moveTo>
                    <a:pt x="1507236" y="0"/>
                  </a:moveTo>
                  <a:lnTo>
                    <a:pt x="0" y="1828800"/>
                  </a:lnTo>
                  <a:lnTo>
                    <a:pt x="3014472" y="1828800"/>
                  </a:lnTo>
                  <a:lnTo>
                    <a:pt x="1507236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051047" y="1993392"/>
              <a:ext cx="3014980" cy="1828800"/>
            </a:xfrm>
            <a:custGeom>
              <a:avLst/>
              <a:gdLst/>
              <a:ahLst/>
              <a:cxnLst/>
              <a:rect l="l" t="t" r="r" b="b"/>
              <a:pathLst>
                <a:path w="3014979" h="1828800">
                  <a:moveTo>
                    <a:pt x="0" y="1828800"/>
                  </a:moveTo>
                  <a:lnTo>
                    <a:pt x="1507236" y="0"/>
                  </a:lnTo>
                  <a:lnTo>
                    <a:pt x="3014472" y="1828800"/>
                  </a:lnTo>
                  <a:lnTo>
                    <a:pt x="0" y="1828800"/>
                  </a:lnTo>
                  <a:close/>
                </a:path>
              </a:pathLst>
            </a:custGeom>
            <a:ln w="24384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896359" y="2988640"/>
            <a:ext cx="13277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solidFill>
                  <a:srgbClr val="FFFF00"/>
                </a:solidFill>
                <a:latin typeface="Comic Sans MS"/>
                <a:cs typeface="Comic Sans MS"/>
              </a:rPr>
              <a:t>Feasibility</a:t>
            </a:r>
            <a:endParaRPr sz="20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sz="2000" b="1" spc="-15" dirty="0">
                <a:solidFill>
                  <a:srgbClr val="FFFF00"/>
                </a:solidFill>
                <a:latin typeface="Comic Sans MS"/>
                <a:cs typeface="Comic Sans MS"/>
              </a:rPr>
              <a:t>Dimensions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32256" y="250316"/>
            <a:ext cx="26066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solidFill>
                  <a:srgbClr val="000000"/>
                </a:solidFill>
              </a:rPr>
              <a:t>Feasibility</a:t>
            </a:r>
            <a:r>
              <a:rPr sz="3000" spc="-100" dirty="0">
                <a:solidFill>
                  <a:srgbClr val="000000"/>
                </a:solidFill>
              </a:rPr>
              <a:t> </a:t>
            </a:r>
            <a:r>
              <a:rPr sz="3000" dirty="0">
                <a:solidFill>
                  <a:srgbClr val="000000"/>
                </a:solidFill>
              </a:rPr>
              <a:t>Study</a:t>
            </a:r>
            <a:endParaRPr sz="300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5" dirty="0"/>
              <a:t>23</a:t>
            </a:fld>
            <a:endParaRPr spc="-5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06440" y="2700502"/>
            <a:ext cx="1671700" cy="148882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105525" y="3123945"/>
            <a:ext cx="11328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00"/>
                </a:solidFill>
                <a:latin typeface="Comic Sans MS"/>
                <a:cs typeface="Comic Sans MS"/>
              </a:rPr>
              <a:t>Schedule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FFFF00"/>
                </a:solidFill>
                <a:latin typeface="Comic Sans MS"/>
                <a:cs typeface="Comic Sans MS"/>
              </a:rPr>
              <a:t>feasibility</a:t>
            </a:r>
            <a:endParaRPr sz="1800">
              <a:latin typeface="Comic Sans MS"/>
              <a:cs typeface="Comic Sans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1911" y="2700502"/>
            <a:ext cx="1686940" cy="148882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90141" y="3123945"/>
            <a:ext cx="11328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00"/>
                </a:solidFill>
                <a:latin typeface="Comic Sans MS"/>
                <a:cs typeface="Comic Sans MS"/>
              </a:rPr>
              <a:t>Technical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FFFF00"/>
                </a:solidFill>
                <a:latin typeface="Comic Sans MS"/>
                <a:cs typeface="Comic Sans MS"/>
              </a:rPr>
              <a:t>feasibility</a:t>
            </a:r>
            <a:endParaRPr sz="1800">
              <a:latin typeface="Comic Sans MS"/>
              <a:cs typeface="Comic Sans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15511" y="393191"/>
            <a:ext cx="1625981" cy="165646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019803" y="642619"/>
            <a:ext cx="1083310" cy="10922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-6985" algn="ctr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FFFF00"/>
                </a:solidFill>
                <a:latin typeface="Comic Sans MS"/>
                <a:cs typeface="Comic Sans MS"/>
              </a:rPr>
              <a:t>Economic </a:t>
            </a:r>
            <a:r>
              <a:rPr sz="1400" b="1" spc="-5" dirty="0">
                <a:solidFill>
                  <a:srgbClr val="FFFF00"/>
                </a:solidFill>
                <a:latin typeface="Comic Sans MS"/>
                <a:cs typeface="Comic Sans MS"/>
              </a:rPr>
              <a:t> </a:t>
            </a:r>
            <a:r>
              <a:rPr sz="1400" b="1" spc="-15" dirty="0">
                <a:solidFill>
                  <a:srgbClr val="FFFF00"/>
                </a:solidFill>
                <a:latin typeface="Comic Sans MS"/>
                <a:cs typeface="Comic Sans MS"/>
              </a:rPr>
              <a:t>feasibility </a:t>
            </a:r>
            <a:r>
              <a:rPr sz="1400" b="1" spc="-10" dirty="0">
                <a:solidFill>
                  <a:srgbClr val="FFFF00"/>
                </a:solidFill>
                <a:latin typeface="Comic Sans MS"/>
                <a:cs typeface="Comic Sans MS"/>
              </a:rPr>
              <a:t> (also</a:t>
            </a:r>
            <a:r>
              <a:rPr sz="1400" b="1" spc="15" dirty="0">
                <a:solidFill>
                  <a:srgbClr val="FFFF00"/>
                </a:solidFill>
                <a:latin typeface="Comic Sans MS"/>
                <a:cs typeface="Comic Sans MS"/>
              </a:rPr>
              <a:t> </a:t>
            </a:r>
            <a:r>
              <a:rPr sz="1400" b="1" spc="-5" dirty="0">
                <a:solidFill>
                  <a:srgbClr val="FFFF00"/>
                </a:solidFill>
                <a:latin typeface="Comic Sans MS"/>
                <a:cs typeface="Comic Sans MS"/>
              </a:rPr>
              <a:t>called </a:t>
            </a:r>
            <a:r>
              <a:rPr sz="1400" b="1" dirty="0">
                <a:solidFill>
                  <a:srgbClr val="FFFF00"/>
                </a:solidFill>
                <a:latin typeface="Comic Sans MS"/>
                <a:cs typeface="Comic Sans MS"/>
              </a:rPr>
              <a:t> c</a:t>
            </a:r>
            <a:r>
              <a:rPr sz="1400" b="1" spc="5" dirty="0">
                <a:solidFill>
                  <a:srgbClr val="FFFF00"/>
                </a:solidFill>
                <a:latin typeface="Comic Sans MS"/>
                <a:cs typeface="Comic Sans MS"/>
              </a:rPr>
              <a:t>o</a:t>
            </a:r>
            <a:r>
              <a:rPr sz="1400" b="1" spc="-5" dirty="0">
                <a:solidFill>
                  <a:srgbClr val="FFFF00"/>
                </a:solidFill>
                <a:latin typeface="Comic Sans MS"/>
                <a:cs typeface="Comic Sans MS"/>
              </a:rPr>
              <a:t>s</a:t>
            </a:r>
            <a:r>
              <a:rPr sz="1400" b="1" spc="-20" dirty="0">
                <a:solidFill>
                  <a:srgbClr val="FFFF00"/>
                </a:solidFill>
                <a:latin typeface="Comic Sans MS"/>
                <a:cs typeface="Comic Sans MS"/>
              </a:rPr>
              <a:t>t</a:t>
            </a:r>
            <a:r>
              <a:rPr sz="1400" b="1" dirty="0">
                <a:solidFill>
                  <a:srgbClr val="FFFF00"/>
                </a:solidFill>
                <a:latin typeface="Comic Sans MS"/>
                <a:cs typeface="Comic Sans MS"/>
              </a:rPr>
              <a:t>/</a:t>
            </a:r>
            <a:r>
              <a:rPr sz="1400" b="1" spc="-15" dirty="0">
                <a:solidFill>
                  <a:srgbClr val="FFFF00"/>
                </a:solidFill>
                <a:latin typeface="Comic Sans MS"/>
                <a:cs typeface="Comic Sans MS"/>
              </a:rPr>
              <a:t>benefi</a:t>
            </a:r>
            <a:r>
              <a:rPr sz="1400" b="1" spc="-5" dirty="0">
                <a:solidFill>
                  <a:srgbClr val="FFFF00"/>
                </a:solidFill>
                <a:latin typeface="Comic Sans MS"/>
                <a:cs typeface="Comic Sans MS"/>
              </a:rPr>
              <a:t>t  </a:t>
            </a:r>
            <a:r>
              <a:rPr sz="1400" b="1" spc="-10" dirty="0">
                <a:solidFill>
                  <a:srgbClr val="FFFF00"/>
                </a:solidFill>
                <a:latin typeface="Comic Sans MS"/>
                <a:cs typeface="Comic Sans MS"/>
              </a:rPr>
              <a:t>feasibility)</a:t>
            </a:r>
            <a:endParaRPr sz="14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3040" y="1200911"/>
            <a:ext cx="3413760" cy="67373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50165" rIns="0" bIns="0" rtlCol="0">
            <a:spAutoFit/>
          </a:bodyPr>
          <a:lstStyle/>
          <a:p>
            <a:pPr marL="303530">
              <a:lnSpc>
                <a:spcPct val="100000"/>
              </a:lnSpc>
              <a:spcBef>
                <a:spcPts val="395"/>
              </a:spcBef>
            </a:pPr>
            <a:r>
              <a:rPr sz="3250" b="1" spc="-10" dirty="0">
                <a:latin typeface="Calibri"/>
                <a:cs typeface="Calibri"/>
              </a:rPr>
              <a:t>Feasibility</a:t>
            </a:r>
            <a:r>
              <a:rPr sz="3250" b="1" spc="65" dirty="0">
                <a:latin typeface="Calibri"/>
                <a:cs typeface="Calibri"/>
              </a:rPr>
              <a:t> </a:t>
            </a:r>
            <a:r>
              <a:rPr sz="3250" b="1" dirty="0">
                <a:latin typeface="Calibri"/>
                <a:cs typeface="Calibri"/>
              </a:rPr>
              <a:t>Study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5" dirty="0"/>
              <a:t>24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76911" y="267499"/>
            <a:ext cx="8375650" cy="848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4475" marR="5080" indent="-232410">
              <a:lnSpc>
                <a:spcPct val="110200"/>
              </a:lnSpc>
              <a:spcBef>
                <a:spcPts val="95"/>
              </a:spcBef>
              <a:buFont typeface="Arial MT"/>
              <a:buChar char="•"/>
              <a:tabLst>
                <a:tab pos="245110" algn="l"/>
              </a:tabLst>
            </a:pPr>
            <a:r>
              <a:rPr sz="2450" spc="-5" dirty="0">
                <a:latin typeface="Calibri"/>
                <a:cs typeface="Calibri"/>
              </a:rPr>
              <a:t>Main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aim</a:t>
            </a:r>
            <a:r>
              <a:rPr sz="2450" spc="3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of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feasibility</a:t>
            </a:r>
            <a:r>
              <a:rPr sz="2450" spc="6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study: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000099"/>
                </a:solidFill>
                <a:latin typeface="Calibri"/>
                <a:cs typeface="Calibri"/>
              </a:rPr>
              <a:t>determine</a:t>
            </a:r>
            <a:r>
              <a:rPr sz="2450" spc="-1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450" spc="-5" dirty="0">
                <a:solidFill>
                  <a:srgbClr val="000099"/>
                </a:solidFill>
                <a:latin typeface="Calibri"/>
                <a:cs typeface="Calibri"/>
              </a:rPr>
              <a:t>whether</a:t>
            </a:r>
            <a:r>
              <a:rPr sz="2450" spc="-4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000099"/>
                </a:solidFill>
                <a:latin typeface="Calibri"/>
                <a:cs typeface="Calibri"/>
              </a:rPr>
              <a:t>developing</a:t>
            </a:r>
            <a:r>
              <a:rPr sz="2450" spc="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450" spc="-5" dirty="0">
                <a:solidFill>
                  <a:srgbClr val="000099"/>
                </a:solidFill>
                <a:latin typeface="Calibri"/>
                <a:cs typeface="Calibri"/>
              </a:rPr>
              <a:t>the </a:t>
            </a:r>
            <a:r>
              <a:rPr sz="2450" spc="-53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000099"/>
                </a:solidFill>
                <a:latin typeface="Calibri"/>
                <a:cs typeface="Calibri"/>
              </a:rPr>
              <a:t>software</a:t>
            </a:r>
            <a:r>
              <a:rPr sz="2450" spc="-2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000099"/>
                </a:solidFill>
                <a:latin typeface="Calibri"/>
                <a:cs typeface="Calibri"/>
              </a:rPr>
              <a:t>is: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8111" y="1105674"/>
            <a:ext cx="2880360" cy="961390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265430" indent="-253365">
              <a:lnSpc>
                <a:spcPct val="100000"/>
              </a:lnSpc>
              <a:spcBef>
                <a:spcPts val="985"/>
              </a:spcBef>
              <a:buFont typeface="Arial MT"/>
              <a:buChar char="–"/>
              <a:tabLst>
                <a:tab pos="266065" algn="l"/>
              </a:tabLst>
            </a:pPr>
            <a:r>
              <a:rPr sz="2150" b="1" spc="10" dirty="0">
                <a:solidFill>
                  <a:srgbClr val="000099"/>
                </a:solidFill>
                <a:latin typeface="Calibri"/>
                <a:cs typeface="Calibri"/>
              </a:rPr>
              <a:t>Financially</a:t>
            </a:r>
            <a:r>
              <a:rPr sz="2150" b="1" spc="-6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150" b="1" spc="5" dirty="0">
                <a:solidFill>
                  <a:srgbClr val="000099"/>
                </a:solidFill>
                <a:latin typeface="Calibri"/>
                <a:cs typeface="Calibri"/>
              </a:rPr>
              <a:t>worthwhile</a:t>
            </a:r>
            <a:endParaRPr sz="2150">
              <a:latin typeface="Calibri"/>
              <a:cs typeface="Calibri"/>
            </a:endParaRPr>
          </a:p>
          <a:p>
            <a:pPr marL="265430" indent="-253365">
              <a:lnSpc>
                <a:spcPct val="100000"/>
              </a:lnSpc>
              <a:spcBef>
                <a:spcPts val="965"/>
              </a:spcBef>
              <a:buFont typeface="Arial MT"/>
              <a:buChar char="–"/>
              <a:tabLst>
                <a:tab pos="266065" algn="l"/>
              </a:tabLst>
            </a:pPr>
            <a:r>
              <a:rPr sz="2150" b="1" spc="-15" dirty="0">
                <a:solidFill>
                  <a:srgbClr val="000099"/>
                </a:solidFill>
                <a:latin typeface="Calibri"/>
                <a:cs typeface="Calibri"/>
              </a:rPr>
              <a:t>Technically</a:t>
            </a:r>
            <a:r>
              <a:rPr sz="2150" b="1" spc="-3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150" b="1" spc="5" dirty="0">
                <a:solidFill>
                  <a:srgbClr val="000099"/>
                </a:solidFill>
                <a:latin typeface="Calibri"/>
                <a:cs typeface="Calibri"/>
              </a:rPr>
              <a:t>feasible</a:t>
            </a:r>
            <a:r>
              <a:rPr sz="2450" b="1" spc="5" dirty="0">
                <a:solidFill>
                  <a:srgbClr val="000099"/>
                </a:solidFill>
                <a:latin typeface="Calibri"/>
                <a:cs typeface="Calibri"/>
              </a:rPr>
              <a:t>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911" y="2032956"/>
            <a:ext cx="6269990" cy="233934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244475" indent="-232410">
              <a:lnSpc>
                <a:spcPct val="100000"/>
              </a:lnSpc>
              <a:spcBef>
                <a:spcPts val="1190"/>
              </a:spcBef>
              <a:buFont typeface="Arial MT"/>
              <a:buChar char="•"/>
              <a:tabLst>
                <a:tab pos="245110" algn="l"/>
              </a:tabLst>
            </a:pPr>
            <a:r>
              <a:rPr sz="2450" spc="-10" dirty="0">
                <a:latin typeface="Calibri"/>
                <a:cs typeface="Calibri"/>
              </a:rPr>
              <a:t>Roughly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understand</a:t>
            </a:r>
            <a:r>
              <a:rPr sz="2450" spc="-7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what </a:t>
            </a:r>
            <a:r>
              <a:rPr sz="2450" spc="-15" dirty="0">
                <a:latin typeface="Calibri"/>
                <a:cs typeface="Calibri"/>
              </a:rPr>
              <a:t>customer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wants:</a:t>
            </a:r>
            <a:endParaRPr sz="2450">
              <a:latin typeface="Calibri"/>
              <a:cs typeface="Calibri"/>
            </a:endParaRPr>
          </a:p>
          <a:p>
            <a:pPr marL="515620" lvl="1" indent="-192405">
              <a:lnSpc>
                <a:spcPct val="100000"/>
              </a:lnSpc>
              <a:spcBef>
                <a:spcPts val="1010"/>
              </a:spcBef>
              <a:buFont typeface="Arial MT"/>
              <a:buChar char="–"/>
              <a:tabLst>
                <a:tab pos="516255" algn="l"/>
              </a:tabLst>
            </a:pPr>
            <a:r>
              <a:rPr sz="2150" b="1" spc="5" dirty="0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r>
              <a:rPr sz="215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10" dirty="0">
                <a:solidFill>
                  <a:srgbClr val="C00000"/>
                </a:solidFill>
                <a:latin typeface="Calibri"/>
                <a:cs typeface="Calibri"/>
              </a:rPr>
              <a:t>which</a:t>
            </a:r>
            <a:r>
              <a:rPr sz="215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10" dirty="0">
                <a:solidFill>
                  <a:srgbClr val="C00000"/>
                </a:solidFill>
                <a:latin typeface="Calibri"/>
                <a:cs typeface="Calibri"/>
              </a:rPr>
              <a:t>would</a:t>
            </a:r>
            <a:r>
              <a:rPr sz="215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15" dirty="0">
                <a:solidFill>
                  <a:srgbClr val="C00000"/>
                </a:solidFill>
                <a:latin typeface="Calibri"/>
                <a:cs typeface="Calibri"/>
              </a:rPr>
              <a:t>be</a:t>
            </a:r>
            <a:r>
              <a:rPr sz="215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10" dirty="0">
                <a:solidFill>
                  <a:srgbClr val="C00000"/>
                </a:solidFill>
                <a:latin typeface="Calibri"/>
                <a:cs typeface="Calibri"/>
              </a:rPr>
              <a:t>input</a:t>
            </a:r>
            <a:r>
              <a:rPr sz="215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5" dirty="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sz="215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15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15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-5" dirty="0">
                <a:solidFill>
                  <a:srgbClr val="C00000"/>
                </a:solidFill>
                <a:latin typeface="Calibri"/>
                <a:cs typeface="Calibri"/>
              </a:rPr>
              <a:t>system,</a:t>
            </a:r>
            <a:endParaRPr sz="2150">
              <a:latin typeface="Calibri"/>
              <a:cs typeface="Calibri"/>
            </a:endParaRPr>
          </a:p>
          <a:p>
            <a:pPr marL="515620" lvl="1" indent="-192405">
              <a:lnSpc>
                <a:spcPct val="100000"/>
              </a:lnSpc>
              <a:spcBef>
                <a:spcPts val="950"/>
              </a:spcBef>
              <a:buFont typeface="Arial MT"/>
              <a:buChar char="–"/>
              <a:tabLst>
                <a:tab pos="516255" algn="l"/>
              </a:tabLst>
            </a:pPr>
            <a:r>
              <a:rPr sz="2150" b="1" spc="5" dirty="0">
                <a:solidFill>
                  <a:srgbClr val="C00000"/>
                </a:solidFill>
                <a:latin typeface="Calibri"/>
                <a:cs typeface="Calibri"/>
              </a:rPr>
              <a:t>Processing </a:t>
            </a:r>
            <a:r>
              <a:rPr sz="2150" b="1" spc="15" dirty="0">
                <a:solidFill>
                  <a:srgbClr val="C00000"/>
                </a:solidFill>
                <a:latin typeface="Calibri"/>
                <a:cs typeface="Calibri"/>
              </a:rPr>
              <a:t>needed</a:t>
            </a:r>
            <a:r>
              <a:rPr sz="215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15" dirty="0">
                <a:solidFill>
                  <a:srgbClr val="C00000"/>
                </a:solidFill>
                <a:latin typeface="Calibri"/>
                <a:cs typeface="Calibri"/>
              </a:rPr>
              <a:t>on</a:t>
            </a:r>
            <a:r>
              <a:rPr sz="215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15" dirty="0">
                <a:solidFill>
                  <a:srgbClr val="C00000"/>
                </a:solidFill>
                <a:latin typeface="Calibri"/>
                <a:cs typeface="Calibri"/>
              </a:rPr>
              <a:t>these</a:t>
            </a:r>
            <a:r>
              <a:rPr sz="215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5" dirty="0">
                <a:solidFill>
                  <a:srgbClr val="C00000"/>
                </a:solidFill>
                <a:latin typeface="Calibri"/>
                <a:cs typeface="Calibri"/>
              </a:rPr>
              <a:t>data,</a:t>
            </a:r>
            <a:endParaRPr sz="2150">
              <a:latin typeface="Calibri"/>
              <a:cs typeface="Calibri"/>
            </a:endParaRPr>
          </a:p>
          <a:p>
            <a:pPr marL="515620" lvl="1" indent="-192405">
              <a:lnSpc>
                <a:spcPct val="100000"/>
              </a:lnSpc>
              <a:spcBef>
                <a:spcPts val="950"/>
              </a:spcBef>
              <a:buFont typeface="Arial MT"/>
              <a:buChar char="–"/>
              <a:tabLst>
                <a:tab pos="516255" algn="l"/>
              </a:tabLst>
            </a:pPr>
            <a:r>
              <a:rPr sz="2150" b="1" spc="15" dirty="0">
                <a:solidFill>
                  <a:srgbClr val="C00000"/>
                </a:solidFill>
                <a:latin typeface="Calibri"/>
                <a:cs typeface="Calibri"/>
              </a:rPr>
              <a:t>Output</a:t>
            </a:r>
            <a:r>
              <a:rPr sz="215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5" dirty="0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r>
              <a:rPr sz="215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5" dirty="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sz="215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15" dirty="0">
                <a:solidFill>
                  <a:srgbClr val="C00000"/>
                </a:solidFill>
                <a:latin typeface="Calibri"/>
                <a:cs typeface="Calibri"/>
              </a:rPr>
              <a:t>be</a:t>
            </a:r>
            <a:r>
              <a:rPr sz="215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10" dirty="0">
                <a:solidFill>
                  <a:srgbClr val="C00000"/>
                </a:solidFill>
                <a:latin typeface="Calibri"/>
                <a:cs typeface="Calibri"/>
              </a:rPr>
              <a:t>produced</a:t>
            </a:r>
            <a:r>
              <a:rPr sz="215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15" dirty="0">
                <a:solidFill>
                  <a:srgbClr val="C00000"/>
                </a:solidFill>
                <a:latin typeface="Calibri"/>
                <a:cs typeface="Calibri"/>
              </a:rPr>
              <a:t>by</a:t>
            </a:r>
            <a:r>
              <a:rPr sz="215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15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15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-5" dirty="0">
                <a:solidFill>
                  <a:srgbClr val="C00000"/>
                </a:solidFill>
                <a:latin typeface="Calibri"/>
                <a:cs typeface="Calibri"/>
              </a:rPr>
              <a:t>system,</a:t>
            </a:r>
            <a:endParaRPr sz="2150">
              <a:latin typeface="Calibri"/>
              <a:cs typeface="Calibri"/>
            </a:endParaRPr>
          </a:p>
          <a:p>
            <a:pPr marL="515620" lvl="1" indent="-192405">
              <a:lnSpc>
                <a:spcPct val="100000"/>
              </a:lnSpc>
              <a:spcBef>
                <a:spcPts val="950"/>
              </a:spcBef>
              <a:buFont typeface="Arial MT"/>
              <a:buChar char="–"/>
              <a:tabLst>
                <a:tab pos="516255" algn="l"/>
              </a:tabLst>
            </a:pPr>
            <a:r>
              <a:rPr sz="2150" b="1" spc="-5" dirty="0">
                <a:solidFill>
                  <a:srgbClr val="C00000"/>
                </a:solidFill>
                <a:latin typeface="Calibri"/>
                <a:cs typeface="Calibri"/>
              </a:rPr>
              <a:t>Various</a:t>
            </a:r>
            <a:r>
              <a:rPr sz="215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C00000"/>
                </a:solidFill>
                <a:latin typeface="Calibri"/>
                <a:cs typeface="Calibri"/>
              </a:rPr>
              <a:t>constraints</a:t>
            </a:r>
            <a:r>
              <a:rPr sz="215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15" dirty="0">
                <a:solidFill>
                  <a:srgbClr val="C00000"/>
                </a:solidFill>
                <a:latin typeface="Calibri"/>
                <a:cs typeface="Calibri"/>
              </a:rPr>
              <a:t>on</a:t>
            </a:r>
            <a:r>
              <a:rPr sz="215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15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15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10" dirty="0">
                <a:solidFill>
                  <a:srgbClr val="C00000"/>
                </a:solidFill>
                <a:latin typeface="Calibri"/>
                <a:cs typeface="Calibri"/>
              </a:rPr>
              <a:t>behavior</a:t>
            </a:r>
            <a:r>
              <a:rPr sz="215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10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215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15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15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150" b="1" spc="-5" dirty="0">
                <a:solidFill>
                  <a:srgbClr val="C00000"/>
                </a:solidFill>
                <a:latin typeface="Calibri"/>
                <a:cs typeface="Calibri"/>
              </a:rPr>
              <a:t>system.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90359" y="2115311"/>
            <a:ext cx="1859280" cy="67373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50800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400"/>
              </a:spcBef>
            </a:pPr>
            <a:r>
              <a:rPr sz="3250" b="1" spc="-25" dirty="0">
                <a:latin typeface="Calibri"/>
                <a:cs typeface="Calibri"/>
              </a:rPr>
              <a:t>First</a:t>
            </a:r>
            <a:r>
              <a:rPr sz="3250" b="1" spc="15" dirty="0">
                <a:latin typeface="Calibri"/>
                <a:cs typeface="Calibri"/>
              </a:rPr>
              <a:t> </a:t>
            </a:r>
            <a:r>
              <a:rPr sz="3250" b="1" spc="-15" dirty="0">
                <a:latin typeface="Calibri"/>
                <a:cs typeface="Calibri"/>
              </a:rPr>
              <a:t>Step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81800" y="1950719"/>
            <a:ext cx="2194560" cy="93599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93675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1525"/>
              </a:spcBef>
            </a:pPr>
            <a:r>
              <a:rPr sz="3250" b="1" dirty="0">
                <a:latin typeface="Calibri"/>
                <a:cs typeface="Calibri"/>
              </a:rPr>
              <a:t>Case</a:t>
            </a:r>
            <a:r>
              <a:rPr sz="3250" b="1" spc="-15" dirty="0">
                <a:latin typeface="Calibri"/>
                <a:cs typeface="Calibri"/>
              </a:rPr>
              <a:t> </a:t>
            </a:r>
            <a:r>
              <a:rPr sz="3250" b="1" dirty="0">
                <a:latin typeface="Calibri"/>
                <a:cs typeface="Calibri"/>
              </a:rPr>
              <a:t>Study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5" dirty="0"/>
              <a:t>25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54939" y="306171"/>
            <a:ext cx="7082155" cy="3957954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91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SPF</a:t>
            </a:r>
            <a:r>
              <a:rPr sz="23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Scheme</a:t>
            </a:r>
            <a:r>
              <a:rPr sz="23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300" spc="-20" dirty="0">
                <a:solidFill>
                  <a:srgbClr val="0000FF"/>
                </a:solidFill>
                <a:latin typeface="Calibri"/>
                <a:cs typeface="Calibri"/>
              </a:rPr>
              <a:t>for</a:t>
            </a:r>
            <a:r>
              <a:rPr sz="23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300" spc="-5" dirty="0">
                <a:solidFill>
                  <a:srgbClr val="0000FF"/>
                </a:solidFill>
                <a:latin typeface="Calibri"/>
                <a:cs typeface="Calibri"/>
              </a:rPr>
              <a:t>CFL</a:t>
            </a:r>
            <a:endParaRPr sz="23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300" spc="-5" dirty="0">
                <a:latin typeface="Calibri"/>
                <a:cs typeface="Calibri"/>
              </a:rPr>
              <a:t>CFL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has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large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number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5" dirty="0">
                <a:latin typeface="Calibri"/>
                <a:cs typeface="Calibri"/>
              </a:rPr>
              <a:t> employees,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exceeding</a:t>
            </a:r>
            <a:r>
              <a:rPr sz="2300" spc="5" dirty="0">
                <a:latin typeface="Calibri"/>
                <a:cs typeface="Calibri"/>
              </a:rPr>
              <a:t> 50,000.</a:t>
            </a:r>
            <a:endParaRPr sz="23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82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300" dirty="0">
                <a:latin typeface="Calibri"/>
                <a:cs typeface="Calibri"/>
              </a:rPr>
              <a:t>Majority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these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are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casual</a:t>
            </a:r>
            <a:r>
              <a:rPr sz="2300" spc="-10" dirty="0">
                <a:latin typeface="Calibri"/>
                <a:cs typeface="Calibri"/>
              </a:rPr>
              <a:t> labourers</a:t>
            </a:r>
            <a:endParaRPr sz="23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300" spc="-5" dirty="0">
                <a:latin typeface="Calibri"/>
                <a:cs typeface="Calibri"/>
              </a:rPr>
              <a:t>Mining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being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risky</a:t>
            </a:r>
            <a:r>
              <a:rPr sz="2300" spc="-10" dirty="0">
                <a:latin typeface="Calibri"/>
                <a:cs typeface="Calibri"/>
              </a:rPr>
              <a:t> profession:</a:t>
            </a:r>
            <a:endParaRPr sz="2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78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Casualties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are </a:t>
            </a:r>
            <a:r>
              <a:rPr sz="2000" spc="-5" dirty="0">
                <a:latin typeface="Calibri"/>
                <a:cs typeface="Calibri"/>
              </a:rPr>
              <a:t>high</a:t>
            </a:r>
            <a:endParaRPr sz="20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81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300" spc="-5" dirty="0">
                <a:latin typeface="Calibri"/>
                <a:cs typeface="Calibri"/>
              </a:rPr>
              <a:t>Though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there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PF:</a:t>
            </a:r>
            <a:endParaRPr sz="2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78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But </a:t>
            </a:r>
            <a:r>
              <a:rPr sz="2000" spc="-15" dirty="0">
                <a:latin typeface="Calibri"/>
                <a:cs typeface="Calibri"/>
              </a:rPr>
              <a:t>settlement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time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high</a:t>
            </a:r>
            <a:endParaRPr sz="20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300" spc="-10" dirty="0">
                <a:latin typeface="Calibri"/>
                <a:cs typeface="Calibri"/>
              </a:rPr>
              <a:t>There</a:t>
            </a:r>
            <a:r>
              <a:rPr sz="2300" dirty="0">
                <a:latin typeface="Calibri"/>
                <a:cs typeface="Calibri"/>
              </a:rPr>
              <a:t> is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 </a:t>
            </a:r>
            <a:r>
              <a:rPr sz="2300" spc="-5" dirty="0">
                <a:latin typeface="Calibri"/>
                <a:cs typeface="Calibri"/>
              </a:rPr>
              <a:t>need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SPF:</a:t>
            </a:r>
            <a:endParaRPr sz="23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78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15" dirty="0">
                <a:latin typeface="Calibri"/>
                <a:cs typeface="Calibri"/>
              </a:rPr>
              <a:t>For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faster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disbursement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spc="-10" dirty="0">
                <a:latin typeface="Calibri"/>
                <a:cs typeface="Calibri"/>
              </a:rPr>
              <a:t>benefits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2400" y="193624"/>
            <a:ext cx="376364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>
                <a:solidFill>
                  <a:srgbClr val="000000"/>
                </a:solidFill>
              </a:rPr>
              <a:t>Feasibility:</a:t>
            </a:r>
            <a:r>
              <a:rPr sz="3200" spc="5" dirty="0">
                <a:solidFill>
                  <a:srgbClr val="000000"/>
                </a:solidFill>
              </a:rPr>
              <a:t> </a:t>
            </a:r>
            <a:r>
              <a:rPr sz="3200" spc="-10" dirty="0">
                <a:solidFill>
                  <a:srgbClr val="000000"/>
                </a:solidFill>
              </a:rPr>
              <a:t>Case</a:t>
            </a:r>
            <a:r>
              <a:rPr sz="3200" spc="5" dirty="0">
                <a:solidFill>
                  <a:srgbClr val="000000"/>
                </a:solidFill>
              </a:rPr>
              <a:t> </a:t>
            </a:r>
            <a:r>
              <a:rPr sz="3200" spc="-10" dirty="0">
                <a:solidFill>
                  <a:srgbClr val="000000"/>
                </a:solidFill>
              </a:rPr>
              <a:t>Study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31140" y="752348"/>
            <a:ext cx="7056120" cy="3442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6870" algn="l"/>
                <a:tab pos="357505" algn="l"/>
                <a:tab pos="1814195" algn="l"/>
              </a:tabLst>
            </a:pPr>
            <a:r>
              <a:rPr sz="2800" spc="-5" dirty="0">
                <a:latin typeface="Calibri"/>
                <a:cs typeface="Calibri"/>
              </a:rPr>
              <a:t>Manager	</a:t>
            </a:r>
            <a:r>
              <a:rPr sz="2800" dirty="0">
                <a:latin typeface="Calibri"/>
                <a:cs typeface="Calibri"/>
              </a:rPr>
              <a:t>visits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main</a:t>
            </a:r>
            <a:r>
              <a:rPr sz="2800" spc="-5" dirty="0">
                <a:latin typeface="Calibri"/>
                <a:cs typeface="Calibri"/>
              </a:rPr>
              <a:t> office,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finds </a:t>
            </a:r>
            <a:r>
              <a:rPr sz="2800" dirty="0">
                <a:latin typeface="Calibri"/>
                <a:cs typeface="Calibri"/>
              </a:rPr>
              <a:t>out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main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functionalities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required</a:t>
            </a:r>
            <a:endParaRPr sz="28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Calibri"/>
                <a:cs typeface="Calibri"/>
              </a:rPr>
              <a:t>Visits </a:t>
            </a:r>
            <a:r>
              <a:rPr sz="2800" spc="-5" dirty="0">
                <a:latin typeface="Calibri"/>
                <a:cs typeface="Calibri"/>
              </a:rPr>
              <a:t>mine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site,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finds out</a:t>
            </a:r>
            <a:r>
              <a:rPr sz="2800" dirty="0">
                <a:latin typeface="Calibri"/>
                <a:cs typeface="Calibri"/>
              </a:rPr>
              <a:t> the </a:t>
            </a:r>
            <a:r>
              <a:rPr sz="2800" spc="-15" dirty="0">
                <a:latin typeface="Calibri"/>
                <a:cs typeface="Calibri"/>
              </a:rPr>
              <a:t>data to</a:t>
            </a:r>
            <a:r>
              <a:rPr sz="2800" spc="-5" dirty="0">
                <a:latin typeface="Calibri"/>
                <a:cs typeface="Calibri"/>
              </a:rPr>
              <a:t> be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input</a:t>
            </a:r>
            <a:endParaRPr sz="28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spc="-5" dirty="0">
                <a:latin typeface="Calibri"/>
                <a:cs typeface="Calibri"/>
              </a:rPr>
              <a:t>Suggests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alternate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solutions</a:t>
            </a:r>
            <a:endParaRPr sz="28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spc="-10" dirty="0">
                <a:latin typeface="Calibri"/>
                <a:cs typeface="Calibri"/>
              </a:rPr>
              <a:t>Determines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best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solution</a:t>
            </a:r>
            <a:endParaRPr sz="28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800" spc="-10" dirty="0">
                <a:latin typeface="Calibri"/>
                <a:cs typeface="Calibri"/>
              </a:rPr>
              <a:t>Presents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CFL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Officials</a:t>
            </a:r>
            <a:endParaRPr sz="28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6870" algn="l"/>
                <a:tab pos="357505" algn="l"/>
                <a:tab pos="2005964" algn="l"/>
              </a:tabLst>
            </a:pPr>
            <a:r>
              <a:rPr sz="2800" spc="5" dirty="0">
                <a:latin typeface="Calibri"/>
                <a:cs typeface="Calibri"/>
              </a:rPr>
              <a:t>Go/No-Go	</a:t>
            </a:r>
            <a:r>
              <a:rPr sz="2800" dirty="0">
                <a:latin typeface="Calibri"/>
                <a:cs typeface="Calibri"/>
              </a:rPr>
              <a:t>Decision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33307" y="4793386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26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5414" y="200914"/>
            <a:ext cx="52990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000000"/>
                </a:solidFill>
              </a:rPr>
              <a:t>Activities</a:t>
            </a:r>
            <a:r>
              <a:rPr sz="3000" spc="-40" dirty="0">
                <a:solidFill>
                  <a:srgbClr val="000000"/>
                </a:solidFill>
              </a:rPr>
              <a:t> </a:t>
            </a:r>
            <a:r>
              <a:rPr sz="3000" spc="-5" dirty="0">
                <a:solidFill>
                  <a:srgbClr val="000000"/>
                </a:solidFill>
              </a:rPr>
              <a:t>During Feasibility</a:t>
            </a:r>
            <a:r>
              <a:rPr sz="3000" spc="-45" dirty="0">
                <a:solidFill>
                  <a:srgbClr val="000000"/>
                </a:solidFill>
              </a:rPr>
              <a:t> </a:t>
            </a:r>
            <a:r>
              <a:rPr sz="3000" dirty="0">
                <a:solidFill>
                  <a:srgbClr val="000000"/>
                </a:solidFill>
              </a:rPr>
              <a:t>Study</a:t>
            </a:r>
            <a:endParaRPr sz="3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5" dirty="0"/>
              <a:t>27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53111" y="525511"/>
            <a:ext cx="8639175" cy="3608704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244475" indent="-232410">
              <a:lnSpc>
                <a:spcPct val="100000"/>
              </a:lnSpc>
              <a:spcBef>
                <a:spcPts val="1255"/>
              </a:spcBef>
              <a:buFont typeface="Arial MT"/>
              <a:buChar char="•"/>
              <a:tabLst>
                <a:tab pos="245110" algn="l"/>
              </a:tabLst>
            </a:pPr>
            <a:r>
              <a:rPr sz="3200" spc="-50" dirty="0">
                <a:solidFill>
                  <a:srgbClr val="0000FF"/>
                </a:solidFill>
                <a:latin typeface="Calibri"/>
                <a:cs typeface="Calibri"/>
              </a:rPr>
              <a:t>Work</a:t>
            </a:r>
            <a:r>
              <a:rPr sz="3200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000FF"/>
                </a:solidFill>
                <a:latin typeface="Calibri"/>
                <a:cs typeface="Calibri"/>
              </a:rPr>
              <a:t>out</a:t>
            </a:r>
            <a:r>
              <a:rPr sz="3200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0000FF"/>
                </a:solidFill>
                <a:latin typeface="Calibri"/>
                <a:cs typeface="Calibri"/>
              </a:rPr>
              <a:t>an</a:t>
            </a:r>
            <a:r>
              <a:rPr sz="3200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0000FF"/>
                </a:solidFill>
                <a:latin typeface="Calibri"/>
                <a:cs typeface="Calibri"/>
              </a:rPr>
              <a:t>overall</a:t>
            </a:r>
            <a:r>
              <a:rPr sz="3200" spc="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15" dirty="0">
                <a:solidFill>
                  <a:srgbClr val="0000FF"/>
                </a:solidFill>
                <a:latin typeface="Calibri"/>
                <a:cs typeface="Calibri"/>
              </a:rPr>
              <a:t>understanding</a:t>
            </a:r>
            <a:r>
              <a:rPr sz="3200" spc="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0000FF"/>
                </a:solidFill>
                <a:latin typeface="Calibri"/>
                <a:cs typeface="Calibri"/>
              </a:rPr>
              <a:t>of the </a:t>
            </a:r>
            <a:r>
              <a:rPr sz="3200" spc="-20" dirty="0">
                <a:solidFill>
                  <a:srgbClr val="0000FF"/>
                </a:solidFill>
                <a:latin typeface="Calibri"/>
                <a:cs typeface="Calibri"/>
              </a:rPr>
              <a:t>problem.</a:t>
            </a:r>
            <a:endParaRPr sz="3200">
              <a:latin typeface="Calibri"/>
              <a:cs typeface="Calibri"/>
            </a:endParaRPr>
          </a:p>
          <a:p>
            <a:pPr marL="244475" indent="-232410">
              <a:lnSpc>
                <a:spcPct val="100000"/>
              </a:lnSpc>
              <a:spcBef>
                <a:spcPts val="1155"/>
              </a:spcBef>
              <a:buFont typeface="Arial MT"/>
              <a:buChar char="•"/>
              <a:tabLst>
                <a:tab pos="245110" algn="l"/>
              </a:tabLst>
            </a:pPr>
            <a:r>
              <a:rPr sz="3200" spc="-15" dirty="0">
                <a:solidFill>
                  <a:srgbClr val="0000FF"/>
                </a:solidFill>
                <a:latin typeface="Calibri"/>
                <a:cs typeface="Calibri"/>
              </a:rPr>
              <a:t>Formulate</a:t>
            </a:r>
            <a:r>
              <a:rPr sz="3200" spc="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0000FF"/>
                </a:solidFill>
                <a:latin typeface="Calibri"/>
                <a:cs typeface="Calibri"/>
              </a:rPr>
              <a:t>different</a:t>
            </a:r>
            <a:r>
              <a:rPr sz="32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0000FF"/>
                </a:solidFill>
                <a:latin typeface="Calibri"/>
                <a:cs typeface="Calibri"/>
              </a:rPr>
              <a:t>solution</a:t>
            </a:r>
            <a:r>
              <a:rPr sz="3200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0000FF"/>
                </a:solidFill>
                <a:latin typeface="Calibri"/>
                <a:cs typeface="Calibri"/>
              </a:rPr>
              <a:t>strategies.</a:t>
            </a:r>
            <a:endParaRPr sz="3200">
              <a:latin typeface="Calibri"/>
              <a:cs typeface="Calibri"/>
            </a:endParaRPr>
          </a:p>
          <a:p>
            <a:pPr marL="244475" indent="-232410">
              <a:lnSpc>
                <a:spcPct val="100000"/>
              </a:lnSpc>
              <a:spcBef>
                <a:spcPts val="1155"/>
              </a:spcBef>
              <a:buFont typeface="Arial MT"/>
              <a:buChar char="•"/>
              <a:tabLst>
                <a:tab pos="245110" algn="l"/>
              </a:tabLst>
            </a:pPr>
            <a:r>
              <a:rPr sz="3200" spc="-10" dirty="0">
                <a:solidFill>
                  <a:srgbClr val="0000FF"/>
                </a:solidFill>
                <a:latin typeface="Calibri"/>
                <a:cs typeface="Calibri"/>
              </a:rPr>
              <a:t>Examine</a:t>
            </a:r>
            <a:r>
              <a:rPr sz="3200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000FF"/>
                </a:solidFill>
                <a:latin typeface="Calibri"/>
                <a:cs typeface="Calibri"/>
              </a:rPr>
              <a:t>alternate</a:t>
            </a:r>
            <a:r>
              <a:rPr sz="32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0000FF"/>
                </a:solidFill>
                <a:latin typeface="Calibri"/>
                <a:cs typeface="Calibri"/>
              </a:rPr>
              <a:t>solution</a:t>
            </a:r>
            <a:r>
              <a:rPr sz="3200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0000FF"/>
                </a:solidFill>
                <a:latin typeface="Calibri"/>
                <a:cs typeface="Calibri"/>
              </a:rPr>
              <a:t>strategies</a:t>
            </a:r>
            <a:r>
              <a:rPr sz="3200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3200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15" dirty="0">
                <a:solidFill>
                  <a:srgbClr val="0000FF"/>
                </a:solidFill>
                <a:latin typeface="Calibri"/>
                <a:cs typeface="Calibri"/>
              </a:rPr>
              <a:t>terms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000FF"/>
                </a:solidFill>
                <a:latin typeface="Calibri"/>
                <a:cs typeface="Calibri"/>
              </a:rPr>
              <a:t>of:</a:t>
            </a:r>
            <a:endParaRPr sz="3200">
              <a:latin typeface="Calibri"/>
              <a:cs typeface="Calibri"/>
            </a:endParaRPr>
          </a:p>
          <a:p>
            <a:pPr marL="789940" lvl="1" indent="-156210">
              <a:lnSpc>
                <a:spcPct val="100000"/>
              </a:lnSpc>
              <a:spcBef>
                <a:spcPts val="1120"/>
              </a:spcBef>
              <a:buFont typeface="Arial MT"/>
              <a:buChar char="•"/>
              <a:tabLst>
                <a:tab pos="790575" algn="l"/>
              </a:tabLst>
            </a:pPr>
            <a:r>
              <a:rPr sz="2800" spc="-10" dirty="0">
                <a:latin typeface="Calibri"/>
                <a:cs typeface="Calibri"/>
              </a:rPr>
              <a:t>resources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required,</a:t>
            </a:r>
            <a:endParaRPr sz="2800">
              <a:latin typeface="Calibri"/>
              <a:cs typeface="Calibri"/>
            </a:endParaRPr>
          </a:p>
          <a:p>
            <a:pPr marL="789940" lvl="1" indent="-156210">
              <a:lnSpc>
                <a:spcPct val="100000"/>
              </a:lnSpc>
              <a:spcBef>
                <a:spcPts val="1015"/>
              </a:spcBef>
              <a:buFont typeface="Arial MT"/>
              <a:buChar char="•"/>
              <a:tabLst>
                <a:tab pos="790575" algn="l"/>
              </a:tabLst>
            </a:pPr>
            <a:r>
              <a:rPr sz="2800" spc="-15" dirty="0">
                <a:latin typeface="Calibri"/>
                <a:cs typeface="Calibri"/>
              </a:rPr>
              <a:t>cost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development,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endParaRPr sz="2800">
              <a:latin typeface="Calibri"/>
              <a:cs typeface="Calibri"/>
            </a:endParaRPr>
          </a:p>
          <a:p>
            <a:pPr marL="789940" lvl="1" indent="-156210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790575" algn="l"/>
              </a:tabLst>
            </a:pPr>
            <a:r>
              <a:rPr sz="2800" spc="-10" dirty="0">
                <a:latin typeface="Calibri"/>
                <a:cs typeface="Calibri"/>
              </a:rPr>
              <a:t>development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time.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30752" y="2334767"/>
            <a:ext cx="5209540" cy="6007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53975" rIns="0" bIns="0" rtlCol="0">
            <a:spAutoFit/>
          </a:bodyPr>
          <a:lstStyle/>
          <a:p>
            <a:pPr marL="157480">
              <a:lnSpc>
                <a:spcPct val="100000"/>
              </a:lnSpc>
              <a:spcBef>
                <a:spcPts val="425"/>
              </a:spcBef>
            </a:pPr>
            <a:r>
              <a:rPr sz="2800" b="1" spc="5" dirty="0">
                <a:solidFill>
                  <a:srgbClr val="0033CC"/>
                </a:solidFill>
                <a:latin typeface="Calibri"/>
                <a:cs typeface="Calibri"/>
              </a:rPr>
              <a:t>Activities</a:t>
            </a:r>
            <a:r>
              <a:rPr sz="2800" b="1" spc="-6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spc="5" dirty="0">
                <a:solidFill>
                  <a:srgbClr val="0033CC"/>
                </a:solidFill>
                <a:latin typeface="Calibri"/>
                <a:cs typeface="Calibri"/>
              </a:rPr>
              <a:t>during</a:t>
            </a:r>
            <a:r>
              <a:rPr sz="2800" b="1" spc="-5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Feasibility</a:t>
            </a:r>
            <a:r>
              <a:rPr sz="2800" b="1" spc="-8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spc="5" dirty="0">
                <a:solidFill>
                  <a:srgbClr val="0033CC"/>
                </a:solidFill>
                <a:latin typeface="Calibri"/>
                <a:cs typeface="Calibri"/>
              </a:rPr>
              <a:t>Study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5" dirty="0"/>
              <a:t>28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01295" y="0"/>
            <a:ext cx="7488555" cy="2106930"/>
          </a:xfrm>
          <a:prstGeom prst="rect">
            <a:avLst/>
          </a:prstGeom>
        </p:spPr>
        <p:txBody>
          <a:bodyPr vert="horz" wrap="square" lIns="0" tIns="258445" rIns="0" bIns="0" rtlCol="0">
            <a:spAutoFit/>
          </a:bodyPr>
          <a:lstStyle/>
          <a:p>
            <a:pPr marL="244475" indent="-232410">
              <a:lnSpc>
                <a:spcPct val="100000"/>
              </a:lnSpc>
              <a:spcBef>
                <a:spcPts val="2035"/>
              </a:spcBef>
              <a:buFont typeface="Arial MT"/>
              <a:buChar char="•"/>
              <a:tabLst>
                <a:tab pos="245110" algn="l"/>
              </a:tabLst>
            </a:pPr>
            <a:r>
              <a:rPr sz="3200" spc="-30" dirty="0">
                <a:latin typeface="Calibri"/>
                <a:cs typeface="Calibri"/>
              </a:rPr>
              <a:t>Perform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spc="-15" dirty="0">
                <a:latin typeface="Calibri"/>
                <a:cs typeface="Calibri"/>
              </a:rPr>
              <a:t> cost/benefit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analysis:</a:t>
            </a:r>
            <a:endParaRPr sz="32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725"/>
              </a:spcBef>
            </a:pPr>
            <a:r>
              <a:rPr sz="2800" spc="-10" dirty="0">
                <a:latin typeface="Arial MT"/>
                <a:cs typeface="Arial MT"/>
              </a:rPr>
              <a:t>–</a:t>
            </a:r>
            <a:r>
              <a:rPr sz="2800" spc="-10" dirty="0">
                <a:latin typeface="Calibri"/>
                <a:cs typeface="Calibri"/>
              </a:rPr>
              <a:t>Determine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 solution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best.</a:t>
            </a:r>
            <a:endParaRPr sz="28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690"/>
              </a:spcBef>
            </a:pPr>
            <a:r>
              <a:rPr sz="3200" spc="-15" dirty="0">
                <a:latin typeface="Arial MT"/>
                <a:cs typeface="Arial MT"/>
              </a:rPr>
              <a:t>–</a:t>
            </a:r>
            <a:r>
              <a:rPr sz="3200" spc="-15" dirty="0">
                <a:latin typeface="Calibri"/>
                <a:cs typeface="Calibri"/>
              </a:rPr>
              <a:t>May</a:t>
            </a:r>
            <a:r>
              <a:rPr sz="3200" spc="-5" dirty="0">
                <a:latin typeface="Calibri"/>
                <a:cs typeface="Calibri"/>
              </a:rPr>
              <a:t> also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find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that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none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solutions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4519" y="2147138"/>
            <a:ext cx="2886710" cy="2237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>
                <a:latin typeface="Calibri"/>
                <a:cs typeface="Calibri"/>
              </a:rPr>
              <a:t>feasible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due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to:</a:t>
            </a:r>
            <a:endParaRPr sz="3200">
              <a:latin typeface="Calibri"/>
              <a:cs typeface="Calibri"/>
            </a:endParaRPr>
          </a:p>
          <a:p>
            <a:pPr marL="287020" indent="-155575">
              <a:lnSpc>
                <a:spcPct val="100000"/>
              </a:lnSpc>
              <a:spcBef>
                <a:spcPts val="1710"/>
              </a:spcBef>
              <a:buFont typeface="Arial MT"/>
              <a:buChar char="•"/>
              <a:tabLst>
                <a:tab pos="287020" algn="l"/>
              </a:tabLst>
            </a:pPr>
            <a:r>
              <a:rPr sz="2400" dirty="0">
                <a:latin typeface="Calibri"/>
                <a:cs typeface="Calibri"/>
              </a:rPr>
              <a:t>high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cost,</a:t>
            </a:r>
            <a:endParaRPr sz="2400">
              <a:latin typeface="Calibri"/>
              <a:cs typeface="Calibri"/>
            </a:endParaRPr>
          </a:p>
          <a:p>
            <a:pPr marL="287020" indent="-155575">
              <a:lnSpc>
                <a:spcPct val="100000"/>
              </a:lnSpc>
              <a:spcBef>
                <a:spcPts val="1614"/>
              </a:spcBef>
              <a:buFont typeface="Arial MT"/>
              <a:buChar char="•"/>
              <a:tabLst>
                <a:tab pos="287020" algn="l"/>
              </a:tabLst>
            </a:pPr>
            <a:r>
              <a:rPr sz="2400" spc="-10" dirty="0">
                <a:latin typeface="Calibri"/>
                <a:cs typeface="Calibri"/>
              </a:rPr>
              <a:t>resource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constraints,</a:t>
            </a:r>
            <a:endParaRPr sz="2400">
              <a:latin typeface="Calibri"/>
              <a:cs typeface="Calibri"/>
            </a:endParaRPr>
          </a:p>
          <a:p>
            <a:pPr marL="287020" indent="-155575">
              <a:lnSpc>
                <a:spcPct val="100000"/>
              </a:lnSpc>
              <a:spcBef>
                <a:spcPts val="1610"/>
              </a:spcBef>
              <a:buFont typeface="Arial MT"/>
              <a:buChar char="•"/>
              <a:tabLst>
                <a:tab pos="287020" algn="l"/>
              </a:tabLst>
            </a:pPr>
            <a:r>
              <a:rPr sz="2400" spc="-5" dirty="0">
                <a:latin typeface="Calibri"/>
                <a:cs typeface="Calibri"/>
              </a:rPr>
              <a:t>technical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reasons.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7438" y="149809"/>
            <a:ext cx="50825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" dirty="0">
                <a:solidFill>
                  <a:srgbClr val="000000"/>
                </a:solidFill>
              </a:rPr>
              <a:t>Cost</a:t>
            </a:r>
            <a:r>
              <a:rPr sz="3600" spc="-10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benefit</a:t>
            </a:r>
            <a:r>
              <a:rPr sz="3600" spc="-3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analysis</a:t>
            </a:r>
            <a:r>
              <a:rPr sz="3600" spc="-25" dirty="0">
                <a:solidFill>
                  <a:srgbClr val="000000"/>
                </a:solidFill>
              </a:rPr>
              <a:t> </a:t>
            </a:r>
            <a:r>
              <a:rPr sz="3600" spc="-10" dirty="0">
                <a:solidFill>
                  <a:srgbClr val="000000"/>
                </a:solidFill>
              </a:rPr>
              <a:t>(CBA)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5" dirty="0"/>
              <a:t>29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796797"/>
            <a:ext cx="6438900" cy="334835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700" dirty="0">
                <a:latin typeface="Calibri"/>
                <a:cs typeface="Calibri"/>
              </a:rPr>
              <a:t>Need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to</a:t>
            </a:r>
            <a:r>
              <a:rPr sz="2700" spc="-5" dirty="0">
                <a:latin typeface="Calibri"/>
                <a:cs typeface="Calibri"/>
              </a:rPr>
              <a:t> identify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all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costs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---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these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could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be:</a:t>
            </a:r>
            <a:endParaRPr sz="27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910"/>
              </a:spcBef>
              <a:buFont typeface="Arial MT"/>
              <a:buChar char="–"/>
              <a:tabLst>
                <a:tab pos="756920" algn="l"/>
              </a:tabLst>
            </a:pPr>
            <a:r>
              <a:rPr sz="2450" b="1" spc="-15" dirty="0">
                <a:solidFill>
                  <a:srgbClr val="0000FF"/>
                </a:solidFill>
                <a:latin typeface="Calibri"/>
                <a:cs typeface="Calibri"/>
              </a:rPr>
              <a:t>Development</a:t>
            </a:r>
            <a:r>
              <a:rPr sz="2450" b="1" spc="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00FF"/>
                </a:solidFill>
                <a:latin typeface="Calibri"/>
                <a:cs typeface="Calibri"/>
              </a:rPr>
              <a:t>costs</a:t>
            </a:r>
            <a:endParaRPr sz="245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000"/>
              </a:spcBef>
              <a:buFont typeface="Arial MT"/>
              <a:buChar char="–"/>
              <a:tabLst>
                <a:tab pos="756920" algn="l"/>
              </a:tabLst>
            </a:pPr>
            <a:r>
              <a:rPr sz="2450" b="1" spc="-10" dirty="0">
                <a:solidFill>
                  <a:srgbClr val="0000FF"/>
                </a:solidFill>
                <a:latin typeface="Calibri"/>
                <a:cs typeface="Calibri"/>
              </a:rPr>
              <a:t>Set-up</a:t>
            </a:r>
            <a:endParaRPr sz="245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975"/>
              </a:spcBef>
              <a:buFont typeface="Arial MT"/>
              <a:buChar char="–"/>
              <a:tabLst>
                <a:tab pos="756920" algn="l"/>
              </a:tabLst>
            </a:pPr>
            <a:r>
              <a:rPr sz="2450" b="1" spc="-15" dirty="0">
                <a:solidFill>
                  <a:srgbClr val="0000FF"/>
                </a:solidFill>
                <a:latin typeface="Calibri"/>
                <a:cs typeface="Calibri"/>
              </a:rPr>
              <a:t>Operational</a:t>
            </a:r>
            <a:r>
              <a:rPr sz="2450" b="1" spc="-10" dirty="0">
                <a:solidFill>
                  <a:srgbClr val="0000FF"/>
                </a:solidFill>
                <a:latin typeface="Calibri"/>
                <a:cs typeface="Calibri"/>
              </a:rPr>
              <a:t> costs</a:t>
            </a:r>
            <a:endParaRPr sz="245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700" spc="-5" dirty="0">
                <a:latin typeface="Calibri"/>
                <a:cs typeface="Calibri"/>
              </a:rPr>
              <a:t>Identify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the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value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of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benefits</a:t>
            </a:r>
            <a:endParaRPr sz="27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228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700" dirty="0">
                <a:latin typeface="Calibri"/>
                <a:cs typeface="Calibri"/>
              </a:rPr>
              <a:t>Check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benefits</a:t>
            </a:r>
            <a:r>
              <a:rPr sz="2700" spc="5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are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greater</a:t>
            </a:r>
            <a:r>
              <a:rPr sz="2700" spc="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than</a:t>
            </a:r>
            <a:r>
              <a:rPr sz="2700" spc="-5" dirty="0">
                <a:latin typeface="Calibri"/>
                <a:cs typeface="Calibri"/>
              </a:rPr>
              <a:t> costs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1661" y="149428"/>
            <a:ext cx="3763010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5" dirty="0">
                <a:solidFill>
                  <a:srgbClr val="000000"/>
                </a:solidFill>
              </a:rPr>
              <a:t>The</a:t>
            </a:r>
            <a:r>
              <a:rPr sz="4000" spc="-80" dirty="0">
                <a:solidFill>
                  <a:srgbClr val="000000"/>
                </a:solidFill>
              </a:rPr>
              <a:t> </a:t>
            </a:r>
            <a:r>
              <a:rPr sz="4000" spc="5" dirty="0">
                <a:solidFill>
                  <a:srgbClr val="000000"/>
                </a:solidFill>
              </a:rPr>
              <a:t>business</a:t>
            </a:r>
            <a:r>
              <a:rPr sz="4000" spc="-90" dirty="0">
                <a:solidFill>
                  <a:srgbClr val="000000"/>
                </a:solidFill>
              </a:rPr>
              <a:t> </a:t>
            </a:r>
            <a:r>
              <a:rPr sz="4000" spc="-5" dirty="0">
                <a:solidFill>
                  <a:srgbClr val="000000"/>
                </a:solidFill>
              </a:rPr>
              <a:t>case</a:t>
            </a:r>
            <a:endParaRPr sz="400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5" dirty="0"/>
              <a:t>30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4648580" y="713876"/>
            <a:ext cx="3917315" cy="131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5080" indent="-231775">
              <a:lnSpc>
                <a:spcPct val="105400"/>
              </a:lnSpc>
              <a:spcBef>
                <a:spcPts val="100"/>
              </a:spcBef>
              <a:buFont typeface="Arial MT"/>
              <a:buChar char="•"/>
              <a:tabLst>
                <a:tab pos="244475" algn="l"/>
              </a:tabLst>
            </a:pPr>
            <a:r>
              <a:rPr sz="2450" b="1" spc="-10" dirty="0">
                <a:solidFill>
                  <a:srgbClr val="006600"/>
                </a:solidFill>
                <a:latin typeface="Calibri"/>
                <a:cs typeface="Calibri"/>
              </a:rPr>
              <a:t>Benefits</a:t>
            </a:r>
            <a:r>
              <a:rPr sz="2450" b="1" spc="30" dirty="0">
                <a:solidFill>
                  <a:srgbClr val="006600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006600"/>
                </a:solidFill>
                <a:latin typeface="Calibri"/>
                <a:cs typeface="Calibri"/>
              </a:rPr>
              <a:t>of</a:t>
            </a:r>
            <a:r>
              <a:rPr sz="2450" b="1" spc="-10" dirty="0">
                <a:solidFill>
                  <a:srgbClr val="006600"/>
                </a:solidFill>
                <a:latin typeface="Calibri"/>
                <a:cs typeface="Calibri"/>
              </a:rPr>
              <a:t> </a:t>
            </a:r>
            <a:r>
              <a:rPr sz="2450" b="1" spc="-15" dirty="0">
                <a:solidFill>
                  <a:srgbClr val="006600"/>
                </a:solidFill>
                <a:latin typeface="Calibri"/>
                <a:cs typeface="Calibri"/>
              </a:rPr>
              <a:t>delivered</a:t>
            </a:r>
            <a:r>
              <a:rPr sz="2450" b="1" spc="15" dirty="0">
                <a:solidFill>
                  <a:srgbClr val="006600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6600"/>
                </a:solidFill>
                <a:latin typeface="Calibri"/>
                <a:cs typeface="Calibri"/>
              </a:rPr>
              <a:t>project </a:t>
            </a:r>
            <a:r>
              <a:rPr sz="2450" b="1" spc="-540" dirty="0">
                <a:solidFill>
                  <a:srgbClr val="006600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6600"/>
                </a:solidFill>
                <a:latin typeface="Calibri"/>
                <a:cs typeface="Calibri"/>
              </a:rPr>
              <a:t>must</a:t>
            </a:r>
            <a:r>
              <a:rPr sz="2450" b="1" spc="-45" dirty="0">
                <a:solidFill>
                  <a:srgbClr val="006600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6600"/>
                </a:solidFill>
                <a:latin typeface="Calibri"/>
                <a:cs typeface="Calibri"/>
              </a:rPr>
              <a:t>outweigh</a:t>
            </a:r>
            <a:r>
              <a:rPr sz="2450" b="1" spc="20" dirty="0">
                <a:solidFill>
                  <a:srgbClr val="006600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006600"/>
                </a:solidFill>
                <a:latin typeface="Calibri"/>
                <a:cs typeface="Calibri"/>
              </a:rPr>
              <a:t>costs</a:t>
            </a:r>
            <a:endParaRPr sz="2450">
              <a:latin typeface="Calibri"/>
              <a:cs typeface="Calibri"/>
            </a:endParaRPr>
          </a:p>
          <a:p>
            <a:pPr marL="243840" indent="-231775">
              <a:lnSpc>
                <a:spcPct val="100000"/>
              </a:lnSpc>
              <a:spcBef>
                <a:spcPts val="1019"/>
              </a:spcBef>
              <a:buFont typeface="Arial MT"/>
              <a:buChar char="•"/>
              <a:tabLst>
                <a:tab pos="244475" algn="l"/>
              </a:tabLst>
            </a:pP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Costs</a:t>
            </a:r>
            <a:r>
              <a:rPr sz="2450" b="1" spc="-5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0000CC"/>
                </a:solidFill>
                <a:latin typeface="Calibri"/>
                <a:cs typeface="Calibri"/>
              </a:rPr>
              <a:t>include: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68036" y="2015845"/>
            <a:ext cx="1867535" cy="92201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40"/>
              </a:spcBef>
              <a:buFont typeface="Calibri"/>
              <a:buChar char="-"/>
              <a:tabLst>
                <a:tab pos="299085" algn="l"/>
                <a:tab pos="299720" algn="l"/>
              </a:tabLst>
            </a:pPr>
            <a:r>
              <a:rPr sz="2150" b="1" spc="5" dirty="0">
                <a:latin typeface="Calibri"/>
                <a:cs typeface="Calibri"/>
              </a:rPr>
              <a:t>Development</a:t>
            </a:r>
            <a:endParaRPr sz="21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950"/>
              </a:spcBef>
              <a:buFont typeface="Calibri"/>
              <a:buChar char="-"/>
              <a:tabLst>
                <a:tab pos="299085" algn="l"/>
                <a:tab pos="299720" algn="l"/>
              </a:tabLst>
            </a:pPr>
            <a:r>
              <a:rPr sz="2150" b="1" spc="5" dirty="0">
                <a:latin typeface="Calibri"/>
                <a:cs typeface="Calibri"/>
              </a:rPr>
              <a:t>Operation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48580" y="2894895"/>
            <a:ext cx="2490470" cy="144272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1190"/>
              </a:spcBef>
              <a:buFont typeface="Calibri"/>
              <a:buChar char="•"/>
              <a:tabLst>
                <a:tab pos="244475" algn="l"/>
              </a:tabLst>
            </a:pPr>
            <a:r>
              <a:rPr sz="2450" b="1" spc="-10" dirty="0">
                <a:solidFill>
                  <a:srgbClr val="0000CC"/>
                </a:solidFill>
                <a:latin typeface="Calibri"/>
                <a:cs typeface="Calibri"/>
              </a:rPr>
              <a:t>Benefits:</a:t>
            </a:r>
            <a:endParaRPr sz="2450">
              <a:latin typeface="Calibri"/>
              <a:cs typeface="Calibri"/>
            </a:endParaRPr>
          </a:p>
          <a:p>
            <a:pPr marL="518795" lvl="1" indent="-287655">
              <a:lnSpc>
                <a:spcPct val="100000"/>
              </a:lnSpc>
              <a:spcBef>
                <a:spcPts val="1015"/>
              </a:spcBef>
              <a:buFont typeface="Calibri"/>
              <a:buChar char="–"/>
              <a:tabLst>
                <a:tab pos="518795" algn="l"/>
                <a:tab pos="519430" algn="l"/>
              </a:tabLst>
            </a:pPr>
            <a:r>
              <a:rPr sz="2150" b="1" spc="5" dirty="0">
                <a:latin typeface="Calibri"/>
                <a:cs typeface="Calibri"/>
              </a:rPr>
              <a:t>Quantifiable</a:t>
            </a:r>
            <a:endParaRPr sz="2150">
              <a:latin typeface="Calibri"/>
              <a:cs typeface="Calibri"/>
            </a:endParaRPr>
          </a:p>
          <a:p>
            <a:pPr marL="518795" lvl="1" indent="-287655">
              <a:lnSpc>
                <a:spcPct val="100000"/>
              </a:lnSpc>
              <a:spcBef>
                <a:spcPts val="944"/>
              </a:spcBef>
              <a:buFont typeface="Calibri"/>
              <a:buChar char="–"/>
              <a:tabLst>
                <a:tab pos="518795" algn="l"/>
                <a:tab pos="519430" algn="l"/>
              </a:tabLst>
            </a:pPr>
            <a:r>
              <a:rPr sz="2150" b="1" spc="10" dirty="0">
                <a:latin typeface="Calibri"/>
                <a:cs typeface="Calibri"/>
              </a:rPr>
              <a:t>Non-quantifiable</a:t>
            </a:r>
            <a:endParaRPr sz="215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578673" y="1920049"/>
            <a:ext cx="875665" cy="2386965"/>
            <a:chOff x="1578673" y="1920049"/>
            <a:chExt cx="875665" cy="2386965"/>
          </a:xfrm>
        </p:grpSpPr>
        <p:sp>
          <p:nvSpPr>
            <p:cNvPr id="7" name="object 7"/>
            <p:cNvSpPr/>
            <p:nvPr/>
          </p:nvSpPr>
          <p:spPr>
            <a:xfrm>
              <a:off x="1583436" y="1924811"/>
              <a:ext cx="866140" cy="2377440"/>
            </a:xfrm>
            <a:custGeom>
              <a:avLst/>
              <a:gdLst/>
              <a:ahLst/>
              <a:cxnLst/>
              <a:rect l="l" t="t" r="r" b="b"/>
              <a:pathLst>
                <a:path w="866139" h="2377440">
                  <a:moveTo>
                    <a:pt x="865632" y="0"/>
                  </a:moveTo>
                  <a:lnTo>
                    <a:pt x="0" y="0"/>
                  </a:lnTo>
                  <a:lnTo>
                    <a:pt x="0" y="2377440"/>
                  </a:lnTo>
                  <a:lnTo>
                    <a:pt x="865632" y="2377440"/>
                  </a:lnTo>
                  <a:lnTo>
                    <a:pt x="865632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83436" y="1924811"/>
              <a:ext cx="866140" cy="2377440"/>
            </a:xfrm>
            <a:custGeom>
              <a:avLst/>
              <a:gdLst/>
              <a:ahLst/>
              <a:cxnLst/>
              <a:rect l="l" t="t" r="r" b="b"/>
              <a:pathLst>
                <a:path w="866139" h="2377440">
                  <a:moveTo>
                    <a:pt x="0" y="2377440"/>
                  </a:moveTo>
                  <a:lnTo>
                    <a:pt x="865632" y="2377440"/>
                  </a:lnTo>
                  <a:lnTo>
                    <a:pt x="865632" y="0"/>
                  </a:lnTo>
                  <a:lnTo>
                    <a:pt x="0" y="0"/>
                  </a:lnTo>
                  <a:lnTo>
                    <a:pt x="0" y="237744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583436" y="2878963"/>
            <a:ext cx="866140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36220">
              <a:lnSpc>
                <a:spcPct val="100000"/>
              </a:lnSpc>
              <a:spcBef>
                <a:spcPts val="110"/>
              </a:spcBef>
            </a:pPr>
            <a:r>
              <a:rPr sz="2700" b="1" spc="-5" dirty="0">
                <a:latin typeface="Comic Sans MS"/>
                <a:cs typeface="Comic Sans MS"/>
              </a:rPr>
              <a:t>Rs</a:t>
            </a:r>
            <a:endParaRPr sz="2700">
              <a:latin typeface="Comic Sans MS"/>
              <a:cs typeface="Comic Sans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874073" y="2675953"/>
            <a:ext cx="820419" cy="1631314"/>
            <a:chOff x="2874073" y="2675953"/>
            <a:chExt cx="820419" cy="1631314"/>
          </a:xfrm>
        </p:grpSpPr>
        <p:sp>
          <p:nvSpPr>
            <p:cNvPr id="11" name="object 11"/>
            <p:cNvSpPr/>
            <p:nvPr/>
          </p:nvSpPr>
          <p:spPr>
            <a:xfrm>
              <a:off x="2878835" y="2680716"/>
              <a:ext cx="810895" cy="1621790"/>
            </a:xfrm>
            <a:custGeom>
              <a:avLst/>
              <a:gdLst/>
              <a:ahLst/>
              <a:cxnLst/>
              <a:rect l="l" t="t" r="r" b="b"/>
              <a:pathLst>
                <a:path w="810895" h="1621789">
                  <a:moveTo>
                    <a:pt x="810767" y="0"/>
                  </a:moveTo>
                  <a:lnTo>
                    <a:pt x="0" y="0"/>
                  </a:lnTo>
                  <a:lnTo>
                    <a:pt x="0" y="1621536"/>
                  </a:lnTo>
                  <a:lnTo>
                    <a:pt x="810767" y="1621536"/>
                  </a:lnTo>
                  <a:lnTo>
                    <a:pt x="81076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78835" y="2680716"/>
              <a:ext cx="810895" cy="1621790"/>
            </a:xfrm>
            <a:custGeom>
              <a:avLst/>
              <a:gdLst/>
              <a:ahLst/>
              <a:cxnLst/>
              <a:rect l="l" t="t" r="r" b="b"/>
              <a:pathLst>
                <a:path w="810895" h="1621789">
                  <a:moveTo>
                    <a:pt x="0" y="1621536"/>
                  </a:moveTo>
                  <a:lnTo>
                    <a:pt x="810767" y="1621536"/>
                  </a:lnTo>
                  <a:lnTo>
                    <a:pt x="810767" y="0"/>
                  </a:lnTo>
                  <a:lnTo>
                    <a:pt x="0" y="0"/>
                  </a:lnTo>
                  <a:lnTo>
                    <a:pt x="0" y="16215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878835" y="3282772"/>
            <a:ext cx="810895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35585">
              <a:lnSpc>
                <a:spcPct val="100000"/>
              </a:lnSpc>
              <a:spcBef>
                <a:spcPts val="125"/>
              </a:spcBef>
            </a:pPr>
            <a:r>
              <a:rPr sz="2350" b="1" dirty="0">
                <a:latin typeface="Comic Sans MS"/>
                <a:cs typeface="Comic Sans MS"/>
              </a:rPr>
              <a:t>Rs</a:t>
            </a:r>
            <a:endParaRPr sz="2350">
              <a:latin typeface="Comic Sans MS"/>
              <a:cs typeface="Comic Sans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150619" y="4302252"/>
            <a:ext cx="2810510" cy="0"/>
          </a:xfrm>
          <a:custGeom>
            <a:avLst/>
            <a:gdLst/>
            <a:ahLst/>
            <a:cxnLst/>
            <a:rect l="l" t="t" r="r" b="b"/>
            <a:pathLst>
              <a:path w="2810510">
                <a:moveTo>
                  <a:pt x="0" y="0"/>
                </a:moveTo>
                <a:lnTo>
                  <a:pt x="2810256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529588" y="1390599"/>
            <a:ext cx="1203960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5" dirty="0">
                <a:solidFill>
                  <a:srgbClr val="000066"/>
                </a:solidFill>
                <a:latin typeface="Comic Sans MS"/>
                <a:cs typeface="Comic Sans MS"/>
              </a:rPr>
              <a:t>B</a:t>
            </a:r>
            <a:r>
              <a:rPr sz="2300" b="1" spc="-5" dirty="0">
                <a:solidFill>
                  <a:srgbClr val="000066"/>
                </a:solidFill>
                <a:latin typeface="Comic Sans MS"/>
                <a:cs typeface="Comic Sans MS"/>
              </a:rPr>
              <a:t>en</a:t>
            </a:r>
            <a:r>
              <a:rPr sz="2300" b="1" dirty="0">
                <a:solidFill>
                  <a:srgbClr val="000066"/>
                </a:solidFill>
                <a:latin typeface="Comic Sans MS"/>
                <a:cs typeface="Comic Sans MS"/>
              </a:rPr>
              <a:t>e</a:t>
            </a:r>
            <a:r>
              <a:rPr sz="2300" b="1" spc="-5" dirty="0">
                <a:solidFill>
                  <a:srgbClr val="000066"/>
                </a:solidFill>
                <a:latin typeface="Comic Sans MS"/>
                <a:cs typeface="Comic Sans MS"/>
              </a:rPr>
              <a:t>fits</a:t>
            </a:r>
            <a:endParaRPr sz="2300">
              <a:latin typeface="Comic Sans MS"/>
              <a:cs typeface="Comic Sans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89326" y="2093467"/>
            <a:ext cx="78105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10" dirty="0">
                <a:solidFill>
                  <a:srgbClr val="000066"/>
                </a:solidFill>
                <a:latin typeface="Comic Sans MS"/>
                <a:cs typeface="Comic Sans MS"/>
              </a:rPr>
              <a:t>C</a:t>
            </a:r>
            <a:r>
              <a:rPr sz="2300" b="1" spc="-15" dirty="0">
                <a:solidFill>
                  <a:srgbClr val="000066"/>
                </a:solidFill>
                <a:latin typeface="Comic Sans MS"/>
                <a:cs typeface="Comic Sans MS"/>
              </a:rPr>
              <a:t>o</a:t>
            </a:r>
            <a:r>
              <a:rPr sz="2300" b="1" dirty="0">
                <a:solidFill>
                  <a:srgbClr val="000066"/>
                </a:solidFill>
                <a:latin typeface="Comic Sans MS"/>
                <a:cs typeface="Comic Sans MS"/>
              </a:rPr>
              <a:t>sts</a:t>
            </a:r>
            <a:endParaRPr sz="23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3776" y="176859"/>
            <a:ext cx="283019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solidFill>
                  <a:srgbClr val="000000"/>
                </a:solidFill>
              </a:rPr>
              <a:t>The</a:t>
            </a:r>
            <a:r>
              <a:rPr sz="3000" spc="-30" dirty="0">
                <a:solidFill>
                  <a:srgbClr val="000000"/>
                </a:solidFill>
              </a:rPr>
              <a:t> </a:t>
            </a:r>
            <a:r>
              <a:rPr sz="3000" spc="-5" dirty="0">
                <a:solidFill>
                  <a:srgbClr val="000000"/>
                </a:solidFill>
              </a:rPr>
              <a:t>business</a:t>
            </a:r>
            <a:r>
              <a:rPr sz="3000" dirty="0">
                <a:solidFill>
                  <a:srgbClr val="000000"/>
                </a:solidFill>
              </a:rPr>
              <a:t> </a:t>
            </a:r>
            <a:r>
              <a:rPr sz="3000" spc="-10" dirty="0">
                <a:solidFill>
                  <a:srgbClr val="000000"/>
                </a:solidFill>
              </a:rPr>
              <a:t>case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8407907" y="4831562"/>
            <a:ext cx="22860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31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3624" y="417062"/>
            <a:ext cx="8505825" cy="3956050"/>
          </a:xfrm>
          <a:prstGeom prst="rect">
            <a:avLst/>
          </a:prstGeom>
        </p:spPr>
        <p:txBody>
          <a:bodyPr vert="horz" wrap="square" lIns="0" tIns="259079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2039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000" spc="-5" dirty="0">
                <a:latin typeface="Calibri"/>
                <a:cs typeface="Calibri"/>
              </a:rPr>
              <a:t>Feasibility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studies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should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help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write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‘business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case’</a:t>
            </a:r>
            <a:endParaRPr sz="30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194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000" spc="-5" dirty="0">
                <a:latin typeface="Calibri"/>
                <a:cs typeface="Calibri"/>
              </a:rPr>
              <a:t>Should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provide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justification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30" dirty="0">
                <a:latin typeface="Calibri"/>
                <a:cs typeface="Calibri"/>
              </a:rPr>
              <a:t>for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starting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project</a:t>
            </a:r>
            <a:endParaRPr sz="3000">
              <a:latin typeface="Calibri"/>
              <a:cs typeface="Calibri"/>
            </a:endParaRPr>
          </a:p>
          <a:p>
            <a:pPr marL="356870" marR="707390" indent="-344805">
              <a:lnSpc>
                <a:spcPct val="110100"/>
              </a:lnSpc>
              <a:spcBef>
                <a:spcPts val="161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000" spc="-5" dirty="0">
                <a:latin typeface="Calibri"/>
                <a:cs typeface="Calibri"/>
              </a:rPr>
              <a:t>Should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show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that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benefits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of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project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will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exceed:</a:t>
            </a:r>
            <a:endParaRPr sz="3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970"/>
              </a:spcBef>
            </a:pPr>
            <a:r>
              <a:rPr sz="2400" dirty="0">
                <a:latin typeface="Arial MT"/>
                <a:cs typeface="Arial MT"/>
              </a:rPr>
              <a:t>–</a:t>
            </a:r>
            <a:r>
              <a:rPr sz="2400" spc="210" dirty="0">
                <a:latin typeface="Arial MT"/>
                <a:cs typeface="Arial MT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Various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costs</a:t>
            </a:r>
            <a:endParaRPr sz="2400">
              <a:latin typeface="Calibri"/>
              <a:cs typeface="Calibri"/>
            </a:endParaRPr>
          </a:p>
          <a:p>
            <a:pPr marL="356870" indent="-344805">
              <a:lnSpc>
                <a:spcPct val="100000"/>
              </a:lnSpc>
              <a:spcBef>
                <a:spcPts val="187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3000" spc="-5" dirty="0">
                <a:latin typeface="Calibri"/>
                <a:cs typeface="Calibri"/>
              </a:rPr>
              <a:t>Needs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to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40" dirty="0">
                <a:latin typeface="Calibri"/>
                <a:cs typeface="Calibri"/>
              </a:rPr>
              <a:t>take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account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of business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risks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7055" y="296417"/>
            <a:ext cx="4882515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spc="-10" dirty="0">
                <a:solidFill>
                  <a:srgbClr val="000000"/>
                </a:solidFill>
              </a:rPr>
              <a:t>Writing</a:t>
            </a:r>
            <a:r>
              <a:rPr sz="2700" spc="-20" dirty="0">
                <a:solidFill>
                  <a:srgbClr val="000000"/>
                </a:solidFill>
              </a:rPr>
              <a:t> </a:t>
            </a:r>
            <a:r>
              <a:rPr sz="2700" spc="5" dirty="0">
                <a:solidFill>
                  <a:srgbClr val="000000"/>
                </a:solidFill>
              </a:rPr>
              <a:t>an</a:t>
            </a:r>
            <a:r>
              <a:rPr sz="2700" spc="-15" dirty="0">
                <a:solidFill>
                  <a:srgbClr val="000000"/>
                </a:solidFill>
              </a:rPr>
              <a:t> </a:t>
            </a:r>
            <a:r>
              <a:rPr sz="2700" spc="-20" dirty="0">
                <a:solidFill>
                  <a:srgbClr val="000000"/>
                </a:solidFill>
              </a:rPr>
              <a:t>Effective</a:t>
            </a:r>
            <a:r>
              <a:rPr sz="2700" spc="25" dirty="0">
                <a:solidFill>
                  <a:srgbClr val="000000"/>
                </a:solidFill>
              </a:rPr>
              <a:t> </a:t>
            </a:r>
            <a:r>
              <a:rPr sz="2700" spc="5" dirty="0">
                <a:solidFill>
                  <a:srgbClr val="000000"/>
                </a:solidFill>
              </a:rPr>
              <a:t>Business</a:t>
            </a:r>
            <a:r>
              <a:rPr sz="2700" spc="20" dirty="0">
                <a:solidFill>
                  <a:srgbClr val="000000"/>
                </a:solidFill>
              </a:rPr>
              <a:t> </a:t>
            </a:r>
            <a:r>
              <a:rPr sz="2700" spc="5" dirty="0">
                <a:solidFill>
                  <a:srgbClr val="000000"/>
                </a:solidFill>
              </a:rPr>
              <a:t>Case</a:t>
            </a:r>
            <a:endParaRPr sz="2700"/>
          </a:p>
        </p:txBody>
      </p:sp>
      <p:sp>
        <p:nvSpPr>
          <p:cNvPr id="5" name="object 5"/>
          <p:cNvSpPr txBox="1"/>
          <p:nvPr/>
        </p:nvSpPr>
        <p:spPr>
          <a:xfrm>
            <a:off x="8407907" y="4831562"/>
            <a:ext cx="22860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32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8844" y="329946"/>
            <a:ext cx="1771650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63220" algn="l"/>
              </a:tabLst>
            </a:pPr>
            <a:r>
              <a:rPr sz="1350" b="1" spc="5" dirty="0">
                <a:solidFill>
                  <a:srgbClr val="0000FF"/>
                </a:solidFill>
                <a:latin typeface="Calibri"/>
                <a:cs typeface="Calibri"/>
              </a:rPr>
              <a:t>1.	</a:t>
            </a:r>
            <a:r>
              <a:rPr sz="1350" b="1" dirty="0">
                <a:solidFill>
                  <a:srgbClr val="0000FF"/>
                </a:solidFill>
                <a:latin typeface="Calibri"/>
                <a:cs typeface="Calibri"/>
              </a:rPr>
              <a:t>Executive</a:t>
            </a:r>
            <a:r>
              <a:rPr sz="1350" b="1" spc="-7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350" b="1" spc="5" dirty="0">
                <a:solidFill>
                  <a:srgbClr val="0000FF"/>
                </a:solidFill>
                <a:latin typeface="Calibri"/>
                <a:cs typeface="Calibri"/>
              </a:rPr>
              <a:t>summary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8844" y="658825"/>
            <a:ext cx="8943975" cy="37077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63220" indent="-351155">
              <a:lnSpc>
                <a:spcPct val="100000"/>
              </a:lnSpc>
              <a:spcBef>
                <a:spcPts val="120"/>
              </a:spcBef>
              <a:buAutoNum type="arabicPeriod" startAt="2"/>
              <a:tabLst>
                <a:tab pos="363220" algn="l"/>
                <a:tab pos="363855" algn="l"/>
              </a:tabLst>
            </a:pPr>
            <a:r>
              <a:rPr sz="1350" b="1" dirty="0">
                <a:solidFill>
                  <a:srgbClr val="0000FF"/>
                </a:solidFill>
                <a:latin typeface="Calibri"/>
                <a:cs typeface="Calibri"/>
              </a:rPr>
              <a:t>Project</a:t>
            </a:r>
            <a:r>
              <a:rPr sz="1350" b="1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350" b="1" spc="5" dirty="0">
                <a:solidFill>
                  <a:srgbClr val="0000FF"/>
                </a:solidFill>
                <a:latin typeface="Calibri"/>
                <a:cs typeface="Calibri"/>
              </a:rPr>
              <a:t>background:</a:t>
            </a:r>
            <a:endParaRPr sz="1350">
              <a:latin typeface="Calibri"/>
              <a:cs typeface="Calibri"/>
            </a:endParaRPr>
          </a:p>
          <a:p>
            <a:pPr marL="686435" lvl="1" indent="-287020">
              <a:lnSpc>
                <a:spcPct val="100000"/>
              </a:lnSpc>
              <a:spcBef>
                <a:spcPts val="1005"/>
              </a:spcBef>
              <a:buFont typeface="Symbol"/>
              <a:buChar char=""/>
              <a:tabLst>
                <a:tab pos="686435" algn="l"/>
                <a:tab pos="687070" algn="l"/>
              </a:tabLst>
            </a:pPr>
            <a:r>
              <a:rPr sz="1200" b="1" spc="5" dirty="0">
                <a:latin typeface="Calibri"/>
                <a:cs typeface="Calibri"/>
              </a:rPr>
              <a:t>The</a:t>
            </a:r>
            <a:r>
              <a:rPr sz="1200" b="1" spc="20" dirty="0">
                <a:latin typeface="Calibri"/>
                <a:cs typeface="Calibri"/>
              </a:rPr>
              <a:t> </a:t>
            </a:r>
            <a:r>
              <a:rPr sz="1200" b="1" spc="-5" dirty="0">
                <a:latin typeface="Calibri"/>
                <a:cs typeface="Calibri"/>
              </a:rPr>
              <a:t>focus</a:t>
            </a:r>
            <a:r>
              <a:rPr sz="1200" b="1" spc="60" dirty="0">
                <a:latin typeface="Calibri"/>
                <a:cs typeface="Calibri"/>
              </a:rPr>
              <a:t> </a:t>
            </a:r>
            <a:r>
              <a:rPr sz="1200" b="1" spc="-5" dirty="0">
                <a:latin typeface="Calibri"/>
                <a:cs typeface="Calibri"/>
              </a:rPr>
              <a:t>must</a:t>
            </a:r>
            <a:r>
              <a:rPr sz="1200" b="1" spc="50" dirty="0">
                <a:latin typeface="Calibri"/>
                <a:cs typeface="Calibri"/>
              </a:rPr>
              <a:t> </a:t>
            </a:r>
            <a:r>
              <a:rPr sz="1200" b="1" spc="5" dirty="0">
                <a:latin typeface="Calibri"/>
                <a:cs typeface="Calibri"/>
              </a:rPr>
              <a:t>be</a:t>
            </a:r>
            <a:r>
              <a:rPr sz="1200" b="1" spc="25" dirty="0">
                <a:latin typeface="Calibri"/>
                <a:cs typeface="Calibri"/>
              </a:rPr>
              <a:t> </a:t>
            </a:r>
            <a:r>
              <a:rPr sz="1200" b="1" spc="5" dirty="0">
                <a:latin typeface="Calibri"/>
                <a:cs typeface="Calibri"/>
              </a:rPr>
              <a:t>on</a:t>
            </a:r>
            <a:r>
              <a:rPr sz="1200" b="1" spc="10" dirty="0">
                <a:latin typeface="Calibri"/>
                <a:cs typeface="Calibri"/>
              </a:rPr>
              <a:t> </a:t>
            </a:r>
            <a:r>
              <a:rPr sz="1200" b="1" spc="5" dirty="0">
                <a:latin typeface="Calibri"/>
                <a:cs typeface="Calibri"/>
              </a:rPr>
              <a:t>what,</a:t>
            </a:r>
            <a:r>
              <a:rPr sz="1200" b="1" spc="1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exactly, </a:t>
            </a:r>
            <a:r>
              <a:rPr sz="1200" b="1" spc="5" dirty="0">
                <a:latin typeface="Calibri"/>
                <a:cs typeface="Calibri"/>
              </a:rPr>
              <a:t>the</a:t>
            </a:r>
            <a:r>
              <a:rPr sz="1200" b="1" dirty="0">
                <a:latin typeface="Calibri"/>
                <a:cs typeface="Calibri"/>
              </a:rPr>
              <a:t> project</a:t>
            </a:r>
            <a:r>
              <a:rPr sz="1200" b="1" spc="50" dirty="0">
                <a:latin typeface="Calibri"/>
                <a:cs typeface="Calibri"/>
              </a:rPr>
              <a:t> </a:t>
            </a:r>
            <a:r>
              <a:rPr sz="1200" b="1" spc="10" dirty="0">
                <a:latin typeface="Calibri"/>
                <a:cs typeface="Calibri"/>
              </a:rPr>
              <a:t>is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spc="5" dirty="0">
                <a:latin typeface="Calibri"/>
                <a:cs typeface="Calibri"/>
              </a:rPr>
              <a:t>undertaking,</a:t>
            </a:r>
            <a:r>
              <a:rPr sz="1200" b="1" spc="65" dirty="0">
                <a:latin typeface="Calibri"/>
                <a:cs typeface="Calibri"/>
              </a:rPr>
              <a:t> </a:t>
            </a:r>
            <a:r>
              <a:rPr sz="1200" b="1" spc="5" dirty="0">
                <a:latin typeface="Calibri"/>
                <a:cs typeface="Calibri"/>
              </a:rPr>
              <a:t>and</a:t>
            </a:r>
            <a:r>
              <a:rPr sz="1200" b="1" spc="35" dirty="0">
                <a:latin typeface="Calibri"/>
                <a:cs typeface="Calibri"/>
              </a:rPr>
              <a:t> </a:t>
            </a:r>
            <a:r>
              <a:rPr sz="1200" b="1" spc="5" dirty="0">
                <a:latin typeface="Calibri"/>
                <a:cs typeface="Calibri"/>
              </a:rPr>
              <a:t>should</a:t>
            </a:r>
            <a:r>
              <a:rPr sz="1200" b="1" spc="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not</a:t>
            </a:r>
            <a:r>
              <a:rPr sz="1200" b="1" spc="50" dirty="0">
                <a:latin typeface="Calibri"/>
                <a:cs typeface="Calibri"/>
              </a:rPr>
              <a:t> </a:t>
            </a:r>
            <a:r>
              <a:rPr sz="1200" b="1" spc="5" dirty="0">
                <a:latin typeface="Calibri"/>
                <a:cs typeface="Calibri"/>
              </a:rPr>
              <a:t>be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confused</a:t>
            </a:r>
            <a:r>
              <a:rPr sz="1200" b="1" spc="55" dirty="0">
                <a:latin typeface="Calibri"/>
                <a:cs typeface="Calibri"/>
              </a:rPr>
              <a:t> </a:t>
            </a:r>
            <a:r>
              <a:rPr sz="1200" b="1" spc="10" dirty="0">
                <a:latin typeface="Calibri"/>
                <a:cs typeface="Calibri"/>
              </a:rPr>
              <a:t>with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spc="5" dirty="0">
                <a:latin typeface="Calibri"/>
                <a:cs typeface="Calibri"/>
              </a:rPr>
              <a:t>what</a:t>
            </a:r>
            <a:r>
              <a:rPr sz="1200" b="1" dirty="0">
                <a:latin typeface="Calibri"/>
                <a:cs typeface="Calibri"/>
              </a:rPr>
              <a:t> </a:t>
            </a:r>
            <a:r>
              <a:rPr sz="1200" b="1" spc="5" dirty="0">
                <a:latin typeface="Calibri"/>
                <a:cs typeface="Calibri"/>
              </a:rPr>
              <a:t>might</a:t>
            </a:r>
            <a:r>
              <a:rPr sz="1200" b="1" spc="25" dirty="0">
                <a:latin typeface="Calibri"/>
                <a:cs typeface="Calibri"/>
              </a:rPr>
              <a:t> </a:t>
            </a:r>
            <a:r>
              <a:rPr sz="1200" b="1" spc="5" dirty="0">
                <a:latin typeface="Calibri"/>
                <a:cs typeface="Calibri"/>
              </a:rPr>
              <a:t>be</a:t>
            </a:r>
            <a:r>
              <a:rPr sz="1200" b="1" dirty="0">
                <a:latin typeface="Calibri"/>
                <a:cs typeface="Calibri"/>
              </a:rPr>
              <a:t> </a:t>
            </a:r>
            <a:r>
              <a:rPr sz="1200" b="1" spc="10" dirty="0">
                <a:latin typeface="Calibri"/>
                <a:cs typeface="Calibri"/>
              </a:rPr>
              <a:t>a</a:t>
            </a:r>
            <a:r>
              <a:rPr sz="1200" b="1" spc="15" dirty="0">
                <a:latin typeface="Calibri"/>
                <a:cs typeface="Calibri"/>
              </a:rPr>
              <a:t> </a:t>
            </a:r>
            <a:r>
              <a:rPr sz="1200" b="1" spc="5" dirty="0">
                <a:latin typeface="Calibri"/>
                <a:cs typeface="Calibri"/>
              </a:rPr>
              <a:t>bigger</a:t>
            </a:r>
            <a:r>
              <a:rPr sz="1200" b="1" spc="15" dirty="0">
                <a:latin typeface="Calibri"/>
                <a:cs typeface="Calibri"/>
              </a:rPr>
              <a:t> picture.</a:t>
            </a:r>
            <a:endParaRPr sz="1200">
              <a:latin typeface="Calibri"/>
              <a:cs typeface="Calibri"/>
            </a:endParaRPr>
          </a:p>
          <a:p>
            <a:pPr marL="363220" indent="-351155">
              <a:lnSpc>
                <a:spcPct val="100000"/>
              </a:lnSpc>
              <a:spcBef>
                <a:spcPts val="955"/>
              </a:spcBef>
              <a:buAutoNum type="arabicPeriod" startAt="2"/>
              <a:tabLst>
                <a:tab pos="363220" algn="l"/>
                <a:tab pos="363855" algn="l"/>
              </a:tabLst>
            </a:pPr>
            <a:r>
              <a:rPr sz="1350" b="1" spc="10" dirty="0">
                <a:solidFill>
                  <a:srgbClr val="0000FF"/>
                </a:solidFill>
                <a:latin typeface="Calibri"/>
                <a:cs typeface="Calibri"/>
              </a:rPr>
              <a:t>Bus</a:t>
            </a:r>
            <a:r>
              <a:rPr sz="1350" b="1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1350" b="1" spc="10" dirty="0">
                <a:solidFill>
                  <a:srgbClr val="0000FF"/>
                </a:solidFill>
                <a:latin typeface="Calibri"/>
                <a:cs typeface="Calibri"/>
              </a:rPr>
              <a:t>nes</a:t>
            </a:r>
            <a:r>
              <a:rPr sz="1350" b="1" spc="5" dirty="0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r>
              <a:rPr sz="1350" b="1" spc="-8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350" b="1" spc="10" dirty="0">
                <a:solidFill>
                  <a:srgbClr val="0000FF"/>
                </a:solidFill>
                <a:latin typeface="Calibri"/>
                <a:cs typeface="Calibri"/>
              </a:rPr>
              <a:t>oppo</a:t>
            </a:r>
            <a:r>
              <a:rPr sz="1350" b="1" spc="-5" dirty="0">
                <a:solidFill>
                  <a:srgbClr val="0000FF"/>
                </a:solidFill>
                <a:latin typeface="Calibri"/>
                <a:cs typeface="Calibri"/>
              </a:rPr>
              <a:t>r</a:t>
            </a:r>
            <a:r>
              <a:rPr sz="1350" b="1" spc="5" dirty="0">
                <a:solidFill>
                  <a:srgbClr val="0000FF"/>
                </a:solidFill>
                <a:latin typeface="Calibri"/>
                <a:cs typeface="Calibri"/>
              </a:rPr>
              <a:t>t</a:t>
            </a:r>
            <a:r>
              <a:rPr sz="1350" b="1" spc="10" dirty="0">
                <a:solidFill>
                  <a:srgbClr val="0000FF"/>
                </a:solidFill>
                <a:latin typeface="Calibri"/>
                <a:cs typeface="Calibri"/>
              </a:rPr>
              <a:t>un</a:t>
            </a:r>
            <a:r>
              <a:rPr sz="1350" b="1" dirty="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sz="1350" b="1" spc="-15" dirty="0">
                <a:solidFill>
                  <a:srgbClr val="0000FF"/>
                </a:solidFill>
                <a:latin typeface="Calibri"/>
                <a:cs typeface="Calibri"/>
              </a:rPr>
              <a:t>t</a:t>
            </a:r>
            <a:r>
              <a:rPr sz="1350" b="1" spc="5" dirty="0">
                <a:solidFill>
                  <a:srgbClr val="0000FF"/>
                </a:solidFill>
                <a:latin typeface="Calibri"/>
                <a:cs typeface="Calibri"/>
              </a:rPr>
              <a:t>y</a:t>
            </a:r>
            <a:endParaRPr sz="1350">
              <a:latin typeface="Calibri"/>
              <a:cs typeface="Calibri"/>
            </a:endParaRPr>
          </a:p>
          <a:p>
            <a:pPr marL="692150" indent="-384175">
              <a:lnSpc>
                <a:spcPct val="100000"/>
              </a:lnSpc>
              <a:spcBef>
                <a:spcPts val="1000"/>
              </a:spcBef>
              <a:buFont typeface="Comic Sans MS"/>
              <a:buChar char="-"/>
              <a:tabLst>
                <a:tab pos="692150" algn="l"/>
                <a:tab pos="692785" algn="l"/>
              </a:tabLst>
            </a:pPr>
            <a:r>
              <a:rPr sz="1200" b="1" spc="5" dirty="0">
                <a:latin typeface="Calibri"/>
                <a:cs typeface="Calibri"/>
              </a:rPr>
              <a:t>What </a:t>
            </a:r>
            <a:r>
              <a:rPr sz="1200" b="1" dirty="0">
                <a:latin typeface="Calibri"/>
                <a:cs typeface="Calibri"/>
              </a:rPr>
              <a:t>difference</a:t>
            </a:r>
            <a:r>
              <a:rPr sz="1200" b="1" spc="10" dirty="0">
                <a:latin typeface="Calibri"/>
                <a:cs typeface="Calibri"/>
              </a:rPr>
              <a:t> will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10" dirty="0">
                <a:latin typeface="Calibri"/>
                <a:cs typeface="Calibri"/>
              </a:rPr>
              <a:t>it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make?</a:t>
            </a:r>
            <a:endParaRPr sz="1200">
              <a:latin typeface="Calibri"/>
              <a:cs typeface="Calibri"/>
            </a:endParaRPr>
          </a:p>
          <a:p>
            <a:pPr marL="728980" indent="-421005">
              <a:lnSpc>
                <a:spcPct val="100000"/>
              </a:lnSpc>
              <a:spcBef>
                <a:spcPts val="990"/>
              </a:spcBef>
              <a:buFont typeface="Comic Sans MS"/>
              <a:buChar char="-"/>
              <a:tabLst>
                <a:tab pos="728980" algn="l"/>
                <a:tab pos="729615" algn="l"/>
              </a:tabLst>
            </a:pPr>
            <a:r>
              <a:rPr sz="1200" b="1" spc="5" dirty="0">
                <a:latin typeface="Calibri"/>
                <a:cs typeface="Calibri"/>
              </a:rPr>
              <a:t>What</a:t>
            </a:r>
            <a:r>
              <a:rPr sz="1200" b="1" spc="10" dirty="0">
                <a:latin typeface="Calibri"/>
                <a:cs typeface="Calibri"/>
              </a:rPr>
              <a:t> if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10" dirty="0">
                <a:latin typeface="Calibri"/>
                <a:cs typeface="Calibri"/>
              </a:rPr>
              <a:t>we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don’t</a:t>
            </a:r>
            <a:r>
              <a:rPr sz="1200" b="1" spc="35" dirty="0">
                <a:latin typeface="Calibri"/>
                <a:cs typeface="Calibri"/>
              </a:rPr>
              <a:t> </a:t>
            </a:r>
            <a:r>
              <a:rPr sz="1200" b="1" spc="5" dirty="0">
                <a:latin typeface="Calibri"/>
                <a:cs typeface="Calibri"/>
              </a:rPr>
              <a:t>do</a:t>
            </a:r>
            <a:r>
              <a:rPr sz="1200" b="1" spc="15" dirty="0">
                <a:latin typeface="Calibri"/>
                <a:cs typeface="Calibri"/>
              </a:rPr>
              <a:t> </a:t>
            </a:r>
            <a:r>
              <a:rPr sz="1200" b="1" spc="10" dirty="0">
                <a:latin typeface="Calibri"/>
                <a:cs typeface="Calibri"/>
              </a:rPr>
              <a:t>it?</a:t>
            </a:r>
            <a:endParaRPr sz="1200">
              <a:latin typeface="Calibri"/>
              <a:cs typeface="Calibri"/>
            </a:endParaRPr>
          </a:p>
          <a:p>
            <a:pPr marL="363220" indent="-351155">
              <a:lnSpc>
                <a:spcPct val="100000"/>
              </a:lnSpc>
              <a:spcBef>
                <a:spcPts val="950"/>
              </a:spcBef>
              <a:buAutoNum type="arabicPeriod" startAt="4"/>
              <a:tabLst>
                <a:tab pos="363220" algn="l"/>
                <a:tab pos="363855" algn="l"/>
              </a:tabLst>
            </a:pPr>
            <a:r>
              <a:rPr sz="1350" b="1" dirty="0">
                <a:solidFill>
                  <a:srgbClr val="0000FF"/>
                </a:solidFill>
                <a:latin typeface="Calibri"/>
                <a:cs typeface="Calibri"/>
              </a:rPr>
              <a:t>Costs</a:t>
            </a:r>
            <a:endParaRPr sz="1350">
              <a:latin typeface="Calibri"/>
              <a:cs typeface="Calibri"/>
            </a:endParaRPr>
          </a:p>
          <a:p>
            <a:pPr marL="308610">
              <a:lnSpc>
                <a:spcPct val="100000"/>
              </a:lnSpc>
              <a:spcBef>
                <a:spcPts val="980"/>
              </a:spcBef>
              <a:tabLst>
                <a:tab pos="658495" algn="l"/>
              </a:tabLst>
            </a:pPr>
            <a:r>
              <a:rPr sz="1200" i="1" spc="10" dirty="0">
                <a:latin typeface="Comic Sans MS"/>
                <a:cs typeface="Comic Sans MS"/>
              </a:rPr>
              <a:t>-	</a:t>
            </a:r>
            <a:r>
              <a:rPr sz="1200" b="1" spc="5" dirty="0">
                <a:latin typeface="Calibri"/>
                <a:cs typeface="Calibri"/>
              </a:rPr>
              <a:t>Should</a:t>
            </a:r>
            <a:r>
              <a:rPr sz="1200" b="1" spc="35" dirty="0">
                <a:latin typeface="Calibri"/>
                <a:cs typeface="Calibri"/>
              </a:rPr>
              <a:t> </a:t>
            </a:r>
            <a:r>
              <a:rPr sz="1200" b="1" spc="5" dirty="0">
                <a:latin typeface="Calibri"/>
                <a:cs typeface="Calibri"/>
              </a:rPr>
              <a:t>include</a:t>
            </a:r>
            <a:r>
              <a:rPr sz="1200" b="1" spc="30" dirty="0">
                <a:latin typeface="Calibri"/>
                <a:cs typeface="Calibri"/>
              </a:rPr>
              <a:t> </a:t>
            </a:r>
            <a:r>
              <a:rPr sz="1200" b="1" spc="5" dirty="0">
                <a:latin typeface="Calibri"/>
                <a:cs typeface="Calibri"/>
              </a:rPr>
              <a:t>the</a:t>
            </a:r>
            <a:r>
              <a:rPr sz="1200" b="1" spc="30" dirty="0">
                <a:latin typeface="Calibri"/>
                <a:cs typeface="Calibri"/>
              </a:rPr>
              <a:t> </a:t>
            </a:r>
            <a:r>
              <a:rPr sz="1200" b="1" spc="-5" dirty="0">
                <a:latin typeface="Calibri"/>
                <a:cs typeface="Calibri"/>
              </a:rPr>
              <a:t>cost</a:t>
            </a:r>
            <a:r>
              <a:rPr sz="1200" b="1" spc="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of</a:t>
            </a:r>
            <a:r>
              <a:rPr sz="1200" b="1" spc="40" dirty="0">
                <a:latin typeface="Calibri"/>
                <a:cs typeface="Calibri"/>
              </a:rPr>
              <a:t> </a:t>
            </a:r>
            <a:r>
              <a:rPr sz="1200" b="1" spc="5" dirty="0">
                <a:latin typeface="Calibri"/>
                <a:cs typeface="Calibri"/>
              </a:rPr>
              <a:t>development,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spc="5" dirty="0">
                <a:latin typeface="Calibri"/>
                <a:cs typeface="Calibri"/>
              </a:rPr>
              <a:t>implementation,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spc="5" dirty="0">
                <a:latin typeface="Calibri"/>
                <a:cs typeface="Calibri"/>
              </a:rPr>
              <a:t>training,</a:t>
            </a:r>
            <a:r>
              <a:rPr sz="1200" b="1" spc="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change</a:t>
            </a:r>
            <a:r>
              <a:rPr sz="1200" b="1" spc="55" dirty="0">
                <a:latin typeface="Calibri"/>
                <a:cs typeface="Calibri"/>
              </a:rPr>
              <a:t> </a:t>
            </a:r>
            <a:r>
              <a:rPr sz="1200" b="1" spc="5" dirty="0">
                <a:latin typeface="Calibri"/>
                <a:cs typeface="Calibri"/>
              </a:rPr>
              <a:t>management,</a:t>
            </a:r>
            <a:r>
              <a:rPr sz="1200" b="1" spc="20" dirty="0">
                <a:latin typeface="Calibri"/>
                <a:cs typeface="Calibri"/>
              </a:rPr>
              <a:t> </a:t>
            </a:r>
            <a:r>
              <a:rPr sz="1200" b="1" spc="5" dirty="0">
                <a:latin typeface="Calibri"/>
                <a:cs typeface="Calibri"/>
              </a:rPr>
              <a:t>and</a:t>
            </a:r>
            <a:r>
              <a:rPr sz="1200" b="1" spc="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operations.</a:t>
            </a:r>
            <a:endParaRPr sz="1200">
              <a:latin typeface="Calibri"/>
              <a:cs typeface="Calibri"/>
            </a:endParaRPr>
          </a:p>
          <a:p>
            <a:pPr marL="363220" indent="-351155">
              <a:lnSpc>
                <a:spcPct val="100000"/>
              </a:lnSpc>
              <a:spcBef>
                <a:spcPts val="985"/>
              </a:spcBef>
              <a:buAutoNum type="arabicPeriod" startAt="5"/>
              <a:tabLst>
                <a:tab pos="363220" algn="l"/>
                <a:tab pos="363855" algn="l"/>
              </a:tabLst>
            </a:pPr>
            <a:r>
              <a:rPr sz="1350" b="1" spc="5" dirty="0">
                <a:solidFill>
                  <a:srgbClr val="0000FF"/>
                </a:solidFill>
                <a:latin typeface="Calibri"/>
                <a:cs typeface="Calibri"/>
              </a:rPr>
              <a:t>Benefits</a:t>
            </a:r>
            <a:endParaRPr sz="1350">
              <a:latin typeface="Calibri"/>
              <a:cs typeface="Calibri"/>
            </a:endParaRPr>
          </a:p>
          <a:p>
            <a:pPr marL="686435" lvl="1" indent="-287020">
              <a:lnSpc>
                <a:spcPct val="100000"/>
              </a:lnSpc>
              <a:spcBef>
                <a:spcPts val="975"/>
              </a:spcBef>
              <a:buFont typeface="Symbol"/>
              <a:buChar char=""/>
              <a:tabLst>
                <a:tab pos="686435" algn="l"/>
                <a:tab pos="687070" algn="l"/>
              </a:tabLst>
            </a:pPr>
            <a:r>
              <a:rPr sz="1200" b="1" spc="10" dirty="0">
                <a:latin typeface="Calibri"/>
                <a:cs typeface="Calibri"/>
              </a:rPr>
              <a:t>Benefits</a:t>
            </a:r>
            <a:r>
              <a:rPr sz="1200" b="1" spc="-45" dirty="0">
                <a:latin typeface="Calibri"/>
                <a:cs typeface="Calibri"/>
              </a:rPr>
              <a:t> </a:t>
            </a:r>
            <a:r>
              <a:rPr sz="1200" b="1" spc="5" dirty="0">
                <a:latin typeface="Calibri"/>
                <a:cs typeface="Calibri"/>
              </a:rPr>
              <a:t>usually</a:t>
            </a:r>
            <a:r>
              <a:rPr sz="1200" b="1" spc="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presented</a:t>
            </a:r>
            <a:r>
              <a:rPr sz="1200" b="1" spc="10" dirty="0">
                <a:latin typeface="Calibri"/>
                <a:cs typeface="Calibri"/>
              </a:rPr>
              <a:t> in </a:t>
            </a:r>
            <a:r>
              <a:rPr sz="1200" b="1" dirty="0">
                <a:latin typeface="Calibri"/>
                <a:cs typeface="Calibri"/>
              </a:rPr>
              <a:t>terms</a:t>
            </a:r>
            <a:r>
              <a:rPr sz="1200" b="1" spc="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of</a:t>
            </a:r>
            <a:r>
              <a:rPr sz="1200" b="1" spc="15" dirty="0">
                <a:latin typeface="Calibri"/>
                <a:cs typeface="Calibri"/>
              </a:rPr>
              <a:t> </a:t>
            </a:r>
            <a:r>
              <a:rPr sz="1200" b="1" spc="5" dirty="0">
                <a:latin typeface="Calibri"/>
                <a:cs typeface="Calibri"/>
              </a:rPr>
              <a:t>revenue</a:t>
            </a:r>
            <a:r>
              <a:rPr sz="1200" b="1" spc="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generation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spc="5" dirty="0">
                <a:latin typeface="Calibri"/>
                <a:cs typeface="Calibri"/>
              </a:rPr>
              <a:t>and</a:t>
            </a:r>
            <a:r>
              <a:rPr sz="1200" b="1" spc="30" dirty="0">
                <a:latin typeface="Calibri"/>
                <a:cs typeface="Calibri"/>
              </a:rPr>
              <a:t> </a:t>
            </a:r>
            <a:r>
              <a:rPr sz="1200" b="1" spc="-5" dirty="0">
                <a:latin typeface="Calibri"/>
                <a:cs typeface="Calibri"/>
              </a:rPr>
              <a:t>cost</a:t>
            </a:r>
            <a:r>
              <a:rPr sz="1200" b="1" spc="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reductions.</a:t>
            </a:r>
            <a:endParaRPr sz="1200">
              <a:latin typeface="Calibri"/>
              <a:cs typeface="Calibri"/>
            </a:endParaRPr>
          </a:p>
          <a:p>
            <a:pPr marL="402590" indent="-390525">
              <a:lnSpc>
                <a:spcPct val="100000"/>
              </a:lnSpc>
              <a:spcBef>
                <a:spcPts val="980"/>
              </a:spcBef>
              <a:buClr>
                <a:srgbClr val="000000"/>
              </a:buClr>
              <a:buAutoNum type="arabicPeriod" startAt="5"/>
              <a:tabLst>
                <a:tab pos="402590" algn="l"/>
                <a:tab pos="403225" algn="l"/>
              </a:tabLst>
            </a:pPr>
            <a:r>
              <a:rPr sz="1350" b="1" spc="5" dirty="0">
                <a:solidFill>
                  <a:srgbClr val="0000FF"/>
                </a:solidFill>
                <a:latin typeface="Calibri"/>
                <a:cs typeface="Calibri"/>
              </a:rPr>
              <a:t>Risks</a:t>
            </a:r>
            <a:endParaRPr sz="1350">
              <a:latin typeface="Calibri"/>
              <a:cs typeface="Calibri"/>
            </a:endParaRPr>
          </a:p>
          <a:p>
            <a:pPr marL="659130" indent="-351155">
              <a:lnSpc>
                <a:spcPct val="100000"/>
              </a:lnSpc>
              <a:spcBef>
                <a:spcPts val="980"/>
              </a:spcBef>
              <a:buFont typeface="Comic Sans MS"/>
              <a:buChar char="-"/>
              <a:tabLst>
                <a:tab pos="658495" algn="l"/>
                <a:tab pos="659765" algn="l"/>
              </a:tabLst>
            </a:pPr>
            <a:r>
              <a:rPr sz="1200" b="1" spc="5" dirty="0">
                <a:latin typeface="Calibri"/>
                <a:cs typeface="Calibri"/>
              </a:rPr>
              <a:t>Identify</a:t>
            </a:r>
            <a:r>
              <a:rPr sz="1200" b="1" spc="2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risks.</a:t>
            </a:r>
            <a:endParaRPr sz="1200">
              <a:latin typeface="Calibri"/>
              <a:cs typeface="Calibri"/>
            </a:endParaRPr>
          </a:p>
          <a:p>
            <a:pPr marL="659130" indent="-351155">
              <a:lnSpc>
                <a:spcPct val="100000"/>
              </a:lnSpc>
              <a:spcBef>
                <a:spcPts val="985"/>
              </a:spcBef>
              <a:buFont typeface="Comic Sans MS"/>
              <a:buChar char="-"/>
              <a:tabLst>
                <a:tab pos="658495" algn="l"/>
                <a:tab pos="659765" algn="l"/>
              </a:tabLst>
            </a:pPr>
            <a:r>
              <a:rPr sz="1200" b="1" spc="5" dirty="0">
                <a:latin typeface="Calibri"/>
                <a:cs typeface="Calibri"/>
              </a:rPr>
              <a:t>Explain</a:t>
            </a:r>
            <a:r>
              <a:rPr sz="1200" b="1" dirty="0">
                <a:latin typeface="Calibri"/>
                <a:cs typeface="Calibri"/>
              </a:rPr>
              <a:t> </a:t>
            </a:r>
            <a:r>
              <a:rPr sz="1200" b="1" spc="5" dirty="0">
                <a:latin typeface="Calibri"/>
                <a:cs typeface="Calibri"/>
              </a:rPr>
              <a:t>how</a:t>
            </a:r>
            <a:r>
              <a:rPr sz="1200" b="1" spc="35" dirty="0">
                <a:latin typeface="Calibri"/>
                <a:cs typeface="Calibri"/>
              </a:rPr>
              <a:t> </a:t>
            </a:r>
            <a:r>
              <a:rPr sz="1200" b="1" spc="5" dirty="0">
                <a:latin typeface="Calibri"/>
                <a:cs typeface="Calibri"/>
              </a:rPr>
              <a:t>these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spc="10" dirty="0">
                <a:latin typeface="Calibri"/>
                <a:cs typeface="Calibri"/>
              </a:rPr>
              <a:t>will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5" dirty="0">
                <a:latin typeface="Calibri"/>
                <a:cs typeface="Calibri"/>
              </a:rPr>
              <a:t>be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managed.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90921" y="1026363"/>
            <a:ext cx="399859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/>
              <a:t>Classical</a:t>
            </a:r>
            <a:r>
              <a:rPr sz="3000" spc="-60" dirty="0"/>
              <a:t> </a:t>
            </a:r>
            <a:r>
              <a:rPr sz="3000" spc="-30" dirty="0"/>
              <a:t>Waterfall</a:t>
            </a:r>
            <a:r>
              <a:rPr sz="3000" spc="-55" dirty="0"/>
              <a:t> </a:t>
            </a:r>
            <a:r>
              <a:rPr sz="3000" spc="-5" dirty="0"/>
              <a:t>Model</a:t>
            </a:r>
            <a:endParaRPr sz="3000"/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5" dirty="0"/>
              <a:t>33</a:t>
            </a:fld>
            <a:endParaRPr spc="-5" dirty="0"/>
          </a:p>
        </p:txBody>
      </p:sp>
      <p:grpSp>
        <p:nvGrpSpPr>
          <p:cNvPr id="3" name="object 3"/>
          <p:cNvGrpSpPr/>
          <p:nvPr/>
        </p:nvGrpSpPr>
        <p:grpSpPr>
          <a:xfrm>
            <a:off x="895921" y="524065"/>
            <a:ext cx="2329180" cy="403225"/>
            <a:chOff x="895921" y="524065"/>
            <a:chExt cx="2329180" cy="403225"/>
          </a:xfrm>
        </p:grpSpPr>
        <p:sp>
          <p:nvSpPr>
            <p:cNvPr id="4" name="object 4"/>
            <p:cNvSpPr/>
            <p:nvPr/>
          </p:nvSpPr>
          <p:spPr>
            <a:xfrm>
              <a:off x="915923" y="544067"/>
              <a:ext cx="2289175" cy="363220"/>
            </a:xfrm>
            <a:custGeom>
              <a:avLst/>
              <a:gdLst/>
              <a:ahLst/>
              <a:cxnLst/>
              <a:rect l="l" t="t" r="r" b="b"/>
              <a:pathLst>
                <a:path w="2289175" h="363219">
                  <a:moveTo>
                    <a:pt x="2289048" y="0"/>
                  </a:moveTo>
                  <a:lnTo>
                    <a:pt x="0" y="0"/>
                  </a:lnTo>
                  <a:lnTo>
                    <a:pt x="0" y="362712"/>
                  </a:lnTo>
                  <a:lnTo>
                    <a:pt x="2289048" y="362712"/>
                  </a:lnTo>
                  <a:lnTo>
                    <a:pt x="2289048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923" y="544067"/>
              <a:ext cx="2289175" cy="363220"/>
            </a:xfrm>
            <a:custGeom>
              <a:avLst/>
              <a:gdLst/>
              <a:ahLst/>
              <a:cxnLst/>
              <a:rect l="l" t="t" r="r" b="b"/>
              <a:pathLst>
                <a:path w="2289175" h="363219">
                  <a:moveTo>
                    <a:pt x="0" y="362712"/>
                  </a:moveTo>
                  <a:lnTo>
                    <a:pt x="2289048" y="362712"/>
                  </a:lnTo>
                  <a:lnTo>
                    <a:pt x="2289048" y="0"/>
                  </a:lnTo>
                  <a:lnTo>
                    <a:pt x="0" y="0"/>
                  </a:lnTo>
                  <a:lnTo>
                    <a:pt x="0" y="362712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15924" y="544067"/>
            <a:ext cx="2289175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0345">
              <a:lnSpc>
                <a:spcPts val="1985"/>
              </a:lnSpc>
            </a:pPr>
            <a:r>
              <a:rPr sz="1750" b="1" spc="5" dirty="0">
                <a:latin typeface="Comic Sans MS"/>
                <a:cs typeface="Comic Sans MS"/>
              </a:rPr>
              <a:t>Feasibility</a:t>
            </a:r>
            <a:r>
              <a:rPr sz="1750" b="1" spc="-40" dirty="0">
                <a:latin typeface="Comic Sans MS"/>
                <a:cs typeface="Comic Sans MS"/>
              </a:rPr>
              <a:t> </a:t>
            </a:r>
            <a:r>
              <a:rPr sz="1750" b="1" spc="5" dirty="0">
                <a:latin typeface="Comic Sans MS"/>
                <a:cs typeface="Comic Sans MS"/>
              </a:rPr>
              <a:t>Study</a:t>
            </a:r>
            <a:endParaRPr sz="1750">
              <a:latin typeface="Comic Sans MS"/>
              <a:cs typeface="Comic Sans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712785" y="1258633"/>
            <a:ext cx="2286635" cy="445770"/>
            <a:chOff x="1712785" y="1258633"/>
            <a:chExt cx="2286635" cy="445770"/>
          </a:xfrm>
        </p:grpSpPr>
        <p:sp>
          <p:nvSpPr>
            <p:cNvPr id="8" name="object 8"/>
            <p:cNvSpPr/>
            <p:nvPr/>
          </p:nvSpPr>
          <p:spPr>
            <a:xfrm>
              <a:off x="1732788" y="1278635"/>
              <a:ext cx="2246630" cy="405765"/>
            </a:xfrm>
            <a:custGeom>
              <a:avLst/>
              <a:gdLst/>
              <a:ahLst/>
              <a:cxnLst/>
              <a:rect l="l" t="t" r="r" b="b"/>
              <a:pathLst>
                <a:path w="2246629" h="405764">
                  <a:moveTo>
                    <a:pt x="2246376" y="0"/>
                  </a:moveTo>
                  <a:lnTo>
                    <a:pt x="0" y="0"/>
                  </a:lnTo>
                  <a:lnTo>
                    <a:pt x="0" y="405384"/>
                  </a:lnTo>
                  <a:lnTo>
                    <a:pt x="2246376" y="405384"/>
                  </a:lnTo>
                  <a:lnTo>
                    <a:pt x="2246376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32788" y="1278635"/>
              <a:ext cx="2246630" cy="405765"/>
            </a:xfrm>
            <a:custGeom>
              <a:avLst/>
              <a:gdLst/>
              <a:ahLst/>
              <a:cxnLst/>
              <a:rect l="l" t="t" r="r" b="b"/>
              <a:pathLst>
                <a:path w="2246629" h="405764">
                  <a:moveTo>
                    <a:pt x="0" y="405384"/>
                  </a:moveTo>
                  <a:lnTo>
                    <a:pt x="2246376" y="405384"/>
                  </a:lnTo>
                  <a:lnTo>
                    <a:pt x="2246376" y="0"/>
                  </a:lnTo>
                  <a:lnTo>
                    <a:pt x="0" y="0"/>
                  </a:lnTo>
                  <a:lnTo>
                    <a:pt x="0" y="405384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905000" y="1238503"/>
            <a:ext cx="191198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894715" algn="l"/>
              </a:tabLst>
            </a:pPr>
            <a:r>
              <a:rPr sz="2050" b="1" spc="-10" dirty="0">
                <a:solidFill>
                  <a:srgbClr val="FFFF99"/>
                </a:solidFill>
                <a:latin typeface="Comic Sans MS"/>
                <a:cs typeface="Comic Sans MS"/>
              </a:rPr>
              <a:t>Req.	</a:t>
            </a:r>
            <a:r>
              <a:rPr sz="2050" b="1" spc="-15" dirty="0">
                <a:solidFill>
                  <a:srgbClr val="FFFF99"/>
                </a:solidFill>
                <a:latin typeface="Comic Sans MS"/>
                <a:cs typeface="Comic Sans MS"/>
              </a:rPr>
              <a:t>Analysis</a:t>
            </a:r>
            <a:endParaRPr sz="2050">
              <a:latin typeface="Comic Sans MS"/>
              <a:cs typeface="Comic Sans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419921" y="1859089"/>
            <a:ext cx="2289810" cy="448945"/>
            <a:chOff x="2419921" y="1859089"/>
            <a:chExt cx="2289810" cy="448945"/>
          </a:xfrm>
        </p:grpSpPr>
        <p:sp>
          <p:nvSpPr>
            <p:cNvPr id="12" name="object 12"/>
            <p:cNvSpPr/>
            <p:nvPr/>
          </p:nvSpPr>
          <p:spPr>
            <a:xfrm>
              <a:off x="2439923" y="1879091"/>
              <a:ext cx="2249805" cy="408940"/>
            </a:xfrm>
            <a:custGeom>
              <a:avLst/>
              <a:gdLst/>
              <a:ahLst/>
              <a:cxnLst/>
              <a:rect l="l" t="t" r="r" b="b"/>
              <a:pathLst>
                <a:path w="2249804" h="408939">
                  <a:moveTo>
                    <a:pt x="2249424" y="0"/>
                  </a:moveTo>
                  <a:lnTo>
                    <a:pt x="0" y="0"/>
                  </a:lnTo>
                  <a:lnTo>
                    <a:pt x="0" y="408431"/>
                  </a:lnTo>
                  <a:lnTo>
                    <a:pt x="2249424" y="408431"/>
                  </a:lnTo>
                  <a:lnTo>
                    <a:pt x="224942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39923" y="1879091"/>
              <a:ext cx="2249805" cy="408940"/>
            </a:xfrm>
            <a:custGeom>
              <a:avLst/>
              <a:gdLst/>
              <a:ahLst/>
              <a:cxnLst/>
              <a:rect l="l" t="t" r="r" b="b"/>
              <a:pathLst>
                <a:path w="2249804" h="408939">
                  <a:moveTo>
                    <a:pt x="0" y="408431"/>
                  </a:moveTo>
                  <a:lnTo>
                    <a:pt x="2249424" y="408431"/>
                  </a:lnTo>
                  <a:lnTo>
                    <a:pt x="2249424" y="0"/>
                  </a:lnTo>
                  <a:lnTo>
                    <a:pt x="0" y="0"/>
                  </a:lnTo>
                  <a:lnTo>
                    <a:pt x="0" y="408431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439923" y="1879091"/>
            <a:ext cx="2249805" cy="408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4390">
              <a:lnSpc>
                <a:spcPts val="2235"/>
              </a:lnSpc>
            </a:pPr>
            <a:r>
              <a:rPr sz="2050" b="1" spc="-10" dirty="0">
                <a:latin typeface="Comic Sans MS"/>
                <a:cs typeface="Comic Sans MS"/>
              </a:rPr>
              <a:t>Design</a:t>
            </a:r>
            <a:endParaRPr sz="2050">
              <a:latin typeface="Comic Sans MS"/>
              <a:cs typeface="Comic Sans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239833" y="2490025"/>
            <a:ext cx="2286635" cy="445770"/>
            <a:chOff x="3239833" y="2490025"/>
            <a:chExt cx="2286635" cy="445770"/>
          </a:xfrm>
        </p:grpSpPr>
        <p:sp>
          <p:nvSpPr>
            <p:cNvPr id="16" name="object 16"/>
            <p:cNvSpPr/>
            <p:nvPr/>
          </p:nvSpPr>
          <p:spPr>
            <a:xfrm>
              <a:off x="3259835" y="2510028"/>
              <a:ext cx="2246630" cy="405765"/>
            </a:xfrm>
            <a:custGeom>
              <a:avLst/>
              <a:gdLst/>
              <a:ahLst/>
              <a:cxnLst/>
              <a:rect l="l" t="t" r="r" b="b"/>
              <a:pathLst>
                <a:path w="2246629" h="405764">
                  <a:moveTo>
                    <a:pt x="2246376" y="0"/>
                  </a:moveTo>
                  <a:lnTo>
                    <a:pt x="0" y="0"/>
                  </a:lnTo>
                  <a:lnTo>
                    <a:pt x="0" y="405384"/>
                  </a:lnTo>
                  <a:lnTo>
                    <a:pt x="2246376" y="405384"/>
                  </a:lnTo>
                  <a:lnTo>
                    <a:pt x="224637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59835" y="2510028"/>
              <a:ext cx="2246630" cy="405765"/>
            </a:xfrm>
            <a:custGeom>
              <a:avLst/>
              <a:gdLst/>
              <a:ahLst/>
              <a:cxnLst/>
              <a:rect l="l" t="t" r="r" b="b"/>
              <a:pathLst>
                <a:path w="2246629" h="405764">
                  <a:moveTo>
                    <a:pt x="0" y="405384"/>
                  </a:moveTo>
                  <a:lnTo>
                    <a:pt x="2246376" y="405384"/>
                  </a:lnTo>
                  <a:lnTo>
                    <a:pt x="2246376" y="0"/>
                  </a:lnTo>
                  <a:lnTo>
                    <a:pt x="0" y="0"/>
                  </a:lnTo>
                  <a:lnTo>
                    <a:pt x="0" y="405384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970146" y="2470530"/>
            <a:ext cx="82232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b="1" dirty="0">
                <a:latin typeface="Comic Sans MS"/>
                <a:cs typeface="Comic Sans MS"/>
              </a:rPr>
              <a:t>C</a:t>
            </a:r>
            <a:r>
              <a:rPr sz="2050" b="1" spc="-5" dirty="0">
                <a:latin typeface="Comic Sans MS"/>
                <a:cs typeface="Comic Sans MS"/>
              </a:rPr>
              <a:t>o</a:t>
            </a:r>
            <a:r>
              <a:rPr sz="2050" b="1" spc="-15" dirty="0">
                <a:latin typeface="Comic Sans MS"/>
                <a:cs typeface="Comic Sans MS"/>
              </a:rPr>
              <a:t>d</a:t>
            </a:r>
            <a:r>
              <a:rPr sz="2050" b="1" dirty="0">
                <a:latin typeface="Comic Sans MS"/>
                <a:cs typeface="Comic Sans MS"/>
              </a:rPr>
              <a:t>i</a:t>
            </a:r>
            <a:r>
              <a:rPr sz="2050" b="1" spc="-20" dirty="0">
                <a:latin typeface="Comic Sans MS"/>
                <a:cs typeface="Comic Sans MS"/>
              </a:rPr>
              <a:t>n</a:t>
            </a:r>
            <a:r>
              <a:rPr sz="2050" b="1" spc="-10" dirty="0">
                <a:latin typeface="Comic Sans MS"/>
                <a:cs typeface="Comic Sans MS"/>
              </a:rPr>
              <a:t>g</a:t>
            </a:r>
            <a:endParaRPr sz="2050">
              <a:latin typeface="Comic Sans MS"/>
              <a:cs typeface="Comic Sans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108513" y="3117913"/>
            <a:ext cx="2289810" cy="445770"/>
            <a:chOff x="4108513" y="3117913"/>
            <a:chExt cx="2289810" cy="445770"/>
          </a:xfrm>
        </p:grpSpPr>
        <p:sp>
          <p:nvSpPr>
            <p:cNvPr id="20" name="object 20"/>
            <p:cNvSpPr/>
            <p:nvPr/>
          </p:nvSpPr>
          <p:spPr>
            <a:xfrm>
              <a:off x="4128516" y="3137915"/>
              <a:ext cx="2249805" cy="405765"/>
            </a:xfrm>
            <a:custGeom>
              <a:avLst/>
              <a:gdLst/>
              <a:ahLst/>
              <a:cxnLst/>
              <a:rect l="l" t="t" r="r" b="b"/>
              <a:pathLst>
                <a:path w="2249804" h="405764">
                  <a:moveTo>
                    <a:pt x="2249424" y="0"/>
                  </a:moveTo>
                  <a:lnTo>
                    <a:pt x="0" y="0"/>
                  </a:lnTo>
                  <a:lnTo>
                    <a:pt x="0" y="405384"/>
                  </a:lnTo>
                  <a:lnTo>
                    <a:pt x="2249424" y="405384"/>
                  </a:lnTo>
                  <a:lnTo>
                    <a:pt x="224942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128516" y="3137915"/>
              <a:ext cx="2249805" cy="405765"/>
            </a:xfrm>
            <a:custGeom>
              <a:avLst/>
              <a:gdLst/>
              <a:ahLst/>
              <a:cxnLst/>
              <a:rect l="l" t="t" r="r" b="b"/>
              <a:pathLst>
                <a:path w="2249804" h="405764">
                  <a:moveTo>
                    <a:pt x="0" y="405384"/>
                  </a:moveTo>
                  <a:lnTo>
                    <a:pt x="2249424" y="405384"/>
                  </a:lnTo>
                  <a:lnTo>
                    <a:pt x="2249424" y="0"/>
                  </a:lnTo>
                  <a:lnTo>
                    <a:pt x="0" y="0"/>
                  </a:lnTo>
                  <a:lnTo>
                    <a:pt x="0" y="405384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28515" y="3137916"/>
            <a:ext cx="2249805" cy="405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9145">
              <a:lnSpc>
                <a:spcPts val="2240"/>
              </a:lnSpc>
            </a:pPr>
            <a:r>
              <a:rPr sz="2050" b="1" spc="-10" dirty="0">
                <a:latin typeface="Comic Sans MS"/>
                <a:cs typeface="Comic Sans MS"/>
              </a:rPr>
              <a:t>Testing</a:t>
            </a:r>
            <a:endParaRPr sz="2050">
              <a:latin typeface="Comic Sans MS"/>
              <a:cs typeface="Comic Sans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074729" y="3745801"/>
            <a:ext cx="2289810" cy="448945"/>
            <a:chOff x="5074729" y="3745801"/>
            <a:chExt cx="2289810" cy="448945"/>
          </a:xfrm>
        </p:grpSpPr>
        <p:sp>
          <p:nvSpPr>
            <p:cNvPr id="24" name="object 24"/>
            <p:cNvSpPr/>
            <p:nvPr/>
          </p:nvSpPr>
          <p:spPr>
            <a:xfrm>
              <a:off x="5094731" y="3765804"/>
              <a:ext cx="2249805" cy="408940"/>
            </a:xfrm>
            <a:custGeom>
              <a:avLst/>
              <a:gdLst/>
              <a:ahLst/>
              <a:cxnLst/>
              <a:rect l="l" t="t" r="r" b="b"/>
              <a:pathLst>
                <a:path w="2249804" h="408939">
                  <a:moveTo>
                    <a:pt x="2249423" y="0"/>
                  </a:moveTo>
                  <a:lnTo>
                    <a:pt x="0" y="0"/>
                  </a:lnTo>
                  <a:lnTo>
                    <a:pt x="0" y="408432"/>
                  </a:lnTo>
                  <a:lnTo>
                    <a:pt x="2249423" y="408432"/>
                  </a:lnTo>
                  <a:lnTo>
                    <a:pt x="2249423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094731" y="3765804"/>
              <a:ext cx="2249805" cy="408940"/>
            </a:xfrm>
            <a:custGeom>
              <a:avLst/>
              <a:gdLst/>
              <a:ahLst/>
              <a:cxnLst/>
              <a:rect l="l" t="t" r="r" b="b"/>
              <a:pathLst>
                <a:path w="2249804" h="408939">
                  <a:moveTo>
                    <a:pt x="0" y="408432"/>
                  </a:moveTo>
                  <a:lnTo>
                    <a:pt x="2249423" y="408432"/>
                  </a:lnTo>
                  <a:lnTo>
                    <a:pt x="2249423" y="0"/>
                  </a:lnTo>
                  <a:lnTo>
                    <a:pt x="0" y="0"/>
                  </a:lnTo>
                  <a:lnTo>
                    <a:pt x="0" y="408432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664453" y="3727500"/>
            <a:ext cx="156464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b="1" spc="-10" dirty="0">
                <a:latin typeface="Comic Sans MS"/>
                <a:cs typeface="Comic Sans MS"/>
              </a:rPr>
              <a:t>Mai</a:t>
            </a:r>
            <a:r>
              <a:rPr sz="2050" b="1" spc="-20" dirty="0">
                <a:latin typeface="Comic Sans MS"/>
                <a:cs typeface="Comic Sans MS"/>
              </a:rPr>
              <a:t>n</a:t>
            </a:r>
            <a:r>
              <a:rPr sz="2050" b="1" spc="-10" dirty="0">
                <a:latin typeface="Comic Sans MS"/>
                <a:cs typeface="Comic Sans MS"/>
              </a:rPr>
              <a:t>t</a:t>
            </a:r>
            <a:r>
              <a:rPr sz="2050" b="1" spc="-5" dirty="0">
                <a:latin typeface="Comic Sans MS"/>
                <a:cs typeface="Comic Sans MS"/>
              </a:rPr>
              <a:t>e</a:t>
            </a:r>
            <a:r>
              <a:rPr sz="2050" b="1" spc="-25" dirty="0">
                <a:latin typeface="Comic Sans MS"/>
                <a:cs typeface="Comic Sans MS"/>
              </a:rPr>
              <a:t>n</a:t>
            </a:r>
            <a:r>
              <a:rPr sz="2050" b="1" spc="-10" dirty="0">
                <a:latin typeface="Comic Sans MS"/>
                <a:cs typeface="Comic Sans MS"/>
              </a:rPr>
              <a:t>a</a:t>
            </a:r>
            <a:r>
              <a:rPr sz="2050" b="1" spc="-25" dirty="0">
                <a:latin typeface="Comic Sans MS"/>
                <a:cs typeface="Comic Sans MS"/>
              </a:rPr>
              <a:t>n</a:t>
            </a:r>
            <a:r>
              <a:rPr sz="2050" b="1" spc="-5" dirty="0">
                <a:latin typeface="Comic Sans MS"/>
                <a:cs typeface="Comic Sans MS"/>
              </a:rPr>
              <a:t>c</a:t>
            </a:r>
            <a:r>
              <a:rPr sz="2050" b="1" spc="-10" dirty="0">
                <a:latin typeface="Comic Sans MS"/>
                <a:cs typeface="Comic Sans MS"/>
              </a:rPr>
              <a:t>e</a:t>
            </a:r>
            <a:endParaRPr sz="2050">
              <a:latin typeface="Comic Sans MS"/>
              <a:cs typeface="Comic Sans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211067" y="761999"/>
            <a:ext cx="3552190" cy="3004185"/>
            <a:chOff x="3211067" y="761999"/>
            <a:chExt cx="3552190" cy="3004185"/>
          </a:xfrm>
        </p:grpSpPr>
        <p:sp>
          <p:nvSpPr>
            <p:cNvPr id="28" name="object 28"/>
            <p:cNvSpPr/>
            <p:nvPr/>
          </p:nvSpPr>
          <p:spPr>
            <a:xfrm>
              <a:off x="3211067" y="781811"/>
              <a:ext cx="277495" cy="0"/>
            </a:xfrm>
            <a:custGeom>
              <a:avLst/>
              <a:gdLst/>
              <a:ahLst/>
              <a:cxnLst/>
              <a:rect l="l" t="t" r="r" b="b"/>
              <a:pathLst>
                <a:path w="277495">
                  <a:moveTo>
                    <a:pt x="0" y="0"/>
                  </a:moveTo>
                  <a:lnTo>
                    <a:pt x="277368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428999" y="781811"/>
              <a:ext cx="119380" cy="466725"/>
            </a:xfrm>
            <a:custGeom>
              <a:avLst/>
              <a:gdLst/>
              <a:ahLst/>
              <a:cxnLst/>
              <a:rect l="l" t="t" r="r" b="b"/>
              <a:pathLst>
                <a:path w="119379" h="466725">
                  <a:moveTo>
                    <a:pt x="39624" y="347472"/>
                  </a:moveTo>
                  <a:lnTo>
                    <a:pt x="0" y="347472"/>
                  </a:lnTo>
                  <a:lnTo>
                    <a:pt x="59436" y="466344"/>
                  </a:lnTo>
                  <a:lnTo>
                    <a:pt x="108966" y="367284"/>
                  </a:lnTo>
                  <a:lnTo>
                    <a:pt x="39624" y="367284"/>
                  </a:lnTo>
                  <a:lnTo>
                    <a:pt x="39624" y="347472"/>
                  </a:lnTo>
                  <a:close/>
                </a:path>
                <a:path w="119379" h="466725">
                  <a:moveTo>
                    <a:pt x="79248" y="0"/>
                  </a:moveTo>
                  <a:lnTo>
                    <a:pt x="39624" y="0"/>
                  </a:lnTo>
                  <a:lnTo>
                    <a:pt x="39624" y="367284"/>
                  </a:lnTo>
                  <a:lnTo>
                    <a:pt x="79248" y="367284"/>
                  </a:lnTo>
                  <a:lnTo>
                    <a:pt x="79248" y="0"/>
                  </a:lnTo>
                  <a:close/>
                </a:path>
                <a:path w="119379" h="466725">
                  <a:moveTo>
                    <a:pt x="118872" y="347472"/>
                  </a:moveTo>
                  <a:lnTo>
                    <a:pt x="79248" y="347472"/>
                  </a:lnTo>
                  <a:lnTo>
                    <a:pt x="79248" y="367284"/>
                  </a:lnTo>
                  <a:lnTo>
                    <a:pt x="108966" y="367284"/>
                  </a:lnTo>
                  <a:lnTo>
                    <a:pt x="118872" y="347472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973067" y="1485899"/>
              <a:ext cx="277495" cy="3175"/>
            </a:xfrm>
            <a:custGeom>
              <a:avLst/>
              <a:gdLst/>
              <a:ahLst/>
              <a:cxnLst/>
              <a:rect l="l" t="t" r="r" b="b"/>
              <a:pathLst>
                <a:path w="277495" h="3175">
                  <a:moveTo>
                    <a:pt x="-19812" y="1524"/>
                  </a:moveTo>
                  <a:lnTo>
                    <a:pt x="297180" y="1524"/>
                  </a:lnTo>
                </a:path>
              </a:pathLst>
            </a:custGeom>
            <a:ln w="42672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154423" y="1485899"/>
              <a:ext cx="119380" cy="393700"/>
            </a:xfrm>
            <a:custGeom>
              <a:avLst/>
              <a:gdLst/>
              <a:ahLst/>
              <a:cxnLst/>
              <a:rect l="l" t="t" r="r" b="b"/>
              <a:pathLst>
                <a:path w="119379" h="393700">
                  <a:moveTo>
                    <a:pt x="39624" y="274320"/>
                  </a:moveTo>
                  <a:lnTo>
                    <a:pt x="0" y="274320"/>
                  </a:lnTo>
                  <a:lnTo>
                    <a:pt x="59436" y="393191"/>
                  </a:lnTo>
                  <a:lnTo>
                    <a:pt x="108965" y="294132"/>
                  </a:lnTo>
                  <a:lnTo>
                    <a:pt x="39624" y="294132"/>
                  </a:lnTo>
                  <a:lnTo>
                    <a:pt x="39624" y="274320"/>
                  </a:lnTo>
                  <a:close/>
                </a:path>
                <a:path w="119379" h="393700">
                  <a:moveTo>
                    <a:pt x="79248" y="0"/>
                  </a:moveTo>
                  <a:lnTo>
                    <a:pt x="39624" y="0"/>
                  </a:lnTo>
                  <a:lnTo>
                    <a:pt x="39624" y="294132"/>
                  </a:lnTo>
                  <a:lnTo>
                    <a:pt x="79248" y="294132"/>
                  </a:lnTo>
                  <a:lnTo>
                    <a:pt x="79248" y="0"/>
                  </a:lnTo>
                  <a:close/>
                </a:path>
                <a:path w="119379" h="393700">
                  <a:moveTo>
                    <a:pt x="118872" y="274320"/>
                  </a:moveTo>
                  <a:lnTo>
                    <a:pt x="79248" y="274320"/>
                  </a:lnTo>
                  <a:lnTo>
                    <a:pt x="79248" y="294132"/>
                  </a:lnTo>
                  <a:lnTo>
                    <a:pt x="108965" y="294132"/>
                  </a:lnTo>
                  <a:lnTo>
                    <a:pt x="118872" y="27432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695443" y="2116835"/>
              <a:ext cx="280670" cy="0"/>
            </a:xfrm>
            <a:custGeom>
              <a:avLst/>
              <a:gdLst/>
              <a:ahLst/>
              <a:cxnLst/>
              <a:rect l="l" t="t" r="r" b="b"/>
              <a:pathLst>
                <a:path w="280670">
                  <a:moveTo>
                    <a:pt x="0" y="0"/>
                  </a:moveTo>
                  <a:lnTo>
                    <a:pt x="280415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876800" y="2116835"/>
              <a:ext cx="119380" cy="393700"/>
            </a:xfrm>
            <a:custGeom>
              <a:avLst/>
              <a:gdLst/>
              <a:ahLst/>
              <a:cxnLst/>
              <a:rect l="l" t="t" r="r" b="b"/>
              <a:pathLst>
                <a:path w="119379" h="393700">
                  <a:moveTo>
                    <a:pt x="39624" y="274319"/>
                  </a:moveTo>
                  <a:lnTo>
                    <a:pt x="0" y="274319"/>
                  </a:lnTo>
                  <a:lnTo>
                    <a:pt x="59436" y="393192"/>
                  </a:lnTo>
                  <a:lnTo>
                    <a:pt x="108966" y="294131"/>
                  </a:lnTo>
                  <a:lnTo>
                    <a:pt x="39624" y="294131"/>
                  </a:lnTo>
                  <a:lnTo>
                    <a:pt x="39624" y="274319"/>
                  </a:lnTo>
                  <a:close/>
                </a:path>
                <a:path w="119379" h="393700">
                  <a:moveTo>
                    <a:pt x="79248" y="0"/>
                  </a:moveTo>
                  <a:lnTo>
                    <a:pt x="39624" y="0"/>
                  </a:lnTo>
                  <a:lnTo>
                    <a:pt x="39624" y="294131"/>
                  </a:lnTo>
                  <a:lnTo>
                    <a:pt x="79248" y="294131"/>
                  </a:lnTo>
                  <a:lnTo>
                    <a:pt x="79248" y="0"/>
                  </a:lnTo>
                  <a:close/>
                </a:path>
                <a:path w="119379" h="393700">
                  <a:moveTo>
                    <a:pt x="118872" y="274319"/>
                  </a:moveTo>
                  <a:lnTo>
                    <a:pt x="79248" y="274319"/>
                  </a:lnTo>
                  <a:lnTo>
                    <a:pt x="79248" y="294131"/>
                  </a:lnTo>
                  <a:lnTo>
                    <a:pt x="108966" y="294131"/>
                  </a:lnTo>
                  <a:lnTo>
                    <a:pt x="118872" y="274319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500116" y="2744723"/>
              <a:ext cx="280670" cy="0"/>
            </a:xfrm>
            <a:custGeom>
              <a:avLst/>
              <a:gdLst/>
              <a:ahLst/>
              <a:cxnLst/>
              <a:rect l="l" t="t" r="r" b="b"/>
              <a:pathLst>
                <a:path w="280670">
                  <a:moveTo>
                    <a:pt x="0" y="0"/>
                  </a:moveTo>
                  <a:lnTo>
                    <a:pt x="280416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680582" y="2744596"/>
              <a:ext cx="119380" cy="393700"/>
            </a:xfrm>
            <a:custGeom>
              <a:avLst/>
              <a:gdLst/>
              <a:ahLst/>
              <a:cxnLst/>
              <a:rect l="l" t="t" r="r" b="b"/>
              <a:pathLst>
                <a:path w="119379" h="393700">
                  <a:moveTo>
                    <a:pt x="39597" y="274616"/>
                  </a:moveTo>
                  <a:lnTo>
                    <a:pt x="0" y="274954"/>
                  </a:lnTo>
                  <a:lnTo>
                    <a:pt x="60325" y="393319"/>
                  </a:lnTo>
                  <a:lnTo>
                    <a:pt x="108844" y="294385"/>
                  </a:lnTo>
                  <a:lnTo>
                    <a:pt x="39750" y="294385"/>
                  </a:lnTo>
                  <a:lnTo>
                    <a:pt x="39597" y="274616"/>
                  </a:lnTo>
                  <a:close/>
                </a:path>
                <a:path w="119379" h="393700">
                  <a:moveTo>
                    <a:pt x="79220" y="274277"/>
                  </a:moveTo>
                  <a:lnTo>
                    <a:pt x="39597" y="274616"/>
                  </a:lnTo>
                  <a:lnTo>
                    <a:pt x="39750" y="294385"/>
                  </a:lnTo>
                  <a:lnTo>
                    <a:pt x="79375" y="294131"/>
                  </a:lnTo>
                  <a:lnTo>
                    <a:pt x="79220" y="274277"/>
                  </a:lnTo>
                  <a:close/>
                </a:path>
                <a:path w="119379" h="393700">
                  <a:moveTo>
                    <a:pt x="118871" y="273938"/>
                  </a:moveTo>
                  <a:lnTo>
                    <a:pt x="79220" y="274277"/>
                  </a:lnTo>
                  <a:lnTo>
                    <a:pt x="79375" y="294131"/>
                  </a:lnTo>
                  <a:lnTo>
                    <a:pt x="39750" y="294385"/>
                  </a:lnTo>
                  <a:lnTo>
                    <a:pt x="108844" y="294385"/>
                  </a:lnTo>
                  <a:lnTo>
                    <a:pt x="118871" y="273938"/>
                  </a:lnTo>
                  <a:close/>
                </a:path>
                <a:path w="119379" h="393700">
                  <a:moveTo>
                    <a:pt x="77088" y="0"/>
                  </a:moveTo>
                  <a:lnTo>
                    <a:pt x="37464" y="253"/>
                  </a:lnTo>
                  <a:lnTo>
                    <a:pt x="39597" y="274616"/>
                  </a:lnTo>
                  <a:lnTo>
                    <a:pt x="79220" y="274277"/>
                  </a:lnTo>
                  <a:lnTo>
                    <a:pt x="77088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380988" y="3293364"/>
              <a:ext cx="320040" cy="3175"/>
            </a:xfrm>
            <a:custGeom>
              <a:avLst/>
              <a:gdLst/>
              <a:ahLst/>
              <a:cxnLst/>
              <a:rect l="l" t="t" r="r" b="b"/>
              <a:pathLst>
                <a:path w="320040" h="3175">
                  <a:moveTo>
                    <a:pt x="-19812" y="1524"/>
                  </a:moveTo>
                  <a:lnTo>
                    <a:pt x="339851" y="1524"/>
                  </a:lnTo>
                </a:path>
              </a:pathLst>
            </a:custGeom>
            <a:ln w="42672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643877" y="3293236"/>
              <a:ext cx="119380" cy="473075"/>
            </a:xfrm>
            <a:custGeom>
              <a:avLst/>
              <a:gdLst/>
              <a:ahLst/>
              <a:cxnLst/>
              <a:rect l="l" t="t" r="r" b="b"/>
              <a:pathLst>
                <a:path w="119379" h="473075">
                  <a:moveTo>
                    <a:pt x="39622" y="353822"/>
                  </a:moveTo>
                  <a:lnTo>
                    <a:pt x="0" y="354075"/>
                  </a:lnTo>
                  <a:lnTo>
                    <a:pt x="60198" y="472567"/>
                  </a:lnTo>
                  <a:lnTo>
                    <a:pt x="108874" y="373634"/>
                  </a:lnTo>
                  <a:lnTo>
                    <a:pt x="39750" y="373634"/>
                  </a:lnTo>
                  <a:lnTo>
                    <a:pt x="39622" y="353822"/>
                  </a:lnTo>
                  <a:close/>
                </a:path>
                <a:path w="119379" h="473075">
                  <a:moveTo>
                    <a:pt x="79246" y="353568"/>
                  </a:moveTo>
                  <a:lnTo>
                    <a:pt x="39622" y="353822"/>
                  </a:lnTo>
                  <a:lnTo>
                    <a:pt x="39750" y="373634"/>
                  </a:lnTo>
                  <a:lnTo>
                    <a:pt x="79375" y="373380"/>
                  </a:lnTo>
                  <a:lnTo>
                    <a:pt x="79246" y="353568"/>
                  </a:lnTo>
                  <a:close/>
                </a:path>
                <a:path w="119379" h="473075">
                  <a:moveTo>
                    <a:pt x="118872" y="353314"/>
                  </a:moveTo>
                  <a:lnTo>
                    <a:pt x="79246" y="353568"/>
                  </a:lnTo>
                  <a:lnTo>
                    <a:pt x="79375" y="373380"/>
                  </a:lnTo>
                  <a:lnTo>
                    <a:pt x="39750" y="373634"/>
                  </a:lnTo>
                  <a:lnTo>
                    <a:pt x="108874" y="373634"/>
                  </a:lnTo>
                  <a:lnTo>
                    <a:pt x="118872" y="353314"/>
                  </a:lnTo>
                  <a:close/>
                </a:path>
                <a:path w="119379" h="473075">
                  <a:moveTo>
                    <a:pt x="76962" y="0"/>
                  </a:moveTo>
                  <a:lnTo>
                    <a:pt x="37338" y="254"/>
                  </a:lnTo>
                  <a:lnTo>
                    <a:pt x="39622" y="353822"/>
                  </a:lnTo>
                  <a:lnTo>
                    <a:pt x="79246" y="353568"/>
                  </a:lnTo>
                  <a:lnTo>
                    <a:pt x="76962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911" y="232359"/>
            <a:ext cx="7859395" cy="415226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909445">
              <a:lnSpc>
                <a:spcPts val="3204"/>
              </a:lnSpc>
              <a:spcBef>
                <a:spcPts val="115"/>
              </a:spcBef>
            </a:pPr>
            <a:r>
              <a:rPr sz="2700" b="1" spc="-5" dirty="0">
                <a:solidFill>
                  <a:srgbClr val="0033CC"/>
                </a:solidFill>
                <a:latin typeface="Calibri"/>
                <a:cs typeface="Calibri"/>
              </a:rPr>
              <a:t>Requirements</a:t>
            </a:r>
            <a:r>
              <a:rPr sz="2700" b="1" spc="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0033CC"/>
                </a:solidFill>
                <a:latin typeface="Calibri"/>
                <a:cs typeface="Calibri"/>
              </a:rPr>
              <a:t>Analysis</a:t>
            </a:r>
            <a:r>
              <a:rPr sz="2700" b="1" spc="-1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33CC"/>
                </a:solidFill>
                <a:latin typeface="Calibri"/>
                <a:cs typeface="Calibri"/>
              </a:rPr>
              <a:t>and</a:t>
            </a:r>
            <a:r>
              <a:rPr sz="2700" b="1" spc="1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0033CC"/>
                </a:solidFill>
                <a:latin typeface="Calibri"/>
                <a:cs typeface="Calibri"/>
              </a:rPr>
              <a:t>Specification</a:t>
            </a:r>
            <a:endParaRPr sz="2700">
              <a:latin typeface="Calibri"/>
              <a:cs typeface="Calibri"/>
            </a:endParaRPr>
          </a:p>
          <a:p>
            <a:pPr marL="244475" indent="-232410">
              <a:lnSpc>
                <a:spcPts val="3565"/>
              </a:lnSpc>
              <a:buFont typeface="Arial MT"/>
              <a:buChar char="•"/>
              <a:tabLst>
                <a:tab pos="245110" algn="l"/>
              </a:tabLst>
            </a:pPr>
            <a:r>
              <a:rPr sz="3000" spc="-5" dirty="0">
                <a:latin typeface="Calibri"/>
                <a:cs typeface="Calibri"/>
              </a:rPr>
              <a:t>Aim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of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this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phase:</a:t>
            </a:r>
            <a:endParaRPr sz="30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860"/>
              </a:spcBef>
            </a:pPr>
            <a:r>
              <a:rPr sz="2700" spc="-10" dirty="0">
                <a:solidFill>
                  <a:srgbClr val="000099"/>
                </a:solidFill>
                <a:latin typeface="Arial MT"/>
                <a:cs typeface="Arial MT"/>
              </a:rPr>
              <a:t>–</a:t>
            </a:r>
            <a:r>
              <a:rPr sz="2700" spc="-10" dirty="0">
                <a:solidFill>
                  <a:srgbClr val="000099"/>
                </a:solidFill>
                <a:latin typeface="Calibri"/>
                <a:cs typeface="Calibri"/>
              </a:rPr>
              <a:t>Understand</a:t>
            </a:r>
            <a:r>
              <a:rPr sz="2700" spc="5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sz="270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solidFill>
                  <a:srgbClr val="000099"/>
                </a:solidFill>
                <a:latin typeface="Calibri"/>
                <a:cs typeface="Calibri"/>
              </a:rPr>
              <a:t>exact</a:t>
            </a:r>
            <a:r>
              <a:rPr sz="2700" spc="1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700" spc="-15" dirty="0">
                <a:solidFill>
                  <a:srgbClr val="000099"/>
                </a:solidFill>
                <a:latin typeface="Calibri"/>
                <a:cs typeface="Calibri"/>
              </a:rPr>
              <a:t>requirements</a:t>
            </a:r>
            <a:r>
              <a:rPr sz="2700" spc="10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99"/>
                </a:solidFill>
                <a:latin typeface="Calibri"/>
                <a:cs typeface="Calibri"/>
              </a:rPr>
              <a:t>of</a:t>
            </a:r>
            <a:r>
              <a:rPr sz="2700" spc="-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700" spc="5" dirty="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sz="270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700" spc="-30" dirty="0">
                <a:solidFill>
                  <a:srgbClr val="000099"/>
                </a:solidFill>
                <a:latin typeface="Calibri"/>
                <a:cs typeface="Calibri"/>
              </a:rPr>
              <a:t>customer,</a:t>
            </a:r>
            <a:endParaRPr sz="27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805"/>
              </a:spcBef>
            </a:pPr>
            <a:r>
              <a:rPr sz="2700" dirty="0">
                <a:solidFill>
                  <a:srgbClr val="000099"/>
                </a:solidFill>
                <a:latin typeface="Arial MT"/>
                <a:cs typeface="Arial MT"/>
              </a:rPr>
              <a:t>–</a:t>
            </a:r>
            <a:r>
              <a:rPr sz="2700" dirty="0">
                <a:solidFill>
                  <a:srgbClr val="000099"/>
                </a:solidFill>
                <a:latin typeface="Calibri"/>
                <a:cs typeface="Calibri"/>
              </a:rPr>
              <a:t>Document</a:t>
            </a:r>
            <a:r>
              <a:rPr sz="2700" spc="1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99"/>
                </a:solidFill>
                <a:latin typeface="Calibri"/>
                <a:cs typeface="Calibri"/>
              </a:rPr>
              <a:t>them</a:t>
            </a:r>
            <a:r>
              <a:rPr sz="2700" spc="1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000099"/>
                </a:solidFill>
                <a:latin typeface="Calibri"/>
                <a:cs typeface="Calibri"/>
              </a:rPr>
              <a:t>properly.</a:t>
            </a:r>
            <a:endParaRPr sz="2700">
              <a:latin typeface="Calibri"/>
              <a:cs typeface="Calibri"/>
            </a:endParaRPr>
          </a:p>
          <a:p>
            <a:pPr marL="244475" indent="-232410">
              <a:lnSpc>
                <a:spcPct val="100000"/>
              </a:lnSpc>
              <a:spcBef>
                <a:spcPts val="1815"/>
              </a:spcBef>
              <a:buFont typeface="Arial MT"/>
              <a:buChar char="•"/>
              <a:tabLst>
                <a:tab pos="245110" algn="l"/>
              </a:tabLst>
            </a:pPr>
            <a:r>
              <a:rPr sz="3000" spc="-5" dirty="0">
                <a:latin typeface="Calibri"/>
                <a:cs typeface="Calibri"/>
              </a:rPr>
              <a:t>Consists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of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two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distinct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activities:</a:t>
            </a:r>
            <a:endParaRPr sz="30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840"/>
              </a:spcBef>
            </a:pPr>
            <a:r>
              <a:rPr sz="2700" spc="-15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700" spc="-15" dirty="0">
                <a:solidFill>
                  <a:srgbClr val="0000FF"/>
                </a:solidFill>
                <a:latin typeface="Calibri"/>
                <a:cs typeface="Calibri"/>
              </a:rPr>
              <a:t>Requirements</a:t>
            </a:r>
            <a:r>
              <a:rPr sz="2700" spc="10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0000FF"/>
                </a:solidFill>
                <a:latin typeface="Calibri"/>
                <a:cs typeface="Calibri"/>
              </a:rPr>
              <a:t>gathering</a:t>
            </a:r>
            <a:r>
              <a:rPr sz="2700" spc="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and</a:t>
            </a:r>
            <a:r>
              <a:rPr sz="2700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analysis</a:t>
            </a:r>
            <a:endParaRPr sz="27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825"/>
              </a:spcBef>
            </a:pPr>
            <a:r>
              <a:rPr sz="2700" spc="-10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700" spc="-10" dirty="0">
                <a:solidFill>
                  <a:srgbClr val="0000FF"/>
                </a:solidFill>
                <a:latin typeface="Calibri"/>
                <a:cs typeface="Calibri"/>
              </a:rPr>
              <a:t>Requirements</a:t>
            </a:r>
            <a:r>
              <a:rPr sz="2700" spc="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specification.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5" dirty="0"/>
              <a:t>34</a:t>
            </a:fld>
            <a:endParaRPr spc="-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9983" y="201879"/>
            <a:ext cx="598932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spc="-10" dirty="0"/>
              <a:t>Requirements</a:t>
            </a:r>
            <a:r>
              <a:rPr sz="2800" spc="-90" dirty="0"/>
              <a:t> </a:t>
            </a:r>
            <a:r>
              <a:rPr sz="2800" dirty="0"/>
              <a:t>Analysis</a:t>
            </a:r>
            <a:r>
              <a:rPr sz="2800" spc="-65" dirty="0"/>
              <a:t> </a:t>
            </a:r>
            <a:r>
              <a:rPr sz="2800" spc="5" dirty="0"/>
              <a:t>and</a:t>
            </a:r>
            <a:r>
              <a:rPr sz="2800" spc="-15" dirty="0"/>
              <a:t> </a:t>
            </a:r>
            <a:r>
              <a:rPr sz="2800" dirty="0"/>
              <a:t>Specification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50977" y="564293"/>
            <a:ext cx="8468360" cy="369379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820"/>
              </a:spcBef>
              <a:buFont typeface="Arial MT"/>
              <a:buChar char="•"/>
              <a:tabLst>
                <a:tab pos="244475" algn="l"/>
              </a:tabLst>
            </a:pPr>
            <a:r>
              <a:rPr sz="2700" dirty="0">
                <a:latin typeface="Calibri"/>
                <a:cs typeface="Calibri"/>
              </a:rPr>
              <a:t>Gather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requirements</a:t>
            </a:r>
            <a:r>
              <a:rPr sz="2700" spc="1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data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from</a:t>
            </a:r>
            <a:r>
              <a:rPr sz="2700" spc="5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the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customer:</a:t>
            </a:r>
            <a:endParaRPr sz="27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635"/>
              </a:spcBef>
            </a:pPr>
            <a:r>
              <a:rPr sz="2450" spc="5" dirty="0">
                <a:solidFill>
                  <a:srgbClr val="000099"/>
                </a:solidFill>
                <a:latin typeface="Symbol"/>
                <a:cs typeface="Symbol"/>
              </a:rPr>
              <a:t></a:t>
            </a:r>
            <a:r>
              <a:rPr sz="2450" spc="5" dirty="0">
                <a:solidFill>
                  <a:srgbClr val="000099"/>
                </a:solidFill>
                <a:latin typeface="Calibri"/>
                <a:cs typeface="Calibri"/>
              </a:rPr>
              <a:t>Analyze </a:t>
            </a:r>
            <a:r>
              <a:rPr sz="2450" dirty="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sz="2450" spc="-1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450" spc="-15" dirty="0">
                <a:solidFill>
                  <a:srgbClr val="000099"/>
                </a:solidFill>
                <a:latin typeface="Calibri"/>
                <a:cs typeface="Calibri"/>
              </a:rPr>
              <a:t>collected</a:t>
            </a:r>
            <a:r>
              <a:rPr sz="2450" spc="2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450" spc="-15" dirty="0">
                <a:solidFill>
                  <a:srgbClr val="000099"/>
                </a:solidFill>
                <a:latin typeface="Calibri"/>
                <a:cs typeface="Calibri"/>
              </a:rPr>
              <a:t>data</a:t>
            </a:r>
            <a:r>
              <a:rPr sz="245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sz="2450" spc="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000099"/>
                </a:solidFill>
                <a:latin typeface="Calibri"/>
                <a:cs typeface="Calibri"/>
              </a:rPr>
              <a:t>understand</a:t>
            </a:r>
            <a:r>
              <a:rPr sz="2450" spc="-6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450" spc="-5" dirty="0">
                <a:solidFill>
                  <a:srgbClr val="000099"/>
                </a:solidFill>
                <a:latin typeface="Calibri"/>
                <a:cs typeface="Calibri"/>
              </a:rPr>
              <a:t>what</a:t>
            </a:r>
            <a:r>
              <a:rPr sz="245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450" spc="-15" dirty="0">
                <a:solidFill>
                  <a:srgbClr val="000099"/>
                </a:solidFill>
                <a:latin typeface="Calibri"/>
                <a:cs typeface="Calibri"/>
              </a:rPr>
              <a:t>customer </a:t>
            </a:r>
            <a:r>
              <a:rPr sz="2450" spc="-10" dirty="0">
                <a:solidFill>
                  <a:srgbClr val="000099"/>
                </a:solidFill>
                <a:latin typeface="Calibri"/>
                <a:cs typeface="Calibri"/>
              </a:rPr>
              <a:t>wants</a:t>
            </a:r>
            <a:endParaRPr sz="2450">
              <a:latin typeface="Calibri"/>
              <a:cs typeface="Calibri"/>
            </a:endParaRPr>
          </a:p>
          <a:p>
            <a:pPr marL="222885" indent="-193040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23520" algn="l"/>
              </a:tabLst>
            </a:pPr>
            <a:r>
              <a:rPr sz="2700" spc="-15" dirty="0">
                <a:solidFill>
                  <a:srgbClr val="000099"/>
                </a:solidFill>
                <a:latin typeface="Calibri"/>
                <a:cs typeface="Calibri"/>
              </a:rPr>
              <a:t>Remove</a:t>
            </a:r>
            <a:r>
              <a:rPr sz="2700" spc="2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700" spc="-15" dirty="0">
                <a:solidFill>
                  <a:srgbClr val="000099"/>
                </a:solidFill>
                <a:latin typeface="Calibri"/>
                <a:cs typeface="Calibri"/>
              </a:rPr>
              <a:t>requirements</a:t>
            </a:r>
            <a:r>
              <a:rPr sz="2700" spc="13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000099"/>
                </a:solidFill>
                <a:latin typeface="Calibri"/>
                <a:cs typeface="Calibri"/>
              </a:rPr>
              <a:t>problems:</a:t>
            </a:r>
            <a:endParaRPr sz="27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660"/>
              </a:spcBef>
            </a:pPr>
            <a:r>
              <a:rPr sz="2450" dirty="0">
                <a:solidFill>
                  <a:srgbClr val="000099"/>
                </a:solidFill>
                <a:latin typeface="Symbol"/>
                <a:cs typeface="Symbol"/>
              </a:rPr>
              <a:t></a:t>
            </a:r>
            <a:r>
              <a:rPr sz="2450" dirty="0">
                <a:solidFill>
                  <a:srgbClr val="000099"/>
                </a:solidFill>
                <a:latin typeface="Calibri"/>
                <a:cs typeface="Calibri"/>
              </a:rPr>
              <a:t>Inconsistencies</a:t>
            </a:r>
            <a:endParaRPr sz="245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590"/>
              </a:spcBef>
            </a:pPr>
            <a:r>
              <a:rPr sz="2450" spc="10" dirty="0">
                <a:solidFill>
                  <a:srgbClr val="000099"/>
                </a:solidFill>
                <a:latin typeface="Symbol"/>
                <a:cs typeface="Symbol"/>
              </a:rPr>
              <a:t></a:t>
            </a:r>
            <a:r>
              <a:rPr sz="2450" spc="10" dirty="0">
                <a:solidFill>
                  <a:srgbClr val="000099"/>
                </a:solidFill>
                <a:latin typeface="Calibri"/>
                <a:cs typeface="Calibri"/>
              </a:rPr>
              <a:t>Anomalies</a:t>
            </a:r>
            <a:endParaRPr sz="245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585"/>
              </a:spcBef>
            </a:pPr>
            <a:r>
              <a:rPr sz="2450" spc="5" dirty="0">
                <a:solidFill>
                  <a:srgbClr val="000099"/>
                </a:solidFill>
                <a:latin typeface="Symbol"/>
                <a:cs typeface="Symbol"/>
              </a:rPr>
              <a:t></a:t>
            </a:r>
            <a:r>
              <a:rPr sz="2450" spc="5" dirty="0">
                <a:solidFill>
                  <a:srgbClr val="000099"/>
                </a:solidFill>
                <a:latin typeface="Calibri"/>
                <a:cs typeface="Calibri"/>
              </a:rPr>
              <a:t>Incompleteness</a:t>
            </a:r>
            <a:endParaRPr sz="2450">
              <a:latin typeface="Calibri"/>
              <a:cs typeface="Calibri"/>
            </a:endParaRPr>
          </a:p>
          <a:p>
            <a:pPr marL="243840" marR="895985" indent="-231775">
              <a:lnSpc>
                <a:spcPct val="102099"/>
              </a:lnSpc>
              <a:spcBef>
                <a:spcPts val="819"/>
              </a:spcBef>
              <a:buFont typeface="Arial MT"/>
              <a:buChar char="•"/>
              <a:tabLst>
                <a:tab pos="244475" algn="l"/>
              </a:tabLst>
            </a:pPr>
            <a:r>
              <a:rPr sz="2450" spc="-15" dirty="0">
                <a:latin typeface="Calibri"/>
                <a:cs typeface="Calibri"/>
              </a:rPr>
              <a:t>Organize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into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a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000099"/>
                </a:solidFill>
                <a:latin typeface="Calibri"/>
                <a:cs typeface="Calibri"/>
              </a:rPr>
              <a:t>Software</a:t>
            </a:r>
            <a:r>
              <a:rPr sz="2450" spc="-5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000099"/>
                </a:solidFill>
                <a:latin typeface="Calibri"/>
                <a:cs typeface="Calibri"/>
              </a:rPr>
              <a:t>Requirements</a:t>
            </a:r>
            <a:r>
              <a:rPr sz="2450" spc="-3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000099"/>
                </a:solidFill>
                <a:latin typeface="Calibri"/>
                <a:cs typeface="Calibri"/>
              </a:rPr>
              <a:t>Specification</a:t>
            </a:r>
            <a:r>
              <a:rPr sz="2450" spc="1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450" spc="-15" dirty="0">
                <a:solidFill>
                  <a:srgbClr val="000099"/>
                </a:solidFill>
                <a:latin typeface="Calibri"/>
                <a:cs typeface="Calibri"/>
              </a:rPr>
              <a:t>(SRS) </a:t>
            </a:r>
            <a:r>
              <a:rPr sz="2450" spc="-54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450" spc="-5" dirty="0">
                <a:solidFill>
                  <a:srgbClr val="000099"/>
                </a:solidFill>
                <a:latin typeface="Calibri"/>
                <a:cs typeface="Calibri"/>
              </a:rPr>
              <a:t>document.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33307" y="4793386"/>
            <a:ext cx="1778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35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5117" y="254635"/>
            <a:ext cx="414591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20" dirty="0"/>
              <a:t>Requirements</a:t>
            </a:r>
            <a:r>
              <a:rPr sz="3200" spc="20" dirty="0"/>
              <a:t> </a:t>
            </a:r>
            <a:r>
              <a:rPr sz="3200" spc="-15" dirty="0"/>
              <a:t>Gathering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5" dirty="0"/>
              <a:t>36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72008" y="746505"/>
            <a:ext cx="8976995" cy="3372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4475" algn="l"/>
              </a:tabLst>
            </a:pPr>
            <a:r>
              <a:rPr sz="3000" dirty="0">
                <a:latin typeface="Calibri"/>
                <a:cs typeface="Calibri"/>
              </a:rPr>
              <a:t>Gathering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relevant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data:</a:t>
            </a:r>
            <a:endParaRPr sz="3000">
              <a:latin typeface="Calibri"/>
              <a:cs typeface="Calibri"/>
            </a:endParaRPr>
          </a:p>
          <a:p>
            <a:pPr marL="515620" marR="5080" indent="-192405">
              <a:lnSpc>
                <a:spcPct val="114900"/>
              </a:lnSpc>
              <a:spcBef>
                <a:spcPts val="1645"/>
              </a:spcBef>
            </a:pPr>
            <a:r>
              <a:rPr sz="2700" dirty="0">
                <a:latin typeface="Arial MT"/>
                <a:cs typeface="Arial MT"/>
              </a:rPr>
              <a:t>–</a:t>
            </a:r>
            <a:r>
              <a:rPr sz="2700" dirty="0">
                <a:latin typeface="Calibri"/>
                <a:cs typeface="Calibri"/>
              </a:rPr>
              <a:t>Usually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collected </a:t>
            </a:r>
            <a:r>
              <a:rPr sz="2700" spc="-15" dirty="0">
                <a:latin typeface="Calibri"/>
                <a:cs typeface="Calibri"/>
              </a:rPr>
              <a:t>from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the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end-users</a:t>
            </a:r>
            <a:r>
              <a:rPr sz="2700" spc="8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through</a:t>
            </a:r>
            <a:r>
              <a:rPr sz="2700" spc="4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interviews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discussions.</a:t>
            </a:r>
            <a:endParaRPr sz="27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2090"/>
              </a:spcBef>
            </a:pPr>
            <a:r>
              <a:rPr sz="2700" spc="-5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Example:</a:t>
            </a:r>
            <a:r>
              <a:rPr sz="2700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for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a </a:t>
            </a:r>
            <a:r>
              <a:rPr sz="2700" spc="-5" dirty="0">
                <a:latin typeface="Calibri"/>
                <a:cs typeface="Calibri"/>
              </a:rPr>
              <a:t>business</a:t>
            </a:r>
            <a:r>
              <a:rPr sz="2700" spc="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accounting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software:</a:t>
            </a:r>
            <a:endParaRPr sz="2700">
              <a:latin typeface="Calibri"/>
              <a:cs typeface="Calibri"/>
            </a:endParaRPr>
          </a:p>
          <a:p>
            <a:pPr marL="789940" marR="12700" lvl="1" indent="-155575">
              <a:lnSpc>
                <a:spcPct val="113599"/>
              </a:lnSpc>
              <a:spcBef>
                <a:spcPts val="1650"/>
              </a:spcBef>
              <a:buFont typeface="Arial MT"/>
              <a:buChar char="•"/>
              <a:tabLst>
                <a:tab pos="790575" algn="l"/>
              </a:tabLst>
            </a:pPr>
            <a:r>
              <a:rPr sz="2450" spc="-5" dirty="0">
                <a:latin typeface="Calibri"/>
                <a:cs typeface="Calibri"/>
              </a:rPr>
              <a:t>Interview all </a:t>
            </a:r>
            <a:r>
              <a:rPr sz="2450" dirty="0">
                <a:latin typeface="Calibri"/>
                <a:cs typeface="Calibri"/>
              </a:rPr>
              <a:t>the </a:t>
            </a:r>
            <a:r>
              <a:rPr sz="2450" spc="-10" dirty="0">
                <a:latin typeface="Calibri"/>
                <a:cs typeface="Calibri"/>
              </a:rPr>
              <a:t>accountants </a:t>
            </a:r>
            <a:r>
              <a:rPr sz="2450" spc="-5" dirty="0">
                <a:latin typeface="Calibri"/>
                <a:cs typeface="Calibri"/>
              </a:rPr>
              <a:t>of </a:t>
            </a:r>
            <a:r>
              <a:rPr sz="2450" dirty="0">
                <a:latin typeface="Calibri"/>
                <a:cs typeface="Calibri"/>
              </a:rPr>
              <a:t>the </a:t>
            </a:r>
            <a:r>
              <a:rPr sz="2450" spc="-20" dirty="0">
                <a:latin typeface="Calibri"/>
                <a:cs typeface="Calibri"/>
              </a:rPr>
              <a:t>organization </a:t>
            </a:r>
            <a:r>
              <a:rPr sz="2450" spc="-15" dirty="0">
                <a:latin typeface="Calibri"/>
                <a:cs typeface="Calibri"/>
              </a:rPr>
              <a:t>to </a:t>
            </a:r>
            <a:r>
              <a:rPr sz="2450" spc="-5" dirty="0">
                <a:latin typeface="Calibri"/>
                <a:cs typeface="Calibri"/>
              </a:rPr>
              <a:t>find </a:t>
            </a:r>
            <a:r>
              <a:rPr sz="2450" dirty="0">
                <a:latin typeface="Calibri"/>
                <a:cs typeface="Calibri"/>
              </a:rPr>
              <a:t>out </a:t>
            </a:r>
            <a:r>
              <a:rPr sz="2450" spc="-5" dirty="0">
                <a:latin typeface="Calibri"/>
                <a:cs typeface="Calibri"/>
              </a:rPr>
              <a:t>their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requirements.</a:t>
            </a:r>
            <a:endParaRPr sz="2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4757" y="228980"/>
            <a:ext cx="49136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Requirements</a:t>
            </a:r>
            <a:r>
              <a:rPr sz="3600" spc="-70" dirty="0"/>
              <a:t> </a:t>
            </a:r>
            <a:r>
              <a:rPr sz="3600" spc="-5" dirty="0"/>
              <a:t>Analysis</a:t>
            </a:r>
            <a:r>
              <a:rPr sz="3600" spc="-10" dirty="0"/>
              <a:t> </a:t>
            </a:r>
            <a:r>
              <a:rPr sz="1100" spc="-5" dirty="0"/>
              <a:t>(Cont...)</a:t>
            </a:r>
            <a:endParaRPr sz="11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5" dirty="0"/>
              <a:t>37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0886" y="1017777"/>
            <a:ext cx="8748395" cy="3174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4475" algn="l"/>
              </a:tabLst>
            </a:pPr>
            <a:r>
              <a:rPr sz="3000" dirty="0">
                <a:latin typeface="Calibri"/>
                <a:cs typeface="Calibri"/>
              </a:rPr>
              <a:t>The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data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you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initially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collect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from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users:</a:t>
            </a:r>
            <a:endParaRPr sz="30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2485"/>
              </a:spcBef>
            </a:pPr>
            <a:r>
              <a:rPr sz="2700" dirty="0">
                <a:latin typeface="Arial MT"/>
                <a:cs typeface="Arial MT"/>
              </a:rPr>
              <a:t>–</a:t>
            </a:r>
            <a:r>
              <a:rPr sz="2700" dirty="0">
                <a:latin typeface="Calibri"/>
                <a:cs typeface="Calibri"/>
              </a:rPr>
              <a:t>Usually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contain </a:t>
            </a:r>
            <a:r>
              <a:rPr sz="2700" spc="-15" dirty="0">
                <a:latin typeface="Calibri"/>
                <a:cs typeface="Calibri"/>
              </a:rPr>
              <a:t>several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contradictions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 ambiguities.</a:t>
            </a:r>
            <a:endParaRPr sz="27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2450"/>
              </a:spcBef>
            </a:pPr>
            <a:r>
              <a:rPr sz="2700" spc="-5" dirty="0">
                <a:latin typeface="Arial MT"/>
                <a:cs typeface="Arial MT"/>
              </a:rPr>
              <a:t>–</a:t>
            </a:r>
            <a:r>
              <a:rPr sz="2700" spc="-5" dirty="0">
                <a:latin typeface="Calibri"/>
                <a:cs typeface="Calibri"/>
              </a:rPr>
              <a:t>Why?</a:t>
            </a:r>
            <a:endParaRPr sz="2700">
              <a:latin typeface="Calibri"/>
              <a:cs typeface="Calibri"/>
            </a:endParaRPr>
          </a:p>
          <a:p>
            <a:pPr marL="514984" marR="5080" indent="-192405">
              <a:lnSpc>
                <a:spcPct val="126000"/>
              </a:lnSpc>
              <a:spcBef>
                <a:spcPts val="1610"/>
              </a:spcBef>
            </a:pPr>
            <a:r>
              <a:rPr sz="2700" spc="-5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700" b="1" spc="-5" dirty="0">
                <a:solidFill>
                  <a:srgbClr val="0000FF"/>
                </a:solidFill>
                <a:latin typeface="Calibri"/>
                <a:cs typeface="Calibri"/>
              </a:rPr>
              <a:t>Each </a:t>
            </a:r>
            <a:r>
              <a:rPr sz="2700" b="1" spc="5" dirty="0">
                <a:solidFill>
                  <a:srgbClr val="0000FF"/>
                </a:solidFill>
                <a:latin typeface="Calibri"/>
                <a:cs typeface="Calibri"/>
              </a:rPr>
              <a:t>user </a:t>
            </a:r>
            <a:r>
              <a:rPr sz="2700" b="1" dirty="0">
                <a:solidFill>
                  <a:srgbClr val="0000FF"/>
                </a:solidFill>
                <a:latin typeface="Calibri"/>
                <a:cs typeface="Calibri"/>
              </a:rPr>
              <a:t>typically </a:t>
            </a:r>
            <a:r>
              <a:rPr sz="2700" b="1" spc="5" dirty="0">
                <a:solidFill>
                  <a:srgbClr val="0000FF"/>
                </a:solidFill>
                <a:latin typeface="Calibri"/>
                <a:cs typeface="Calibri"/>
              </a:rPr>
              <a:t>has only a </a:t>
            </a:r>
            <a:r>
              <a:rPr sz="2700" b="1" dirty="0">
                <a:solidFill>
                  <a:srgbClr val="0000FF"/>
                </a:solidFill>
                <a:latin typeface="Calibri"/>
                <a:cs typeface="Calibri"/>
              </a:rPr>
              <a:t>partial </a:t>
            </a:r>
            <a:r>
              <a:rPr sz="2700" b="1" spc="5" dirty="0">
                <a:solidFill>
                  <a:srgbClr val="0000FF"/>
                </a:solidFill>
                <a:latin typeface="Calibri"/>
                <a:cs typeface="Calibri"/>
              </a:rPr>
              <a:t>and </a:t>
            </a:r>
            <a:r>
              <a:rPr sz="2700" b="1" spc="-5" dirty="0">
                <a:solidFill>
                  <a:srgbClr val="0000FF"/>
                </a:solidFill>
                <a:latin typeface="Calibri"/>
                <a:cs typeface="Calibri"/>
              </a:rPr>
              <a:t>incomplete view </a:t>
            </a:r>
            <a:r>
              <a:rPr sz="2700" b="1" spc="-6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2700" b="1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5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700" b="1" spc="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b="1" spc="-15" dirty="0">
                <a:solidFill>
                  <a:srgbClr val="0000FF"/>
                </a:solidFill>
                <a:latin typeface="Calibri"/>
                <a:cs typeface="Calibri"/>
              </a:rPr>
              <a:t>system.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2817" y="317068"/>
            <a:ext cx="5221605" cy="5854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" dirty="0"/>
              <a:t>Requirements</a:t>
            </a:r>
            <a:r>
              <a:rPr spc="-30" dirty="0"/>
              <a:t> </a:t>
            </a:r>
            <a:r>
              <a:rPr spc="5" dirty="0"/>
              <a:t>Analysis</a:t>
            </a:r>
            <a:r>
              <a:rPr spc="-45" dirty="0"/>
              <a:t> </a:t>
            </a:r>
            <a:r>
              <a:rPr sz="1600" spc="5" dirty="0"/>
              <a:t>(Cont...)</a:t>
            </a:r>
            <a:endParaRPr sz="16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5" dirty="0"/>
              <a:t>38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1074" y="999184"/>
            <a:ext cx="8936355" cy="3254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4475" algn="l"/>
              </a:tabLst>
            </a:pPr>
            <a:r>
              <a:rPr sz="3000" dirty="0">
                <a:latin typeface="Calibri"/>
                <a:cs typeface="Calibri"/>
              </a:rPr>
              <a:t>Ambiguities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contradictions:</a:t>
            </a:r>
            <a:endParaRPr sz="30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2055"/>
              </a:spcBef>
            </a:pPr>
            <a:r>
              <a:rPr sz="2700" spc="-5" dirty="0">
                <a:latin typeface="Arial MT"/>
                <a:cs typeface="Arial MT"/>
              </a:rPr>
              <a:t>–</a:t>
            </a:r>
            <a:r>
              <a:rPr sz="2700" spc="-5" dirty="0">
                <a:latin typeface="Calibri"/>
                <a:cs typeface="Calibri"/>
              </a:rPr>
              <a:t>must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identified</a:t>
            </a:r>
            <a:endParaRPr sz="27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2285"/>
              </a:spcBef>
            </a:pPr>
            <a:r>
              <a:rPr sz="2700" spc="-5" dirty="0">
                <a:latin typeface="Arial MT"/>
                <a:cs typeface="Arial MT"/>
              </a:rPr>
              <a:t>–</a:t>
            </a:r>
            <a:r>
              <a:rPr sz="2700" spc="-5" dirty="0">
                <a:latin typeface="Calibri"/>
                <a:cs typeface="Calibri"/>
              </a:rPr>
              <a:t>resolved</a:t>
            </a:r>
            <a:r>
              <a:rPr sz="2700" spc="3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by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discussions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with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the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customers.</a:t>
            </a:r>
            <a:endParaRPr sz="2700">
              <a:latin typeface="Calibri"/>
              <a:cs typeface="Calibri"/>
            </a:endParaRPr>
          </a:p>
          <a:p>
            <a:pPr marL="243840" indent="-231775">
              <a:lnSpc>
                <a:spcPct val="100000"/>
              </a:lnSpc>
              <a:spcBef>
                <a:spcPts val="2105"/>
              </a:spcBef>
              <a:buFont typeface="Arial MT"/>
              <a:buChar char="•"/>
              <a:tabLst>
                <a:tab pos="244475" algn="l"/>
              </a:tabLst>
            </a:pPr>
            <a:r>
              <a:rPr sz="3000" spc="-15" dirty="0">
                <a:latin typeface="Calibri"/>
                <a:cs typeface="Calibri"/>
              </a:rPr>
              <a:t>Next,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requirements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are </a:t>
            </a:r>
            <a:r>
              <a:rPr sz="3000" spc="-20" dirty="0">
                <a:latin typeface="Calibri"/>
                <a:cs typeface="Calibri"/>
              </a:rPr>
              <a:t>organized:</a:t>
            </a:r>
            <a:endParaRPr sz="30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2050"/>
              </a:spcBef>
            </a:pPr>
            <a:r>
              <a:rPr sz="2700" spc="-10" dirty="0">
                <a:latin typeface="Arial MT"/>
                <a:cs typeface="Arial MT"/>
              </a:rPr>
              <a:t>–</a:t>
            </a:r>
            <a:r>
              <a:rPr sz="2700" spc="-10" dirty="0">
                <a:latin typeface="Calibri"/>
                <a:cs typeface="Calibri"/>
              </a:rPr>
              <a:t>into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a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000099"/>
                </a:solidFill>
                <a:latin typeface="Calibri"/>
                <a:cs typeface="Calibri"/>
              </a:rPr>
              <a:t>Software</a:t>
            </a:r>
            <a:r>
              <a:rPr sz="2700" spc="6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700" spc="-15" dirty="0">
                <a:solidFill>
                  <a:srgbClr val="000099"/>
                </a:solidFill>
                <a:latin typeface="Calibri"/>
                <a:cs typeface="Calibri"/>
              </a:rPr>
              <a:t>Requirements</a:t>
            </a:r>
            <a:r>
              <a:rPr sz="2700" spc="11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000099"/>
                </a:solidFill>
                <a:latin typeface="Calibri"/>
                <a:cs typeface="Calibri"/>
              </a:rPr>
              <a:t>Specification</a:t>
            </a:r>
            <a:r>
              <a:rPr sz="2700" spc="3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000099"/>
                </a:solidFill>
                <a:latin typeface="Calibri"/>
                <a:cs typeface="Calibri"/>
              </a:rPr>
              <a:t>(SRS)</a:t>
            </a:r>
            <a:r>
              <a:rPr sz="2700" spc="3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99"/>
                </a:solidFill>
                <a:latin typeface="Calibri"/>
                <a:cs typeface="Calibri"/>
              </a:rPr>
              <a:t>document.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81064" y="1642313"/>
            <a:ext cx="2435225" cy="85344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 indent="585470">
              <a:lnSpc>
                <a:spcPts val="3150"/>
              </a:lnSpc>
              <a:spcBef>
                <a:spcPts val="390"/>
              </a:spcBef>
            </a:pPr>
            <a:r>
              <a:rPr sz="2800" dirty="0"/>
              <a:t>Classical </a:t>
            </a:r>
            <a:r>
              <a:rPr sz="2800" spc="5" dirty="0"/>
              <a:t> </a:t>
            </a:r>
            <a:r>
              <a:rPr sz="2800" spc="-20" dirty="0"/>
              <a:t>Waterfall</a:t>
            </a:r>
            <a:r>
              <a:rPr sz="2800" spc="-85" dirty="0"/>
              <a:t> </a:t>
            </a:r>
            <a:r>
              <a:rPr sz="2800" spc="-5" dirty="0"/>
              <a:t>Model</a:t>
            </a:r>
            <a:endParaRPr sz="2800"/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5" dirty="0"/>
              <a:t>39</a:t>
            </a:fld>
            <a:endParaRPr spc="-5" dirty="0"/>
          </a:p>
        </p:txBody>
      </p:sp>
      <p:grpSp>
        <p:nvGrpSpPr>
          <p:cNvPr id="3" name="object 3"/>
          <p:cNvGrpSpPr/>
          <p:nvPr/>
        </p:nvGrpSpPr>
        <p:grpSpPr>
          <a:xfrm>
            <a:off x="1286065" y="524065"/>
            <a:ext cx="2329180" cy="403225"/>
            <a:chOff x="1286065" y="524065"/>
            <a:chExt cx="2329180" cy="403225"/>
          </a:xfrm>
        </p:grpSpPr>
        <p:sp>
          <p:nvSpPr>
            <p:cNvPr id="4" name="object 4"/>
            <p:cNvSpPr/>
            <p:nvPr/>
          </p:nvSpPr>
          <p:spPr>
            <a:xfrm>
              <a:off x="1306067" y="544067"/>
              <a:ext cx="2289175" cy="363220"/>
            </a:xfrm>
            <a:custGeom>
              <a:avLst/>
              <a:gdLst/>
              <a:ahLst/>
              <a:cxnLst/>
              <a:rect l="l" t="t" r="r" b="b"/>
              <a:pathLst>
                <a:path w="2289175" h="363219">
                  <a:moveTo>
                    <a:pt x="2289048" y="0"/>
                  </a:moveTo>
                  <a:lnTo>
                    <a:pt x="0" y="0"/>
                  </a:lnTo>
                  <a:lnTo>
                    <a:pt x="0" y="362712"/>
                  </a:lnTo>
                  <a:lnTo>
                    <a:pt x="2289048" y="362712"/>
                  </a:lnTo>
                  <a:lnTo>
                    <a:pt x="2289048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06067" y="544067"/>
              <a:ext cx="2289175" cy="363220"/>
            </a:xfrm>
            <a:custGeom>
              <a:avLst/>
              <a:gdLst/>
              <a:ahLst/>
              <a:cxnLst/>
              <a:rect l="l" t="t" r="r" b="b"/>
              <a:pathLst>
                <a:path w="2289175" h="363219">
                  <a:moveTo>
                    <a:pt x="0" y="362712"/>
                  </a:moveTo>
                  <a:lnTo>
                    <a:pt x="2289048" y="362712"/>
                  </a:lnTo>
                  <a:lnTo>
                    <a:pt x="2289048" y="0"/>
                  </a:lnTo>
                  <a:lnTo>
                    <a:pt x="0" y="0"/>
                  </a:lnTo>
                  <a:lnTo>
                    <a:pt x="0" y="362712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06067" y="544067"/>
            <a:ext cx="2289175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1615">
              <a:lnSpc>
                <a:spcPts val="1985"/>
              </a:lnSpc>
            </a:pPr>
            <a:r>
              <a:rPr sz="1750" b="1" spc="5" dirty="0">
                <a:latin typeface="Comic Sans MS"/>
                <a:cs typeface="Comic Sans MS"/>
              </a:rPr>
              <a:t>Feasibility</a:t>
            </a:r>
            <a:r>
              <a:rPr sz="1750" b="1" spc="-40" dirty="0">
                <a:latin typeface="Comic Sans MS"/>
                <a:cs typeface="Comic Sans MS"/>
              </a:rPr>
              <a:t> </a:t>
            </a:r>
            <a:r>
              <a:rPr sz="1750" b="1" spc="5" dirty="0">
                <a:latin typeface="Comic Sans MS"/>
                <a:cs typeface="Comic Sans MS"/>
              </a:rPr>
              <a:t>Study</a:t>
            </a:r>
            <a:endParaRPr sz="1750">
              <a:latin typeface="Comic Sans MS"/>
              <a:cs typeface="Comic Sans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105977" y="1258633"/>
            <a:ext cx="2286635" cy="445770"/>
            <a:chOff x="2105977" y="1258633"/>
            <a:chExt cx="2286635" cy="445770"/>
          </a:xfrm>
        </p:grpSpPr>
        <p:sp>
          <p:nvSpPr>
            <p:cNvPr id="8" name="object 8"/>
            <p:cNvSpPr/>
            <p:nvPr/>
          </p:nvSpPr>
          <p:spPr>
            <a:xfrm>
              <a:off x="2125979" y="1278635"/>
              <a:ext cx="2246630" cy="405765"/>
            </a:xfrm>
            <a:custGeom>
              <a:avLst/>
              <a:gdLst/>
              <a:ahLst/>
              <a:cxnLst/>
              <a:rect l="l" t="t" r="r" b="b"/>
              <a:pathLst>
                <a:path w="2246629" h="405764">
                  <a:moveTo>
                    <a:pt x="2246375" y="0"/>
                  </a:moveTo>
                  <a:lnTo>
                    <a:pt x="0" y="0"/>
                  </a:lnTo>
                  <a:lnTo>
                    <a:pt x="0" y="405384"/>
                  </a:lnTo>
                  <a:lnTo>
                    <a:pt x="2246375" y="405384"/>
                  </a:lnTo>
                  <a:lnTo>
                    <a:pt x="224637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125979" y="1278635"/>
              <a:ext cx="2246630" cy="405765"/>
            </a:xfrm>
            <a:custGeom>
              <a:avLst/>
              <a:gdLst/>
              <a:ahLst/>
              <a:cxnLst/>
              <a:rect l="l" t="t" r="r" b="b"/>
              <a:pathLst>
                <a:path w="2246629" h="405764">
                  <a:moveTo>
                    <a:pt x="0" y="405384"/>
                  </a:moveTo>
                  <a:lnTo>
                    <a:pt x="2246375" y="405384"/>
                  </a:lnTo>
                  <a:lnTo>
                    <a:pt x="2246375" y="0"/>
                  </a:lnTo>
                  <a:lnTo>
                    <a:pt x="0" y="0"/>
                  </a:lnTo>
                  <a:lnTo>
                    <a:pt x="0" y="405384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96414" y="1238503"/>
            <a:ext cx="191198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894715" algn="l"/>
              </a:tabLst>
            </a:pPr>
            <a:r>
              <a:rPr sz="2050" b="1" spc="-10" dirty="0">
                <a:latin typeface="Comic Sans MS"/>
                <a:cs typeface="Comic Sans MS"/>
              </a:rPr>
              <a:t>Req.	</a:t>
            </a:r>
            <a:r>
              <a:rPr sz="2050" b="1" spc="-15" dirty="0">
                <a:latin typeface="Comic Sans MS"/>
                <a:cs typeface="Comic Sans MS"/>
              </a:rPr>
              <a:t>Analysis</a:t>
            </a:r>
            <a:endParaRPr sz="2050">
              <a:latin typeface="Comic Sans MS"/>
              <a:cs typeface="Comic Sans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813113" y="1859089"/>
            <a:ext cx="2286635" cy="448945"/>
            <a:chOff x="2813113" y="1859089"/>
            <a:chExt cx="2286635" cy="448945"/>
          </a:xfrm>
        </p:grpSpPr>
        <p:sp>
          <p:nvSpPr>
            <p:cNvPr id="12" name="object 12"/>
            <p:cNvSpPr/>
            <p:nvPr/>
          </p:nvSpPr>
          <p:spPr>
            <a:xfrm>
              <a:off x="2833116" y="1879091"/>
              <a:ext cx="2246630" cy="12700"/>
            </a:xfrm>
            <a:custGeom>
              <a:avLst/>
              <a:gdLst/>
              <a:ahLst/>
              <a:cxnLst/>
              <a:rect l="l" t="t" r="r" b="b"/>
              <a:pathLst>
                <a:path w="2246629" h="12700">
                  <a:moveTo>
                    <a:pt x="0" y="12191"/>
                  </a:moveTo>
                  <a:lnTo>
                    <a:pt x="2246376" y="12191"/>
                  </a:lnTo>
                  <a:lnTo>
                    <a:pt x="2246376" y="0"/>
                  </a:lnTo>
                  <a:lnTo>
                    <a:pt x="0" y="0"/>
                  </a:lnTo>
                  <a:lnTo>
                    <a:pt x="0" y="12191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33116" y="1879091"/>
              <a:ext cx="2246630" cy="408940"/>
            </a:xfrm>
            <a:custGeom>
              <a:avLst/>
              <a:gdLst/>
              <a:ahLst/>
              <a:cxnLst/>
              <a:rect l="l" t="t" r="r" b="b"/>
              <a:pathLst>
                <a:path w="2246629" h="408939">
                  <a:moveTo>
                    <a:pt x="0" y="408431"/>
                  </a:moveTo>
                  <a:lnTo>
                    <a:pt x="2246376" y="408431"/>
                  </a:lnTo>
                  <a:lnTo>
                    <a:pt x="2246376" y="0"/>
                  </a:lnTo>
                  <a:lnTo>
                    <a:pt x="0" y="0"/>
                  </a:lnTo>
                  <a:lnTo>
                    <a:pt x="0" y="408431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666109" y="1825138"/>
            <a:ext cx="803910" cy="3619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2050" b="1" spc="-20" dirty="0">
                <a:latin typeface="Comic Sans MS"/>
                <a:cs typeface="Comic Sans MS"/>
              </a:rPr>
              <a:t>D</a:t>
            </a:r>
            <a:r>
              <a:rPr sz="2050" b="1" spc="5" dirty="0">
                <a:latin typeface="Comic Sans MS"/>
                <a:cs typeface="Comic Sans MS"/>
              </a:rPr>
              <a:t>e</a:t>
            </a:r>
            <a:r>
              <a:rPr sz="2050" b="1" spc="-15" dirty="0">
                <a:latin typeface="Comic Sans MS"/>
                <a:cs typeface="Comic Sans MS"/>
              </a:rPr>
              <a:t>s</a:t>
            </a:r>
            <a:r>
              <a:rPr sz="2050" b="1" spc="-10" dirty="0">
                <a:latin typeface="Comic Sans MS"/>
                <a:cs typeface="Comic Sans MS"/>
              </a:rPr>
              <a:t>ign</a:t>
            </a:r>
            <a:endParaRPr sz="2050">
              <a:latin typeface="Comic Sans MS"/>
              <a:cs typeface="Comic Sans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629977" y="2490025"/>
            <a:ext cx="2286635" cy="445770"/>
            <a:chOff x="3629977" y="2490025"/>
            <a:chExt cx="2286635" cy="445770"/>
          </a:xfrm>
        </p:grpSpPr>
        <p:sp>
          <p:nvSpPr>
            <p:cNvPr id="16" name="object 16"/>
            <p:cNvSpPr/>
            <p:nvPr/>
          </p:nvSpPr>
          <p:spPr>
            <a:xfrm>
              <a:off x="3649980" y="2510028"/>
              <a:ext cx="2246630" cy="405765"/>
            </a:xfrm>
            <a:custGeom>
              <a:avLst/>
              <a:gdLst/>
              <a:ahLst/>
              <a:cxnLst/>
              <a:rect l="l" t="t" r="r" b="b"/>
              <a:pathLst>
                <a:path w="2246629" h="405764">
                  <a:moveTo>
                    <a:pt x="2246376" y="0"/>
                  </a:moveTo>
                  <a:lnTo>
                    <a:pt x="0" y="0"/>
                  </a:lnTo>
                  <a:lnTo>
                    <a:pt x="0" y="405384"/>
                  </a:lnTo>
                  <a:lnTo>
                    <a:pt x="2246376" y="405384"/>
                  </a:lnTo>
                  <a:lnTo>
                    <a:pt x="224637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49980" y="2510028"/>
              <a:ext cx="2246630" cy="405765"/>
            </a:xfrm>
            <a:custGeom>
              <a:avLst/>
              <a:gdLst/>
              <a:ahLst/>
              <a:cxnLst/>
              <a:rect l="l" t="t" r="r" b="b"/>
              <a:pathLst>
                <a:path w="2246629" h="405764">
                  <a:moveTo>
                    <a:pt x="0" y="405384"/>
                  </a:moveTo>
                  <a:lnTo>
                    <a:pt x="2246376" y="405384"/>
                  </a:lnTo>
                  <a:lnTo>
                    <a:pt x="2246376" y="0"/>
                  </a:lnTo>
                  <a:lnTo>
                    <a:pt x="0" y="0"/>
                  </a:lnTo>
                  <a:lnTo>
                    <a:pt x="0" y="405384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361815" y="2470530"/>
            <a:ext cx="82105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b="1" spc="-5" dirty="0">
                <a:latin typeface="Comic Sans MS"/>
                <a:cs typeface="Comic Sans MS"/>
              </a:rPr>
              <a:t>C</a:t>
            </a:r>
            <a:r>
              <a:rPr sz="2050" b="1" spc="-10" dirty="0">
                <a:latin typeface="Comic Sans MS"/>
                <a:cs typeface="Comic Sans MS"/>
              </a:rPr>
              <a:t>o</a:t>
            </a:r>
            <a:r>
              <a:rPr sz="2050" b="1" spc="-15" dirty="0">
                <a:latin typeface="Comic Sans MS"/>
                <a:cs typeface="Comic Sans MS"/>
              </a:rPr>
              <a:t>d</a:t>
            </a:r>
            <a:r>
              <a:rPr sz="2050" b="1" dirty="0">
                <a:latin typeface="Comic Sans MS"/>
                <a:cs typeface="Comic Sans MS"/>
              </a:rPr>
              <a:t>i</a:t>
            </a:r>
            <a:r>
              <a:rPr sz="2050" b="1" spc="-25" dirty="0">
                <a:latin typeface="Comic Sans MS"/>
                <a:cs typeface="Comic Sans MS"/>
              </a:rPr>
              <a:t>n</a:t>
            </a:r>
            <a:r>
              <a:rPr sz="2050" b="1" spc="-10" dirty="0">
                <a:latin typeface="Comic Sans MS"/>
                <a:cs typeface="Comic Sans MS"/>
              </a:rPr>
              <a:t>g</a:t>
            </a:r>
            <a:endParaRPr sz="2050">
              <a:latin typeface="Comic Sans MS"/>
              <a:cs typeface="Comic Sans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501705" y="3117913"/>
            <a:ext cx="2289810" cy="445770"/>
            <a:chOff x="4501705" y="3117913"/>
            <a:chExt cx="2289810" cy="445770"/>
          </a:xfrm>
        </p:grpSpPr>
        <p:sp>
          <p:nvSpPr>
            <p:cNvPr id="20" name="object 20"/>
            <p:cNvSpPr/>
            <p:nvPr/>
          </p:nvSpPr>
          <p:spPr>
            <a:xfrm>
              <a:off x="4521707" y="3137915"/>
              <a:ext cx="2249805" cy="405765"/>
            </a:xfrm>
            <a:custGeom>
              <a:avLst/>
              <a:gdLst/>
              <a:ahLst/>
              <a:cxnLst/>
              <a:rect l="l" t="t" r="r" b="b"/>
              <a:pathLst>
                <a:path w="2249804" h="405764">
                  <a:moveTo>
                    <a:pt x="2249424" y="0"/>
                  </a:moveTo>
                  <a:lnTo>
                    <a:pt x="0" y="0"/>
                  </a:lnTo>
                  <a:lnTo>
                    <a:pt x="0" y="405384"/>
                  </a:lnTo>
                  <a:lnTo>
                    <a:pt x="2249424" y="405384"/>
                  </a:lnTo>
                  <a:lnTo>
                    <a:pt x="224942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1707" y="3137915"/>
              <a:ext cx="2249805" cy="405765"/>
            </a:xfrm>
            <a:custGeom>
              <a:avLst/>
              <a:gdLst/>
              <a:ahLst/>
              <a:cxnLst/>
              <a:rect l="l" t="t" r="r" b="b"/>
              <a:pathLst>
                <a:path w="2249804" h="405764">
                  <a:moveTo>
                    <a:pt x="0" y="405384"/>
                  </a:moveTo>
                  <a:lnTo>
                    <a:pt x="2249424" y="405384"/>
                  </a:lnTo>
                  <a:lnTo>
                    <a:pt x="2249424" y="0"/>
                  </a:lnTo>
                  <a:lnTo>
                    <a:pt x="0" y="0"/>
                  </a:lnTo>
                  <a:lnTo>
                    <a:pt x="0" y="405384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521708" y="3137916"/>
            <a:ext cx="2249805" cy="405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7875">
              <a:lnSpc>
                <a:spcPts val="2240"/>
              </a:lnSpc>
            </a:pPr>
            <a:r>
              <a:rPr sz="2050" b="1" spc="-10" dirty="0">
                <a:latin typeface="Comic Sans MS"/>
                <a:cs typeface="Comic Sans MS"/>
              </a:rPr>
              <a:t>Testing</a:t>
            </a:r>
            <a:endParaRPr sz="2050">
              <a:latin typeface="Comic Sans MS"/>
              <a:cs typeface="Comic Sans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467921" y="3745801"/>
            <a:ext cx="2289810" cy="448945"/>
            <a:chOff x="5467921" y="3745801"/>
            <a:chExt cx="2289810" cy="448945"/>
          </a:xfrm>
        </p:grpSpPr>
        <p:sp>
          <p:nvSpPr>
            <p:cNvPr id="24" name="object 24"/>
            <p:cNvSpPr/>
            <p:nvPr/>
          </p:nvSpPr>
          <p:spPr>
            <a:xfrm>
              <a:off x="5487924" y="3765804"/>
              <a:ext cx="2249805" cy="408940"/>
            </a:xfrm>
            <a:custGeom>
              <a:avLst/>
              <a:gdLst/>
              <a:ahLst/>
              <a:cxnLst/>
              <a:rect l="l" t="t" r="r" b="b"/>
              <a:pathLst>
                <a:path w="2249804" h="408939">
                  <a:moveTo>
                    <a:pt x="2249424" y="0"/>
                  </a:moveTo>
                  <a:lnTo>
                    <a:pt x="0" y="0"/>
                  </a:lnTo>
                  <a:lnTo>
                    <a:pt x="0" y="408432"/>
                  </a:lnTo>
                  <a:lnTo>
                    <a:pt x="2249424" y="408432"/>
                  </a:lnTo>
                  <a:lnTo>
                    <a:pt x="224942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487924" y="3765804"/>
              <a:ext cx="2249805" cy="408940"/>
            </a:xfrm>
            <a:custGeom>
              <a:avLst/>
              <a:gdLst/>
              <a:ahLst/>
              <a:cxnLst/>
              <a:rect l="l" t="t" r="r" b="b"/>
              <a:pathLst>
                <a:path w="2249804" h="408939">
                  <a:moveTo>
                    <a:pt x="0" y="408432"/>
                  </a:moveTo>
                  <a:lnTo>
                    <a:pt x="2249424" y="408432"/>
                  </a:lnTo>
                  <a:lnTo>
                    <a:pt x="2249424" y="0"/>
                  </a:lnTo>
                  <a:lnTo>
                    <a:pt x="0" y="0"/>
                  </a:lnTo>
                  <a:lnTo>
                    <a:pt x="0" y="408432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056121" y="3727500"/>
            <a:ext cx="156337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b="1" spc="-15" dirty="0">
                <a:latin typeface="Comic Sans MS"/>
                <a:cs typeface="Comic Sans MS"/>
              </a:rPr>
              <a:t>Maintenance</a:t>
            </a:r>
            <a:endParaRPr sz="2050">
              <a:latin typeface="Comic Sans MS"/>
              <a:cs typeface="Comic Sans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825495" y="761999"/>
            <a:ext cx="4328160" cy="3004185"/>
            <a:chOff x="2825495" y="761999"/>
            <a:chExt cx="4328160" cy="3004185"/>
          </a:xfrm>
        </p:grpSpPr>
        <p:sp>
          <p:nvSpPr>
            <p:cNvPr id="28" name="object 28"/>
            <p:cNvSpPr/>
            <p:nvPr/>
          </p:nvSpPr>
          <p:spPr>
            <a:xfrm>
              <a:off x="3601211" y="781811"/>
              <a:ext cx="280670" cy="0"/>
            </a:xfrm>
            <a:custGeom>
              <a:avLst/>
              <a:gdLst/>
              <a:ahLst/>
              <a:cxnLst/>
              <a:rect l="l" t="t" r="r" b="b"/>
              <a:pathLst>
                <a:path w="280670">
                  <a:moveTo>
                    <a:pt x="0" y="0"/>
                  </a:moveTo>
                  <a:lnTo>
                    <a:pt x="280415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821429" y="781684"/>
              <a:ext cx="119380" cy="466725"/>
            </a:xfrm>
            <a:custGeom>
              <a:avLst/>
              <a:gdLst/>
              <a:ahLst/>
              <a:cxnLst/>
              <a:rect l="l" t="t" r="r" b="b"/>
              <a:pathLst>
                <a:path w="119379" h="466725">
                  <a:moveTo>
                    <a:pt x="39620" y="347726"/>
                  </a:moveTo>
                  <a:lnTo>
                    <a:pt x="0" y="347979"/>
                  </a:lnTo>
                  <a:lnTo>
                    <a:pt x="60198" y="466471"/>
                  </a:lnTo>
                  <a:lnTo>
                    <a:pt x="108874" y="367538"/>
                  </a:lnTo>
                  <a:lnTo>
                    <a:pt x="39750" y="367538"/>
                  </a:lnTo>
                  <a:lnTo>
                    <a:pt x="39620" y="347726"/>
                  </a:lnTo>
                  <a:close/>
                </a:path>
                <a:path w="119379" h="466725">
                  <a:moveTo>
                    <a:pt x="79244" y="347472"/>
                  </a:moveTo>
                  <a:lnTo>
                    <a:pt x="39620" y="347726"/>
                  </a:lnTo>
                  <a:lnTo>
                    <a:pt x="39750" y="367538"/>
                  </a:lnTo>
                  <a:lnTo>
                    <a:pt x="79375" y="367284"/>
                  </a:lnTo>
                  <a:lnTo>
                    <a:pt x="79244" y="347472"/>
                  </a:lnTo>
                  <a:close/>
                </a:path>
                <a:path w="119379" h="466725">
                  <a:moveTo>
                    <a:pt x="118872" y="347217"/>
                  </a:moveTo>
                  <a:lnTo>
                    <a:pt x="79244" y="347472"/>
                  </a:lnTo>
                  <a:lnTo>
                    <a:pt x="79375" y="367284"/>
                  </a:lnTo>
                  <a:lnTo>
                    <a:pt x="39750" y="367538"/>
                  </a:lnTo>
                  <a:lnTo>
                    <a:pt x="108874" y="367538"/>
                  </a:lnTo>
                  <a:lnTo>
                    <a:pt x="118872" y="347217"/>
                  </a:lnTo>
                  <a:close/>
                </a:path>
                <a:path w="119379" h="466725">
                  <a:moveTo>
                    <a:pt x="76962" y="0"/>
                  </a:moveTo>
                  <a:lnTo>
                    <a:pt x="37337" y="253"/>
                  </a:lnTo>
                  <a:lnTo>
                    <a:pt x="39620" y="347726"/>
                  </a:lnTo>
                  <a:lnTo>
                    <a:pt x="79244" y="347472"/>
                  </a:lnTo>
                  <a:lnTo>
                    <a:pt x="76962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63211" y="1485899"/>
              <a:ext cx="280670" cy="3175"/>
            </a:xfrm>
            <a:custGeom>
              <a:avLst/>
              <a:gdLst/>
              <a:ahLst/>
              <a:cxnLst/>
              <a:rect l="l" t="t" r="r" b="b"/>
              <a:pathLst>
                <a:path w="280670" h="3175">
                  <a:moveTo>
                    <a:pt x="-19812" y="1524"/>
                  </a:moveTo>
                  <a:lnTo>
                    <a:pt x="300228" y="1524"/>
                  </a:lnTo>
                </a:path>
              </a:pathLst>
            </a:custGeom>
            <a:ln w="42672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546726" y="1485772"/>
              <a:ext cx="119380" cy="393700"/>
            </a:xfrm>
            <a:custGeom>
              <a:avLst/>
              <a:gdLst/>
              <a:ahLst/>
              <a:cxnLst/>
              <a:rect l="l" t="t" r="r" b="b"/>
              <a:pathLst>
                <a:path w="119379" h="393700">
                  <a:moveTo>
                    <a:pt x="39597" y="274616"/>
                  </a:moveTo>
                  <a:lnTo>
                    <a:pt x="0" y="274954"/>
                  </a:lnTo>
                  <a:lnTo>
                    <a:pt x="60325" y="393318"/>
                  </a:lnTo>
                  <a:lnTo>
                    <a:pt x="108844" y="294386"/>
                  </a:lnTo>
                  <a:lnTo>
                    <a:pt x="39750" y="294386"/>
                  </a:lnTo>
                  <a:lnTo>
                    <a:pt x="39597" y="274616"/>
                  </a:lnTo>
                  <a:close/>
                </a:path>
                <a:path w="119379" h="393700">
                  <a:moveTo>
                    <a:pt x="79220" y="274277"/>
                  </a:moveTo>
                  <a:lnTo>
                    <a:pt x="39597" y="274616"/>
                  </a:lnTo>
                  <a:lnTo>
                    <a:pt x="39750" y="294386"/>
                  </a:lnTo>
                  <a:lnTo>
                    <a:pt x="79375" y="294131"/>
                  </a:lnTo>
                  <a:lnTo>
                    <a:pt x="79220" y="274277"/>
                  </a:lnTo>
                  <a:close/>
                </a:path>
                <a:path w="119379" h="393700">
                  <a:moveTo>
                    <a:pt x="118872" y="273938"/>
                  </a:moveTo>
                  <a:lnTo>
                    <a:pt x="79220" y="274277"/>
                  </a:lnTo>
                  <a:lnTo>
                    <a:pt x="79375" y="294131"/>
                  </a:lnTo>
                  <a:lnTo>
                    <a:pt x="39750" y="294386"/>
                  </a:lnTo>
                  <a:lnTo>
                    <a:pt x="108844" y="294386"/>
                  </a:lnTo>
                  <a:lnTo>
                    <a:pt x="118872" y="273938"/>
                  </a:lnTo>
                  <a:close/>
                </a:path>
                <a:path w="119379" h="393700">
                  <a:moveTo>
                    <a:pt x="77088" y="0"/>
                  </a:moveTo>
                  <a:lnTo>
                    <a:pt x="37464" y="253"/>
                  </a:lnTo>
                  <a:lnTo>
                    <a:pt x="39597" y="274616"/>
                  </a:lnTo>
                  <a:lnTo>
                    <a:pt x="79220" y="274277"/>
                  </a:lnTo>
                  <a:lnTo>
                    <a:pt x="77088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091683" y="2116835"/>
              <a:ext cx="274320" cy="0"/>
            </a:xfrm>
            <a:custGeom>
              <a:avLst/>
              <a:gdLst/>
              <a:ahLst/>
              <a:cxnLst/>
              <a:rect l="l" t="t" r="r" b="b"/>
              <a:pathLst>
                <a:path w="274320">
                  <a:moveTo>
                    <a:pt x="0" y="0"/>
                  </a:moveTo>
                  <a:lnTo>
                    <a:pt x="274320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269102" y="2116708"/>
              <a:ext cx="119380" cy="393700"/>
            </a:xfrm>
            <a:custGeom>
              <a:avLst/>
              <a:gdLst/>
              <a:ahLst/>
              <a:cxnLst/>
              <a:rect l="l" t="t" r="r" b="b"/>
              <a:pathLst>
                <a:path w="119379" h="393700">
                  <a:moveTo>
                    <a:pt x="39597" y="274616"/>
                  </a:moveTo>
                  <a:lnTo>
                    <a:pt x="0" y="274954"/>
                  </a:lnTo>
                  <a:lnTo>
                    <a:pt x="60325" y="393319"/>
                  </a:lnTo>
                  <a:lnTo>
                    <a:pt x="108844" y="294385"/>
                  </a:lnTo>
                  <a:lnTo>
                    <a:pt x="39750" y="294385"/>
                  </a:lnTo>
                  <a:lnTo>
                    <a:pt x="39597" y="274616"/>
                  </a:lnTo>
                  <a:close/>
                </a:path>
                <a:path w="119379" h="393700">
                  <a:moveTo>
                    <a:pt x="79220" y="274277"/>
                  </a:moveTo>
                  <a:lnTo>
                    <a:pt x="39597" y="274616"/>
                  </a:lnTo>
                  <a:lnTo>
                    <a:pt x="39750" y="294385"/>
                  </a:lnTo>
                  <a:lnTo>
                    <a:pt x="79375" y="294131"/>
                  </a:lnTo>
                  <a:lnTo>
                    <a:pt x="79220" y="274277"/>
                  </a:lnTo>
                  <a:close/>
                </a:path>
                <a:path w="119379" h="393700">
                  <a:moveTo>
                    <a:pt x="118872" y="273938"/>
                  </a:moveTo>
                  <a:lnTo>
                    <a:pt x="79220" y="274277"/>
                  </a:lnTo>
                  <a:lnTo>
                    <a:pt x="79375" y="294131"/>
                  </a:lnTo>
                  <a:lnTo>
                    <a:pt x="39750" y="294385"/>
                  </a:lnTo>
                  <a:lnTo>
                    <a:pt x="108844" y="294385"/>
                  </a:lnTo>
                  <a:lnTo>
                    <a:pt x="118872" y="273938"/>
                  </a:lnTo>
                  <a:close/>
                </a:path>
                <a:path w="119379" h="393700">
                  <a:moveTo>
                    <a:pt x="77088" y="0"/>
                  </a:moveTo>
                  <a:lnTo>
                    <a:pt x="37464" y="253"/>
                  </a:lnTo>
                  <a:lnTo>
                    <a:pt x="39597" y="274616"/>
                  </a:lnTo>
                  <a:lnTo>
                    <a:pt x="79220" y="274277"/>
                  </a:lnTo>
                  <a:lnTo>
                    <a:pt x="77088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890260" y="2744723"/>
              <a:ext cx="280670" cy="0"/>
            </a:xfrm>
            <a:custGeom>
              <a:avLst/>
              <a:gdLst/>
              <a:ahLst/>
              <a:cxnLst/>
              <a:rect l="l" t="t" r="r" b="b"/>
              <a:pathLst>
                <a:path w="280670">
                  <a:moveTo>
                    <a:pt x="0" y="0"/>
                  </a:moveTo>
                  <a:lnTo>
                    <a:pt x="280415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071616" y="2744723"/>
              <a:ext cx="119380" cy="393700"/>
            </a:xfrm>
            <a:custGeom>
              <a:avLst/>
              <a:gdLst/>
              <a:ahLst/>
              <a:cxnLst/>
              <a:rect l="l" t="t" r="r" b="b"/>
              <a:pathLst>
                <a:path w="119379" h="393700">
                  <a:moveTo>
                    <a:pt x="39624" y="274319"/>
                  </a:moveTo>
                  <a:lnTo>
                    <a:pt x="0" y="274319"/>
                  </a:lnTo>
                  <a:lnTo>
                    <a:pt x="59436" y="393192"/>
                  </a:lnTo>
                  <a:lnTo>
                    <a:pt x="108965" y="294131"/>
                  </a:lnTo>
                  <a:lnTo>
                    <a:pt x="39624" y="294131"/>
                  </a:lnTo>
                  <a:lnTo>
                    <a:pt x="39624" y="274319"/>
                  </a:lnTo>
                  <a:close/>
                </a:path>
                <a:path w="119379" h="393700">
                  <a:moveTo>
                    <a:pt x="79248" y="0"/>
                  </a:moveTo>
                  <a:lnTo>
                    <a:pt x="39624" y="0"/>
                  </a:lnTo>
                  <a:lnTo>
                    <a:pt x="39624" y="294131"/>
                  </a:lnTo>
                  <a:lnTo>
                    <a:pt x="79248" y="294131"/>
                  </a:lnTo>
                  <a:lnTo>
                    <a:pt x="79248" y="0"/>
                  </a:lnTo>
                  <a:close/>
                </a:path>
                <a:path w="119379" h="393700">
                  <a:moveTo>
                    <a:pt x="118872" y="274319"/>
                  </a:moveTo>
                  <a:lnTo>
                    <a:pt x="79248" y="274319"/>
                  </a:lnTo>
                  <a:lnTo>
                    <a:pt x="79248" y="294131"/>
                  </a:lnTo>
                  <a:lnTo>
                    <a:pt x="108965" y="294131"/>
                  </a:lnTo>
                  <a:lnTo>
                    <a:pt x="118872" y="274319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774180" y="3293364"/>
              <a:ext cx="320040" cy="3175"/>
            </a:xfrm>
            <a:custGeom>
              <a:avLst/>
              <a:gdLst/>
              <a:ahLst/>
              <a:cxnLst/>
              <a:rect l="l" t="t" r="r" b="b"/>
              <a:pathLst>
                <a:path w="320040" h="3175">
                  <a:moveTo>
                    <a:pt x="-19811" y="1524"/>
                  </a:moveTo>
                  <a:lnTo>
                    <a:pt x="339851" y="1524"/>
                  </a:lnTo>
                </a:path>
              </a:pathLst>
            </a:custGeom>
            <a:ln w="42672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034783" y="3293364"/>
              <a:ext cx="119380" cy="472440"/>
            </a:xfrm>
            <a:custGeom>
              <a:avLst/>
              <a:gdLst/>
              <a:ahLst/>
              <a:cxnLst/>
              <a:rect l="l" t="t" r="r" b="b"/>
              <a:pathLst>
                <a:path w="119379" h="472439">
                  <a:moveTo>
                    <a:pt x="39624" y="353568"/>
                  </a:moveTo>
                  <a:lnTo>
                    <a:pt x="0" y="353568"/>
                  </a:lnTo>
                  <a:lnTo>
                    <a:pt x="59436" y="472440"/>
                  </a:lnTo>
                  <a:lnTo>
                    <a:pt x="108966" y="373380"/>
                  </a:lnTo>
                  <a:lnTo>
                    <a:pt x="39624" y="373380"/>
                  </a:lnTo>
                  <a:lnTo>
                    <a:pt x="39624" y="353568"/>
                  </a:lnTo>
                  <a:close/>
                </a:path>
                <a:path w="119379" h="472439">
                  <a:moveTo>
                    <a:pt x="79248" y="0"/>
                  </a:moveTo>
                  <a:lnTo>
                    <a:pt x="39624" y="0"/>
                  </a:lnTo>
                  <a:lnTo>
                    <a:pt x="39624" y="373380"/>
                  </a:lnTo>
                  <a:lnTo>
                    <a:pt x="79248" y="373380"/>
                  </a:lnTo>
                  <a:lnTo>
                    <a:pt x="79248" y="0"/>
                  </a:lnTo>
                  <a:close/>
                </a:path>
                <a:path w="119379" h="472439">
                  <a:moveTo>
                    <a:pt x="118872" y="353568"/>
                  </a:moveTo>
                  <a:lnTo>
                    <a:pt x="79248" y="353568"/>
                  </a:lnTo>
                  <a:lnTo>
                    <a:pt x="79248" y="373380"/>
                  </a:lnTo>
                  <a:lnTo>
                    <a:pt x="108966" y="373380"/>
                  </a:lnTo>
                  <a:lnTo>
                    <a:pt x="118872" y="353568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845307" y="1891283"/>
              <a:ext cx="2246630" cy="411480"/>
            </a:xfrm>
            <a:custGeom>
              <a:avLst/>
              <a:gdLst/>
              <a:ahLst/>
              <a:cxnLst/>
              <a:rect l="l" t="t" r="r" b="b"/>
              <a:pathLst>
                <a:path w="2246629" h="411480">
                  <a:moveTo>
                    <a:pt x="2246375" y="0"/>
                  </a:moveTo>
                  <a:lnTo>
                    <a:pt x="0" y="0"/>
                  </a:lnTo>
                  <a:lnTo>
                    <a:pt x="0" y="411479"/>
                  </a:lnTo>
                  <a:lnTo>
                    <a:pt x="2246375" y="411479"/>
                  </a:lnTo>
                  <a:lnTo>
                    <a:pt x="2246375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845307" y="1891283"/>
              <a:ext cx="2246630" cy="411480"/>
            </a:xfrm>
            <a:custGeom>
              <a:avLst/>
              <a:gdLst/>
              <a:ahLst/>
              <a:cxnLst/>
              <a:rect l="l" t="t" r="r" b="b"/>
              <a:pathLst>
                <a:path w="2246629" h="411480">
                  <a:moveTo>
                    <a:pt x="0" y="411479"/>
                  </a:moveTo>
                  <a:lnTo>
                    <a:pt x="2246375" y="411479"/>
                  </a:lnTo>
                  <a:lnTo>
                    <a:pt x="2246375" y="0"/>
                  </a:lnTo>
                  <a:lnTo>
                    <a:pt x="0" y="0"/>
                  </a:lnTo>
                  <a:lnTo>
                    <a:pt x="0" y="411479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2845307" y="1849958"/>
            <a:ext cx="2246630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10895">
              <a:lnSpc>
                <a:spcPct val="100000"/>
              </a:lnSpc>
              <a:spcBef>
                <a:spcPts val="135"/>
              </a:spcBef>
            </a:pPr>
            <a:r>
              <a:rPr sz="2150" b="1" spc="15" dirty="0">
                <a:solidFill>
                  <a:srgbClr val="FFFF99"/>
                </a:solidFill>
                <a:latin typeface="Comic Sans MS"/>
                <a:cs typeface="Comic Sans MS"/>
              </a:rPr>
              <a:t>Design</a:t>
            </a:r>
            <a:endParaRPr sz="215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06722" y="136601"/>
            <a:ext cx="13036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D</a:t>
            </a:r>
            <a:r>
              <a:rPr sz="3600" spc="15" dirty="0"/>
              <a:t>e</a:t>
            </a:r>
            <a:r>
              <a:rPr sz="3600" dirty="0"/>
              <a:t>sign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8407907" y="4831562"/>
            <a:ext cx="22860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40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1" y="596467"/>
            <a:ext cx="8107045" cy="36626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4475" marR="539750" indent="-232410">
              <a:lnSpc>
                <a:spcPct val="115100"/>
              </a:lnSpc>
              <a:spcBef>
                <a:spcPts val="95"/>
              </a:spcBef>
              <a:buFont typeface="Arial MT"/>
              <a:buChar char="•"/>
              <a:tabLst>
                <a:tab pos="245110" algn="l"/>
                <a:tab pos="2390775" algn="l"/>
                <a:tab pos="5444490" algn="l"/>
              </a:tabLst>
            </a:pPr>
            <a:r>
              <a:rPr sz="2800" dirty="0">
                <a:latin typeface="Calibri"/>
                <a:cs typeface="Calibri"/>
              </a:rPr>
              <a:t>During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design	</a:t>
            </a:r>
            <a:r>
              <a:rPr sz="2800" spc="-5" dirty="0">
                <a:latin typeface="Calibri"/>
                <a:cs typeface="Calibri"/>
              </a:rPr>
              <a:t>phase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requirements	</a:t>
            </a:r>
            <a:r>
              <a:rPr sz="2800" spc="-5" dirty="0">
                <a:latin typeface="Calibri"/>
                <a:cs typeface="Calibri"/>
              </a:rPr>
              <a:t>specification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transformed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marL="515620" marR="5080" indent="-192405">
              <a:lnSpc>
                <a:spcPct val="115300"/>
              </a:lnSpc>
              <a:spcBef>
                <a:spcPts val="830"/>
              </a:spcBef>
              <a:tabLst>
                <a:tab pos="914400" algn="l"/>
              </a:tabLst>
            </a:pPr>
            <a:r>
              <a:rPr sz="2500" spc="-5" dirty="0">
                <a:latin typeface="Arial MT"/>
                <a:cs typeface="Arial MT"/>
              </a:rPr>
              <a:t>–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spc="-5" dirty="0">
                <a:latin typeface="Calibri"/>
                <a:cs typeface="Calibri"/>
              </a:rPr>
              <a:t>A	</a:t>
            </a:r>
            <a:r>
              <a:rPr sz="2500" spc="-20" dirty="0">
                <a:latin typeface="Calibri"/>
                <a:cs typeface="Calibri"/>
              </a:rPr>
              <a:t>form </a:t>
            </a:r>
            <a:r>
              <a:rPr sz="2500" spc="-5" dirty="0">
                <a:latin typeface="Calibri"/>
                <a:cs typeface="Calibri"/>
              </a:rPr>
              <a:t>suitable</a:t>
            </a:r>
            <a:r>
              <a:rPr sz="2500" spc="-20" dirty="0">
                <a:latin typeface="Calibri"/>
                <a:cs typeface="Calibri"/>
              </a:rPr>
              <a:t> for</a:t>
            </a:r>
            <a:r>
              <a:rPr sz="2500" spc="-1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implementation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in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some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programming </a:t>
            </a:r>
            <a:r>
              <a:rPr sz="2500" spc="-55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language.</a:t>
            </a:r>
            <a:endParaRPr sz="2500">
              <a:latin typeface="Calibri"/>
              <a:cs typeface="Calibri"/>
            </a:endParaRPr>
          </a:p>
          <a:p>
            <a:pPr marL="244475" indent="-232410">
              <a:lnSpc>
                <a:spcPct val="100000"/>
              </a:lnSpc>
              <a:spcBef>
                <a:spcPts val="1260"/>
              </a:spcBef>
              <a:buFont typeface="Arial MT"/>
              <a:buChar char="•"/>
              <a:tabLst>
                <a:tab pos="245110" algn="l"/>
              </a:tabLst>
            </a:pPr>
            <a:r>
              <a:rPr sz="2800" spc="-45" dirty="0">
                <a:latin typeface="Calibri"/>
                <a:cs typeface="Calibri"/>
              </a:rPr>
              <a:t>Two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commonly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used</a:t>
            </a:r>
            <a:r>
              <a:rPr sz="2800" dirty="0">
                <a:latin typeface="Calibri"/>
                <a:cs typeface="Calibri"/>
              </a:rPr>
              <a:t> design </a:t>
            </a:r>
            <a:r>
              <a:rPr sz="2800" spc="-10" dirty="0">
                <a:latin typeface="Calibri"/>
                <a:cs typeface="Calibri"/>
              </a:rPr>
              <a:t>approaches:</a:t>
            </a:r>
            <a:endParaRPr sz="28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285"/>
              </a:spcBef>
            </a:pPr>
            <a:r>
              <a:rPr sz="2500" spc="-10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500" spc="-10" dirty="0">
                <a:solidFill>
                  <a:srgbClr val="0000FF"/>
                </a:solidFill>
                <a:latin typeface="Calibri"/>
                <a:cs typeface="Calibri"/>
              </a:rPr>
              <a:t>Traditional</a:t>
            </a:r>
            <a:r>
              <a:rPr sz="25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0000FF"/>
                </a:solidFill>
                <a:latin typeface="Calibri"/>
                <a:cs typeface="Calibri"/>
              </a:rPr>
              <a:t>approach,</a:t>
            </a:r>
            <a:endParaRPr sz="25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250"/>
              </a:spcBef>
            </a:pPr>
            <a:r>
              <a:rPr sz="2500" spc="10" dirty="0">
                <a:solidFill>
                  <a:srgbClr val="0000FF"/>
                </a:solidFill>
                <a:latin typeface="Arial MT"/>
                <a:cs typeface="Arial MT"/>
              </a:rPr>
              <a:t>–</a:t>
            </a:r>
            <a:r>
              <a:rPr sz="2500" spc="10" dirty="0">
                <a:solidFill>
                  <a:srgbClr val="0000FF"/>
                </a:solidFill>
                <a:latin typeface="Calibri"/>
                <a:cs typeface="Calibri"/>
              </a:rPr>
              <a:t>Object</a:t>
            </a:r>
            <a:r>
              <a:rPr sz="25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0000FF"/>
                </a:solidFill>
                <a:latin typeface="Calibri"/>
                <a:cs typeface="Calibri"/>
              </a:rPr>
              <a:t>oriented approach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1970" y="279349"/>
            <a:ext cx="53879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/>
              <a:t>Traditional </a:t>
            </a:r>
            <a:r>
              <a:rPr sz="3600" dirty="0"/>
              <a:t>Design</a:t>
            </a:r>
            <a:r>
              <a:rPr sz="3600" spc="-35" dirty="0"/>
              <a:t> </a:t>
            </a:r>
            <a:r>
              <a:rPr sz="3600" spc="-5" dirty="0"/>
              <a:t>Approach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8407907" y="4831562"/>
            <a:ext cx="22860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41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9615" y="1023950"/>
            <a:ext cx="7192009" cy="2990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114"/>
              </a:spcBef>
              <a:buFont typeface="Arial MT"/>
              <a:buChar char="•"/>
              <a:tabLst>
                <a:tab pos="244475" algn="l"/>
                <a:tab pos="2241550" algn="l"/>
              </a:tabLst>
            </a:pPr>
            <a:r>
              <a:rPr sz="3250" spc="-5" dirty="0">
                <a:latin typeface="Calibri"/>
                <a:cs typeface="Calibri"/>
              </a:rPr>
              <a:t>Consists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of	two</a:t>
            </a:r>
            <a:r>
              <a:rPr sz="3250" spc="-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activities:</a:t>
            </a:r>
            <a:endParaRPr sz="3250">
              <a:latin typeface="Calibri"/>
              <a:cs typeface="Calibri"/>
            </a:endParaRPr>
          </a:p>
          <a:p>
            <a:pPr marL="515620" marR="5080" indent="-192405">
              <a:lnSpc>
                <a:spcPct val="134700"/>
              </a:lnSpc>
              <a:spcBef>
                <a:spcPts val="2475"/>
              </a:spcBef>
            </a:pPr>
            <a:r>
              <a:rPr sz="3000" spc="-5" dirty="0">
                <a:latin typeface="Arial MT"/>
                <a:cs typeface="Arial MT"/>
              </a:rPr>
              <a:t>–</a:t>
            </a:r>
            <a:r>
              <a:rPr sz="3000" spc="-5" dirty="0">
                <a:latin typeface="Calibri"/>
                <a:cs typeface="Calibri"/>
              </a:rPr>
              <a:t>Structured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analysis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(typically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carried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out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by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using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DFD)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95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</a:pPr>
            <a:r>
              <a:rPr sz="3000" spc="-5" dirty="0">
                <a:latin typeface="Arial MT"/>
                <a:cs typeface="Arial MT"/>
              </a:rPr>
              <a:t>–</a:t>
            </a:r>
            <a:r>
              <a:rPr sz="3000" spc="-5" dirty="0">
                <a:latin typeface="Calibri"/>
                <a:cs typeface="Calibri"/>
              </a:rPr>
              <a:t>Structured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design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4298" y="214325"/>
            <a:ext cx="34188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Structured</a:t>
            </a:r>
            <a:r>
              <a:rPr sz="3600" spc="-75" dirty="0"/>
              <a:t> </a:t>
            </a:r>
            <a:r>
              <a:rPr sz="3600" dirty="0"/>
              <a:t>Design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53111" y="664713"/>
            <a:ext cx="5760720" cy="2115820"/>
          </a:xfrm>
          <a:prstGeom prst="rect">
            <a:avLst/>
          </a:prstGeom>
        </p:spPr>
        <p:txBody>
          <a:bodyPr vert="horz" wrap="square" lIns="0" tIns="187960" rIns="0" bIns="0" rtlCol="0">
            <a:spAutoFit/>
          </a:bodyPr>
          <a:lstStyle/>
          <a:p>
            <a:pPr marL="244475" indent="-232410">
              <a:lnSpc>
                <a:spcPct val="100000"/>
              </a:lnSpc>
              <a:spcBef>
                <a:spcPts val="1480"/>
              </a:spcBef>
              <a:buFont typeface="Arial MT"/>
              <a:buChar char="•"/>
              <a:tabLst>
                <a:tab pos="245110" algn="l"/>
              </a:tabLst>
            </a:pP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High-level</a:t>
            </a:r>
            <a:r>
              <a:rPr sz="2700" spc="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design:</a:t>
            </a:r>
            <a:endParaRPr sz="270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  <a:spcBef>
                <a:spcPts val="1235"/>
              </a:spcBef>
            </a:pPr>
            <a:r>
              <a:rPr sz="2450" spc="10" dirty="0">
                <a:latin typeface="Arial MT"/>
                <a:cs typeface="Arial MT"/>
              </a:rPr>
              <a:t>–</a:t>
            </a:r>
            <a:r>
              <a:rPr sz="2450" spc="10" dirty="0">
                <a:latin typeface="Calibri"/>
                <a:cs typeface="Calibri"/>
              </a:rPr>
              <a:t>decompose</a:t>
            </a:r>
            <a:r>
              <a:rPr sz="2450" spc="-3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the</a:t>
            </a:r>
            <a:r>
              <a:rPr sz="2450" spc="-30" dirty="0">
                <a:latin typeface="Calibri"/>
                <a:cs typeface="Calibri"/>
              </a:rPr>
              <a:t> </a:t>
            </a:r>
            <a:r>
              <a:rPr sz="2450" spc="-25" dirty="0">
                <a:latin typeface="Calibri"/>
                <a:cs typeface="Calibri"/>
              </a:rPr>
              <a:t>system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into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-5" dirty="0">
                <a:solidFill>
                  <a:srgbClr val="800000"/>
                </a:solidFill>
                <a:latin typeface="Calibri"/>
                <a:cs typeface="Calibri"/>
              </a:rPr>
              <a:t>modules</a:t>
            </a:r>
            <a:r>
              <a:rPr sz="2450" spc="-5" dirty="0">
                <a:latin typeface="Calibri"/>
                <a:cs typeface="Calibri"/>
              </a:rPr>
              <a:t>,</a:t>
            </a:r>
            <a:endParaRPr sz="2450">
              <a:latin typeface="Calibri"/>
              <a:cs typeface="Calibri"/>
            </a:endParaRPr>
          </a:p>
          <a:p>
            <a:pPr marL="515620" marR="5080" indent="-192405">
              <a:lnSpc>
                <a:spcPct val="120100"/>
              </a:lnSpc>
              <a:spcBef>
                <a:spcPts val="600"/>
              </a:spcBef>
            </a:pPr>
            <a:r>
              <a:rPr sz="2450" spc="5" dirty="0">
                <a:latin typeface="Arial MT"/>
                <a:cs typeface="Arial MT"/>
              </a:rPr>
              <a:t>–</a:t>
            </a:r>
            <a:r>
              <a:rPr sz="2450" spc="5" dirty="0">
                <a:latin typeface="Calibri"/>
                <a:cs typeface="Calibri"/>
              </a:rPr>
              <a:t>represent </a:t>
            </a:r>
            <a:r>
              <a:rPr sz="2450" spc="-20" dirty="0">
                <a:latin typeface="Calibri"/>
                <a:cs typeface="Calibri"/>
              </a:rPr>
              <a:t>invocation </a:t>
            </a:r>
            <a:r>
              <a:rPr sz="2450" spc="-10" dirty="0">
                <a:latin typeface="Calibri"/>
                <a:cs typeface="Calibri"/>
              </a:rPr>
              <a:t>relationships </a:t>
            </a:r>
            <a:r>
              <a:rPr sz="2450" spc="-5" dirty="0">
                <a:latin typeface="Calibri"/>
                <a:cs typeface="Calibri"/>
              </a:rPr>
              <a:t>among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the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modules.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111" y="2912186"/>
            <a:ext cx="2501265" cy="4394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44475" indent="-232410">
              <a:lnSpc>
                <a:spcPct val="100000"/>
              </a:lnSpc>
              <a:spcBef>
                <a:spcPts val="115"/>
              </a:spcBef>
              <a:buFont typeface="Arial MT"/>
              <a:buChar char="•"/>
              <a:tabLst>
                <a:tab pos="245110" algn="l"/>
              </a:tabLst>
            </a:pPr>
            <a:r>
              <a:rPr sz="2700" spc="-5" dirty="0">
                <a:solidFill>
                  <a:srgbClr val="0000FF"/>
                </a:solidFill>
                <a:latin typeface="Calibri"/>
                <a:cs typeface="Calibri"/>
              </a:rPr>
              <a:t>Detailed</a:t>
            </a:r>
            <a:r>
              <a:rPr sz="2700" spc="-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0000FF"/>
                </a:solidFill>
                <a:latin typeface="Calibri"/>
                <a:cs typeface="Calibri"/>
              </a:rPr>
              <a:t>design: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4312" y="3325800"/>
            <a:ext cx="7402195" cy="1033780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sz="2450" dirty="0">
                <a:latin typeface="Arial MT"/>
                <a:cs typeface="Arial MT"/>
              </a:rPr>
              <a:t>–</a:t>
            </a:r>
            <a:r>
              <a:rPr sz="2450" dirty="0">
                <a:latin typeface="Calibri"/>
                <a:cs typeface="Calibri"/>
              </a:rPr>
              <a:t>different</a:t>
            </a:r>
            <a:r>
              <a:rPr sz="2450" spc="-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modules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designed</a:t>
            </a:r>
            <a:r>
              <a:rPr sz="2450" spc="-5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in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greater</a:t>
            </a:r>
            <a:r>
              <a:rPr sz="2450" spc="-5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detail:</a:t>
            </a:r>
            <a:endParaRPr sz="2450">
              <a:latin typeface="Calibri"/>
              <a:cs typeface="Calibri"/>
            </a:endParaRPr>
          </a:p>
          <a:p>
            <a:pPr marL="478790" indent="-156210">
              <a:lnSpc>
                <a:spcPct val="100000"/>
              </a:lnSpc>
              <a:spcBef>
                <a:spcPts val="1155"/>
              </a:spcBef>
              <a:buFont typeface="Arial MT"/>
              <a:buChar char="•"/>
              <a:tabLst>
                <a:tab pos="479425" algn="l"/>
              </a:tabLst>
            </a:pPr>
            <a:r>
              <a:rPr sz="2150" dirty="0">
                <a:latin typeface="Calibri"/>
                <a:cs typeface="Calibri"/>
              </a:rPr>
              <a:t>data</a:t>
            </a:r>
            <a:r>
              <a:rPr sz="2150" spc="-3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structures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15" dirty="0">
                <a:latin typeface="Calibri"/>
                <a:cs typeface="Calibri"/>
              </a:rPr>
              <a:t>and</a:t>
            </a:r>
            <a:r>
              <a:rPr sz="2150" spc="-2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algorithms</a:t>
            </a:r>
            <a:r>
              <a:rPr sz="2150" spc="-50" dirty="0">
                <a:latin typeface="Calibri"/>
                <a:cs typeface="Calibri"/>
              </a:rPr>
              <a:t> </a:t>
            </a:r>
            <a:r>
              <a:rPr sz="2150" spc="-5" dirty="0">
                <a:latin typeface="Calibri"/>
                <a:cs typeface="Calibri"/>
              </a:rPr>
              <a:t>for </a:t>
            </a:r>
            <a:r>
              <a:rPr sz="2150" spc="10" dirty="0">
                <a:latin typeface="Calibri"/>
                <a:cs typeface="Calibri"/>
              </a:rPr>
              <a:t>each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spc="15" dirty="0">
                <a:latin typeface="Calibri"/>
                <a:cs typeface="Calibri"/>
              </a:rPr>
              <a:t>module</a:t>
            </a:r>
            <a:r>
              <a:rPr sz="2150" spc="-3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are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designed.</a:t>
            </a:r>
            <a:endParaRPr sz="215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818378" y="697737"/>
            <a:ext cx="3180080" cy="2725420"/>
            <a:chOff x="5818378" y="697737"/>
            <a:chExt cx="3180080" cy="2725420"/>
          </a:xfrm>
        </p:grpSpPr>
        <p:sp>
          <p:nvSpPr>
            <p:cNvPr id="7" name="object 7"/>
            <p:cNvSpPr/>
            <p:nvPr/>
          </p:nvSpPr>
          <p:spPr>
            <a:xfrm>
              <a:off x="7376160" y="705103"/>
              <a:ext cx="368935" cy="486409"/>
            </a:xfrm>
            <a:custGeom>
              <a:avLst/>
              <a:gdLst/>
              <a:ahLst/>
              <a:cxnLst/>
              <a:rect l="l" t="t" r="r" b="b"/>
              <a:pathLst>
                <a:path w="368934" h="486409">
                  <a:moveTo>
                    <a:pt x="0" y="486410"/>
                  </a:moveTo>
                  <a:lnTo>
                    <a:pt x="368808" y="486410"/>
                  </a:lnTo>
                  <a:lnTo>
                    <a:pt x="368808" y="0"/>
                  </a:lnTo>
                  <a:lnTo>
                    <a:pt x="0" y="0"/>
                  </a:lnTo>
                  <a:lnTo>
                    <a:pt x="0" y="486410"/>
                  </a:lnTo>
                  <a:close/>
                </a:path>
              </a:pathLst>
            </a:custGeom>
            <a:solidFill>
              <a:srgbClr val="CC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76160" y="704087"/>
              <a:ext cx="368935" cy="487680"/>
            </a:xfrm>
            <a:custGeom>
              <a:avLst/>
              <a:gdLst/>
              <a:ahLst/>
              <a:cxnLst/>
              <a:rect l="l" t="t" r="r" b="b"/>
              <a:pathLst>
                <a:path w="368934" h="487680">
                  <a:moveTo>
                    <a:pt x="0" y="1143"/>
                  </a:moveTo>
                  <a:lnTo>
                    <a:pt x="0" y="508"/>
                  </a:lnTo>
                  <a:lnTo>
                    <a:pt x="508" y="0"/>
                  </a:lnTo>
                  <a:lnTo>
                    <a:pt x="1143" y="0"/>
                  </a:lnTo>
                  <a:lnTo>
                    <a:pt x="367665" y="0"/>
                  </a:lnTo>
                  <a:lnTo>
                    <a:pt x="368300" y="0"/>
                  </a:lnTo>
                  <a:lnTo>
                    <a:pt x="368808" y="508"/>
                  </a:lnTo>
                  <a:lnTo>
                    <a:pt x="368808" y="1143"/>
                  </a:lnTo>
                  <a:lnTo>
                    <a:pt x="368808" y="486537"/>
                  </a:lnTo>
                  <a:lnTo>
                    <a:pt x="368808" y="487172"/>
                  </a:lnTo>
                  <a:lnTo>
                    <a:pt x="368300" y="487680"/>
                  </a:lnTo>
                  <a:lnTo>
                    <a:pt x="367665" y="487680"/>
                  </a:lnTo>
                  <a:lnTo>
                    <a:pt x="1143" y="487680"/>
                  </a:lnTo>
                  <a:lnTo>
                    <a:pt x="508" y="487680"/>
                  </a:lnTo>
                  <a:lnTo>
                    <a:pt x="0" y="487172"/>
                  </a:lnTo>
                  <a:lnTo>
                    <a:pt x="0" y="486537"/>
                  </a:lnTo>
                  <a:lnTo>
                    <a:pt x="0" y="114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104888" y="1679193"/>
              <a:ext cx="908685" cy="485140"/>
            </a:xfrm>
            <a:custGeom>
              <a:avLst/>
              <a:gdLst/>
              <a:ahLst/>
              <a:cxnLst/>
              <a:rect l="l" t="t" r="r" b="b"/>
              <a:pathLst>
                <a:path w="908684" h="485139">
                  <a:moveTo>
                    <a:pt x="908304" y="1270"/>
                  </a:moveTo>
                  <a:lnTo>
                    <a:pt x="908037" y="1270"/>
                  </a:lnTo>
                  <a:lnTo>
                    <a:pt x="908037" y="0"/>
                  </a:lnTo>
                  <a:lnTo>
                    <a:pt x="254" y="0"/>
                  </a:lnTo>
                  <a:lnTo>
                    <a:pt x="254" y="1270"/>
                  </a:lnTo>
                  <a:lnTo>
                    <a:pt x="0" y="1270"/>
                  </a:lnTo>
                  <a:lnTo>
                    <a:pt x="0" y="483870"/>
                  </a:lnTo>
                  <a:lnTo>
                    <a:pt x="254" y="483870"/>
                  </a:lnTo>
                  <a:lnTo>
                    <a:pt x="254" y="485140"/>
                  </a:lnTo>
                  <a:lnTo>
                    <a:pt x="908050" y="485140"/>
                  </a:lnTo>
                  <a:lnTo>
                    <a:pt x="908050" y="483870"/>
                  </a:lnTo>
                  <a:lnTo>
                    <a:pt x="908304" y="483870"/>
                  </a:lnTo>
                  <a:lnTo>
                    <a:pt x="908304" y="1270"/>
                  </a:lnTo>
                  <a:close/>
                </a:path>
              </a:pathLst>
            </a:custGeom>
            <a:solidFill>
              <a:srgbClr val="CC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04888" y="1679447"/>
              <a:ext cx="908685" cy="485140"/>
            </a:xfrm>
            <a:custGeom>
              <a:avLst/>
              <a:gdLst/>
              <a:ahLst/>
              <a:cxnLst/>
              <a:rect l="l" t="t" r="r" b="b"/>
              <a:pathLst>
                <a:path w="908684" h="485139">
                  <a:moveTo>
                    <a:pt x="0" y="1397"/>
                  </a:moveTo>
                  <a:lnTo>
                    <a:pt x="0" y="635"/>
                  </a:lnTo>
                  <a:lnTo>
                    <a:pt x="634" y="0"/>
                  </a:lnTo>
                  <a:lnTo>
                    <a:pt x="1396" y="0"/>
                  </a:lnTo>
                  <a:lnTo>
                    <a:pt x="906906" y="0"/>
                  </a:lnTo>
                  <a:lnTo>
                    <a:pt x="907668" y="0"/>
                  </a:lnTo>
                  <a:lnTo>
                    <a:pt x="908303" y="635"/>
                  </a:lnTo>
                  <a:lnTo>
                    <a:pt x="908303" y="1397"/>
                  </a:lnTo>
                  <a:lnTo>
                    <a:pt x="908303" y="483234"/>
                  </a:lnTo>
                  <a:lnTo>
                    <a:pt x="908303" y="483996"/>
                  </a:lnTo>
                  <a:lnTo>
                    <a:pt x="907668" y="484631"/>
                  </a:lnTo>
                  <a:lnTo>
                    <a:pt x="906906" y="484631"/>
                  </a:lnTo>
                  <a:lnTo>
                    <a:pt x="1396" y="484631"/>
                  </a:lnTo>
                  <a:lnTo>
                    <a:pt x="634" y="484631"/>
                  </a:lnTo>
                  <a:lnTo>
                    <a:pt x="0" y="483996"/>
                  </a:lnTo>
                  <a:lnTo>
                    <a:pt x="0" y="483234"/>
                  </a:lnTo>
                  <a:lnTo>
                    <a:pt x="0" y="139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92952" y="1680463"/>
              <a:ext cx="911860" cy="482600"/>
            </a:xfrm>
            <a:custGeom>
              <a:avLst/>
              <a:gdLst/>
              <a:ahLst/>
              <a:cxnLst/>
              <a:rect l="l" t="t" r="r" b="b"/>
              <a:pathLst>
                <a:path w="911859" h="482600">
                  <a:moveTo>
                    <a:pt x="0" y="482600"/>
                  </a:moveTo>
                  <a:lnTo>
                    <a:pt x="911351" y="482600"/>
                  </a:lnTo>
                  <a:lnTo>
                    <a:pt x="911351" y="0"/>
                  </a:lnTo>
                  <a:lnTo>
                    <a:pt x="0" y="0"/>
                  </a:lnTo>
                  <a:lnTo>
                    <a:pt x="0" y="482600"/>
                  </a:lnTo>
                  <a:close/>
                </a:path>
              </a:pathLst>
            </a:custGeom>
            <a:solidFill>
              <a:srgbClr val="CC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92952" y="1679447"/>
              <a:ext cx="911860" cy="485140"/>
            </a:xfrm>
            <a:custGeom>
              <a:avLst/>
              <a:gdLst/>
              <a:ahLst/>
              <a:cxnLst/>
              <a:rect l="l" t="t" r="r" b="b"/>
              <a:pathLst>
                <a:path w="911859" h="485139">
                  <a:moveTo>
                    <a:pt x="0" y="1397"/>
                  </a:moveTo>
                  <a:lnTo>
                    <a:pt x="0" y="635"/>
                  </a:lnTo>
                  <a:lnTo>
                    <a:pt x="635" y="0"/>
                  </a:lnTo>
                  <a:lnTo>
                    <a:pt x="1397" y="0"/>
                  </a:lnTo>
                  <a:lnTo>
                    <a:pt x="909954" y="0"/>
                  </a:lnTo>
                  <a:lnTo>
                    <a:pt x="910717" y="0"/>
                  </a:lnTo>
                  <a:lnTo>
                    <a:pt x="911351" y="635"/>
                  </a:lnTo>
                  <a:lnTo>
                    <a:pt x="911351" y="1397"/>
                  </a:lnTo>
                  <a:lnTo>
                    <a:pt x="911351" y="483234"/>
                  </a:lnTo>
                  <a:lnTo>
                    <a:pt x="911351" y="483996"/>
                  </a:lnTo>
                  <a:lnTo>
                    <a:pt x="910717" y="484631"/>
                  </a:lnTo>
                  <a:lnTo>
                    <a:pt x="909954" y="484631"/>
                  </a:lnTo>
                  <a:lnTo>
                    <a:pt x="1397" y="484631"/>
                  </a:lnTo>
                  <a:lnTo>
                    <a:pt x="635" y="484631"/>
                  </a:lnTo>
                  <a:lnTo>
                    <a:pt x="0" y="483996"/>
                  </a:lnTo>
                  <a:lnTo>
                    <a:pt x="0" y="483234"/>
                  </a:lnTo>
                  <a:lnTo>
                    <a:pt x="0" y="139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24728" y="2861563"/>
              <a:ext cx="573405" cy="554990"/>
            </a:xfrm>
            <a:custGeom>
              <a:avLst/>
              <a:gdLst/>
              <a:ahLst/>
              <a:cxnLst/>
              <a:rect l="l" t="t" r="r" b="b"/>
              <a:pathLst>
                <a:path w="573404" h="554989">
                  <a:moveTo>
                    <a:pt x="573024" y="1270"/>
                  </a:moveTo>
                  <a:lnTo>
                    <a:pt x="572503" y="1270"/>
                  </a:lnTo>
                  <a:lnTo>
                    <a:pt x="572503" y="0"/>
                  </a:lnTo>
                  <a:lnTo>
                    <a:pt x="508" y="0"/>
                  </a:lnTo>
                  <a:lnTo>
                    <a:pt x="508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554990"/>
                  </a:lnTo>
                  <a:lnTo>
                    <a:pt x="573024" y="554990"/>
                  </a:lnTo>
                  <a:lnTo>
                    <a:pt x="573024" y="2540"/>
                  </a:lnTo>
                  <a:lnTo>
                    <a:pt x="573024" y="1270"/>
                  </a:lnTo>
                  <a:close/>
                </a:path>
              </a:pathLst>
            </a:custGeom>
            <a:solidFill>
              <a:srgbClr val="CC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24728" y="2862071"/>
              <a:ext cx="573405" cy="554990"/>
            </a:xfrm>
            <a:custGeom>
              <a:avLst/>
              <a:gdLst/>
              <a:ahLst/>
              <a:cxnLst/>
              <a:rect l="l" t="t" r="r" b="b"/>
              <a:pathLst>
                <a:path w="573404" h="554989">
                  <a:moveTo>
                    <a:pt x="0" y="1396"/>
                  </a:moveTo>
                  <a:lnTo>
                    <a:pt x="0" y="634"/>
                  </a:lnTo>
                  <a:lnTo>
                    <a:pt x="635" y="0"/>
                  </a:lnTo>
                  <a:lnTo>
                    <a:pt x="1397" y="0"/>
                  </a:lnTo>
                  <a:lnTo>
                    <a:pt x="571626" y="0"/>
                  </a:lnTo>
                  <a:lnTo>
                    <a:pt x="572388" y="0"/>
                  </a:lnTo>
                  <a:lnTo>
                    <a:pt x="573024" y="634"/>
                  </a:lnTo>
                  <a:lnTo>
                    <a:pt x="573024" y="1396"/>
                  </a:lnTo>
                  <a:lnTo>
                    <a:pt x="573024" y="553338"/>
                  </a:lnTo>
                  <a:lnTo>
                    <a:pt x="573024" y="554101"/>
                  </a:lnTo>
                  <a:lnTo>
                    <a:pt x="572388" y="554735"/>
                  </a:lnTo>
                  <a:lnTo>
                    <a:pt x="571626" y="554735"/>
                  </a:lnTo>
                  <a:lnTo>
                    <a:pt x="1397" y="554735"/>
                  </a:lnTo>
                  <a:lnTo>
                    <a:pt x="635" y="554735"/>
                  </a:lnTo>
                  <a:lnTo>
                    <a:pt x="0" y="554101"/>
                  </a:lnTo>
                  <a:lnTo>
                    <a:pt x="0" y="553338"/>
                  </a:lnTo>
                  <a:lnTo>
                    <a:pt x="0" y="139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431280" y="2861563"/>
              <a:ext cx="573405" cy="554990"/>
            </a:xfrm>
            <a:custGeom>
              <a:avLst/>
              <a:gdLst/>
              <a:ahLst/>
              <a:cxnLst/>
              <a:rect l="l" t="t" r="r" b="b"/>
              <a:pathLst>
                <a:path w="573404" h="554989">
                  <a:moveTo>
                    <a:pt x="573024" y="1270"/>
                  </a:moveTo>
                  <a:lnTo>
                    <a:pt x="572516" y="1270"/>
                  </a:lnTo>
                  <a:lnTo>
                    <a:pt x="572516" y="0"/>
                  </a:lnTo>
                  <a:lnTo>
                    <a:pt x="508" y="0"/>
                  </a:lnTo>
                  <a:lnTo>
                    <a:pt x="508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554990"/>
                  </a:lnTo>
                  <a:lnTo>
                    <a:pt x="573024" y="554990"/>
                  </a:lnTo>
                  <a:lnTo>
                    <a:pt x="573024" y="2540"/>
                  </a:lnTo>
                  <a:lnTo>
                    <a:pt x="573024" y="1270"/>
                  </a:lnTo>
                  <a:close/>
                </a:path>
              </a:pathLst>
            </a:custGeom>
            <a:solidFill>
              <a:srgbClr val="CC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431280" y="2862071"/>
              <a:ext cx="573405" cy="554990"/>
            </a:xfrm>
            <a:custGeom>
              <a:avLst/>
              <a:gdLst/>
              <a:ahLst/>
              <a:cxnLst/>
              <a:rect l="l" t="t" r="r" b="b"/>
              <a:pathLst>
                <a:path w="573404" h="554989">
                  <a:moveTo>
                    <a:pt x="0" y="1396"/>
                  </a:moveTo>
                  <a:lnTo>
                    <a:pt x="0" y="634"/>
                  </a:lnTo>
                  <a:lnTo>
                    <a:pt x="635" y="0"/>
                  </a:lnTo>
                  <a:lnTo>
                    <a:pt x="1397" y="0"/>
                  </a:lnTo>
                  <a:lnTo>
                    <a:pt x="571626" y="0"/>
                  </a:lnTo>
                  <a:lnTo>
                    <a:pt x="572389" y="0"/>
                  </a:lnTo>
                  <a:lnTo>
                    <a:pt x="573024" y="634"/>
                  </a:lnTo>
                  <a:lnTo>
                    <a:pt x="573024" y="1396"/>
                  </a:lnTo>
                  <a:lnTo>
                    <a:pt x="573024" y="553338"/>
                  </a:lnTo>
                  <a:lnTo>
                    <a:pt x="573024" y="554101"/>
                  </a:lnTo>
                  <a:lnTo>
                    <a:pt x="572389" y="554735"/>
                  </a:lnTo>
                  <a:lnTo>
                    <a:pt x="571626" y="554735"/>
                  </a:lnTo>
                  <a:lnTo>
                    <a:pt x="1397" y="554735"/>
                  </a:lnTo>
                  <a:lnTo>
                    <a:pt x="635" y="554735"/>
                  </a:lnTo>
                  <a:lnTo>
                    <a:pt x="0" y="554101"/>
                  </a:lnTo>
                  <a:lnTo>
                    <a:pt x="0" y="553338"/>
                  </a:lnTo>
                  <a:lnTo>
                    <a:pt x="0" y="139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37832" y="2861563"/>
              <a:ext cx="573405" cy="554990"/>
            </a:xfrm>
            <a:custGeom>
              <a:avLst/>
              <a:gdLst/>
              <a:ahLst/>
              <a:cxnLst/>
              <a:rect l="l" t="t" r="r" b="b"/>
              <a:pathLst>
                <a:path w="573404" h="554989">
                  <a:moveTo>
                    <a:pt x="573024" y="1270"/>
                  </a:moveTo>
                  <a:lnTo>
                    <a:pt x="572516" y="1270"/>
                  </a:lnTo>
                  <a:lnTo>
                    <a:pt x="572516" y="0"/>
                  </a:lnTo>
                  <a:lnTo>
                    <a:pt x="508" y="0"/>
                  </a:lnTo>
                  <a:lnTo>
                    <a:pt x="508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554990"/>
                  </a:lnTo>
                  <a:lnTo>
                    <a:pt x="573024" y="554990"/>
                  </a:lnTo>
                  <a:lnTo>
                    <a:pt x="573024" y="2540"/>
                  </a:lnTo>
                  <a:lnTo>
                    <a:pt x="573024" y="1270"/>
                  </a:lnTo>
                  <a:close/>
                </a:path>
              </a:pathLst>
            </a:custGeom>
            <a:solidFill>
              <a:srgbClr val="CC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37832" y="2862071"/>
              <a:ext cx="573405" cy="554990"/>
            </a:xfrm>
            <a:custGeom>
              <a:avLst/>
              <a:gdLst/>
              <a:ahLst/>
              <a:cxnLst/>
              <a:rect l="l" t="t" r="r" b="b"/>
              <a:pathLst>
                <a:path w="573404" h="554989">
                  <a:moveTo>
                    <a:pt x="0" y="1396"/>
                  </a:moveTo>
                  <a:lnTo>
                    <a:pt x="0" y="634"/>
                  </a:lnTo>
                  <a:lnTo>
                    <a:pt x="635" y="0"/>
                  </a:lnTo>
                  <a:lnTo>
                    <a:pt x="1397" y="0"/>
                  </a:lnTo>
                  <a:lnTo>
                    <a:pt x="571626" y="0"/>
                  </a:lnTo>
                  <a:lnTo>
                    <a:pt x="572389" y="0"/>
                  </a:lnTo>
                  <a:lnTo>
                    <a:pt x="573024" y="634"/>
                  </a:lnTo>
                  <a:lnTo>
                    <a:pt x="573024" y="1396"/>
                  </a:lnTo>
                  <a:lnTo>
                    <a:pt x="573024" y="553338"/>
                  </a:lnTo>
                  <a:lnTo>
                    <a:pt x="573024" y="554101"/>
                  </a:lnTo>
                  <a:lnTo>
                    <a:pt x="572389" y="554735"/>
                  </a:lnTo>
                  <a:lnTo>
                    <a:pt x="571626" y="554735"/>
                  </a:lnTo>
                  <a:lnTo>
                    <a:pt x="1397" y="554735"/>
                  </a:lnTo>
                  <a:lnTo>
                    <a:pt x="635" y="554735"/>
                  </a:lnTo>
                  <a:lnTo>
                    <a:pt x="0" y="554101"/>
                  </a:lnTo>
                  <a:lnTo>
                    <a:pt x="0" y="553338"/>
                  </a:lnTo>
                  <a:lnTo>
                    <a:pt x="0" y="139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083296" y="1679193"/>
              <a:ext cx="908685" cy="485140"/>
            </a:xfrm>
            <a:custGeom>
              <a:avLst/>
              <a:gdLst/>
              <a:ahLst/>
              <a:cxnLst/>
              <a:rect l="l" t="t" r="r" b="b"/>
              <a:pathLst>
                <a:path w="908684" h="485139">
                  <a:moveTo>
                    <a:pt x="908304" y="1270"/>
                  </a:moveTo>
                  <a:lnTo>
                    <a:pt x="908050" y="1270"/>
                  </a:lnTo>
                  <a:lnTo>
                    <a:pt x="908050" y="0"/>
                  </a:lnTo>
                  <a:lnTo>
                    <a:pt x="254" y="0"/>
                  </a:lnTo>
                  <a:lnTo>
                    <a:pt x="254" y="1270"/>
                  </a:lnTo>
                  <a:lnTo>
                    <a:pt x="0" y="1270"/>
                  </a:lnTo>
                  <a:lnTo>
                    <a:pt x="0" y="483870"/>
                  </a:lnTo>
                  <a:lnTo>
                    <a:pt x="254" y="483870"/>
                  </a:lnTo>
                  <a:lnTo>
                    <a:pt x="254" y="485140"/>
                  </a:lnTo>
                  <a:lnTo>
                    <a:pt x="908050" y="485140"/>
                  </a:lnTo>
                  <a:lnTo>
                    <a:pt x="908050" y="483870"/>
                  </a:lnTo>
                  <a:lnTo>
                    <a:pt x="908304" y="483870"/>
                  </a:lnTo>
                  <a:lnTo>
                    <a:pt x="908304" y="1270"/>
                  </a:lnTo>
                  <a:close/>
                </a:path>
              </a:pathLst>
            </a:custGeom>
            <a:solidFill>
              <a:srgbClr val="CC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083296" y="1679447"/>
              <a:ext cx="908685" cy="485140"/>
            </a:xfrm>
            <a:custGeom>
              <a:avLst/>
              <a:gdLst/>
              <a:ahLst/>
              <a:cxnLst/>
              <a:rect l="l" t="t" r="r" b="b"/>
              <a:pathLst>
                <a:path w="908684" h="485139">
                  <a:moveTo>
                    <a:pt x="0" y="1397"/>
                  </a:moveTo>
                  <a:lnTo>
                    <a:pt x="0" y="635"/>
                  </a:lnTo>
                  <a:lnTo>
                    <a:pt x="634" y="0"/>
                  </a:lnTo>
                  <a:lnTo>
                    <a:pt x="1397" y="0"/>
                  </a:lnTo>
                  <a:lnTo>
                    <a:pt x="906906" y="0"/>
                  </a:lnTo>
                  <a:lnTo>
                    <a:pt x="907669" y="0"/>
                  </a:lnTo>
                  <a:lnTo>
                    <a:pt x="908303" y="635"/>
                  </a:lnTo>
                  <a:lnTo>
                    <a:pt x="908303" y="1397"/>
                  </a:lnTo>
                  <a:lnTo>
                    <a:pt x="908303" y="483234"/>
                  </a:lnTo>
                  <a:lnTo>
                    <a:pt x="908303" y="483996"/>
                  </a:lnTo>
                  <a:lnTo>
                    <a:pt x="907669" y="484631"/>
                  </a:lnTo>
                  <a:lnTo>
                    <a:pt x="906906" y="484631"/>
                  </a:lnTo>
                  <a:lnTo>
                    <a:pt x="1397" y="484631"/>
                  </a:lnTo>
                  <a:lnTo>
                    <a:pt x="634" y="484631"/>
                  </a:lnTo>
                  <a:lnTo>
                    <a:pt x="0" y="483996"/>
                  </a:lnTo>
                  <a:lnTo>
                    <a:pt x="0" y="483234"/>
                  </a:lnTo>
                  <a:lnTo>
                    <a:pt x="0" y="139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376159" y="703833"/>
            <a:ext cx="368935" cy="4876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80"/>
              </a:spcBef>
            </a:pPr>
            <a:r>
              <a:rPr sz="1050" b="1" spc="15" dirty="0">
                <a:latin typeface="Comic Sans MS"/>
                <a:cs typeface="Comic Sans MS"/>
              </a:rPr>
              <a:t>root</a:t>
            </a:r>
            <a:endParaRPr sz="1050">
              <a:latin typeface="Comic Sans MS"/>
              <a:cs typeface="Comic Sans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92952" y="1679194"/>
            <a:ext cx="911860" cy="48514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635"/>
              </a:spcBef>
            </a:pPr>
            <a:r>
              <a:rPr sz="950" b="1" dirty="0">
                <a:latin typeface="Comic Sans MS"/>
                <a:cs typeface="Comic Sans MS"/>
              </a:rPr>
              <a:t>Handle-order</a:t>
            </a:r>
            <a:endParaRPr sz="950">
              <a:latin typeface="Comic Sans MS"/>
              <a:cs typeface="Comic Sans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42480" y="1745741"/>
            <a:ext cx="85725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b="1" dirty="0">
                <a:latin typeface="Comic Sans MS"/>
                <a:cs typeface="Comic Sans MS"/>
              </a:rPr>
              <a:t>Handle-indent</a:t>
            </a:r>
            <a:endParaRPr sz="950">
              <a:latin typeface="Comic Sans MS"/>
              <a:cs typeface="Comic Sans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153145" y="1745741"/>
            <a:ext cx="818515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b="1" dirty="0">
                <a:latin typeface="Comic Sans MS"/>
                <a:cs typeface="Comic Sans MS"/>
              </a:rPr>
              <a:t>Handle-query</a:t>
            </a:r>
            <a:endParaRPr sz="950">
              <a:latin typeface="Comic Sans MS"/>
              <a:cs typeface="Comic Sans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824728" y="2896361"/>
            <a:ext cx="1179830" cy="29718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810" marR="53340" indent="634365">
              <a:lnSpc>
                <a:spcPts val="990"/>
              </a:lnSpc>
              <a:spcBef>
                <a:spcPts val="265"/>
              </a:spcBef>
            </a:pPr>
            <a:r>
              <a:rPr sz="950" b="1" spc="-5" dirty="0">
                <a:latin typeface="Comic Sans MS"/>
                <a:cs typeface="Comic Sans MS"/>
              </a:rPr>
              <a:t>A</a:t>
            </a:r>
            <a:r>
              <a:rPr sz="950" b="1" spc="10" dirty="0">
                <a:latin typeface="Comic Sans MS"/>
                <a:cs typeface="Comic Sans MS"/>
              </a:rPr>
              <a:t>cc</a:t>
            </a:r>
            <a:r>
              <a:rPr sz="950" b="1" spc="-5" dirty="0">
                <a:latin typeface="Comic Sans MS"/>
                <a:cs typeface="Comic Sans MS"/>
              </a:rPr>
              <a:t>ep</a:t>
            </a:r>
            <a:r>
              <a:rPr sz="950" b="1" spc="5" dirty="0">
                <a:latin typeface="Comic Sans MS"/>
                <a:cs typeface="Comic Sans MS"/>
              </a:rPr>
              <a:t>t</a:t>
            </a:r>
            <a:r>
              <a:rPr sz="950" b="1" dirty="0">
                <a:latin typeface="Comic Sans MS"/>
                <a:cs typeface="Comic Sans MS"/>
              </a:rPr>
              <a:t>-  Get-order</a:t>
            </a:r>
            <a:r>
              <a:rPr sz="950" b="1" spc="25" dirty="0">
                <a:latin typeface="Comic Sans MS"/>
                <a:cs typeface="Comic Sans MS"/>
              </a:rPr>
              <a:t> </a:t>
            </a:r>
            <a:r>
              <a:rPr sz="1425" b="1" baseline="2923" dirty="0">
                <a:latin typeface="Comic Sans MS"/>
                <a:cs typeface="Comic Sans MS"/>
              </a:rPr>
              <a:t>order</a:t>
            </a:r>
            <a:endParaRPr sz="1425" baseline="2923">
              <a:latin typeface="Comic Sans MS"/>
              <a:cs typeface="Comic Sans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149594" y="1186179"/>
            <a:ext cx="2369820" cy="1676400"/>
            <a:chOff x="6149594" y="1186179"/>
            <a:chExt cx="2369820" cy="1676400"/>
          </a:xfrm>
        </p:grpSpPr>
        <p:sp>
          <p:nvSpPr>
            <p:cNvPr id="27" name="object 27"/>
            <p:cNvSpPr/>
            <p:nvPr/>
          </p:nvSpPr>
          <p:spPr>
            <a:xfrm>
              <a:off x="6149594" y="1186179"/>
              <a:ext cx="2369820" cy="1676400"/>
            </a:xfrm>
            <a:custGeom>
              <a:avLst/>
              <a:gdLst/>
              <a:ahLst/>
              <a:cxnLst/>
              <a:rect l="l" t="t" r="r" b="b"/>
              <a:pathLst>
                <a:path w="2369820" h="1676400">
                  <a:moveTo>
                    <a:pt x="287655" y="983234"/>
                  </a:moveTo>
                  <a:lnTo>
                    <a:pt x="275717" y="978662"/>
                  </a:lnTo>
                  <a:lnTo>
                    <a:pt x="53213" y="1555076"/>
                  </a:lnTo>
                  <a:lnTo>
                    <a:pt x="0" y="1534541"/>
                  </a:lnTo>
                  <a:lnTo>
                    <a:pt x="13462" y="1675892"/>
                  </a:lnTo>
                  <a:lnTo>
                    <a:pt x="118491" y="1580261"/>
                  </a:lnTo>
                  <a:lnTo>
                    <a:pt x="95770" y="1571498"/>
                  </a:lnTo>
                  <a:lnTo>
                    <a:pt x="65138" y="1559687"/>
                  </a:lnTo>
                  <a:lnTo>
                    <a:pt x="287655" y="983234"/>
                  </a:lnTo>
                  <a:close/>
                </a:path>
                <a:path w="2369820" h="1676400">
                  <a:moveTo>
                    <a:pt x="573659" y="1545971"/>
                  </a:moveTo>
                  <a:lnTo>
                    <a:pt x="516648" y="1548714"/>
                  </a:lnTo>
                  <a:lnTo>
                    <a:pt x="489204" y="980694"/>
                  </a:lnTo>
                  <a:lnTo>
                    <a:pt x="476504" y="981202"/>
                  </a:lnTo>
                  <a:lnTo>
                    <a:pt x="503948" y="1549323"/>
                  </a:lnTo>
                  <a:lnTo>
                    <a:pt x="446786" y="1552067"/>
                  </a:lnTo>
                  <a:lnTo>
                    <a:pt x="516382" y="1675892"/>
                  </a:lnTo>
                  <a:lnTo>
                    <a:pt x="566597" y="1561973"/>
                  </a:lnTo>
                  <a:lnTo>
                    <a:pt x="573659" y="1545971"/>
                  </a:lnTo>
                  <a:close/>
                </a:path>
                <a:path w="2369820" h="1676400">
                  <a:moveTo>
                    <a:pt x="962914" y="1534160"/>
                  </a:moveTo>
                  <a:lnTo>
                    <a:pt x="910475" y="1556918"/>
                  </a:lnTo>
                  <a:lnTo>
                    <a:pt x="659384" y="978408"/>
                  </a:lnTo>
                  <a:lnTo>
                    <a:pt x="647700" y="983488"/>
                  </a:lnTo>
                  <a:lnTo>
                    <a:pt x="898944" y="1561934"/>
                  </a:lnTo>
                  <a:lnTo>
                    <a:pt x="846455" y="1584706"/>
                  </a:lnTo>
                  <a:lnTo>
                    <a:pt x="955294" y="1675892"/>
                  </a:lnTo>
                  <a:lnTo>
                    <a:pt x="960793" y="1573530"/>
                  </a:lnTo>
                  <a:lnTo>
                    <a:pt x="962914" y="1534160"/>
                  </a:lnTo>
                  <a:close/>
                </a:path>
                <a:path w="2369820" h="1676400">
                  <a:moveTo>
                    <a:pt x="1263142" y="11176"/>
                  </a:moveTo>
                  <a:lnTo>
                    <a:pt x="1257046" y="0"/>
                  </a:lnTo>
                  <a:lnTo>
                    <a:pt x="457746" y="427710"/>
                  </a:lnTo>
                  <a:lnTo>
                    <a:pt x="430784" y="377317"/>
                  </a:lnTo>
                  <a:lnTo>
                    <a:pt x="348742" y="493268"/>
                  </a:lnTo>
                  <a:lnTo>
                    <a:pt x="490728" y="489331"/>
                  </a:lnTo>
                  <a:lnTo>
                    <a:pt x="466928" y="444881"/>
                  </a:lnTo>
                  <a:lnTo>
                    <a:pt x="463715" y="438886"/>
                  </a:lnTo>
                  <a:lnTo>
                    <a:pt x="1263142" y="11176"/>
                  </a:lnTo>
                  <a:close/>
                </a:path>
                <a:path w="2369820" h="1676400">
                  <a:moveTo>
                    <a:pt x="1457706" y="366268"/>
                  </a:moveTo>
                  <a:lnTo>
                    <a:pt x="1400556" y="366268"/>
                  </a:lnTo>
                  <a:lnTo>
                    <a:pt x="1400556" y="5588"/>
                  </a:lnTo>
                  <a:lnTo>
                    <a:pt x="1387856" y="5588"/>
                  </a:lnTo>
                  <a:lnTo>
                    <a:pt x="1387856" y="366268"/>
                  </a:lnTo>
                  <a:lnTo>
                    <a:pt x="1330706" y="366268"/>
                  </a:lnTo>
                  <a:lnTo>
                    <a:pt x="1394206" y="493268"/>
                  </a:lnTo>
                  <a:lnTo>
                    <a:pt x="1451356" y="378968"/>
                  </a:lnTo>
                  <a:lnTo>
                    <a:pt x="1457706" y="366268"/>
                  </a:lnTo>
                  <a:close/>
                </a:path>
                <a:path w="2369820" h="1676400">
                  <a:moveTo>
                    <a:pt x="2369566" y="493268"/>
                  </a:moveTo>
                  <a:lnTo>
                    <a:pt x="2335644" y="439674"/>
                  </a:lnTo>
                  <a:lnTo>
                    <a:pt x="2293620" y="373253"/>
                  </a:lnTo>
                  <a:lnTo>
                    <a:pt x="2264067" y="422186"/>
                  </a:lnTo>
                  <a:lnTo>
                    <a:pt x="1565148" y="127"/>
                  </a:lnTo>
                  <a:lnTo>
                    <a:pt x="1558544" y="11049"/>
                  </a:lnTo>
                  <a:lnTo>
                    <a:pt x="2257501" y="433057"/>
                  </a:lnTo>
                  <a:lnTo>
                    <a:pt x="2227961" y="481965"/>
                  </a:lnTo>
                  <a:lnTo>
                    <a:pt x="2369566" y="493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36663" y="1256410"/>
              <a:ext cx="237997" cy="145668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6431279" y="2967939"/>
            <a:ext cx="1163320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90550" algn="ctr">
              <a:lnSpc>
                <a:spcPts val="1050"/>
              </a:lnSpc>
              <a:spcBef>
                <a:spcPts val="110"/>
              </a:spcBef>
            </a:pPr>
            <a:r>
              <a:rPr sz="950" b="1" spc="-5" dirty="0">
                <a:latin typeface="Comic Sans MS"/>
                <a:cs typeface="Comic Sans MS"/>
              </a:rPr>
              <a:t>Process-</a:t>
            </a:r>
            <a:endParaRPr sz="950">
              <a:latin typeface="Comic Sans MS"/>
              <a:cs typeface="Comic Sans MS"/>
            </a:endParaRPr>
          </a:p>
          <a:p>
            <a:pPr marL="592455" algn="ctr">
              <a:lnSpc>
                <a:spcPts val="1050"/>
              </a:lnSpc>
            </a:pPr>
            <a:r>
              <a:rPr sz="950" b="1" dirty="0">
                <a:latin typeface="Comic Sans MS"/>
                <a:cs typeface="Comic Sans MS"/>
              </a:rPr>
              <a:t>order</a:t>
            </a:r>
            <a:endParaRPr sz="950">
              <a:latin typeface="Comic Sans MS"/>
              <a:cs typeface="Comic Sans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562725" y="1076070"/>
            <a:ext cx="38735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b="1" spc="20" dirty="0">
                <a:latin typeface="Comic Sans MS"/>
                <a:cs typeface="Comic Sans MS"/>
              </a:rPr>
              <a:t>or</a:t>
            </a:r>
            <a:r>
              <a:rPr sz="1050" b="1" dirty="0">
                <a:latin typeface="Comic Sans MS"/>
                <a:cs typeface="Comic Sans MS"/>
              </a:rPr>
              <a:t>d</a:t>
            </a:r>
            <a:r>
              <a:rPr sz="1050" b="1" spc="10" dirty="0">
                <a:latin typeface="Comic Sans MS"/>
                <a:cs typeface="Comic Sans MS"/>
              </a:rPr>
              <a:t>er</a:t>
            </a:r>
            <a:endParaRPr sz="1050">
              <a:latin typeface="Comic Sans MS"/>
              <a:cs typeface="Comic Sans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004429" y="1015364"/>
            <a:ext cx="38481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b="1" spc="5" dirty="0">
                <a:latin typeface="Comic Sans MS"/>
                <a:cs typeface="Comic Sans MS"/>
              </a:rPr>
              <a:t>qu</a:t>
            </a:r>
            <a:r>
              <a:rPr sz="1050" b="1" spc="10" dirty="0">
                <a:latin typeface="Comic Sans MS"/>
                <a:cs typeface="Comic Sans MS"/>
              </a:rPr>
              <a:t>e</a:t>
            </a:r>
            <a:r>
              <a:rPr sz="1050" b="1" spc="15" dirty="0">
                <a:latin typeface="Comic Sans MS"/>
                <a:cs typeface="Comic Sans MS"/>
              </a:rPr>
              <a:t>ry</a:t>
            </a:r>
            <a:endParaRPr sz="1050">
              <a:latin typeface="Comic Sans MS"/>
              <a:cs typeface="Comic Sans MS"/>
            </a:endParaRPr>
          </a:p>
        </p:txBody>
      </p:sp>
      <p:pic>
        <p:nvPicPr>
          <p:cNvPr id="32" name="object 3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12556" y="1256664"/>
            <a:ext cx="204850" cy="145414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7547229" y="1346454"/>
            <a:ext cx="43116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b="1" spc="10" dirty="0">
                <a:latin typeface="Comic Sans MS"/>
                <a:cs typeface="Comic Sans MS"/>
              </a:rPr>
              <a:t>indent</a:t>
            </a:r>
            <a:endParaRPr sz="1050">
              <a:latin typeface="Comic Sans MS"/>
              <a:cs typeface="Comic Sans M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13243" y="1261871"/>
            <a:ext cx="127000" cy="277495"/>
          </a:xfrm>
          <a:custGeom>
            <a:avLst/>
            <a:gdLst/>
            <a:ahLst/>
            <a:cxnLst/>
            <a:rect l="l" t="t" r="r" b="b"/>
            <a:pathLst>
              <a:path w="127000" h="277494">
                <a:moveTo>
                  <a:pt x="57150" y="150367"/>
                </a:moveTo>
                <a:lnTo>
                  <a:pt x="0" y="150367"/>
                </a:lnTo>
                <a:lnTo>
                  <a:pt x="63500" y="277367"/>
                </a:lnTo>
                <a:lnTo>
                  <a:pt x="120650" y="163067"/>
                </a:lnTo>
                <a:lnTo>
                  <a:pt x="57150" y="163067"/>
                </a:lnTo>
                <a:lnTo>
                  <a:pt x="57150" y="150367"/>
                </a:lnTo>
                <a:close/>
              </a:path>
              <a:path w="127000" h="277494">
                <a:moveTo>
                  <a:pt x="69850" y="0"/>
                </a:moveTo>
                <a:lnTo>
                  <a:pt x="57150" y="0"/>
                </a:lnTo>
                <a:lnTo>
                  <a:pt x="57150" y="163067"/>
                </a:lnTo>
                <a:lnTo>
                  <a:pt x="69850" y="163067"/>
                </a:lnTo>
                <a:lnTo>
                  <a:pt x="69850" y="0"/>
                </a:lnTo>
                <a:close/>
              </a:path>
              <a:path w="127000" h="277494">
                <a:moveTo>
                  <a:pt x="127000" y="150367"/>
                </a:moveTo>
                <a:lnTo>
                  <a:pt x="69850" y="150367"/>
                </a:lnTo>
                <a:lnTo>
                  <a:pt x="69850" y="163067"/>
                </a:lnTo>
                <a:lnTo>
                  <a:pt x="120650" y="163067"/>
                </a:lnTo>
                <a:lnTo>
                  <a:pt x="127000" y="1503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8407907" y="4831562"/>
            <a:ext cx="22860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42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14800" y="2801111"/>
            <a:ext cx="3944620" cy="65278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61594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484"/>
              </a:spcBef>
            </a:pPr>
            <a:r>
              <a:rPr sz="3000" b="1" spc="-10" dirty="0">
                <a:solidFill>
                  <a:srgbClr val="0033CC"/>
                </a:solidFill>
                <a:latin typeface="Calibri"/>
                <a:cs typeface="Calibri"/>
              </a:rPr>
              <a:t>Object-Oriented</a:t>
            </a:r>
            <a:r>
              <a:rPr sz="3000" b="1" spc="-3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3000" b="1" spc="-5" dirty="0">
                <a:solidFill>
                  <a:srgbClr val="0033CC"/>
                </a:solidFill>
                <a:latin typeface="Calibri"/>
                <a:cs typeface="Calibri"/>
              </a:rPr>
              <a:t>Design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07907" y="4831562"/>
            <a:ext cx="22860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43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3111" y="426880"/>
            <a:ext cx="8465820" cy="1955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4475" marR="5080" indent="-232410">
              <a:lnSpc>
                <a:spcPct val="114399"/>
              </a:lnSpc>
              <a:spcBef>
                <a:spcPts val="100"/>
              </a:spcBef>
              <a:buFont typeface="Arial MT"/>
              <a:buChar char="•"/>
              <a:tabLst>
                <a:tab pos="245110" algn="l"/>
                <a:tab pos="6466840" algn="l"/>
              </a:tabLst>
            </a:pPr>
            <a:r>
              <a:rPr sz="2450" spc="-20" dirty="0">
                <a:latin typeface="Calibri"/>
                <a:cs typeface="Calibri"/>
              </a:rPr>
              <a:t>First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identify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various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objects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(real</a:t>
            </a:r>
            <a:r>
              <a:rPr sz="2450" spc="-4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world entities)	</a:t>
            </a:r>
            <a:r>
              <a:rPr sz="2450" spc="-5" dirty="0">
                <a:latin typeface="Calibri"/>
                <a:cs typeface="Calibri"/>
              </a:rPr>
              <a:t>occurring</a:t>
            </a:r>
            <a:r>
              <a:rPr sz="2450" spc="-6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in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the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problem:</a:t>
            </a:r>
            <a:endParaRPr sz="2450">
              <a:latin typeface="Calibri"/>
              <a:cs typeface="Calibri"/>
            </a:endParaRPr>
          </a:p>
          <a:p>
            <a:pPr marL="515620" lvl="1" indent="-192405">
              <a:lnSpc>
                <a:spcPct val="100000"/>
              </a:lnSpc>
              <a:spcBef>
                <a:spcPts val="1685"/>
              </a:spcBef>
              <a:buFont typeface="Arial MT"/>
              <a:buChar char="–"/>
              <a:tabLst>
                <a:tab pos="516255" algn="l"/>
              </a:tabLst>
            </a:pPr>
            <a:r>
              <a:rPr sz="2150" spc="5" dirty="0">
                <a:latin typeface="Calibri"/>
                <a:cs typeface="Calibri"/>
              </a:rPr>
              <a:t>Identify</a:t>
            </a:r>
            <a:r>
              <a:rPr sz="2150" spc="10" dirty="0">
                <a:latin typeface="Calibri"/>
                <a:cs typeface="Calibri"/>
              </a:rPr>
              <a:t> the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relationships</a:t>
            </a:r>
            <a:r>
              <a:rPr sz="2150" spc="-65" dirty="0">
                <a:latin typeface="Calibri"/>
                <a:cs typeface="Calibri"/>
              </a:rPr>
              <a:t> </a:t>
            </a:r>
            <a:r>
              <a:rPr sz="2150" spc="15" dirty="0">
                <a:latin typeface="Calibri"/>
                <a:cs typeface="Calibri"/>
              </a:rPr>
              <a:t>among</a:t>
            </a:r>
            <a:r>
              <a:rPr sz="2150" spc="-4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the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objects.</a:t>
            </a:r>
            <a:endParaRPr sz="2150">
              <a:latin typeface="Calibri"/>
              <a:cs typeface="Calibri"/>
            </a:endParaRPr>
          </a:p>
          <a:p>
            <a:pPr marL="515620" lvl="1" indent="-192405">
              <a:lnSpc>
                <a:spcPct val="100000"/>
              </a:lnSpc>
              <a:spcBef>
                <a:spcPts val="1620"/>
              </a:spcBef>
              <a:buFont typeface="Arial MT"/>
              <a:buChar char="–"/>
              <a:tabLst>
                <a:tab pos="516255" algn="l"/>
              </a:tabLst>
            </a:pPr>
            <a:r>
              <a:rPr sz="2150" spc="5" dirty="0">
                <a:latin typeface="Calibri"/>
                <a:cs typeface="Calibri"/>
              </a:rPr>
              <a:t>For</a:t>
            </a:r>
            <a:r>
              <a:rPr sz="2150" spc="-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example,</a:t>
            </a:r>
            <a:r>
              <a:rPr sz="2150" spc="-20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the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objects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10" dirty="0">
                <a:latin typeface="Calibri"/>
                <a:cs typeface="Calibri"/>
              </a:rPr>
              <a:t>in</a:t>
            </a:r>
            <a:r>
              <a:rPr sz="2150" dirty="0">
                <a:latin typeface="Calibri"/>
                <a:cs typeface="Calibri"/>
              </a:rPr>
              <a:t> </a:t>
            </a:r>
            <a:r>
              <a:rPr sz="2150" spc="15" dirty="0">
                <a:latin typeface="Calibri"/>
                <a:cs typeface="Calibri"/>
              </a:rPr>
              <a:t>a</a:t>
            </a:r>
            <a:r>
              <a:rPr sz="2150" spc="5" dirty="0">
                <a:latin typeface="Calibri"/>
                <a:cs typeface="Calibri"/>
              </a:rPr>
              <a:t> pay-roll</a:t>
            </a:r>
            <a:r>
              <a:rPr sz="2150" spc="-5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software</a:t>
            </a:r>
            <a:r>
              <a:rPr sz="2150" spc="-3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may</a:t>
            </a:r>
            <a:r>
              <a:rPr sz="2150" spc="-35" dirty="0">
                <a:latin typeface="Calibri"/>
                <a:cs typeface="Calibri"/>
              </a:rPr>
              <a:t> </a:t>
            </a:r>
            <a:r>
              <a:rPr sz="2150" spc="5" dirty="0">
                <a:latin typeface="Calibri"/>
                <a:cs typeface="Calibri"/>
              </a:rPr>
              <a:t>be: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5208" y="2558033"/>
            <a:ext cx="1944370" cy="1775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7640" indent="-15557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68275" algn="l"/>
              </a:tabLst>
            </a:pPr>
            <a:r>
              <a:rPr sz="1900" spc="-10" dirty="0">
                <a:latin typeface="Calibri"/>
                <a:cs typeface="Calibri"/>
              </a:rPr>
              <a:t>employees,</a:t>
            </a:r>
            <a:endParaRPr sz="1900">
              <a:latin typeface="Calibri"/>
              <a:cs typeface="Calibri"/>
            </a:endParaRPr>
          </a:p>
          <a:p>
            <a:pPr marL="167640" indent="-155575">
              <a:lnSpc>
                <a:spcPct val="100000"/>
              </a:lnSpc>
              <a:spcBef>
                <a:spcPts val="1560"/>
              </a:spcBef>
              <a:buFont typeface="Arial MT"/>
              <a:buChar char="•"/>
              <a:tabLst>
                <a:tab pos="168275" algn="l"/>
              </a:tabLst>
            </a:pPr>
            <a:r>
              <a:rPr sz="1900" spc="-10" dirty="0">
                <a:latin typeface="Calibri"/>
                <a:cs typeface="Calibri"/>
              </a:rPr>
              <a:t>managers,</a:t>
            </a:r>
            <a:endParaRPr sz="1900">
              <a:latin typeface="Calibri"/>
              <a:cs typeface="Calibri"/>
            </a:endParaRPr>
          </a:p>
          <a:p>
            <a:pPr marL="167640" indent="-155575">
              <a:lnSpc>
                <a:spcPct val="100000"/>
              </a:lnSpc>
              <a:spcBef>
                <a:spcPts val="1540"/>
              </a:spcBef>
              <a:buFont typeface="Arial MT"/>
              <a:buChar char="•"/>
              <a:tabLst>
                <a:tab pos="168275" algn="l"/>
              </a:tabLst>
            </a:pPr>
            <a:r>
              <a:rPr sz="1900" spc="-5" dirty="0">
                <a:latin typeface="Calibri"/>
                <a:cs typeface="Calibri"/>
              </a:rPr>
              <a:t>pay-roll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35" dirty="0">
                <a:latin typeface="Calibri"/>
                <a:cs typeface="Calibri"/>
              </a:rPr>
              <a:t>register,</a:t>
            </a:r>
            <a:endParaRPr sz="1900">
              <a:latin typeface="Calibri"/>
              <a:cs typeface="Calibri"/>
            </a:endParaRPr>
          </a:p>
          <a:p>
            <a:pPr marL="167640" indent="-155575">
              <a:lnSpc>
                <a:spcPct val="100000"/>
              </a:lnSpc>
              <a:spcBef>
                <a:spcPts val="1560"/>
              </a:spcBef>
              <a:buFont typeface="Arial MT"/>
              <a:buChar char="•"/>
              <a:tabLst>
                <a:tab pos="168275" algn="l"/>
              </a:tabLst>
            </a:pPr>
            <a:r>
              <a:rPr sz="1900" spc="-10" dirty="0">
                <a:latin typeface="Calibri"/>
                <a:cs typeface="Calibri"/>
              </a:rPr>
              <a:t>Departments,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etc.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18738" y="322275"/>
            <a:ext cx="428498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Object</a:t>
            </a:r>
            <a:r>
              <a:rPr sz="3000" spc="-35" dirty="0"/>
              <a:t> </a:t>
            </a:r>
            <a:r>
              <a:rPr sz="3000" spc="-15" dirty="0"/>
              <a:t>Oriented</a:t>
            </a:r>
            <a:r>
              <a:rPr sz="3000" spc="-25" dirty="0"/>
              <a:t> </a:t>
            </a:r>
            <a:r>
              <a:rPr sz="3000" spc="-5" dirty="0"/>
              <a:t>Design</a:t>
            </a:r>
            <a:r>
              <a:rPr sz="3000" spc="-15" dirty="0"/>
              <a:t> </a:t>
            </a:r>
            <a:r>
              <a:rPr sz="1200" spc="-5" dirty="0"/>
              <a:t>(CONT.)</a:t>
            </a:r>
            <a:endParaRPr sz="1200"/>
          </a:p>
        </p:txBody>
      </p:sp>
      <p:sp>
        <p:nvSpPr>
          <p:cNvPr id="5" name="object 5"/>
          <p:cNvSpPr txBox="1"/>
          <p:nvPr/>
        </p:nvSpPr>
        <p:spPr>
          <a:xfrm>
            <a:off x="8407907" y="4831562"/>
            <a:ext cx="22860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44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7929" y="608532"/>
            <a:ext cx="2269490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3840" algn="l"/>
                <a:tab pos="244475" algn="l"/>
              </a:tabLst>
            </a:pPr>
            <a:r>
              <a:rPr sz="2300" dirty="0">
                <a:latin typeface="Calibri"/>
                <a:cs typeface="Calibri"/>
              </a:rPr>
              <a:t>Object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structure: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929" y="1230579"/>
            <a:ext cx="4601210" cy="274193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23215">
              <a:lnSpc>
                <a:spcPct val="100000"/>
              </a:lnSpc>
              <a:spcBef>
                <a:spcPts val="115"/>
              </a:spcBef>
            </a:pPr>
            <a:r>
              <a:rPr sz="2100" spc="5" dirty="0">
                <a:latin typeface="Arial MT"/>
                <a:cs typeface="Arial MT"/>
              </a:rPr>
              <a:t>–</a:t>
            </a:r>
            <a:r>
              <a:rPr sz="2100" spc="-250" dirty="0">
                <a:latin typeface="Arial MT"/>
                <a:cs typeface="Arial MT"/>
              </a:rPr>
              <a:t> </a:t>
            </a:r>
            <a:r>
              <a:rPr sz="2100" spc="-10" dirty="0">
                <a:latin typeface="Calibri"/>
                <a:cs typeface="Calibri"/>
              </a:rPr>
              <a:t>Refined </a:t>
            </a:r>
            <a:r>
              <a:rPr sz="2100" spc="-15" dirty="0">
                <a:latin typeface="Calibri"/>
                <a:cs typeface="Calibri"/>
              </a:rPr>
              <a:t>to</a:t>
            </a:r>
            <a:r>
              <a:rPr sz="2100" spc="-5" dirty="0">
                <a:latin typeface="Calibri"/>
                <a:cs typeface="Calibri"/>
              </a:rPr>
              <a:t> obtain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the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detailed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design.</a:t>
            </a:r>
            <a:endParaRPr sz="2100">
              <a:latin typeface="Calibri"/>
              <a:cs typeface="Calibri"/>
            </a:endParaRPr>
          </a:p>
          <a:p>
            <a:pPr marL="243840" indent="-231775">
              <a:lnSpc>
                <a:spcPct val="100000"/>
              </a:lnSpc>
              <a:spcBef>
                <a:spcPts val="2105"/>
              </a:spcBef>
              <a:buFont typeface="Arial MT"/>
              <a:buChar char="•"/>
              <a:tabLst>
                <a:tab pos="243840" algn="l"/>
                <a:tab pos="244475" algn="l"/>
              </a:tabLst>
            </a:pPr>
            <a:r>
              <a:rPr sz="2300" spc="5" dirty="0">
                <a:latin typeface="Calibri"/>
                <a:cs typeface="Calibri"/>
              </a:rPr>
              <a:t>OOD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has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several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advantages:</a:t>
            </a:r>
            <a:endParaRPr sz="2300">
              <a:latin typeface="Calibri"/>
              <a:cs typeface="Calibri"/>
            </a:endParaRPr>
          </a:p>
          <a:p>
            <a:pPr marL="515620" lvl="1" indent="-192405">
              <a:lnSpc>
                <a:spcPct val="100000"/>
              </a:lnSpc>
              <a:spcBef>
                <a:spcPts val="2150"/>
              </a:spcBef>
              <a:buFont typeface="Arial MT"/>
              <a:buChar char="–"/>
              <a:tabLst>
                <a:tab pos="515620" algn="l"/>
              </a:tabLst>
            </a:pPr>
            <a:r>
              <a:rPr sz="2100" dirty="0">
                <a:solidFill>
                  <a:srgbClr val="0000FF"/>
                </a:solidFill>
                <a:latin typeface="Calibri"/>
                <a:cs typeface="Calibri"/>
              </a:rPr>
              <a:t>Lower</a:t>
            </a:r>
            <a:r>
              <a:rPr sz="21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00" spc="-5" dirty="0">
                <a:solidFill>
                  <a:srgbClr val="0000FF"/>
                </a:solidFill>
                <a:latin typeface="Calibri"/>
                <a:cs typeface="Calibri"/>
              </a:rPr>
              <a:t>development</a:t>
            </a:r>
            <a:r>
              <a:rPr sz="21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00" spc="-15" dirty="0">
                <a:solidFill>
                  <a:srgbClr val="0000FF"/>
                </a:solidFill>
                <a:latin typeface="Calibri"/>
                <a:cs typeface="Calibri"/>
              </a:rPr>
              <a:t>effort,</a:t>
            </a:r>
            <a:endParaRPr sz="2100">
              <a:latin typeface="Calibri"/>
              <a:cs typeface="Calibri"/>
            </a:endParaRPr>
          </a:p>
          <a:p>
            <a:pPr marL="515620" lvl="1" indent="-192405">
              <a:lnSpc>
                <a:spcPct val="100000"/>
              </a:lnSpc>
              <a:spcBef>
                <a:spcPts val="2135"/>
              </a:spcBef>
              <a:buFont typeface="Arial MT"/>
              <a:buChar char="–"/>
              <a:tabLst>
                <a:tab pos="515620" algn="l"/>
              </a:tabLst>
            </a:pPr>
            <a:r>
              <a:rPr sz="2100" dirty="0">
                <a:solidFill>
                  <a:srgbClr val="0000FF"/>
                </a:solidFill>
                <a:latin typeface="Calibri"/>
                <a:cs typeface="Calibri"/>
              </a:rPr>
              <a:t>Lower</a:t>
            </a:r>
            <a:r>
              <a:rPr sz="21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00" spc="-5" dirty="0">
                <a:solidFill>
                  <a:srgbClr val="0000FF"/>
                </a:solidFill>
                <a:latin typeface="Calibri"/>
                <a:cs typeface="Calibri"/>
              </a:rPr>
              <a:t>development</a:t>
            </a:r>
            <a:r>
              <a:rPr sz="21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0FF"/>
                </a:solidFill>
                <a:latin typeface="Calibri"/>
                <a:cs typeface="Calibri"/>
              </a:rPr>
              <a:t>time,</a:t>
            </a:r>
            <a:endParaRPr sz="2100">
              <a:latin typeface="Calibri"/>
              <a:cs typeface="Calibri"/>
            </a:endParaRPr>
          </a:p>
          <a:p>
            <a:pPr marL="515620" lvl="1" indent="-192405">
              <a:lnSpc>
                <a:spcPct val="100000"/>
              </a:lnSpc>
              <a:spcBef>
                <a:spcPts val="2140"/>
              </a:spcBef>
              <a:buFont typeface="Arial MT"/>
              <a:buChar char="–"/>
              <a:tabLst>
                <a:tab pos="515620" algn="l"/>
              </a:tabLst>
            </a:pPr>
            <a:r>
              <a:rPr sz="2100" spc="-5" dirty="0">
                <a:solidFill>
                  <a:srgbClr val="0000FF"/>
                </a:solidFill>
                <a:latin typeface="Calibri"/>
                <a:cs typeface="Calibri"/>
              </a:rPr>
              <a:t>Better</a:t>
            </a:r>
            <a:r>
              <a:rPr sz="2100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100" spc="-15" dirty="0">
                <a:solidFill>
                  <a:srgbClr val="0000FF"/>
                </a:solidFill>
                <a:latin typeface="Calibri"/>
                <a:cs typeface="Calibri"/>
              </a:rPr>
              <a:t>maintainability.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41135" y="1286255"/>
            <a:ext cx="2956560" cy="10058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90170" rIns="0" bIns="0" rtlCol="0">
            <a:spAutoFit/>
          </a:bodyPr>
          <a:lstStyle/>
          <a:p>
            <a:pPr marL="998855" marR="126364" indent="-862965">
              <a:lnSpc>
                <a:spcPts val="3150"/>
              </a:lnSpc>
              <a:spcBef>
                <a:spcPts val="710"/>
              </a:spcBef>
            </a:pP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Classical</a:t>
            </a:r>
            <a:r>
              <a:rPr sz="2800" b="1" spc="-9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0033CC"/>
                </a:solidFill>
                <a:latin typeface="Calibri"/>
                <a:cs typeface="Calibri"/>
              </a:rPr>
              <a:t>Waterfall </a:t>
            </a:r>
            <a:r>
              <a:rPr sz="2800" b="1" spc="-6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Model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48321" y="496633"/>
            <a:ext cx="2329180" cy="403225"/>
            <a:chOff x="1048321" y="496633"/>
            <a:chExt cx="2329180" cy="403225"/>
          </a:xfrm>
        </p:grpSpPr>
        <p:sp>
          <p:nvSpPr>
            <p:cNvPr id="4" name="object 4"/>
            <p:cNvSpPr/>
            <p:nvPr/>
          </p:nvSpPr>
          <p:spPr>
            <a:xfrm>
              <a:off x="1068323" y="516635"/>
              <a:ext cx="2289175" cy="363220"/>
            </a:xfrm>
            <a:custGeom>
              <a:avLst/>
              <a:gdLst/>
              <a:ahLst/>
              <a:cxnLst/>
              <a:rect l="l" t="t" r="r" b="b"/>
              <a:pathLst>
                <a:path w="2289175" h="363219">
                  <a:moveTo>
                    <a:pt x="2289048" y="0"/>
                  </a:moveTo>
                  <a:lnTo>
                    <a:pt x="0" y="0"/>
                  </a:lnTo>
                  <a:lnTo>
                    <a:pt x="0" y="362712"/>
                  </a:lnTo>
                  <a:lnTo>
                    <a:pt x="2289048" y="362712"/>
                  </a:lnTo>
                  <a:lnTo>
                    <a:pt x="2289048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68323" y="516635"/>
              <a:ext cx="2289175" cy="363220"/>
            </a:xfrm>
            <a:custGeom>
              <a:avLst/>
              <a:gdLst/>
              <a:ahLst/>
              <a:cxnLst/>
              <a:rect l="l" t="t" r="r" b="b"/>
              <a:pathLst>
                <a:path w="2289175" h="363219">
                  <a:moveTo>
                    <a:pt x="0" y="362712"/>
                  </a:moveTo>
                  <a:lnTo>
                    <a:pt x="2289048" y="362712"/>
                  </a:lnTo>
                  <a:lnTo>
                    <a:pt x="2289048" y="0"/>
                  </a:lnTo>
                  <a:lnTo>
                    <a:pt x="0" y="0"/>
                  </a:lnTo>
                  <a:lnTo>
                    <a:pt x="0" y="362712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68324" y="516635"/>
            <a:ext cx="2289175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9710">
              <a:lnSpc>
                <a:spcPts val="1980"/>
              </a:lnSpc>
            </a:pPr>
            <a:r>
              <a:rPr sz="1750" b="1" spc="10" dirty="0">
                <a:latin typeface="Comic Sans MS"/>
                <a:cs typeface="Comic Sans MS"/>
              </a:rPr>
              <a:t>Feasibility</a:t>
            </a:r>
            <a:r>
              <a:rPr sz="1750" b="1" spc="-65" dirty="0">
                <a:latin typeface="Comic Sans MS"/>
                <a:cs typeface="Comic Sans MS"/>
              </a:rPr>
              <a:t> </a:t>
            </a:r>
            <a:r>
              <a:rPr sz="1750" b="1" spc="5" dirty="0">
                <a:latin typeface="Comic Sans MS"/>
                <a:cs typeface="Comic Sans MS"/>
              </a:rPr>
              <a:t>Study</a:t>
            </a:r>
            <a:endParaRPr sz="1750">
              <a:latin typeface="Comic Sans MS"/>
              <a:cs typeface="Comic Sans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865185" y="1228153"/>
            <a:ext cx="2286635" cy="448945"/>
            <a:chOff x="1865185" y="1228153"/>
            <a:chExt cx="2286635" cy="448945"/>
          </a:xfrm>
        </p:grpSpPr>
        <p:sp>
          <p:nvSpPr>
            <p:cNvPr id="8" name="object 8"/>
            <p:cNvSpPr/>
            <p:nvPr/>
          </p:nvSpPr>
          <p:spPr>
            <a:xfrm>
              <a:off x="1885188" y="1248155"/>
              <a:ext cx="2246630" cy="408940"/>
            </a:xfrm>
            <a:custGeom>
              <a:avLst/>
              <a:gdLst/>
              <a:ahLst/>
              <a:cxnLst/>
              <a:rect l="l" t="t" r="r" b="b"/>
              <a:pathLst>
                <a:path w="2246629" h="408939">
                  <a:moveTo>
                    <a:pt x="2246376" y="0"/>
                  </a:moveTo>
                  <a:lnTo>
                    <a:pt x="0" y="0"/>
                  </a:lnTo>
                  <a:lnTo>
                    <a:pt x="0" y="408432"/>
                  </a:lnTo>
                  <a:lnTo>
                    <a:pt x="2246376" y="408432"/>
                  </a:lnTo>
                  <a:lnTo>
                    <a:pt x="224637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85188" y="1248155"/>
              <a:ext cx="2246630" cy="408940"/>
            </a:xfrm>
            <a:custGeom>
              <a:avLst/>
              <a:gdLst/>
              <a:ahLst/>
              <a:cxnLst/>
              <a:rect l="l" t="t" r="r" b="b"/>
              <a:pathLst>
                <a:path w="2246629" h="408939">
                  <a:moveTo>
                    <a:pt x="0" y="408432"/>
                  </a:moveTo>
                  <a:lnTo>
                    <a:pt x="2246376" y="408432"/>
                  </a:lnTo>
                  <a:lnTo>
                    <a:pt x="2246376" y="0"/>
                  </a:lnTo>
                  <a:lnTo>
                    <a:pt x="0" y="0"/>
                  </a:lnTo>
                  <a:lnTo>
                    <a:pt x="0" y="408432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057400" y="1209497"/>
            <a:ext cx="191198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895350" algn="l"/>
              </a:tabLst>
            </a:pPr>
            <a:r>
              <a:rPr sz="2050" spc="-10" dirty="0">
                <a:solidFill>
                  <a:srgbClr val="000000"/>
                </a:solidFill>
                <a:latin typeface="Comic Sans MS"/>
                <a:cs typeface="Comic Sans MS"/>
              </a:rPr>
              <a:t>Req.	</a:t>
            </a:r>
            <a:r>
              <a:rPr sz="2050" spc="-15" dirty="0">
                <a:solidFill>
                  <a:srgbClr val="000000"/>
                </a:solidFill>
                <a:latin typeface="Comic Sans MS"/>
                <a:cs typeface="Comic Sans MS"/>
              </a:rPr>
              <a:t>Analysis</a:t>
            </a:r>
            <a:endParaRPr sz="2050">
              <a:latin typeface="Comic Sans MS"/>
              <a:cs typeface="Comic Sans MS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5" dirty="0"/>
              <a:t>45</a:t>
            </a:fld>
            <a:endParaRPr spc="-5" dirty="0"/>
          </a:p>
        </p:txBody>
      </p:sp>
      <p:grpSp>
        <p:nvGrpSpPr>
          <p:cNvPr id="11" name="object 11"/>
          <p:cNvGrpSpPr/>
          <p:nvPr/>
        </p:nvGrpSpPr>
        <p:grpSpPr>
          <a:xfrm>
            <a:off x="2572321" y="1828609"/>
            <a:ext cx="2289810" cy="451484"/>
            <a:chOff x="2572321" y="1828609"/>
            <a:chExt cx="2289810" cy="451484"/>
          </a:xfrm>
        </p:grpSpPr>
        <p:sp>
          <p:nvSpPr>
            <p:cNvPr id="12" name="object 12"/>
            <p:cNvSpPr/>
            <p:nvPr/>
          </p:nvSpPr>
          <p:spPr>
            <a:xfrm>
              <a:off x="2592323" y="1848612"/>
              <a:ext cx="2249805" cy="411480"/>
            </a:xfrm>
            <a:custGeom>
              <a:avLst/>
              <a:gdLst/>
              <a:ahLst/>
              <a:cxnLst/>
              <a:rect l="l" t="t" r="r" b="b"/>
              <a:pathLst>
                <a:path w="2249804" h="411480">
                  <a:moveTo>
                    <a:pt x="2249424" y="0"/>
                  </a:moveTo>
                  <a:lnTo>
                    <a:pt x="0" y="0"/>
                  </a:lnTo>
                  <a:lnTo>
                    <a:pt x="0" y="411480"/>
                  </a:lnTo>
                  <a:lnTo>
                    <a:pt x="2249424" y="411480"/>
                  </a:lnTo>
                  <a:lnTo>
                    <a:pt x="224942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92323" y="1848612"/>
              <a:ext cx="2249805" cy="411480"/>
            </a:xfrm>
            <a:custGeom>
              <a:avLst/>
              <a:gdLst/>
              <a:ahLst/>
              <a:cxnLst/>
              <a:rect l="l" t="t" r="r" b="b"/>
              <a:pathLst>
                <a:path w="2249804" h="411480">
                  <a:moveTo>
                    <a:pt x="0" y="411480"/>
                  </a:moveTo>
                  <a:lnTo>
                    <a:pt x="2249424" y="411480"/>
                  </a:lnTo>
                  <a:lnTo>
                    <a:pt x="2249424" y="0"/>
                  </a:lnTo>
                  <a:lnTo>
                    <a:pt x="0" y="0"/>
                  </a:lnTo>
                  <a:lnTo>
                    <a:pt x="0" y="411480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592323" y="1848611"/>
            <a:ext cx="2249805" cy="411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4390">
              <a:lnSpc>
                <a:spcPts val="2255"/>
              </a:lnSpc>
            </a:pPr>
            <a:r>
              <a:rPr sz="2050" b="1" spc="-10" dirty="0">
                <a:latin typeface="Comic Sans MS"/>
                <a:cs typeface="Comic Sans MS"/>
              </a:rPr>
              <a:t>Design</a:t>
            </a:r>
            <a:endParaRPr sz="2050">
              <a:latin typeface="Comic Sans MS"/>
              <a:cs typeface="Comic Sans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392233" y="2459545"/>
            <a:ext cx="2286635" cy="448945"/>
            <a:chOff x="3392233" y="2459545"/>
            <a:chExt cx="2286635" cy="448945"/>
          </a:xfrm>
        </p:grpSpPr>
        <p:sp>
          <p:nvSpPr>
            <p:cNvPr id="16" name="object 16"/>
            <p:cNvSpPr/>
            <p:nvPr/>
          </p:nvSpPr>
          <p:spPr>
            <a:xfrm>
              <a:off x="3412236" y="2479547"/>
              <a:ext cx="2246630" cy="6350"/>
            </a:xfrm>
            <a:custGeom>
              <a:avLst/>
              <a:gdLst/>
              <a:ahLst/>
              <a:cxnLst/>
              <a:rect l="l" t="t" r="r" b="b"/>
              <a:pathLst>
                <a:path w="2246629" h="6350">
                  <a:moveTo>
                    <a:pt x="0" y="6095"/>
                  </a:moveTo>
                  <a:lnTo>
                    <a:pt x="2246376" y="6095"/>
                  </a:lnTo>
                  <a:lnTo>
                    <a:pt x="2246376" y="0"/>
                  </a:lnTo>
                  <a:lnTo>
                    <a:pt x="0" y="0"/>
                  </a:lnTo>
                  <a:lnTo>
                    <a:pt x="0" y="6095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412236" y="2479547"/>
              <a:ext cx="2246630" cy="408940"/>
            </a:xfrm>
            <a:custGeom>
              <a:avLst/>
              <a:gdLst/>
              <a:ahLst/>
              <a:cxnLst/>
              <a:rect l="l" t="t" r="r" b="b"/>
              <a:pathLst>
                <a:path w="2246629" h="408939">
                  <a:moveTo>
                    <a:pt x="0" y="408431"/>
                  </a:moveTo>
                  <a:lnTo>
                    <a:pt x="2246376" y="408431"/>
                  </a:lnTo>
                  <a:lnTo>
                    <a:pt x="2246376" y="0"/>
                  </a:lnTo>
                  <a:lnTo>
                    <a:pt x="0" y="0"/>
                  </a:lnTo>
                  <a:lnTo>
                    <a:pt x="0" y="408431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135501" y="2428470"/>
            <a:ext cx="795655" cy="36131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5"/>
              </a:spcBef>
            </a:pPr>
            <a:r>
              <a:rPr sz="2050" b="1" spc="-5" dirty="0">
                <a:latin typeface="Comic Sans MS"/>
                <a:cs typeface="Comic Sans MS"/>
              </a:rPr>
              <a:t>C</a:t>
            </a:r>
            <a:r>
              <a:rPr sz="2050" b="1" spc="-10" dirty="0">
                <a:latin typeface="Comic Sans MS"/>
                <a:cs typeface="Comic Sans MS"/>
              </a:rPr>
              <a:t>o</a:t>
            </a:r>
            <a:r>
              <a:rPr sz="2050" b="1" spc="-15" dirty="0">
                <a:latin typeface="Comic Sans MS"/>
                <a:cs typeface="Comic Sans MS"/>
              </a:rPr>
              <a:t>d</a:t>
            </a:r>
            <a:r>
              <a:rPr sz="2050" b="1" dirty="0">
                <a:latin typeface="Comic Sans MS"/>
                <a:cs typeface="Comic Sans MS"/>
              </a:rPr>
              <a:t>i</a:t>
            </a:r>
            <a:r>
              <a:rPr sz="2050" b="1" spc="-25" dirty="0">
                <a:latin typeface="Comic Sans MS"/>
                <a:cs typeface="Comic Sans MS"/>
              </a:rPr>
              <a:t>n</a:t>
            </a:r>
            <a:r>
              <a:rPr sz="2050" b="1" spc="-10" dirty="0">
                <a:latin typeface="Comic Sans MS"/>
                <a:cs typeface="Comic Sans MS"/>
              </a:rPr>
              <a:t>g</a:t>
            </a:r>
            <a:endParaRPr sz="2050">
              <a:latin typeface="Comic Sans MS"/>
              <a:cs typeface="Comic Sans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260913" y="3087433"/>
            <a:ext cx="2289810" cy="448945"/>
            <a:chOff x="4260913" y="3087433"/>
            <a:chExt cx="2289810" cy="448945"/>
          </a:xfrm>
        </p:grpSpPr>
        <p:sp>
          <p:nvSpPr>
            <p:cNvPr id="20" name="object 20"/>
            <p:cNvSpPr/>
            <p:nvPr/>
          </p:nvSpPr>
          <p:spPr>
            <a:xfrm>
              <a:off x="4280916" y="3107435"/>
              <a:ext cx="2249805" cy="408940"/>
            </a:xfrm>
            <a:custGeom>
              <a:avLst/>
              <a:gdLst/>
              <a:ahLst/>
              <a:cxnLst/>
              <a:rect l="l" t="t" r="r" b="b"/>
              <a:pathLst>
                <a:path w="2249804" h="408939">
                  <a:moveTo>
                    <a:pt x="2249424" y="0"/>
                  </a:moveTo>
                  <a:lnTo>
                    <a:pt x="0" y="0"/>
                  </a:lnTo>
                  <a:lnTo>
                    <a:pt x="0" y="408431"/>
                  </a:lnTo>
                  <a:lnTo>
                    <a:pt x="2249424" y="408431"/>
                  </a:lnTo>
                  <a:lnTo>
                    <a:pt x="224942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280916" y="3107435"/>
              <a:ext cx="2249805" cy="408940"/>
            </a:xfrm>
            <a:custGeom>
              <a:avLst/>
              <a:gdLst/>
              <a:ahLst/>
              <a:cxnLst/>
              <a:rect l="l" t="t" r="r" b="b"/>
              <a:pathLst>
                <a:path w="2249804" h="408939">
                  <a:moveTo>
                    <a:pt x="0" y="408431"/>
                  </a:moveTo>
                  <a:lnTo>
                    <a:pt x="2249424" y="408431"/>
                  </a:lnTo>
                  <a:lnTo>
                    <a:pt x="2249424" y="0"/>
                  </a:lnTo>
                  <a:lnTo>
                    <a:pt x="0" y="0"/>
                  </a:lnTo>
                  <a:lnTo>
                    <a:pt x="0" y="408431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280915" y="3107435"/>
            <a:ext cx="2249805" cy="408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9145">
              <a:lnSpc>
                <a:spcPts val="2255"/>
              </a:lnSpc>
            </a:pPr>
            <a:r>
              <a:rPr sz="2050" b="1" spc="-10" dirty="0">
                <a:latin typeface="Comic Sans MS"/>
                <a:cs typeface="Comic Sans MS"/>
              </a:rPr>
              <a:t>Testing</a:t>
            </a:r>
            <a:endParaRPr sz="2050">
              <a:latin typeface="Comic Sans MS"/>
              <a:cs typeface="Comic Sans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227129" y="3715321"/>
            <a:ext cx="2289810" cy="448945"/>
            <a:chOff x="5227129" y="3715321"/>
            <a:chExt cx="2289810" cy="448945"/>
          </a:xfrm>
        </p:grpSpPr>
        <p:sp>
          <p:nvSpPr>
            <p:cNvPr id="24" name="object 24"/>
            <p:cNvSpPr/>
            <p:nvPr/>
          </p:nvSpPr>
          <p:spPr>
            <a:xfrm>
              <a:off x="5247131" y="3735323"/>
              <a:ext cx="2249805" cy="408940"/>
            </a:xfrm>
            <a:custGeom>
              <a:avLst/>
              <a:gdLst/>
              <a:ahLst/>
              <a:cxnLst/>
              <a:rect l="l" t="t" r="r" b="b"/>
              <a:pathLst>
                <a:path w="2249804" h="408939">
                  <a:moveTo>
                    <a:pt x="2249423" y="0"/>
                  </a:moveTo>
                  <a:lnTo>
                    <a:pt x="0" y="0"/>
                  </a:lnTo>
                  <a:lnTo>
                    <a:pt x="0" y="408431"/>
                  </a:lnTo>
                  <a:lnTo>
                    <a:pt x="2249423" y="408431"/>
                  </a:lnTo>
                  <a:lnTo>
                    <a:pt x="2249423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247131" y="3735323"/>
              <a:ext cx="2249805" cy="408940"/>
            </a:xfrm>
            <a:custGeom>
              <a:avLst/>
              <a:gdLst/>
              <a:ahLst/>
              <a:cxnLst/>
              <a:rect l="l" t="t" r="r" b="b"/>
              <a:pathLst>
                <a:path w="2249804" h="408939">
                  <a:moveTo>
                    <a:pt x="0" y="408431"/>
                  </a:moveTo>
                  <a:lnTo>
                    <a:pt x="2249423" y="408431"/>
                  </a:lnTo>
                  <a:lnTo>
                    <a:pt x="2249423" y="0"/>
                  </a:lnTo>
                  <a:lnTo>
                    <a:pt x="0" y="0"/>
                  </a:lnTo>
                  <a:lnTo>
                    <a:pt x="0" y="408431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817234" y="3698544"/>
            <a:ext cx="1563370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b="1" spc="-10" dirty="0">
                <a:latin typeface="Comic Sans MS"/>
                <a:cs typeface="Comic Sans MS"/>
              </a:rPr>
              <a:t>M</a:t>
            </a:r>
            <a:r>
              <a:rPr sz="2050" b="1" spc="-15" dirty="0">
                <a:latin typeface="Comic Sans MS"/>
                <a:cs typeface="Comic Sans MS"/>
              </a:rPr>
              <a:t>a</a:t>
            </a:r>
            <a:r>
              <a:rPr sz="2050" b="1" spc="-10" dirty="0">
                <a:latin typeface="Comic Sans MS"/>
                <a:cs typeface="Comic Sans MS"/>
              </a:rPr>
              <a:t>i</a:t>
            </a:r>
            <a:r>
              <a:rPr sz="2050" b="1" spc="-15" dirty="0">
                <a:latin typeface="Comic Sans MS"/>
                <a:cs typeface="Comic Sans MS"/>
              </a:rPr>
              <a:t>n</a:t>
            </a:r>
            <a:r>
              <a:rPr sz="2050" b="1" spc="-10" dirty="0">
                <a:latin typeface="Comic Sans MS"/>
                <a:cs typeface="Comic Sans MS"/>
              </a:rPr>
              <a:t>t</a:t>
            </a:r>
            <a:r>
              <a:rPr sz="2050" b="1" dirty="0">
                <a:latin typeface="Comic Sans MS"/>
                <a:cs typeface="Comic Sans MS"/>
              </a:rPr>
              <a:t>e</a:t>
            </a:r>
            <a:r>
              <a:rPr sz="2050" b="1" spc="-20" dirty="0">
                <a:latin typeface="Comic Sans MS"/>
                <a:cs typeface="Comic Sans MS"/>
              </a:rPr>
              <a:t>n</a:t>
            </a:r>
            <a:r>
              <a:rPr sz="2050" b="1" spc="-15" dirty="0">
                <a:latin typeface="Comic Sans MS"/>
                <a:cs typeface="Comic Sans MS"/>
              </a:rPr>
              <a:t>a</a:t>
            </a:r>
            <a:r>
              <a:rPr sz="2050" b="1" spc="-20" dirty="0">
                <a:latin typeface="Comic Sans MS"/>
                <a:cs typeface="Comic Sans MS"/>
              </a:rPr>
              <a:t>n</a:t>
            </a:r>
            <a:r>
              <a:rPr sz="2050" b="1" spc="-5" dirty="0">
                <a:latin typeface="Comic Sans MS"/>
                <a:cs typeface="Comic Sans MS"/>
              </a:rPr>
              <a:t>ce</a:t>
            </a:r>
            <a:endParaRPr sz="2050">
              <a:latin typeface="Comic Sans MS"/>
              <a:cs typeface="Comic Sans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343655" y="731519"/>
            <a:ext cx="3571875" cy="3004185"/>
            <a:chOff x="3343655" y="731519"/>
            <a:chExt cx="3571875" cy="3004185"/>
          </a:xfrm>
        </p:grpSpPr>
        <p:sp>
          <p:nvSpPr>
            <p:cNvPr id="28" name="object 28"/>
            <p:cNvSpPr/>
            <p:nvPr/>
          </p:nvSpPr>
          <p:spPr>
            <a:xfrm>
              <a:off x="3363467" y="751331"/>
              <a:ext cx="277495" cy="3175"/>
            </a:xfrm>
            <a:custGeom>
              <a:avLst/>
              <a:gdLst/>
              <a:ahLst/>
              <a:cxnLst/>
              <a:rect l="l" t="t" r="r" b="b"/>
              <a:pathLst>
                <a:path w="277495" h="3175">
                  <a:moveTo>
                    <a:pt x="-19812" y="1523"/>
                  </a:moveTo>
                  <a:lnTo>
                    <a:pt x="297180" y="1523"/>
                  </a:lnTo>
                </a:path>
              </a:pathLst>
            </a:custGeom>
            <a:ln w="42671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581399" y="751331"/>
              <a:ext cx="119380" cy="469900"/>
            </a:xfrm>
            <a:custGeom>
              <a:avLst/>
              <a:gdLst/>
              <a:ahLst/>
              <a:cxnLst/>
              <a:rect l="l" t="t" r="r" b="b"/>
              <a:pathLst>
                <a:path w="119379" h="469900">
                  <a:moveTo>
                    <a:pt x="39624" y="350519"/>
                  </a:moveTo>
                  <a:lnTo>
                    <a:pt x="0" y="350519"/>
                  </a:lnTo>
                  <a:lnTo>
                    <a:pt x="59436" y="469391"/>
                  </a:lnTo>
                  <a:lnTo>
                    <a:pt x="108966" y="370331"/>
                  </a:lnTo>
                  <a:lnTo>
                    <a:pt x="39624" y="370331"/>
                  </a:lnTo>
                  <a:lnTo>
                    <a:pt x="39624" y="350519"/>
                  </a:lnTo>
                  <a:close/>
                </a:path>
                <a:path w="119379" h="469900">
                  <a:moveTo>
                    <a:pt x="79248" y="0"/>
                  </a:moveTo>
                  <a:lnTo>
                    <a:pt x="39624" y="0"/>
                  </a:lnTo>
                  <a:lnTo>
                    <a:pt x="39624" y="370331"/>
                  </a:lnTo>
                  <a:lnTo>
                    <a:pt x="79248" y="370331"/>
                  </a:lnTo>
                  <a:lnTo>
                    <a:pt x="79248" y="0"/>
                  </a:lnTo>
                  <a:close/>
                </a:path>
                <a:path w="119379" h="469900">
                  <a:moveTo>
                    <a:pt x="118872" y="350519"/>
                  </a:moveTo>
                  <a:lnTo>
                    <a:pt x="79248" y="350519"/>
                  </a:lnTo>
                  <a:lnTo>
                    <a:pt x="79248" y="370331"/>
                  </a:lnTo>
                  <a:lnTo>
                    <a:pt x="108966" y="370331"/>
                  </a:lnTo>
                  <a:lnTo>
                    <a:pt x="118872" y="350519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125468" y="1458467"/>
              <a:ext cx="277495" cy="0"/>
            </a:xfrm>
            <a:custGeom>
              <a:avLst/>
              <a:gdLst/>
              <a:ahLst/>
              <a:cxnLst/>
              <a:rect l="l" t="t" r="r" b="b"/>
              <a:pathLst>
                <a:path w="277495">
                  <a:moveTo>
                    <a:pt x="0" y="0"/>
                  </a:moveTo>
                  <a:lnTo>
                    <a:pt x="277368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306823" y="1458467"/>
              <a:ext cx="119380" cy="390525"/>
            </a:xfrm>
            <a:custGeom>
              <a:avLst/>
              <a:gdLst/>
              <a:ahLst/>
              <a:cxnLst/>
              <a:rect l="l" t="t" r="r" b="b"/>
              <a:pathLst>
                <a:path w="119379" h="390525">
                  <a:moveTo>
                    <a:pt x="39624" y="271271"/>
                  </a:moveTo>
                  <a:lnTo>
                    <a:pt x="0" y="271271"/>
                  </a:lnTo>
                  <a:lnTo>
                    <a:pt x="59436" y="390143"/>
                  </a:lnTo>
                  <a:lnTo>
                    <a:pt x="108966" y="291083"/>
                  </a:lnTo>
                  <a:lnTo>
                    <a:pt x="39624" y="291083"/>
                  </a:lnTo>
                  <a:lnTo>
                    <a:pt x="39624" y="271271"/>
                  </a:lnTo>
                  <a:close/>
                </a:path>
                <a:path w="119379" h="390525">
                  <a:moveTo>
                    <a:pt x="79248" y="0"/>
                  </a:moveTo>
                  <a:lnTo>
                    <a:pt x="39624" y="0"/>
                  </a:lnTo>
                  <a:lnTo>
                    <a:pt x="39624" y="291083"/>
                  </a:lnTo>
                  <a:lnTo>
                    <a:pt x="79248" y="291083"/>
                  </a:lnTo>
                  <a:lnTo>
                    <a:pt x="79248" y="0"/>
                  </a:lnTo>
                  <a:close/>
                </a:path>
                <a:path w="119379" h="390525">
                  <a:moveTo>
                    <a:pt x="118872" y="271271"/>
                  </a:moveTo>
                  <a:lnTo>
                    <a:pt x="79248" y="271271"/>
                  </a:lnTo>
                  <a:lnTo>
                    <a:pt x="79248" y="291083"/>
                  </a:lnTo>
                  <a:lnTo>
                    <a:pt x="108966" y="291083"/>
                  </a:lnTo>
                  <a:lnTo>
                    <a:pt x="118872" y="271271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847844" y="2086355"/>
              <a:ext cx="280670" cy="3175"/>
            </a:xfrm>
            <a:custGeom>
              <a:avLst/>
              <a:gdLst/>
              <a:ahLst/>
              <a:cxnLst/>
              <a:rect l="l" t="t" r="r" b="b"/>
              <a:pathLst>
                <a:path w="280670" h="3175">
                  <a:moveTo>
                    <a:pt x="-19812" y="1524"/>
                  </a:moveTo>
                  <a:lnTo>
                    <a:pt x="300227" y="1524"/>
                  </a:lnTo>
                </a:path>
              </a:pathLst>
            </a:custGeom>
            <a:ln w="42672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029200" y="2086355"/>
              <a:ext cx="119380" cy="393700"/>
            </a:xfrm>
            <a:custGeom>
              <a:avLst/>
              <a:gdLst/>
              <a:ahLst/>
              <a:cxnLst/>
              <a:rect l="l" t="t" r="r" b="b"/>
              <a:pathLst>
                <a:path w="119379" h="393700">
                  <a:moveTo>
                    <a:pt x="39624" y="274319"/>
                  </a:moveTo>
                  <a:lnTo>
                    <a:pt x="0" y="274319"/>
                  </a:lnTo>
                  <a:lnTo>
                    <a:pt x="59436" y="393192"/>
                  </a:lnTo>
                  <a:lnTo>
                    <a:pt x="108966" y="294131"/>
                  </a:lnTo>
                  <a:lnTo>
                    <a:pt x="39624" y="294131"/>
                  </a:lnTo>
                  <a:lnTo>
                    <a:pt x="39624" y="274319"/>
                  </a:lnTo>
                  <a:close/>
                </a:path>
                <a:path w="119379" h="393700">
                  <a:moveTo>
                    <a:pt x="79248" y="0"/>
                  </a:moveTo>
                  <a:lnTo>
                    <a:pt x="39624" y="0"/>
                  </a:lnTo>
                  <a:lnTo>
                    <a:pt x="39624" y="294131"/>
                  </a:lnTo>
                  <a:lnTo>
                    <a:pt x="79248" y="294131"/>
                  </a:lnTo>
                  <a:lnTo>
                    <a:pt x="79248" y="0"/>
                  </a:lnTo>
                  <a:close/>
                </a:path>
                <a:path w="119379" h="393700">
                  <a:moveTo>
                    <a:pt x="118872" y="274319"/>
                  </a:moveTo>
                  <a:lnTo>
                    <a:pt x="79248" y="274319"/>
                  </a:lnTo>
                  <a:lnTo>
                    <a:pt x="79248" y="294131"/>
                  </a:lnTo>
                  <a:lnTo>
                    <a:pt x="108966" y="294131"/>
                  </a:lnTo>
                  <a:lnTo>
                    <a:pt x="118872" y="274319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649467" y="2715768"/>
              <a:ext cx="303530" cy="0"/>
            </a:xfrm>
            <a:custGeom>
              <a:avLst/>
              <a:gdLst/>
              <a:ahLst/>
              <a:cxnLst/>
              <a:rect l="l" t="t" r="r" b="b"/>
              <a:pathLst>
                <a:path w="303529">
                  <a:moveTo>
                    <a:pt x="0" y="0"/>
                  </a:moveTo>
                  <a:lnTo>
                    <a:pt x="303275" y="0"/>
                  </a:lnTo>
                </a:path>
              </a:pathLst>
            </a:custGeom>
            <a:ln w="42672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832982" y="2714116"/>
              <a:ext cx="119380" cy="393700"/>
            </a:xfrm>
            <a:custGeom>
              <a:avLst/>
              <a:gdLst/>
              <a:ahLst/>
              <a:cxnLst/>
              <a:rect l="l" t="t" r="r" b="b"/>
              <a:pathLst>
                <a:path w="119379" h="393700">
                  <a:moveTo>
                    <a:pt x="39597" y="274616"/>
                  </a:moveTo>
                  <a:lnTo>
                    <a:pt x="0" y="274955"/>
                  </a:lnTo>
                  <a:lnTo>
                    <a:pt x="60325" y="393319"/>
                  </a:lnTo>
                  <a:lnTo>
                    <a:pt x="108844" y="294386"/>
                  </a:lnTo>
                  <a:lnTo>
                    <a:pt x="39750" y="294386"/>
                  </a:lnTo>
                  <a:lnTo>
                    <a:pt x="39597" y="274616"/>
                  </a:lnTo>
                  <a:close/>
                </a:path>
                <a:path w="119379" h="393700">
                  <a:moveTo>
                    <a:pt x="79220" y="274277"/>
                  </a:moveTo>
                  <a:lnTo>
                    <a:pt x="39597" y="274616"/>
                  </a:lnTo>
                  <a:lnTo>
                    <a:pt x="39750" y="294386"/>
                  </a:lnTo>
                  <a:lnTo>
                    <a:pt x="79375" y="294131"/>
                  </a:lnTo>
                  <a:lnTo>
                    <a:pt x="79220" y="274277"/>
                  </a:lnTo>
                  <a:close/>
                </a:path>
                <a:path w="119379" h="393700">
                  <a:moveTo>
                    <a:pt x="118871" y="273938"/>
                  </a:moveTo>
                  <a:lnTo>
                    <a:pt x="79220" y="274277"/>
                  </a:lnTo>
                  <a:lnTo>
                    <a:pt x="79375" y="294131"/>
                  </a:lnTo>
                  <a:lnTo>
                    <a:pt x="39750" y="294386"/>
                  </a:lnTo>
                  <a:lnTo>
                    <a:pt x="108844" y="294386"/>
                  </a:lnTo>
                  <a:lnTo>
                    <a:pt x="118871" y="273938"/>
                  </a:lnTo>
                  <a:close/>
                </a:path>
                <a:path w="119379" h="393700">
                  <a:moveTo>
                    <a:pt x="77088" y="0"/>
                  </a:moveTo>
                  <a:lnTo>
                    <a:pt x="37464" y="254"/>
                  </a:lnTo>
                  <a:lnTo>
                    <a:pt x="39597" y="274616"/>
                  </a:lnTo>
                  <a:lnTo>
                    <a:pt x="79220" y="274277"/>
                  </a:lnTo>
                  <a:lnTo>
                    <a:pt x="77088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533388" y="3265931"/>
              <a:ext cx="320040" cy="0"/>
            </a:xfrm>
            <a:custGeom>
              <a:avLst/>
              <a:gdLst/>
              <a:ahLst/>
              <a:cxnLst/>
              <a:rect l="l" t="t" r="r" b="b"/>
              <a:pathLst>
                <a:path w="320040">
                  <a:moveTo>
                    <a:pt x="0" y="0"/>
                  </a:moveTo>
                  <a:lnTo>
                    <a:pt x="320039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796277" y="3265804"/>
              <a:ext cx="119380" cy="469900"/>
            </a:xfrm>
            <a:custGeom>
              <a:avLst/>
              <a:gdLst/>
              <a:ahLst/>
              <a:cxnLst/>
              <a:rect l="l" t="t" r="r" b="b"/>
              <a:pathLst>
                <a:path w="119379" h="469900">
                  <a:moveTo>
                    <a:pt x="39621" y="350774"/>
                  </a:moveTo>
                  <a:lnTo>
                    <a:pt x="0" y="351028"/>
                  </a:lnTo>
                  <a:lnTo>
                    <a:pt x="60198" y="469519"/>
                  </a:lnTo>
                  <a:lnTo>
                    <a:pt x="108874" y="370586"/>
                  </a:lnTo>
                  <a:lnTo>
                    <a:pt x="39750" y="370586"/>
                  </a:lnTo>
                  <a:lnTo>
                    <a:pt x="39621" y="350774"/>
                  </a:lnTo>
                  <a:close/>
                </a:path>
                <a:path w="119379" h="469900">
                  <a:moveTo>
                    <a:pt x="79245" y="350520"/>
                  </a:moveTo>
                  <a:lnTo>
                    <a:pt x="39621" y="350774"/>
                  </a:lnTo>
                  <a:lnTo>
                    <a:pt x="39750" y="370586"/>
                  </a:lnTo>
                  <a:lnTo>
                    <a:pt x="79375" y="370332"/>
                  </a:lnTo>
                  <a:lnTo>
                    <a:pt x="79245" y="350520"/>
                  </a:lnTo>
                  <a:close/>
                </a:path>
                <a:path w="119379" h="469900">
                  <a:moveTo>
                    <a:pt x="118872" y="350266"/>
                  </a:moveTo>
                  <a:lnTo>
                    <a:pt x="79245" y="350520"/>
                  </a:lnTo>
                  <a:lnTo>
                    <a:pt x="79375" y="370332"/>
                  </a:lnTo>
                  <a:lnTo>
                    <a:pt x="39750" y="370586"/>
                  </a:lnTo>
                  <a:lnTo>
                    <a:pt x="108874" y="370586"/>
                  </a:lnTo>
                  <a:lnTo>
                    <a:pt x="118872" y="350266"/>
                  </a:lnTo>
                  <a:close/>
                </a:path>
                <a:path w="119379" h="469900">
                  <a:moveTo>
                    <a:pt x="76962" y="0"/>
                  </a:moveTo>
                  <a:lnTo>
                    <a:pt x="37338" y="254"/>
                  </a:lnTo>
                  <a:lnTo>
                    <a:pt x="39621" y="350774"/>
                  </a:lnTo>
                  <a:lnTo>
                    <a:pt x="79245" y="350520"/>
                  </a:lnTo>
                  <a:lnTo>
                    <a:pt x="76962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400043" y="2485643"/>
              <a:ext cx="2249805" cy="408940"/>
            </a:xfrm>
            <a:custGeom>
              <a:avLst/>
              <a:gdLst/>
              <a:ahLst/>
              <a:cxnLst/>
              <a:rect l="l" t="t" r="r" b="b"/>
              <a:pathLst>
                <a:path w="2249804" h="408939">
                  <a:moveTo>
                    <a:pt x="2249424" y="0"/>
                  </a:moveTo>
                  <a:lnTo>
                    <a:pt x="0" y="0"/>
                  </a:lnTo>
                  <a:lnTo>
                    <a:pt x="0" y="408431"/>
                  </a:lnTo>
                  <a:lnTo>
                    <a:pt x="2249424" y="408431"/>
                  </a:lnTo>
                  <a:lnTo>
                    <a:pt x="2249424" y="0"/>
                  </a:lnTo>
                  <a:close/>
                </a:path>
              </a:pathLst>
            </a:custGeom>
            <a:solidFill>
              <a:srgbClr val="99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400043" y="2485643"/>
              <a:ext cx="2249805" cy="408940"/>
            </a:xfrm>
            <a:custGeom>
              <a:avLst/>
              <a:gdLst/>
              <a:ahLst/>
              <a:cxnLst/>
              <a:rect l="l" t="t" r="r" b="b"/>
              <a:pathLst>
                <a:path w="2249804" h="408939">
                  <a:moveTo>
                    <a:pt x="0" y="408431"/>
                  </a:moveTo>
                  <a:lnTo>
                    <a:pt x="2249424" y="408431"/>
                  </a:lnTo>
                  <a:lnTo>
                    <a:pt x="2249424" y="0"/>
                  </a:lnTo>
                  <a:lnTo>
                    <a:pt x="0" y="0"/>
                  </a:lnTo>
                  <a:lnTo>
                    <a:pt x="0" y="408431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113021" y="2446985"/>
            <a:ext cx="82105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b="1" spc="-10" dirty="0">
                <a:latin typeface="Comic Sans MS"/>
                <a:cs typeface="Comic Sans MS"/>
              </a:rPr>
              <a:t>Coding</a:t>
            </a:r>
            <a:endParaRPr sz="205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7578" y="266522"/>
            <a:ext cx="399796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/>
              <a:t>Coding</a:t>
            </a:r>
            <a:r>
              <a:rPr sz="3200" spc="-5" dirty="0"/>
              <a:t> and</a:t>
            </a:r>
            <a:r>
              <a:rPr sz="3200" spc="-10" dirty="0"/>
              <a:t> </a:t>
            </a:r>
            <a:r>
              <a:rPr sz="3200" spc="-5" dirty="0"/>
              <a:t>Unit</a:t>
            </a:r>
            <a:r>
              <a:rPr sz="3200" dirty="0"/>
              <a:t> </a:t>
            </a:r>
            <a:r>
              <a:rPr sz="3200" spc="-55" dirty="0"/>
              <a:t>Testing</a:t>
            </a:r>
            <a:endParaRPr sz="32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5" dirty="0"/>
              <a:t>46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32968" y="512521"/>
            <a:ext cx="323596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4475" algn="l"/>
              </a:tabLst>
            </a:pPr>
            <a:r>
              <a:rPr sz="3200" spc="-10" dirty="0">
                <a:latin typeface="Calibri"/>
                <a:cs typeface="Calibri"/>
              </a:rPr>
              <a:t>During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this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phase: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3864" y="1266189"/>
            <a:ext cx="7313295" cy="28936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492625" algn="l"/>
              </a:tabLst>
            </a:pPr>
            <a:r>
              <a:rPr sz="2800" spc="-15" dirty="0">
                <a:latin typeface="Arial MT"/>
                <a:cs typeface="Arial MT"/>
              </a:rPr>
              <a:t>–</a:t>
            </a:r>
            <a:r>
              <a:rPr sz="2800" spc="-15" dirty="0">
                <a:latin typeface="Calibri"/>
                <a:cs typeface="Calibri"/>
              </a:rPr>
              <a:t>Each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module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design</a:t>
            </a:r>
            <a:r>
              <a:rPr sz="2800" dirty="0">
                <a:latin typeface="Calibri"/>
                <a:cs typeface="Calibri"/>
              </a:rPr>
              <a:t> is	</a:t>
            </a:r>
            <a:r>
              <a:rPr sz="2800" spc="-10" dirty="0">
                <a:latin typeface="Calibri"/>
                <a:cs typeface="Calibri"/>
              </a:rPr>
              <a:t>coded,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45"/>
              </a:spcBef>
            </a:pPr>
            <a:r>
              <a:rPr sz="2800" spc="-10" dirty="0">
                <a:latin typeface="Arial MT"/>
                <a:cs typeface="Arial MT"/>
              </a:rPr>
              <a:t>–</a:t>
            </a:r>
            <a:r>
              <a:rPr sz="2800" spc="-10" dirty="0">
                <a:latin typeface="Calibri"/>
                <a:cs typeface="Calibri"/>
              </a:rPr>
              <a:t>Each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module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5" dirty="0">
                <a:latin typeface="Calibri"/>
                <a:cs typeface="Calibri"/>
              </a:rPr>
              <a:t>is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unit </a:t>
            </a:r>
            <a:r>
              <a:rPr sz="2800" spc="-10" dirty="0">
                <a:latin typeface="Calibri"/>
                <a:cs typeface="Calibri"/>
              </a:rPr>
              <a:t>tested</a:t>
            </a:r>
            <a:endParaRPr sz="2800">
              <a:latin typeface="Calibri"/>
              <a:cs typeface="Calibri"/>
            </a:endParaRPr>
          </a:p>
          <a:p>
            <a:pPr marL="478790" indent="-156210">
              <a:lnSpc>
                <a:spcPct val="100000"/>
              </a:lnSpc>
              <a:spcBef>
                <a:spcPts val="2010"/>
              </a:spcBef>
              <a:buFont typeface="Arial MT"/>
              <a:buChar char="•"/>
              <a:tabLst>
                <a:tab pos="479425" algn="l"/>
              </a:tabLst>
            </a:pPr>
            <a:r>
              <a:rPr sz="2400" spc="-5" dirty="0">
                <a:latin typeface="Calibri"/>
                <a:cs typeface="Calibri"/>
              </a:rPr>
              <a:t>That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is,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tested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independently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alone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unit,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 marL="478790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latin typeface="Calibri"/>
                <a:cs typeface="Calibri"/>
              </a:rPr>
              <a:t>debugged.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55"/>
              </a:spcBef>
            </a:pPr>
            <a:r>
              <a:rPr sz="2800" spc="-10" dirty="0">
                <a:latin typeface="Arial MT"/>
                <a:cs typeface="Arial MT"/>
              </a:rPr>
              <a:t>–</a:t>
            </a:r>
            <a:r>
              <a:rPr sz="2800" spc="-10" dirty="0">
                <a:latin typeface="Calibri"/>
                <a:cs typeface="Calibri"/>
              </a:rPr>
              <a:t>Each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module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5" dirty="0">
                <a:latin typeface="Calibri"/>
                <a:cs typeface="Calibri"/>
              </a:rPr>
              <a:t>is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documented.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67400" y="1679447"/>
            <a:ext cx="3200400" cy="652780"/>
          </a:xfrm>
          <a:custGeom>
            <a:avLst/>
            <a:gdLst/>
            <a:ahLst/>
            <a:cxnLst/>
            <a:rect l="l" t="t" r="r" b="b"/>
            <a:pathLst>
              <a:path w="3200400" h="652780">
                <a:moveTo>
                  <a:pt x="3200400" y="0"/>
                </a:moveTo>
                <a:lnTo>
                  <a:pt x="0" y="0"/>
                </a:lnTo>
                <a:lnTo>
                  <a:pt x="0" y="652271"/>
                </a:lnTo>
                <a:lnTo>
                  <a:pt x="3200400" y="652271"/>
                </a:lnTo>
                <a:lnTo>
                  <a:pt x="32004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10985" y="1543253"/>
            <a:ext cx="2712085" cy="85344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875030" marR="5080" indent="-862965">
              <a:lnSpc>
                <a:spcPts val="3150"/>
              </a:lnSpc>
              <a:spcBef>
                <a:spcPts val="390"/>
              </a:spcBef>
            </a:pPr>
            <a:r>
              <a:rPr sz="2800" dirty="0"/>
              <a:t>Classical</a:t>
            </a:r>
            <a:r>
              <a:rPr sz="2800" spc="-90" dirty="0"/>
              <a:t> </a:t>
            </a:r>
            <a:r>
              <a:rPr sz="2800" spc="-20" dirty="0"/>
              <a:t>Waterfall </a:t>
            </a:r>
            <a:r>
              <a:rPr sz="2800" spc="-620" dirty="0"/>
              <a:t> </a:t>
            </a:r>
            <a:r>
              <a:rPr sz="2800" dirty="0"/>
              <a:t>Model</a:t>
            </a:r>
            <a:endParaRPr sz="2800"/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5" dirty="0"/>
              <a:t>47</a:t>
            </a:fld>
            <a:endParaRPr spc="-5" dirty="0"/>
          </a:p>
        </p:txBody>
      </p:sp>
      <p:grpSp>
        <p:nvGrpSpPr>
          <p:cNvPr id="4" name="object 4"/>
          <p:cNvGrpSpPr/>
          <p:nvPr/>
        </p:nvGrpSpPr>
        <p:grpSpPr>
          <a:xfrm>
            <a:off x="1286065" y="600265"/>
            <a:ext cx="2329180" cy="403225"/>
            <a:chOff x="1286065" y="600265"/>
            <a:chExt cx="2329180" cy="403225"/>
          </a:xfrm>
        </p:grpSpPr>
        <p:sp>
          <p:nvSpPr>
            <p:cNvPr id="5" name="object 5"/>
            <p:cNvSpPr/>
            <p:nvPr/>
          </p:nvSpPr>
          <p:spPr>
            <a:xfrm>
              <a:off x="1306067" y="620267"/>
              <a:ext cx="2289175" cy="363220"/>
            </a:xfrm>
            <a:custGeom>
              <a:avLst/>
              <a:gdLst/>
              <a:ahLst/>
              <a:cxnLst/>
              <a:rect l="l" t="t" r="r" b="b"/>
              <a:pathLst>
                <a:path w="2289175" h="363219">
                  <a:moveTo>
                    <a:pt x="2289048" y="0"/>
                  </a:moveTo>
                  <a:lnTo>
                    <a:pt x="0" y="0"/>
                  </a:lnTo>
                  <a:lnTo>
                    <a:pt x="0" y="362712"/>
                  </a:lnTo>
                  <a:lnTo>
                    <a:pt x="2289048" y="362712"/>
                  </a:lnTo>
                  <a:lnTo>
                    <a:pt x="2289048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06067" y="620267"/>
              <a:ext cx="2289175" cy="363220"/>
            </a:xfrm>
            <a:custGeom>
              <a:avLst/>
              <a:gdLst/>
              <a:ahLst/>
              <a:cxnLst/>
              <a:rect l="l" t="t" r="r" b="b"/>
              <a:pathLst>
                <a:path w="2289175" h="363219">
                  <a:moveTo>
                    <a:pt x="0" y="362712"/>
                  </a:moveTo>
                  <a:lnTo>
                    <a:pt x="2289048" y="362712"/>
                  </a:lnTo>
                  <a:lnTo>
                    <a:pt x="2289048" y="0"/>
                  </a:lnTo>
                  <a:lnTo>
                    <a:pt x="0" y="0"/>
                  </a:lnTo>
                  <a:lnTo>
                    <a:pt x="0" y="362712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06067" y="620267"/>
            <a:ext cx="2289175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1615">
              <a:lnSpc>
                <a:spcPts val="1985"/>
              </a:lnSpc>
            </a:pPr>
            <a:r>
              <a:rPr sz="1750" b="1" spc="5" dirty="0">
                <a:latin typeface="Comic Sans MS"/>
                <a:cs typeface="Comic Sans MS"/>
              </a:rPr>
              <a:t>Feasibility</a:t>
            </a:r>
            <a:r>
              <a:rPr sz="1750" b="1" spc="-40" dirty="0">
                <a:latin typeface="Comic Sans MS"/>
                <a:cs typeface="Comic Sans MS"/>
              </a:rPr>
              <a:t> </a:t>
            </a:r>
            <a:r>
              <a:rPr sz="1750" b="1" spc="5" dirty="0">
                <a:latin typeface="Comic Sans MS"/>
                <a:cs typeface="Comic Sans MS"/>
              </a:rPr>
              <a:t>Study</a:t>
            </a:r>
            <a:endParaRPr sz="1750">
              <a:latin typeface="Comic Sans MS"/>
              <a:cs typeface="Comic Sans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105977" y="1334833"/>
            <a:ext cx="2286635" cy="445770"/>
            <a:chOff x="2105977" y="1334833"/>
            <a:chExt cx="2286635" cy="445770"/>
          </a:xfrm>
        </p:grpSpPr>
        <p:sp>
          <p:nvSpPr>
            <p:cNvPr id="9" name="object 9"/>
            <p:cNvSpPr/>
            <p:nvPr/>
          </p:nvSpPr>
          <p:spPr>
            <a:xfrm>
              <a:off x="2125979" y="1354835"/>
              <a:ext cx="2246630" cy="405765"/>
            </a:xfrm>
            <a:custGeom>
              <a:avLst/>
              <a:gdLst/>
              <a:ahLst/>
              <a:cxnLst/>
              <a:rect l="l" t="t" r="r" b="b"/>
              <a:pathLst>
                <a:path w="2246629" h="405764">
                  <a:moveTo>
                    <a:pt x="2246375" y="0"/>
                  </a:moveTo>
                  <a:lnTo>
                    <a:pt x="0" y="0"/>
                  </a:lnTo>
                  <a:lnTo>
                    <a:pt x="0" y="405384"/>
                  </a:lnTo>
                  <a:lnTo>
                    <a:pt x="2246375" y="405384"/>
                  </a:lnTo>
                  <a:lnTo>
                    <a:pt x="224637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125979" y="1354835"/>
              <a:ext cx="2246630" cy="405765"/>
            </a:xfrm>
            <a:custGeom>
              <a:avLst/>
              <a:gdLst/>
              <a:ahLst/>
              <a:cxnLst/>
              <a:rect l="l" t="t" r="r" b="b"/>
              <a:pathLst>
                <a:path w="2246629" h="405764">
                  <a:moveTo>
                    <a:pt x="0" y="405384"/>
                  </a:moveTo>
                  <a:lnTo>
                    <a:pt x="2246375" y="405384"/>
                  </a:lnTo>
                  <a:lnTo>
                    <a:pt x="2246375" y="0"/>
                  </a:lnTo>
                  <a:lnTo>
                    <a:pt x="0" y="0"/>
                  </a:lnTo>
                  <a:lnTo>
                    <a:pt x="0" y="405384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296414" y="1314703"/>
            <a:ext cx="191198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894715" algn="l"/>
              </a:tabLst>
            </a:pPr>
            <a:r>
              <a:rPr sz="2050" b="1" spc="-10" dirty="0">
                <a:latin typeface="Comic Sans MS"/>
                <a:cs typeface="Comic Sans MS"/>
              </a:rPr>
              <a:t>Req.	</a:t>
            </a:r>
            <a:r>
              <a:rPr sz="2050" b="1" spc="-15" dirty="0">
                <a:latin typeface="Comic Sans MS"/>
                <a:cs typeface="Comic Sans MS"/>
              </a:rPr>
              <a:t>Analysis</a:t>
            </a:r>
            <a:endParaRPr sz="2050">
              <a:latin typeface="Comic Sans MS"/>
              <a:cs typeface="Comic Sans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813113" y="1935289"/>
            <a:ext cx="2286635" cy="448945"/>
            <a:chOff x="2813113" y="1935289"/>
            <a:chExt cx="2286635" cy="448945"/>
          </a:xfrm>
        </p:grpSpPr>
        <p:sp>
          <p:nvSpPr>
            <p:cNvPr id="13" name="object 13"/>
            <p:cNvSpPr/>
            <p:nvPr/>
          </p:nvSpPr>
          <p:spPr>
            <a:xfrm>
              <a:off x="2833116" y="1955291"/>
              <a:ext cx="2246630" cy="408940"/>
            </a:xfrm>
            <a:custGeom>
              <a:avLst/>
              <a:gdLst/>
              <a:ahLst/>
              <a:cxnLst/>
              <a:rect l="l" t="t" r="r" b="b"/>
              <a:pathLst>
                <a:path w="2246629" h="408939">
                  <a:moveTo>
                    <a:pt x="2246376" y="0"/>
                  </a:moveTo>
                  <a:lnTo>
                    <a:pt x="0" y="0"/>
                  </a:lnTo>
                  <a:lnTo>
                    <a:pt x="0" y="408431"/>
                  </a:lnTo>
                  <a:lnTo>
                    <a:pt x="2246376" y="408431"/>
                  </a:lnTo>
                  <a:lnTo>
                    <a:pt x="224637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33116" y="1955291"/>
              <a:ext cx="2246630" cy="408940"/>
            </a:xfrm>
            <a:custGeom>
              <a:avLst/>
              <a:gdLst/>
              <a:ahLst/>
              <a:cxnLst/>
              <a:rect l="l" t="t" r="r" b="b"/>
              <a:pathLst>
                <a:path w="2246629" h="408939">
                  <a:moveTo>
                    <a:pt x="0" y="408431"/>
                  </a:moveTo>
                  <a:lnTo>
                    <a:pt x="2246376" y="408431"/>
                  </a:lnTo>
                  <a:lnTo>
                    <a:pt x="2246376" y="0"/>
                  </a:lnTo>
                  <a:lnTo>
                    <a:pt x="0" y="0"/>
                  </a:lnTo>
                  <a:lnTo>
                    <a:pt x="0" y="408431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833116" y="1955291"/>
            <a:ext cx="2246630" cy="408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2485">
              <a:lnSpc>
                <a:spcPts val="2235"/>
              </a:lnSpc>
            </a:pPr>
            <a:r>
              <a:rPr sz="2050" b="1" spc="-10" dirty="0">
                <a:latin typeface="Comic Sans MS"/>
                <a:cs typeface="Comic Sans MS"/>
              </a:rPr>
              <a:t>Design</a:t>
            </a:r>
            <a:endParaRPr sz="2050">
              <a:latin typeface="Comic Sans MS"/>
              <a:cs typeface="Comic Sans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629977" y="2566225"/>
            <a:ext cx="2286635" cy="445770"/>
            <a:chOff x="3629977" y="2566225"/>
            <a:chExt cx="2286635" cy="445770"/>
          </a:xfrm>
        </p:grpSpPr>
        <p:sp>
          <p:nvSpPr>
            <p:cNvPr id="17" name="object 17"/>
            <p:cNvSpPr/>
            <p:nvPr/>
          </p:nvSpPr>
          <p:spPr>
            <a:xfrm>
              <a:off x="3649980" y="2586228"/>
              <a:ext cx="2246630" cy="405765"/>
            </a:xfrm>
            <a:custGeom>
              <a:avLst/>
              <a:gdLst/>
              <a:ahLst/>
              <a:cxnLst/>
              <a:rect l="l" t="t" r="r" b="b"/>
              <a:pathLst>
                <a:path w="2246629" h="405764">
                  <a:moveTo>
                    <a:pt x="2246376" y="0"/>
                  </a:moveTo>
                  <a:lnTo>
                    <a:pt x="0" y="0"/>
                  </a:lnTo>
                  <a:lnTo>
                    <a:pt x="0" y="405384"/>
                  </a:lnTo>
                  <a:lnTo>
                    <a:pt x="2246376" y="405384"/>
                  </a:lnTo>
                  <a:lnTo>
                    <a:pt x="224637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49980" y="2586228"/>
              <a:ext cx="2246630" cy="405765"/>
            </a:xfrm>
            <a:custGeom>
              <a:avLst/>
              <a:gdLst/>
              <a:ahLst/>
              <a:cxnLst/>
              <a:rect l="l" t="t" r="r" b="b"/>
              <a:pathLst>
                <a:path w="2246629" h="405764">
                  <a:moveTo>
                    <a:pt x="0" y="405384"/>
                  </a:moveTo>
                  <a:lnTo>
                    <a:pt x="2246376" y="405384"/>
                  </a:lnTo>
                  <a:lnTo>
                    <a:pt x="2246376" y="0"/>
                  </a:lnTo>
                  <a:lnTo>
                    <a:pt x="0" y="0"/>
                  </a:lnTo>
                  <a:lnTo>
                    <a:pt x="0" y="405384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361815" y="2546730"/>
            <a:ext cx="82105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b="1" spc="-5" dirty="0">
                <a:latin typeface="Comic Sans MS"/>
                <a:cs typeface="Comic Sans MS"/>
              </a:rPr>
              <a:t>C</a:t>
            </a:r>
            <a:r>
              <a:rPr sz="2050" b="1" spc="-10" dirty="0">
                <a:latin typeface="Comic Sans MS"/>
                <a:cs typeface="Comic Sans MS"/>
              </a:rPr>
              <a:t>o</a:t>
            </a:r>
            <a:r>
              <a:rPr sz="2050" b="1" spc="-15" dirty="0">
                <a:latin typeface="Comic Sans MS"/>
                <a:cs typeface="Comic Sans MS"/>
              </a:rPr>
              <a:t>d</a:t>
            </a:r>
            <a:r>
              <a:rPr sz="2050" b="1" dirty="0">
                <a:latin typeface="Comic Sans MS"/>
                <a:cs typeface="Comic Sans MS"/>
              </a:rPr>
              <a:t>i</a:t>
            </a:r>
            <a:r>
              <a:rPr sz="2050" b="1" spc="-25" dirty="0">
                <a:latin typeface="Comic Sans MS"/>
                <a:cs typeface="Comic Sans MS"/>
              </a:rPr>
              <a:t>n</a:t>
            </a:r>
            <a:r>
              <a:rPr sz="2050" b="1" spc="-10" dirty="0">
                <a:latin typeface="Comic Sans MS"/>
                <a:cs typeface="Comic Sans MS"/>
              </a:rPr>
              <a:t>g</a:t>
            </a:r>
            <a:endParaRPr sz="2050">
              <a:latin typeface="Comic Sans MS"/>
              <a:cs typeface="Comic Sans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521708" y="3214116"/>
            <a:ext cx="2249805" cy="405765"/>
          </a:xfrm>
          <a:custGeom>
            <a:avLst/>
            <a:gdLst/>
            <a:ahLst/>
            <a:cxnLst/>
            <a:rect l="l" t="t" r="r" b="b"/>
            <a:pathLst>
              <a:path w="2249804" h="405764">
                <a:moveTo>
                  <a:pt x="0" y="405384"/>
                </a:moveTo>
                <a:lnTo>
                  <a:pt x="2249424" y="405384"/>
                </a:lnTo>
                <a:lnTo>
                  <a:pt x="2249424" y="0"/>
                </a:lnTo>
                <a:lnTo>
                  <a:pt x="0" y="0"/>
                </a:lnTo>
                <a:lnTo>
                  <a:pt x="0" y="405384"/>
                </a:lnTo>
                <a:close/>
              </a:path>
            </a:pathLst>
          </a:custGeom>
          <a:ln w="39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299583" y="3160543"/>
            <a:ext cx="920115" cy="3619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2050" b="1" spc="-10" dirty="0">
                <a:latin typeface="Comic Sans MS"/>
                <a:cs typeface="Comic Sans MS"/>
              </a:rPr>
              <a:t>T</a:t>
            </a:r>
            <a:r>
              <a:rPr sz="2050" b="1" dirty="0">
                <a:latin typeface="Comic Sans MS"/>
                <a:cs typeface="Comic Sans MS"/>
              </a:rPr>
              <a:t>e</a:t>
            </a:r>
            <a:r>
              <a:rPr sz="2050" b="1" spc="-15" dirty="0">
                <a:latin typeface="Comic Sans MS"/>
                <a:cs typeface="Comic Sans MS"/>
              </a:rPr>
              <a:t>s</a:t>
            </a:r>
            <a:r>
              <a:rPr sz="2050" b="1" spc="-10" dirty="0">
                <a:latin typeface="Comic Sans MS"/>
                <a:cs typeface="Comic Sans MS"/>
              </a:rPr>
              <a:t>ting</a:t>
            </a:r>
            <a:endParaRPr sz="2050">
              <a:latin typeface="Comic Sans MS"/>
              <a:cs typeface="Comic Sans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467921" y="3822001"/>
            <a:ext cx="2289810" cy="448945"/>
            <a:chOff x="5467921" y="3822001"/>
            <a:chExt cx="2289810" cy="448945"/>
          </a:xfrm>
        </p:grpSpPr>
        <p:sp>
          <p:nvSpPr>
            <p:cNvPr id="23" name="object 23"/>
            <p:cNvSpPr/>
            <p:nvPr/>
          </p:nvSpPr>
          <p:spPr>
            <a:xfrm>
              <a:off x="5487924" y="3842004"/>
              <a:ext cx="2249805" cy="408940"/>
            </a:xfrm>
            <a:custGeom>
              <a:avLst/>
              <a:gdLst/>
              <a:ahLst/>
              <a:cxnLst/>
              <a:rect l="l" t="t" r="r" b="b"/>
              <a:pathLst>
                <a:path w="2249804" h="408939">
                  <a:moveTo>
                    <a:pt x="2249424" y="0"/>
                  </a:moveTo>
                  <a:lnTo>
                    <a:pt x="0" y="0"/>
                  </a:lnTo>
                  <a:lnTo>
                    <a:pt x="0" y="408432"/>
                  </a:lnTo>
                  <a:lnTo>
                    <a:pt x="2249424" y="408432"/>
                  </a:lnTo>
                  <a:lnTo>
                    <a:pt x="224942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487924" y="3842004"/>
              <a:ext cx="2249805" cy="408940"/>
            </a:xfrm>
            <a:custGeom>
              <a:avLst/>
              <a:gdLst/>
              <a:ahLst/>
              <a:cxnLst/>
              <a:rect l="l" t="t" r="r" b="b"/>
              <a:pathLst>
                <a:path w="2249804" h="408939">
                  <a:moveTo>
                    <a:pt x="0" y="408432"/>
                  </a:moveTo>
                  <a:lnTo>
                    <a:pt x="2249424" y="408432"/>
                  </a:lnTo>
                  <a:lnTo>
                    <a:pt x="2249424" y="0"/>
                  </a:lnTo>
                  <a:lnTo>
                    <a:pt x="0" y="0"/>
                  </a:lnTo>
                  <a:lnTo>
                    <a:pt x="0" y="408432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056121" y="3803700"/>
            <a:ext cx="156337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b="1" spc="-15" dirty="0">
                <a:latin typeface="Comic Sans MS"/>
                <a:cs typeface="Comic Sans MS"/>
              </a:rPr>
              <a:t>Maintenance</a:t>
            </a:r>
            <a:endParaRPr sz="2050">
              <a:latin typeface="Comic Sans MS"/>
              <a:cs typeface="Comic Sans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601211" y="838199"/>
            <a:ext cx="3552825" cy="3004185"/>
            <a:chOff x="3601211" y="838199"/>
            <a:chExt cx="3552825" cy="3004185"/>
          </a:xfrm>
        </p:grpSpPr>
        <p:sp>
          <p:nvSpPr>
            <p:cNvPr id="27" name="object 27"/>
            <p:cNvSpPr/>
            <p:nvPr/>
          </p:nvSpPr>
          <p:spPr>
            <a:xfrm>
              <a:off x="3601211" y="858011"/>
              <a:ext cx="280670" cy="0"/>
            </a:xfrm>
            <a:custGeom>
              <a:avLst/>
              <a:gdLst/>
              <a:ahLst/>
              <a:cxnLst/>
              <a:rect l="l" t="t" r="r" b="b"/>
              <a:pathLst>
                <a:path w="280670">
                  <a:moveTo>
                    <a:pt x="0" y="0"/>
                  </a:moveTo>
                  <a:lnTo>
                    <a:pt x="280415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21429" y="857884"/>
              <a:ext cx="119380" cy="466725"/>
            </a:xfrm>
            <a:custGeom>
              <a:avLst/>
              <a:gdLst/>
              <a:ahLst/>
              <a:cxnLst/>
              <a:rect l="l" t="t" r="r" b="b"/>
              <a:pathLst>
                <a:path w="119379" h="466725">
                  <a:moveTo>
                    <a:pt x="39620" y="347726"/>
                  </a:moveTo>
                  <a:lnTo>
                    <a:pt x="0" y="347979"/>
                  </a:lnTo>
                  <a:lnTo>
                    <a:pt x="60198" y="466471"/>
                  </a:lnTo>
                  <a:lnTo>
                    <a:pt x="108874" y="367538"/>
                  </a:lnTo>
                  <a:lnTo>
                    <a:pt x="39750" y="367538"/>
                  </a:lnTo>
                  <a:lnTo>
                    <a:pt x="39620" y="347726"/>
                  </a:lnTo>
                  <a:close/>
                </a:path>
                <a:path w="119379" h="466725">
                  <a:moveTo>
                    <a:pt x="79244" y="347472"/>
                  </a:moveTo>
                  <a:lnTo>
                    <a:pt x="39620" y="347726"/>
                  </a:lnTo>
                  <a:lnTo>
                    <a:pt x="39750" y="367538"/>
                  </a:lnTo>
                  <a:lnTo>
                    <a:pt x="79375" y="367284"/>
                  </a:lnTo>
                  <a:lnTo>
                    <a:pt x="79244" y="347472"/>
                  </a:lnTo>
                  <a:close/>
                </a:path>
                <a:path w="119379" h="466725">
                  <a:moveTo>
                    <a:pt x="118872" y="347217"/>
                  </a:moveTo>
                  <a:lnTo>
                    <a:pt x="79244" y="347472"/>
                  </a:lnTo>
                  <a:lnTo>
                    <a:pt x="79375" y="367284"/>
                  </a:lnTo>
                  <a:lnTo>
                    <a:pt x="39750" y="367538"/>
                  </a:lnTo>
                  <a:lnTo>
                    <a:pt x="108874" y="367538"/>
                  </a:lnTo>
                  <a:lnTo>
                    <a:pt x="118872" y="347217"/>
                  </a:lnTo>
                  <a:close/>
                </a:path>
                <a:path w="119379" h="466725">
                  <a:moveTo>
                    <a:pt x="76962" y="0"/>
                  </a:moveTo>
                  <a:lnTo>
                    <a:pt x="37337" y="253"/>
                  </a:lnTo>
                  <a:lnTo>
                    <a:pt x="39620" y="347726"/>
                  </a:lnTo>
                  <a:lnTo>
                    <a:pt x="79244" y="347472"/>
                  </a:lnTo>
                  <a:lnTo>
                    <a:pt x="76962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363211" y="1562099"/>
              <a:ext cx="280670" cy="3175"/>
            </a:xfrm>
            <a:custGeom>
              <a:avLst/>
              <a:gdLst/>
              <a:ahLst/>
              <a:cxnLst/>
              <a:rect l="l" t="t" r="r" b="b"/>
              <a:pathLst>
                <a:path w="280670" h="3175">
                  <a:moveTo>
                    <a:pt x="-19812" y="1524"/>
                  </a:moveTo>
                  <a:lnTo>
                    <a:pt x="300228" y="1524"/>
                  </a:lnTo>
                </a:path>
              </a:pathLst>
            </a:custGeom>
            <a:ln w="42672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46726" y="1561972"/>
              <a:ext cx="119380" cy="393700"/>
            </a:xfrm>
            <a:custGeom>
              <a:avLst/>
              <a:gdLst/>
              <a:ahLst/>
              <a:cxnLst/>
              <a:rect l="l" t="t" r="r" b="b"/>
              <a:pathLst>
                <a:path w="119379" h="393700">
                  <a:moveTo>
                    <a:pt x="39597" y="274616"/>
                  </a:moveTo>
                  <a:lnTo>
                    <a:pt x="0" y="274954"/>
                  </a:lnTo>
                  <a:lnTo>
                    <a:pt x="60325" y="393319"/>
                  </a:lnTo>
                  <a:lnTo>
                    <a:pt x="108844" y="294386"/>
                  </a:lnTo>
                  <a:lnTo>
                    <a:pt x="39750" y="294386"/>
                  </a:lnTo>
                  <a:lnTo>
                    <a:pt x="39597" y="274616"/>
                  </a:lnTo>
                  <a:close/>
                </a:path>
                <a:path w="119379" h="393700">
                  <a:moveTo>
                    <a:pt x="79220" y="274277"/>
                  </a:moveTo>
                  <a:lnTo>
                    <a:pt x="39597" y="274616"/>
                  </a:lnTo>
                  <a:lnTo>
                    <a:pt x="39750" y="294386"/>
                  </a:lnTo>
                  <a:lnTo>
                    <a:pt x="79375" y="294131"/>
                  </a:lnTo>
                  <a:lnTo>
                    <a:pt x="79220" y="274277"/>
                  </a:lnTo>
                  <a:close/>
                </a:path>
                <a:path w="119379" h="393700">
                  <a:moveTo>
                    <a:pt x="118872" y="273938"/>
                  </a:moveTo>
                  <a:lnTo>
                    <a:pt x="79220" y="274277"/>
                  </a:lnTo>
                  <a:lnTo>
                    <a:pt x="79375" y="294131"/>
                  </a:lnTo>
                  <a:lnTo>
                    <a:pt x="39750" y="294386"/>
                  </a:lnTo>
                  <a:lnTo>
                    <a:pt x="108844" y="294386"/>
                  </a:lnTo>
                  <a:lnTo>
                    <a:pt x="118872" y="273938"/>
                  </a:lnTo>
                  <a:close/>
                </a:path>
                <a:path w="119379" h="393700">
                  <a:moveTo>
                    <a:pt x="77088" y="0"/>
                  </a:moveTo>
                  <a:lnTo>
                    <a:pt x="37464" y="253"/>
                  </a:lnTo>
                  <a:lnTo>
                    <a:pt x="39597" y="274616"/>
                  </a:lnTo>
                  <a:lnTo>
                    <a:pt x="79220" y="274277"/>
                  </a:lnTo>
                  <a:lnTo>
                    <a:pt x="77088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085587" y="2193035"/>
              <a:ext cx="280670" cy="0"/>
            </a:xfrm>
            <a:custGeom>
              <a:avLst/>
              <a:gdLst/>
              <a:ahLst/>
              <a:cxnLst/>
              <a:rect l="l" t="t" r="r" b="b"/>
              <a:pathLst>
                <a:path w="280670">
                  <a:moveTo>
                    <a:pt x="0" y="0"/>
                  </a:moveTo>
                  <a:lnTo>
                    <a:pt x="280415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269102" y="2192908"/>
              <a:ext cx="119380" cy="393700"/>
            </a:xfrm>
            <a:custGeom>
              <a:avLst/>
              <a:gdLst/>
              <a:ahLst/>
              <a:cxnLst/>
              <a:rect l="l" t="t" r="r" b="b"/>
              <a:pathLst>
                <a:path w="119379" h="393700">
                  <a:moveTo>
                    <a:pt x="39597" y="274616"/>
                  </a:moveTo>
                  <a:lnTo>
                    <a:pt x="0" y="274954"/>
                  </a:lnTo>
                  <a:lnTo>
                    <a:pt x="60325" y="393319"/>
                  </a:lnTo>
                  <a:lnTo>
                    <a:pt x="108844" y="294385"/>
                  </a:lnTo>
                  <a:lnTo>
                    <a:pt x="39750" y="294385"/>
                  </a:lnTo>
                  <a:lnTo>
                    <a:pt x="39597" y="274616"/>
                  </a:lnTo>
                  <a:close/>
                </a:path>
                <a:path w="119379" h="393700">
                  <a:moveTo>
                    <a:pt x="79220" y="274277"/>
                  </a:moveTo>
                  <a:lnTo>
                    <a:pt x="39597" y="274616"/>
                  </a:lnTo>
                  <a:lnTo>
                    <a:pt x="39750" y="294385"/>
                  </a:lnTo>
                  <a:lnTo>
                    <a:pt x="79375" y="294131"/>
                  </a:lnTo>
                  <a:lnTo>
                    <a:pt x="79220" y="274277"/>
                  </a:lnTo>
                  <a:close/>
                </a:path>
                <a:path w="119379" h="393700">
                  <a:moveTo>
                    <a:pt x="118872" y="273938"/>
                  </a:moveTo>
                  <a:lnTo>
                    <a:pt x="79220" y="274277"/>
                  </a:lnTo>
                  <a:lnTo>
                    <a:pt x="79375" y="294131"/>
                  </a:lnTo>
                  <a:lnTo>
                    <a:pt x="39750" y="294385"/>
                  </a:lnTo>
                  <a:lnTo>
                    <a:pt x="108844" y="294385"/>
                  </a:lnTo>
                  <a:lnTo>
                    <a:pt x="118872" y="273938"/>
                  </a:lnTo>
                  <a:close/>
                </a:path>
                <a:path w="119379" h="393700">
                  <a:moveTo>
                    <a:pt x="77088" y="0"/>
                  </a:moveTo>
                  <a:lnTo>
                    <a:pt x="37464" y="253"/>
                  </a:lnTo>
                  <a:lnTo>
                    <a:pt x="39597" y="274616"/>
                  </a:lnTo>
                  <a:lnTo>
                    <a:pt x="79220" y="274277"/>
                  </a:lnTo>
                  <a:lnTo>
                    <a:pt x="77088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890260" y="2820923"/>
              <a:ext cx="280670" cy="0"/>
            </a:xfrm>
            <a:custGeom>
              <a:avLst/>
              <a:gdLst/>
              <a:ahLst/>
              <a:cxnLst/>
              <a:rect l="l" t="t" r="r" b="b"/>
              <a:pathLst>
                <a:path w="280670">
                  <a:moveTo>
                    <a:pt x="0" y="0"/>
                  </a:moveTo>
                  <a:lnTo>
                    <a:pt x="280415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071616" y="2820923"/>
              <a:ext cx="119380" cy="393700"/>
            </a:xfrm>
            <a:custGeom>
              <a:avLst/>
              <a:gdLst/>
              <a:ahLst/>
              <a:cxnLst/>
              <a:rect l="l" t="t" r="r" b="b"/>
              <a:pathLst>
                <a:path w="119379" h="393700">
                  <a:moveTo>
                    <a:pt x="39624" y="274319"/>
                  </a:moveTo>
                  <a:lnTo>
                    <a:pt x="0" y="274319"/>
                  </a:lnTo>
                  <a:lnTo>
                    <a:pt x="59436" y="393192"/>
                  </a:lnTo>
                  <a:lnTo>
                    <a:pt x="108965" y="294131"/>
                  </a:lnTo>
                  <a:lnTo>
                    <a:pt x="39624" y="294131"/>
                  </a:lnTo>
                  <a:lnTo>
                    <a:pt x="39624" y="274319"/>
                  </a:lnTo>
                  <a:close/>
                </a:path>
                <a:path w="119379" h="393700">
                  <a:moveTo>
                    <a:pt x="79248" y="0"/>
                  </a:moveTo>
                  <a:lnTo>
                    <a:pt x="39624" y="0"/>
                  </a:lnTo>
                  <a:lnTo>
                    <a:pt x="39624" y="294131"/>
                  </a:lnTo>
                  <a:lnTo>
                    <a:pt x="79248" y="294131"/>
                  </a:lnTo>
                  <a:lnTo>
                    <a:pt x="79248" y="0"/>
                  </a:lnTo>
                  <a:close/>
                </a:path>
                <a:path w="119379" h="393700">
                  <a:moveTo>
                    <a:pt x="118872" y="274319"/>
                  </a:moveTo>
                  <a:lnTo>
                    <a:pt x="79248" y="274319"/>
                  </a:lnTo>
                  <a:lnTo>
                    <a:pt x="79248" y="294131"/>
                  </a:lnTo>
                  <a:lnTo>
                    <a:pt x="108965" y="294131"/>
                  </a:lnTo>
                  <a:lnTo>
                    <a:pt x="118872" y="274319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771132" y="3371087"/>
              <a:ext cx="342900" cy="0"/>
            </a:xfrm>
            <a:custGeom>
              <a:avLst/>
              <a:gdLst/>
              <a:ahLst/>
              <a:cxnLst/>
              <a:rect l="l" t="t" r="r" b="b"/>
              <a:pathLst>
                <a:path w="342900">
                  <a:moveTo>
                    <a:pt x="0" y="0"/>
                  </a:moveTo>
                  <a:lnTo>
                    <a:pt x="342899" y="0"/>
                  </a:lnTo>
                </a:path>
              </a:pathLst>
            </a:custGeom>
            <a:ln w="42672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034783" y="3369563"/>
              <a:ext cx="119380" cy="472440"/>
            </a:xfrm>
            <a:custGeom>
              <a:avLst/>
              <a:gdLst/>
              <a:ahLst/>
              <a:cxnLst/>
              <a:rect l="l" t="t" r="r" b="b"/>
              <a:pathLst>
                <a:path w="119379" h="472439">
                  <a:moveTo>
                    <a:pt x="39624" y="353568"/>
                  </a:moveTo>
                  <a:lnTo>
                    <a:pt x="0" y="353568"/>
                  </a:lnTo>
                  <a:lnTo>
                    <a:pt x="59436" y="472440"/>
                  </a:lnTo>
                  <a:lnTo>
                    <a:pt x="108966" y="373380"/>
                  </a:lnTo>
                  <a:lnTo>
                    <a:pt x="39624" y="373380"/>
                  </a:lnTo>
                  <a:lnTo>
                    <a:pt x="39624" y="353568"/>
                  </a:lnTo>
                  <a:close/>
                </a:path>
                <a:path w="119379" h="472439">
                  <a:moveTo>
                    <a:pt x="79248" y="0"/>
                  </a:moveTo>
                  <a:lnTo>
                    <a:pt x="39624" y="0"/>
                  </a:lnTo>
                  <a:lnTo>
                    <a:pt x="39624" y="373380"/>
                  </a:lnTo>
                  <a:lnTo>
                    <a:pt x="79248" y="373380"/>
                  </a:lnTo>
                  <a:lnTo>
                    <a:pt x="79248" y="0"/>
                  </a:lnTo>
                  <a:close/>
                </a:path>
                <a:path w="119379" h="472439">
                  <a:moveTo>
                    <a:pt x="118872" y="353568"/>
                  </a:moveTo>
                  <a:lnTo>
                    <a:pt x="79248" y="353568"/>
                  </a:lnTo>
                  <a:lnTo>
                    <a:pt x="79248" y="373380"/>
                  </a:lnTo>
                  <a:lnTo>
                    <a:pt x="108966" y="373380"/>
                  </a:lnTo>
                  <a:lnTo>
                    <a:pt x="118872" y="353568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521708" y="3214115"/>
              <a:ext cx="2249805" cy="405765"/>
            </a:xfrm>
            <a:custGeom>
              <a:avLst/>
              <a:gdLst/>
              <a:ahLst/>
              <a:cxnLst/>
              <a:rect l="l" t="t" r="r" b="b"/>
              <a:pathLst>
                <a:path w="2249804" h="405764">
                  <a:moveTo>
                    <a:pt x="2249424" y="0"/>
                  </a:moveTo>
                  <a:lnTo>
                    <a:pt x="0" y="0"/>
                  </a:lnTo>
                  <a:lnTo>
                    <a:pt x="0" y="405384"/>
                  </a:lnTo>
                  <a:lnTo>
                    <a:pt x="2249424" y="405384"/>
                  </a:lnTo>
                  <a:lnTo>
                    <a:pt x="2249424" y="0"/>
                  </a:lnTo>
                  <a:close/>
                </a:path>
              </a:pathLst>
            </a:custGeom>
            <a:solidFill>
              <a:srgbClr val="99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521708" y="3214115"/>
              <a:ext cx="2249805" cy="405765"/>
            </a:xfrm>
            <a:custGeom>
              <a:avLst/>
              <a:gdLst/>
              <a:ahLst/>
              <a:cxnLst/>
              <a:rect l="l" t="t" r="r" b="b"/>
              <a:pathLst>
                <a:path w="2249804" h="405764">
                  <a:moveTo>
                    <a:pt x="0" y="405384"/>
                  </a:moveTo>
                  <a:lnTo>
                    <a:pt x="2249424" y="405384"/>
                  </a:lnTo>
                  <a:lnTo>
                    <a:pt x="2249424" y="0"/>
                  </a:lnTo>
                  <a:lnTo>
                    <a:pt x="0" y="0"/>
                  </a:lnTo>
                  <a:lnTo>
                    <a:pt x="0" y="405384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521708" y="3214116"/>
            <a:ext cx="2249805" cy="405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8510">
              <a:lnSpc>
                <a:spcPts val="2240"/>
              </a:lnSpc>
            </a:pPr>
            <a:r>
              <a:rPr sz="2050" b="1" spc="-10" dirty="0">
                <a:latin typeface="Comic Sans MS"/>
                <a:cs typeface="Comic Sans MS"/>
              </a:rPr>
              <a:t>Testing</a:t>
            </a:r>
            <a:endParaRPr sz="205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145" y="242773"/>
            <a:ext cx="518541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25" dirty="0"/>
              <a:t>Integration</a:t>
            </a:r>
            <a:r>
              <a:rPr sz="3200" spc="30" dirty="0"/>
              <a:t> </a:t>
            </a:r>
            <a:r>
              <a:rPr sz="3200" spc="-5" dirty="0"/>
              <a:t>and</a:t>
            </a:r>
            <a:r>
              <a:rPr sz="3200" spc="-10" dirty="0"/>
              <a:t> </a:t>
            </a:r>
            <a:r>
              <a:rPr sz="3200" spc="-35" dirty="0"/>
              <a:t>System</a:t>
            </a:r>
            <a:r>
              <a:rPr sz="3200" spc="60" dirty="0"/>
              <a:t> </a:t>
            </a:r>
            <a:r>
              <a:rPr sz="3200" spc="-55" dirty="0"/>
              <a:t>Testing</a:t>
            </a:r>
            <a:endParaRPr sz="3200"/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3840" marR="643890" indent="-231775">
              <a:lnSpc>
                <a:spcPct val="116399"/>
              </a:lnSpc>
              <a:spcBef>
                <a:spcPts val="95"/>
              </a:spcBef>
              <a:buFont typeface="Arial MT"/>
              <a:buChar char="•"/>
              <a:tabLst>
                <a:tab pos="244475" algn="l"/>
              </a:tabLst>
            </a:pPr>
            <a:r>
              <a:rPr spc="-20" dirty="0"/>
              <a:t>Different</a:t>
            </a:r>
            <a:r>
              <a:rPr spc="55" dirty="0"/>
              <a:t> </a:t>
            </a:r>
            <a:r>
              <a:rPr spc="5" dirty="0"/>
              <a:t>modules</a:t>
            </a:r>
            <a:r>
              <a:rPr spc="20" dirty="0"/>
              <a:t> </a:t>
            </a:r>
            <a:r>
              <a:rPr spc="-20" dirty="0"/>
              <a:t>are</a:t>
            </a:r>
            <a:r>
              <a:rPr spc="25" dirty="0"/>
              <a:t> </a:t>
            </a:r>
            <a:r>
              <a:rPr spc="-15" dirty="0"/>
              <a:t>integrated</a:t>
            </a:r>
            <a:r>
              <a:rPr spc="50" dirty="0"/>
              <a:t> </a:t>
            </a:r>
            <a:r>
              <a:rPr spc="5" dirty="0"/>
              <a:t>in</a:t>
            </a:r>
            <a:r>
              <a:rPr dirty="0"/>
              <a:t> </a:t>
            </a:r>
            <a:r>
              <a:rPr spc="5" dirty="0"/>
              <a:t>a</a:t>
            </a:r>
            <a:r>
              <a:rPr spc="-15" dirty="0"/>
              <a:t> </a:t>
            </a:r>
            <a:r>
              <a:rPr dirty="0"/>
              <a:t>planned </a:t>
            </a:r>
            <a:r>
              <a:rPr spc="-595" dirty="0"/>
              <a:t> </a:t>
            </a:r>
            <a:r>
              <a:rPr spc="-5" dirty="0"/>
              <a:t>manner:</a:t>
            </a:r>
          </a:p>
          <a:p>
            <a:pPr marL="323215">
              <a:lnSpc>
                <a:spcPct val="100000"/>
              </a:lnSpc>
              <a:spcBef>
                <a:spcPts val="1689"/>
              </a:spcBef>
            </a:pPr>
            <a:r>
              <a:rPr sz="2450" spc="15" dirty="0">
                <a:solidFill>
                  <a:srgbClr val="6F2F9F"/>
                </a:solidFill>
                <a:latin typeface="Arial MT"/>
                <a:cs typeface="Arial MT"/>
              </a:rPr>
              <a:t>–</a:t>
            </a:r>
            <a:r>
              <a:rPr sz="2450" b="1" spc="15" dirty="0">
                <a:solidFill>
                  <a:srgbClr val="6F2F9F"/>
                </a:solidFill>
                <a:latin typeface="Calibri"/>
                <a:cs typeface="Calibri"/>
              </a:rPr>
              <a:t>Modules</a:t>
            </a:r>
            <a:r>
              <a:rPr sz="245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50" b="1" spc="-15" dirty="0">
                <a:solidFill>
                  <a:srgbClr val="6F2F9F"/>
                </a:solidFill>
                <a:latin typeface="Calibri"/>
                <a:cs typeface="Calibri"/>
              </a:rPr>
              <a:t>are</a:t>
            </a:r>
            <a:r>
              <a:rPr sz="2450" b="1" spc="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6F2F9F"/>
                </a:solidFill>
                <a:latin typeface="Calibri"/>
                <a:cs typeface="Calibri"/>
              </a:rPr>
              <a:t>usually</a:t>
            </a:r>
            <a:r>
              <a:rPr sz="245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50" b="1" spc="-25" dirty="0">
                <a:solidFill>
                  <a:srgbClr val="6F2F9F"/>
                </a:solidFill>
                <a:latin typeface="Calibri"/>
                <a:cs typeface="Calibri"/>
              </a:rPr>
              <a:t>integrated</a:t>
            </a:r>
            <a:r>
              <a:rPr sz="2450" b="1" spc="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50" b="1" spc="-10" dirty="0">
                <a:solidFill>
                  <a:srgbClr val="6F2F9F"/>
                </a:solidFill>
                <a:latin typeface="Calibri"/>
                <a:cs typeface="Calibri"/>
              </a:rPr>
              <a:t>through</a:t>
            </a:r>
            <a:r>
              <a:rPr sz="2450" b="1" dirty="0">
                <a:solidFill>
                  <a:srgbClr val="6F2F9F"/>
                </a:solidFill>
                <a:latin typeface="Calibri"/>
                <a:cs typeface="Calibri"/>
              </a:rPr>
              <a:t> a</a:t>
            </a:r>
            <a:r>
              <a:rPr sz="2450" b="1" spc="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6F2F9F"/>
                </a:solidFill>
                <a:latin typeface="Calibri"/>
                <a:cs typeface="Calibri"/>
              </a:rPr>
              <a:t>number</a:t>
            </a:r>
            <a:r>
              <a:rPr sz="245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5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5" dirty="0"/>
              <a:t>48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125984" y="2223658"/>
            <a:ext cx="5575935" cy="1798320"/>
          </a:xfrm>
          <a:prstGeom prst="rect">
            <a:avLst/>
          </a:prstGeom>
        </p:spPr>
        <p:txBody>
          <a:bodyPr vert="horz" wrap="square" lIns="0" tIns="201295" rIns="0" bIns="0" rtlCol="0">
            <a:spAutoFit/>
          </a:bodyPr>
          <a:lstStyle/>
          <a:p>
            <a:pPr marL="515620">
              <a:lnSpc>
                <a:spcPct val="100000"/>
              </a:lnSpc>
              <a:spcBef>
                <a:spcPts val="1585"/>
              </a:spcBef>
            </a:pPr>
            <a:r>
              <a:rPr sz="2450" b="1" spc="-15" dirty="0">
                <a:solidFill>
                  <a:srgbClr val="6F2F9F"/>
                </a:solidFill>
                <a:latin typeface="Calibri"/>
                <a:cs typeface="Calibri"/>
              </a:rPr>
              <a:t>steps.</a:t>
            </a:r>
            <a:endParaRPr sz="2450">
              <a:latin typeface="Calibri"/>
              <a:cs typeface="Calibri"/>
            </a:endParaRPr>
          </a:p>
          <a:p>
            <a:pPr marL="243840" indent="-231775">
              <a:lnSpc>
                <a:spcPct val="100000"/>
              </a:lnSpc>
              <a:spcBef>
                <a:spcPts val="1660"/>
              </a:spcBef>
              <a:buFont typeface="Arial MT"/>
              <a:buChar char="•"/>
              <a:tabLst>
                <a:tab pos="244475" algn="l"/>
              </a:tabLst>
            </a:pPr>
            <a:r>
              <a:rPr sz="2700" dirty="0">
                <a:latin typeface="Calibri"/>
                <a:cs typeface="Calibri"/>
              </a:rPr>
              <a:t>During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each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integration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step,</a:t>
            </a:r>
            <a:endParaRPr sz="27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  <a:spcBef>
                <a:spcPts val="1689"/>
              </a:spcBef>
            </a:pPr>
            <a:r>
              <a:rPr sz="2450" spc="35" dirty="0">
                <a:latin typeface="Arial MT"/>
                <a:cs typeface="Arial MT"/>
              </a:rPr>
              <a:t>–</a:t>
            </a:r>
            <a:r>
              <a:rPr sz="2450" spc="35" dirty="0">
                <a:latin typeface="Calibri"/>
                <a:cs typeface="Calibri"/>
              </a:rPr>
              <a:t>the</a:t>
            </a:r>
            <a:r>
              <a:rPr sz="2450" spc="-3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partially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integrated</a:t>
            </a:r>
            <a:r>
              <a:rPr sz="2450" spc="-25" dirty="0">
                <a:latin typeface="Calibri"/>
                <a:cs typeface="Calibri"/>
              </a:rPr>
              <a:t> system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is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tested.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92723" y="2802635"/>
            <a:ext cx="792480" cy="622300"/>
          </a:xfrm>
          <a:custGeom>
            <a:avLst/>
            <a:gdLst/>
            <a:ahLst/>
            <a:cxnLst/>
            <a:rect l="l" t="t" r="r" b="b"/>
            <a:pathLst>
              <a:path w="792479" h="622300">
                <a:moveTo>
                  <a:pt x="0" y="621792"/>
                </a:moveTo>
                <a:lnTo>
                  <a:pt x="792479" y="621792"/>
                </a:lnTo>
                <a:lnTo>
                  <a:pt x="792479" y="0"/>
                </a:lnTo>
                <a:lnTo>
                  <a:pt x="0" y="0"/>
                </a:lnTo>
                <a:lnTo>
                  <a:pt x="0" y="621792"/>
                </a:lnTo>
                <a:close/>
              </a:path>
            </a:pathLst>
          </a:custGeom>
          <a:solidFill>
            <a:srgbClr val="8AAD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792723" y="2802635"/>
            <a:ext cx="791210" cy="622300"/>
          </a:xfrm>
          <a:prstGeom prst="rect">
            <a:avLst/>
          </a:prstGeom>
          <a:ln w="9651">
            <a:solidFill>
              <a:srgbClr val="003300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 marL="204470">
              <a:lnSpc>
                <a:spcPct val="100000"/>
              </a:lnSpc>
              <a:spcBef>
                <a:spcPts val="565"/>
              </a:spcBef>
            </a:pPr>
            <a:r>
              <a:rPr sz="2350" b="1" spc="10" dirty="0">
                <a:solidFill>
                  <a:srgbClr val="FFFF00"/>
                </a:solidFill>
                <a:latin typeface="Comic Sans MS"/>
                <a:cs typeface="Comic Sans MS"/>
              </a:rPr>
              <a:t>M1</a:t>
            </a:r>
            <a:endParaRPr sz="2350">
              <a:latin typeface="Comic Sans MS"/>
              <a:cs typeface="Comic Sans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787961" y="2802635"/>
            <a:ext cx="1539875" cy="1248410"/>
            <a:chOff x="5787961" y="2802635"/>
            <a:chExt cx="1539875" cy="1248410"/>
          </a:xfrm>
        </p:grpSpPr>
        <p:sp>
          <p:nvSpPr>
            <p:cNvPr id="8" name="object 8"/>
            <p:cNvSpPr/>
            <p:nvPr/>
          </p:nvSpPr>
          <p:spPr>
            <a:xfrm>
              <a:off x="6585204" y="3424427"/>
              <a:ext cx="737870" cy="622300"/>
            </a:xfrm>
            <a:custGeom>
              <a:avLst/>
              <a:gdLst/>
              <a:ahLst/>
              <a:cxnLst/>
              <a:rect l="l" t="t" r="r" b="b"/>
              <a:pathLst>
                <a:path w="737870" h="622300">
                  <a:moveTo>
                    <a:pt x="737616" y="1016"/>
                  </a:moveTo>
                  <a:lnTo>
                    <a:pt x="737489" y="1016"/>
                  </a:lnTo>
                  <a:lnTo>
                    <a:pt x="737489" y="0"/>
                  </a:lnTo>
                  <a:lnTo>
                    <a:pt x="127" y="0"/>
                  </a:lnTo>
                  <a:lnTo>
                    <a:pt x="127" y="1016"/>
                  </a:lnTo>
                  <a:lnTo>
                    <a:pt x="0" y="1016"/>
                  </a:lnTo>
                  <a:lnTo>
                    <a:pt x="0" y="620776"/>
                  </a:lnTo>
                  <a:lnTo>
                    <a:pt x="88" y="622046"/>
                  </a:lnTo>
                  <a:lnTo>
                    <a:pt x="737514" y="622046"/>
                  </a:lnTo>
                  <a:lnTo>
                    <a:pt x="737514" y="620776"/>
                  </a:lnTo>
                  <a:lnTo>
                    <a:pt x="737616" y="1016"/>
                  </a:ln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85203" y="3424427"/>
              <a:ext cx="737870" cy="622300"/>
            </a:xfrm>
            <a:custGeom>
              <a:avLst/>
              <a:gdLst/>
              <a:ahLst/>
              <a:cxnLst/>
              <a:rect l="l" t="t" r="r" b="b"/>
              <a:pathLst>
                <a:path w="737870" h="622300">
                  <a:moveTo>
                    <a:pt x="0" y="1016"/>
                  </a:moveTo>
                  <a:lnTo>
                    <a:pt x="0" y="508"/>
                  </a:lnTo>
                  <a:lnTo>
                    <a:pt x="507" y="0"/>
                  </a:lnTo>
                  <a:lnTo>
                    <a:pt x="1016" y="0"/>
                  </a:lnTo>
                  <a:lnTo>
                    <a:pt x="736600" y="0"/>
                  </a:lnTo>
                  <a:lnTo>
                    <a:pt x="737107" y="0"/>
                  </a:lnTo>
                  <a:lnTo>
                    <a:pt x="737616" y="508"/>
                  </a:lnTo>
                  <a:lnTo>
                    <a:pt x="737616" y="1016"/>
                  </a:lnTo>
                  <a:lnTo>
                    <a:pt x="737616" y="620725"/>
                  </a:lnTo>
                  <a:lnTo>
                    <a:pt x="737616" y="621322"/>
                  </a:lnTo>
                  <a:lnTo>
                    <a:pt x="737107" y="621792"/>
                  </a:lnTo>
                  <a:lnTo>
                    <a:pt x="736600" y="621792"/>
                  </a:lnTo>
                  <a:lnTo>
                    <a:pt x="1016" y="621792"/>
                  </a:lnTo>
                  <a:lnTo>
                    <a:pt x="507" y="621792"/>
                  </a:lnTo>
                  <a:lnTo>
                    <a:pt x="0" y="621322"/>
                  </a:lnTo>
                  <a:lnTo>
                    <a:pt x="0" y="620725"/>
                  </a:lnTo>
                  <a:lnTo>
                    <a:pt x="0" y="1016"/>
                  </a:lnTo>
                  <a:close/>
                </a:path>
              </a:pathLst>
            </a:custGeom>
            <a:ln w="914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92724" y="3424173"/>
              <a:ext cx="789940" cy="622300"/>
            </a:xfrm>
            <a:custGeom>
              <a:avLst/>
              <a:gdLst/>
              <a:ahLst/>
              <a:cxnLst/>
              <a:rect l="l" t="t" r="r" b="b"/>
              <a:pathLst>
                <a:path w="789940" h="622300">
                  <a:moveTo>
                    <a:pt x="789432" y="1270"/>
                  </a:moveTo>
                  <a:lnTo>
                    <a:pt x="789305" y="1270"/>
                  </a:lnTo>
                  <a:lnTo>
                    <a:pt x="789305" y="0"/>
                  </a:lnTo>
                  <a:lnTo>
                    <a:pt x="127" y="0"/>
                  </a:lnTo>
                  <a:lnTo>
                    <a:pt x="127" y="1270"/>
                  </a:lnTo>
                  <a:lnTo>
                    <a:pt x="0" y="1270"/>
                  </a:lnTo>
                  <a:lnTo>
                    <a:pt x="0" y="621030"/>
                  </a:lnTo>
                  <a:lnTo>
                    <a:pt x="88" y="622300"/>
                  </a:lnTo>
                  <a:lnTo>
                    <a:pt x="789330" y="622300"/>
                  </a:lnTo>
                  <a:lnTo>
                    <a:pt x="789330" y="621030"/>
                  </a:lnTo>
                  <a:lnTo>
                    <a:pt x="789432" y="1270"/>
                  </a:lnTo>
                  <a:close/>
                </a:path>
              </a:pathLst>
            </a:custGeom>
            <a:solidFill>
              <a:srgbClr val="FF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92723" y="3424427"/>
              <a:ext cx="789940" cy="622300"/>
            </a:xfrm>
            <a:custGeom>
              <a:avLst/>
              <a:gdLst/>
              <a:ahLst/>
              <a:cxnLst/>
              <a:rect l="l" t="t" r="r" b="b"/>
              <a:pathLst>
                <a:path w="789940" h="622300">
                  <a:moveTo>
                    <a:pt x="0" y="1016"/>
                  </a:moveTo>
                  <a:lnTo>
                    <a:pt x="0" y="508"/>
                  </a:lnTo>
                  <a:lnTo>
                    <a:pt x="508" y="0"/>
                  </a:lnTo>
                  <a:lnTo>
                    <a:pt x="1015" y="0"/>
                  </a:lnTo>
                  <a:lnTo>
                    <a:pt x="788416" y="0"/>
                  </a:lnTo>
                  <a:lnTo>
                    <a:pt x="788924" y="0"/>
                  </a:lnTo>
                  <a:lnTo>
                    <a:pt x="789431" y="508"/>
                  </a:lnTo>
                  <a:lnTo>
                    <a:pt x="789431" y="1016"/>
                  </a:lnTo>
                  <a:lnTo>
                    <a:pt x="789431" y="620725"/>
                  </a:lnTo>
                  <a:lnTo>
                    <a:pt x="789431" y="621322"/>
                  </a:lnTo>
                  <a:lnTo>
                    <a:pt x="788924" y="621792"/>
                  </a:lnTo>
                  <a:lnTo>
                    <a:pt x="788416" y="621792"/>
                  </a:lnTo>
                  <a:lnTo>
                    <a:pt x="1015" y="621792"/>
                  </a:lnTo>
                  <a:lnTo>
                    <a:pt x="508" y="621792"/>
                  </a:lnTo>
                  <a:lnTo>
                    <a:pt x="0" y="621322"/>
                  </a:lnTo>
                  <a:lnTo>
                    <a:pt x="0" y="620725"/>
                  </a:lnTo>
                  <a:lnTo>
                    <a:pt x="0" y="1016"/>
                  </a:lnTo>
                  <a:close/>
                </a:path>
              </a:pathLst>
            </a:custGeom>
            <a:ln w="914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585203" y="2802635"/>
              <a:ext cx="737870" cy="622300"/>
            </a:xfrm>
            <a:custGeom>
              <a:avLst/>
              <a:gdLst/>
              <a:ahLst/>
              <a:cxnLst/>
              <a:rect l="l" t="t" r="r" b="b"/>
              <a:pathLst>
                <a:path w="737870" h="622300">
                  <a:moveTo>
                    <a:pt x="737107" y="0"/>
                  </a:moveTo>
                  <a:lnTo>
                    <a:pt x="507" y="0"/>
                  </a:lnTo>
                  <a:lnTo>
                    <a:pt x="0" y="507"/>
                  </a:lnTo>
                  <a:lnTo>
                    <a:pt x="0" y="1015"/>
                  </a:lnTo>
                  <a:lnTo>
                    <a:pt x="0" y="621283"/>
                  </a:lnTo>
                  <a:lnTo>
                    <a:pt x="507" y="621792"/>
                  </a:lnTo>
                  <a:lnTo>
                    <a:pt x="737107" y="621792"/>
                  </a:lnTo>
                  <a:lnTo>
                    <a:pt x="737616" y="621283"/>
                  </a:lnTo>
                  <a:lnTo>
                    <a:pt x="737616" y="507"/>
                  </a:lnTo>
                  <a:lnTo>
                    <a:pt x="737107" y="0"/>
                  </a:lnTo>
                  <a:close/>
                </a:path>
              </a:pathLst>
            </a:custGeom>
            <a:solidFill>
              <a:srgbClr val="8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583680" y="2802635"/>
            <a:ext cx="739140" cy="622300"/>
          </a:xfrm>
          <a:prstGeom prst="rect">
            <a:avLst/>
          </a:prstGeom>
          <a:ln w="10160">
            <a:solidFill>
              <a:srgbClr val="003300"/>
            </a:solidFill>
          </a:ln>
        </p:spPr>
        <p:txBody>
          <a:bodyPr vert="horz" wrap="square" lIns="0" tIns="123825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975"/>
              </a:spcBef>
            </a:pPr>
            <a:r>
              <a:rPr sz="2350" b="1" spc="10" dirty="0">
                <a:solidFill>
                  <a:srgbClr val="FFFF00"/>
                </a:solidFill>
                <a:latin typeface="Comic Sans MS"/>
                <a:cs typeface="Comic Sans MS"/>
              </a:rPr>
              <a:t>M2</a:t>
            </a:r>
            <a:endParaRPr sz="2350">
              <a:latin typeface="Comic Sans MS"/>
              <a:cs typeface="Comic Sans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322819" y="2802635"/>
            <a:ext cx="792480" cy="622300"/>
          </a:xfrm>
          <a:custGeom>
            <a:avLst/>
            <a:gdLst/>
            <a:ahLst/>
            <a:cxnLst/>
            <a:rect l="l" t="t" r="r" b="b"/>
            <a:pathLst>
              <a:path w="792479" h="622300">
                <a:moveTo>
                  <a:pt x="0" y="621792"/>
                </a:moveTo>
                <a:lnTo>
                  <a:pt x="792479" y="621792"/>
                </a:lnTo>
                <a:lnTo>
                  <a:pt x="792479" y="0"/>
                </a:lnTo>
                <a:lnTo>
                  <a:pt x="0" y="0"/>
                </a:lnTo>
                <a:lnTo>
                  <a:pt x="0" y="621792"/>
                </a:lnTo>
                <a:close/>
              </a:path>
            </a:pathLst>
          </a:custGeom>
          <a:solidFill>
            <a:srgbClr val="99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322819" y="2802635"/>
            <a:ext cx="791210" cy="622300"/>
          </a:xfrm>
          <a:prstGeom prst="rect">
            <a:avLst/>
          </a:prstGeom>
          <a:ln w="9651">
            <a:solidFill>
              <a:srgbClr val="003300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 marL="204470">
              <a:lnSpc>
                <a:spcPct val="100000"/>
              </a:lnSpc>
              <a:spcBef>
                <a:spcPts val="565"/>
              </a:spcBef>
            </a:pPr>
            <a:r>
              <a:rPr sz="2350" b="1" spc="10" dirty="0">
                <a:solidFill>
                  <a:srgbClr val="FFFF00"/>
                </a:solidFill>
                <a:latin typeface="Comic Sans MS"/>
                <a:cs typeface="Comic Sans MS"/>
              </a:rPr>
              <a:t>M5</a:t>
            </a:r>
            <a:endParaRPr sz="2350">
              <a:latin typeface="Comic Sans MS"/>
              <a:cs typeface="Comic Sans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318057" y="3419665"/>
            <a:ext cx="1539875" cy="631825"/>
            <a:chOff x="7318057" y="3419665"/>
            <a:chExt cx="1539875" cy="631825"/>
          </a:xfrm>
        </p:grpSpPr>
        <p:sp>
          <p:nvSpPr>
            <p:cNvPr id="17" name="object 17"/>
            <p:cNvSpPr/>
            <p:nvPr/>
          </p:nvSpPr>
          <p:spPr>
            <a:xfrm>
              <a:off x="8115300" y="3424427"/>
              <a:ext cx="737870" cy="622300"/>
            </a:xfrm>
            <a:custGeom>
              <a:avLst/>
              <a:gdLst/>
              <a:ahLst/>
              <a:cxnLst/>
              <a:rect l="l" t="t" r="r" b="b"/>
              <a:pathLst>
                <a:path w="737870" h="622300">
                  <a:moveTo>
                    <a:pt x="737616" y="1016"/>
                  </a:moveTo>
                  <a:lnTo>
                    <a:pt x="737489" y="1016"/>
                  </a:lnTo>
                  <a:lnTo>
                    <a:pt x="737489" y="0"/>
                  </a:lnTo>
                  <a:lnTo>
                    <a:pt x="127" y="0"/>
                  </a:lnTo>
                  <a:lnTo>
                    <a:pt x="127" y="1016"/>
                  </a:lnTo>
                  <a:lnTo>
                    <a:pt x="0" y="1016"/>
                  </a:lnTo>
                  <a:lnTo>
                    <a:pt x="0" y="620776"/>
                  </a:lnTo>
                  <a:lnTo>
                    <a:pt x="88" y="622046"/>
                  </a:lnTo>
                  <a:lnTo>
                    <a:pt x="737514" y="622046"/>
                  </a:lnTo>
                  <a:lnTo>
                    <a:pt x="737514" y="620776"/>
                  </a:lnTo>
                  <a:lnTo>
                    <a:pt x="737616" y="1016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115299" y="3424427"/>
              <a:ext cx="737870" cy="622300"/>
            </a:xfrm>
            <a:custGeom>
              <a:avLst/>
              <a:gdLst/>
              <a:ahLst/>
              <a:cxnLst/>
              <a:rect l="l" t="t" r="r" b="b"/>
              <a:pathLst>
                <a:path w="737870" h="622300">
                  <a:moveTo>
                    <a:pt x="0" y="1016"/>
                  </a:moveTo>
                  <a:lnTo>
                    <a:pt x="0" y="508"/>
                  </a:lnTo>
                  <a:lnTo>
                    <a:pt x="507" y="0"/>
                  </a:lnTo>
                  <a:lnTo>
                    <a:pt x="1016" y="0"/>
                  </a:lnTo>
                  <a:lnTo>
                    <a:pt x="736600" y="0"/>
                  </a:lnTo>
                  <a:lnTo>
                    <a:pt x="737107" y="0"/>
                  </a:lnTo>
                  <a:lnTo>
                    <a:pt x="737616" y="508"/>
                  </a:lnTo>
                  <a:lnTo>
                    <a:pt x="737616" y="1016"/>
                  </a:lnTo>
                  <a:lnTo>
                    <a:pt x="737616" y="620725"/>
                  </a:lnTo>
                  <a:lnTo>
                    <a:pt x="737616" y="621322"/>
                  </a:lnTo>
                  <a:lnTo>
                    <a:pt x="737107" y="621792"/>
                  </a:lnTo>
                  <a:lnTo>
                    <a:pt x="736600" y="621792"/>
                  </a:lnTo>
                  <a:lnTo>
                    <a:pt x="1016" y="621792"/>
                  </a:lnTo>
                  <a:lnTo>
                    <a:pt x="507" y="621792"/>
                  </a:lnTo>
                  <a:lnTo>
                    <a:pt x="0" y="621322"/>
                  </a:lnTo>
                  <a:lnTo>
                    <a:pt x="0" y="620725"/>
                  </a:lnTo>
                  <a:lnTo>
                    <a:pt x="0" y="1016"/>
                  </a:lnTo>
                  <a:close/>
                </a:path>
              </a:pathLst>
            </a:custGeom>
            <a:ln w="914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322820" y="3424173"/>
              <a:ext cx="789940" cy="622300"/>
            </a:xfrm>
            <a:custGeom>
              <a:avLst/>
              <a:gdLst/>
              <a:ahLst/>
              <a:cxnLst/>
              <a:rect l="l" t="t" r="r" b="b"/>
              <a:pathLst>
                <a:path w="789940" h="622300">
                  <a:moveTo>
                    <a:pt x="789432" y="1270"/>
                  </a:moveTo>
                  <a:lnTo>
                    <a:pt x="789305" y="1270"/>
                  </a:lnTo>
                  <a:lnTo>
                    <a:pt x="789305" y="0"/>
                  </a:lnTo>
                  <a:lnTo>
                    <a:pt x="127" y="0"/>
                  </a:lnTo>
                  <a:lnTo>
                    <a:pt x="127" y="1270"/>
                  </a:lnTo>
                  <a:lnTo>
                    <a:pt x="0" y="1270"/>
                  </a:lnTo>
                  <a:lnTo>
                    <a:pt x="0" y="621030"/>
                  </a:lnTo>
                  <a:lnTo>
                    <a:pt x="88" y="622300"/>
                  </a:lnTo>
                  <a:lnTo>
                    <a:pt x="789330" y="622300"/>
                  </a:lnTo>
                  <a:lnTo>
                    <a:pt x="789330" y="621030"/>
                  </a:lnTo>
                  <a:lnTo>
                    <a:pt x="789432" y="127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322819" y="3424427"/>
              <a:ext cx="789940" cy="622300"/>
            </a:xfrm>
            <a:custGeom>
              <a:avLst/>
              <a:gdLst/>
              <a:ahLst/>
              <a:cxnLst/>
              <a:rect l="l" t="t" r="r" b="b"/>
              <a:pathLst>
                <a:path w="789940" h="622300">
                  <a:moveTo>
                    <a:pt x="0" y="1016"/>
                  </a:moveTo>
                  <a:lnTo>
                    <a:pt x="0" y="508"/>
                  </a:lnTo>
                  <a:lnTo>
                    <a:pt x="507" y="0"/>
                  </a:lnTo>
                  <a:lnTo>
                    <a:pt x="1015" y="0"/>
                  </a:lnTo>
                  <a:lnTo>
                    <a:pt x="788415" y="0"/>
                  </a:lnTo>
                  <a:lnTo>
                    <a:pt x="788924" y="0"/>
                  </a:lnTo>
                  <a:lnTo>
                    <a:pt x="789431" y="508"/>
                  </a:lnTo>
                  <a:lnTo>
                    <a:pt x="789431" y="1016"/>
                  </a:lnTo>
                  <a:lnTo>
                    <a:pt x="789431" y="620725"/>
                  </a:lnTo>
                  <a:lnTo>
                    <a:pt x="789431" y="621322"/>
                  </a:lnTo>
                  <a:lnTo>
                    <a:pt x="788924" y="621792"/>
                  </a:lnTo>
                  <a:lnTo>
                    <a:pt x="788415" y="621792"/>
                  </a:lnTo>
                  <a:lnTo>
                    <a:pt x="1015" y="621792"/>
                  </a:lnTo>
                  <a:lnTo>
                    <a:pt x="507" y="621792"/>
                  </a:lnTo>
                  <a:lnTo>
                    <a:pt x="0" y="621322"/>
                  </a:lnTo>
                  <a:lnTo>
                    <a:pt x="0" y="620725"/>
                  </a:lnTo>
                  <a:lnTo>
                    <a:pt x="0" y="1016"/>
                  </a:lnTo>
                  <a:close/>
                </a:path>
              </a:pathLst>
            </a:custGeom>
            <a:ln w="914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797550" y="3481781"/>
            <a:ext cx="3050540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25"/>
              </a:spcBef>
              <a:tabLst>
                <a:tab pos="906780" algn="l"/>
                <a:tab pos="1644650" algn="l"/>
                <a:tab pos="2436495" algn="l"/>
              </a:tabLst>
            </a:pPr>
            <a:r>
              <a:rPr sz="2350" b="1" spc="10" dirty="0">
                <a:solidFill>
                  <a:srgbClr val="FFFF00"/>
                </a:solidFill>
                <a:latin typeface="Comic Sans MS"/>
                <a:cs typeface="Comic Sans MS"/>
              </a:rPr>
              <a:t>M3	M4	M6	M8</a:t>
            </a:r>
            <a:endParaRPr sz="2350">
              <a:latin typeface="Comic Sans MS"/>
              <a:cs typeface="Comic Sans M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115300" y="2802635"/>
            <a:ext cx="737870" cy="622300"/>
          </a:xfrm>
          <a:custGeom>
            <a:avLst/>
            <a:gdLst/>
            <a:ahLst/>
            <a:cxnLst/>
            <a:rect l="l" t="t" r="r" b="b"/>
            <a:pathLst>
              <a:path w="737870" h="622300">
                <a:moveTo>
                  <a:pt x="737107" y="0"/>
                </a:moveTo>
                <a:lnTo>
                  <a:pt x="507" y="0"/>
                </a:lnTo>
                <a:lnTo>
                  <a:pt x="0" y="507"/>
                </a:lnTo>
                <a:lnTo>
                  <a:pt x="0" y="1015"/>
                </a:lnTo>
                <a:lnTo>
                  <a:pt x="0" y="621283"/>
                </a:lnTo>
                <a:lnTo>
                  <a:pt x="507" y="621792"/>
                </a:lnTo>
                <a:lnTo>
                  <a:pt x="737107" y="621792"/>
                </a:lnTo>
                <a:lnTo>
                  <a:pt x="737616" y="621283"/>
                </a:lnTo>
                <a:lnTo>
                  <a:pt x="737616" y="507"/>
                </a:lnTo>
                <a:lnTo>
                  <a:pt x="737107" y="0"/>
                </a:lnTo>
                <a:close/>
              </a:path>
            </a:pathLst>
          </a:custGeom>
          <a:solidFill>
            <a:srgbClr val="6666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8113776" y="2802635"/>
            <a:ext cx="739140" cy="622300"/>
          </a:xfrm>
          <a:prstGeom prst="rect">
            <a:avLst/>
          </a:prstGeom>
          <a:ln w="9652">
            <a:solidFill>
              <a:srgbClr val="003300"/>
            </a:solidFill>
          </a:ln>
        </p:spPr>
        <p:txBody>
          <a:bodyPr vert="horz" wrap="square" lIns="0" tIns="123825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975"/>
              </a:spcBef>
            </a:pPr>
            <a:r>
              <a:rPr sz="2350" b="1" spc="10" dirty="0">
                <a:solidFill>
                  <a:srgbClr val="FFFF00"/>
                </a:solidFill>
                <a:latin typeface="Comic Sans MS"/>
                <a:cs typeface="Comic Sans MS"/>
              </a:rPr>
              <a:t>M7</a:t>
            </a:r>
            <a:endParaRPr sz="2350">
              <a:latin typeface="Comic Sans MS"/>
              <a:cs typeface="Comic Sans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513576" y="2901695"/>
            <a:ext cx="1667510" cy="1097280"/>
            <a:chOff x="6513576" y="2901695"/>
            <a:chExt cx="1667510" cy="1097280"/>
          </a:xfrm>
        </p:grpSpPr>
        <p:sp>
          <p:nvSpPr>
            <p:cNvPr id="25" name="object 25"/>
            <p:cNvSpPr/>
            <p:nvPr/>
          </p:nvSpPr>
          <p:spPr>
            <a:xfrm>
              <a:off x="8072628" y="2906267"/>
              <a:ext cx="104139" cy="207645"/>
            </a:xfrm>
            <a:custGeom>
              <a:avLst/>
              <a:gdLst/>
              <a:ahLst/>
              <a:cxnLst/>
              <a:rect l="l" t="t" r="r" b="b"/>
              <a:pathLst>
                <a:path w="104140" h="207644">
                  <a:moveTo>
                    <a:pt x="103631" y="0"/>
                  </a:moveTo>
                  <a:lnTo>
                    <a:pt x="0" y="0"/>
                  </a:lnTo>
                  <a:lnTo>
                    <a:pt x="0" y="207263"/>
                  </a:lnTo>
                  <a:lnTo>
                    <a:pt x="103631" y="207263"/>
                  </a:lnTo>
                  <a:lnTo>
                    <a:pt x="103631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072628" y="2906267"/>
              <a:ext cx="104139" cy="207645"/>
            </a:xfrm>
            <a:custGeom>
              <a:avLst/>
              <a:gdLst/>
              <a:ahLst/>
              <a:cxnLst/>
              <a:rect l="l" t="t" r="r" b="b"/>
              <a:pathLst>
                <a:path w="104140" h="207644">
                  <a:moveTo>
                    <a:pt x="0" y="207263"/>
                  </a:moveTo>
                  <a:lnTo>
                    <a:pt x="103631" y="207263"/>
                  </a:lnTo>
                  <a:lnTo>
                    <a:pt x="103631" y="0"/>
                  </a:lnTo>
                  <a:lnTo>
                    <a:pt x="0" y="0"/>
                  </a:lnTo>
                  <a:lnTo>
                    <a:pt x="0" y="207263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072628" y="3217163"/>
              <a:ext cx="104139" cy="155575"/>
            </a:xfrm>
            <a:custGeom>
              <a:avLst/>
              <a:gdLst/>
              <a:ahLst/>
              <a:cxnLst/>
              <a:rect l="l" t="t" r="r" b="b"/>
              <a:pathLst>
                <a:path w="104140" h="155575">
                  <a:moveTo>
                    <a:pt x="103631" y="0"/>
                  </a:moveTo>
                  <a:lnTo>
                    <a:pt x="0" y="0"/>
                  </a:lnTo>
                  <a:lnTo>
                    <a:pt x="0" y="155448"/>
                  </a:lnTo>
                  <a:lnTo>
                    <a:pt x="103631" y="155448"/>
                  </a:lnTo>
                  <a:lnTo>
                    <a:pt x="103631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072628" y="3217163"/>
              <a:ext cx="104139" cy="155575"/>
            </a:xfrm>
            <a:custGeom>
              <a:avLst/>
              <a:gdLst/>
              <a:ahLst/>
              <a:cxnLst/>
              <a:rect l="l" t="t" r="r" b="b"/>
              <a:pathLst>
                <a:path w="104140" h="155575">
                  <a:moveTo>
                    <a:pt x="0" y="155448"/>
                  </a:moveTo>
                  <a:lnTo>
                    <a:pt x="103631" y="155448"/>
                  </a:lnTo>
                  <a:lnTo>
                    <a:pt x="103631" y="0"/>
                  </a:lnTo>
                  <a:lnTo>
                    <a:pt x="0" y="0"/>
                  </a:lnTo>
                  <a:lnTo>
                    <a:pt x="0" y="15544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072628" y="3528059"/>
              <a:ext cx="104139" cy="207645"/>
            </a:xfrm>
            <a:custGeom>
              <a:avLst/>
              <a:gdLst/>
              <a:ahLst/>
              <a:cxnLst/>
              <a:rect l="l" t="t" r="r" b="b"/>
              <a:pathLst>
                <a:path w="104140" h="207645">
                  <a:moveTo>
                    <a:pt x="103631" y="0"/>
                  </a:moveTo>
                  <a:lnTo>
                    <a:pt x="0" y="0"/>
                  </a:lnTo>
                  <a:lnTo>
                    <a:pt x="0" y="207263"/>
                  </a:lnTo>
                  <a:lnTo>
                    <a:pt x="103631" y="207263"/>
                  </a:lnTo>
                  <a:lnTo>
                    <a:pt x="10363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072628" y="3528059"/>
              <a:ext cx="104139" cy="207645"/>
            </a:xfrm>
            <a:custGeom>
              <a:avLst/>
              <a:gdLst/>
              <a:ahLst/>
              <a:cxnLst/>
              <a:rect l="l" t="t" r="r" b="b"/>
              <a:pathLst>
                <a:path w="104140" h="207645">
                  <a:moveTo>
                    <a:pt x="0" y="207263"/>
                  </a:moveTo>
                  <a:lnTo>
                    <a:pt x="103631" y="207263"/>
                  </a:lnTo>
                  <a:lnTo>
                    <a:pt x="103631" y="0"/>
                  </a:lnTo>
                  <a:lnTo>
                    <a:pt x="0" y="0"/>
                  </a:lnTo>
                  <a:lnTo>
                    <a:pt x="0" y="207263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072628" y="3838955"/>
              <a:ext cx="104139" cy="155575"/>
            </a:xfrm>
            <a:custGeom>
              <a:avLst/>
              <a:gdLst/>
              <a:ahLst/>
              <a:cxnLst/>
              <a:rect l="l" t="t" r="r" b="b"/>
              <a:pathLst>
                <a:path w="104140" h="155575">
                  <a:moveTo>
                    <a:pt x="103631" y="0"/>
                  </a:moveTo>
                  <a:lnTo>
                    <a:pt x="0" y="0"/>
                  </a:lnTo>
                  <a:lnTo>
                    <a:pt x="0" y="155447"/>
                  </a:lnTo>
                  <a:lnTo>
                    <a:pt x="103631" y="155447"/>
                  </a:lnTo>
                  <a:lnTo>
                    <a:pt x="103631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072628" y="3838955"/>
              <a:ext cx="104139" cy="155575"/>
            </a:xfrm>
            <a:custGeom>
              <a:avLst/>
              <a:gdLst/>
              <a:ahLst/>
              <a:cxnLst/>
              <a:rect l="l" t="t" r="r" b="b"/>
              <a:pathLst>
                <a:path w="104140" h="155575">
                  <a:moveTo>
                    <a:pt x="0" y="155447"/>
                  </a:moveTo>
                  <a:lnTo>
                    <a:pt x="103631" y="155447"/>
                  </a:lnTo>
                  <a:lnTo>
                    <a:pt x="103631" y="0"/>
                  </a:lnTo>
                  <a:lnTo>
                    <a:pt x="0" y="0"/>
                  </a:lnTo>
                  <a:lnTo>
                    <a:pt x="0" y="15544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243572" y="2906267"/>
              <a:ext cx="104139" cy="207645"/>
            </a:xfrm>
            <a:custGeom>
              <a:avLst/>
              <a:gdLst/>
              <a:ahLst/>
              <a:cxnLst/>
              <a:rect l="l" t="t" r="r" b="b"/>
              <a:pathLst>
                <a:path w="104140" h="207644">
                  <a:moveTo>
                    <a:pt x="103631" y="0"/>
                  </a:moveTo>
                  <a:lnTo>
                    <a:pt x="0" y="0"/>
                  </a:lnTo>
                  <a:lnTo>
                    <a:pt x="0" y="207263"/>
                  </a:lnTo>
                  <a:lnTo>
                    <a:pt x="103631" y="207263"/>
                  </a:lnTo>
                  <a:lnTo>
                    <a:pt x="103631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243572" y="2906267"/>
              <a:ext cx="104139" cy="207645"/>
            </a:xfrm>
            <a:custGeom>
              <a:avLst/>
              <a:gdLst/>
              <a:ahLst/>
              <a:cxnLst/>
              <a:rect l="l" t="t" r="r" b="b"/>
              <a:pathLst>
                <a:path w="104140" h="207644">
                  <a:moveTo>
                    <a:pt x="0" y="207263"/>
                  </a:moveTo>
                  <a:lnTo>
                    <a:pt x="103631" y="207263"/>
                  </a:lnTo>
                  <a:lnTo>
                    <a:pt x="103631" y="0"/>
                  </a:lnTo>
                  <a:lnTo>
                    <a:pt x="0" y="0"/>
                  </a:lnTo>
                  <a:lnTo>
                    <a:pt x="0" y="207263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243572" y="3217163"/>
              <a:ext cx="104139" cy="155575"/>
            </a:xfrm>
            <a:custGeom>
              <a:avLst/>
              <a:gdLst/>
              <a:ahLst/>
              <a:cxnLst/>
              <a:rect l="l" t="t" r="r" b="b"/>
              <a:pathLst>
                <a:path w="104140" h="155575">
                  <a:moveTo>
                    <a:pt x="103631" y="0"/>
                  </a:moveTo>
                  <a:lnTo>
                    <a:pt x="0" y="0"/>
                  </a:lnTo>
                  <a:lnTo>
                    <a:pt x="0" y="155448"/>
                  </a:lnTo>
                  <a:lnTo>
                    <a:pt x="103631" y="155448"/>
                  </a:lnTo>
                  <a:lnTo>
                    <a:pt x="103631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243572" y="3217163"/>
              <a:ext cx="104139" cy="155575"/>
            </a:xfrm>
            <a:custGeom>
              <a:avLst/>
              <a:gdLst/>
              <a:ahLst/>
              <a:cxnLst/>
              <a:rect l="l" t="t" r="r" b="b"/>
              <a:pathLst>
                <a:path w="104140" h="155575">
                  <a:moveTo>
                    <a:pt x="0" y="155448"/>
                  </a:moveTo>
                  <a:lnTo>
                    <a:pt x="103631" y="155448"/>
                  </a:lnTo>
                  <a:lnTo>
                    <a:pt x="103631" y="0"/>
                  </a:lnTo>
                  <a:lnTo>
                    <a:pt x="0" y="0"/>
                  </a:lnTo>
                  <a:lnTo>
                    <a:pt x="0" y="15544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243572" y="3528059"/>
              <a:ext cx="104139" cy="207645"/>
            </a:xfrm>
            <a:custGeom>
              <a:avLst/>
              <a:gdLst/>
              <a:ahLst/>
              <a:cxnLst/>
              <a:rect l="l" t="t" r="r" b="b"/>
              <a:pathLst>
                <a:path w="104140" h="207645">
                  <a:moveTo>
                    <a:pt x="103631" y="0"/>
                  </a:moveTo>
                  <a:lnTo>
                    <a:pt x="0" y="0"/>
                  </a:lnTo>
                  <a:lnTo>
                    <a:pt x="0" y="207263"/>
                  </a:lnTo>
                  <a:lnTo>
                    <a:pt x="103631" y="207263"/>
                  </a:lnTo>
                  <a:lnTo>
                    <a:pt x="10363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243572" y="3528059"/>
              <a:ext cx="104139" cy="207645"/>
            </a:xfrm>
            <a:custGeom>
              <a:avLst/>
              <a:gdLst/>
              <a:ahLst/>
              <a:cxnLst/>
              <a:rect l="l" t="t" r="r" b="b"/>
              <a:pathLst>
                <a:path w="104140" h="207645">
                  <a:moveTo>
                    <a:pt x="0" y="207263"/>
                  </a:moveTo>
                  <a:lnTo>
                    <a:pt x="103631" y="207263"/>
                  </a:lnTo>
                  <a:lnTo>
                    <a:pt x="103631" y="0"/>
                  </a:lnTo>
                  <a:lnTo>
                    <a:pt x="0" y="0"/>
                  </a:lnTo>
                  <a:lnTo>
                    <a:pt x="0" y="207263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243572" y="3838955"/>
              <a:ext cx="104139" cy="155575"/>
            </a:xfrm>
            <a:custGeom>
              <a:avLst/>
              <a:gdLst/>
              <a:ahLst/>
              <a:cxnLst/>
              <a:rect l="l" t="t" r="r" b="b"/>
              <a:pathLst>
                <a:path w="104140" h="155575">
                  <a:moveTo>
                    <a:pt x="103631" y="0"/>
                  </a:moveTo>
                  <a:lnTo>
                    <a:pt x="0" y="0"/>
                  </a:lnTo>
                  <a:lnTo>
                    <a:pt x="0" y="155447"/>
                  </a:lnTo>
                  <a:lnTo>
                    <a:pt x="103631" y="155447"/>
                  </a:lnTo>
                  <a:lnTo>
                    <a:pt x="103631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243572" y="3838955"/>
              <a:ext cx="104139" cy="155575"/>
            </a:xfrm>
            <a:custGeom>
              <a:avLst/>
              <a:gdLst/>
              <a:ahLst/>
              <a:cxnLst/>
              <a:rect l="l" t="t" r="r" b="b"/>
              <a:pathLst>
                <a:path w="104140" h="155575">
                  <a:moveTo>
                    <a:pt x="0" y="155447"/>
                  </a:moveTo>
                  <a:lnTo>
                    <a:pt x="103631" y="155447"/>
                  </a:lnTo>
                  <a:lnTo>
                    <a:pt x="103631" y="0"/>
                  </a:lnTo>
                  <a:lnTo>
                    <a:pt x="0" y="0"/>
                  </a:lnTo>
                  <a:lnTo>
                    <a:pt x="0" y="15544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518148" y="2906267"/>
              <a:ext cx="104139" cy="207645"/>
            </a:xfrm>
            <a:custGeom>
              <a:avLst/>
              <a:gdLst/>
              <a:ahLst/>
              <a:cxnLst/>
              <a:rect l="l" t="t" r="r" b="b"/>
              <a:pathLst>
                <a:path w="104140" h="207644">
                  <a:moveTo>
                    <a:pt x="103631" y="0"/>
                  </a:moveTo>
                  <a:lnTo>
                    <a:pt x="0" y="0"/>
                  </a:lnTo>
                  <a:lnTo>
                    <a:pt x="0" y="207263"/>
                  </a:lnTo>
                  <a:lnTo>
                    <a:pt x="103631" y="207263"/>
                  </a:lnTo>
                  <a:lnTo>
                    <a:pt x="103631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518148" y="2906267"/>
              <a:ext cx="104139" cy="207645"/>
            </a:xfrm>
            <a:custGeom>
              <a:avLst/>
              <a:gdLst/>
              <a:ahLst/>
              <a:cxnLst/>
              <a:rect l="l" t="t" r="r" b="b"/>
              <a:pathLst>
                <a:path w="104140" h="207644">
                  <a:moveTo>
                    <a:pt x="0" y="207263"/>
                  </a:moveTo>
                  <a:lnTo>
                    <a:pt x="103631" y="207263"/>
                  </a:lnTo>
                  <a:lnTo>
                    <a:pt x="103631" y="0"/>
                  </a:lnTo>
                  <a:lnTo>
                    <a:pt x="0" y="0"/>
                  </a:lnTo>
                  <a:lnTo>
                    <a:pt x="0" y="207263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518148" y="3217163"/>
              <a:ext cx="104139" cy="155575"/>
            </a:xfrm>
            <a:custGeom>
              <a:avLst/>
              <a:gdLst/>
              <a:ahLst/>
              <a:cxnLst/>
              <a:rect l="l" t="t" r="r" b="b"/>
              <a:pathLst>
                <a:path w="104140" h="155575">
                  <a:moveTo>
                    <a:pt x="103631" y="0"/>
                  </a:moveTo>
                  <a:lnTo>
                    <a:pt x="0" y="0"/>
                  </a:lnTo>
                  <a:lnTo>
                    <a:pt x="0" y="155448"/>
                  </a:lnTo>
                  <a:lnTo>
                    <a:pt x="103631" y="155448"/>
                  </a:lnTo>
                  <a:lnTo>
                    <a:pt x="103631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518148" y="3217163"/>
              <a:ext cx="104139" cy="155575"/>
            </a:xfrm>
            <a:custGeom>
              <a:avLst/>
              <a:gdLst/>
              <a:ahLst/>
              <a:cxnLst/>
              <a:rect l="l" t="t" r="r" b="b"/>
              <a:pathLst>
                <a:path w="104140" h="155575">
                  <a:moveTo>
                    <a:pt x="0" y="155448"/>
                  </a:moveTo>
                  <a:lnTo>
                    <a:pt x="103631" y="155448"/>
                  </a:lnTo>
                  <a:lnTo>
                    <a:pt x="103631" y="0"/>
                  </a:lnTo>
                  <a:lnTo>
                    <a:pt x="0" y="0"/>
                  </a:lnTo>
                  <a:lnTo>
                    <a:pt x="0" y="15544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518148" y="3528059"/>
              <a:ext cx="104139" cy="207645"/>
            </a:xfrm>
            <a:custGeom>
              <a:avLst/>
              <a:gdLst/>
              <a:ahLst/>
              <a:cxnLst/>
              <a:rect l="l" t="t" r="r" b="b"/>
              <a:pathLst>
                <a:path w="104140" h="207645">
                  <a:moveTo>
                    <a:pt x="103631" y="0"/>
                  </a:moveTo>
                  <a:lnTo>
                    <a:pt x="0" y="0"/>
                  </a:lnTo>
                  <a:lnTo>
                    <a:pt x="0" y="207263"/>
                  </a:lnTo>
                  <a:lnTo>
                    <a:pt x="103631" y="207263"/>
                  </a:lnTo>
                  <a:lnTo>
                    <a:pt x="10363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518148" y="3528059"/>
              <a:ext cx="104139" cy="207645"/>
            </a:xfrm>
            <a:custGeom>
              <a:avLst/>
              <a:gdLst/>
              <a:ahLst/>
              <a:cxnLst/>
              <a:rect l="l" t="t" r="r" b="b"/>
              <a:pathLst>
                <a:path w="104140" h="207645">
                  <a:moveTo>
                    <a:pt x="0" y="207263"/>
                  </a:moveTo>
                  <a:lnTo>
                    <a:pt x="103631" y="207263"/>
                  </a:lnTo>
                  <a:lnTo>
                    <a:pt x="103631" y="0"/>
                  </a:lnTo>
                  <a:lnTo>
                    <a:pt x="0" y="0"/>
                  </a:lnTo>
                  <a:lnTo>
                    <a:pt x="0" y="207263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518148" y="3838955"/>
              <a:ext cx="104139" cy="155575"/>
            </a:xfrm>
            <a:custGeom>
              <a:avLst/>
              <a:gdLst/>
              <a:ahLst/>
              <a:cxnLst/>
              <a:rect l="l" t="t" r="r" b="b"/>
              <a:pathLst>
                <a:path w="104140" h="155575">
                  <a:moveTo>
                    <a:pt x="103631" y="0"/>
                  </a:moveTo>
                  <a:lnTo>
                    <a:pt x="0" y="0"/>
                  </a:lnTo>
                  <a:lnTo>
                    <a:pt x="0" y="155447"/>
                  </a:lnTo>
                  <a:lnTo>
                    <a:pt x="103631" y="155447"/>
                  </a:lnTo>
                  <a:lnTo>
                    <a:pt x="103631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518148" y="3838955"/>
              <a:ext cx="104139" cy="155575"/>
            </a:xfrm>
            <a:custGeom>
              <a:avLst/>
              <a:gdLst/>
              <a:ahLst/>
              <a:cxnLst/>
              <a:rect l="l" t="t" r="r" b="b"/>
              <a:pathLst>
                <a:path w="104140" h="155575">
                  <a:moveTo>
                    <a:pt x="0" y="155447"/>
                  </a:moveTo>
                  <a:lnTo>
                    <a:pt x="103631" y="155447"/>
                  </a:lnTo>
                  <a:lnTo>
                    <a:pt x="103631" y="0"/>
                  </a:lnTo>
                  <a:lnTo>
                    <a:pt x="0" y="0"/>
                  </a:lnTo>
                  <a:lnTo>
                    <a:pt x="0" y="15544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2751" y="3255264"/>
            <a:ext cx="8437245" cy="1000125"/>
            <a:chOff x="682751" y="3255264"/>
            <a:chExt cx="8437245" cy="1000125"/>
          </a:xfrm>
        </p:grpSpPr>
        <p:sp>
          <p:nvSpPr>
            <p:cNvPr id="3" name="object 3"/>
            <p:cNvSpPr/>
            <p:nvPr/>
          </p:nvSpPr>
          <p:spPr>
            <a:xfrm>
              <a:off x="687323" y="3259836"/>
              <a:ext cx="8427720" cy="990600"/>
            </a:xfrm>
            <a:custGeom>
              <a:avLst/>
              <a:gdLst/>
              <a:ahLst/>
              <a:cxnLst/>
              <a:rect l="l" t="t" r="r" b="b"/>
              <a:pathLst>
                <a:path w="8427720" h="990600">
                  <a:moveTo>
                    <a:pt x="842772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8427720" y="990600"/>
                  </a:lnTo>
                  <a:lnTo>
                    <a:pt x="842772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87323" y="3259836"/>
              <a:ext cx="8427720" cy="990600"/>
            </a:xfrm>
            <a:custGeom>
              <a:avLst/>
              <a:gdLst/>
              <a:ahLst/>
              <a:cxnLst/>
              <a:rect l="l" t="t" r="r" b="b"/>
              <a:pathLst>
                <a:path w="8427720" h="990600">
                  <a:moveTo>
                    <a:pt x="0" y="990600"/>
                  </a:moveTo>
                  <a:lnTo>
                    <a:pt x="8427720" y="990600"/>
                  </a:lnTo>
                  <a:lnTo>
                    <a:pt x="8427720" y="0"/>
                  </a:lnTo>
                  <a:lnTo>
                    <a:pt x="0" y="0"/>
                  </a:lnTo>
                  <a:lnTo>
                    <a:pt x="0" y="990600"/>
                  </a:lnTo>
                  <a:close/>
                </a:path>
              </a:pathLst>
            </a:custGeom>
            <a:ln w="9144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5" dirty="0"/>
              <a:t>System</a:t>
            </a:r>
            <a:r>
              <a:rPr spc="-45" dirty="0"/>
              <a:t> Testing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5" dirty="0"/>
              <a:t>49</a:t>
            </a:fld>
            <a:endParaRPr spc="-5" dirty="0"/>
          </a:p>
        </p:txBody>
      </p:sp>
      <p:sp>
        <p:nvSpPr>
          <p:cNvPr id="6" name="object 6"/>
          <p:cNvSpPr txBox="1"/>
          <p:nvPr/>
        </p:nvSpPr>
        <p:spPr>
          <a:xfrm>
            <a:off x="199440" y="528431"/>
            <a:ext cx="8807450" cy="3660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3840" marR="226060" indent="-231775">
              <a:lnSpc>
                <a:spcPct val="126000"/>
              </a:lnSpc>
              <a:spcBef>
                <a:spcPts val="95"/>
              </a:spcBef>
              <a:buFont typeface="Arial MT"/>
              <a:buChar char="•"/>
              <a:tabLst>
                <a:tab pos="244475" algn="l"/>
              </a:tabLst>
            </a:pPr>
            <a:r>
              <a:rPr sz="2700" spc="-5" dirty="0">
                <a:latin typeface="Calibri"/>
                <a:cs typeface="Calibri"/>
              </a:rPr>
              <a:t>After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all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the modules</a:t>
            </a:r>
            <a:r>
              <a:rPr sz="2700" spc="3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have</a:t>
            </a:r>
            <a:r>
              <a:rPr sz="2700" spc="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been</a:t>
            </a:r>
            <a:r>
              <a:rPr sz="2700" spc="3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successfully</a:t>
            </a:r>
            <a:r>
              <a:rPr sz="2700" spc="5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integrated</a:t>
            </a:r>
            <a:r>
              <a:rPr sz="2700" spc="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tested: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 MT"/>
              <a:buChar char="•"/>
            </a:pPr>
            <a:endParaRPr sz="2150">
              <a:latin typeface="Calibri"/>
              <a:cs typeface="Calibri"/>
            </a:endParaRPr>
          </a:p>
          <a:p>
            <a:pPr marL="323850">
              <a:lnSpc>
                <a:spcPct val="100000"/>
              </a:lnSpc>
            </a:pPr>
            <a:r>
              <a:rPr sz="2450" dirty="0">
                <a:solidFill>
                  <a:srgbClr val="800000"/>
                </a:solidFill>
                <a:latin typeface="Arial MT"/>
                <a:cs typeface="Arial MT"/>
              </a:rPr>
              <a:t>–</a:t>
            </a:r>
            <a:r>
              <a:rPr sz="2450" dirty="0">
                <a:solidFill>
                  <a:srgbClr val="800000"/>
                </a:solidFill>
                <a:latin typeface="Calibri"/>
                <a:cs typeface="Calibri"/>
              </a:rPr>
              <a:t>System</a:t>
            </a:r>
            <a:r>
              <a:rPr sz="2450" spc="-15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800000"/>
                </a:solidFill>
                <a:latin typeface="Calibri"/>
                <a:cs typeface="Calibri"/>
              </a:rPr>
              <a:t>testing</a:t>
            </a:r>
            <a:r>
              <a:rPr sz="2450" spc="10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800000"/>
                </a:solidFill>
                <a:latin typeface="Calibri"/>
                <a:cs typeface="Calibri"/>
              </a:rPr>
              <a:t>is carried</a:t>
            </a:r>
            <a:r>
              <a:rPr sz="2450" spc="-20" dirty="0">
                <a:solidFill>
                  <a:srgbClr val="800000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800000"/>
                </a:solidFill>
                <a:latin typeface="Calibri"/>
                <a:cs typeface="Calibri"/>
              </a:rPr>
              <a:t>out.</a:t>
            </a:r>
            <a:endParaRPr sz="2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00">
              <a:latin typeface="Calibri"/>
              <a:cs typeface="Calibri"/>
            </a:endParaRPr>
          </a:p>
          <a:p>
            <a:pPr marL="243840" indent="-231775">
              <a:lnSpc>
                <a:spcPct val="100000"/>
              </a:lnSpc>
              <a:buFont typeface="Arial MT"/>
              <a:buChar char="•"/>
              <a:tabLst>
                <a:tab pos="244475" algn="l"/>
              </a:tabLst>
            </a:pPr>
            <a:r>
              <a:rPr sz="2700" spc="5" dirty="0">
                <a:latin typeface="Calibri"/>
                <a:cs typeface="Calibri"/>
              </a:rPr>
              <a:t>Goal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of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system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testing:</a:t>
            </a:r>
            <a:endParaRPr sz="2700">
              <a:latin typeface="Calibri"/>
              <a:cs typeface="Calibri"/>
            </a:endParaRPr>
          </a:p>
          <a:p>
            <a:pPr marL="515620" marR="5080" indent="-192405">
              <a:lnSpc>
                <a:spcPct val="127099"/>
              </a:lnSpc>
              <a:spcBef>
                <a:spcPts val="1989"/>
              </a:spcBef>
            </a:pPr>
            <a:r>
              <a:rPr sz="2150" spc="20" dirty="0">
                <a:solidFill>
                  <a:srgbClr val="000099"/>
                </a:solidFill>
                <a:latin typeface="Arial MT"/>
                <a:cs typeface="Arial MT"/>
              </a:rPr>
              <a:t>–</a:t>
            </a:r>
            <a:r>
              <a:rPr sz="2150" spc="-305" dirty="0">
                <a:solidFill>
                  <a:srgbClr val="000099"/>
                </a:solidFill>
                <a:latin typeface="Arial MT"/>
                <a:cs typeface="Arial MT"/>
              </a:rPr>
              <a:t> </a:t>
            </a:r>
            <a:r>
              <a:rPr sz="2150" spc="10" dirty="0">
                <a:solidFill>
                  <a:srgbClr val="000099"/>
                </a:solidFill>
                <a:latin typeface="Calibri"/>
                <a:cs typeface="Calibri"/>
              </a:rPr>
              <a:t>Ensure</a:t>
            </a:r>
            <a:r>
              <a:rPr sz="2150" spc="-1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150" spc="5" dirty="0">
                <a:solidFill>
                  <a:srgbClr val="000099"/>
                </a:solidFill>
                <a:latin typeface="Calibri"/>
                <a:cs typeface="Calibri"/>
              </a:rPr>
              <a:t>that</a:t>
            </a:r>
            <a:r>
              <a:rPr sz="2150" spc="-1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150" spc="5" dirty="0">
                <a:solidFill>
                  <a:srgbClr val="000099"/>
                </a:solidFill>
                <a:latin typeface="Calibri"/>
                <a:cs typeface="Calibri"/>
              </a:rPr>
              <a:t>the</a:t>
            </a:r>
            <a:r>
              <a:rPr sz="2150" spc="1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150" spc="10" dirty="0">
                <a:solidFill>
                  <a:srgbClr val="000099"/>
                </a:solidFill>
                <a:latin typeface="Calibri"/>
                <a:cs typeface="Calibri"/>
              </a:rPr>
              <a:t>developed</a:t>
            </a:r>
            <a:r>
              <a:rPr sz="215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000099"/>
                </a:solidFill>
                <a:latin typeface="Calibri"/>
                <a:cs typeface="Calibri"/>
              </a:rPr>
              <a:t>system</a:t>
            </a:r>
            <a:r>
              <a:rPr sz="2150" spc="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150" spc="10" dirty="0">
                <a:solidFill>
                  <a:srgbClr val="000099"/>
                </a:solidFill>
                <a:latin typeface="Calibri"/>
                <a:cs typeface="Calibri"/>
              </a:rPr>
              <a:t>functions</a:t>
            </a:r>
            <a:r>
              <a:rPr sz="2150" spc="-1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150" spc="5" dirty="0">
                <a:solidFill>
                  <a:srgbClr val="000099"/>
                </a:solidFill>
                <a:latin typeface="Calibri"/>
                <a:cs typeface="Calibri"/>
              </a:rPr>
              <a:t>according</a:t>
            </a:r>
            <a:r>
              <a:rPr sz="215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150" spc="-5" dirty="0">
                <a:solidFill>
                  <a:srgbClr val="000099"/>
                </a:solidFill>
                <a:latin typeface="Calibri"/>
                <a:cs typeface="Calibri"/>
              </a:rPr>
              <a:t>to</a:t>
            </a:r>
            <a:r>
              <a:rPr sz="2150" spc="1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150" spc="5" dirty="0">
                <a:solidFill>
                  <a:srgbClr val="000099"/>
                </a:solidFill>
                <a:latin typeface="Calibri"/>
                <a:cs typeface="Calibri"/>
              </a:rPr>
              <a:t>its</a:t>
            </a:r>
            <a:r>
              <a:rPr sz="2150" spc="-2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150" spc="5" dirty="0">
                <a:solidFill>
                  <a:srgbClr val="000099"/>
                </a:solidFill>
                <a:latin typeface="Calibri"/>
                <a:cs typeface="Calibri"/>
              </a:rPr>
              <a:t>requirements </a:t>
            </a:r>
            <a:r>
              <a:rPr sz="2150" spc="-47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150" spc="15" dirty="0">
                <a:solidFill>
                  <a:srgbClr val="000099"/>
                </a:solidFill>
                <a:latin typeface="Calibri"/>
                <a:cs typeface="Calibri"/>
              </a:rPr>
              <a:t>as</a:t>
            </a:r>
            <a:r>
              <a:rPr sz="2150" spc="-3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150" spc="10" dirty="0">
                <a:solidFill>
                  <a:srgbClr val="000099"/>
                </a:solidFill>
                <a:latin typeface="Calibri"/>
                <a:cs typeface="Calibri"/>
              </a:rPr>
              <a:t>specified</a:t>
            </a:r>
            <a:r>
              <a:rPr sz="2150" spc="-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150" spc="10" dirty="0">
                <a:solidFill>
                  <a:srgbClr val="000099"/>
                </a:solidFill>
                <a:latin typeface="Calibri"/>
                <a:cs typeface="Calibri"/>
              </a:rPr>
              <a:t>in</a:t>
            </a:r>
            <a:r>
              <a:rPr sz="2150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150" spc="5" dirty="0">
                <a:solidFill>
                  <a:srgbClr val="000099"/>
                </a:solidFill>
                <a:latin typeface="Calibri"/>
                <a:cs typeface="Calibri"/>
              </a:rPr>
              <a:t>the SRS</a:t>
            </a:r>
            <a:r>
              <a:rPr sz="2150" spc="-5" dirty="0">
                <a:solidFill>
                  <a:srgbClr val="000099"/>
                </a:solidFill>
                <a:latin typeface="Calibri"/>
                <a:cs typeface="Calibri"/>
              </a:rPr>
              <a:t> </a:t>
            </a:r>
            <a:r>
              <a:rPr sz="2150" spc="10" dirty="0">
                <a:solidFill>
                  <a:srgbClr val="000099"/>
                </a:solidFill>
                <a:latin typeface="Calibri"/>
                <a:cs typeface="Calibri"/>
              </a:rPr>
              <a:t>document</a:t>
            </a:r>
            <a:r>
              <a:rPr sz="2450" spc="10" dirty="0">
                <a:solidFill>
                  <a:srgbClr val="000099"/>
                </a:solidFill>
                <a:latin typeface="Calibri"/>
                <a:cs typeface="Calibri"/>
              </a:rPr>
              <a:t>.</a:t>
            </a:r>
            <a:endParaRPr sz="2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76415" y="1694688"/>
            <a:ext cx="2767965" cy="1003300"/>
          </a:xfrm>
          <a:custGeom>
            <a:avLst/>
            <a:gdLst/>
            <a:ahLst/>
            <a:cxnLst/>
            <a:rect l="l" t="t" r="r" b="b"/>
            <a:pathLst>
              <a:path w="2767965" h="1003300">
                <a:moveTo>
                  <a:pt x="2767584" y="0"/>
                </a:moveTo>
                <a:lnTo>
                  <a:pt x="0" y="0"/>
                </a:lnTo>
                <a:lnTo>
                  <a:pt x="0" y="1002792"/>
                </a:lnTo>
                <a:lnTo>
                  <a:pt x="2767584" y="1002792"/>
                </a:lnTo>
                <a:lnTo>
                  <a:pt x="276758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404228" y="1734692"/>
            <a:ext cx="2713990" cy="85280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875665" marR="5080" indent="-862965">
              <a:lnSpc>
                <a:spcPts val="3140"/>
              </a:lnSpc>
              <a:spcBef>
                <a:spcPts val="395"/>
              </a:spcBef>
            </a:pP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Classical</a:t>
            </a:r>
            <a:r>
              <a:rPr sz="2800" b="1" spc="-7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0033CC"/>
                </a:solidFill>
                <a:latin typeface="Calibri"/>
                <a:cs typeface="Calibri"/>
              </a:rPr>
              <a:t>Waterfall </a:t>
            </a:r>
            <a:r>
              <a:rPr sz="2800" b="1" spc="-62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Model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48321" y="496633"/>
            <a:ext cx="2329180" cy="403225"/>
            <a:chOff x="1048321" y="496633"/>
            <a:chExt cx="2329180" cy="403225"/>
          </a:xfrm>
        </p:grpSpPr>
        <p:sp>
          <p:nvSpPr>
            <p:cNvPr id="5" name="object 5"/>
            <p:cNvSpPr/>
            <p:nvPr/>
          </p:nvSpPr>
          <p:spPr>
            <a:xfrm>
              <a:off x="1068323" y="516635"/>
              <a:ext cx="2289175" cy="363220"/>
            </a:xfrm>
            <a:custGeom>
              <a:avLst/>
              <a:gdLst/>
              <a:ahLst/>
              <a:cxnLst/>
              <a:rect l="l" t="t" r="r" b="b"/>
              <a:pathLst>
                <a:path w="2289175" h="363219">
                  <a:moveTo>
                    <a:pt x="2289048" y="0"/>
                  </a:moveTo>
                  <a:lnTo>
                    <a:pt x="0" y="0"/>
                  </a:lnTo>
                  <a:lnTo>
                    <a:pt x="0" y="362712"/>
                  </a:lnTo>
                  <a:lnTo>
                    <a:pt x="2289048" y="362712"/>
                  </a:lnTo>
                  <a:lnTo>
                    <a:pt x="2289048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68323" y="516635"/>
              <a:ext cx="2289175" cy="363220"/>
            </a:xfrm>
            <a:custGeom>
              <a:avLst/>
              <a:gdLst/>
              <a:ahLst/>
              <a:cxnLst/>
              <a:rect l="l" t="t" r="r" b="b"/>
              <a:pathLst>
                <a:path w="2289175" h="363219">
                  <a:moveTo>
                    <a:pt x="0" y="362712"/>
                  </a:moveTo>
                  <a:lnTo>
                    <a:pt x="2289048" y="362712"/>
                  </a:lnTo>
                  <a:lnTo>
                    <a:pt x="2289048" y="0"/>
                  </a:lnTo>
                  <a:lnTo>
                    <a:pt x="0" y="0"/>
                  </a:lnTo>
                  <a:lnTo>
                    <a:pt x="0" y="362712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68324" y="516635"/>
            <a:ext cx="2289175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9710">
              <a:lnSpc>
                <a:spcPts val="1980"/>
              </a:lnSpc>
            </a:pPr>
            <a:r>
              <a:rPr sz="1750" b="1" spc="10" dirty="0">
                <a:latin typeface="Comic Sans MS"/>
                <a:cs typeface="Comic Sans MS"/>
              </a:rPr>
              <a:t>Feasibility</a:t>
            </a:r>
            <a:r>
              <a:rPr sz="1750" b="1" spc="-65" dirty="0">
                <a:latin typeface="Comic Sans MS"/>
                <a:cs typeface="Comic Sans MS"/>
              </a:rPr>
              <a:t> </a:t>
            </a:r>
            <a:r>
              <a:rPr sz="1750" b="1" spc="5" dirty="0">
                <a:latin typeface="Comic Sans MS"/>
                <a:cs typeface="Comic Sans MS"/>
              </a:rPr>
              <a:t>Study</a:t>
            </a:r>
            <a:endParaRPr sz="1750">
              <a:latin typeface="Comic Sans MS"/>
              <a:cs typeface="Comic Sans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865185" y="1228153"/>
            <a:ext cx="2286635" cy="448945"/>
            <a:chOff x="1865185" y="1228153"/>
            <a:chExt cx="2286635" cy="448945"/>
          </a:xfrm>
        </p:grpSpPr>
        <p:sp>
          <p:nvSpPr>
            <p:cNvPr id="9" name="object 9"/>
            <p:cNvSpPr/>
            <p:nvPr/>
          </p:nvSpPr>
          <p:spPr>
            <a:xfrm>
              <a:off x="1885188" y="1248155"/>
              <a:ext cx="2246630" cy="408940"/>
            </a:xfrm>
            <a:custGeom>
              <a:avLst/>
              <a:gdLst/>
              <a:ahLst/>
              <a:cxnLst/>
              <a:rect l="l" t="t" r="r" b="b"/>
              <a:pathLst>
                <a:path w="2246629" h="408939">
                  <a:moveTo>
                    <a:pt x="2246376" y="0"/>
                  </a:moveTo>
                  <a:lnTo>
                    <a:pt x="0" y="0"/>
                  </a:lnTo>
                  <a:lnTo>
                    <a:pt x="0" y="408432"/>
                  </a:lnTo>
                  <a:lnTo>
                    <a:pt x="2246376" y="408432"/>
                  </a:lnTo>
                  <a:lnTo>
                    <a:pt x="224637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85188" y="1248155"/>
              <a:ext cx="2246630" cy="408940"/>
            </a:xfrm>
            <a:custGeom>
              <a:avLst/>
              <a:gdLst/>
              <a:ahLst/>
              <a:cxnLst/>
              <a:rect l="l" t="t" r="r" b="b"/>
              <a:pathLst>
                <a:path w="2246629" h="408939">
                  <a:moveTo>
                    <a:pt x="0" y="408432"/>
                  </a:moveTo>
                  <a:lnTo>
                    <a:pt x="2246376" y="408432"/>
                  </a:lnTo>
                  <a:lnTo>
                    <a:pt x="2246376" y="0"/>
                  </a:lnTo>
                  <a:lnTo>
                    <a:pt x="0" y="0"/>
                  </a:lnTo>
                  <a:lnTo>
                    <a:pt x="0" y="408432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057400" y="1209497"/>
            <a:ext cx="191198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895350" algn="l"/>
              </a:tabLst>
            </a:pPr>
            <a:r>
              <a:rPr sz="2050" spc="-10" dirty="0">
                <a:solidFill>
                  <a:srgbClr val="000000"/>
                </a:solidFill>
                <a:latin typeface="Comic Sans MS"/>
                <a:cs typeface="Comic Sans MS"/>
              </a:rPr>
              <a:t>Req.	</a:t>
            </a:r>
            <a:r>
              <a:rPr sz="2050" spc="-15" dirty="0">
                <a:solidFill>
                  <a:srgbClr val="000000"/>
                </a:solidFill>
                <a:latin typeface="Comic Sans MS"/>
                <a:cs typeface="Comic Sans MS"/>
              </a:rPr>
              <a:t>Analysis</a:t>
            </a:r>
            <a:endParaRPr sz="2050">
              <a:latin typeface="Comic Sans MS"/>
              <a:cs typeface="Comic Sans MS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135"/>
              </a:lnSpc>
            </a:pPr>
            <a:fld id="{81D60167-4931-47E6-BA6A-407CBD079E47}" type="slidenum">
              <a:rPr spc="-5" dirty="0"/>
              <a:t>50</a:t>
            </a:fld>
            <a:endParaRPr spc="-5" dirty="0"/>
          </a:p>
        </p:txBody>
      </p:sp>
      <p:grpSp>
        <p:nvGrpSpPr>
          <p:cNvPr id="12" name="object 12"/>
          <p:cNvGrpSpPr/>
          <p:nvPr/>
        </p:nvGrpSpPr>
        <p:grpSpPr>
          <a:xfrm>
            <a:off x="2572321" y="1828609"/>
            <a:ext cx="2289810" cy="451484"/>
            <a:chOff x="2572321" y="1828609"/>
            <a:chExt cx="2289810" cy="451484"/>
          </a:xfrm>
        </p:grpSpPr>
        <p:sp>
          <p:nvSpPr>
            <p:cNvPr id="13" name="object 13"/>
            <p:cNvSpPr/>
            <p:nvPr/>
          </p:nvSpPr>
          <p:spPr>
            <a:xfrm>
              <a:off x="2592323" y="1848612"/>
              <a:ext cx="2249805" cy="411480"/>
            </a:xfrm>
            <a:custGeom>
              <a:avLst/>
              <a:gdLst/>
              <a:ahLst/>
              <a:cxnLst/>
              <a:rect l="l" t="t" r="r" b="b"/>
              <a:pathLst>
                <a:path w="2249804" h="411480">
                  <a:moveTo>
                    <a:pt x="2249424" y="0"/>
                  </a:moveTo>
                  <a:lnTo>
                    <a:pt x="0" y="0"/>
                  </a:lnTo>
                  <a:lnTo>
                    <a:pt x="0" y="411480"/>
                  </a:lnTo>
                  <a:lnTo>
                    <a:pt x="2249424" y="411480"/>
                  </a:lnTo>
                  <a:lnTo>
                    <a:pt x="224942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92323" y="1848612"/>
              <a:ext cx="2249805" cy="411480"/>
            </a:xfrm>
            <a:custGeom>
              <a:avLst/>
              <a:gdLst/>
              <a:ahLst/>
              <a:cxnLst/>
              <a:rect l="l" t="t" r="r" b="b"/>
              <a:pathLst>
                <a:path w="2249804" h="411480">
                  <a:moveTo>
                    <a:pt x="0" y="411480"/>
                  </a:moveTo>
                  <a:lnTo>
                    <a:pt x="2249424" y="411480"/>
                  </a:lnTo>
                  <a:lnTo>
                    <a:pt x="2249424" y="0"/>
                  </a:lnTo>
                  <a:lnTo>
                    <a:pt x="0" y="0"/>
                  </a:lnTo>
                  <a:lnTo>
                    <a:pt x="0" y="411480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592323" y="1848611"/>
            <a:ext cx="2249805" cy="411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4390">
              <a:lnSpc>
                <a:spcPts val="2255"/>
              </a:lnSpc>
            </a:pPr>
            <a:r>
              <a:rPr sz="2050" b="1" spc="-10" dirty="0">
                <a:latin typeface="Comic Sans MS"/>
                <a:cs typeface="Comic Sans MS"/>
              </a:rPr>
              <a:t>Design</a:t>
            </a:r>
            <a:endParaRPr sz="2050">
              <a:latin typeface="Comic Sans MS"/>
              <a:cs typeface="Comic Sans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392233" y="2459545"/>
            <a:ext cx="2286635" cy="448945"/>
            <a:chOff x="3392233" y="2459545"/>
            <a:chExt cx="2286635" cy="448945"/>
          </a:xfrm>
        </p:grpSpPr>
        <p:sp>
          <p:nvSpPr>
            <p:cNvPr id="17" name="object 17"/>
            <p:cNvSpPr/>
            <p:nvPr/>
          </p:nvSpPr>
          <p:spPr>
            <a:xfrm>
              <a:off x="3412236" y="2479547"/>
              <a:ext cx="2246630" cy="408940"/>
            </a:xfrm>
            <a:custGeom>
              <a:avLst/>
              <a:gdLst/>
              <a:ahLst/>
              <a:cxnLst/>
              <a:rect l="l" t="t" r="r" b="b"/>
              <a:pathLst>
                <a:path w="2246629" h="408939">
                  <a:moveTo>
                    <a:pt x="2246376" y="0"/>
                  </a:moveTo>
                  <a:lnTo>
                    <a:pt x="0" y="0"/>
                  </a:lnTo>
                  <a:lnTo>
                    <a:pt x="0" y="408431"/>
                  </a:lnTo>
                  <a:lnTo>
                    <a:pt x="2246376" y="408431"/>
                  </a:lnTo>
                  <a:lnTo>
                    <a:pt x="224637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412236" y="2479547"/>
              <a:ext cx="2246630" cy="408940"/>
            </a:xfrm>
            <a:custGeom>
              <a:avLst/>
              <a:gdLst/>
              <a:ahLst/>
              <a:cxnLst/>
              <a:rect l="l" t="t" r="r" b="b"/>
              <a:pathLst>
                <a:path w="2246629" h="408939">
                  <a:moveTo>
                    <a:pt x="0" y="408431"/>
                  </a:moveTo>
                  <a:lnTo>
                    <a:pt x="2246376" y="408431"/>
                  </a:lnTo>
                  <a:lnTo>
                    <a:pt x="2246376" y="0"/>
                  </a:lnTo>
                  <a:lnTo>
                    <a:pt x="0" y="0"/>
                  </a:lnTo>
                  <a:lnTo>
                    <a:pt x="0" y="408431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122801" y="2442210"/>
            <a:ext cx="82105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b="1" spc="-5" dirty="0">
                <a:latin typeface="Comic Sans MS"/>
                <a:cs typeface="Comic Sans MS"/>
              </a:rPr>
              <a:t>C</a:t>
            </a:r>
            <a:r>
              <a:rPr sz="2050" b="1" spc="-10" dirty="0">
                <a:latin typeface="Comic Sans MS"/>
                <a:cs typeface="Comic Sans MS"/>
              </a:rPr>
              <a:t>o</a:t>
            </a:r>
            <a:r>
              <a:rPr sz="2050" b="1" spc="-15" dirty="0">
                <a:latin typeface="Comic Sans MS"/>
                <a:cs typeface="Comic Sans MS"/>
              </a:rPr>
              <a:t>d</a:t>
            </a:r>
            <a:r>
              <a:rPr sz="2050" b="1" dirty="0">
                <a:latin typeface="Comic Sans MS"/>
                <a:cs typeface="Comic Sans MS"/>
              </a:rPr>
              <a:t>i</a:t>
            </a:r>
            <a:r>
              <a:rPr sz="2050" b="1" spc="-25" dirty="0">
                <a:latin typeface="Comic Sans MS"/>
                <a:cs typeface="Comic Sans MS"/>
              </a:rPr>
              <a:t>n</a:t>
            </a:r>
            <a:r>
              <a:rPr sz="2050" b="1" spc="-10" dirty="0">
                <a:latin typeface="Comic Sans MS"/>
                <a:cs typeface="Comic Sans MS"/>
              </a:rPr>
              <a:t>g</a:t>
            </a:r>
            <a:endParaRPr sz="2050">
              <a:latin typeface="Comic Sans MS"/>
              <a:cs typeface="Comic Sans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260913" y="3087433"/>
            <a:ext cx="2289810" cy="448945"/>
            <a:chOff x="4260913" y="3087433"/>
            <a:chExt cx="2289810" cy="448945"/>
          </a:xfrm>
        </p:grpSpPr>
        <p:sp>
          <p:nvSpPr>
            <p:cNvPr id="21" name="object 21"/>
            <p:cNvSpPr/>
            <p:nvPr/>
          </p:nvSpPr>
          <p:spPr>
            <a:xfrm>
              <a:off x="4280916" y="3107435"/>
              <a:ext cx="2249805" cy="408940"/>
            </a:xfrm>
            <a:custGeom>
              <a:avLst/>
              <a:gdLst/>
              <a:ahLst/>
              <a:cxnLst/>
              <a:rect l="l" t="t" r="r" b="b"/>
              <a:pathLst>
                <a:path w="2249804" h="408939">
                  <a:moveTo>
                    <a:pt x="2249424" y="0"/>
                  </a:moveTo>
                  <a:lnTo>
                    <a:pt x="0" y="0"/>
                  </a:lnTo>
                  <a:lnTo>
                    <a:pt x="0" y="408431"/>
                  </a:lnTo>
                  <a:lnTo>
                    <a:pt x="2249424" y="408431"/>
                  </a:lnTo>
                  <a:lnTo>
                    <a:pt x="224942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280916" y="3107435"/>
              <a:ext cx="2249805" cy="408940"/>
            </a:xfrm>
            <a:custGeom>
              <a:avLst/>
              <a:gdLst/>
              <a:ahLst/>
              <a:cxnLst/>
              <a:rect l="l" t="t" r="r" b="b"/>
              <a:pathLst>
                <a:path w="2249804" h="408939">
                  <a:moveTo>
                    <a:pt x="0" y="408431"/>
                  </a:moveTo>
                  <a:lnTo>
                    <a:pt x="2249424" y="408431"/>
                  </a:lnTo>
                  <a:lnTo>
                    <a:pt x="2249424" y="0"/>
                  </a:lnTo>
                  <a:lnTo>
                    <a:pt x="0" y="0"/>
                  </a:lnTo>
                  <a:lnTo>
                    <a:pt x="0" y="408431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280915" y="3107435"/>
            <a:ext cx="2249805" cy="408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9145">
              <a:lnSpc>
                <a:spcPts val="2255"/>
              </a:lnSpc>
            </a:pPr>
            <a:r>
              <a:rPr sz="2050" b="1" spc="-10" dirty="0">
                <a:latin typeface="Comic Sans MS"/>
                <a:cs typeface="Comic Sans MS"/>
              </a:rPr>
              <a:t>Testing</a:t>
            </a:r>
            <a:endParaRPr sz="2050">
              <a:latin typeface="Comic Sans MS"/>
              <a:cs typeface="Comic Sans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227129" y="3715321"/>
            <a:ext cx="2289810" cy="448945"/>
            <a:chOff x="5227129" y="3715321"/>
            <a:chExt cx="2289810" cy="448945"/>
          </a:xfrm>
        </p:grpSpPr>
        <p:sp>
          <p:nvSpPr>
            <p:cNvPr id="25" name="object 25"/>
            <p:cNvSpPr/>
            <p:nvPr/>
          </p:nvSpPr>
          <p:spPr>
            <a:xfrm>
              <a:off x="5247131" y="4137659"/>
              <a:ext cx="2249805" cy="6350"/>
            </a:xfrm>
            <a:custGeom>
              <a:avLst/>
              <a:gdLst/>
              <a:ahLst/>
              <a:cxnLst/>
              <a:rect l="l" t="t" r="r" b="b"/>
              <a:pathLst>
                <a:path w="2249804" h="6350">
                  <a:moveTo>
                    <a:pt x="0" y="6095"/>
                  </a:moveTo>
                  <a:lnTo>
                    <a:pt x="2249423" y="6095"/>
                  </a:lnTo>
                  <a:lnTo>
                    <a:pt x="2249423" y="0"/>
                  </a:lnTo>
                  <a:lnTo>
                    <a:pt x="0" y="0"/>
                  </a:lnTo>
                  <a:lnTo>
                    <a:pt x="0" y="6095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247131" y="3735323"/>
              <a:ext cx="2249805" cy="408940"/>
            </a:xfrm>
            <a:custGeom>
              <a:avLst/>
              <a:gdLst/>
              <a:ahLst/>
              <a:cxnLst/>
              <a:rect l="l" t="t" r="r" b="b"/>
              <a:pathLst>
                <a:path w="2249804" h="408939">
                  <a:moveTo>
                    <a:pt x="0" y="408431"/>
                  </a:moveTo>
                  <a:lnTo>
                    <a:pt x="2249423" y="408431"/>
                  </a:lnTo>
                  <a:lnTo>
                    <a:pt x="2249423" y="0"/>
                  </a:lnTo>
                  <a:lnTo>
                    <a:pt x="0" y="0"/>
                  </a:lnTo>
                  <a:lnTo>
                    <a:pt x="0" y="408431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829934" y="3684774"/>
            <a:ext cx="1537970" cy="3619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2050" b="1" spc="-10" dirty="0">
                <a:latin typeface="Comic Sans MS"/>
                <a:cs typeface="Comic Sans MS"/>
              </a:rPr>
              <a:t>M</a:t>
            </a:r>
            <a:r>
              <a:rPr sz="2050" b="1" spc="-15" dirty="0">
                <a:latin typeface="Comic Sans MS"/>
                <a:cs typeface="Comic Sans MS"/>
              </a:rPr>
              <a:t>a</a:t>
            </a:r>
            <a:r>
              <a:rPr sz="2050" b="1" spc="-10" dirty="0">
                <a:latin typeface="Comic Sans MS"/>
                <a:cs typeface="Comic Sans MS"/>
              </a:rPr>
              <a:t>i</a:t>
            </a:r>
            <a:r>
              <a:rPr sz="2050" b="1" spc="-15" dirty="0">
                <a:latin typeface="Comic Sans MS"/>
                <a:cs typeface="Comic Sans MS"/>
              </a:rPr>
              <a:t>n</a:t>
            </a:r>
            <a:r>
              <a:rPr sz="2050" b="1" spc="-10" dirty="0">
                <a:latin typeface="Comic Sans MS"/>
                <a:cs typeface="Comic Sans MS"/>
              </a:rPr>
              <a:t>t</a:t>
            </a:r>
            <a:r>
              <a:rPr sz="2050" b="1" dirty="0">
                <a:latin typeface="Comic Sans MS"/>
                <a:cs typeface="Comic Sans MS"/>
              </a:rPr>
              <a:t>e</a:t>
            </a:r>
            <a:r>
              <a:rPr sz="2050" b="1" spc="-20" dirty="0">
                <a:latin typeface="Comic Sans MS"/>
                <a:cs typeface="Comic Sans MS"/>
              </a:rPr>
              <a:t>n</a:t>
            </a:r>
            <a:r>
              <a:rPr sz="2050" b="1" spc="-15" dirty="0">
                <a:latin typeface="Comic Sans MS"/>
                <a:cs typeface="Comic Sans MS"/>
              </a:rPr>
              <a:t>a</a:t>
            </a:r>
            <a:r>
              <a:rPr sz="2050" b="1" spc="-20" dirty="0">
                <a:latin typeface="Comic Sans MS"/>
                <a:cs typeface="Comic Sans MS"/>
              </a:rPr>
              <a:t>n</a:t>
            </a:r>
            <a:r>
              <a:rPr sz="2050" b="1" spc="-5" dirty="0">
                <a:latin typeface="Comic Sans MS"/>
                <a:cs typeface="Comic Sans MS"/>
              </a:rPr>
              <a:t>ce</a:t>
            </a:r>
            <a:endParaRPr sz="2050">
              <a:latin typeface="Comic Sans MS"/>
              <a:cs typeface="Comic Sans MS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343655" y="731519"/>
            <a:ext cx="4173220" cy="3426460"/>
            <a:chOff x="3343655" y="731519"/>
            <a:chExt cx="4173220" cy="3426460"/>
          </a:xfrm>
        </p:grpSpPr>
        <p:sp>
          <p:nvSpPr>
            <p:cNvPr id="29" name="object 29"/>
            <p:cNvSpPr/>
            <p:nvPr/>
          </p:nvSpPr>
          <p:spPr>
            <a:xfrm>
              <a:off x="3363467" y="751331"/>
              <a:ext cx="277495" cy="3175"/>
            </a:xfrm>
            <a:custGeom>
              <a:avLst/>
              <a:gdLst/>
              <a:ahLst/>
              <a:cxnLst/>
              <a:rect l="l" t="t" r="r" b="b"/>
              <a:pathLst>
                <a:path w="277495" h="3175">
                  <a:moveTo>
                    <a:pt x="-19812" y="1523"/>
                  </a:moveTo>
                  <a:lnTo>
                    <a:pt x="297180" y="1523"/>
                  </a:lnTo>
                </a:path>
              </a:pathLst>
            </a:custGeom>
            <a:ln w="42671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581399" y="751331"/>
              <a:ext cx="119380" cy="469900"/>
            </a:xfrm>
            <a:custGeom>
              <a:avLst/>
              <a:gdLst/>
              <a:ahLst/>
              <a:cxnLst/>
              <a:rect l="l" t="t" r="r" b="b"/>
              <a:pathLst>
                <a:path w="119379" h="469900">
                  <a:moveTo>
                    <a:pt x="39624" y="350519"/>
                  </a:moveTo>
                  <a:lnTo>
                    <a:pt x="0" y="350519"/>
                  </a:lnTo>
                  <a:lnTo>
                    <a:pt x="59436" y="469391"/>
                  </a:lnTo>
                  <a:lnTo>
                    <a:pt x="108966" y="370331"/>
                  </a:lnTo>
                  <a:lnTo>
                    <a:pt x="39624" y="370331"/>
                  </a:lnTo>
                  <a:lnTo>
                    <a:pt x="39624" y="350519"/>
                  </a:lnTo>
                  <a:close/>
                </a:path>
                <a:path w="119379" h="469900">
                  <a:moveTo>
                    <a:pt x="79248" y="0"/>
                  </a:moveTo>
                  <a:lnTo>
                    <a:pt x="39624" y="0"/>
                  </a:lnTo>
                  <a:lnTo>
                    <a:pt x="39624" y="370331"/>
                  </a:lnTo>
                  <a:lnTo>
                    <a:pt x="79248" y="370331"/>
                  </a:lnTo>
                  <a:lnTo>
                    <a:pt x="79248" y="0"/>
                  </a:lnTo>
                  <a:close/>
                </a:path>
                <a:path w="119379" h="469900">
                  <a:moveTo>
                    <a:pt x="118872" y="350519"/>
                  </a:moveTo>
                  <a:lnTo>
                    <a:pt x="79248" y="350519"/>
                  </a:lnTo>
                  <a:lnTo>
                    <a:pt x="79248" y="370331"/>
                  </a:lnTo>
                  <a:lnTo>
                    <a:pt x="108966" y="370331"/>
                  </a:lnTo>
                  <a:lnTo>
                    <a:pt x="118872" y="350519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125468" y="1458467"/>
              <a:ext cx="277495" cy="0"/>
            </a:xfrm>
            <a:custGeom>
              <a:avLst/>
              <a:gdLst/>
              <a:ahLst/>
              <a:cxnLst/>
              <a:rect l="l" t="t" r="r" b="b"/>
              <a:pathLst>
                <a:path w="277495">
                  <a:moveTo>
                    <a:pt x="0" y="0"/>
                  </a:moveTo>
                  <a:lnTo>
                    <a:pt x="277368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306823" y="1458467"/>
              <a:ext cx="119380" cy="390525"/>
            </a:xfrm>
            <a:custGeom>
              <a:avLst/>
              <a:gdLst/>
              <a:ahLst/>
              <a:cxnLst/>
              <a:rect l="l" t="t" r="r" b="b"/>
              <a:pathLst>
                <a:path w="119379" h="390525">
                  <a:moveTo>
                    <a:pt x="39624" y="271271"/>
                  </a:moveTo>
                  <a:lnTo>
                    <a:pt x="0" y="271271"/>
                  </a:lnTo>
                  <a:lnTo>
                    <a:pt x="59436" y="390143"/>
                  </a:lnTo>
                  <a:lnTo>
                    <a:pt x="108966" y="291083"/>
                  </a:lnTo>
                  <a:lnTo>
                    <a:pt x="39624" y="291083"/>
                  </a:lnTo>
                  <a:lnTo>
                    <a:pt x="39624" y="271271"/>
                  </a:lnTo>
                  <a:close/>
                </a:path>
                <a:path w="119379" h="390525">
                  <a:moveTo>
                    <a:pt x="79248" y="0"/>
                  </a:moveTo>
                  <a:lnTo>
                    <a:pt x="39624" y="0"/>
                  </a:lnTo>
                  <a:lnTo>
                    <a:pt x="39624" y="291083"/>
                  </a:lnTo>
                  <a:lnTo>
                    <a:pt x="79248" y="291083"/>
                  </a:lnTo>
                  <a:lnTo>
                    <a:pt x="79248" y="0"/>
                  </a:lnTo>
                  <a:close/>
                </a:path>
                <a:path w="119379" h="390525">
                  <a:moveTo>
                    <a:pt x="118872" y="271271"/>
                  </a:moveTo>
                  <a:lnTo>
                    <a:pt x="79248" y="271271"/>
                  </a:lnTo>
                  <a:lnTo>
                    <a:pt x="79248" y="291083"/>
                  </a:lnTo>
                  <a:lnTo>
                    <a:pt x="108966" y="291083"/>
                  </a:lnTo>
                  <a:lnTo>
                    <a:pt x="118872" y="271271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847844" y="2086355"/>
              <a:ext cx="280670" cy="3175"/>
            </a:xfrm>
            <a:custGeom>
              <a:avLst/>
              <a:gdLst/>
              <a:ahLst/>
              <a:cxnLst/>
              <a:rect l="l" t="t" r="r" b="b"/>
              <a:pathLst>
                <a:path w="280670" h="3175">
                  <a:moveTo>
                    <a:pt x="-19812" y="1524"/>
                  </a:moveTo>
                  <a:lnTo>
                    <a:pt x="300227" y="1524"/>
                  </a:lnTo>
                </a:path>
              </a:pathLst>
            </a:custGeom>
            <a:ln w="42672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029200" y="2086355"/>
              <a:ext cx="119380" cy="393700"/>
            </a:xfrm>
            <a:custGeom>
              <a:avLst/>
              <a:gdLst/>
              <a:ahLst/>
              <a:cxnLst/>
              <a:rect l="l" t="t" r="r" b="b"/>
              <a:pathLst>
                <a:path w="119379" h="393700">
                  <a:moveTo>
                    <a:pt x="39624" y="274319"/>
                  </a:moveTo>
                  <a:lnTo>
                    <a:pt x="0" y="274319"/>
                  </a:lnTo>
                  <a:lnTo>
                    <a:pt x="59436" y="393192"/>
                  </a:lnTo>
                  <a:lnTo>
                    <a:pt x="108966" y="294131"/>
                  </a:lnTo>
                  <a:lnTo>
                    <a:pt x="39624" y="294131"/>
                  </a:lnTo>
                  <a:lnTo>
                    <a:pt x="39624" y="274319"/>
                  </a:lnTo>
                  <a:close/>
                </a:path>
                <a:path w="119379" h="393700">
                  <a:moveTo>
                    <a:pt x="79248" y="0"/>
                  </a:moveTo>
                  <a:lnTo>
                    <a:pt x="39624" y="0"/>
                  </a:lnTo>
                  <a:lnTo>
                    <a:pt x="39624" y="294131"/>
                  </a:lnTo>
                  <a:lnTo>
                    <a:pt x="79248" y="294131"/>
                  </a:lnTo>
                  <a:lnTo>
                    <a:pt x="79248" y="0"/>
                  </a:lnTo>
                  <a:close/>
                </a:path>
                <a:path w="119379" h="393700">
                  <a:moveTo>
                    <a:pt x="118872" y="274319"/>
                  </a:moveTo>
                  <a:lnTo>
                    <a:pt x="79248" y="274319"/>
                  </a:lnTo>
                  <a:lnTo>
                    <a:pt x="79248" y="294131"/>
                  </a:lnTo>
                  <a:lnTo>
                    <a:pt x="108966" y="294131"/>
                  </a:lnTo>
                  <a:lnTo>
                    <a:pt x="118872" y="274319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652516" y="2714243"/>
              <a:ext cx="280670" cy="3175"/>
            </a:xfrm>
            <a:custGeom>
              <a:avLst/>
              <a:gdLst/>
              <a:ahLst/>
              <a:cxnLst/>
              <a:rect l="l" t="t" r="r" b="b"/>
              <a:pathLst>
                <a:path w="280670" h="3175">
                  <a:moveTo>
                    <a:pt x="-19812" y="1524"/>
                  </a:moveTo>
                  <a:lnTo>
                    <a:pt x="300228" y="1524"/>
                  </a:lnTo>
                </a:path>
              </a:pathLst>
            </a:custGeom>
            <a:ln w="42672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832982" y="2714116"/>
              <a:ext cx="119380" cy="393700"/>
            </a:xfrm>
            <a:custGeom>
              <a:avLst/>
              <a:gdLst/>
              <a:ahLst/>
              <a:cxnLst/>
              <a:rect l="l" t="t" r="r" b="b"/>
              <a:pathLst>
                <a:path w="119379" h="393700">
                  <a:moveTo>
                    <a:pt x="39597" y="274616"/>
                  </a:moveTo>
                  <a:lnTo>
                    <a:pt x="0" y="274955"/>
                  </a:lnTo>
                  <a:lnTo>
                    <a:pt x="60325" y="393319"/>
                  </a:lnTo>
                  <a:lnTo>
                    <a:pt x="108844" y="294386"/>
                  </a:lnTo>
                  <a:lnTo>
                    <a:pt x="39750" y="294386"/>
                  </a:lnTo>
                  <a:lnTo>
                    <a:pt x="39597" y="274616"/>
                  </a:lnTo>
                  <a:close/>
                </a:path>
                <a:path w="119379" h="393700">
                  <a:moveTo>
                    <a:pt x="79220" y="274277"/>
                  </a:moveTo>
                  <a:lnTo>
                    <a:pt x="39597" y="274616"/>
                  </a:lnTo>
                  <a:lnTo>
                    <a:pt x="39750" y="294386"/>
                  </a:lnTo>
                  <a:lnTo>
                    <a:pt x="79375" y="294131"/>
                  </a:lnTo>
                  <a:lnTo>
                    <a:pt x="79220" y="274277"/>
                  </a:lnTo>
                  <a:close/>
                </a:path>
                <a:path w="119379" h="393700">
                  <a:moveTo>
                    <a:pt x="118871" y="273938"/>
                  </a:moveTo>
                  <a:lnTo>
                    <a:pt x="79220" y="274277"/>
                  </a:lnTo>
                  <a:lnTo>
                    <a:pt x="79375" y="294131"/>
                  </a:lnTo>
                  <a:lnTo>
                    <a:pt x="39750" y="294386"/>
                  </a:lnTo>
                  <a:lnTo>
                    <a:pt x="108844" y="294386"/>
                  </a:lnTo>
                  <a:lnTo>
                    <a:pt x="118871" y="273938"/>
                  </a:lnTo>
                  <a:close/>
                </a:path>
                <a:path w="119379" h="393700">
                  <a:moveTo>
                    <a:pt x="77088" y="0"/>
                  </a:moveTo>
                  <a:lnTo>
                    <a:pt x="37464" y="254"/>
                  </a:lnTo>
                  <a:lnTo>
                    <a:pt x="39597" y="274616"/>
                  </a:lnTo>
                  <a:lnTo>
                    <a:pt x="79220" y="274277"/>
                  </a:lnTo>
                  <a:lnTo>
                    <a:pt x="77088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533388" y="3265931"/>
              <a:ext cx="320040" cy="0"/>
            </a:xfrm>
            <a:custGeom>
              <a:avLst/>
              <a:gdLst/>
              <a:ahLst/>
              <a:cxnLst/>
              <a:rect l="l" t="t" r="r" b="b"/>
              <a:pathLst>
                <a:path w="320040">
                  <a:moveTo>
                    <a:pt x="0" y="0"/>
                  </a:moveTo>
                  <a:lnTo>
                    <a:pt x="320039" y="0"/>
                  </a:lnTo>
                </a:path>
              </a:pathLst>
            </a:custGeom>
            <a:ln w="39624">
              <a:solidFill>
                <a:srgbClr val="00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796277" y="3265804"/>
              <a:ext cx="119380" cy="469900"/>
            </a:xfrm>
            <a:custGeom>
              <a:avLst/>
              <a:gdLst/>
              <a:ahLst/>
              <a:cxnLst/>
              <a:rect l="l" t="t" r="r" b="b"/>
              <a:pathLst>
                <a:path w="119379" h="469900">
                  <a:moveTo>
                    <a:pt x="39621" y="350774"/>
                  </a:moveTo>
                  <a:lnTo>
                    <a:pt x="0" y="351028"/>
                  </a:lnTo>
                  <a:lnTo>
                    <a:pt x="60198" y="469519"/>
                  </a:lnTo>
                  <a:lnTo>
                    <a:pt x="108874" y="370586"/>
                  </a:lnTo>
                  <a:lnTo>
                    <a:pt x="39750" y="370586"/>
                  </a:lnTo>
                  <a:lnTo>
                    <a:pt x="39621" y="350774"/>
                  </a:lnTo>
                  <a:close/>
                </a:path>
                <a:path w="119379" h="469900">
                  <a:moveTo>
                    <a:pt x="79245" y="350520"/>
                  </a:moveTo>
                  <a:lnTo>
                    <a:pt x="39621" y="350774"/>
                  </a:lnTo>
                  <a:lnTo>
                    <a:pt x="39750" y="370586"/>
                  </a:lnTo>
                  <a:lnTo>
                    <a:pt x="79375" y="370332"/>
                  </a:lnTo>
                  <a:lnTo>
                    <a:pt x="79245" y="350520"/>
                  </a:lnTo>
                  <a:close/>
                </a:path>
                <a:path w="119379" h="469900">
                  <a:moveTo>
                    <a:pt x="118872" y="350266"/>
                  </a:moveTo>
                  <a:lnTo>
                    <a:pt x="79245" y="350520"/>
                  </a:lnTo>
                  <a:lnTo>
                    <a:pt x="79375" y="370332"/>
                  </a:lnTo>
                  <a:lnTo>
                    <a:pt x="39750" y="370586"/>
                  </a:lnTo>
                  <a:lnTo>
                    <a:pt x="108874" y="370586"/>
                  </a:lnTo>
                  <a:lnTo>
                    <a:pt x="118872" y="350266"/>
                  </a:lnTo>
                  <a:close/>
                </a:path>
                <a:path w="119379" h="469900">
                  <a:moveTo>
                    <a:pt x="76962" y="0"/>
                  </a:moveTo>
                  <a:lnTo>
                    <a:pt x="37338" y="254"/>
                  </a:lnTo>
                  <a:lnTo>
                    <a:pt x="39621" y="350774"/>
                  </a:lnTo>
                  <a:lnTo>
                    <a:pt x="79245" y="350520"/>
                  </a:lnTo>
                  <a:lnTo>
                    <a:pt x="76962" y="0"/>
                  </a:lnTo>
                  <a:close/>
                </a:path>
              </a:pathLst>
            </a:custGeom>
            <a:solidFill>
              <a:srgbClr val="00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247132" y="3729227"/>
              <a:ext cx="2249805" cy="408940"/>
            </a:xfrm>
            <a:custGeom>
              <a:avLst/>
              <a:gdLst/>
              <a:ahLst/>
              <a:cxnLst/>
              <a:rect l="l" t="t" r="r" b="b"/>
              <a:pathLst>
                <a:path w="2249804" h="408939">
                  <a:moveTo>
                    <a:pt x="2249423" y="0"/>
                  </a:moveTo>
                  <a:lnTo>
                    <a:pt x="0" y="0"/>
                  </a:lnTo>
                  <a:lnTo>
                    <a:pt x="0" y="408432"/>
                  </a:lnTo>
                  <a:lnTo>
                    <a:pt x="2249423" y="408432"/>
                  </a:lnTo>
                  <a:lnTo>
                    <a:pt x="2249423" y="0"/>
                  </a:lnTo>
                  <a:close/>
                </a:path>
              </a:pathLst>
            </a:custGeom>
            <a:solidFill>
              <a:srgbClr val="99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247132" y="3729227"/>
              <a:ext cx="2249805" cy="408940"/>
            </a:xfrm>
            <a:custGeom>
              <a:avLst/>
              <a:gdLst/>
              <a:ahLst/>
              <a:cxnLst/>
              <a:rect l="l" t="t" r="r" b="b"/>
              <a:pathLst>
                <a:path w="2249804" h="408939">
                  <a:moveTo>
                    <a:pt x="0" y="408432"/>
                  </a:moveTo>
                  <a:lnTo>
                    <a:pt x="2249423" y="408432"/>
                  </a:lnTo>
                  <a:lnTo>
                    <a:pt x="2249423" y="0"/>
                  </a:lnTo>
                  <a:lnTo>
                    <a:pt x="0" y="0"/>
                  </a:lnTo>
                  <a:lnTo>
                    <a:pt x="0" y="408432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817234" y="3692448"/>
            <a:ext cx="156337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b="1" spc="-15" dirty="0">
                <a:latin typeface="Comic Sans MS"/>
                <a:cs typeface="Comic Sans MS"/>
              </a:rPr>
              <a:t>Maintenance</a:t>
            </a:r>
            <a:endParaRPr sz="205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2019</Words>
  <Application>Microsoft Office PowerPoint</Application>
  <PresentationFormat>Custom</PresentationFormat>
  <Paragraphs>436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0" baseType="lpstr">
      <vt:lpstr>Arial MT</vt:lpstr>
      <vt:lpstr>Calibri</vt:lpstr>
      <vt:lpstr>Comic Sans MS</vt:lpstr>
      <vt:lpstr>Symbol</vt:lpstr>
      <vt:lpstr>Times New Roman</vt:lpstr>
      <vt:lpstr>Tw Cen MT</vt:lpstr>
      <vt:lpstr>Tw Cen MT Condensed</vt:lpstr>
      <vt:lpstr>Wingdings</vt:lpstr>
      <vt:lpstr>Wingdings 3</vt:lpstr>
      <vt:lpstr>Integral</vt:lpstr>
      <vt:lpstr>Life Cycle Models</vt:lpstr>
      <vt:lpstr>Software  Life Cycle</vt:lpstr>
      <vt:lpstr>Life Cycle Model</vt:lpstr>
      <vt:lpstr>Life Cycle Model (CONT.)</vt:lpstr>
      <vt:lpstr>Why Model Life Cycle?</vt:lpstr>
      <vt:lpstr>Life Cycle Model (CONT.)</vt:lpstr>
      <vt:lpstr>Life Cycle Model (CONT.)</vt:lpstr>
      <vt:lpstr>Life Cycle Model (CONT.)</vt:lpstr>
      <vt:lpstr>Life Cycle Model (CONT.)</vt:lpstr>
      <vt:lpstr>PowerPoint Presentation</vt:lpstr>
      <vt:lpstr>Life Cycle Model (CONT.)</vt:lpstr>
      <vt:lpstr>Life Cycle Model: Milestones</vt:lpstr>
      <vt:lpstr>PowerPoint Presentation</vt:lpstr>
      <vt:lpstr>PowerPoint Presentation</vt:lpstr>
      <vt:lpstr>Project Deliverables: Myth and Reality</vt:lpstr>
      <vt:lpstr>PowerPoint Presentation</vt:lpstr>
      <vt:lpstr>PowerPoint Presentation</vt:lpstr>
      <vt:lpstr>Classical Waterfall Model</vt:lpstr>
      <vt:lpstr>Classical Waterfall Model</vt:lpstr>
      <vt:lpstr>Relative Effort for Phases</vt:lpstr>
      <vt:lpstr>PowerPoint Presentation</vt:lpstr>
      <vt:lpstr>Classical Waterfall Model (CONT.)</vt:lpstr>
      <vt:lpstr>Feasibility Study</vt:lpstr>
      <vt:lpstr>PowerPoint Presentation</vt:lpstr>
      <vt:lpstr>PowerPoint Presentation</vt:lpstr>
      <vt:lpstr>Feasibility: Case Study</vt:lpstr>
      <vt:lpstr>Activities During Feasibility Study</vt:lpstr>
      <vt:lpstr>PowerPoint Presentation</vt:lpstr>
      <vt:lpstr>Cost benefit analysis (CBA)</vt:lpstr>
      <vt:lpstr>The business case</vt:lpstr>
      <vt:lpstr>The business case</vt:lpstr>
      <vt:lpstr>Writing an Effective Business Case</vt:lpstr>
      <vt:lpstr>Classical Waterfall Model</vt:lpstr>
      <vt:lpstr>PowerPoint Presentation</vt:lpstr>
      <vt:lpstr>Requirements Analysis and Specification</vt:lpstr>
      <vt:lpstr>Requirements Gathering</vt:lpstr>
      <vt:lpstr>Requirements Analysis (Cont...)</vt:lpstr>
      <vt:lpstr>Requirements Analysis (Cont...)</vt:lpstr>
      <vt:lpstr>Classical  Waterfall Model</vt:lpstr>
      <vt:lpstr>Design</vt:lpstr>
      <vt:lpstr>Traditional Design Approach</vt:lpstr>
      <vt:lpstr>Structured Design</vt:lpstr>
      <vt:lpstr>PowerPoint Presentation</vt:lpstr>
      <vt:lpstr>Object Oriented Design (CONT.)</vt:lpstr>
      <vt:lpstr>Req. Analysis</vt:lpstr>
      <vt:lpstr>Coding and Unit Testing</vt:lpstr>
      <vt:lpstr>Classical Waterfall  Model</vt:lpstr>
      <vt:lpstr>Integration and System Testing</vt:lpstr>
      <vt:lpstr>System Testing</vt:lpstr>
      <vt:lpstr>Req.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Cycle Models</dc:title>
  <dc:creator>santosh</dc:creator>
  <cp:lastModifiedBy>santosh</cp:lastModifiedBy>
  <cp:revision>1</cp:revision>
  <dcterms:created xsi:type="dcterms:W3CDTF">2023-08-08T07:09:54Z</dcterms:created>
  <dcterms:modified xsi:type="dcterms:W3CDTF">2023-08-08T07:11:27Z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2023-08-08T00:00:00Z</vt:filetime>
  </property>
</Properties>
</file>