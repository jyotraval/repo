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16" r:id="rId2"/>
    <p:sldId id="650" r:id="rId3"/>
    <p:sldId id="602" r:id="rId4"/>
    <p:sldId id="649" r:id="rId5"/>
    <p:sldId id="628" r:id="rId6"/>
    <p:sldId id="630" r:id="rId7"/>
    <p:sldId id="629" r:id="rId8"/>
    <p:sldId id="631" r:id="rId9"/>
    <p:sldId id="632" r:id="rId10"/>
    <p:sldId id="633" r:id="rId11"/>
    <p:sldId id="639" r:id="rId12"/>
    <p:sldId id="640" r:id="rId13"/>
    <p:sldId id="641" r:id="rId14"/>
    <p:sldId id="642" r:id="rId15"/>
    <p:sldId id="643" r:id="rId16"/>
    <p:sldId id="644" r:id="rId17"/>
    <p:sldId id="645" r:id="rId18"/>
    <p:sldId id="646" r:id="rId19"/>
    <p:sldId id="647" r:id="rId20"/>
    <p:sldId id="648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7" autoAdjust="0"/>
    <p:restoredTop sz="90056" autoAdjust="0"/>
  </p:normalViewPr>
  <p:slideViewPr>
    <p:cSldViewPr>
      <p:cViewPr varScale="1">
        <p:scale>
          <a:sx n="82" d="100"/>
          <a:sy n="82" d="100"/>
        </p:scale>
        <p:origin x="132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9673B-F029-4EB6-981F-6118A75E367B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F8E48-716F-463C-9A2D-BA57804D2B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62F1F-95C1-45CA-84F0-B138AAEBAF81}" type="datetime1">
              <a:rPr lang="en-IN" smtClean="0"/>
              <a:t>27/Jul/2026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27/Jul/2026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60D6-FD85-46FC-B621-90CF24064286}" type="datetime1">
              <a:rPr lang="en-IN" smtClean="0"/>
              <a:t>27/Jul/2026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685E-EC22-4A30-9C5A-5527B3C4452F}" type="datetime1">
              <a:rPr lang="en-IN" smtClean="0"/>
              <a:t>27/Jul/2026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A1E3-69D8-4A03-B392-4B3DA43B89F5}" type="datetime1">
              <a:rPr lang="en-IN" smtClean="0"/>
              <a:t>27/Jul/2026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FA67-6AED-47ED-98CB-817068A34CDD}" type="datetime1">
              <a:rPr lang="en-IN" smtClean="0"/>
              <a:t>27/Jul/2026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EBA68-83D6-4A7C-9443-03C3BAB145F5}" type="datetime1">
              <a:rPr lang="en-IN" smtClean="0"/>
              <a:t>27/Jul/2026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F257B-BAD3-4E20-B0B4-3EA4E039C483}" type="datetime1">
              <a:rPr lang="en-IN" smtClean="0"/>
              <a:t>27/Jul/2026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1437-D38A-47BA-AECD-4B3F5E59E416}" type="datetime1">
              <a:rPr lang="en-IN" smtClean="0"/>
              <a:t>27/Jul/2026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ACA0-1FF6-43FE-9E2F-4E13179A1744}" type="datetime1">
              <a:rPr lang="en-IN" smtClean="0"/>
              <a:t>27/Jul/2026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CC08-E355-4133-96C3-E543032B013A}" type="datetime1">
              <a:rPr lang="en-IN" smtClean="0"/>
              <a:t>27/Jul/2026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ADB42-1EA6-48BD-91C6-255795457A8A}" type="datetime1">
              <a:rPr lang="en-IN" smtClean="0"/>
              <a:t>27/Jul/2026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32657" y="2743200"/>
            <a:ext cx="914399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NLP: Text Preprocessing</a:t>
            </a:r>
          </a:p>
        </p:txBody>
      </p:sp>
    </p:spTree>
    <p:extLst>
      <p:ext uri="{BB962C8B-B14F-4D97-AF65-F5344CB8AC3E}">
        <p14:creationId xmlns:p14="http://schemas.microsoft.com/office/powerpoint/2010/main" val="275409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81F58-B120-EB91-F38B-C937A441C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NLP: Basic Flow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6A67A-8AFE-069B-4809-619DA607B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11B90-9044-8009-A976-5312DBEF4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27/Jul/2026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A15CA-9C11-52D6-EA81-AAF8DF09B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34B62-51CC-62EE-3AAB-CE27AF63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B9E3F86-858D-8BB2-DB9E-25AFCFD996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926"/>
          <a:stretch>
            <a:fillRect/>
          </a:stretch>
        </p:blipFill>
        <p:spPr>
          <a:xfrm>
            <a:off x="1905000" y="1752600"/>
            <a:ext cx="5257800" cy="406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978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C8023-E9ED-284C-5A9D-25726CBE1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408" y="-181769"/>
            <a:ext cx="8229600" cy="1143000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NLP Pipeline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643905C-1D34-469C-00BB-46A1323A7C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855664"/>
            <a:ext cx="8229600" cy="291464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32EC7-834F-DEB7-5650-4629CD812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27/Jul/2026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09BB8-4E21-62D6-22DF-4732282BF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B164E-525B-A435-037A-85BE17637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B34CC2-1453-3DDC-717B-B94BBBDAED67}"/>
              </a:ext>
            </a:extLst>
          </p:cNvPr>
          <p:cNvSpPr txBox="1"/>
          <p:nvPr/>
        </p:nvSpPr>
        <p:spPr>
          <a:xfrm>
            <a:off x="152400" y="3770313"/>
            <a:ext cx="3837992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+mn-ea"/>
                <a:cs typeface="+mn-cs"/>
              </a:rPr>
              <a:t>Text input data: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+mn-ea"/>
                <a:cs typeface="+mn-cs"/>
              </a:rPr>
              <a:t>Unstructured 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+mn-ea"/>
                <a:cs typeface="+mn-cs"/>
              </a:rPr>
              <a:t>Free-form and human-generated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+mn-ea"/>
                <a:cs typeface="+mn-cs"/>
              </a:rPr>
              <a:t>Varies in length, style, grammar, and vocabulary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+mn-ea"/>
                <a:cs typeface="+mn-cs"/>
              </a:rPr>
              <a:t>Often noisy (typos, emojis, abbreviations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+mn-ea"/>
                <a:cs typeface="+mn-cs"/>
              </a:rPr>
              <a:t>Text preprocessing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+mn-ea"/>
                <a:cs typeface="+mn-cs"/>
              </a:rPr>
              <a:t> is an essential step in NLP that involves cleaning and transforming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golian Baiti" panose="03000500000000000000" pitchFamily="66" charset="0"/>
                <a:ea typeface="+mn-ea"/>
                <a:cs typeface="+mn-cs"/>
              </a:rPr>
              <a:t>unstructured text data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golian Baiti" panose="03000500000000000000" pitchFamily="66" charset="0"/>
                <a:ea typeface="+mn-ea"/>
                <a:cs typeface="+mn-cs"/>
              </a:rPr>
              <a:t>to prepare it for analysis.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412409-1FED-288C-9B03-133FA5BB9F28}"/>
              </a:ext>
            </a:extLst>
          </p:cNvPr>
          <p:cNvSpPr txBox="1"/>
          <p:nvPr/>
        </p:nvSpPr>
        <p:spPr>
          <a:xfrm>
            <a:off x="3429000" y="3893423"/>
            <a:ext cx="32004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+mn-ea"/>
                <a:cs typeface="+mn-cs"/>
              </a:rPr>
              <a:t>In order for the preprocessed information to be conveyed to the statistical inference algorithm, the tokens need to be translated into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+mn-ea"/>
                <a:cs typeface="+mn-cs"/>
              </a:rPr>
              <a:t>predictive features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+mn-ea"/>
                <a:cs typeface="+mn-cs"/>
              </a:rPr>
              <a:t>. 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+mn-ea"/>
                <a:cs typeface="+mn-cs"/>
              </a:rPr>
              <a:t>A model is used to embed raw text into a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+mn-ea"/>
                <a:cs typeface="+mn-cs"/>
              </a:rPr>
              <a:t>vector space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+mn-ea"/>
                <a:cs typeface="+mn-cs"/>
              </a:rPr>
              <a:t>.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golian Baiti" panose="03000500000000000000" pitchFamily="66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904F4D-4C03-7145-7884-3B13AFD312EB}"/>
              </a:ext>
            </a:extLst>
          </p:cNvPr>
          <p:cNvSpPr txBox="1"/>
          <p:nvPr/>
        </p:nvSpPr>
        <p:spPr>
          <a:xfrm>
            <a:off x="6677608" y="3930745"/>
            <a:ext cx="20574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+mn-ea"/>
                <a:cs typeface="+mn-cs"/>
              </a:rPr>
              <a:t>Infer a decision in order to be actionable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+mn-ea"/>
                <a:cs typeface="+mn-cs"/>
              </a:rPr>
              <a:t>Unsupervised : Latent Semantic Analysis (LSA)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+mn-ea"/>
                <a:cs typeface="+mn-cs"/>
              </a:rPr>
              <a:t>Supervised: Recurrent Neural Networks (RNN) and variants</a:t>
            </a:r>
          </a:p>
        </p:txBody>
      </p:sp>
    </p:spTree>
    <p:extLst>
      <p:ext uri="{BB962C8B-B14F-4D97-AF65-F5344CB8AC3E}">
        <p14:creationId xmlns:p14="http://schemas.microsoft.com/office/powerpoint/2010/main" val="4080948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71D03-D1DE-5BB7-BE63-EB4E24BCF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NLP: Python Packages, Libraries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02FB8-88DD-2577-915D-B4EFBDA4D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756150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b="1" dirty="0"/>
              <a:t>NLTK</a:t>
            </a:r>
            <a:r>
              <a:rPr lang="en-US" dirty="0"/>
              <a:t> (</a:t>
            </a:r>
            <a:r>
              <a:rPr lang="en-IN" dirty="0"/>
              <a:t>Natural Language Toolkit</a:t>
            </a:r>
            <a:r>
              <a:rPr lang="en-US" dirty="0"/>
              <a:t>is) - the most famous Python NLP library</a:t>
            </a:r>
          </a:p>
          <a:p>
            <a:pPr algn="just"/>
            <a:r>
              <a:rPr lang="en-US" dirty="0"/>
              <a:t>NLTK Data package includes a pretrained tokenizer </a:t>
            </a:r>
            <a:r>
              <a:rPr lang="en-US" i="1" dirty="0" err="1"/>
              <a:t>punkt</a:t>
            </a:r>
            <a:r>
              <a:rPr lang="en-US" dirty="0"/>
              <a:t> for English, which can be downloaded as well:</a:t>
            </a:r>
          </a:p>
          <a:p>
            <a:pPr lvl="1" algn="just"/>
            <a:r>
              <a:rPr lang="en-IN" b="1" dirty="0"/>
              <a:t>import </a:t>
            </a:r>
            <a:r>
              <a:rPr lang="en-IN" b="1" dirty="0" err="1"/>
              <a:t>nltk</a:t>
            </a:r>
            <a:endParaRPr lang="en-IN" b="1" dirty="0"/>
          </a:p>
          <a:p>
            <a:pPr lvl="1" algn="just"/>
            <a:r>
              <a:rPr lang="en-IN" b="1" dirty="0"/>
              <a:t>import </a:t>
            </a:r>
            <a:r>
              <a:rPr lang="en-IN" b="1" dirty="0" err="1"/>
              <a:t>nltk.data</a:t>
            </a:r>
            <a:endParaRPr lang="en-IN" b="1" dirty="0"/>
          </a:p>
          <a:p>
            <a:pPr lvl="1" algn="just"/>
            <a:r>
              <a:rPr lang="en-IN" b="1" dirty="0" err="1"/>
              <a:t>nltk.download</a:t>
            </a:r>
            <a:r>
              <a:rPr lang="en-IN" b="1" dirty="0"/>
              <a:t>('</a:t>
            </a:r>
            <a:r>
              <a:rPr lang="en-IN" b="1" dirty="0" err="1"/>
              <a:t>punkt</a:t>
            </a:r>
            <a:r>
              <a:rPr lang="en-IN" b="1" dirty="0"/>
              <a:t>’)</a:t>
            </a:r>
          </a:p>
          <a:p>
            <a:pPr algn="just"/>
            <a:r>
              <a:rPr lang="en-US" b="1" dirty="0" err="1"/>
              <a:t>TextBlob</a:t>
            </a:r>
            <a:r>
              <a:rPr lang="en-US" dirty="0"/>
              <a:t> is built on top of NLTK.</a:t>
            </a:r>
          </a:p>
          <a:p>
            <a:pPr lvl="1" algn="just"/>
            <a:r>
              <a:rPr lang="en-IN" dirty="0"/>
              <a:t>simplifies complex text analysis tasks—such as sentiment analysis, part-of-speech tagging, and translation</a:t>
            </a:r>
            <a:endParaRPr lang="en-US" dirty="0"/>
          </a:p>
          <a:p>
            <a:pPr algn="just"/>
            <a:r>
              <a:rPr lang="en-US" b="1" dirty="0" err="1"/>
              <a:t>spaCy</a:t>
            </a:r>
            <a:r>
              <a:rPr lang="en-US" dirty="0"/>
              <a:t> is an NLP library designed to be fast, streamlined, and production-ready. </a:t>
            </a:r>
          </a:p>
          <a:p>
            <a:pPr lvl="1" algn="just"/>
            <a:r>
              <a:rPr lang="en-US" dirty="0"/>
              <a:t>present only one algorithm (the best one) for each purpose.</a:t>
            </a:r>
          </a:p>
          <a:p>
            <a:pPr lvl="1" algn="just"/>
            <a:endParaRPr lang="en-US" dirty="0"/>
          </a:p>
          <a:p>
            <a:pPr algn="just"/>
            <a:r>
              <a:rPr lang="en-US" dirty="0"/>
              <a:t>There are a few other libraries, such as </a:t>
            </a:r>
            <a:r>
              <a:rPr lang="en-US" b="1" dirty="0"/>
              <a:t>genism </a:t>
            </a:r>
            <a:r>
              <a:rPr lang="en-US" dirty="0"/>
              <a:t>(</a:t>
            </a:r>
            <a:r>
              <a:rPr lang="en-IN" dirty="0"/>
              <a:t>Generate Similar</a:t>
            </a:r>
            <a:r>
              <a:rPr lang="en-US" dirty="0"/>
              <a:t>), that </a:t>
            </a:r>
            <a:r>
              <a:rPr lang="en-IN" dirty="0"/>
              <a:t>designed specifically for </a:t>
            </a:r>
            <a:r>
              <a:rPr lang="en-IN" b="1" dirty="0"/>
              <a:t>unsupervised topic </a:t>
            </a:r>
            <a:r>
              <a:rPr lang="en-IN" b="1" dirty="0" err="1"/>
              <a:t>modeling</a:t>
            </a:r>
            <a:r>
              <a:rPr lang="en-IN" dirty="0"/>
              <a:t>, document indexing, and semantic similarity retrieval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DF74E-D6D4-EB6D-4E2B-D8613E4C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27/Jul/2026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20F8-EBE7-8F11-4880-E1F9D64C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B5A1E-EA97-C7F4-35E0-AFB01C8AC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1613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C4BB0-E4F9-2982-CFDC-82D511143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24882-ECE1-7B0B-C20C-21BE6C62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4882"/>
            <a:ext cx="8229600" cy="1143000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Text Pre-processing: Tokenization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D0B31-BF67-E48B-D2EC-557CE2FBE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27/Jul/2026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C313E-42C8-9521-6BE3-FD953A6C3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74EAB-F2F1-340B-7B88-4FAE28BC2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5075CF-ADEB-30AA-3800-EC955EFF1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61" y="2770686"/>
            <a:ext cx="7644077" cy="3351677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A2CCAFA-3E82-74C0-E575-372B5A701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073" y="2364694"/>
            <a:ext cx="8229600" cy="45259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D34DB6-12E3-9B25-29FA-1508DA08DC06}"/>
              </a:ext>
            </a:extLst>
          </p:cNvPr>
          <p:cNvSpPr txBox="1"/>
          <p:nvPr/>
        </p:nvSpPr>
        <p:spPr>
          <a:xfrm>
            <a:off x="514738" y="824513"/>
            <a:ext cx="822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golian Baiti" panose="03000500000000000000" pitchFamily="66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+mn-ea"/>
                <a:cs typeface="+mn-cs"/>
              </a:rPr>
              <a:t>Tokenization is a fundamental process in Natural Language Processing (NLP) that involves breaking down a stream of text into smaller units called tokens.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golian Baiti" panose="03000500000000000000" pitchFamily="66" charset="0"/>
                <a:ea typeface="+mn-ea"/>
                <a:cs typeface="+mn-cs"/>
              </a:rPr>
              <a:t>A set of predetermined rules allows us to effectively convert a sentence into a list of tokens.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golian Baiti" panose="03000500000000000000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8365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D55C2-6EFA-F554-B176-9A198A88B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6FA47-9534-4F16-C082-12A9A7AD8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4882"/>
            <a:ext cx="8229600" cy="1143000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Tokenization: Key Terminology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3F215-A27A-EC50-0B04-473B1E85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27/Jul/2026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32E09-821F-28AA-CBAD-43C58FC9F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EAECD-82A9-8AE3-00EC-EFAEA3326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9AD32F0-5EA4-D4C2-B85C-19C430A07F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564756"/>
            <a:ext cx="8229600" cy="372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171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2A7AA-F213-1AAF-0F1D-FD6E86FFF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B03D8-F0A0-C004-D87A-62B467D2C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20" y="-181305"/>
            <a:ext cx="8229600" cy="1143000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Tokenization: Key Terminology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5C43F-D6FC-5C3B-2908-27D5EC015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27/Jul/2026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0D2CE-7C53-A492-DBCC-8956B0E31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6A7AE-BEBA-3DE4-8DAF-1F4984CDB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705015-C748-A3C6-8083-85425052D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844133"/>
            <a:ext cx="7010400" cy="2174479"/>
          </a:xfrm>
        </p:spPr>
        <p:txBody>
          <a:bodyPr>
            <a:normAutofit lnSpcReduction="10000"/>
          </a:bodyPr>
          <a:lstStyle/>
          <a:p>
            <a:r>
              <a:rPr lang="en-US" sz="2000" i="1" dirty="0"/>
              <a:t>they lay back on the San Francisco grass and looked at the </a:t>
            </a:r>
            <a:r>
              <a:rPr lang="en-IN" sz="2000" i="1" dirty="0"/>
              <a:t>stars and their</a:t>
            </a:r>
          </a:p>
          <a:p>
            <a:pPr lvl="1"/>
            <a:r>
              <a:rPr lang="en-US" sz="1800" b="1" dirty="0"/>
              <a:t>Token</a:t>
            </a:r>
            <a:r>
              <a:rPr lang="en-US" sz="1800" dirty="0"/>
              <a:t>: an instance of that type in running text.</a:t>
            </a:r>
          </a:p>
          <a:p>
            <a:pPr lvl="1"/>
            <a:r>
              <a:rPr lang="en-US" sz="1800" b="1" dirty="0"/>
              <a:t>Type</a:t>
            </a:r>
            <a:r>
              <a:rPr lang="en-US" sz="1800" dirty="0"/>
              <a:t>: an element of the vocabulary.</a:t>
            </a:r>
          </a:p>
          <a:p>
            <a:pPr lvl="1"/>
            <a:r>
              <a:rPr lang="en-IN" sz="1800" dirty="0"/>
              <a:t>How many?</a:t>
            </a:r>
          </a:p>
          <a:p>
            <a:pPr lvl="2"/>
            <a:r>
              <a:rPr lang="en-IN" sz="1600" dirty="0"/>
              <a:t>15 tokens</a:t>
            </a:r>
          </a:p>
          <a:p>
            <a:pPr lvl="2"/>
            <a:r>
              <a:rPr lang="en-IN" sz="1600" dirty="0"/>
              <a:t>13 types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C9A6F17-6D92-EE32-9A70-701B39E15A8D}"/>
              </a:ext>
            </a:extLst>
          </p:cNvPr>
          <p:cNvGrpSpPr/>
          <p:nvPr/>
        </p:nvGrpSpPr>
        <p:grpSpPr>
          <a:xfrm>
            <a:off x="1143000" y="2896083"/>
            <a:ext cx="7009040" cy="3825392"/>
            <a:chOff x="1143000" y="2896083"/>
            <a:chExt cx="7009040" cy="382539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FA7AFA1-AAD7-FF49-83F6-BEC76B048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3000" y="2896083"/>
              <a:ext cx="7009040" cy="382539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2B37D6-3EDB-A347-B7AE-AE9FBEC1E8E9}"/>
                </a:ext>
              </a:extLst>
            </p:cNvPr>
            <p:cNvSpPr txBox="1"/>
            <p:nvPr/>
          </p:nvSpPr>
          <p:spPr>
            <a:xfrm>
              <a:off x="1550534" y="4953000"/>
              <a:ext cx="4572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imbusRomNo9L-Medi"/>
                  <a:ea typeface="+mn-ea"/>
                  <a:cs typeface="+mn-cs"/>
                </a:rPr>
                <a:t>Corpus</a:t>
              </a:r>
              <a:endPara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0854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702B4-C500-D27E-30BA-B81889BA1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5EADC-E558-5BAB-0CBB-15635E1FF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4882"/>
            <a:ext cx="8610600" cy="1143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Tokenization: Whitespace tokenization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E4F94-A14B-69E3-42EF-642DE6D61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27/Jul/2026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44295-C407-8D7E-C2F6-13CC07219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E35F1-E8CE-657B-094F-7F7FE52A6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A058831-4423-E404-E67A-033894E3A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135563"/>
          </a:xfrm>
        </p:spPr>
        <p:txBody>
          <a:bodyPr/>
          <a:lstStyle/>
          <a:p>
            <a:r>
              <a:rPr lang="en-IN" dirty="0"/>
              <a:t>Simplest tokenization method that splits text into tokens wherever white space characters (spaces, tabs, newlines) occur.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98EBD3-C498-EBE0-4932-0CE40A175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45" y="2538984"/>
            <a:ext cx="8953500" cy="3859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162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33D9A-1C8B-931B-51C9-9A0AD01D0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CAD88-72BD-D8BC-F506-4CBCA79F4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4882"/>
            <a:ext cx="8610600" cy="1143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Tokenization: Whitespace tokenization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70C69-410A-E8F6-2852-CF7BCF203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27/Jul/2026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25DF0-4468-9FFD-6C9F-F2219DD7A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04895-34F4-63E0-6074-20ED4F0F5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21DEC6-0C01-8742-A455-040864D92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13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nltk.tokenize</a:t>
            </a:r>
            <a:r>
              <a:rPr lang="en-IN" dirty="0"/>
              <a:t> import </a:t>
            </a:r>
            <a:r>
              <a:rPr lang="en-IN" dirty="0" err="1"/>
              <a:t>WhitespaceTokenizer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text = "Hello, world! This is NLP."</a:t>
            </a:r>
          </a:p>
          <a:p>
            <a:pPr marL="0" indent="0">
              <a:buNone/>
            </a:pPr>
            <a:r>
              <a:rPr lang="en-IN" dirty="0"/>
              <a:t>tokenizer = </a:t>
            </a:r>
            <a:r>
              <a:rPr lang="en-IN" dirty="0" err="1"/>
              <a:t>WhitespaceTokenizer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tokens = </a:t>
            </a:r>
            <a:r>
              <a:rPr lang="en-IN" dirty="0" err="1"/>
              <a:t>tokenizer.tokenize</a:t>
            </a:r>
            <a:r>
              <a:rPr lang="en-IN" dirty="0"/>
              <a:t>(text)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print(tokens)</a:t>
            </a:r>
          </a:p>
          <a:p>
            <a:pPr marL="0" indent="0">
              <a:buNone/>
            </a:pPr>
            <a:r>
              <a:rPr lang="en-IN" dirty="0"/>
              <a:t># Output: ['Hello,', 'world!', 'This', 'is', 'NLP.']</a:t>
            </a:r>
          </a:p>
        </p:txBody>
      </p:sp>
    </p:spTree>
    <p:extLst>
      <p:ext uri="{BB962C8B-B14F-4D97-AF65-F5344CB8AC3E}">
        <p14:creationId xmlns:p14="http://schemas.microsoft.com/office/powerpoint/2010/main" val="700684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B7436-DEEB-283D-AFCD-03E53FF8A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209C2-152C-B5A8-371F-19671AC0B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4882"/>
            <a:ext cx="8610600" cy="1143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Whitespace tokenization: Major Issues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7C8A6-3A91-51F8-DF30-D361A9899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27/Jul/2026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C2407-EB11-5683-D84C-B698834E0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626B5-7130-5C37-1601-D41064A92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D2739F8-D9DB-21CA-B792-7F862DFC1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220787"/>
            <a:ext cx="8610600" cy="513556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IN" b="1" dirty="0"/>
              <a:t>1. Multi-word Expressions Split Incorrectly</a:t>
            </a:r>
          </a:p>
          <a:p>
            <a:pPr marL="0" indent="0">
              <a:buNone/>
            </a:pPr>
            <a:r>
              <a:rPr lang="en-IN" dirty="0"/>
              <a:t>Proper nouns and compound terms get fragmented:</a:t>
            </a:r>
          </a:p>
          <a:p>
            <a:pPr lvl="1"/>
            <a:r>
              <a:rPr lang="en-IN" dirty="0"/>
              <a:t>"New York University" → </a:t>
            </a:r>
            <a:r>
              <a:rPr lang="en-IN" dirty="0">
                <a:latin typeface="Courier New" panose="02070309020205020404" pitchFamily="49" charset="0"/>
              </a:rPr>
              <a:t>['New', 'York', 'University']</a:t>
            </a:r>
            <a:r>
              <a:rPr lang="en-IN" dirty="0"/>
              <a:t> (loses the entity meaning) </a:t>
            </a:r>
          </a:p>
          <a:p>
            <a:pPr lvl="1"/>
            <a:r>
              <a:rPr lang="en-IN" dirty="0"/>
              <a:t>"San Francisco", "Los Angeles", "ice cream" all split into separate tokens</a:t>
            </a:r>
          </a:p>
          <a:p>
            <a:pPr marL="0" indent="0">
              <a:buNone/>
            </a:pPr>
            <a:r>
              <a:rPr lang="en-IN" b="1" dirty="0"/>
              <a:t>2. Punctuation Attached to Words </a:t>
            </a:r>
          </a:p>
          <a:p>
            <a:pPr marL="0" indent="0">
              <a:buNone/>
            </a:pPr>
            <a:r>
              <a:rPr lang="en-IN" dirty="0"/>
              <a:t>Punctuation remains stuck to adjacent tokens:</a:t>
            </a:r>
          </a:p>
          <a:p>
            <a:pPr lvl="1"/>
            <a:r>
              <a:rPr lang="en-IN" dirty="0"/>
              <a:t>"Hello, world!" → ['Hello,', 'world!'] instead of ['Hello', ',', 'world', '!’] </a:t>
            </a:r>
          </a:p>
          <a:p>
            <a:pPr lvl="1"/>
            <a:r>
              <a:rPr lang="en-IN" dirty="0"/>
              <a:t>This complicates downstream processing like sentiment analysis or named entity recognition (NER)</a:t>
            </a:r>
          </a:p>
          <a:p>
            <a:pPr marL="0" indent="0">
              <a:buNone/>
            </a:pPr>
            <a:r>
              <a:rPr lang="en-IN" b="1" dirty="0"/>
              <a:t>3. Languages Without Spaces</a:t>
            </a:r>
          </a:p>
          <a:p>
            <a:r>
              <a:rPr lang="en-IN" dirty="0"/>
              <a:t>Completely fails for languages like Chinese, Japanese, or Korean where words aren't separated by spaces.</a:t>
            </a:r>
          </a:p>
          <a:p>
            <a:pPr marL="0" indent="0">
              <a:buNone/>
            </a:pPr>
            <a:r>
              <a:rPr lang="en-IN" b="1" dirty="0"/>
              <a:t>4. Special Constructs Broken</a:t>
            </a:r>
          </a:p>
          <a:p>
            <a:r>
              <a:rPr lang="en-IN" dirty="0"/>
              <a:t>Email addresses: john.doe@email.com might be split incorrectly </a:t>
            </a:r>
          </a:p>
          <a:p>
            <a:r>
              <a:rPr lang="en-IN" dirty="0"/>
              <a:t>URLs, phone numbers (800) 234-2333, and dates Mar 11, 1983 get fragmented</a:t>
            </a:r>
          </a:p>
          <a:p>
            <a:r>
              <a:rPr lang="en-IN" dirty="0"/>
              <a:t>Hyphenated words like "state-of-the-art" become separate tokens</a:t>
            </a:r>
          </a:p>
          <a:p>
            <a:pPr marL="0" indent="0">
              <a:buNone/>
            </a:pPr>
            <a:r>
              <a:rPr lang="en-IN" b="1" dirty="0"/>
              <a:t>5. Retrieval Problems</a:t>
            </a:r>
          </a:p>
          <a:p>
            <a:r>
              <a:rPr lang="en-IN" dirty="0"/>
              <a:t>Searching for "York University" might incorrectly match documents containing "New York University" because both contain "York" and "University" as separate tokens</a:t>
            </a:r>
          </a:p>
          <a:p>
            <a:pPr marL="0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9782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D474D-2709-7E28-244C-9986A73BD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CAC49-8F7E-2D89-489C-D42DE1081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4882"/>
            <a:ext cx="8610600" cy="1143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Whitespace tokenization: Solutions and Better Approaches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2CD33-9C53-4B26-F4DF-AF72D7374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27/Jul/2026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8A947-1B18-5ADC-5019-FCE5E56EE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FBC39-5296-0A23-FE82-25AE991ED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ACE2DC3-5942-E82E-AA6C-E446C477F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220787"/>
            <a:ext cx="8610600" cy="5135563"/>
          </a:xfrm>
        </p:spPr>
        <p:txBody>
          <a:bodyPr>
            <a:normAutofit/>
          </a:bodyPr>
          <a:lstStyle/>
          <a:p>
            <a:r>
              <a:rPr lang="en-IN" b="1" dirty="0" err="1"/>
              <a:t>Subword</a:t>
            </a:r>
            <a:r>
              <a:rPr lang="en-IN" b="1" dirty="0"/>
              <a:t> Tokenization (Byte Pair Encoding - BPE, </a:t>
            </a:r>
            <a:r>
              <a:rPr lang="en-IN" b="1" dirty="0" err="1"/>
              <a:t>WordPiece</a:t>
            </a:r>
            <a:r>
              <a:rPr lang="en-IN" b="1" dirty="0"/>
              <a:t>, </a:t>
            </a:r>
            <a:r>
              <a:rPr lang="en-IN" b="1" dirty="0" err="1"/>
              <a:t>SentencePiece</a:t>
            </a:r>
            <a:r>
              <a:rPr lang="en-IN" b="1" dirty="0"/>
              <a:t>)</a:t>
            </a:r>
          </a:p>
          <a:p>
            <a:r>
              <a:rPr lang="en-IN" dirty="0"/>
              <a:t>Modern NLP uses </a:t>
            </a:r>
            <a:r>
              <a:rPr lang="en-IN" dirty="0" err="1"/>
              <a:t>subword</a:t>
            </a:r>
            <a:r>
              <a:rPr lang="en-IN" dirty="0"/>
              <a:t> methods that:</a:t>
            </a:r>
          </a:p>
          <a:p>
            <a:pPr lvl="1"/>
            <a:r>
              <a:rPr lang="en-IN" dirty="0"/>
              <a:t>Break rare words into meaningful </a:t>
            </a:r>
            <a:r>
              <a:rPr lang="en-IN" dirty="0" err="1"/>
              <a:t>subword</a:t>
            </a:r>
            <a:r>
              <a:rPr lang="en-IN" dirty="0"/>
              <a:t> units</a:t>
            </a:r>
          </a:p>
          <a:p>
            <a:pPr lvl="1"/>
            <a:r>
              <a:rPr lang="en-IN" dirty="0"/>
              <a:t>Handle compound words better</a:t>
            </a:r>
          </a:p>
          <a:p>
            <a:pPr lvl="1"/>
            <a:r>
              <a:rPr lang="en-IN" dirty="0"/>
              <a:t>Manage out-of-vocabulary (OOV) words effectively</a:t>
            </a:r>
          </a:p>
          <a:p>
            <a:pPr lvl="2" algn="just"/>
            <a:r>
              <a:rPr lang="en-IN" dirty="0"/>
              <a:t>OOV in NLP means a word that a computer model cannot recognize because it was not in the text list used to train the model.</a:t>
            </a:r>
          </a:p>
        </p:txBody>
      </p:sp>
    </p:spTree>
    <p:extLst>
      <p:ext uri="{BB962C8B-B14F-4D97-AF65-F5344CB8AC3E}">
        <p14:creationId xmlns:p14="http://schemas.microsoft.com/office/powerpoint/2010/main" val="2975021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B625F-10D4-6593-1F7A-84CD595BC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76EAE-708D-60DA-3AE0-3AAD2BAE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4882"/>
            <a:ext cx="8610600" cy="1143000"/>
          </a:xfrm>
        </p:spPr>
        <p:txBody>
          <a:bodyPr>
            <a:normAutofit/>
          </a:bodyPr>
          <a:lstStyle/>
          <a:p>
            <a:r>
              <a:rPr lang="en-IN" b="1" dirty="0" err="1">
                <a:solidFill>
                  <a:srgbClr val="FF0000"/>
                </a:solidFill>
              </a:rPr>
              <a:t>Subword</a:t>
            </a:r>
            <a:r>
              <a:rPr lang="en-IN" b="1" dirty="0">
                <a:solidFill>
                  <a:srgbClr val="FF0000"/>
                </a:solidFill>
              </a:rPr>
              <a:t> Tokenization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9DB70-3EFE-3275-E545-F8025E153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27/Jul/2026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B71EE-A23F-D236-5C19-18E65E9E9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8AE0B-1E15-C498-2132-7F80D8C8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E834B2-BDF6-34D0-A9B0-E9DC126DB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223881"/>
            <a:ext cx="8610600" cy="5135563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dirty="0" err="1"/>
              <a:t>Subwords</a:t>
            </a:r>
            <a:r>
              <a:rPr lang="en-US" dirty="0"/>
              <a:t> are expected to be meaningful units</a:t>
            </a:r>
          </a:p>
          <a:p>
            <a:pPr algn="just"/>
            <a:r>
              <a:rPr lang="en-US" b="1" dirty="0" err="1"/>
              <a:t>Subwords</a:t>
            </a:r>
            <a:r>
              <a:rPr lang="en-US" b="1" dirty="0"/>
              <a:t> </a:t>
            </a:r>
            <a:r>
              <a:rPr lang="en-US" dirty="0"/>
              <a:t>can be arbitrary substrings but </a:t>
            </a:r>
            <a:r>
              <a:rPr lang="en-US" dirty="0" err="1"/>
              <a:t>subwords</a:t>
            </a:r>
            <a:r>
              <a:rPr lang="en-US" dirty="0"/>
              <a:t> can be meaning-bearing units like the morphemes (parts of words)</a:t>
            </a:r>
            <a:endParaRPr lang="en-US" i="1" dirty="0"/>
          </a:p>
          <a:p>
            <a:pPr lvl="1" algn="just"/>
            <a:r>
              <a:rPr lang="en-US" dirty="0"/>
              <a:t>A </a:t>
            </a:r>
            <a:r>
              <a:rPr lang="en-US" b="1" dirty="0"/>
              <a:t>morpheme </a:t>
            </a:r>
            <a:r>
              <a:rPr lang="en-US" dirty="0"/>
              <a:t>is the smallest meaning-bearing unit of a language</a:t>
            </a:r>
          </a:p>
          <a:p>
            <a:pPr lvl="1" algn="just"/>
            <a:r>
              <a:rPr lang="en-US" b="1" dirty="0"/>
              <a:t>Morphology </a:t>
            </a:r>
            <a:r>
              <a:rPr lang="en-US" dirty="0"/>
              <a:t>is the study of the way words are built up from morphemes</a:t>
            </a:r>
          </a:p>
          <a:p>
            <a:pPr lvl="2" algn="just"/>
            <a:r>
              <a:rPr lang="en-IN" dirty="0"/>
              <a:t>for example, the </a:t>
            </a:r>
            <a:r>
              <a:rPr lang="en-US" dirty="0"/>
              <a:t>word fox consists of one morpheme (the morpheme fox) while the word cats consists of two: the morpheme cat and the morpheme -s that indicates plural.</a:t>
            </a:r>
          </a:p>
          <a:p>
            <a:pPr lvl="2" algn="just"/>
            <a:r>
              <a:rPr lang="en-US" dirty="0"/>
              <a:t>“unlikeliest” has the morphemes {un-, likely, -est}</a:t>
            </a:r>
          </a:p>
          <a:p>
            <a:pPr lvl="2" algn="just"/>
            <a:r>
              <a:rPr lang="en-US" dirty="0"/>
              <a:t>Here’s a sentence in English segmented into morphemes with hyphens:</a:t>
            </a:r>
          </a:p>
          <a:p>
            <a:pPr lvl="2" algn="just"/>
            <a:r>
              <a:rPr lang="en-US" dirty="0"/>
              <a:t>He work-ed care-</a:t>
            </a:r>
            <a:r>
              <a:rPr lang="en-US" dirty="0" err="1"/>
              <a:t>ful</a:t>
            </a:r>
            <a:r>
              <a:rPr lang="en-US" dirty="0"/>
              <a:t>-</a:t>
            </a:r>
            <a:r>
              <a:rPr lang="en-US" dirty="0" err="1"/>
              <a:t>ly</a:t>
            </a:r>
            <a:r>
              <a:rPr lang="en-US" dirty="0"/>
              <a:t> wash-</a:t>
            </a:r>
            <a:r>
              <a:rPr lang="en-US" dirty="0" err="1"/>
              <a:t>ing</a:t>
            </a:r>
            <a:r>
              <a:rPr lang="en-US" dirty="0"/>
              <a:t> the glass-es</a:t>
            </a:r>
          </a:p>
          <a:p>
            <a:pPr lvl="1" algn="just"/>
            <a:r>
              <a:rPr lang="en-US" b="1" dirty="0"/>
              <a:t>Word forms </a:t>
            </a:r>
            <a:r>
              <a:rPr lang="en-US" dirty="0"/>
              <a:t>are the variations of a word that express different grammatical categories (tense, case, number, gender, etc.) and thus help convey the specific meaning and function of the word in a sentence</a:t>
            </a:r>
          </a:p>
          <a:p>
            <a:r>
              <a:rPr lang="en-US" b="1" dirty="0"/>
              <a:t>Unseen word can thus be represented by some sequence of known </a:t>
            </a:r>
            <a:r>
              <a:rPr lang="en-US" b="1" dirty="0" err="1"/>
              <a:t>subword</a:t>
            </a:r>
            <a:r>
              <a:rPr lang="en-US" b="1" dirty="0"/>
              <a:t> units. e.g. lower as {low, -er}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0898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A12C6-62AE-AA90-D992-E86B9EECF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396B5-F14C-7906-75FD-A2CDF771F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4882"/>
            <a:ext cx="8610600" cy="1143000"/>
          </a:xfrm>
        </p:spPr>
        <p:txBody>
          <a:bodyPr>
            <a:normAutofit fontScale="90000"/>
          </a:bodyPr>
          <a:lstStyle/>
          <a:p>
            <a:r>
              <a:rPr lang="en-IN" b="1" dirty="0" err="1">
                <a:solidFill>
                  <a:srgbClr val="FF0000"/>
                </a:solidFill>
              </a:rPr>
              <a:t>Subword</a:t>
            </a:r>
            <a:r>
              <a:rPr lang="en-IN" b="1" dirty="0">
                <a:solidFill>
                  <a:srgbClr val="FF0000"/>
                </a:solidFill>
              </a:rPr>
              <a:t> Tokenization: Byte-Pair-Encoding (BPE)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6499C-B183-98E2-91A7-26B264FFC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27/Jul/2026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340EE-0363-F380-769D-DA83FD86D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EDE56-B5AF-376D-2240-FA30DDAD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2466B49-3C9E-512B-87B7-959FBA3EC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403349"/>
            <a:ext cx="8610600" cy="5135563"/>
          </a:xfrm>
        </p:spPr>
        <p:txBody>
          <a:bodyPr>
            <a:normAutofit/>
          </a:bodyPr>
          <a:lstStyle/>
          <a:p>
            <a:r>
              <a:rPr lang="en-US" b="1" dirty="0"/>
              <a:t>Main idea: </a:t>
            </a:r>
            <a:r>
              <a:rPr lang="en-US" dirty="0"/>
              <a:t>Use data to automatically tell what the tokens should be</a:t>
            </a:r>
          </a:p>
          <a:p>
            <a:pPr lvl="1"/>
            <a:r>
              <a:rPr lang="en-IN" b="1" dirty="0"/>
              <a:t>Token learner (Training Part)</a:t>
            </a:r>
          </a:p>
          <a:p>
            <a:pPr lvl="2"/>
            <a:r>
              <a:rPr lang="en-US" dirty="0"/>
              <a:t>Raw train corpus ⇒ Vocabulary (a set of tokens)</a:t>
            </a:r>
          </a:p>
          <a:p>
            <a:pPr lvl="1"/>
            <a:r>
              <a:rPr lang="en-IN" b="1" dirty="0"/>
              <a:t>Token </a:t>
            </a:r>
            <a:r>
              <a:rPr lang="en-IN" b="1" dirty="0" err="1"/>
              <a:t>segmenter</a:t>
            </a:r>
            <a:r>
              <a:rPr lang="en-IN" b="1" dirty="0"/>
              <a:t> (Testing Part)</a:t>
            </a:r>
          </a:p>
          <a:p>
            <a:pPr lvl="2"/>
            <a:r>
              <a:rPr lang="en-US" dirty="0"/>
              <a:t>Raw sentences ⇒ Tokens in the vocabulary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1514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32153-7430-0C22-6B24-EC72C1EFB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0000C-53AF-81B5-27A5-DEB1B3C56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4882"/>
            <a:ext cx="8610600" cy="1143000"/>
          </a:xfrm>
        </p:spPr>
        <p:txBody>
          <a:bodyPr>
            <a:normAutofit fontScale="90000"/>
          </a:bodyPr>
          <a:lstStyle/>
          <a:p>
            <a:r>
              <a:rPr lang="en-IN" b="1" dirty="0" err="1">
                <a:solidFill>
                  <a:srgbClr val="FF0000"/>
                </a:solidFill>
              </a:rPr>
              <a:t>Subword</a:t>
            </a:r>
            <a:r>
              <a:rPr lang="en-IN" b="1" dirty="0">
                <a:solidFill>
                  <a:srgbClr val="FF0000"/>
                </a:solidFill>
              </a:rPr>
              <a:t> Tokenization: Byte-Pair-Encoding (BPE)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F7E42-91AE-E3DB-ADD6-1E4CF5C61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27/Jul/2026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2C448-AD80-BCA1-7142-7C49A84B6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4D4BB-9A70-F0C4-1AD5-0750C66C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00384C8-D005-D490-02B4-F080CF2D1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780" y="1213011"/>
            <a:ext cx="8610600" cy="5135563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IN" b="1" dirty="0"/>
              <a:t>Token learner: (Training Part)</a:t>
            </a:r>
          </a:p>
          <a:p>
            <a:pPr algn="just"/>
            <a:r>
              <a:rPr lang="en-US" i="1" dirty="0"/>
              <a:t>Raw train corpus </a:t>
            </a:r>
            <a:r>
              <a:rPr lang="en-US" dirty="0"/>
              <a:t>⇒ </a:t>
            </a:r>
            <a:r>
              <a:rPr lang="en-US" i="1" dirty="0"/>
              <a:t>Vocabulary (a set of tokens)</a:t>
            </a:r>
          </a:p>
          <a:p>
            <a:pPr lvl="1" algn="just"/>
            <a:r>
              <a:rPr lang="en-US" dirty="0"/>
              <a:t>Pre-tokenize the corpus in words &amp; append a special end-of-word symbol _ to each word</a:t>
            </a:r>
          </a:p>
          <a:p>
            <a:pPr lvl="1" algn="just"/>
            <a:r>
              <a:rPr lang="en-US" dirty="0"/>
              <a:t>Initialize vocabulary with the set of all individual characters</a:t>
            </a:r>
          </a:p>
          <a:p>
            <a:pPr lvl="1" algn="just"/>
            <a:r>
              <a:rPr lang="en-US" dirty="0"/>
              <a:t>Choose 2 tokens that are most frequently adjacent (“A”, “B”)</a:t>
            </a:r>
          </a:p>
          <a:p>
            <a:pPr lvl="2" algn="just"/>
            <a:r>
              <a:rPr lang="en-IN" dirty="0"/>
              <a:t>Respect word boundaries</a:t>
            </a:r>
          </a:p>
          <a:p>
            <a:pPr lvl="1" algn="just"/>
            <a:r>
              <a:rPr lang="en-US" dirty="0"/>
              <a:t>Add a new merged symbol (“AB”) to the vocabulary</a:t>
            </a:r>
          </a:p>
          <a:p>
            <a:pPr lvl="1" algn="just"/>
            <a:r>
              <a:rPr lang="en-US" dirty="0"/>
              <a:t>Change the occurrence of the 2 selected tokens with the new merged token in the corpus</a:t>
            </a:r>
          </a:p>
          <a:p>
            <a:pPr lvl="1" algn="just"/>
            <a:r>
              <a:rPr lang="en-US" dirty="0"/>
              <a:t>Continues doing this until k merges are done</a:t>
            </a:r>
          </a:p>
          <a:p>
            <a:pPr algn="just"/>
            <a:r>
              <a:rPr lang="en-US" dirty="0"/>
              <a:t>All k new symbols and initial characters are the final vocabulary</a:t>
            </a:r>
          </a:p>
          <a:p>
            <a:pPr algn="just"/>
            <a:r>
              <a:rPr lang="en-US" b="1" i="1" dirty="0"/>
              <a:t>What’s k? Open research question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7696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CF58C-0552-7C74-6B6D-0FCE1F2E3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5912E-975D-5F74-2CF7-B057F1B22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4882"/>
            <a:ext cx="8610600" cy="1143000"/>
          </a:xfrm>
        </p:spPr>
        <p:txBody>
          <a:bodyPr>
            <a:normAutofit fontScale="90000"/>
          </a:bodyPr>
          <a:lstStyle/>
          <a:p>
            <a:r>
              <a:rPr lang="en-IN" b="1" dirty="0" err="1">
                <a:solidFill>
                  <a:srgbClr val="FF0000"/>
                </a:solidFill>
              </a:rPr>
              <a:t>Subword</a:t>
            </a:r>
            <a:r>
              <a:rPr lang="en-IN" b="1" dirty="0">
                <a:solidFill>
                  <a:srgbClr val="FF0000"/>
                </a:solidFill>
              </a:rPr>
              <a:t> Tokenization:  Byte-Pair-Encoding (BPE)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75FDC-E4AF-C13F-B046-0B4312D33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27/Jul/2026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99C2B-99C4-31D8-C0ED-F64CDD16B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15A42-7304-55E9-243D-0AE30117E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FB152BE-E746-A3FB-025F-27DD7F3BF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135563"/>
          </a:xfrm>
        </p:spPr>
        <p:txBody>
          <a:bodyPr>
            <a:normAutofit/>
          </a:bodyPr>
          <a:lstStyle/>
          <a:p>
            <a:r>
              <a:rPr lang="en-IN"/>
              <a:t>Example: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072657-E213-C12A-D4AF-39988319D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22" y="1524000"/>
            <a:ext cx="8686800" cy="22153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AB4DA3-DB45-A065-5CAF-CD8A03BBD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63" y="3969570"/>
            <a:ext cx="8686800" cy="20909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47D698-6C9E-A0D2-A32D-23634CBD94D3}"/>
              </a:ext>
            </a:extLst>
          </p:cNvPr>
          <p:cNvSpPr txBox="1"/>
          <p:nvPr/>
        </p:nvSpPr>
        <p:spPr>
          <a:xfrm>
            <a:off x="-79593" y="1905000"/>
            <a:ext cx="616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Freq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0321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2E79D-B2C1-9086-5B0A-C9928E0B2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82A5A-0954-6A89-778A-C12407F7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4882"/>
            <a:ext cx="8610600" cy="1143000"/>
          </a:xfrm>
        </p:spPr>
        <p:txBody>
          <a:bodyPr>
            <a:normAutofit fontScale="90000"/>
          </a:bodyPr>
          <a:lstStyle/>
          <a:p>
            <a:r>
              <a:rPr lang="en-IN" b="1" dirty="0" err="1">
                <a:solidFill>
                  <a:srgbClr val="FF0000"/>
                </a:solidFill>
              </a:rPr>
              <a:t>Subword</a:t>
            </a:r>
            <a:r>
              <a:rPr lang="en-IN" b="1" dirty="0">
                <a:solidFill>
                  <a:srgbClr val="FF0000"/>
                </a:solidFill>
              </a:rPr>
              <a:t> Tokenization: Byte-Pair-Encoding (BPE)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46781-900A-C0B6-CC4E-363F75F5F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27/Jul/2026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B1C33-DB02-AFD1-9D22-2577686AA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FE175-76E7-D1A0-18DE-ECCFE311E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44A05A5-4F95-94DE-1951-44A0BA94C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135563"/>
          </a:xfrm>
        </p:spPr>
        <p:txBody>
          <a:bodyPr>
            <a:normAutofit/>
          </a:bodyPr>
          <a:lstStyle/>
          <a:p>
            <a:r>
              <a:rPr lang="en-IN"/>
              <a:t>Example: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988F5C-E716-D4A1-93F4-FD6515C82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75120"/>
            <a:ext cx="8839200" cy="23837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3A798F-016F-0332-17B7-D49E38698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3905756"/>
            <a:ext cx="8763000" cy="217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919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76C15-B15E-183C-DA5B-2D60B144D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DB906-AF74-E563-F189-36B1F270F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4882"/>
            <a:ext cx="8610600" cy="1143000"/>
          </a:xfrm>
        </p:spPr>
        <p:txBody>
          <a:bodyPr>
            <a:normAutofit fontScale="90000"/>
          </a:bodyPr>
          <a:lstStyle/>
          <a:p>
            <a:r>
              <a:rPr lang="en-IN" b="1" dirty="0" err="1">
                <a:solidFill>
                  <a:srgbClr val="FF0000"/>
                </a:solidFill>
              </a:rPr>
              <a:t>Subword</a:t>
            </a:r>
            <a:r>
              <a:rPr lang="en-IN" b="1" dirty="0">
                <a:solidFill>
                  <a:srgbClr val="FF0000"/>
                </a:solidFill>
              </a:rPr>
              <a:t> Tokenization: Byte-Pair-Encoding (BPE)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765F4-2989-D68B-029C-E2BE021B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27/Jul/2026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DCAD5-FF40-5686-615C-331482C44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F68FE-C446-7E97-1ED4-516168E45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4096CDE-BE79-F51A-6692-D7F42BA90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135563"/>
          </a:xfrm>
        </p:spPr>
        <p:txBody>
          <a:bodyPr>
            <a:normAutofit/>
          </a:bodyPr>
          <a:lstStyle/>
          <a:p>
            <a:r>
              <a:rPr lang="en-IN" dirty="0"/>
              <a:t>Example: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E84F2F-6371-BDF3-75B8-6B6DEFB12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1543745"/>
            <a:ext cx="9029700" cy="1891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87F317-3593-930D-1A9D-C10734A5DF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79"/>
          <a:stretch>
            <a:fillRect/>
          </a:stretch>
        </p:blipFill>
        <p:spPr>
          <a:xfrm>
            <a:off x="685799" y="3429001"/>
            <a:ext cx="8120247" cy="324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806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AB7F9-2DAB-071C-7376-5E7C23C12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7D11D-58EC-5CF5-A7A3-098D91F1A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Token </a:t>
            </a:r>
            <a:r>
              <a:rPr lang="en-IN" dirty="0" err="1"/>
              <a:t>segmenter</a:t>
            </a:r>
            <a:r>
              <a:rPr lang="en-IN" dirty="0"/>
              <a:t>: (Testing Part)</a:t>
            </a:r>
          </a:p>
          <a:p>
            <a:pPr lvl="1" algn="just"/>
            <a:r>
              <a:rPr lang="en-US" dirty="0"/>
              <a:t>Just runs on the test data the merges we have learned from the training data, greedily, in the order we learned them</a:t>
            </a:r>
          </a:p>
          <a:p>
            <a:pPr lvl="1" algn="just"/>
            <a:r>
              <a:rPr lang="en-US" dirty="0"/>
              <a:t>First we segment each test sentence word into characters</a:t>
            </a:r>
          </a:p>
          <a:p>
            <a:pPr lvl="1" algn="just"/>
            <a:r>
              <a:rPr lang="en-US" dirty="0"/>
              <a:t>Then we apply the first merge rule</a:t>
            </a:r>
          </a:p>
          <a:p>
            <a:pPr lvl="1" algn="just"/>
            <a:r>
              <a:rPr lang="en-US" dirty="0"/>
              <a:t>e.g., replace every instance of “e”, ”r” in the test corpus with “er”</a:t>
            </a:r>
          </a:p>
          <a:p>
            <a:pPr lvl="1" algn="just"/>
            <a:r>
              <a:rPr lang="en-US" dirty="0"/>
              <a:t>Then the second merge rule</a:t>
            </a:r>
          </a:p>
          <a:p>
            <a:pPr lvl="1" algn="just"/>
            <a:r>
              <a:rPr lang="en-US" dirty="0"/>
              <a:t>e.g., replace every instance of “er”, “_” in the test corpus with “er_” </a:t>
            </a:r>
            <a:r>
              <a:rPr lang="en-IN" dirty="0"/>
              <a:t>and so 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C34D7-A0E2-7009-CB77-4A6ABC38A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27/Jul/2026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D29EB-9B4F-7492-2972-13B438256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0E1A9-7F7E-9320-1A18-87457216E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890496-1C43-F3A6-270E-940DC1202BFD}"/>
              </a:ext>
            </a:extLst>
          </p:cNvPr>
          <p:cNvSpPr txBox="1">
            <a:spLocks/>
          </p:cNvSpPr>
          <p:nvPr/>
        </p:nvSpPr>
        <p:spPr>
          <a:xfrm>
            <a:off x="152400" y="24882"/>
            <a:ext cx="8610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Subword</a:t>
            </a:r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Tokenization: Byte-Pair-Encoding (BPE)</a:t>
            </a:r>
          </a:p>
        </p:txBody>
      </p:sp>
    </p:spTree>
    <p:extLst>
      <p:ext uri="{BB962C8B-B14F-4D97-AF65-F5344CB8AC3E}">
        <p14:creationId xmlns:p14="http://schemas.microsoft.com/office/powerpoint/2010/main" val="3791768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91C61-2389-350D-3CD9-FF7334EE6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3D896-78F8-8A0A-F9EF-EBB888241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CE2A9-8BF2-7DCC-CC26-81252BBE4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1209"/>
            <a:ext cx="8229600" cy="4525963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38E3D-EF09-0632-8317-26B08B034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27/Jul/2026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1B1EE-D582-2C87-8AC8-AE2FF752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E884E-4A5B-1051-3F3E-03B62A87B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7C00AF8-9060-B174-BE68-DA558376F73B}"/>
              </a:ext>
            </a:extLst>
          </p:cNvPr>
          <p:cNvSpPr txBox="1">
            <a:spLocks/>
          </p:cNvSpPr>
          <p:nvPr/>
        </p:nvSpPr>
        <p:spPr>
          <a:xfrm>
            <a:off x="152400" y="24882"/>
            <a:ext cx="8610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Subword</a:t>
            </a:r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Tokenizers in Models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ED48A1-E216-2757-F1C3-06138188E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462477"/>
            <a:ext cx="7315200" cy="420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361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77742-D1BA-D55B-B6AD-8723ADC6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419100"/>
            <a:ext cx="8763000" cy="1143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Tokenization: Practical Recommendation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3506C-457B-43C8-1066-4065CDF5D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539" y="1066800"/>
            <a:ext cx="8229600" cy="4800600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For production NLP systems, use established libraries like:</a:t>
            </a:r>
          </a:p>
          <a:p>
            <a:pPr algn="just"/>
            <a:r>
              <a:rPr lang="en-IN" b="1" dirty="0" err="1"/>
              <a:t>spaCy</a:t>
            </a:r>
            <a:r>
              <a:rPr lang="en-IN" dirty="0"/>
              <a:t>: Handles punctuation, contractions, and multi-word expressions intelligently </a:t>
            </a:r>
          </a:p>
          <a:p>
            <a:pPr algn="just"/>
            <a:r>
              <a:rPr lang="en-IN" b="1" dirty="0"/>
              <a:t>NLTK's advanced tokenizers</a:t>
            </a:r>
            <a:r>
              <a:rPr lang="en-IN" dirty="0"/>
              <a:t>: Beyond </a:t>
            </a:r>
            <a:r>
              <a:rPr lang="en-IN" dirty="0" err="1"/>
              <a:t>WhitespaceTokenizer</a:t>
            </a:r>
            <a:r>
              <a:rPr lang="en-IN" dirty="0"/>
              <a:t>, use </a:t>
            </a:r>
            <a:r>
              <a:rPr lang="en-IN" dirty="0" err="1"/>
              <a:t>word_tokenize</a:t>
            </a:r>
            <a:r>
              <a:rPr lang="en-IN" dirty="0"/>
              <a:t>() which uses </a:t>
            </a:r>
            <a:r>
              <a:rPr lang="en-IN" dirty="0" err="1"/>
              <a:t>Punkt</a:t>
            </a:r>
            <a:r>
              <a:rPr lang="en-IN" dirty="0"/>
              <a:t> sentence tokenizer</a:t>
            </a:r>
          </a:p>
          <a:p>
            <a:pPr algn="just"/>
            <a:r>
              <a:rPr lang="en-IN" b="1" dirty="0"/>
              <a:t>Hugging Face tokenizers</a:t>
            </a:r>
            <a:r>
              <a:rPr lang="en-IN" dirty="0"/>
              <a:t>: BPE/</a:t>
            </a:r>
            <a:r>
              <a:rPr lang="en-IN" dirty="0" err="1"/>
              <a:t>WordPiece</a:t>
            </a:r>
            <a:r>
              <a:rPr lang="en-IN" dirty="0"/>
              <a:t> implementations for transformer models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AB230-665B-D531-8C2A-EB2C29D16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27/Jul/2026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F0DFB-5D90-C40C-F947-02E902B6E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30F38-024F-175D-3B04-B47422ED7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5528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99728A6127F4F89CAF9F3240C8CFF" ma:contentTypeVersion="3" ma:contentTypeDescription="Create a new document." ma:contentTypeScope="" ma:versionID="7e7402f0dab3fcc782adb50016726280">
  <xsd:schema xmlns:xsd="http://www.w3.org/2001/XMLSchema" xmlns:xs="http://www.w3.org/2001/XMLSchema" xmlns:p="http://schemas.microsoft.com/office/2006/metadata/properties" xmlns:ns2="79306fda-43a2-430c-89ae-9679da3ec0e1" targetNamespace="http://schemas.microsoft.com/office/2006/metadata/properties" ma:root="true" ma:fieldsID="d53381ab9528536bd2d8f002f0f3cf7e" ns2:_="">
    <xsd:import namespace="79306fda-43a2-430c-89ae-9679da3ec0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06fda-43a2-430c-89ae-9679da3ec0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FFAE6D-99C5-471E-82D5-916C4993970F}"/>
</file>

<file path=customXml/itemProps2.xml><?xml version="1.0" encoding="utf-8"?>
<ds:datastoreItem xmlns:ds="http://schemas.openxmlformats.org/officeDocument/2006/customXml" ds:itemID="{A05395BE-C69C-4D32-A03E-B2235AD4ACE0}"/>
</file>

<file path=customXml/itemProps3.xml><?xml version="1.0" encoding="utf-8"?>
<ds:datastoreItem xmlns:ds="http://schemas.openxmlformats.org/officeDocument/2006/customXml" ds:itemID="{6BFF717A-2022-4BF3-BA5A-60BC51F717E1}"/>
</file>

<file path=docProps/app.xml><?xml version="1.0" encoding="utf-8"?>
<Properties xmlns="http://schemas.openxmlformats.org/officeDocument/2006/extended-properties" xmlns:vt="http://schemas.openxmlformats.org/officeDocument/2006/docPropsVTypes">
  <TotalTime>13629</TotalTime>
  <Words>1568</Words>
  <Application>Microsoft Office PowerPoint</Application>
  <PresentationFormat>On-screen Show (4:3)</PresentationFormat>
  <Paragraphs>182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Courier New</vt:lpstr>
      <vt:lpstr>Mongolian Baiti</vt:lpstr>
      <vt:lpstr>NimbusRomNo9L-Medi</vt:lpstr>
      <vt:lpstr>Office Theme</vt:lpstr>
      <vt:lpstr>PowerPoint Presentation</vt:lpstr>
      <vt:lpstr>NLP: Basic Flow Diagram</vt:lpstr>
      <vt:lpstr>NLP Pipeline</vt:lpstr>
      <vt:lpstr>NLP: Python Packages, Libraries</vt:lpstr>
      <vt:lpstr>Text Pre-processing: Tokenization</vt:lpstr>
      <vt:lpstr>Tokenization: Key Terminology</vt:lpstr>
      <vt:lpstr>Tokenization: Key Terminology</vt:lpstr>
      <vt:lpstr>Tokenization: Whitespace tokenization</vt:lpstr>
      <vt:lpstr>Tokenization: Whitespace tokenization</vt:lpstr>
      <vt:lpstr>Whitespace tokenization: Major Issues</vt:lpstr>
      <vt:lpstr>Whitespace tokenization: Solutions and Better Approaches</vt:lpstr>
      <vt:lpstr>Subword Tokenization</vt:lpstr>
      <vt:lpstr>Subword Tokenization: Byte-Pair-Encoding (BPE)</vt:lpstr>
      <vt:lpstr>Subword Tokenization: Byte-Pair-Encoding (BPE)</vt:lpstr>
      <vt:lpstr>Subword Tokenization:  Byte-Pair-Encoding (BPE)</vt:lpstr>
      <vt:lpstr>Subword Tokenization: Byte-Pair-Encoding (BPE)</vt:lpstr>
      <vt:lpstr>Subword Tokenization: Byte-Pair-Encoding (BPE)</vt:lpstr>
      <vt:lpstr>PowerPoint Presentation</vt:lpstr>
      <vt:lpstr>PowerPoint Presentation</vt:lpstr>
      <vt:lpstr>Tokenization: Practical Recommendation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Probability Theory &amp; Random Variables</dc:title>
  <dc:creator>Jigar</dc:creator>
  <cp:lastModifiedBy>Jigarkumar Shah</cp:lastModifiedBy>
  <cp:revision>1225</cp:revision>
  <dcterms:created xsi:type="dcterms:W3CDTF">2006-08-16T00:00:00Z</dcterms:created>
  <dcterms:modified xsi:type="dcterms:W3CDTF">2026-07-27T10:01:11Z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0x010100EEC99728A6127F4F89CAF9F3240C8CFF</vt:lpwstr>
  </property>
</Properties>
</file>