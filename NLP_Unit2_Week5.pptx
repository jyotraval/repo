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502" r:id="rId2"/>
    <p:sldId id="511" r:id="rId3"/>
    <p:sldId id="504" r:id="rId4"/>
    <p:sldId id="505" r:id="rId5"/>
    <p:sldId id="506" r:id="rId6"/>
    <p:sldId id="514" r:id="rId7"/>
    <p:sldId id="515" r:id="rId8"/>
    <p:sldId id="507" r:id="rId9"/>
    <p:sldId id="498" r:id="rId10"/>
    <p:sldId id="499" r:id="rId11"/>
    <p:sldId id="513" r:id="rId12"/>
    <p:sldId id="51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90056" autoAdjust="0"/>
  </p:normalViewPr>
  <p:slideViewPr>
    <p:cSldViewPr>
      <p:cViewPr varScale="1">
        <p:scale>
          <a:sx n="82" d="100"/>
          <a:sy n="82" d="100"/>
        </p:scale>
        <p:origin x="132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18/Aug/2026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18/Aug/2026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18/Aug/2026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18/Aug/2026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18/Aug/2026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18/Aug/2026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18/Aug/2026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4E87-2C68-6121-E198-3B092CE43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433" y="0"/>
            <a:ext cx="8229600" cy="1143000"/>
          </a:xfrm>
        </p:spPr>
        <p:txBody>
          <a:bodyPr/>
          <a:lstStyle/>
          <a:p>
            <a:r>
              <a:rPr lang="en-IN" dirty="0"/>
              <a:t>How to map words to space??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68C2-2A81-3FF3-D30A-89FA649C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96DC2-9E13-A5F5-D3E3-6F723A63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519A3-37D3-7625-DE21-5547EF07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AF304-DEBC-AE9F-3B10-482F7921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Google Shape;195;g31af26b74f4_0_2540">
            <a:extLst>
              <a:ext uri="{FF2B5EF4-FFF2-40B4-BE49-F238E27FC236}">
                <a16:creationId xmlns:a16="http://schemas.microsoft.com/office/drawing/2014/main" id="{E6FCAAE2-91E5-1E6F-10C6-E4B4F13589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727" y="1623527"/>
            <a:ext cx="8968273" cy="3124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7902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1C464-6012-318B-75F4-6729DA1A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C5B-668E-C090-B98D-7CFFF254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-152400"/>
            <a:ext cx="8229600" cy="1143000"/>
          </a:xfrm>
        </p:spPr>
        <p:txBody>
          <a:bodyPr/>
          <a:lstStyle/>
          <a:p>
            <a:r>
              <a:rPr lang="en-US" b="1" dirty="0"/>
              <a:t>An example: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5415E-BA77-B81D-0AAF-CC95879C1E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2514" y="6096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Toy Corpus &amp; Co-occurrence Matrix</a:t>
                </a:r>
              </a:p>
              <a:p>
                <a:pPr marL="914400" lvl="2" indent="0">
                  <a:buNone/>
                </a:pPr>
                <a:r>
                  <a:rPr lang="en-IN" i="1" dirty="0"/>
                  <a:t>“data science drives insight”</a:t>
                </a:r>
                <a:endParaRPr lang="en-IN" dirty="0"/>
              </a:p>
              <a:p>
                <a:pPr marL="914400" lvl="2" indent="0">
                  <a:buNone/>
                </a:pPr>
                <a:r>
                  <a:rPr lang="en-IN" i="1" dirty="0"/>
                  <a:t>“data analysis drives insight”</a:t>
                </a:r>
                <a:endParaRPr lang="en-IN" dirty="0"/>
              </a:p>
              <a:p>
                <a:r>
                  <a:rPr lang="en-IN" dirty="0"/>
                  <a:t>Using a symmetrical </a:t>
                </a:r>
                <a:r>
                  <a:rPr lang="en-IN" b="1" dirty="0"/>
                  <a:t>context window of size 1</a:t>
                </a:r>
                <a:r>
                  <a:rPr lang="en-IN" dirty="0"/>
                  <a:t> (considering one word to the left and right), we construct a term-by-term co-occurrence matrix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IN" dirty="0"/>
                  <a:t>: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B5415E-BA77-B81D-0AAF-CC95879C1E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2514" y="609600"/>
                <a:ext cx="8229600" cy="4525963"/>
              </a:xfrm>
              <a:blipFill>
                <a:blip r:embed="rId2"/>
                <a:stretch>
                  <a:fillRect l="-1704" t="-1752" r="-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8E416-E5A1-4CB1-FB35-4893F2A8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D703-481E-AC00-3352-3BB50D09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2932C-DBDF-7B78-51F6-49B483B8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CD221AF-7FEB-9FEF-5B20-217EADC78A3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4161472"/>
          <a:ext cx="8229600" cy="2651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39600187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1505668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01367633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0428061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27356386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766365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Target words 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science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analysis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drives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insight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362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science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582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analysis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5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drives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11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insight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238034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076BAB-01C4-1934-3E07-506AD39CC4F9}"/>
              </a:ext>
            </a:extLst>
          </p:cNvPr>
          <p:cNvCxnSpPr/>
          <p:nvPr/>
        </p:nvCxnSpPr>
        <p:spPr>
          <a:xfrm>
            <a:off x="1600200" y="4267200"/>
            <a:ext cx="0" cy="53340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627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3FC9-ADE8-82B2-33C9-CE4302CD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96" y="55959"/>
            <a:ext cx="8229600" cy="89138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 example: Raw </a:t>
            </a:r>
            <a:r>
              <a:rPr lang="en-IN" b="1" dirty="0"/>
              <a:t>co-occurrence counts</a:t>
            </a:r>
            <a:r>
              <a:rPr lang="en-IN" dirty="0"/>
              <a:t>: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FBF589-C5C3-67E6-2F25-522893B5AC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980278"/>
                <a:ext cx="8915400" cy="4887122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Computing Similarity: </a:t>
                </a:r>
                <a:r>
                  <a:rPr lang="en-IN" dirty="0"/>
                  <a:t>To quantify how close two word vectors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IN" dirty="0"/>
                  <a:t>are in space, </a:t>
                </a:r>
                <a:r>
                  <a:rPr lang="en-IN" b="1" dirty="0"/>
                  <a:t>Cosine Similarity</a:t>
                </a:r>
                <a:r>
                  <a:rPr lang="en-IN" dirty="0"/>
                  <a:t> evaluates the angle between vectors rather than their magnitude: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Cosine Similarity</m:t>
                    </m:r>
                    <m:d>
                      <m:dPr>
                        <m:ctrlPr>
                          <a:rPr lang="en-IN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𝐯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‖‖</m:t>
                        </m:r>
                        <m:r>
                          <a:rPr lang="en-IN" b="1">
                            <a:latin typeface="Cambria Math" panose="02040503050406030204" pitchFamily="18" charset="0"/>
                          </a:rPr>
                          <m:t>𝐯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‖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Using our matrix rows: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 smtClean="0"/>
                          <m:t>science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,0,0,1,0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N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0"/>
                          <m:t>analysis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1,0,0,1,0</m:t>
                        </m:r>
                      </m:e>
                    </m:d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Cosine Similarity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0" smtClean="0"/>
                              <m:t>science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0"/>
                              <m:t>analysis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1⋅1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0⋅0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0⋅0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1⋅1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0⋅0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IN" dirty="0"/>
              </a:p>
              <a:p>
                <a:r>
                  <a:rPr lang="en-IN" dirty="0"/>
                  <a:t>Despite never co-occurring directly with each other, </a:t>
                </a:r>
                <a:r>
                  <a:rPr lang="en-IN" i="1" dirty="0"/>
                  <a:t>science</a:t>
                </a:r>
                <a:r>
                  <a:rPr lang="en-IN" dirty="0"/>
                  <a:t> and </a:t>
                </a:r>
                <a:r>
                  <a:rPr lang="en-IN" i="1" dirty="0"/>
                  <a:t>analysis</a:t>
                </a:r>
                <a:r>
                  <a:rPr lang="en-IN" dirty="0"/>
                  <a:t> map to identical directions in space because they share identical contexts (</a:t>
                </a:r>
                <a:r>
                  <a:rPr lang="en-IN" i="1" dirty="0"/>
                  <a:t>data</a:t>
                </a:r>
                <a:r>
                  <a:rPr lang="en-IN" dirty="0"/>
                  <a:t>, </a:t>
                </a:r>
                <a:r>
                  <a:rPr lang="en-IN" i="1" dirty="0"/>
                  <a:t>drives</a:t>
                </a:r>
                <a:r>
                  <a:rPr lang="en-IN" dirty="0"/>
                  <a:t>).</a:t>
                </a:r>
              </a:p>
              <a:p>
                <a:r>
                  <a:rPr lang="en-IN" dirty="0"/>
                  <a:t>Similarly find Cosine Similarity between all other pairs: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>
                                <a:latin typeface="Cambria Math" panose="02040503050406030204" pitchFamily="18" charset="0"/>
                              </a:rPr>
                              <m:t>data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0">
                                <a:latin typeface="Cambria Math" panose="02040503050406030204" pitchFamily="18" charset="0"/>
                              </a:rPr>
                              <m:t>analysis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b="0" i="0" smtClean="0"/>
                              <m:t>drives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0"/>
                              <m:t>analysis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;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b="0" i="0" smtClean="0"/>
                              <m:t>insights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0"/>
                              <m:t>analysis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; ………… it will be different.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FBF589-C5C3-67E6-2F25-522893B5A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80278"/>
                <a:ext cx="8915400" cy="4887122"/>
              </a:xfrm>
              <a:blipFill>
                <a:blip r:embed="rId2"/>
                <a:stretch>
                  <a:fillRect l="-616" t="-1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9726B-97BD-D636-19CA-D6D3D4AF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CFC90-AE3C-AE3D-5216-74144FCB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3CCA6-3855-D27C-99BC-CAC1E417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074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F132-8DCF-FF44-862F-5F4D864B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ADD9-28C4-12D0-E267-550CF6AF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Issue with </a:t>
            </a:r>
            <a:r>
              <a:rPr lang="en-IN" b="1" dirty="0"/>
              <a:t>Raw co-occurrence counts: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8859C-FEE9-BAD0-7C3C-8C189FC98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66018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Raw co-occurrence counts suffer from frequency bias: common words (e.g., </a:t>
            </a:r>
            <a:r>
              <a:rPr lang="en-IN" i="1" dirty="0"/>
              <a:t>“the”</a:t>
            </a:r>
            <a:r>
              <a:rPr lang="en-IN" dirty="0"/>
              <a:t>, </a:t>
            </a:r>
            <a:r>
              <a:rPr lang="en-IN" i="1" dirty="0"/>
              <a:t>“is”</a:t>
            </a:r>
            <a:r>
              <a:rPr lang="en-IN" dirty="0"/>
              <a:t>) dominate matrix entries without providing informative semantic context.</a:t>
            </a:r>
          </a:p>
          <a:p>
            <a:pPr algn="just"/>
            <a:r>
              <a:rPr lang="en-US" b="1" dirty="0"/>
              <a:t>Solution:</a:t>
            </a:r>
            <a:r>
              <a:rPr lang="en-US" dirty="0"/>
              <a:t> Context Weighting via association measures: </a:t>
            </a:r>
            <a:r>
              <a:rPr lang="en-IN" dirty="0"/>
              <a:t>Association measures adjust these weights.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1EBAC-D411-B272-DA9E-E8B5C8A1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D593D-12D0-5460-F5AE-DDF29FA61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51A1F-A16B-F43B-A6FA-13864009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B2CAB1-4437-DC0D-4CF6-16F9C00F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3" y="4733629"/>
            <a:ext cx="8678486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6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3BC5-BD81-A9EE-7834-1EBF4AD4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96" y="-1877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Pointwise Mutual Information (PMI)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67BA7B-AB86-389C-DEA1-5D100FAB62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196" y="817987"/>
                <a:ext cx="8797203" cy="4342312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IN" dirty="0"/>
                  <a:t>PMI quantifies whether two words co-occur significantly more often than expected by random chance: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IN" dirty="0"/>
              </a:p>
              <a:p>
                <a:pPr algn="just"/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the total sum of co-occurrence counts across the matrix,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IN" dirty="0"/>
                  <a:t>is the marginal count of word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IN" dirty="0"/>
                  <a:t>, and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IN" dirty="0"/>
                  <a:t>is their joint co-occurrence count.</a:t>
                </a:r>
              </a:p>
              <a:p>
                <a:pPr lvl="0" algn="just"/>
                <a:r>
                  <a:rPr lang="en-IN" b="1" dirty="0"/>
                  <a:t>Positive PMI (PPMI):</a:t>
                </a:r>
                <a:r>
                  <a:rPr lang="en-IN" dirty="0"/>
                  <a:t> Because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→−∞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IN" dirty="0"/>
                  <a:t>, practical NLP applications replace negative values with zero:</a:t>
                </a:r>
              </a:p>
              <a:p>
                <a:pPr lvl="0"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PPMI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m:rPr>
                                <m:nor/>
                              </m:rPr>
                              <a:rPr lang="en-IN" i="0"/>
                              <m:t>PMI</m:t>
                            </m:r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67BA7B-AB86-389C-DEA1-5D100FAB6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196" y="817987"/>
                <a:ext cx="8797203" cy="4342312"/>
              </a:xfrm>
              <a:blipFill>
                <a:blip r:embed="rId2"/>
                <a:stretch>
                  <a:fillRect l="-1178" t="-2945" r="-13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F8DF-3411-3C62-BD34-56078078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01787-E263-06AF-F6BD-C72B522A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52829-3A58-98CD-AE5E-E0BB88A3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Google Shape;229;g31af26b74f4_0_3454">
            <a:extLst>
              <a:ext uri="{FF2B5EF4-FFF2-40B4-BE49-F238E27FC236}">
                <a16:creationId xmlns:a16="http://schemas.microsoft.com/office/drawing/2014/main" id="{C9DBBFCC-A416-E8FE-CA1C-66D216EA22A7}"/>
              </a:ext>
            </a:extLst>
          </p:cNvPr>
          <p:cNvSpPr txBox="1"/>
          <p:nvPr/>
        </p:nvSpPr>
        <p:spPr>
          <a:xfrm>
            <a:off x="228600" y="5160299"/>
            <a:ext cx="9067792" cy="83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/>
                <a:ea typeface="Lucida Sans"/>
                <a:cs typeface="Lucida Sans"/>
                <a:sym typeface="Lucida Sans"/>
              </a:rPr>
              <a:t>Statistically measure whether two words co-occur frequently (relative to their global frequencies)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711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96B2-4894-AF80-66F0-40981220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dirty="0"/>
              <a:t>Apply PPMI to Toy Corpus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368316-0B7D-18F8-2687-A9C80F8411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990600"/>
                <a:ext cx="82296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b="1" dirty="0"/>
                  <a:t>Total co-occurrences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b="1" dirty="0"/>
                  <a:t>):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2+2+2+4+2=12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PMI Calculations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, </m:t>
                    </m:r>
                    <m:r>
                      <m:rPr>
                        <m:nor/>
                      </m:rPr>
                      <a:rPr lang="en-IN" i="0"/>
                      <m:t>PPMI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m:rPr>
                                <m:nor/>
                              </m:rPr>
                              <a:rPr lang="en-IN" i="0"/>
                              <m:t>PMI</m:t>
                            </m:r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data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science</m:t>
                        </m:r>
                      </m:e>
                    </m:d>
                  </m:oMath>
                </a14:m>
                <a:r>
                  <a:rPr lang="en-IN" b="1" dirty="0"/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data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analysis</m:t>
                        </m:r>
                      </m:e>
                    </m:d>
                  </m:oMath>
                </a14:m>
                <a:r>
                  <a:rPr lang="en-IN" b="1" dirty="0"/>
                  <a:t>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1×12</m:t>
                                </m:r>
                              </m:num>
                              <m:den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2×2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𝟓𝟖𝟓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science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drives</m:t>
                        </m:r>
                      </m:e>
                    </m:d>
                  </m:oMath>
                </a14:m>
                <a:r>
                  <a:rPr lang="en-IN" b="1" dirty="0"/>
                  <a:t>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analysis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drives</m:t>
                        </m:r>
                      </m:e>
                    </m:d>
                  </m:oMath>
                </a14:m>
                <a:r>
                  <a:rPr lang="en-IN" b="1" dirty="0"/>
                  <a:t>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1×12</m:t>
                                </m:r>
                              </m:num>
                              <m:den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2×4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1.5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𝟓𝟖𝟓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drives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insight</m:t>
                        </m:r>
                      </m:e>
                    </m:d>
                  </m:oMath>
                </a14:m>
                <a:r>
                  <a:rPr lang="en-IN" b="1" dirty="0"/>
                  <a:t>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2×12</m:t>
                                </m:r>
                              </m:num>
                              <m:den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num>
                              <m:den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𝟓𝟖𝟓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Non-co-occurring pairs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b="1" dirty="0"/>
                  <a:t>):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PMI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→−∞⟹</m:t>
                    </m:r>
                    <m:r>
                      <m:rPr>
                        <m:nor/>
                      </m:rPr>
                      <a:rPr lang="en-IN" i="0"/>
                      <m:t>PPMI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368316-0B7D-18F8-2687-A9C80F8411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990600"/>
                <a:ext cx="8229600" cy="4525963"/>
              </a:xfrm>
              <a:blipFill>
                <a:blip r:embed="rId2"/>
                <a:stretch>
                  <a:fillRect l="-815" t="-2291" b="-18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96088-0F3A-7EF6-CB88-B4A6DFAC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BFBD0-6CEE-8259-4DFE-49713B5C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106DF-B14B-DA5A-1217-BD8336FC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377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C40A-A91F-53F2-94C8-39E68CE8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416" y="-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Apply PPMI to Toy Corpus</a:t>
            </a:r>
            <a:br>
              <a:rPr lang="en-IN" dirty="0"/>
            </a:br>
            <a:r>
              <a:rPr lang="en-IN" dirty="0"/>
              <a:t>Final PPMI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CA6ECBD-73BA-47A0-BF08-F1016BA756B9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051560"/>
              <a:ext cx="7239000" cy="3901440"/>
            </p:xfrm>
            <a:graphic>
              <a:graphicData uri="http://schemas.openxmlformats.org/drawingml/2006/table">
                <a:tbl>
                  <a:tblPr/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7052254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3130136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656630665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2203204251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519266979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2357057230"/>
                        </a:ext>
                      </a:extLst>
                    </a:gridCol>
                  </a:tblGrid>
                  <a:tr h="294084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data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science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analysis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drives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insight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8029"/>
                      </a:ext>
                    </a:extLst>
                  </a:tr>
                  <a:tr h="52030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data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1.585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1.585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3643629"/>
                      </a:ext>
                    </a:extLst>
                  </a:tr>
                  <a:tr h="52030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science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1.585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2984882"/>
                      </a:ext>
                    </a:extLst>
                  </a:tr>
                  <a:tr h="52030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analysis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1.585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0053275"/>
                      </a:ext>
                    </a:extLst>
                  </a:tr>
                  <a:tr h="52030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drives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1.585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5303702"/>
                      </a:ext>
                    </a:extLst>
                  </a:tr>
                  <a:tr h="520303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insight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1.585</m:t>
                                </m:r>
                              </m:oMath>
                            </m:oMathPara>
                          </a14:m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89998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CA6ECBD-73BA-47A0-BF08-F1016BA756B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2425251"/>
                  </p:ext>
                </p:extLst>
              </p:nvPr>
            </p:nvGraphicFramePr>
            <p:xfrm>
              <a:off x="609600" y="1051560"/>
              <a:ext cx="7239000" cy="3901440"/>
            </p:xfrm>
            <a:graphic>
              <a:graphicData uri="http://schemas.openxmlformats.org/drawingml/2006/table">
                <a:tbl>
                  <a:tblPr/>
                  <a:tblGrid>
                    <a:gridCol w="1206500">
                      <a:extLst>
                        <a:ext uri="{9D8B030D-6E8A-4147-A177-3AD203B41FA5}">
                          <a16:colId xmlns:a16="http://schemas.microsoft.com/office/drawing/2014/main" val="70522540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3130136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656630665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2203204251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3519266979"/>
                        </a:ext>
                      </a:extLst>
                    </a:gridCol>
                    <a:gridCol w="1206500">
                      <a:extLst>
                        <a:ext uri="{9D8B030D-6E8A-4147-A177-3AD203B41FA5}">
                          <a16:colId xmlns:a16="http://schemas.microsoft.com/office/drawing/2014/main" val="235705723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 dirty="0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data</a:t>
                          </a:r>
                          <a:endParaRPr lang="en-IN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science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analysis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drives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insight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566802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data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58261" r="-400505" b="-4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05" t="-58261" r="-300505" b="-4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05" t="-58261" r="-200505" b="-4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505" t="-58261" r="-100505" b="-4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505" t="-58261" r="-505" b="-40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364362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science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158261" r="-400505" b="-3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05" t="-158261" r="-300505" b="-3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05" t="-158261" r="-200505" b="-3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505" t="-158261" r="-100505" b="-3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505" t="-158261" r="-505" b="-30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298488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analysis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256034" r="-400505" b="-19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05" t="-256034" r="-300505" b="-19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05" t="-256034" r="-200505" b="-19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505" t="-256034" r="-100505" b="-19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505" t="-256034" r="-505" b="-199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005327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drives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359130" r="-400505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05" t="-359130" r="-300505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05" t="-359130" r="-200505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505" t="-359130" r="-100505" b="-1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505" t="-359130" r="-505" b="-10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3037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IN" b="1">
                              <a:solidFill>
                                <a:srgbClr val="1F1F1F"/>
                              </a:solidFill>
                              <a:effectLst/>
                              <a:latin typeface="Google Sans Text"/>
                            </a:rPr>
                            <a:t>insight</a:t>
                          </a:r>
                          <a:endParaRPr lang="en-IN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459130" r="-400505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05" t="-459130" r="-300505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505" t="-459130" r="-200505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505" t="-459130" r="-100505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60960" marB="60960" anchor="ctr">
                        <a:lnL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C4C7C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505" t="-459130" r="-505" b="-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89998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EC096-3A2E-833C-6F72-01253828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28D0-020A-52DB-540F-5A7E76EB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73883-FA25-6A0A-3953-1A311009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AEABDB-C37D-D9EA-F2DC-F9148E61E4EC}"/>
                  </a:ext>
                </a:extLst>
              </p:cNvPr>
              <p:cNvSpPr txBox="1"/>
              <p:nvPr/>
            </p:nvSpPr>
            <p:spPr>
              <a:xfrm>
                <a:off x="304800" y="5005479"/>
                <a:ext cx="8077200" cy="15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"/>
                    <a:ea typeface="+mn-ea"/>
                    <a:cs typeface="+mn-cs"/>
                  </a:rPr>
                  <a:t>Key Outcomes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Semantic Synonymy:</a:t>
                </a:r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5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5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𝐯</m:t>
                        </m:r>
                      </m:e>
                      <m:sub>
                        <m:r>
                          <m:rPr>
                            <m:nor/>
                          </m:rPr>
                          <a:rPr kumimoji="0" lang="en-IN" sz="1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science</m:t>
                        </m:r>
                      </m:sub>
                    </m:sSub>
                    <m:r>
                      <a:rPr kumimoji="0" lang="en-IN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IN" sz="1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1.585,0,0,0.585,0</m:t>
                        </m:r>
                      </m:e>
                    </m:d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5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5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𝐯</m:t>
                        </m:r>
                      </m:e>
                      <m:sub>
                        <m:r>
                          <m:rPr>
                            <m:nor/>
                          </m:rPr>
                          <a:rPr kumimoji="0" lang="en-IN" sz="1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analysis</m:t>
                        </m:r>
                      </m:sub>
                    </m:sSub>
                    <m:r>
                      <a:rPr kumimoji="0" lang="en-IN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IN" sz="1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5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1.585,0,0,0.585,0</m:t>
                        </m:r>
                      </m:e>
                    </m:d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are identical vectors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IN" sz="1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Cosine Similarity</m:t>
                    </m:r>
                    <m:r>
                      <a:rPr kumimoji="0" lang="en-IN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=1.0</m:t>
                    </m:r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) because they share identical statistical contexts.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Frequency Adjustment:</a:t>
                </a:r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Although </a:t>
                </a:r>
                <a:r>
                  <a:rPr kumimoji="0" lang="en-IN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"drives"</a:t>
                </a:r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co-occurs twice with </a:t>
                </a:r>
                <a:r>
                  <a:rPr kumimoji="0" lang="en-IN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"insight"</a:t>
                </a:r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kumimoji="0" lang="en-IN" sz="15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kumimoji="0" lang="en-IN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) and only once with </a:t>
                </a:r>
                <a:r>
                  <a:rPr kumimoji="0" lang="en-IN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"science"</a:t>
                </a:r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kumimoji="0" lang="en-IN" sz="15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kumimoji="0" lang="en-IN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</m:t>
                    </m:r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), the higher overall frequency of </a:t>
                </a:r>
                <a:r>
                  <a:rPr kumimoji="0" lang="en-IN" sz="15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"drives"</a:t>
                </a:r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r>
                      <a:rPr kumimoji="0" lang="en-IN" sz="15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kumimoji="0" lang="en-IN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</m:t>
                    </m:r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) adjusts the associations proportionally (</a:t>
                </a:r>
                <a14:m>
                  <m:oMath xmlns:m="http://schemas.openxmlformats.org/officeDocument/2006/math">
                    <m:r>
                      <a:rPr kumimoji="0" lang="en-IN" sz="1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1.585</m:t>
                    </m:r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 vs. </a:t>
                </a:r>
                <a14:m>
                  <m:oMath xmlns:m="http://schemas.openxmlformats.org/officeDocument/2006/math">
                    <m:r>
                      <a:rPr kumimoji="0" lang="en-IN" sz="1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0.585</m:t>
                    </m:r>
                  </m:oMath>
                </a14:m>
                <a:r>
                  <a:rPr kumimoji="0" lang="en-I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oogle Sans Text"/>
                    <a:ea typeface="+mn-ea"/>
                    <a:cs typeface="+mn-cs"/>
                  </a:rPr>
                  <a:t>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AEABDB-C37D-D9EA-F2DC-F9148E61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005479"/>
                <a:ext cx="8077200" cy="1533433"/>
              </a:xfrm>
              <a:prstGeom prst="rect">
                <a:avLst/>
              </a:prstGeom>
              <a:blipFill>
                <a:blip r:embed="rId3"/>
                <a:stretch>
                  <a:fillRect l="-302" t="-794" b="-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84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6EB8-67F7-B619-725D-06DE835F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Simpler Method: TF-IDF (Term Frequency – Inverse Document Frequency)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9DA3-C79E-93A9-6906-74BC011196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382000" cy="2688942"/>
              </a:xfrm>
            </p:spPr>
            <p:txBody>
              <a:bodyPr>
                <a:normAutofit fontScale="62500" lnSpcReduction="20000"/>
              </a:bodyPr>
              <a:lstStyle/>
              <a:p>
                <a:pPr algn="just"/>
                <a:r>
                  <a:rPr lang="en-US" dirty="0"/>
                  <a:t>Use documents as context</a:t>
                </a:r>
                <a:endParaRPr lang="en-IN" dirty="0"/>
              </a:p>
              <a:p>
                <a:pPr algn="just"/>
                <a:r>
                  <a:rPr lang="en-IN" dirty="0"/>
                  <a:t>While PMI measures word-word association, TF-IDF weights words relative to document contexts in a </a:t>
                </a:r>
                <a:r>
                  <a:rPr lang="en-IN" b="1" dirty="0"/>
                  <a:t>term-document matrix</a:t>
                </a:r>
                <a:r>
                  <a:rPr lang="en-IN" dirty="0"/>
                  <a:t>: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TF−IDF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TF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i="0"/>
                      <m:t>IDF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en-IN" dirty="0"/>
              </a:p>
              <a:p>
                <a:pPr lvl="1"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TF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IN" b="1" dirty="0"/>
                  <a:t>:</a:t>
                </a:r>
                <a:r>
                  <a:rPr lang="en-IN" dirty="0"/>
                  <a:t> Frequency of term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 in document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IN" b="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dirty="0"/>
                  <a:t> represents the entire corpus (the collection of all documents) in dataset.</a:t>
                </a:r>
              </a:p>
              <a:p>
                <a:pPr lvl="1"/>
                <a:r>
                  <a:rPr lang="en-IN" dirty="0"/>
                  <a:t>IDF Down-weights words appearing across all documents while elevating rare, highly discriminative keywords.</a:t>
                </a:r>
              </a:p>
              <a:p>
                <a:pPr lvl="1" algn="just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D9DA3-C79E-93A9-6906-74BC01119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382000" cy="2688942"/>
              </a:xfrm>
              <a:blipFill>
                <a:blip r:embed="rId2"/>
                <a:stretch>
                  <a:fillRect l="-655" t="-3401" r="-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B7C8B-F115-B9D1-EBB0-C1E40967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61F50-D175-2D7B-DEA0-0B811103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7858C-43FA-BD92-F493-8E811292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14D23B-F558-62C7-DD50-F7FA2E87C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61040"/>
            <a:ext cx="8545118" cy="495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992CCD-9FA1-C762-EFFC-11033E58C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4018621"/>
            <a:ext cx="4800600" cy="189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2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7054-BA7A-88C8-5507-AB25DF0A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776DA-7862-4A2E-48D9-27FD3E38D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4495800"/>
            <a:ext cx="8229600" cy="155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Note: Applied Lemmatization to words: Cat and Dog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3093E-C33B-EB27-0A8E-820B30C1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5C414-A0C0-F09E-560F-EC613629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84F8-B9F9-08FB-4AF1-83318D36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82D11F-1292-9E9D-5D74-6C7C2C37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74638"/>
            <a:ext cx="8991600" cy="438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26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D2A-0EB9-2CA0-6AF7-E63A38B7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C016B-437D-01CE-D9DE-69A941721F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4724400"/>
                <a:ext cx="8534400" cy="163195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IN" b="1" dirty="0"/>
                  <a:t>Problem:</a:t>
                </a:r>
                <a:r>
                  <a:rPr lang="en-IN" dirty="0"/>
                  <a:t> log(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∞</a:t>
                </a:r>
                <a:r>
                  <a:rPr lang="en-IN" dirty="0"/>
                  <a:t>)</a:t>
                </a:r>
                <a:r>
                  <a:rPr lang="en-IN" dirty="0">
                    <a:sym typeface="Wingdings" panose="05000000000000000000" pitchFamily="2" charset="2"/>
                  </a:rPr>
                  <a:t> approaches 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∞ and </a:t>
                </a:r>
                <a:r>
                  <a:rPr lang="en-IN" dirty="0"/>
                  <a:t>log(1) = 0</a:t>
                </a:r>
                <a:r>
                  <a:rPr lang="en-IN" dirty="0">
                    <a:sym typeface="Wingdings" panose="05000000000000000000" pitchFamily="2" charset="2"/>
                  </a:rPr>
                  <a:t> whenever a term appears in every document: IDF is always 0.</a:t>
                </a:r>
              </a:p>
              <a:p>
                <a:r>
                  <a:rPr lang="en-IN" b="1" dirty="0">
                    <a:sym typeface="Wingdings" panose="05000000000000000000" pitchFamily="2" charset="2"/>
                  </a:rPr>
                  <a:t>Solution (</a:t>
                </a:r>
                <a:r>
                  <a:rPr lang="en-IN" b="1" dirty="0" err="1">
                    <a:sym typeface="Wingdings" panose="05000000000000000000" pitchFamily="2" charset="2"/>
                  </a:rPr>
                  <a:t>Sklearn</a:t>
                </a:r>
                <a:r>
                  <a:rPr lang="en-IN" b="1" dirty="0">
                    <a:sym typeface="Wingdings" panose="05000000000000000000" pitchFamily="2" charset="2"/>
                  </a:rPr>
                  <a:t> TF-IDF vectorizer):</a:t>
                </a:r>
                <a:r>
                  <a:rPr lang="en-IN" dirty="0">
                    <a:sym typeface="Wingdings" panose="05000000000000000000" pitchFamily="2" charset="2"/>
                  </a:rPr>
                  <a:t> Modified IDF(t, D)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𝑇𝑜𝑡𝑎𝑙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𝑁𝑢𝑚𝑏𝑒𝑟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𝑜𝑓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𝐷𝑜𝑐𝑢𝑚𝑒𝑛𝑡𝑠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𝑐𝑜𝑟𝑝𝑢𝑠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m:rPr>
                                    <m:nor/>
                                  </m:rPr>
                                  <a:rPr lang="en-IN" b="0" i="1" smtClean="0"/>
                                  <m:t>Number of documents containing term t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IN" dirty="0"/>
              </a:p>
              <a:p>
                <a:r>
                  <a:rPr lang="en-IN" dirty="0"/>
                  <a:t>Use L</a:t>
                </a:r>
                <a:r>
                  <a:rPr lang="en-IN" baseline="-25000" dirty="0"/>
                  <a:t>2</a:t>
                </a:r>
                <a:r>
                  <a:rPr lang="en-IN" dirty="0"/>
                  <a:t> Normalization for every document after finding TF-IDF for every score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6C016B-437D-01CE-D9DE-69A941721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724400"/>
                <a:ext cx="8534400" cy="1631950"/>
              </a:xfrm>
              <a:blipFill>
                <a:blip r:embed="rId2"/>
                <a:stretch>
                  <a:fillRect l="-643" t="-5597" r="-71" b="-63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12720-E1B2-B501-4D0C-7784502E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7BDF7-C341-F8D1-FC49-1AD91499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5CA8-4F36-5CC9-7E97-C771CA00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034518-15B5-497A-0164-C82349745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74638"/>
            <a:ext cx="8915400" cy="419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0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7944-C251-747E-4770-7C67D6F1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332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 Python Example: TF – IDF Vectorizer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52794-7EB4-1EB6-7C61-485295CC7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sentences = [</a:t>
            </a:r>
          </a:p>
          <a:p>
            <a:pPr marL="0" indent="0">
              <a:buNone/>
            </a:pPr>
            <a:r>
              <a:rPr lang="en-IN" dirty="0"/>
              <a:t>'The stock price of google jumps on the earning data today',</a:t>
            </a:r>
          </a:p>
          <a:p>
            <a:pPr marL="0" indent="0">
              <a:buNone/>
            </a:pPr>
            <a:r>
              <a:rPr lang="en-IN" dirty="0"/>
              <a:t>'Google plunge on China Data!'</a:t>
            </a:r>
          </a:p>
          <a:p>
            <a:pPr marL="0" indent="0">
              <a:buNone/>
            </a:pPr>
            <a:r>
              <a:rPr lang="en-IN" dirty="0"/>
              <a:t>]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sklearn.feature_extraction.text</a:t>
            </a:r>
            <a:r>
              <a:rPr lang="en-IN" dirty="0"/>
              <a:t> import </a:t>
            </a:r>
            <a:r>
              <a:rPr lang="en-IN" dirty="0" err="1"/>
              <a:t>TfidfVectorizer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vectorizer = </a:t>
            </a:r>
            <a:r>
              <a:rPr lang="en-IN" dirty="0" err="1"/>
              <a:t>TfidfVectorizer</a:t>
            </a:r>
            <a:r>
              <a:rPr lang="en-IN" dirty="0"/>
              <a:t>(</a:t>
            </a:r>
            <a:r>
              <a:rPr lang="en-IN" dirty="0" err="1"/>
              <a:t>stop_words</a:t>
            </a:r>
            <a:r>
              <a:rPr lang="en-IN" dirty="0"/>
              <a:t>='</a:t>
            </a:r>
            <a:r>
              <a:rPr lang="en-IN" dirty="0" err="1"/>
              <a:t>english</a:t>
            </a:r>
            <a:r>
              <a:rPr lang="en-IN" dirty="0"/>
              <a:t>')</a:t>
            </a:r>
          </a:p>
          <a:p>
            <a:pPr marL="0" indent="0">
              <a:buNone/>
            </a:pPr>
            <a:r>
              <a:rPr lang="en-IN" dirty="0"/>
              <a:t>TFIDF = </a:t>
            </a:r>
            <a:r>
              <a:rPr lang="en-IN" dirty="0" err="1"/>
              <a:t>vectorizer.fit_transform</a:t>
            </a:r>
            <a:r>
              <a:rPr lang="en-IN" dirty="0"/>
              <a:t>(sentences)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vectorizer.get_feature_names_out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TFIDF.shape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TFIDF.toarray</a:t>
            </a:r>
            <a:r>
              <a:rPr lang="en-IN" dirty="0"/>
              <a:t>())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Output</a:t>
            </a:r>
          </a:p>
          <a:p>
            <a:pPr marL="400050" lvl="1" indent="0">
              <a:buNone/>
            </a:pPr>
            <a:r>
              <a:rPr lang="en-US" dirty="0"/>
              <a:t>['</a:t>
            </a:r>
            <a:r>
              <a:rPr lang="en-US" dirty="0" err="1"/>
              <a:t>china</a:t>
            </a:r>
            <a:r>
              <a:rPr lang="en-US" dirty="0"/>
              <a:t>' 'data' 'earning' 'google' 'jumps' 'plunge' 'price' 'stock'</a:t>
            </a:r>
          </a:p>
          <a:p>
            <a:pPr marL="400050" lvl="1" indent="0">
              <a:buNone/>
            </a:pPr>
            <a:r>
              <a:rPr lang="en-US" dirty="0"/>
              <a:t> 'today']</a:t>
            </a:r>
          </a:p>
          <a:p>
            <a:pPr marL="400050" lvl="1" indent="0">
              <a:buNone/>
            </a:pPr>
            <a:r>
              <a:rPr lang="en-US" dirty="0"/>
              <a:t>(2, 9)</a:t>
            </a:r>
          </a:p>
          <a:p>
            <a:pPr marL="400050" lvl="1" indent="0">
              <a:buNone/>
            </a:pPr>
            <a:r>
              <a:rPr lang="en-US" dirty="0"/>
              <a:t>[[0.         0.29017021 0.4078241  0.29017021 0.4078241  0.</a:t>
            </a:r>
          </a:p>
          <a:p>
            <a:pPr marL="400050" lvl="1" indent="0">
              <a:buNone/>
            </a:pPr>
            <a:r>
              <a:rPr lang="en-US" dirty="0"/>
              <a:t>  0.4078241  0.4078241  0.4078241 ]</a:t>
            </a:r>
          </a:p>
          <a:p>
            <a:pPr marL="400050" lvl="1" indent="0">
              <a:buNone/>
            </a:pPr>
            <a:r>
              <a:rPr lang="en-US" dirty="0"/>
              <a:t> [0.57615236 0.40993715 0.         0.40993715 0.         0.57615236</a:t>
            </a:r>
          </a:p>
          <a:p>
            <a:pPr marL="400050" lvl="1" indent="0">
              <a:buNone/>
            </a:pPr>
            <a:r>
              <a:rPr lang="en-US" dirty="0"/>
              <a:t>  0.         0.         0.        ]]</a:t>
            </a:r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b="1" dirty="0"/>
              <a:t>Note:</a:t>
            </a:r>
            <a:r>
              <a:rPr lang="en-US" dirty="0"/>
              <a:t> </a:t>
            </a:r>
            <a:r>
              <a:rPr lang="en-IN" dirty="0"/>
              <a:t>The default tokenizer lowercases text, removes punctuation, and filters standard English stop words (the, of, on):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6AFBA-E9C1-EC37-DA07-48637943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21F62-80E7-F8CA-C5E4-583B5673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3CA77-E899-4EF8-02A6-B176EA5C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34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CCC77-8BD5-CE83-704E-A32479B2C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19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Are Python results with theoretical calculations?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82561-365A-4BD1-5988-01E86BD0D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56198"/>
                <a:ext cx="8229600" cy="5100152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IN" b="1" dirty="0"/>
                  <a:t>Document 1 (Sentence 1):</a:t>
                </a:r>
                <a:endParaRPr lang="en-IN" dirty="0"/>
              </a:p>
              <a:p>
                <a:pPr lvl="0"/>
                <a:r>
                  <a:rPr lang="en-IN" b="1" dirty="0"/>
                  <a:t>Unnormalized vector:</a:t>
                </a:r>
                <a:endParaRPr lang="en-IN" dirty="0"/>
              </a:p>
              <a:p>
                <a:pPr lvl="1"/>
                <a:r>
                  <a:rPr lang="en-IN" dirty="0"/>
                  <a:t>data, google: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1×1.0000=1.0000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earning, jumps, price, stock, today: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1×1.4055=1.4055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L2 Norm: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2×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d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>
                            <a:latin typeface="Cambria Math" panose="02040503050406030204" pitchFamily="18" charset="0"/>
                          </a:rPr>
                          <m:t>+5×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1.4055</m:t>
                                </m:r>
                              </m:e>
                            </m:d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11.8767</m:t>
                        </m:r>
                      </m:e>
                    </m:rad>
                    <m:r>
                      <a:rPr lang="en-IN">
                        <a:latin typeface="Cambria Math" panose="02040503050406030204" pitchFamily="18" charset="0"/>
                      </a:rPr>
                      <m:t>≈3.4463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Normalized scores:</a:t>
                </a:r>
                <a:endParaRPr lang="en-IN" dirty="0"/>
              </a:p>
              <a:p>
                <a:pPr lvl="1"/>
                <a:r>
                  <a:rPr lang="en-IN" dirty="0"/>
                  <a:t>data, google: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1.0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3.4463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𝟐𝟗𝟎𝟐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earning, jumps, price, stock, today: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1.4055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3.4463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𝟒𝟎𝟕𝟖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 err="1"/>
                  <a:t>china</a:t>
                </a:r>
                <a:r>
                  <a:rPr lang="en-IN" dirty="0"/>
                  <a:t>, plunge: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𝟎𝟎𝟎𝟎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Document 2 (Sentence 2):</a:t>
                </a:r>
                <a:endParaRPr lang="en-IN" dirty="0"/>
              </a:p>
              <a:p>
                <a:pPr lvl="0"/>
                <a:r>
                  <a:rPr lang="en-IN" b="1" dirty="0"/>
                  <a:t>Unnormalized vector:</a:t>
                </a:r>
                <a:endParaRPr lang="en-IN" dirty="0"/>
              </a:p>
              <a:p>
                <a:pPr lvl="1"/>
                <a:r>
                  <a:rPr lang="en-IN" dirty="0"/>
                  <a:t>data, google: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1×1.0000=1.0000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 err="1"/>
                  <a:t>china</a:t>
                </a:r>
                <a:r>
                  <a:rPr lang="en-IN" dirty="0"/>
                  <a:t>, plunge: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1×1.4055=1.4055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L2 Norm: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2×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d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>
                            <a:latin typeface="Cambria Math" panose="02040503050406030204" pitchFamily="18" charset="0"/>
                          </a:rPr>
                          <m:t>+2×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1.4055</m:t>
                                </m:r>
                              </m:e>
                            </m:d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5.9507</m:t>
                        </m:r>
                      </m:e>
                    </m:rad>
                    <m:r>
                      <a:rPr lang="en-IN">
                        <a:latin typeface="Cambria Math" panose="02040503050406030204" pitchFamily="18" charset="0"/>
                      </a:rPr>
                      <m:t>≈2.4394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Normalized scores:</a:t>
                </a:r>
                <a:endParaRPr lang="en-IN" dirty="0"/>
              </a:p>
              <a:p>
                <a:pPr lvl="1"/>
                <a:r>
                  <a:rPr lang="en-IN" dirty="0" err="1"/>
                  <a:t>china</a:t>
                </a:r>
                <a:r>
                  <a:rPr lang="en-IN" dirty="0"/>
                  <a:t>, plunge: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1.4055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2.4394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𝟓𝟕𝟔𝟐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data, google: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1.0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2.4394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𝟒𝟎𝟗𝟗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All other terms: </a:t>
                </a:r>
                <a14:m>
                  <m:oMath xmlns:m="http://schemas.openxmlformats.org/officeDocument/2006/math">
                    <m:r>
                      <a:rPr lang="en-IN" b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>
                        <a:latin typeface="Cambria Math" panose="02040503050406030204" pitchFamily="18" charset="0"/>
                      </a:rPr>
                      <m:t>𝟎𝟎𝟎𝟎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82561-365A-4BD1-5988-01E86BD0D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56198"/>
                <a:ext cx="8229600" cy="5100152"/>
              </a:xfrm>
              <a:blipFill>
                <a:blip r:embed="rId2"/>
                <a:stretch>
                  <a:fillRect l="-222" t="-9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1C397-EA89-4948-215F-71A813B9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18/Aug/2026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494F3-C7E0-9657-C32C-530002B3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52462-DAEC-565B-15F8-89FE9052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92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728A6127F4F89CAF9F3240C8CFF" ma:contentTypeVersion="3" ma:contentTypeDescription="Create a new document." ma:contentTypeScope="" ma:versionID="7e7402f0dab3fcc782adb50016726280">
  <xsd:schema xmlns:xsd="http://www.w3.org/2001/XMLSchema" xmlns:xs="http://www.w3.org/2001/XMLSchema" xmlns:p="http://schemas.microsoft.com/office/2006/metadata/properties" xmlns:ns2="79306fda-43a2-430c-89ae-9679da3ec0e1" targetNamespace="http://schemas.microsoft.com/office/2006/metadata/properties" ma:root="true" ma:fieldsID="d53381ab9528536bd2d8f002f0f3cf7e" ns2:_="">
    <xsd:import namespace="79306fda-43a2-430c-89ae-9679da3ec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06fda-43a2-430c-89ae-9679da3ec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3B75F2-6CCD-4730-AC29-CA13B695AAFC}"/>
</file>

<file path=customXml/itemProps2.xml><?xml version="1.0" encoding="utf-8"?>
<ds:datastoreItem xmlns:ds="http://schemas.openxmlformats.org/officeDocument/2006/customXml" ds:itemID="{77FC469D-73DF-4474-BA19-7D2BC6E827BC}"/>
</file>

<file path=customXml/itemProps3.xml><?xml version="1.0" encoding="utf-8"?>
<ds:datastoreItem xmlns:ds="http://schemas.openxmlformats.org/officeDocument/2006/customXml" ds:itemID="{8C597E88-B1ED-4E52-8D61-FD5E3DECD9D9}"/>
</file>

<file path=docProps/app.xml><?xml version="1.0" encoding="utf-8"?>
<Properties xmlns="http://schemas.openxmlformats.org/officeDocument/2006/extended-properties" xmlns:vt="http://schemas.openxmlformats.org/officeDocument/2006/docPropsVTypes">
  <TotalTime>13636</TotalTime>
  <Words>1214</Words>
  <Application>Microsoft Office PowerPoint</Application>
  <PresentationFormat>On-screen Show (4:3)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Google Sans</vt:lpstr>
      <vt:lpstr>Google Sans Text</vt:lpstr>
      <vt:lpstr>Lucida Sans</vt:lpstr>
      <vt:lpstr>Wingdings</vt:lpstr>
      <vt:lpstr>Office Theme</vt:lpstr>
      <vt:lpstr>How to map words to space??</vt:lpstr>
      <vt:lpstr>An example:</vt:lpstr>
      <vt:lpstr>An example: Raw co-occurrence counts:</vt:lpstr>
      <vt:lpstr>Issue with Raw co-occurrence counts: </vt:lpstr>
      <vt:lpstr>Pointwise Mutual Information (PMI)</vt:lpstr>
      <vt:lpstr>Apply PPMI to Toy Corpus</vt:lpstr>
      <vt:lpstr>Apply PPMI to Toy Corpus Final PPMI Matrix</vt:lpstr>
      <vt:lpstr>Simpler Method: TF-IDF (Term Frequency – Inverse Document Frequency)</vt:lpstr>
      <vt:lpstr>PowerPoint Presentation</vt:lpstr>
      <vt:lpstr>PowerPoint Presentation</vt:lpstr>
      <vt:lpstr>A Python Example: TF – IDF Vectorizer</vt:lpstr>
      <vt:lpstr>Are Python results with theoretical calculations?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1232</cp:revision>
  <dcterms:created xsi:type="dcterms:W3CDTF">2006-08-16T00:00:00Z</dcterms:created>
  <dcterms:modified xsi:type="dcterms:W3CDTF">2026-08-18T14:24:54Z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0x010100EEC99728A6127F4F89CAF9F3240C8CFF</vt:lpwstr>
  </property>
</Properties>
</file>