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2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84" r:id="rId4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AD0B5-A05D-6425-856F-995F84DC595B}" v="1" dt="2024-11-26T23:18:01.273"/>
    <p1510:client id="{5EB41D73-1EBC-9376-92E1-F34FD23A12FA}" v="1" dt="2024-11-26T14:59:01.532"/>
    <p1510:client id="{62AF18E7-DEEB-C15A-BD4E-E4031A0F8E00}" v="2" dt="2024-11-27T07:23:13.846"/>
    <p1510:client id="{6ABA6C00-4D1A-0256-4C66-4502C60CDD33}" v="1" dt="2024-11-26T09:31:40.247"/>
    <p1510:client id="{6B6A57EF-5BF0-C609-3063-01E948960D9D}" v="1" dt="2024-11-26T12:42:28.860"/>
    <p1510:client id="{9C1431D7-222A-E819-EBB2-5B59F25BACCF}" v="2" dt="2024-11-26T19:51:28.362"/>
    <p1510:client id="{ADA88E93-1A22-225E-93B7-A1043077374A}" v="2" dt="2024-11-27T04:47:55.108"/>
    <p1510:client id="{B9649308-EAC2-8A68-516A-BB58172C848C}" v="18" dt="2024-11-26T20:15:21.506"/>
    <p1510:client id="{C68115F5-5368-F2E5-C557-7EB4A7F4ACD8}" v="3" dt="2024-11-27T06:51:37.597"/>
    <p1510:client id="{E50C90AA-6A45-55DA-308C-695B0621E604}" v="1" dt="2024-11-25T15:26:35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>
      <p:cViewPr varScale="1">
        <p:scale>
          <a:sx n="114" d="100"/>
          <a:sy n="114" d="100"/>
        </p:scale>
        <p:origin x="1656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4837bdabfef02407fe2e5648f6724ccfe14d5804989d4dcd39ed4c9cf7bc399f::" providerId="AD" clId="Web-{9C1431D7-222A-E819-EBB2-5B59F25BACCF}"/>
    <pc:docChg chg="modSld">
      <pc:chgData name="Guest User" userId="S::urn:spo:anon#4837bdabfef02407fe2e5648f6724ccfe14d5804989d4dcd39ed4c9cf7bc399f::" providerId="AD" clId="Web-{9C1431D7-222A-E819-EBB2-5B59F25BACCF}" dt="2024-11-26T19:51:28.362" v="1" actId="1076"/>
      <pc:docMkLst>
        <pc:docMk/>
      </pc:docMkLst>
      <pc:sldChg chg="modSp">
        <pc:chgData name="Guest User" userId="S::urn:spo:anon#4837bdabfef02407fe2e5648f6724ccfe14d5804989d4dcd39ed4c9cf7bc399f::" providerId="AD" clId="Web-{9C1431D7-222A-E819-EBB2-5B59F25BACCF}" dt="2024-11-26T19:51:28.362" v="1" actId="1076"/>
        <pc:sldMkLst>
          <pc:docMk/>
          <pc:sldMk cId="0" sldId="295"/>
        </pc:sldMkLst>
        <pc:picChg chg="mod">
          <ac:chgData name="Guest User" userId="S::urn:spo:anon#4837bdabfef02407fe2e5648f6724ccfe14d5804989d4dcd39ed4c9cf7bc399f::" providerId="AD" clId="Web-{9C1431D7-222A-E819-EBB2-5B59F25BACCF}" dt="2024-11-26T19:51:28.362" v="1" actId="1076"/>
          <ac:picMkLst>
            <pc:docMk/>
            <pc:sldMk cId="0" sldId="295"/>
            <ac:picMk id="4" creationId="{00000000-0000-0000-0000-000000000000}"/>
          </ac:picMkLst>
        </pc:picChg>
      </pc:sldChg>
    </pc:docChg>
  </pc:docChgLst>
  <pc:docChgLst>
    <pc:chgData name="Guest User" userId="S::urn:spo:anon#4837bdabfef02407fe2e5648f6724ccfe14d5804989d4dcd39ed4c9cf7bc399f::" providerId="AD" clId="Web-{6B6A57EF-5BF0-C609-3063-01E948960D9D}"/>
    <pc:docChg chg="modSld">
      <pc:chgData name="Guest User" userId="S::urn:spo:anon#4837bdabfef02407fe2e5648f6724ccfe14d5804989d4dcd39ed4c9cf7bc399f::" providerId="AD" clId="Web-{6B6A57EF-5BF0-C609-3063-01E948960D9D}" dt="2024-11-26T12:42:28.860" v="0" actId="1076"/>
      <pc:docMkLst>
        <pc:docMk/>
      </pc:docMkLst>
      <pc:sldChg chg="modSp">
        <pc:chgData name="Guest User" userId="S::urn:spo:anon#4837bdabfef02407fe2e5648f6724ccfe14d5804989d4dcd39ed4c9cf7bc399f::" providerId="AD" clId="Web-{6B6A57EF-5BF0-C609-3063-01E948960D9D}" dt="2024-11-26T12:42:28.860" v="0" actId="1076"/>
        <pc:sldMkLst>
          <pc:docMk/>
          <pc:sldMk cId="0" sldId="262"/>
        </pc:sldMkLst>
        <pc:spChg chg="mod">
          <ac:chgData name="Guest User" userId="S::urn:spo:anon#4837bdabfef02407fe2e5648f6724ccfe14d5804989d4dcd39ed4c9cf7bc399f::" providerId="AD" clId="Web-{6B6A57EF-5BF0-C609-3063-01E948960D9D}" dt="2024-11-26T12:42:28.860" v="0" actId="1076"/>
          <ac:spMkLst>
            <pc:docMk/>
            <pc:sldMk cId="0" sldId="262"/>
            <ac:spMk id="2" creationId="{00000000-0000-0000-0000-000000000000}"/>
          </ac:spMkLst>
        </pc:spChg>
      </pc:sldChg>
    </pc:docChg>
  </pc:docChgLst>
  <pc:docChgLst>
    <pc:chgData name="Guest User" userId="S::urn:spo:anon#a443759b7540966713e65496fc27034e075cd06488a98f7909ec5f1bc9322582::" providerId="AD" clId="Web-{E50C90AA-6A45-55DA-308C-695B0621E604}"/>
    <pc:docChg chg="modSld">
      <pc:chgData name="Guest User" userId="S::urn:spo:anon#a443759b7540966713e65496fc27034e075cd06488a98f7909ec5f1bc9322582::" providerId="AD" clId="Web-{E50C90AA-6A45-55DA-308C-695B0621E604}" dt="2024-11-25T15:26:35.333" v="0" actId="1076"/>
      <pc:docMkLst>
        <pc:docMk/>
      </pc:docMkLst>
      <pc:sldChg chg="modSp">
        <pc:chgData name="Guest User" userId="S::urn:spo:anon#a443759b7540966713e65496fc27034e075cd06488a98f7909ec5f1bc9322582::" providerId="AD" clId="Web-{E50C90AA-6A45-55DA-308C-695B0621E604}" dt="2024-11-25T15:26:35.333" v="0" actId="1076"/>
        <pc:sldMkLst>
          <pc:docMk/>
          <pc:sldMk cId="0" sldId="258"/>
        </pc:sldMkLst>
        <pc:picChg chg="mod">
          <ac:chgData name="Guest User" userId="S::urn:spo:anon#a443759b7540966713e65496fc27034e075cd06488a98f7909ec5f1bc9322582::" providerId="AD" clId="Web-{E50C90AA-6A45-55DA-308C-695B0621E604}" dt="2024-11-25T15:26:35.333" v="0" actId="1076"/>
          <ac:picMkLst>
            <pc:docMk/>
            <pc:sldMk cId="0" sldId="258"/>
            <ac:picMk id="2" creationId="{00000000-0000-0000-0000-000000000000}"/>
          </ac:picMkLst>
        </pc:picChg>
      </pc:sldChg>
    </pc:docChg>
  </pc:docChgLst>
  <pc:docChgLst>
    <pc:chgData name="TirthPatel" userId="S::tirth.pict21@pdpu.ac.in::997b958e-5914-4694-9929-f85a3ff6366f" providerId="AD" clId="Web-{62AF18E7-DEEB-C15A-BD4E-E4031A0F8E00}"/>
    <pc:docChg chg="modSld">
      <pc:chgData name="TirthPatel" userId="S::tirth.pict21@pdpu.ac.in::997b958e-5914-4694-9929-f85a3ff6366f" providerId="AD" clId="Web-{62AF18E7-DEEB-C15A-BD4E-E4031A0F8E00}" dt="2024-11-27T07:23:13.846" v="1" actId="14100"/>
      <pc:docMkLst>
        <pc:docMk/>
      </pc:docMkLst>
      <pc:sldChg chg="modSp">
        <pc:chgData name="TirthPatel" userId="S::tirth.pict21@pdpu.ac.in::997b958e-5914-4694-9929-f85a3ff6366f" providerId="AD" clId="Web-{62AF18E7-DEEB-C15A-BD4E-E4031A0F8E00}" dt="2024-11-27T07:09:52.877" v="0" actId="1076"/>
        <pc:sldMkLst>
          <pc:docMk/>
          <pc:sldMk cId="0" sldId="258"/>
        </pc:sldMkLst>
        <pc:picChg chg="mod">
          <ac:chgData name="TirthPatel" userId="S::tirth.pict21@pdpu.ac.in::997b958e-5914-4694-9929-f85a3ff6366f" providerId="AD" clId="Web-{62AF18E7-DEEB-C15A-BD4E-E4031A0F8E00}" dt="2024-11-27T07:09:52.877" v="0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">
        <pc:chgData name="TirthPatel" userId="S::tirth.pict21@pdpu.ac.in::997b958e-5914-4694-9929-f85a3ff6366f" providerId="AD" clId="Web-{62AF18E7-DEEB-C15A-BD4E-E4031A0F8E00}" dt="2024-11-27T07:23:13.846" v="1" actId="14100"/>
        <pc:sldMkLst>
          <pc:docMk/>
          <pc:sldMk cId="0" sldId="275"/>
        </pc:sldMkLst>
        <pc:grpChg chg="mod">
          <ac:chgData name="TirthPatel" userId="S::tirth.pict21@pdpu.ac.in::997b958e-5914-4694-9929-f85a3ff6366f" providerId="AD" clId="Web-{62AF18E7-DEEB-C15A-BD4E-E4031A0F8E00}" dt="2024-11-27T07:23:13.846" v="1" actId="14100"/>
          <ac:grpSpMkLst>
            <pc:docMk/>
            <pc:sldMk cId="0" sldId="275"/>
            <ac:grpSpMk id="3" creationId="{00000000-0000-0000-0000-000000000000}"/>
          </ac:grpSpMkLst>
        </pc:grpChg>
      </pc:sldChg>
    </pc:docChg>
  </pc:docChgLst>
  <pc:docChgLst>
    <pc:chgData name="Guest User" userId="S::urn:spo:anon#4837bdabfef02407fe2e5648f6724ccfe14d5804989d4dcd39ed4c9cf7bc399f::" providerId="AD" clId="Web-{C68115F5-5368-F2E5-C557-7EB4A7F4ACD8}"/>
    <pc:docChg chg="modSld">
      <pc:chgData name="Guest User" userId="S::urn:spo:anon#4837bdabfef02407fe2e5648f6724ccfe14d5804989d4dcd39ed4c9cf7bc399f::" providerId="AD" clId="Web-{C68115F5-5368-F2E5-C557-7EB4A7F4ACD8}" dt="2024-11-27T06:51:37.597" v="2" actId="1076"/>
      <pc:docMkLst>
        <pc:docMk/>
      </pc:docMkLst>
      <pc:sldChg chg="modSp">
        <pc:chgData name="Guest User" userId="S::urn:spo:anon#4837bdabfef02407fe2e5648f6724ccfe14d5804989d4dcd39ed4c9cf7bc399f::" providerId="AD" clId="Web-{C68115F5-5368-F2E5-C557-7EB4A7F4ACD8}" dt="2024-11-27T06:51:37.597" v="2" actId="1076"/>
        <pc:sldMkLst>
          <pc:docMk/>
          <pc:sldMk cId="0" sldId="297"/>
        </pc:sldMkLst>
        <pc:picChg chg="mod modCrop">
          <ac:chgData name="Guest User" userId="S::urn:spo:anon#4837bdabfef02407fe2e5648f6724ccfe14d5804989d4dcd39ed4c9cf7bc399f::" providerId="AD" clId="Web-{C68115F5-5368-F2E5-C557-7EB4A7F4ACD8}" dt="2024-11-27T06:51:37.597" v="2" actId="1076"/>
          <ac:picMkLst>
            <pc:docMk/>
            <pc:sldMk cId="0" sldId="297"/>
            <ac:picMk id="3" creationId="{00000000-0000-0000-0000-000000000000}"/>
          </ac:picMkLst>
        </pc:picChg>
      </pc:sldChg>
    </pc:docChg>
  </pc:docChgLst>
  <pc:docChgLst>
    <pc:chgData name="Guest User" userId="S::urn:spo:anon#f85e5fba7bc7001e5f69722576ad4cfa9793aa3f5725ce0c4d2c21cff615f73b::" providerId="AD" clId="Web-{039AD0B5-A05D-6425-856F-995F84DC595B}"/>
    <pc:docChg chg="modSld">
      <pc:chgData name="Guest User" userId="S::urn:spo:anon#f85e5fba7bc7001e5f69722576ad4cfa9793aa3f5725ce0c4d2c21cff615f73b::" providerId="AD" clId="Web-{039AD0B5-A05D-6425-856F-995F84DC595B}" dt="2024-11-26T23:18:01.273" v="0" actId="1076"/>
      <pc:docMkLst>
        <pc:docMk/>
      </pc:docMkLst>
      <pc:sldChg chg="modSp">
        <pc:chgData name="Guest User" userId="S::urn:spo:anon#f85e5fba7bc7001e5f69722576ad4cfa9793aa3f5725ce0c4d2c21cff615f73b::" providerId="AD" clId="Web-{039AD0B5-A05D-6425-856F-995F84DC595B}" dt="2024-11-26T23:18:01.273" v="0" actId="1076"/>
        <pc:sldMkLst>
          <pc:docMk/>
          <pc:sldMk cId="0" sldId="259"/>
        </pc:sldMkLst>
        <pc:picChg chg="mod">
          <ac:chgData name="Guest User" userId="S::urn:spo:anon#f85e5fba7bc7001e5f69722576ad4cfa9793aa3f5725ce0c4d2c21cff615f73b::" providerId="AD" clId="Web-{039AD0B5-A05D-6425-856F-995F84DC595B}" dt="2024-11-26T23:18:01.273" v="0" actId="1076"/>
          <ac:picMkLst>
            <pc:docMk/>
            <pc:sldMk cId="0" sldId="259"/>
            <ac:picMk id="3" creationId="{00000000-0000-0000-0000-000000000000}"/>
          </ac:picMkLst>
        </pc:picChg>
      </pc:sldChg>
    </pc:docChg>
  </pc:docChgLst>
  <pc:docChgLst>
    <pc:chgData name="Guest User" userId="S::urn:spo:anon#a443759b7540966713e65496fc27034e075cd06488a98f7909ec5f1bc9322582::" providerId="AD" clId="Web-{6ABA6C00-4D1A-0256-4C66-4502C60CDD33}"/>
    <pc:docChg chg="modSld">
      <pc:chgData name="Guest User" userId="S::urn:spo:anon#a443759b7540966713e65496fc27034e075cd06488a98f7909ec5f1bc9322582::" providerId="AD" clId="Web-{6ABA6C00-4D1A-0256-4C66-4502C60CDD33}" dt="2024-11-26T09:31:40.247" v="0" actId="1076"/>
      <pc:docMkLst>
        <pc:docMk/>
      </pc:docMkLst>
      <pc:sldChg chg="modSp">
        <pc:chgData name="Guest User" userId="S::urn:spo:anon#a443759b7540966713e65496fc27034e075cd06488a98f7909ec5f1bc9322582::" providerId="AD" clId="Web-{6ABA6C00-4D1A-0256-4C66-4502C60CDD33}" dt="2024-11-26T09:31:40.247" v="0" actId="1076"/>
        <pc:sldMkLst>
          <pc:docMk/>
          <pc:sldMk cId="0" sldId="263"/>
        </pc:sldMkLst>
        <pc:grpChg chg="mod">
          <ac:chgData name="Guest User" userId="S::urn:spo:anon#a443759b7540966713e65496fc27034e075cd06488a98f7909ec5f1bc9322582::" providerId="AD" clId="Web-{6ABA6C00-4D1A-0256-4C66-4502C60CDD33}" dt="2024-11-26T09:31:40.247" v="0" actId="1076"/>
          <ac:grpSpMkLst>
            <pc:docMk/>
            <pc:sldMk cId="0" sldId="263"/>
            <ac:grpSpMk id="4" creationId="{00000000-0000-0000-0000-000000000000}"/>
          </ac:grpSpMkLst>
        </pc:grpChg>
      </pc:sldChg>
    </pc:docChg>
  </pc:docChgLst>
  <pc:docChgLst>
    <pc:chgData name="Guest User" userId="S::urn:spo:anon#f85e5fba7bc7001e5f69722576ad4cfa9793aa3f5725ce0c4d2c21cff615f73b::" providerId="AD" clId="Web-{5EB41D73-1EBC-9376-92E1-F34FD23A12FA}"/>
    <pc:docChg chg="modSld">
      <pc:chgData name="Guest User" userId="S::urn:spo:anon#f85e5fba7bc7001e5f69722576ad4cfa9793aa3f5725ce0c4d2c21cff615f73b::" providerId="AD" clId="Web-{5EB41D73-1EBC-9376-92E1-F34FD23A12FA}" dt="2024-11-26T14:59:01.532" v="0" actId="1076"/>
      <pc:docMkLst>
        <pc:docMk/>
      </pc:docMkLst>
      <pc:sldChg chg="modSp">
        <pc:chgData name="Guest User" userId="S::urn:spo:anon#f85e5fba7bc7001e5f69722576ad4cfa9793aa3f5725ce0c4d2c21cff615f73b::" providerId="AD" clId="Web-{5EB41D73-1EBC-9376-92E1-F34FD23A12FA}" dt="2024-11-26T14:59:01.532" v="0" actId="1076"/>
        <pc:sldMkLst>
          <pc:docMk/>
          <pc:sldMk cId="0" sldId="274"/>
        </pc:sldMkLst>
        <pc:spChg chg="mod">
          <ac:chgData name="Guest User" userId="S::urn:spo:anon#f85e5fba7bc7001e5f69722576ad4cfa9793aa3f5725ce0c4d2c21cff615f73b::" providerId="AD" clId="Web-{5EB41D73-1EBC-9376-92E1-F34FD23A12FA}" dt="2024-11-26T14:59:01.532" v="0" actId="1076"/>
          <ac:spMkLst>
            <pc:docMk/>
            <pc:sldMk cId="0" sldId="274"/>
            <ac:spMk id="2" creationId="{00000000-0000-0000-0000-000000000000}"/>
          </ac:spMkLst>
        </pc:spChg>
      </pc:sldChg>
    </pc:docChg>
  </pc:docChgLst>
  <pc:docChgLst>
    <pc:chgData name="VisheshShah" userId="S::vishesh.sict21@pdpu.ac.in::8ae0b715-e8f4-4d2d-bc1c-bc21f8946c56" providerId="AD" clId="Web-{ADA88E93-1A22-225E-93B7-A1043077374A}"/>
    <pc:docChg chg="modSld">
      <pc:chgData name="VisheshShah" userId="S::vishesh.sict21@pdpu.ac.in::8ae0b715-e8f4-4d2d-bc1c-bc21f8946c56" providerId="AD" clId="Web-{ADA88E93-1A22-225E-93B7-A1043077374A}" dt="2024-11-27T04:47:55.108" v="1" actId="1076"/>
      <pc:docMkLst>
        <pc:docMk/>
      </pc:docMkLst>
      <pc:sldChg chg="modSp">
        <pc:chgData name="VisheshShah" userId="S::vishesh.sict21@pdpu.ac.in::8ae0b715-e8f4-4d2d-bc1c-bc21f8946c56" providerId="AD" clId="Web-{ADA88E93-1A22-225E-93B7-A1043077374A}" dt="2024-11-27T04:47:55.108" v="1" actId="1076"/>
        <pc:sldMkLst>
          <pc:docMk/>
          <pc:sldMk cId="0" sldId="295"/>
        </pc:sldMkLst>
        <pc:picChg chg="mod">
          <ac:chgData name="VisheshShah" userId="S::vishesh.sict21@pdpu.ac.in::8ae0b715-e8f4-4d2d-bc1c-bc21f8946c56" providerId="AD" clId="Web-{ADA88E93-1A22-225E-93B7-A1043077374A}" dt="2024-11-27T04:47:55.108" v="1" actId="1076"/>
          <ac:picMkLst>
            <pc:docMk/>
            <pc:sldMk cId="0" sldId="295"/>
            <ac:picMk id="4" creationId="{00000000-0000-0000-0000-000000000000}"/>
          </ac:picMkLst>
        </pc:picChg>
      </pc:sldChg>
    </pc:docChg>
  </pc:docChgLst>
  <pc:docChgLst>
    <pc:chgData name="Guest User" userId="S::urn:spo:anon#a443759b7540966713e65496fc27034e075cd06488a98f7909ec5f1bc9322582::" providerId="AD" clId="Web-{B9649308-EAC2-8A68-516A-BB58172C848C}"/>
    <pc:docChg chg="modSld">
      <pc:chgData name="Guest User" userId="S::urn:spo:anon#a443759b7540966713e65496fc27034e075cd06488a98f7909ec5f1bc9322582::" providerId="AD" clId="Web-{B9649308-EAC2-8A68-516A-BB58172C848C}" dt="2024-11-26T20:15:21.506" v="12" actId="1076"/>
      <pc:docMkLst>
        <pc:docMk/>
      </pc:docMkLst>
      <pc:sldChg chg="modSp">
        <pc:chgData name="Guest User" userId="S::urn:spo:anon#a443759b7540966713e65496fc27034e075cd06488a98f7909ec5f1bc9322582::" providerId="AD" clId="Web-{B9649308-EAC2-8A68-516A-BB58172C848C}" dt="2024-11-26T20:08:45.925" v="7" actId="20577"/>
        <pc:sldMkLst>
          <pc:docMk/>
          <pc:sldMk cId="0" sldId="266"/>
        </pc:sldMkLst>
        <pc:spChg chg="mod">
          <ac:chgData name="Guest User" userId="S::urn:spo:anon#a443759b7540966713e65496fc27034e075cd06488a98f7909ec5f1bc9322582::" providerId="AD" clId="Web-{B9649308-EAC2-8A68-516A-BB58172C848C}" dt="2024-11-26T20:08:45.925" v="7" actId="20577"/>
          <ac:spMkLst>
            <pc:docMk/>
            <pc:sldMk cId="0" sldId="266"/>
            <ac:spMk id="2" creationId="{00000000-0000-0000-0000-000000000000}"/>
          </ac:spMkLst>
        </pc:spChg>
        <pc:picChg chg="mod modCrop">
          <ac:chgData name="Guest User" userId="S::urn:spo:anon#a443759b7540966713e65496fc27034e075cd06488a98f7909ec5f1bc9322582::" providerId="AD" clId="Web-{B9649308-EAC2-8A68-516A-BB58172C848C}" dt="2024-11-26T20:07:49.753" v="3" actId="1076"/>
          <ac:picMkLst>
            <pc:docMk/>
            <pc:sldMk cId="0" sldId="266"/>
            <ac:picMk id="4" creationId="{00000000-0000-0000-0000-000000000000}"/>
          </ac:picMkLst>
        </pc:picChg>
      </pc:sldChg>
      <pc:sldChg chg="modSp">
        <pc:chgData name="Guest User" userId="S::urn:spo:anon#a443759b7540966713e65496fc27034e075cd06488a98f7909ec5f1bc9322582::" providerId="AD" clId="Web-{B9649308-EAC2-8A68-516A-BB58172C848C}" dt="2024-11-26T20:10:28.676" v="8" actId="14100"/>
        <pc:sldMkLst>
          <pc:docMk/>
          <pc:sldMk cId="0" sldId="268"/>
        </pc:sldMkLst>
        <pc:spChg chg="mod">
          <ac:chgData name="Guest User" userId="S::urn:spo:anon#a443759b7540966713e65496fc27034e075cd06488a98f7909ec5f1bc9322582::" providerId="AD" clId="Web-{B9649308-EAC2-8A68-516A-BB58172C848C}" dt="2024-11-26T20:10:28.676" v="8" actId="14100"/>
          <ac:spMkLst>
            <pc:docMk/>
            <pc:sldMk cId="0" sldId="268"/>
            <ac:spMk id="8" creationId="{00000000-0000-0000-0000-000000000000}"/>
          </ac:spMkLst>
        </pc:spChg>
      </pc:sldChg>
      <pc:sldChg chg="modSp">
        <pc:chgData name="Guest User" userId="S::urn:spo:anon#a443759b7540966713e65496fc27034e075cd06488a98f7909ec5f1bc9322582::" providerId="AD" clId="Web-{B9649308-EAC2-8A68-516A-BB58172C848C}" dt="2024-11-26T20:13:30.271" v="10" actId="20577"/>
        <pc:sldMkLst>
          <pc:docMk/>
          <pc:sldMk cId="0" sldId="274"/>
        </pc:sldMkLst>
        <pc:spChg chg="mod">
          <ac:chgData name="Guest User" userId="S::urn:spo:anon#a443759b7540966713e65496fc27034e075cd06488a98f7909ec5f1bc9322582::" providerId="AD" clId="Web-{B9649308-EAC2-8A68-516A-BB58172C848C}" dt="2024-11-26T20:13:30.271" v="10" actId="20577"/>
          <ac:spMkLst>
            <pc:docMk/>
            <pc:sldMk cId="0" sldId="274"/>
            <ac:spMk id="2" creationId="{00000000-0000-0000-0000-000000000000}"/>
          </ac:spMkLst>
        </pc:spChg>
      </pc:sldChg>
      <pc:sldChg chg="modSp">
        <pc:chgData name="Guest User" userId="S::urn:spo:anon#a443759b7540966713e65496fc27034e075cd06488a98f7909ec5f1bc9322582::" providerId="AD" clId="Web-{B9649308-EAC2-8A68-516A-BB58172C848C}" dt="2024-11-26T20:15:21.506" v="12" actId="1076"/>
        <pc:sldMkLst>
          <pc:docMk/>
          <pc:sldMk cId="0" sldId="285"/>
        </pc:sldMkLst>
        <pc:spChg chg="mod">
          <ac:chgData name="Guest User" userId="S::urn:spo:anon#a443759b7540966713e65496fc27034e075cd06488a98f7909ec5f1bc9322582::" providerId="AD" clId="Web-{B9649308-EAC2-8A68-516A-BB58172C848C}" dt="2024-11-26T20:15:21.506" v="12" actId="1076"/>
          <ac:spMkLst>
            <pc:docMk/>
            <pc:sldMk cId="0" sldId="28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B10FE-53D6-0149-8F22-9312862AC335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ACA37-4000-5C48-9922-28F8F4B49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2D99-2485-50C8-1F67-C3F3C30F5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C0B10-29D9-7D15-D7B6-8D91F3C61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C9508-0D27-CA63-ADC7-CC463780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C1D60B26-FBE0-D04B-8E32-3A6C4F71F77B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7250-C1C3-1E48-F7D3-CA65B0EC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E177-3468-D066-C353-0E29C194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5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C3C2-2758-E27C-DFC9-B638DC2A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22760-1A72-49A5-49B2-393DDA2A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6F8FC-C6BC-D3E6-8971-89C80549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68CDD5CE-EEAE-1D4F-95CE-57FB19154A86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50B0-770B-5541-02F7-14560532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0721A-2DBD-666C-1E95-86A6139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0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4F28-BE1A-6AB5-3B6B-3E968CA7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2B0E5-C18E-390D-0192-71E31EE2A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62A3-4E48-44E3-0807-B0FA5AB3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E6C5982C-D48D-EE4B-9B90-C0DAD131CC6C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A4A4F-9897-A4B5-46E6-49287DA7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D771-C14D-5ED8-644C-7A429823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EFDA-B1AA-500A-BE2A-1A7A8A26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F04BD-10BA-FBE9-D109-3C3B429AF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63771-44E1-4584-6FBD-C170F987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587FB-570E-19AF-E048-08074840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6F6BB82A-1545-DF4B-920D-151AEE8E7B18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5C814-7188-3563-DBB0-D7084BF3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AD3B-2BDA-E351-DFC9-9C9847E6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4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42D9A-F2AA-4617-4BBF-B82B6F92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2215E-91DF-D8FF-FA35-2A93F3B97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9FCA0-2C2E-6A02-91CF-067B56C5A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A62E9-B22D-55C7-7CBF-D719C06C8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A17CC-2D9B-C95A-9DCB-00663AE6D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0DB2A-EB61-D78F-494F-F30A5F08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2EC30F88-5155-CD4F-85F8-848A96ECA5C3}" type="datetime1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6FD72-FB09-0282-025F-52A50F8F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EF6DB-D630-0B5B-8B92-CF3B7149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8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2FE6-5FC1-35E9-E2FD-CCC40A3A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23BF-7EC9-9BB2-78AC-73DE23EC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1B1F7ED6-68D9-7945-B234-2A2802420459}" type="datetime1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3AFA7-B7A6-6182-650A-7C3F4CFC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19FDA-9E4E-211B-CCCC-CCC22C0E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7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CB811-86D2-576C-D623-A66125C2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C3D5AEA1-C170-3040-9287-4E1E3B464D53}" type="datetime1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41B6E-DB7C-98F4-7990-69720D3F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91387-C459-5672-861D-97E6C7B7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0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A51C-AE88-3859-53A0-02D4FE17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4E6D2-C445-9A8D-2F79-93E76479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CAAF3-0FB6-91FC-8FDF-7A0E308F5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7C72B-DEC9-C8FE-4B1C-80C8D26B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480CAB11-980A-6241-B0DE-9562C5E60118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AA31D-CDD2-0DE7-8169-A5B0DF7F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1A5C0-E224-7DFD-9615-EF9C5724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2DBB-14B5-F387-526D-C97EB149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CA372-2017-24B9-01D7-D7641FFA0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C9B13-009D-6EC3-AB7B-9764D0DD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363C5-D7B4-1B40-4A7E-300AF7198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77DC698-67A4-664B-BB34-7D91D702505A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E4517-6878-CB2B-2725-95602157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278C2-E0AD-0C03-453E-B739B000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6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EC8D-44F4-3DC1-7D5C-3474A9EA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ACA7B-FA15-7501-A1E0-A96A9614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9DA4-0C68-DBF2-8416-1036487E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BCC88E0B-63ED-B340-BEBE-C692D8B21CD4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8EDAD-59FF-7744-2735-5B814917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E3167-357E-E5A1-3393-021E35D4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5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C3C4F-F0C2-8F44-F2EA-B79395F86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3726E-32CB-C7CE-2DAD-E488B2575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2837D-7EAC-88D1-2372-406B460F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5AE429D9-B33C-4047-8B03-19F3214BB7CA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DD79-B275-51F3-53B7-85293A89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47352-1995-3DC1-5FD6-A0451D0D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28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9F44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89077" y="1171702"/>
            <a:ext cx="3885565" cy="457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04E0AB18-184A-9147-8469-B28EE9A6A16A}" type="datetime1">
              <a:rPr lang="en-US" smtClean="0"/>
              <a:t>9/1/26</a:t>
            </a:fld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647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91EA08-87C0-083A-0AE2-E81E829C6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777B8-E747-7F94-E7A5-DCB40D5DC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36C6A-8A15-704D-62EF-F5CE65DFE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fld id="{0CCFC580-8406-5B47-BBF1-6B1B5FC3D80F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88AD9-B078-54E4-D045-810F1F77F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44AB-2884-D3A7-1669-177CA8EDD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-blox.com/en/blogs/insights/mqtt-beginners-guid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aniruddha.chakrabarti/coap-web-protocol-for-iot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909066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2004">
            <a:solidFill>
              <a:srgbClr val="497C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429" y="6534911"/>
            <a:ext cx="9132570" cy="7620"/>
          </a:xfrm>
          <a:custGeom>
            <a:avLst/>
            <a:gdLst/>
            <a:ahLst/>
            <a:cxnLst/>
            <a:rect l="l" t="t" r="r" b="b"/>
            <a:pathLst>
              <a:path w="9132570" h="7620">
                <a:moveTo>
                  <a:pt x="0" y="7620"/>
                </a:moveTo>
                <a:lnTo>
                  <a:pt x="9132570" y="7620"/>
                </a:lnTo>
                <a:lnTo>
                  <a:pt x="913257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49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116" y="3192023"/>
            <a:ext cx="3893820" cy="15392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0148" y="1271727"/>
            <a:ext cx="81343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spc="-45">
                <a:solidFill>
                  <a:srgbClr val="FF0000"/>
                </a:solidFill>
                <a:latin typeface="Calibri"/>
                <a:cs typeface="Calibri"/>
              </a:rPr>
              <a:t>MQTT:</a:t>
            </a:r>
            <a:endParaRPr sz="4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000" b="1" spc="-15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sz="4000" b="1" spc="-10">
                <a:solidFill>
                  <a:srgbClr val="FF0000"/>
                </a:solidFill>
                <a:latin typeface="Calibri"/>
                <a:cs typeface="Calibri"/>
              </a:rPr>
              <a:t> Queuing</a:t>
            </a:r>
            <a:r>
              <a:rPr sz="4000" b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45">
                <a:solidFill>
                  <a:srgbClr val="FF0000"/>
                </a:solidFill>
                <a:latin typeface="Calibri"/>
                <a:cs typeface="Calibri"/>
              </a:rPr>
              <a:t>Telemetry</a:t>
            </a:r>
            <a:r>
              <a:rPr sz="4000" b="1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35">
                <a:solidFill>
                  <a:srgbClr val="FF0000"/>
                </a:solidFill>
                <a:latin typeface="Calibri"/>
                <a:cs typeface="Calibri"/>
              </a:rPr>
              <a:t>Transport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8906" y="6590486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5523737"/>
            <a:ext cx="9144000" cy="1013460"/>
            <a:chOff x="0" y="5523737"/>
            <a:chExt cx="9144000" cy="1013460"/>
          </a:xfrm>
        </p:grpSpPr>
        <p:sp>
          <p:nvSpPr>
            <p:cNvPr id="10" name="object 10"/>
            <p:cNvSpPr/>
            <p:nvPr/>
          </p:nvSpPr>
          <p:spPr>
            <a:xfrm>
              <a:off x="0" y="5523737"/>
              <a:ext cx="9144000" cy="1013460"/>
            </a:xfrm>
            <a:custGeom>
              <a:avLst/>
              <a:gdLst/>
              <a:ahLst/>
              <a:cxnLst/>
              <a:rect l="l" t="t" r="r" b="b"/>
              <a:pathLst>
                <a:path w="9144000" h="1013459">
                  <a:moveTo>
                    <a:pt x="0" y="1013460"/>
                  </a:moveTo>
                  <a:lnTo>
                    <a:pt x="9143999" y="1013460"/>
                  </a:lnTo>
                </a:path>
                <a:path w="9144000" h="1013459">
                  <a:moveTo>
                    <a:pt x="0" y="0"/>
                  </a:moveTo>
                  <a:lnTo>
                    <a:pt x="9143999" y="0"/>
                  </a:lnTo>
                </a:path>
              </a:pathLst>
            </a:custGeom>
            <a:ln w="4571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526023"/>
              <a:ext cx="9144000" cy="1009015"/>
            </a:xfrm>
            <a:custGeom>
              <a:avLst/>
              <a:gdLst/>
              <a:ahLst/>
              <a:cxnLst/>
              <a:rect l="l" t="t" r="r" b="b"/>
              <a:pathLst>
                <a:path w="9144000" h="1009015">
                  <a:moveTo>
                    <a:pt x="0" y="1008888"/>
                  </a:moveTo>
                  <a:lnTo>
                    <a:pt x="9144000" y="100888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08888"/>
                  </a:lnTo>
                  <a:close/>
                </a:path>
              </a:pathLst>
            </a:custGeom>
            <a:ln w="9144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20C1936F-FE57-FB54-DA70-8C0E6D98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6FEBC0B9-215E-B240-BDC4-305D9ADF67FE}" type="datetime1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0111D-6721-42A1-24CE-4C2582E8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B1A7-4614-930B-E94A-CF74D0D9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80" y="145161"/>
            <a:ext cx="3717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lang="en-US" sz="4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4000" spc="-5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lang="en-US" sz="40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4000" spc="-10">
                <a:solidFill>
                  <a:srgbClr val="FF0000"/>
                </a:solidFill>
                <a:latin typeface="Arial"/>
                <a:cs typeface="Arial"/>
              </a:rPr>
              <a:t>MQTT?</a:t>
            </a:r>
            <a:endParaRPr lang="en-US" sz="4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FDBE3676-62B7-7445-AF66-EBD80D37FC0A}" type="datetime1">
              <a:rPr lang="en-US" smtClean="0"/>
              <a:t>9/1/26</a:t>
            </a:fld>
            <a:endParaRPr lang="en-US"/>
          </a:p>
        </p:txBody>
      </p:sp>
      <p:grpSp>
        <p:nvGrpSpPr>
          <p:cNvPr id="3" name="object 3"/>
          <p:cNvGrpSpPr/>
          <p:nvPr/>
        </p:nvGrpSpPr>
        <p:grpSpPr>
          <a:xfrm>
            <a:off x="4512590" y="2075419"/>
            <a:ext cx="3985260" cy="3110865"/>
            <a:chOff x="4512590" y="2075419"/>
            <a:chExt cx="3985260" cy="31108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2590" y="2075419"/>
              <a:ext cx="3984857" cy="29830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45557" y="4609338"/>
              <a:ext cx="2170430" cy="563880"/>
            </a:xfrm>
            <a:custGeom>
              <a:avLst/>
              <a:gdLst/>
              <a:ahLst/>
              <a:cxnLst/>
              <a:rect l="l" t="t" r="r" b="b"/>
              <a:pathLst>
                <a:path w="2170429" h="563879">
                  <a:moveTo>
                    <a:pt x="2170176" y="0"/>
                  </a:moveTo>
                  <a:lnTo>
                    <a:pt x="0" y="0"/>
                  </a:lnTo>
                  <a:lnTo>
                    <a:pt x="0" y="563880"/>
                  </a:lnTo>
                  <a:lnTo>
                    <a:pt x="2170176" y="563880"/>
                  </a:lnTo>
                  <a:lnTo>
                    <a:pt x="2170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45557" y="4609338"/>
              <a:ext cx="2170430" cy="563880"/>
            </a:xfrm>
            <a:custGeom>
              <a:avLst/>
              <a:gdLst/>
              <a:ahLst/>
              <a:cxnLst/>
              <a:rect l="l" t="t" r="r" b="b"/>
              <a:pathLst>
                <a:path w="2170429" h="563879">
                  <a:moveTo>
                    <a:pt x="0" y="563880"/>
                  </a:moveTo>
                  <a:lnTo>
                    <a:pt x="2170176" y="563880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56388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9285" y="1124590"/>
            <a:ext cx="8526780" cy="53136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600"/>
              </a:spcBef>
            </a:pPr>
            <a:r>
              <a:rPr sz="1400" spc="-5">
                <a:latin typeface="Arial MT"/>
                <a:cs typeface="Arial MT"/>
              </a:rPr>
              <a:t>MQTT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: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M</a:t>
            </a:r>
            <a:r>
              <a:rPr sz="1400" spc="-5">
                <a:latin typeface="Arial MT"/>
                <a:cs typeface="Arial MT"/>
              </a:rPr>
              <a:t>essage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Q</a:t>
            </a:r>
            <a:r>
              <a:rPr sz="1400" spc="-5">
                <a:latin typeface="Arial MT"/>
                <a:cs typeface="Arial MT"/>
              </a:rPr>
              <a:t>ueueing</a:t>
            </a:r>
            <a:r>
              <a:rPr sz="1400" spc="-85"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C00000"/>
                </a:solidFill>
                <a:latin typeface="Arial MT"/>
                <a:cs typeface="Arial MT"/>
              </a:rPr>
              <a:t>T</a:t>
            </a:r>
            <a:r>
              <a:rPr sz="1400" spc="-20">
                <a:latin typeface="Arial MT"/>
                <a:cs typeface="Arial MT"/>
              </a:rPr>
              <a:t>elemetry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C00000"/>
                </a:solidFill>
                <a:latin typeface="Arial MT"/>
                <a:cs typeface="Arial MT"/>
              </a:rPr>
              <a:t>T</a:t>
            </a:r>
            <a:r>
              <a:rPr sz="1400" spc="-10">
                <a:latin typeface="Arial MT"/>
                <a:cs typeface="Arial MT"/>
              </a:rPr>
              <a:t>ransport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protocol.</a:t>
            </a:r>
            <a:endParaRPr sz="1400">
              <a:latin typeface="Arial MT"/>
              <a:cs typeface="Arial MT"/>
            </a:endParaRPr>
          </a:p>
          <a:p>
            <a:pPr marL="847090" indent="-28702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847090" algn="l"/>
                <a:tab pos="847725" algn="l"/>
              </a:tabLst>
            </a:pP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Reliable,</a:t>
            </a:r>
            <a:r>
              <a:rPr sz="1400" b="1" spc="-3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Lightweight,</a:t>
            </a:r>
            <a:r>
              <a:rPr sz="1400" b="1" spc="-4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Cost-effective</a:t>
            </a:r>
            <a:r>
              <a:rPr sz="1400" b="1" spc="-3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protocol</a:t>
            </a:r>
            <a:r>
              <a:rPr sz="1400" b="1" spc="-2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that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transports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messages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between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devices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847090" indent="-287020">
              <a:lnSpc>
                <a:spcPct val="100000"/>
              </a:lnSpc>
              <a:spcBef>
                <a:spcPts val="509"/>
              </a:spcBef>
              <a:buChar char="•"/>
              <a:tabLst>
                <a:tab pos="847090" algn="l"/>
                <a:tab pos="847725" algn="l"/>
              </a:tabLst>
            </a:pPr>
            <a:r>
              <a:rPr sz="1400" spc="-5">
                <a:latin typeface="Arial MT"/>
                <a:cs typeface="Arial MT"/>
              </a:rPr>
              <a:t>Suited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for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transport</a:t>
            </a:r>
            <a:r>
              <a:rPr sz="1400" b="1" spc="-40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of</a:t>
            </a:r>
            <a:r>
              <a:rPr sz="1400" b="1" spc="-1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telemetry</a:t>
            </a:r>
            <a:r>
              <a:rPr sz="1400" b="1" spc="-35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974707"/>
                </a:solidFill>
                <a:latin typeface="Arial"/>
                <a:cs typeface="Arial"/>
              </a:rPr>
              <a:t>data</a:t>
            </a:r>
            <a:r>
              <a:rPr sz="1400" b="1">
                <a:solidFill>
                  <a:srgbClr val="974707"/>
                </a:solidFill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(sensor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and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actuator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data)</a:t>
            </a: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 MT"/>
              <a:cs typeface="Arial MT"/>
            </a:endParaRPr>
          </a:p>
          <a:p>
            <a:pPr marL="299085" marR="4883150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400" spc="-5">
                <a:latin typeface="Arial MT"/>
                <a:cs typeface="Arial MT"/>
              </a:rPr>
              <a:t>Invented by </a:t>
            </a:r>
            <a:r>
              <a:rPr sz="1400" i="1">
                <a:latin typeface="Arial"/>
                <a:cs typeface="Arial"/>
              </a:rPr>
              <a:t>Andy </a:t>
            </a:r>
            <a:r>
              <a:rPr sz="1400" i="1" spc="-5">
                <a:latin typeface="Arial"/>
                <a:cs typeface="Arial"/>
              </a:rPr>
              <a:t>Stanford Clark </a:t>
            </a:r>
            <a:r>
              <a:rPr sz="1400" spc="-5">
                <a:latin typeface="Arial MT"/>
                <a:cs typeface="Arial MT"/>
              </a:rPr>
              <a:t>of </a:t>
            </a:r>
            <a:r>
              <a:rPr sz="1400">
                <a:latin typeface="Arial MT"/>
                <a:cs typeface="Arial MT"/>
              </a:rPr>
              <a:t>IBM 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and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i="1">
                <a:latin typeface="Arial"/>
                <a:cs typeface="Arial"/>
              </a:rPr>
              <a:t>Arlen</a:t>
            </a:r>
            <a:r>
              <a:rPr sz="1400" i="1" spc="-25">
                <a:latin typeface="Arial"/>
                <a:cs typeface="Arial"/>
              </a:rPr>
              <a:t> </a:t>
            </a:r>
            <a:r>
              <a:rPr sz="1400" i="1" spc="-5">
                <a:latin typeface="Arial"/>
                <a:cs typeface="Arial"/>
              </a:rPr>
              <a:t>Nipper</a:t>
            </a:r>
            <a:r>
              <a:rPr sz="1400" i="1" spc="-25"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of</a:t>
            </a:r>
            <a:r>
              <a:rPr sz="1400" spc="-8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Arcom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(now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Eurotech)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1999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400">
                <a:latin typeface="Arial MT"/>
                <a:cs typeface="Arial MT"/>
              </a:rPr>
              <a:t>Used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real-life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IoT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frameworks:</a:t>
            </a:r>
            <a:endParaRPr sz="1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  <a:tab pos="756920" algn="l"/>
              </a:tabLst>
            </a:pPr>
            <a:r>
              <a:rPr sz="1400" spc="-5">
                <a:latin typeface="Arial MT"/>
                <a:cs typeface="Arial MT"/>
              </a:rPr>
              <a:t>Amazon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Web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Services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(AWS),</a:t>
            </a:r>
            <a:endParaRPr sz="1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400">
                <a:latin typeface="Arial MT"/>
                <a:cs typeface="Arial MT"/>
              </a:rPr>
              <a:t>IBM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WebSphere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MQ,</a:t>
            </a:r>
            <a:endParaRPr sz="1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Arial MT"/>
                <a:cs typeface="Arial MT"/>
              </a:rPr>
              <a:t>M</a:t>
            </a:r>
            <a:r>
              <a:rPr sz="1400" spc="-5">
                <a:latin typeface="Arial MT"/>
                <a:cs typeface="Arial MT"/>
              </a:rPr>
              <a:t>i</a:t>
            </a:r>
            <a:r>
              <a:rPr sz="1400">
                <a:latin typeface="Arial MT"/>
                <a:cs typeface="Arial MT"/>
              </a:rPr>
              <a:t>cros</a:t>
            </a:r>
            <a:r>
              <a:rPr sz="1400" spc="-5">
                <a:latin typeface="Arial MT"/>
                <a:cs typeface="Arial MT"/>
              </a:rPr>
              <a:t>o</a:t>
            </a:r>
            <a:r>
              <a:rPr sz="1400">
                <a:latin typeface="Arial MT"/>
                <a:cs typeface="Arial MT"/>
              </a:rPr>
              <a:t>ft</a:t>
            </a:r>
            <a:r>
              <a:rPr sz="1400" spc="-114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5">
                <a:latin typeface="Arial MT"/>
                <a:cs typeface="Arial MT"/>
              </a:rPr>
              <a:t>z</a:t>
            </a:r>
            <a:r>
              <a:rPr sz="1400" spc="-5">
                <a:latin typeface="Arial MT"/>
                <a:cs typeface="Arial MT"/>
              </a:rPr>
              <a:t>ur</a:t>
            </a:r>
            <a:r>
              <a:rPr sz="1400">
                <a:latin typeface="Arial MT"/>
                <a:cs typeface="Arial MT"/>
              </a:rPr>
              <a:t>e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</a:t>
            </a:r>
            <a:r>
              <a:rPr sz="1400" spc="-5">
                <a:latin typeface="Arial MT"/>
                <a:cs typeface="Arial MT"/>
              </a:rPr>
              <a:t>o</a:t>
            </a:r>
            <a:r>
              <a:rPr sz="1400" spc="-165">
                <a:latin typeface="Arial MT"/>
                <a:cs typeface="Arial MT"/>
              </a:rPr>
              <a:t>T</a:t>
            </a:r>
            <a:r>
              <a:rPr sz="1400">
                <a:latin typeface="Arial MT"/>
                <a:cs typeface="Arial MT"/>
              </a:rPr>
              <a:t>,</a:t>
            </a:r>
          </a:p>
          <a:p>
            <a:pPr marL="756285" lvl="1" indent="-28702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400" spc="-5">
                <a:latin typeface="Arial MT"/>
                <a:cs typeface="Arial MT"/>
              </a:rPr>
              <a:t>Facebook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15">
                <a:latin typeface="Arial MT"/>
                <a:cs typeface="Arial MT"/>
              </a:rPr>
              <a:t>Messenger,</a:t>
            </a:r>
            <a:endParaRPr sz="1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40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 marL="4645025">
              <a:lnSpc>
                <a:spcPct val="100000"/>
              </a:lnSpc>
            </a:pPr>
            <a:r>
              <a:rPr sz="1800">
                <a:solidFill>
                  <a:srgbClr val="2C12F1"/>
                </a:solidFill>
                <a:latin typeface="Arial MT"/>
                <a:cs typeface="Arial MT"/>
              </a:rPr>
              <a:t>MQ</a:t>
            </a:r>
            <a:r>
              <a:rPr sz="1800" spc="15">
                <a:solidFill>
                  <a:srgbClr val="2C12F1"/>
                </a:solidFill>
                <a:latin typeface="Arial MT"/>
                <a:cs typeface="Arial MT"/>
              </a:rPr>
              <a:t>T</a:t>
            </a:r>
            <a:r>
              <a:rPr sz="1800">
                <a:solidFill>
                  <a:srgbClr val="2C12F1"/>
                </a:solidFill>
                <a:latin typeface="Arial MT"/>
                <a:cs typeface="Arial MT"/>
              </a:rPr>
              <a:t>T</a:t>
            </a:r>
            <a:r>
              <a:rPr sz="1800" spc="-150">
                <a:solidFill>
                  <a:srgbClr val="2C12F1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2C12F1"/>
                </a:solidFill>
                <a:latin typeface="Arial MT"/>
                <a:cs typeface="Arial MT"/>
              </a:rPr>
              <a:t>Arch</a:t>
            </a:r>
            <a:r>
              <a:rPr sz="1800" spc="-10">
                <a:solidFill>
                  <a:srgbClr val="2C12F1"/>
                </a:solidFill>
                <a:latin typeface="Arial MT"/>
                <a:cs typeface="Arial MT"/>
              </a:rPr>
              <a:t>i</a:t>
            </a:r>
            <a:r>
              <a:rPr sz="1800">
                <a:solidFill>
                  <a:srgbClr val="2C12F1"/>
                </a:solidFill>
                <a:latin typeface="Arial MT"/>
                <a:cs typeface="Arial MT"/>
              </a:rPr>
              <a:t>tecture</a:t>
            </a:r>
            <a:endParaRPr sz="180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  <a:spcBef>
                <a:spcPts val="625"/>
              </a:spcBef>
            </a:pPr>
            <a:r>
              <a:rPr sz="1400" b="1"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 marL="485140" indent="-2870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85140" algn="l"/>
                <a:tab pos="485775" algn="l"/>
              </a:tabLst>
            </a:pPr>
            <a:r>
              <a:rPr sz="1400" b="1" spc="-5">
                <a:latin typeface="Arial"/>
                <a:cs typeface="Arial"/>
              </a:rPr>
              <a:t>Light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 b="1" spc="-5">
                <a:latin typeface="Arial"/>
                <a:cs typeface="Arial"/>
              </a:rPr>
              <a:t>sensor</a:t>
            </a:r>
            <a:r>
              <a:rPr sz="1400" b="1" spc="-20"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continuously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b="1" spc="-5">
                <a:solidFill>
                  <a:srgbClr val="C00000"/>
                </a:solidFill>
                <a:latin typeface="Arial"/>
                <a:cs typeface="Arial"/>
              </a:rPr>
              <a:t>publish</a:t>
            </a:r>
            <a:r>
              <a:rPr sz="1400" b="1" spc="-4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sensor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data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b="1" spc="-5">
                <a:solidFill>
                  <a:srgbClr val="C00000"/>
                </a:solidFill>
                <a:latin typeface="Arial"/>
                <a:cs typeface="Arial"/>
              </a:rPr>
              <a:t>broker</a:t>
            </a:r>
            <a:r>
              <a:rPr sz="1400" spc="-5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485140" marR="5080" indent="-287020">
              <a:lnSpc>
                <a:spcPct val="130000"/>
              </a:lnSpc>
              <a:buFont typeface="Arial MT"/>
              <a:buChar char="•"/>
              <a:tabLst>
                <a:tab pos="485140" algn="l"/>
                <a:tab pos="485775" algn="l"/>
              </a:tabLst>
            </a:pPr>
            <a:r>
              <a:rPr sz="1400" b="1" spc="-5">
                <a:latin typeface="Arial"/>
                <a:cs typeface="Arial"/>
              </a:rPr>
              <a:t>Building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b="1" spc="-5">
                <a:latin typeface="Arial"/>
                <a:cs typeface="Arial"/>
              </a:rPr>
              <a:t>control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 b="1" spc="-5">
                <a:latin typeface="Arial"/>
                <a:cs typeface="Arial"/>
              </a:rPr>
              <a:t>application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b="1" spc="-5">
                <a:solidFill>
                  <a:srgbClr val="C00000"/>
                </a:solidFill>
                <a:latin typeface="Arial"/>
                <a:cs typeface="Arial"/>
              </a:rPr>
              <a:t>subscribes</a:t>
            </a:r>
            <a:r>
              <a:rPr sz="1400" b="1" spc="-4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light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sensor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data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so </a:t>
            </a:r>
            <a:r>
              <a:rPr sz="1400" spc="-5">
                <a:latin typeface="Arial MT"/>
                <a:cs typeface="Arial MT"/>
              </a:rPr>
              <a:t>receives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it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15">
                <a:latin typeface="Arial MT"/>
                <a:cs typeface="Arial MT"/>
              </a:rPr>
              <a:t>broker.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Then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decides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activate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b="1" spc="-5">
                <a:latin typeface="Arial"/>
                <a:cs typeface="Arial"/>
              </a:rPr>
              <a:t>Camera</a:t>
            </a:r>
            <a:r>
              <a:rPr sz="1400" spc="-5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485140" indent="-2870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85140" algn="l"/>
                <a:tab pos="485775" algn="l"/>
              </a:tabLst>
            </a:pPr>
            <a:r>
              <a:rPr sz="1400" b="1" spc="-5">
                <a:latin typeface="Arial"/>
                <a:cs typeface="Arial"/>
              </a:rPr>
              <a:t>The</a:t>
            </a:r>
            <a:r>
              <a:rPr sz="1400" b="1" spc="-15">
                <a:latin typeface="Arial"/>
                <a:cs typeface="Arial"/>
              </a:rPr>
              <a:t> </a:t>
            </a:r>
            <a:r>
              <a:rPr sz="1400" b="1" spc="-5">
                <a:latin typeface="Arial"/>
                <a:cs typeface="Arial"/>
              </a:rPr>
              <a:t>application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sends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activation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message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b="1" spc="-5">
                <a:latin typeface="Arial"/>
                <a:cs typeface="Arial"/>
              </a:rPr>
              <a:t>camera</a:t>
            </a:r>
            <a:r>
              <a:rPr sz="1400" b="1" spc="-20">
                <a:latin typeface="Arial"/>
                <a:cs typeface="Arial"/>
              </a:rPr>
              <a:t> </a:t>
            </a:r>
            <a:r>
              <a:rPr sz="1400" spc="-5">
                <a:latin typeface="Arial MT"/>
                <a:cs typeface="Arial MT"/>
              </a:rPr>
              <a:t>node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(i.e.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actuator)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through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b="1" spc="-5">
                <a:solidFill>
                  <a:srgbClr val="C00000"/>
                </a:solidFill>
                <a:latin typeface="Arial"/>
                <a:cs typeface="Arial"/>
              </a:rPr>
              <a:t>broker</a:t>
            </a:r>
            <a:r>
              <a:rPr sz="1400" spc="-5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0BF264-20A4-4B9E-766D-6131C949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6444FA-70E0-0DCF-943F-67E8305B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4900" y="646229"/>
            <a:ext cx="5018499" cy="27873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403" y="1331468"/>
            <a:ext cx="8648065" cy="5036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83882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</a:pPr>
            <a:r>
              <a:rPr sz="1400">
                <a:latin typeface="Arial MT"/>
                <a:cs typeface="Arial MT"/>
              </a:rPr>
              <a:t>In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2013-14,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MQTT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was</a:t>
            </a:r>
            <a:r>
              <a:rPr sz="140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adopted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and </a:t>
            </a:r>
            <a:r>
              <a:rPr sz="1400" b="1" spc="-5">
                <a:latin typeface="Arial"/>
                <a:cs typeface="Arial"/>
              </a:rPr>
              <a:t>published as an official </a:t>
            </a:r>
            <a:r>
              <a:rPr sz="1400" b="1">
                <a:latin typeface="Arial"/>
                <a:cs typeface="Arial"/>
              </a:rPr>
              <a:t> </a:t>
            </a:r>
            <a:r>
              <a:rPr sz="1400" b="1" spc="-5">
                <a:latin typeface="Arial"/>
                <a:cs typeface="Arial"/>
              </a:rPr>
              <a:t>standard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by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OASIS</a:t>
            </a:r>
          </a:p>
          <a:p>
            <a:pPr marL="756285" marR="5683250" lvl="1" indent="-287020" algn="just">
              <a:lnSpc>
                <a:spcPct val="100000"/>
              </a:lnSpc>
              <a:buChar char="•"/>
              <a:tabLst>
                <a:tab pos="756920" algn="l"/>
              </a:tabLst>
            </a:pPr>
            <a:r>
              <a:rPr sz="1400">
                <a:latin typeface="Arial MT"/>
                <a:cs typeface="Arial MT"/>
              </a:rPr>
              <a:t>OASIS: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Organization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for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the </a:t>
            </a:r>
            <a:r>
              <a:rPr sz="1400" spc="-38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Advancement of Structured </a:t>
            </a:r>
            <a:r>
              <a:rPr sz="140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Information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Standard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299085" marR="5918200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400" spc="-15">
                <a:solidFill>
                  <a:srgbClr val="0D0D0D"/>
                </a:solidFill>
                <a:latin typeface="Arial MT"/>
                <a:cs typeface="Arial MT"/>
              </a:rPr>
              <a:t>MQTT was mainly designed </a:t>
            </a:r>
            <a:r>
              <a:rPr sz="1400" spc="-10">
                <a:solidFill>
                  <a:srgbClr val="0D0D0D"/>
                </a:solidFill>
                <a:latin typeface="Arial MT"/>
                <a:cs typeface="Arial MT"/>
              </a:rPr>
              <a:t>for </a:t>
            </a:r>
            <a:r>
              <a:rPr sz="1400" spc="-3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0D0D0D"/>
                </a:solidFill>
                <a:latin typeface="Arial MT"/>
                <a:cs typeface="Arial MT"/>
              </a:rPr>
              <a:t>M2M</a:t>
            </a:r>
            <a:r>
              <a:rPr sz="14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400" spc="-15">
                <a:solidFill>
                  <a:srgbClr val="0D0D0D"/>
                </a:solidFill>
                <a:latin typeface="Arial MT"/>
                <a:cs typeface="Arial MT"/>
              </a:rPr>
              <a:t>communication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Arial MT"/>
              <a:cs typeface="Arial MT"/>
            </a:endParaRPr>
          </a:p>
          <a:p>
            <a:pPr marL="570865" indent="-325120">
              <a:lnSpc>
                <a:spcPct val="100000"/>
              </a:lnSpc>
              <a:buClr>
                <a:srgbClr val="000000"/>
              </a:buClr>
              <a:buSzPct val="43750"/>
              <a:buFont typeface="Wingdings"/>
              <a:buChar char=""/>
              <a:tabLst>
                <a:tab pos="570865" algn="l"/>
                <a:tab pos="571500" algn="l"/>
              </a:tabLst>
            </a:pPr>
            <a:r>
              <a:rPr sz="1600" b="1" spc="-15">
                <a:solidFill>
                  <a:srgbClr val="C00000"/>
                </a:solidFill>
                <a:latin typeface="Calibri"/>
                <a:cs typeface="Calibri"/>
              </a:rPr>
              <a:t>Publish</a:t>
            </a:r>
            <a:r>
              <a:rPr sz="1600" b="1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1600" b="1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C00000"/>
                </a:solidFill>
                <a:latin typeface="Calibri"/>
                <a:cs typeface="Calibri"/>
              </a:rPr>
              <a:t>Subscribe</a:t>
            </a:r>
            <a:r>
              <a:rPr sz="1600" b="1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(PubSub)</a:t>
            </a:r>
            <a:r>
              <a:rPr sz="1600" spc="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  <a:p>
            <a:pPr marL="1028065" lvl="1" indent="-3251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42857"/>
              <a:buFont typeface="Wingdings"/>
              <a:buChar char=""/>
              <a:tabLst>
                <a:tab pos="1028065" algn="l"/>
                <a:tab pos="1028700" algn="l"/>
              </a:tabLst>
            </a:pPr>
            <a:r>
              <a:rPr sz="1400" b="1" spc="-10">
                <a:solidFill>
                  <a:srgbClr val="5F497A"/>
                </a:solidFill>
                <a:latin typeface="Calibri"/>
                <a:cs typeface="Calibri"/>
              </a:rPr>
              <a:t>Decoupling </a:t>
            </a:r>
            <a:r>
              <a:rPr sz="1400" spc="-5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sz="1400" spc="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0D0D0D"/>
                </a:solidFill>
                <a:latin typeface="Calibri"/>
                <a:cs typeface="Calibri"/>
              </a:rPr>
              <a:t>producer</a:t>
            </a:r>
            <a:r>
              <a:rPr sz="1400" spc="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(publisher)</a:t>
            </a:r>
            <a:r>
              <a:rPr sz="14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1400" spc="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sz="1400" spc="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consumer</a:t>
            </a:r>
            <a:r>
              <a:rPr sz="1400" spc="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(subscriber)</a:t>
            </a:r>
            <a:r>
              <a:rPr sz="1400" spc="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through</a:t>
            </a:r>
            <a:r>
              <a:rPr sz="1400" spc="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topics</a:t>
            </a:r>
            <a:r>
              <a:rPr sz="1400" spc="3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(message</a:t>
            </a:r>
            <a:r>
              <a:rPr sz="1400" spc="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queues)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1550">
              <a:latin typeface="Calibri"/>
              <a:cs typeface="Calibri"/>
            </a:endParaRPr>
          </a:p>
          <a:p>
            <a:pPr marL="570865" indent="-325120">
              <a:lnSpc>
                <a:spcPct val="100000"/>
              </a:lnSpc>
              <a:buClr>
                <a:srgbClr val="000000"/>
              </a:buClr>
              <a:buSzPct val="43750"/>
              <a:buFont typeface="Wingdings"/>
              <a:buChar char=""/>
              <a:tabLst>
                <a:tab pos="570865" algn="l"/>
                <a:tab pos="571500" algn="l"/>
              </a:tabLst>
            </a:pPr>
            <a:r>
              <a:rPr sz="1600" b="1" spc="-20">
                <a:solidFill>
                  <a:srgbClr val="001F5F"/>
                </a:solidFill>
                <a:latin typeface="Calibri"/>
                <a:cs typeface="Calibri"/>
              </a:rPr>
              <a:t>Asynchronous</a:t>
            </a:r>
            <a:r>
              <a:rPr sz="1600" b="1" spc="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001F5F"/>
                </a:solidFill>
                <a:latin typeface="Calibri"/>
                <a:cs typeface="Calibri"/>
              </a:rPr>
              <a:t>communication</a:t>
            </a:r>
            <a:r>
              <a:rPr sz="1600" b="1" spc="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001F5F"/>
                </a:solidFill>
                <a:latin typeface="Calibri"/>
                <a:cs typeface="Calibri"/>
              </a:rPr>
              <a:t>model</a:t>
            </a:r>
            <a:r>
              <a:rPr sz="1600" b="1" spc="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1600" spc="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messages</a:t>
            </a:r>
            <a:r>
              <a:rPr sz="1600" spc="17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(events)</a:t>
            </a:r>
            <a:endParaRPr sz="1600">
              <a:latin typeface="Calibri"/>
              <a:cs typeface="Calibri"/>
            </a:endParaRPr>
          </a:p>
          <a:p>
            <a:pPr marL="1028065" lvl="1" indent="-325120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SzPct val="42857"/>
              <a:buFont typeface="Wingdings"/>
              <a:buChar char=""/>
              <a:tabLst>
                <a:tab pos="1028065" algn="l"/>
                <a:tab pos="1028700" algn="l"/>
              </a:tabLst>
            </a:pP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Publisher</a:t>
            </a:r>
            <a:r>
              <a:rPr sz="1400" spc="-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 Subscriber</a:t>
            </a:r>
            <a:r>
              <a:rPr sz="1400" spc="-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need</a:t>
            </a:r>
            <a:r>
              <a:rPr sz="1400" spc="-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not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be</a:t>
            </a:r>
            <a:r>
              <a:rPr sz="1400" spc="-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online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 at </a:t>
            </a:r>
            <a:r>
              <a:rPr sz="1400" spc="-10">
                <a:solidFill>
                  <a:srgbClr val="0D0D0D"/>
                </a:solidFill>
                <a:latin typeface="Calibri"/>
                <a:cs typeface="Calibri"/>
              </a:rPr>
              <a:t>the same</a:t>
            </a:r>
            <a:r>
              <a:rPr sz="1400" spc="-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1550">
              <a:latin typeface="Calibri"/>
              <a:cs typeface="Calibri"/>
            </a:endParaRPr>
          </a:p>
          <a:p>
            <a:pPr marL="570865" indent="-325120">
              <a:lnSpc>
                <a:spcPct val="100000"/>
              </a:lnSpc>
              <a:buClr>
                <a:srgbClr val="000000"/>
              </a:buClr>
              <a:buSzPct val="43750"/>
              <a:buFont typeface="Wingdings"/>
              <a:buChar char=""/>
              <a:tabLst>
                <a:tab pos="570865" algn="l"/>
                <a:tab pos="571500" algn="l"/>
              </a:tabLst>
            </a:pP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Low</a:t>
            </a:r>
            <a:r>
              <a:rPr sz="160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overhead </a:t>
            </a:r>
            <a:r>
              <a:rPr sz="1600" b="1" spc="-15">
                <a:solidFill>
                  <a:srgbClr val="375F92"/>
                </a:solidFill>
                <a:latin typeface="Calibri"/>
                <a:cs typeface="Calibri"/>
              </a:rPr>
              <a:t>(2</a:t>
            </a:r>
            <a:r>
              <a:rPr sz="1600" b="1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375F92"/>
                </a:solidFill>
                <a:latin typeface="Calibri"/>
                <a:cs typeface="Calibri"/>
              </a:rPr>
              <a:t>bytes</a:t>
            </a:r>
            <a:r>
              <a:rPr sz="1600" b="1" spc="-3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375F92"/>
                </a:solidFill>
                <a:latin typeface="Calibri"/>
                <a:cs typeface="Calibri"/>
              </a:rPr>
              <a:t>header)</a:t>
            </a:r>
            <a:endParaRPr sz="1600">
              <a:latin typeface="Calibri"/>
              <a:cs typeface="Calibri"/>
            </a:endParaRPr>
          </a:p>
          <a:p>
            <a:pPr marL="1028065" lvl="1" indent="-325120">
              <a:lnSpc>
                <a:spcPct val="100000"/>
              </a:lnSpc>
              <a:spcBef>
                <a:spcPts val="10"/>
              </a:spcBef>
              <a:buSzPct val="42857"/>
              <a:buFont typeface="Wingdings"/>
              <a:buChar char=""/>
              <a:tabLst>
                <a:tab pos="1028065" algn="l"/>
                <a:tab pos="1028700" algn="l"/>
              </a:tabLst>
            </a:pPr>
            <a:r>
              <a:rPr sz="1400" spc="-15">
                <a:latin typeface="Calibri"/>
                <a:cs typeface="Calibri"/>
              </a:rPr>
              <a:t>Suitable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for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low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network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bandwidth</a:t>
            </a:r>
            <a:r>
              <a:rPr sz="1400" spc="27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1550">
              <a:latin typeface="Calibri"/>
              <a:cs typeface="Calibri"/>
            </a:endParaRPr>
          </a:p>
          <a:p>
            <a:pPr marL="570865" indent="-325120">
              <a:lnSpc>
                <a:spcPct val="100000"/>
              </a:lnSpc>
              <a:buClr>
                <a:srgbClr val="000000"/>
              </a:buClr>
              <a:buSzPct val="43750"/>
              <a:buFont typeface="Wingdings"/>
              <a:buChar char=""/>
              <a:tabLst>
                <a:tab pos="570865" algn="l"/>
                <a:tab pos="571500" algn="l"/>
              </a:tabLst>
            </a:pP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Runs</a:t>
            </a:r>
            <a:r>
              <a:rPr sz="1600" spc="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160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connection-oriented</a:t>
            </a:r>
            <a:r>
              <a:rPr sz="1600" spc="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transport</a:t>
            </a:r>
            <a:r>
              <a:rPr sz="1600" spc="4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0D0D0D"/>
                </a:solidFill>
                <a:latin typeface="Calibri"/>
                <a:cs typeface="Calibri"/>
              </a:rPr>
              <a:t>(</a:t>
            </a:r>
            <a:r>
              <a:rPr sz="1600" b="1" spc="-25">
                <a:solidFill>
                  <a:srgbClr val="0D0D0D"/>
                </a:solidFill>
                <a:latin typeface="Calibri"/>
                <a:cs typeface="Calibri"/>
              </a:rPr>
              <a:t>TCP</a:t>
            </a:r>
            <a:r>
              <a:rPr sz="1600" spc="-25">
                <a:solidFill>
                  <a:srgbClr val="0D0D0D"/>
                </a:solidFill>
                <a:latin typeface="Calibri"/>
                <a:cs typeface="Calibri"/>
              </a:rPr>
              <a:t>),</a:t>
            </a:r>
            <a:r>
              <a:rPr sz="16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but</a:t>
            </a:r>
            <a:r>
              <a:rPr sz="1600" spc="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D0D0D"/>
                </a:solidFill>
                <a:latin typeface="Calibri"/>
                <a:cs typeface="Calibri"/>
              </a:rPr>
              <a:t>it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 will</a:t>
            </a:r>
            <a:r>
              <a:rPr sz="1600" spc="-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D0D0D"/>
                </a:solidFill>
                <a:latin typeface="Calibri"/>
                <a:cs typeface="Calibri"/>
              </a:rPr>
              <a:t>be</a:t>
            </a:r>
            <a:r>
              <a:rPr sz="1600" spc="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used</a:t>
            </a:r>
            <a:r>
              <a:rPr sz="160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600" spc="-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conjunction</a:t>
            </a:r>
            <a:r>
              <a:rPr sz="16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16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0D0D0D"/>
                </a:solidFill>
                <a:latin typeface="Calibri"/>
                <a:cs typeface="Calibri"/>
              </a:rPr>
              <a:t>6LoWPAN</a:t>
            </a:r>
            <a:r>
              <a:rPr sz="1600" b="1" spc="-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0D0D0D"/>
                </a:solidFill>
                <a:latin typeface="Calibri"/>
                <a:cs typeface="Calibri"/>
              </a:rPr>
              <a:t>HC</a:t>
            </a:r>
            <a:endParaRPr sz="1600">
              <a:latin typeface="Calibri"/>
              <a:cs typeface="Calibri"/>
            </a:endParaRPr>
          </a:p>
          <a:p>
            <a:pPr marL="570865">
              <a:lnSpc>
                <a:spcPct val="100000"/>
              </a:lnSpc>
            </a:pPr>
            <a:r>
              <a:rPr sz="1600" spc="-25">
                <a:solidFill>
                  <a:srgbClr val="0D0D0D"/>
                </a:solidFill>
                <a:latin typeface="Calibri"/>
                <a:cs typeface="Calibri"/>
              </a:rPr>
              <a:t>(TCP</a:t>
            </a:r>
            <a:r>
              <a:rPr sz="1600" spc="-15">
                <a:solidFill>
                  <a:srgbClr val="0D0D0D"/>
                </a:solidFill>
                <a:latin typeface="Calibri"/>
                <a:cs typeface="Calibri"/>
              </a:rPr>
              <a:t> header</a:t>
            </a:r>
            <a:r>
              <a:rPr sz="1600" spc="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0D0D0D"/>
                </a:solidFill>
                <a:latin typeface="Calibri"/>
                <a:cs typeface="Calibri"/>
              </a:rPr>
              <a:t>compression).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8980" y="145161"/>
            <a:ext cx="52692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MQTT</a:t>
            </a:r>
            <a:r>
              <a:rPr sz="40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Characteristics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D7475BCB-C757-6644-830D-D62A514BCB07}" type="datetime1">
              <a:rPr lang="en-US" smtClean="0"/>
              <a:t>9/1/26</a:t>
            </a:fld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E9BEF-A2DA-8CA9-44CE-FAFD44FF4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7C717-D52F-14A4-71A8-805A0CFC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80" y="145161"/>
            <a:ext cx="5101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Advantages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 of</a:t>
            </a:r>
            <a:r>
              <a:rPr sz="40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MQTT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6053362-DBB3-8741-BCA6-531903D9A74D}" type="datetime1">
              <a:rPr lang="en-US" smtClean="0"/>
              <a:t>9/1/26</a:t>
            </a:fld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" y="1099034"/>
            <a:ext cx="8953500" cy="44180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0597" y="6198209"/>
            <a:ext cx="4812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Arial MT"/>
                <a:cs typeface="Arial MT"/>
              </a:rPr>
              <a:t>Source:</a:t>
            </a:r>
            <a:r>
              <a:rPr sz="1200" spc="-30">
                <a:latin typeface="Arial MT"/>
                <a:cs typeface="Arial MT"/>
              </a:rPr>
              <a:t> </a:t>
            </a:r>
            <a:r>
              <a:rPr sz="1200" u="sng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https://www.u-blox.com/en/blogs/insights/mqtt-beginners-guide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D48CB-19FD-9834-352E-301DB2A3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508FD4-AB45-525C-F98F-40AFAA1D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372" y="149097"/>
            <a:ext cx="6957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>
                <a:solidFill>
                  <a:srgbClr val="FF0000"/>
                </a:solidFill>
                <a:latin typeface="Arial"/>
                <a:cs typeface="Arial"/>
              </a:rPr>
              <a:t>Publish</a:t>
            </a:r>
            <a:r>
              <a:rPr sz="36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36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>
                <a:solidFill>
                  <a:srgbClr val="FF0000"/>
                </a:solidFill>
                <a:latin typeface="Arial"/>
                <a:cs typeface="Arial"/>
              </a:rPr>
              <a:t>Subscribe</a:t>
            </a:r>
            <a:r>
              <a:rPr sz="36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spc="-5">
                <a:solidFill>
                  <a:srgbClr val="FF0000"/>
                </a:solidFill>
                <a:latin typeface="Arial"/>
                <a:cs typeface="Arial"/>
              </a:rPr>
              <a:t>Messaging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E441BCF-0377-6E44-B0D9-56A2C6EE5F85}" type="datetime1">
              <a:rPr lang="en-US" smtClean="0"/>
              <a:t>9/1/26</a:t>
            </a:fld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64" y="1109598"/>
            <a:ext cx="8355965" cy="517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0"/>
              </a:spcBef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A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producer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sends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(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publishes</a:t>
            </a:r>
            <a:r>
              <a:rPr sz="1800" spc="-5">
                <a:latin typeface="Calibri"/>
                <a:cs typeface="Calibri"/>
              </a:rPr>
              <a:t>)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message</a:t>
            </a:r>
            <a:r>
              <a:rPr sz="1800" spc="-10">
                <a:latin typeface="Calibri"/>
                <a:cs typeface="Calibri"/>
              </a:rPr>
              <a:t> (</a:t>
            </a: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publication</a:t>
            </a:r>
            <a:r>
              <a:rPr sz="1800" spc="-10">
                <a:latin typeface="Calibri"/>
                <a:cs typeface="Calibri"/>
              </a:rPr>
              <a:t>)</a:t>
            </a:r>
            <a:r>
              <a:rPr sz="1800" spc="4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on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topic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(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subject</a:t>
            </a:r>
            <a:r>
              <a:rPr sz="1800" spc="-5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A </a:t>
            </a:r>
            <a:r>
              <a:rPr sz="1800" spc="-5">
                <a:latin typeface="Calibri"/>
                <a:cs typeface="Calibri"/>
              </a:rPr>
              <a:t>consumer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subscribes </a:t>
            </a:r>
            <a:r>
              <a:rPr sz="1800" spc="-15">
                <a:latin typeface="Calibri"/>
                <a:cs typeface="Calibri"/>
              </a:rPr>
              <a:t>(makes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">
                <a:latin typeface="Calibri"/>
                <a:cs typeface="Calibri"/>
              </a:rPr>
              <a:t> subscription)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for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messages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on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topic</a:t>
            </a:r>
            <a:r>
              <a:rPr sz="1800">
                <a:latin typeface="Calibri"/>
                <a:cs typeface="Calibri"/>
              </a:rPr>
              <a:t> (</a:t>
            </a:r>
            <a:r>
              <a:rPr sz="1800">
                <a:solidFill>
                  <a:srgbClr val="C00000"/>
                </a:solidFill>
                <a:latin typeface="Calibri"/>
                <a:cs typeface="Calibri"/>
              </a:rPr>
              <a:t>subject</a:t>
            </a:r>
            <a:r>
              <a:rPr sz="1800">
                <a:latin typeface="Calibri"/>
                <a:cs typeface="Calibri"/>
              </a:rPr>
              <a:t>)</a:t>
            </a:r>
          </a:p>
          <a:p>
            <a:pPr marL="228600" indent="-216535">
              <a:lnSpc>
                <a:spcPct val="100000"/>
              </a:lnSpc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A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message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server</a:t>
            </a:r>
            <a:r>
              <a:rPr sz="1800">
                <a:solidFill>
                  <a:srgbClr val="C00000"/>
                </a:solidFill>
                <a:latin typeface="Calibri"/>
                <a:cs typeface="Calibri"/>
              </a:rPr>
              <a:t> /</a:t>
            </a:r>
            <a:r>
              <a:rPr sz="18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C00000"/>
                </a:solidFill>
                <a:latin typeface="Calibri"/>
                <a:cs typeface="Calibri"/>
              </a:rPr>
              <a:t>broker</a:t>
            </a:r>
            <a:r>
              <a:rPr sz="18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matches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publications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to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subscriptions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"/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>
                <a:latin typeface="Calibri"/>
                <a:cs typeface="Calibri"/>
              </a:rPr>
              <a:t>Who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get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message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?</a:t>
            </a:r>
          </a:p>
          <a:p>
            <a:pPr marL="228600" indent="-216535">
              <a:lnSpc>
                <a:spcPct val="100000"/>
              </a:lnSpc>
              <a:spcBef>
                <a:spcPts val="40"/>
              </a:spcBef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If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2C12F1"/>
                </a:solidFill>
                <a:latin typeface="Calibri"/>
                <a:cs typeface="Calibri"/>
              </a:rPr>
              <a:t>no</a:t>
            </a:r>
            <a:r>
              <a:rPr sz="18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matches,</a:t>
            </a:r>
            <a:r>
              <a:rPr sz="18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 </a:t>
            </a:r>
            <a:r>
              <a:rPr sz="1800" spc="-5">
                <a:latin typeface="Calibri"/>
                <a:cs typeface="Calibri"/>
              </a:rPr>
              <a:t>message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is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discarded</a:t>
            </a:r>
            <a:endParaRPr sz="18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If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2C12F1"/>
                </a:solidFill>
                <a:latin typeface="Calibri"/>
                <a:cs typeface="Calibri"/>
              </a:rPr>
              <a:t>one</a:t>
            </a:r>
            <a:r>
              <a:rPr sz="1800" spc="2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/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more</a:t>
            </a:r>
            <a:r>
              <a:rPr sz="1800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matches,</a:t>
            </a:r>
            <a:r>
              <a:rPr sz="1800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message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is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delivered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to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solidFill>
                  <a:srgbClr val="2C12F1"/>
                </a:solidFill>
                <a:latin typeface="Calibri"/>
                <a:cs typeface="Calibri"/>
              </a:rPr>
              <a:t>each</a:t>
            </a:r>
            <a:r>
              <a:rPr sz="18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matching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subscriber/consumer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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"/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>
                <a:latin typeface="Calibri"/>
                <a:cs typeface="Calibri"/>
              </a:rPr>
              <a:t>Topic</a:t>
            </a:r>
            <a:endParaRPr sz="24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40"/>
              </a:spcBef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>
                <a:latin typeface="Calibri"/>
                <a:cs typeface="Calibri"/>
              </a:rPr>
              <a:t>A </a:t>
            </a:r>
            <a:r>
              <a:rPr sz="1800" spc="-10">
                <a:latin typeface="Calibri"/>
                <a:cs typeface="Calibri"/>
              </a:rPr>
              <a:t>topic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forms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namespace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2C12F1"/>
                </a:solidFill>
                <a:latin typeface="Calibri"/>
                <a:cs typeface="Calibri"/>
              </a:rPr>
              <a:t>in</a:t>
            </a:r>
            <a:r>
              <a:rPr sz="1800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15">
                <a:solidFill>
                  <a:srgbClr val="2C12F1"/>
                </a:solidFill>
                <a:latin typeface="Calibri"/>
                <a:cs typeface="Calibri"/>
              </a:rPr>
              <a:t>hierarchical</a:t>
            </a:r>
            <a:r>
              <a:rPr sz="1800" spc="3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with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b="1" spc="-5">
                <a:latin typeface="Calibri"/>
                <a:cs typeface="Calibri"/>
              </a:rPr>
              <a:t>“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sub</a:t>
            </a:r>
            <a:r>
              <a:rPr sz="18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topic</a:t>
            </a:r>
            <a:r>
              <a:rPr sz="1800" b="1" spc="-10">
                <a:latin typeface="Calibri"/>
                <a:cs typeface="Calibri"/>
              </a:rPr>
              <a:t>”</a:t>
            </a:r>
            <a:r>
              <a:rPr sz="1800" b="1" spc="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separated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by</a:t>
            </a:r>
            <a:r>
              <a:rPr sz="1800" spc="4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/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</a:pPr>
            <a:r>
              <a:rPr sz="1800" spc="-15">
                <a:latin typeface="Calibri"/>
                <a:cs typeface="Calibri"/>
              </a:rPr>
              <a:t>(forward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slash)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15">
                <a:latin typeface="Wingdings"/>
                <a:cs typeface="Wingdings"/>
              </a:rPr>
              <a:t></a:t>
            </a:r>
            <a:r>
              <a:rPr sz="800" spc="15">
                <a:latin typeface="Times New Roman"/>
                <a:cs typeface="Times New Roman"/>
              </a:rPr>
              <a:t>  </a:t>
            </a:r>
            <a:r>
              <a:rPr sz="800" spc="170">
                <a:latin typeface="Times New Roman"/>
                <a:cs typeface="Times New Roman"/>
              </a:rPr>
              <a:t> </a:t>
            </a:r>
            <a:r>
              <a:rPr sz="1800">
                <a:latin typeface="Calibri"/>
                <a:cs typeface="Calibri"/>
              </a:rPr>
              <a:t>An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example</a:t>
            </a:r>
            <a:r>
              <a:rPr sz="1800" spc="-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topic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space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:</a:t>
            </a:r>
          </a:p>
          <a:p>
            <a:pPr marL="791210" lvl="1" indent="-321945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SzPct val="44444"/>
              <a:buFont typeface="Wingdings"/>
              <a:buChar char=""/>
              <a:tabLst>
                <a:tab pos="791210" algn="l"/>
                <a:tab pos="791845" algn="l"/>
              </a:tabLst>
            </a:pPr>
            <a:r>
              <a:rPr sz="18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house</a:t>
            </a:r>
            <a:r>
              <a:rPr sz="18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publishes</a:t>
            </a:r>
            <a:r>
              <a:rPr sz="18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information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 about itself </a:t>
            </a:r>
            <a:r>
              <a:rPr sz="1800" spc="5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5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5"/>
              </a:spcBef>
            </a:pPr>
            <a:r>
              <a:rPr sz="1800" i="1" spc="-10">
                <a:latin typeface="Calibri"/>
                <a:cs typeface="Calibri"/>
              </a:rPr>
              <a:t>&lt;country&gt;/&lt;region&gt;/&lt;town&gt;/&lt;postalcode&gt;/&lt;house</a:t>
            </a:r>
            <a:r>
              <a:rPr sz="1800" i="1" spc="85">
                <a:latin typeface="Calibri"/>
                <a:cs typeface="Calibri"/>
              </a:rPr>
              <a:t> </a:t>
            </a:r>
            <a:r>
              <a:rPr sz="1800" i="1" spc="-10">
                <a:latin typeface="Calibri"/>
                <a:cs typeface="Calibri"/>
              </a:rPr>
              <a:t>no&gt;/energyConsumption</a:t>
            </a:r>
            <a:endParaRPr sz="1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5"/>
              </a:spcBef>
            </a:pPr>
            <a:r>
              <a:rPr sz="1800" i="1" spc="-10">
                <a:latin typeface="Calibri"/>
                <a:cs typeface="Calibri"/>
              </a:rPr>
              <a:t>&lt;country&gt;/&lt;region&gt;/&lt;town&gt;/&lt;postalcode&gt;/&lt;house</a:t>
            </a:r>
            <a:r>
              <a:rPr sz="1800" i="1" spc="70">
                <a:latin typeface="Calibri"/>
                <a:cs typeface="Calibri"/>
              </a:rPr>
              <a:t> </a:t>
            </a:r>
            <a:r>
              <a:rPr sz="1800" i="1" spc="-10">
                <a:latin typeface="Calibri"/>
                <a:cs typeface="Calibri"/>
              </a:rPr>
              <a:t>no&gt;/solarEnergy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subscribes</a:t>
            </a:r>
            <a:r>
              <a:rPr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5">
                <a:solidFill>
                  <a:srgbClr val="C00000"/>
                </a:solidFill>
                <a:latin typeface="Calibri"/>
                <a:cs typeface="Calibri"/>
              </a:rPr>
              <a:t>for control</a:t>
            </a:r>
            <a:r>
              <a:rPr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commands:</a:t>
            </a:r>
            <a:endParaRPr sz="1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5"/>
              </a:spcBef>
            </a:pPr>
            <a:r>
              <a:rPr sz="1800" i="1" spc="-10">
                <a:latin typeface="Calibri"/>
                <a:cs typeface="Calibri"/>
              </a:rPr>
              <a:t>&lt;country&gt;/&lt;region&gt;/&lt;town&gt;/&lt;postalcode&gt;/&lt;house</a:t>
            </a:r>
            <a:r>
              <a:rPr sz="1800" i="1" spc="55">
                <a:latin typeface="Calibri"/>
                <a:cs typeface="Calibri"/>
              </a:rPr>
              <a:t> </a:t>
            </a:r>
            <a:r>
              <a:rPr sz="1800" i="1" spc="-15">
                <a:latin typeface="Calibri"/>
                <a:cs typeface="Calibri"/>
              </a:rPr>
              <a:t>no&gt;/thermostat/setTemp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5BF6-CD92-9408-B5C9-0AF5A474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86022-A3E6-B772-951C-007725D1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252" y="861017"/>
            <a:ext cx="8343265" cy="550227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Wildcards</a:t>
            </a:r>
            <a:endParaRPr sz="18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1090"/>
              </a:spcBef>
              <a:buSzPct val="43750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600" spc="-5">
                <a:latin typeface="Calibri"/>
                <a:cs typeface="Calibri"/>
              </a:rPr>
              <a:t>A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subscriber</a:t>
            </a:r>
            <a:r>
              <a:rPr sz="1600" b="1" spc="5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subscribe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an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absolute topic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can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use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wildcards</a:t>
            </a:r>
            <a:r>
              <a:rPr sz="1600" spc="-1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927100" marR="2259330" lvl="1" indent="-457200">
              <a:lnSpc>
                <a:spcPct val="100000"/>
              </a:lnSpc>
              <a:spcBef>
                <a:spcPts val="1095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686435" algn="l"/>
                <a:tab pos="687070" algn="l"/>
              </a:tabLst>
            </a:pP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Single-level</a:t>
            </a:r>
            <a:r>
              <a:rPr sz="16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wildcards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“+”</a:t>
            </a:r>
            <a:r>
              <a:rPr sz="1600" b="1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can </a:t>
            </a:r>
            <a:r>
              <a:rPr sz="1600" spc="-5">
                <a:latin typeface="Calibri"/>
                <a:cs typeface="Calibri"/>
              </a:rPr>
              <a:t>appear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anywhere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 </a:t>
            </a:r>
            <a:r>
              <a:rPr sz="1600" spc="-10">
                <a:latin typeface="Calibri"/>
                <a:cs typeface="Calibri"/>
              </a:rPr>
              <a:t>topic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string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6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example: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Let</a:t>
            </a:r>
            <a:r>
              <a:rPr sz="1600" spc="3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the</a:t>
            </a:r>
            <a:r>
              <a:rPr sz="1600" spc="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30">
                <a:solidFill>
                  <a:srgbClr val="2C12F1"/>
                </a:solidFill>
                <a:latin typeface="Calibri"/>
                <a:cs typeface="Calibri"/>
              </a:rPr>
              <a:t>Topic:</a:t>
            </a:r>
            <a:r>
              <a:rPr sz="1600" spc="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i="1" spc="-10">
                <a:latin typeface="Calibri"/>
                <a:cs typeface="Calibri"/>
              </a:rPr>
              <a:t>&lt;country&gt;/&lt;region&gt;/&lt;town&gt;/&lt;postalcode&gt;/&lt;house</a:t>
            </a:r>
            <a:r>
              <a:rPr sz="1600" i="1" spc="90">
                <a:latin typeface="Calibri"/>
                <a:cs typeface="Calibri"/>
              </a:rPr>
              <a:t> </a:t>
            </a:r>
            <a:r>
              <a:rPr sz="1600" i="1" spc="-10">
                <a:latin typeface="Calibri"/>
                <a:cs typeface="Calibri"/>
              </a:rPr>
              <a:t>no&gt;/energyConsumption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Calibri"/>
              <a:cs typeface="Calibri"/>
            </a:endParaRPr>
          </a:p>
          <a:p>
            <a:pPr marL="1213485" lvl="2" indent="-287020">
              <a:lnSpc>
                <a:spcPct val="100000"/>
              </a:lnSpc>
              <a:buFont typeface="Wingdings"/>
              <a:buChar char=""/>
              <a:tabLst>
                <a:tab pos="1214120" algn="l"/>
              </a:tabLst>
            </a:pPr>
            <a:r>
              <a:rPr sz="1600" spc="-10">
                <a:latin typeface="Calibri"/>
                <a:cs typeface="Calibri"/>
              </a:rPr>
              <a:t>Energy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consumption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600" b="1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2C12F1"/>
                </a:solidFill>
                <a:latin typeface="Calibri"/>
                <a:cs typeface="Calibri"/>
              </a:rPr>
              <a:t>1 house</a:t>
            </a:r>
            <a:r>
              <a:rPr sz="1600" b="1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Hursley</a:t>
            </a:r>
            <a:endParaRPr sz="1600">
              <a:latin typeface="Calibri"/>
              <a:cs typeface="Calibri"/>
            </a:endParaRPr>
          </a:p>
          <a:p>
            <a:pPr marL="1670685" lvl="3" indent="-287020">
              <a:lnSpc>
                <a:spcPct val="100000"/>
              </a:lnSpc>
              <a:buFont typeface="Wingdings"/>
              <a:buChar char=""/>
              <a:tabLst>
                <a:tab pos="1670685" algn="l"/>
                <a:tab pos="1671320" algn="l"/>
              </a:tabLst>
            </a:pPr>
            <a:r>
              <a:rPr sz="1400" i="1" spc="-10">
                <a:latin typeface="Calibri"/>
                <a:cs typeface="Calibri"/>
              </a:rPr>
              <a:t>U</a:t>
            </a:r>
            <a:r>
              <a:rPr sz="1600" i="1" spc="-10">
                <a:latin typeface="Calibri"/>
                <a:cs typeface="Calibri"/>
              </a:rPr>
              <a:t>K/Hants/Hursley/SO212JN/</a:t>
            </a:r>
            <a:r>
              <a:rPr sz="1600" b="1" i="1" spc="-1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1600" i="1" spc="-10">
                <a:latin typeface="Calibri"/>
                <a:cs typeface="Calibri"/>
              </a:rPr>
              <a:t>/energyConsumption</a:t>
            </a:r>
            <a:endParaRPr sz="1600">
              <a:latin typeface="Calibri"/>
              <a:cs typeface="Calibri"/>
            </a:endParaRPr>
          </a:p>
          <a:p>
            <a:pPr lvl="3">
              <a:lnSpc>
                <a:spcPct val="100000"/>
              </a:lnSpc>
              <a:spcBef>
                <a:spcPts val="25"/>
              </a:spcBef>
              <a:buChar char=""/>
            </a:pPr>
            <a:endParaRPr sz="1550">
              <a:latin typeface="Calibri"/>
              <a:cs typeface="Calibri"/>
            </a:endParaRPr>
          </a:p>
          <a:p>
            <a:pPr marL="1213485" lvl="2" indent="-287020">
              <a:lnSpc>
                <a:spcPct val="100000"/>
              </a:lnSpc>
              <a:buFont typeface="Wingdings"/>
              <a:buChar char=""/>
              <a:tabLst>
                <a:tab pos="1214120" algn="l"/>
              </a:tabLst>
            </a:pPr>
            <a:r>
              <a:rPr sz="1600" spc="-10">
                <a:latin typeface="Calibri"/>
                <a:cs typeface="Calibri"/>
              </a:rPr>
              <a:t>Energy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consumption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600" b="1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C12F1"/>
                </a:solidFill>
                <a:latin typeface="Calibri"/>
                <a:cs typeface="Calibri"/>
              </a:rPr>
              <a:t>all</a:t>
            </a:r>
            <a:r>
              <a:rPr sz="1600" b="1" spc="-3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2C12F1"/>
                </a:solidFill>
                <a:latin typeface="Calibri"/>
                <a:cs typeface="Calibri"/>
              </a:rPr>
              <a:t>houses</a:t>
            </a:r>
            <a:r>
              <a:rPr sz="1600" b="1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Hursley</a:t>
            </a:r>
            <a:endParaRPr sz="1600">
              <a:latin typeface="Calibri"/>
              <a:cs typeface="Calibri"/>
            </a:endParaRPr>
          </a:p>
          <a:p>
            <a:pPr marL="1670685" lvl="3" indent="-287020">
              <a:lnSpc>
                <a:spcPct val="100000"/>
              </a:lnSpc>
              <a:buFont typeface="Wingdings"/>
              <a:buChar char=""/>
              <a:tabLst>
                <a:tab pos="1671320" algn="l"/>
              </a:tabLst>
            </a:pPr>
            <a:r>
              <a:rPr sz="1600" i="1" spc="-10">
                <a:latin typeface="Calibri"/>
                <a:cs typeface="Calibri"/>
              </a:rPr>
              <a:t>UK/Hants/Hursley/</a:t>
            </a:r>
            <a:r>
              <a:rPr sz="1600" b="1" i="1" spc="-10">
                <a:solidFill>
                  <a:srgbClr val="C00000"/>
                </a:solidFill>
                <a:latin typeface="Calibri"/>
                <a:cs typeface="Calibri"/>
              </a:rPr>
              <a:t>+/+</a:t>
            </a:r>
            <a:r>
              <a:rPr sz="1600" i="1" spc="-10">
                <a:latin typeface="Calibri"/>
                <a:cs typeface="Calibri"/>
              </a:rPr>
              <a:t>/energyConsumption</a:t>
            </a:r>
            <a:endParaRPr sz="1600">
              <a:latin typeface="Calibri"/>
              <a:cs typeface="Calibri"/>
            </a:endParaRPr>
          </a:p>
          <a:p>
            <a:pPr lvl="3">
              <a:lnSpc>
                <a:spcPct val="100000"/>
              </a:lnSpc>
              <a:spcBef>
                <a:spcPts val="25"/>
              </a:spcBef>
              <a:buChar char=""/>
            </a:pPr>
            <a:endParaRPr sz="2450">
              <a:latin typeface="Calibri"/>
              <a:cs typeface="Calibri"/>
            </a:endParaRPr>
          </a:p>
          <a:p>
            <a:pPr marL="927100" marR="2590800" lvl="1" indent="-457200">
              <a:lnSpc>
                <a:spcPct val="101899"/>
              </a:lnSpc>
              <a:buClr>
                <a:srgbClr val="000000"/>
              </a:buClr>
              <a:buSzPct val="43750"/>
              <a:buFont typeface="Wingdings"/>
              <a:buChar char=""/>
              <a:tabLst>
                <a:tab pos="686435" algn="l"/>
                <a:tab pos="687070" algn="l"/>
              </a:tabLst>
            </a:pP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Multi-level</a:t>
            </a:r>
            <a:r>
              <a:rPr sz="16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wildcards </a:t>
            </a:r>
            <a:r>
              <a:rPr sz="1600" b="1" spc="-10">
                <a:latin typeface="Calibri"/>
                <a:cs typeface="Calibri"/>
              </a:rPr>
              <a:t>“#”</a:t>
            </a:r>
            <a:r>
              <a:rPr sz="1600" b="1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must </a:t>
            </a:r>
            <a:r>
              <a:rPr sz="1600" spc="-5">
                <a:latin typeface="Calibri"/>
                <a:cs typeface="Calibri"/>
              </a:rPr>
              <a:t>appear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at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the end</a:t>
            </a:r>
            <a:r>
              <a:rPr sz="1600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of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string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6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example</a:t>
            </a:r>
            <a:r>
              <a:rPr sz="1600" spc="-1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13485" lvl="2" indent="-287020">
              <a:lnSpc>
                <a:spcPct val="100000"/>
              </a:lnSpc>
              <a:buFont typeface="Wingdings"/>
              <a:buChar char=""/>
              <a:tabLst>
                <a:tab pos="1214120" algn="l"/>
              </a:tabLst>
            </a:pPr>
            <a:r>
              <a:rPr sz="1600" spc="-10">
                <a:latin typeface="Calibri"/>
                <a:cs typeface="Calibri"/>
              </a:rPr>
              <a:t>Details</a:t>
            </a:r>
            <a:r>
              <a:rPr sz="1600" spc="-5">
                <a:latin typeface="Calibri"/>
                <a:cs typeface="Calibri"/>
              </a:rPr>
              <a:t> of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energy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consumption,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solar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and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alarm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600" b="1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C12F1"/>
                </a:solidFill>
                <a:latin typeface="Calibri"/>
                <a:cs typeface="Calibri"/>
              </a:rPr>
              <a:t>all</a:t>
            </a:r>
            <a:r>
              <a:rPr sz="1600" b="1" spc="-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2C12F1"/>
                </a:solidFill>
                <a:latin typeface="Calibri"/>
                <a:cs typeface="Calibri"/>
              </a:rPr>
              <a:t>houses</a:t>
            </a:r>
            <a:r>
              <a:rPr sz="1600" b="1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2C12F1"/>
                </a:solidFill>
                <a:latin typeface="Calibri"/>
                <a:cs typeface="Calibri"/>
              </a:rPr>
              <a:t>in</a:t>
            </a:r>
            <a:r>
              <a:rPr sz="1600" b="1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2C12F1"/>
                </a:solidFill>
                <a:latin typeface="Calibri"/>
                <a:cs typeface="Calibri"/>
              </a:rPr>
              <a:t>SO212JN</a:t>
            </a:r>
            <a:endParaRPr sz="1600">
              <a:latin typeface="Calibri"/>
              <a:cs typeface="Calibri"/>
            </a:endParaRPr>
          </a:p>
          <a:p>
            <a:pPr marL="1670685" lvl="3" indent="-287020">
              <a:lnSpc>
                <a:spcPct val="100000"/>
              </a:lnSpc>
              <a:buFont typeface="Wingdings"/>
              <a:buChar char=""/>
              <a:tabLst>
                <a:tab pos="1671320" algn="l"/>
              </a:tabLst>
            </a:pPr>
            <a:r>
              <a:rPr sz="1600" i="1" spc="-5">
                <a:latin typeface="Calibri"/>
                <a:cs typeface="Calibri"/>
              </a:rPr>
              <a:t>UK/Hants/Hursley/SO212JN/</a:t>
            </a:r>
            <a:r>
              <a:rPr sz="1600" b="1" i="1" spc="-5">
                <a:solidFill>
                  <a:srgbClr val="C00000"/>
                </a:solidFill>
                <a:latin typeface="Calibri"/>
                <a:cs typeface="Calibri"/>
              </a:rPr>
              <a:t>#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5">
                <a:latin typeface="Calibri"/>
                <a:cs typeface="Calibri"/>
              </a:rPr>
              <a:t>NOTE</a:t>
            </a:r>
            <a:r>
              <a:rPr sz="1600" b="1" spc="-5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5"/>
              </a:spcBef>
              <a:buSzPct val="43750"/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600" spc="-10">
                <a:latin typeface="Calibri"/>
                <a:cs typeface="Calibri"/>
              </a:rPr>
              <a:t>Wildcards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must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375F92"/>
                </a:solidFill>
                <a:latin typeface="Calibri"/>
                <a:cs typeface="Calibri"/>
              </a:rPr>
              <a:t>next </a:t>
            </a:r>
            <a:r>
              <a:rPr sz="1600" b="1" spc="-10">
                <a:solidFill>
                  <a:srgbClr val="375F92"/>
                </a:solidFill>
                <a:latin typeface="Calibri"/>
                <a:cs typeface="Calibri"/>
              </a:rPr>
              <a:t>to</a:t>
            </a:r>
            <a:r>
              <a:rPr sz="1600" b="1" spc="-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375F92"/>
                </a:solidFill>
                <a:latin typeface="Calibri"/>
                <a:cs typeface="Calibri"/>
              </a:rPr>
              <a:t>a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375F92"/>
                </a:solidFill>
                <a:latin typeface="Calibri"/>
                <a:cs typeface="Calibri"/>
              </a:rPr>
              <a:t>separator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0"/>
              </a:spcBef>
              <a:buSzPct val="43750"/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600" spc="-10">
                <a:latin typeface="Calibri"/>
                <a:cs typeface="Calibri"/>
              </a:rPr>
              <a:t>Wildcards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006FC0"/>
                </a:solidFill>
                <a:latin typeface="Calibri"/>
                <a:cs typeface="Calibri"/>
              </a:rPr>
              <a:t>cannot</a:t>
            </a:r>
            <a:r>
              <a:rPr sz="1600" b="1" spc="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used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when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375F92"/>
                </a:solidFill>
                <a:latin typeface="Calibri"/>
                <a:cs typeface="Calibri"/>
              </a:rPr>
              <a:t>publishing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372" y="117474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Con</a:t>
            </a:r>
            <a:r>
              <a:rPr sz="400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6F57049B-0E3F-4049-B553-3DE13FEC115A}" type="datetime1">
              <a:rPr lang="en-US" smtClean="0"/>
              <a:t>9/1/26</a:t>
            </a:fld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5A15D-8B1F-C4FF-1590-EAA5E4B2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B8167-8566-37F4-439E-615811D7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124" y="1126093"/>
            <a:ext cx="8346440" cy="18281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5"/>
              </a:spcBef>
              <a:buSzPct val="45000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2000">
                <a:latin typeface="Calibri"/>
                <a:cs typeface="Calibri"/>
              </a:rPr>
              <a:t>A</a:t>
            </a:r>
            <a:r>
              <a:rPr sz="2000" spc="-5">
                <a:latin typeface="Calibri"/>
                <a:cs typeface="Calibri"/>
              </a:rPr>
              <a:t> subscription</a:t>
            </a:r>
            <a:r>
              <a:rPr sz="2000">
                <a:latin typeface="Calibri"/>
                <a:cs typeface="Calibri"/>
              </a:rPr>
              <a:t> can </a:t>
            </a:r>
            <a:r>
              <a:rPr sz="2000" spc="-5">
                <a:latin typeface="Calibri"/>
                <a:cs typeface="Calibri"/>
              </a:rPr>
              <a:t>be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durable</a:t>
            </a:r>
            <a:r>
              <a:rPr sz="2000" b="1" spc="-2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or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b="1" spc="-5">
                <a:latin typeface="Calibri"/>
                <a:cs typeface="Calibri"/>
              </a:rPr>
              <a:t>non-durable</a:t>
            </a:r>
            <a:endParaRPr sz="20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44444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800" b="1" spc="-5">
                <a:solidFill>
                  <a:srgbClr val="2C12F1"/>
                </a:solidFill>
                <a:latin typeface="Calibri"/>
                <a:cs typeface="Calibri"/>
              </a:rPr>
              <a:t>Durable:</a:t>
            </a:r>
            <a:endParaRPr sz="1800">
              <a:latin typeface="Calibri"/>
              <a:cs typeface="Calibri"/>
            </a:endParaRPr>
          </a:p>
          <a:p>
            <a:pPr marL="445770" lvl="1" indent="-217804">
              <a:lnSpc>
                <a:spcPct val="100000"/>
              </a:lnSpc>
              <a:spcBef>
                <a:spcPts val="20"/>
              </a:spcBef>
              <a:buSzPct val="43750"/>
              <a:buFont typeface="Wingdings"/>
              <a:buChar char=""/>
              <a:tabLst>
                <a:tab pos="445134" algn="l"/>
                <a:tab pos="446405" algn="l"/>
              </a:tabLst>
            </a:pPr>
            <a:r>
              <a:rPr sz="1600" spc="-10">
                <a:latin typeface="Calibri"/>
                <a:cs typeface="Calibri"/>
              </a:rPr>
              <a:t>Once</a:t>
            </a:r>
            <a:r>
              <a:rPr sz="1600" spc="-5">
                <a:latin typeface="Calibri"/>
                <a:cs typeface="Calibri"/>
              </a:rPr>
              <a:t> a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974707"/>
                </a:solidFill>
                <a:latin typeface="Calibri"/>
                <a:cs typeface="Calibri"/>
              </a:rPr>
              <a:t>subscription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place,</a:t>
            </a:r>
            <a:endParaRPr sz="1600">
              <a:latin typeface="Calibri"/>
              <a:cs typeface="Calibri"/>
            </a:endParaRPr>
          </a:p>
          <a:p>
            <a:pPr marL="902969" marR="5080" lvl="2" indent="-216535">
              <a:lnSpc>
                <a:spcPct val="100000"/>
              </a:lnSpc>
              <a:buSzPct val="43750"/>
              <a:buFont typeface="Wingdings"/>
              <a:buChar char=""/>
              <a:tabLst>
                <a:tab pos="902335" algn="l"/>
                <a:tab pos="903605" algn="l"/>
              </a:tabLst>
            </a:pPr>
            <a:r>
              <a:rPr sz="1600" spc="-5">
                <a:latin typeface="Calibri"/>
                <a:cs typeface="Calibri"/>
              </a:rPr>
              <a:t>A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974707"/>
                </a:solidFill>
                <a:latin typeface="Calibri"/>
                <a:cs typeface="Calibri"/>
              </a:rPr>
              <a:t>broker</a:t>
            </a:r>
            <a:r>
              <a:rPr sz="1600" spc="4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will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forward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matching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messages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974707"/>
                </a:solidFill>
                <a:latin typeface="Calibri"/>
                <a:cs typeface="Calibri"/>
              </a:rPr>
              <a:t>subscriber</a:t>
            </a:r>
            <a:r>
              <a:rPr sz="1600" spc="15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immediately</a:t>
            </a:r>
            <a:r>
              <a:rPr sz="1600" spc="-3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if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subscriber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connected.</a:t>
            </a:r>
            <a:endParaRPr sz="1600">
              <a:latin typeface="Calibri"/>
              <a:cs typeface="Calibri"/>
            </a:endParaRPr>
          </a:p>
          <a:p>
            <a:pPr marL="902969" marR="10160" lvl="2" indent="-216535">
              <a:lnSpc>
                <a:spcPct val="100000"/>
              </a:lnSpc>
              <a:spcBef>
                <a:spcPts val="5"/>
              </a:spcBef>
              <a:buSzPct val="43750"/>
              <a:buFont typeface="Wingdings"/>
              <a:buChar char=""/>
              <a:tabLst>
                <a:tab pos="902335" algn="l"/>
                <a:tab pos="903605" algn="l"/>
              </a:tabLst>
            </a:pPr>
            <a:r>
              <a:rPr sz="1600">
                <a:latin typeface="Calibri"/>
                <a:cs typeface="Calibri"/>
              </a:rPr>
              <a:t>If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subscriber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not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connected,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messages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are</a:t>
            </a:r>
            <a:r>
              <a:rPr sz="16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stored</a:t>
            </a:r>
            <a:r>
              <a:rPr sz="1600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on</a:t>
            </a:r>
            <a:r>
              <a:rPr sz="16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the</a:t>
            </a:r>
            <a:r>
              <a:rPr sz="160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server/broker</a:t>
            </a:r>
            <a:r>
              <a:rPr sz="1600" spc="7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until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next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time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subscriber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connects.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252" y="5607811"/>
            <a:ext cx="8270875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2000" b="1" spc="-10">
                <a:solidFill>
                  <a:srgbClr val="2C12F1"/>
                </a:solidFill>
                <a:latin typeface="Calibri"/>
                <a:cs typeface="Calibri"/>
              </a:rPr>
              <a:t>Non-d</a:t>
            </a:r>
            <a:r>
              <a:rPr sz="1800" b="1" spc="-10">
                <a:solidFill>
                  <a:srgbClr val="2C12F1"/>
                </a:solidFill>
                <a:latin typeface="Calibri"/>
                <a:cs typeface="Calibri"/>
              </a:rPr>
              <a:t>urable</a:t>
            </a:r>
            <a:r>
              <a:rPr sz="1800" b="1" spc="-4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/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2C12F1"/>
                </a:solidFill>
                <a:latin typeface="Calibri"/>
                <a:cs typeface="Calibri"/>
              </a:rPr>
              <a:t>Transient</a:t>
            </a:r>
            <a:r>
              <a:rPr sz="1800" b="1" spc="-3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(i.e.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subscription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ends </a:t>
            </a:r>
            <a:r>
              <a:rPr sz="1800" spc="-5">
                <a:latin typeface="Calibri"/>
                <a:cs typeface="Calibri"/>
              </a:rPr>
              <a:t>with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client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session):</a:t>
            </a:r>
            <a:endParaRPr sz="1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subscription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lifetime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same</a:t>
            </a:r>
            <a:r>
              <a:rPr sz="1600" spc="-5">
                <a:latin typeface="Calibri"/>
                <a:cs typeface="Calibri"/>
              </a:rPr>
              <a:t> as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time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subscriber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 </a:t>
            </a:r>
            <a:r>
              <a:rPr sz="1600" spc="-10">
                <a:latin typeface="Calibri"/>
                <a:cs typeface="Calibri"/>
              </a:rPr>
              <a:t>connected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to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server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/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broker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3372" y="117474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Con</a:t>
            </a:r>
            <a:r>
              <a:rPr sz="400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B7B3EB8D-6396-EA4F-AD55-320BA64319D3}" type="datetime1">
              <a:rPr lang="en-US" smtClean="0"/>
              <a:t>9/1/26</a:t>
            </a:fld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4188" y="3123858"/>
            <a:ext cx="3179064" cy="21666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3123858"/>
            <a:ext cx="3977640" cy="216662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45E07-C95C-8EBB-BFEF-F7CC1C0F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517C6CB-83E6-3751-FC51-6E5DC58C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720" y="4056634"/>
            <a:ext cx="7954645" cy="232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0990" algn="l"/>
              </a:tabLst>
            </a:pP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Message</a:t>
            </a:r>
            <a:r>
              <a:rPr sz="1400" spc="-7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C00000"/>
                </a:solidFill>
                <a:latin typeface="Arial MT"/>
                <a:cs typeface="Arial MT"/>
              </a:rPr>
              <a:t>Type</a:t>
            </a:r>
            <a:r>
              <a:rPr sz="1400" spc="-20">
                <a:latin typeface="Arial MT"/>
                <a:cs typeface="Arial MT"/>
              </a:rPr>
              <a:t>: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identifies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kind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of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MQTT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packet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within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message</a:t>
            </a:r>
            <a:endParaRPr sz="1400">
              <a:latin typeface="Arial MT"/>
              <a:cs typeface="Arial MT"/>
            </a:endParaRPr>
          </a:p>
          <a:p>
            <a:pPr marL="300355" indent="-287655">
              <a:lnSpc>
                <a:spcPct val="100000"/>
              </a:lnSpc>
              <a:buChar char="•"/>
              <a:tabLst>
                <a:tab pos="300355" algn="l"/>
                <a:tab pos="300990" algn="l"/>
              </a:tabLst>
            </a:pP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DUP</a:t>
            </a:r>
            <a:r>
              <a:rPr sz="1400" spc="-5">
                <a:latin typeface="Arial MT"/>
                <a:cs typeface="Arial MT"/>
              </a:rPr>
              <a:t>: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Duplicate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flag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– </a:t>
            </a:r>
            <a:r>
              <a:rPr sz="1400" spc="-5">
                <a:latin typeface="Arial MT"/>
                <a:cs typeface="Arial MT"/>
              </a:rPr>
              <a:t>indicates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whether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packet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has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been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sent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previously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not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300355" indent="-287655">
              <a:lnSpc>
                <a:spcPct val="100000"/>
              </a:lnSpc>
              <a:buChar char="•"/>
              <a:tabLst>
                <a:tab pos="300355" algn="l"/>
                <a:tab pos="300990" algn="l"/>
              </a:tabLst>
            </a:pP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QoS Level</a:t>
            </a:r>
            <a:r>
              <a:rPr sz="1400" spc="-5">
                <a:latin typeface="Arial MT"/>
                <a:cs typeface="Arial MT"/>
              </a:rPr>
              <a:t>: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it allows</a:t>
            </a:r>
            <a:r>
              <a:rPr sz="1400">
                <a:latin typeface="Arial MT"/>
                <a:cs typeface="Arial MT"/>
              </a:rPr>
              <a:t> 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select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different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QoS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level</a:t>
            </a:r>
            <a:endParaRPr sz="1400">
              <a:latin typeface="Arial MT"/>
              <a:cs typeface="Arial MT"/>
            </a:endParaRPr>
          </a:p>
          <a:p>
            <a:pPr marL="300355" indent="-287655">
              <a:lnSpc>
                <a:spcPct val="100000"/>
              </a:lnSpc>
              <a:buChar char="•"/>
              <a:tabLst>
                <a:tab pos="300355" algn="l"/>
                <a:tab pos="300990" algn="l"/>
              </a:tabLst>
            </a:pP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Retain</a:t>
            </a:r>
            <a:r>
              <a:rPr sz="1400" spc="-5">
                <a:latin typeface="Arial MT"/>
                <a:cs typeface="Arial MT"/>
              </a:rPr>
              <a:t>: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this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flag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notifies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server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5">
                <a:latin typeface="Arial MT"/>
                <a:cs typeface="Arial MT"/>
              </a:rPr>
              <a:t> hold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onto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last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received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PUBLISH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message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300355" indent="-287655">
              <a:lnSpc>
                <a:spcPct val="100000"/>
              </a:lnSpc>
              <a:spcBef>
                <a:spcPts val="5"/>
              </a:spcBef>
              <a:buChar char="•"/>
              <a:tabLst>
                <a:tab pos="300355" algn="l"/>
                <a:tab pos="300990" algn="l"/>
              </a:tabLst>
            </a:pP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Remaining</a:t>
            </a:r>
            <a:r>
              <a:rPr sz="1400" spc="-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5">
                <a:solidFill>
                  <a:srgbClr val="C00000"/>
                </a:solidFill>
                <a:latin typeface="Arial MT"/>
                <a:cs typeface="Arial MT"/>
              </a:rPr>
              <a:t>Length</a:t>
            </a:r>
            <a:r>
              <a:rPr sz="1400" spc="-5">
                <a:latin typeface="Arial MT"/>
                <a:cs typeface="Arial MT"/>
              </a:rPr>
              <a:t>: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specifies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size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of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optional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fields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600" spc="-20">
                <a:latin typeface="Calibri"/>
                <a:cs typeface="Calibri"/>
              </a:rPr>
              <a:t>MQTT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lightweight</a:t>
            </a:r>
            <a:endParaRPr sz="16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600" spc="-20">
                <a:latin typeface="Calibri"/>
                <a:cs typeface="Calibri"/>
              </a:rPr>
              <a:t>because </a:t>
            </a:r>
            <a:r>
              <a:rPr sz="1600" spc="-15">
                <a:latin typeface="Calibri"/>
                <a:cs typeface="Calibri"/>
              </a:rPr>
              <a:t>each </a:t>
            </a:r>
            <a:r>
              <a:rPr sz="1600" spc="-25">
                <a:latin typeface="Calibri"/>
                <a:cs typeface="Calibri"/>
              </a:rPr>
              <a:t>packets </a:t>
            </a:r>
            <a:r>
              <a:rPr sz="1600" spc="-20">
                <a:latin typeface="Calibri"/>
                <a:cs typeface="Calibri"/>
              </a:rPr>
              <a:t>consists </a:t>
            </a:r>
            <a:r>
              <a:rPr sz="1600" spc="-10">
                <a:latin typeface="Calibri"/>
                <a:cs typeface="Calibri"/>
              </a:rPr>
              <a:t>of </a:t>
            </a:r>
            <a:r>
              <a:rPr sz="1600" spc="-5">
                <a:latin typeface="Calibri"/>
                <a:cs typeface="Calibri"/>
              </a:rPr>
              <a:t>a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2-byte fixed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header </a:t>
            </a:r>
            <a:r>
              <a:rPr sz="1600" spc="-15">
                <a:latin typeface="Calibri"/>
                <a:cs typeface="Calibri"/>
              </a:rPr>
              <a:t>with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optional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variable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header </a:t>
            </a:r>
            <a:r>
              <a:rPr sz="1600" spc="-15">
                <a:latin typeface="Calibri"/>
                <a:cs typeface="Calibri"/>
              </a:rPr>
              <a:t>and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payload</a:t>
            </a:r>
            <a:r>
              <a:rPr sz="1600" spc="-4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fields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983" y="90373"/>
            <a:ext cx="5608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MQTT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Message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Format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AF0AB436-3E8E-774E-97EA-3FAEAFE597E9}" type="datetime1">
              <a:rPr lang="en-US" smtClean="0"/>
              <a:t>9/1/26</a:t>
            </a:fld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3092" y="1270895"/>
            <a:ext cx="7345045" cy="2685415"/>
            <a:chOff x="533092" y="1199008"/>
            <a:chExt cx="7345045" cy="26854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092" y="1199008"/>
              <a:ext cx="7220631" cy="26849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12863" y="1344167"/>
              <a:ext cx="960119" cy="775970"/>
            </a:xfrm>
            <a:custGeom>
              <a:avLst/>
              <a:gdLst/>
              <a:ahLst/>
              <a:cxnLst/>
              <a:rect l="l" t="t" r="r" b="b"/>
              <a:pathLst>
                <a:path w="960120" h="775969">
                  <a:moveTo>
                    <a:pt x="0" y="387858"/>
                  </a:moveTo>
                  <a:lnTo>
                    <a:pt x="2816" y="345589"/>
                  </a:lnTo>
                  <a:lnTo>
                    <a:pt x="11070" y="304641"/>
                  </a:lnTo>
                  <a:lnTo>
                    <a:pt x="24469" y="265249"/>
                  </a:lnTo>
                  <a:lnTo>
                    <a:pt x="42720" y="227650"/>
                  </a:lnTo>
                  <a:lnTo>
                    <a:pt x="65531" y="192080"/>
                  </a:lnTo>
                  <a:lnTo>
                    <a:pt x="92610" y="158776"/>
                  </a:lnTo>
                  <a:lnTo>
                    <a:pt x="123663" y="127974"/>
                  </a:lnTo>
                  <a:lnTo>
                    <a:pt x="158398" y="99910"/>
                  </a:lnTo>
                  <a:lnTo>
                    <a:pt x="196522" y="74822"/>
                  </a:lnTo>
                  <a:lnTo>
                    <a:pt x="237744" y="52944"/>
                  </a:lnTo>
                  <a:lnTo>
                    <a:pt x="281769" y="34515"/>
                  </a:lnTo>
                  <a:lnTo>
                    <a:pt x="328306" y="19769"/>
                  </a:lnTo>
                  <a:lnTo>
                    <a:pt x="377061" y="8943"/>
                  </a:lnTo>
                  <a:lnTo>
                    <a:pt x="427744" y="2275"/>
                  </a:lnTo>
                  <a:lnTo>
                    <a:pt x="480059" y="0"/>
                  </a:lnTo>
                  <a:lnTo>
                    <a:pt x="532375" y="2275"/>
                  </a:lnTo>
                  <a:lnTo>
                    <a:pt x="583058" y="8943"/>
                  </a:lnTo>
                  <a:lnTo>
                    <a:pt x="631813" y="19769"/>
                  </a:lnTo>
                  <a:lnTo>
                    <a:pt x="678350" y="34515"/>
                  </a:lnTo>
                  <a:lnTo>
                    <a:pt x="722375" y="52944"/>
                  </a:lnTo>
                  <a:lnTo>
                    <a:pt x="763597" y="74822"/>
                  </a:lnTo>
                  <a:lnTo>
                    <a:pt x="801721" y="99910"/>
                  </a:lnTo>
                  <a:lnTo>
                    <a:pt x="836456" y="127974"/>
                  </a:lnTo>
                  <a:lnTo>
                    <a:pt x="867509" y="158776"/>
                  </a:lnTo>
                  <a:lnTo>
                    <a:pt x="894587" y="192080"/>
                  </a:lnTo>
                  <a:lnTo>
                    <a:pt x="917399" y="227650"/>
                  </a:lnTo>
                  <a:lnTo>
                    <a:pt x="935650" y="265249"/>
                  </a:lnTo>
                  <a:lnTo>
                    <a:pt x="949049" y="304641"/>
                  </a:lnTo>
                  <a:lnTo>
                    <a:pt x="957303" y="345589"/>
                  </a:lnTo>
                  <a:lnTo>
                    <a:pt x="960119" y="387858"/>
                  </a:lnTo>
                  <a:lnTo>
                    <a:pt x="957303" y="430126"/>
                  </a:lnTo>
                  <a:lnTo>
                    <a:pt x="949049" y="471074"/>
                  </a:lnTo>
                  <a:lnTo>
                    <a:pt x="935650" y="510466"/>
                  </a:lnTo>
                  <a:lnTo>
                    <a:pt x="917399" y="548065"/>
                  </a:lnTo>
                  <a:lnTo>
                    <a:pt x="894587" y="583635"/>
                  </a:lnTo>
                  <a:lnTo>
                    <a:pt x="867509" y="616939"/>
                  </a:lnTo>
                  <a:lnTo>
                    <a:pt x="836456" y="647741"/>
                  </a:lnTo>
                  <a:lnTo>
                    <a:pt x="801721" y="675805"/>
                  </a:lnTo>
                  <a:lnTo>
                    <a:pt x="763597" y="700893"/>
                  </a:lnTo>
                  <a:lnTo>
                    <a:pt x="722375" y="722771"/>
                  </a:lnTo>
                  <a:lnTo>
                    <a:pt x="678350" y="741200"/>
                  </a:lnTo>
                  <a:lnTo>
                    <a:pt x="631813" y="755946"/>
                  </a:lnTo>
                  <a:lnTo>
                    <a:pt x="583058" y="766772"/>
                  </a:lnTo>
                  <a:lnTo>
                    <a:pt x="532375" y="773440"/>
                  </a:lnTo>
                  <a:lnTo>
                    <a:pt x="480059" y="775716"/>
                  </a:lnTo>
                  <a:lnTo>
                    <a:pt x="427744" y="773440"/>
                  </a:lnTo>
                  <a:lnTo>
                    <a:pt x="377061" y="766772"/>
                  </a:lnTo>
                  <a:lnTo>
                    <a:pt x="328306" y="755946"/>
                  </a:lnTo>
                  <a:lnTo>
                    <a:pt x="281769" y="741200"/>
                  </a:lnTo>
                  <a:lnTo>
                    <a:pt x="237744" y="722771"/>
                  </a:lnTo>
                  <a:lnTo>
                    <a:pt x="196522" y="700893"/>
                  </a:lnTo>
                  <a:lnTo>
                    <a:pt x="158398" y="675805"/>
                  </a:lnTo>
                  <a:lnTo>
                    <a:pt x="123663" y="647741"/>
                  </a:lnTo>
                  <a:lnTo>
                    <a:pt x="92610" y="616939"/>
                  </a:lnTo>
                  <a:lnTo>
                    <a:pt x="65531" y="583635"/>
                  </a:lnTo>
                  <a:lnTo>
                    <a:pt x="42720" y="548065"/>
                  </a:lnTo>
                  <a:lnTo>
                    <a:pt x="24469" y="510466"/>
                  </a:lnTo>
                  <a:lnTo>
                    <a:pt x="11070" y="471074"/>
                  </a:lnTo>
                  <a:lnTo>
                    <a:pt x="2816" y="430126"/>
                  </a:lnTo>
                  <a:lnTo>
                    <a:pt x="0" y="387858"/>
                  </a:lnTo>
                  <a:close/>
                </a:path>
              </a:pathLst>
            </a:custGeom>
            <a:ln w="914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B9CF1-5B1F-16D3-1316-8988CC8D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8285D2-99F3-70D6-2E88-11F8AB7C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90373"/>
            <a:ext cx="1681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>
                <a:solidFill>
                  <a:srgbClr val="FF0000"/>
                </a:solidFill>
                <a:latin typeface="Arial"/>
                <a:cs typeface="Arial"/>
              </a:rPr>
              <a:t>Con</a:t>
            </a:r>
            <a:r>
              <a:rPr sz="4000" spc="-2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F30DCF50-67BC-4D4D-99C6-59A4D9660DCF}" type="datetime1">
              <a:rPr lang="en-US" smtClean="0"/>
              <a:t>9/1/26</a:t>
            </a:fld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80806" y="6628586"/>
            <a:ext cx="153670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9</a:t>
            </a:fld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9683" y="1027533"/>
          <a:ext cx="8731884" cy="5073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6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essage</a:t>
                      </a:r>
                      <a:r>
                        <a:rPr sz="1200" b="1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header</a:t>
                      </a:r>
                      <a:r>
                        <a:rPr sz="1200" b="1" spc="-10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4949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r>
                        <a:rPr sz="1200" b="1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200" b="1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494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 rowSpan="8"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Message</a:t>
                      </a:r>
                      <a:r>
                        <a:rPr sz="1000" b="1" spc="-5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Type</a:t>
                      </a:r>
                      <a:r>
                        <a:rPr sz="1000" b="1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(4</a:t>
                      </a:r>
                      <a:r>
                        <a:rPr sz="1000" b="1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bits)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>
                          <a:latin typeface="Arial MT"/>
                          <a:cs typeface="Arial MT"/>
                        </a:rPr>
                        <a:t>14</a:t>
                      </a:r>
                      <a:r>
                        <a:rPr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>
                          <a:latin typeface="Arial MT"/>
                          <a:cs typeface="Arial MT"/>
                        </a:rPr>
                        <a:t>message</a:t>
                      </a:r>
                      <a:r>
                        <a:rPr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>
                          <a:latin typeface="Arial MT"/>
                          <a:cs typeface="Arial MT"/>
                        </a:rPr>
                        <a:t>types,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sz="1400">
                          <a:latin typeface="Arial MT"/>
                          <a:cs typeface="Arial MT"/>
                        </a:rPr>
                        <a:t>2</a:t>
                      </a:r>
                      <a:r>
                        <a:rPr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>
                          <a:latin typeface="Arial MT"/>
                          <a:cs typeface="Arial MT"/>
                        </a:rPr>
                        <a:t>reserved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0:</a:t>
                      </a:r>
                      <a:r>
                        <a:rPr sz="1000" b="1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Reserved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0">
                          <a:latin typeface="Arial"/>
                          <a:cs typeface="Arial"/>
                        </a:rPr>
                        <a:t>8</a:t>
                      </a:r>
                      <a:r>
                        <a:rPr sz="1000" b="1">
                          <a:latin typeface="Arial"/>
                          <a:cs typeface="Arial"/>
                        </a:rPr>
                        <a:t>: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S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UB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S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CRI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BE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1:</a:t>
                      </a:r>
                      <a:r>
                        <a:rPr sz="10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CONNECT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9:</a:t>
                      </a:r>
                      <a:r>
                        <a:rPr sz="1000" b="1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SUBACK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2:</a:t>
                      </a:r>
                      <a:r>
                        <a:rPr sz="1000" b="1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CONNACK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10:</a:t>
                      </a:r>
                      <a:r>
                        <a:rPr sz="10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UNSUBSCRIBE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3:</a:t>
                      </a:r>
                      <a:r>
                        <a:rPr sz="10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PUBLISH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11:</a:t>
                      </a:r>
                      <a:r>
                        <a:rPr sz="1000" b="1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UNSUBACK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4: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 PUBACK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(Publish</a:t>
                      </a:r>
                      <a:r>
                        <a:rPr sz="1000" b="1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ACK)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12:</a:t>
                      </a:r>
                      <a:r>
                        <a:rPr sz="1000" b="1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PINGREQ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5: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PUBREC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(Publish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Received)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13:</a:t>
                      </a:r>
                      <a:r>
                        <a:rPr sz="1000" b="1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PINGRESP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6: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 PUBREL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(Publish</a:t>
                      </a:r>
                      <a:r>
                        <a:rPr sz="1000" b="1" spc="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Release)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14:</a:t>
                      </a:r>
                      <a:r>
                        <a:rPr sz="1000" b="1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DISCONNECT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7:</a:t>
                      </a:r>
                      <a:r>
                        <a:rPr sz="1000" b="1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PUBCOMP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(Publish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Complete)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15:</a:t>
                      </a:r>
                      <a:r>
                        <a:rPr sz="1000" b="1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Reserved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9759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DUP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(1</a:t>
                      </a:r>
                      <a:r>
                        <a:rPr sz="1000" b="1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bit)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9230" marR="388620">
                        <a:lnSpc>
                          <a:spcPct val="118000"/>
                        </a:lnSpc>
                        <a:spcBef>
                          <a:spcPts val="14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Duplicate</a:t>
                      </a:r>
                      <a:r>
                        <a:rPr sz="1000" b="1" spc="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flag.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Indicates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receiver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that</a:t>
                      </a:r>
                      <a:r>
                        <a:rPr sz="1000" b="1" spc="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this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may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have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already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been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received.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1: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Client</a:t>
                      </a:r>
                      <a:r>
                        <a:rPr sz="1000" b="1" spc="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or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server (broker)</a:t>
                      </a:r>
                      <a:r>
                        <a:rPr sz="1000" b="1" spc="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re-delivers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a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PUBLISH,</a:t>
                      </a:r>
                      <a:r>
                        <a:rPr sz="1000" b="1" spc="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PUBREL,</a:t>
                      </a:r>
                      <a:r>
                        <a:rPr sz="1000" b="1" spc="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SUBSCRIBE</a:t>
                      </a:r>
                      <a:r>
                        <a:rPr sz="1000" b="1" spc="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or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 UNSUBSCRIBE</a:t>
                      </a:r>
                      <a:r>
                        <a:rPr sz="1000" b="1" spc="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 </a:t>
                      </a:r>
                      <a:r>
                        <a:rPr sz="1000" b="1" spc="-26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(duplicate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message).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027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QoS</a:t>
                      </a:r>
                      <a:r>
                        <a:rPr sz="1000" b="1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Level</a:t>
                      </a:r>
                      <a:r>
                        <a:rPr sz="1000" b="1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(2</a:t>
                      </a:r>
                      <a:r>
                        <a:rPr sz="1000" b="1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bits)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Indicates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level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of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delivery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assurance</a:t>
                      </a:r>
                      <a:r>
                        <a:rPr sz="1000" b="1" spc="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of 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a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PUBLISH</a:t>
                      </a:r>
                      <a:r>
                        <a:rPr sz="1000" b="1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message.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0: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At-most-once</a:t>
                      </a:r>
                      <a:r>
                        <a:rPr sz="1000" b="1" spc="2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delivery,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no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guarantees,</a:t>
                      </a:r>
                      <a:r>
                        <a:rPr sz="1000" b="1" spc="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«Fire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Forget».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89230" marR="3481704">
                        <a:lnSpc>
                          <a:spcPct val="120000"/>
                        </a:lnSpc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1: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At-least-once</a:t>
                      </a:r>
                      <a:r>
                        <a:rPr sz="1000" b="1" spc="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delivery,</a:t>
                      </a:r>
                      <a:r>
                        <a:rPr sz="1000" b="1" spc="2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acknowledged</a:t>
                      </a:r>
                      <a:r>
                        <a:rPr sz="1000" b="1" spc="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delivery. </a:t>
                      </a:r>
                      <a:r>
                        <a:rPr sz="1000" b="1" spc="-26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2: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 Exactly-once</a:t>
                      </a:r>
                      <a:r>
                        <a:rPr sz="1000" b="1" spc="2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delivery.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20">
                          <a:latin typeface="Arial"/>
                          <a:cs typeface="Arial"/>
                        </a:rPr>
                        <a:t>RETAIN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(1</a:t>
                      </a:r>
                      <a:r>
                        <a:rPr sz="1000" b="1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bit)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9230" marR="3289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1: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Instructs</a:t>
                      </a:r>
                      <a:r>
                        <a:rPr sz="1000" b="1" spc="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server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retain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last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received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PUBLISH</a:t>
                      </a:r>
                      <a:r>
                        <a:rPr sz="1000" b="1" spc="3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deliver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it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as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a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first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to </a:t>
                      </a:r>
                      <a:r>
                        <a:rPr sz="1000" b="1" spc="-26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new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subscriptions.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Remaining</a:t>
                      </a:r>
                      <a:r>
                        <a:rPr sz="1000" b="1" spc="1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Length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(1-4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bytes)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9230" marR="2908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5">
                          <a:latin typeface="Arial"/>
                          <a:cs typeface="Arial"/>
                        </a:rPr>
                        <a:t>Indicates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number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of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remaining</a:t>
                      </a:r>
                      <a:r>
                        <a:rPr sz="1000" b="1" spc="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>
                          <a:latin typeface="Arial"/>
                          <a:cs typeface="Arial"/>
                        </a:rPr>
                        <a:t>bytes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 in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message,</a:t>
                      </a:r>
                      <a:r>
                        <a:rPr sz="1000" b="1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i.e.</a:t>
                      </a:r>
                      <a:r>
                        <a:rPr sz="1000" b="1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length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of</a:t>
                      </a:r>
                      <a:r>
                        <a:rPr sz="1000" b="1" spc="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 (optional)</a:t>
                      </a:r>
                      <a:r>
                        <a:rPr sz="1000" b="1" spc="4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variable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length </a:t>
                      </a:r>
                      <a:r>
                        <a:rPr sz="1000" b="1" spc="-26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header</a:t>
                      </a:r>
                      <a:r>
                        <a:rPr sz="1000" b="1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(optional)</a:t>
                      </a:r>
                      <a:r>
                        <a:rPr sz="1000" b="1" spc="45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5">
                          <a:latin typeface="Arial"/>
                          <a:cs typeface="Arial"/>
                        </a:rPr>
                        <a:t>payload.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98BAD-AC55-B64E-A9DB-63D69E62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8BC6-BF3C-0987-CEDD-5878F6D0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21157"/>
            <a:ext cx="3740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Message</a:t>
            </a:r>
            <a:r>
              <a:rPr sz="4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7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75" y="1309719"/>
            <a:ext cx="8631629" cy="46817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D6B4-619C-414E-35EA-C5098F68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9AB6904A-59F1-8B4B-BD08-4D443D338277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1BBF-49DE-E6D2-C662-194D6C7A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E69A-CAAB-3281-2395-77226595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386" y="1028445"/>
            <a:ext cx="7264400" cy="172932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>
                <a:latin typeface="Calibri"/>
                <a:cs typeface="Calibri"/>
              </a:rPr>
              <a:t>RETAIN=1</a:t>
            </a:r>
            <a:r>
              <a:rPr sz="1400" b="1" spc="-8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375F92"/>
                </a:solidFill>
                <a:latin typeface="Calibri"/>
                <a:cs typeface="Calibri"/>
              </a:rPr>
              <a:t>PUBLISH</a:t>
            </a:r>
            <a:r>
              <a:rPr sz="1400" spc="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instructs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server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keep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for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this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topic.</a:t>
            </a:r>
            <a:endParaRPr sz="1400">
              <a:latin typeface="Calibri"/>
              <a:cs typeface="Calibri"/>
            </a:endParaRPr>
          </a:p>
          <a:p>
            <a:pPr marL="245745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When</a:t>
            </a:r>
            <a:r>
              <a:rPr sz="1400">
                <a:latin typeface="Calibri"/>
                <a:cs typeface="Calibri"/>
              </a:rPr>
              <a:t> a</a:t>
            </a:r>
            <a:r>
              <a:rPr sz="1400" spc="-15">
                <a:latin typeface="Calibri"/>
                <a:cs typeface="Calibri"/>
              </a:rPr>
              <a:t> new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client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subscribes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</a:t>
            </a:r>
            <a:r>
              <a:rPr sz="1400" spc="-10">
                <a:latin typeface="Calibri"/>
                <a:cs typeface="Calibri"/>
              </a:rPr>
              <a:t> the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topic,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 server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sends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retained</a:t>
            </a:r>
            <a:r>
              <a:rPr sz="1400" spc="1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quickly</a:t>
            </a:r>
            <a:r>
              <a:rPr sz="1400" b="1" spc="-1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311150" indent="-287020">
              <a:lnSpc>
                <a:spcPct val="100000"/>
              </a:lnSpc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1400" b="1" spc="-7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400" b="1" spc="-3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00" b="1" spc="-25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400" b="1" spc="-4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400" b="1" spc="-25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400" b="1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400" b="1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C00000"/>
                </a:solidFill>
                <a:latin typeface="Calibri"/>
                <a:cs typeface="Calibri"/>
              </a:rPr>
              <a:t>appli</a:t>
            </a:r>
            <a:r>
              <a:rPr sz="1400" b="1" spc="-25">
                <a:solidFill>
                  <a:srgbClr val="C00000"/>
                </a:solidFill>
                <a:latin typeface="Calibri"/>
                <a:cs typeface="Calibri"/>
              </a:rPr>
              <a:t>ca</a:t>
            </a:r>
            <a:r>
              <a:rPr sz="1400" b="1" spc="-1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400" b="1" spc="-1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400" b="1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400" b="1" spc="1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400" b="1" spc="-15">
                <a:solidFill>
                  <a:srgbClr val="C00000"/>
                </a:solidFill>
                <a:latin typeface="Calibri"/>
                <a:cs typeface="Calibri"/>
              </a:rPr>
              <a:t>ce</a:t>
            </a:r>
            <a:r>
              <a:rPr sz="1400" b="1" spc="-10">
                <a:solidFill>
                  <a:srgbClr val="C00000"/>
                </a:solidFill>
                <a:latin typeface="Calibri"/>
                <a:cs typeface="Calibri"/>
              </a:rPr>
              <a:t>nari</a:t>
            </a:r>
            <a:r>
              <a:rPr sz="1400" b="1" spc="-1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400" b="1" spc="-1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4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481965" lvl="1" indent="-215900">
              <a:lnSpc>
                <a:spcPct val="100000"/>
              </a:lnSpc>
              <a:buSzPct val="42857"/>
              <a:buFont typeface="Wingdings"/>
              <a:buChar char=""/>
              <a:tabLst>
                <a:tab pos="481965" algn="l"/>
                <a:tab pos="482600" algn="l"/>
              </a:tabLst>
            </a:pPr>
            <a:r>
              <a:rPr sz="1400" spc="-15">
                <a:latin typeface="Calibri"/>
                <a:cs typeface="Calibri"/>
              </a:rPr>
              <a:t>Clients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publish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only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changes</a:t>
            </a:r>
            <a:r>
              <a:rPr sz="1400" b="1" spc="-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 </a:t>
            </a:r>
            <a:r>
              <a:rPr sz="1400" spc="-20">
                <a:latin typeface="Calibri"/>
                <a:cs typeface="Calibri"/>
              </a:rPr>
              <a:t>data,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so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subscribers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receive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</a:t>
            </a:r>
            <a:r>
              <a:rPr sz="1400" spc="-15">
                <a:latin typeface="Calibri"/>
                <a:cs typeface="Calibri"/>
              </a:rPr>
              <a:t> last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known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good</a:t>
            </a:r>
            <a:r>
              <a:rPr sz="1400" spc="26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value</a:t>
            </a:r>
            <a:r>
              <a:rPr sz="1400" b="1" spc="-15">
                <a:solidFill>
                  <a:srgbClr val="3333CC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311150" indent="-287020">
              <a:lnSpc>
                <a:spcPct val="100000"/>
              </a:lnSpc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1400" b="1" spc="-15">
                <a:solidFill>
                  <a:srgbClr val="1C1C1C"/>
                </a:solidFill>
                <a:latin typeface="Calibri"/>
                <a:cs typeface="Calibri"/>
              </a:rPr>
              <a:t>Example:</a:t>
            </a:r>
            <a:endParaRPr sz="1400">
              <a:latin typeface="Calibri"/>
              <a:cs typeface="Calibri"/>
            </a:endParaRPr>
          </a:p>
          <a:p>
            <a:pPr marL="481965" lvl="1" indent="-215900">
              <a:lnSpc>
                <a:spcPct val="100000"/>
              </a:lnSpc>
              <a:buSzPct val="42857"/>
              <a:buFont typeface="Wingdings"/>
              <a:buChar char=""/>
              <a:tabLst>
                <a:tab pos="481965" algn="l"/>
                <a:tab pos="482600" algn="l"/>
              </a:tabLst>
            </a:pPr>
            <a:r>
              <a:rPr sz="1400" spc="-20">
                <a:latin typeface="Calibri"/>
                <a:cs typeface="Calibri"/>
              </a:rPr>
              <a:t>Subscribers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receive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375F92"/>
                </a:solidFill>
                <a:latin typeface="Calibri"/>
                <a:cs typeface="Calibri"/>
              </a:rPr>
              <a:t>last</a:t>
            </a:r>
            <a:r>
              <a:rPr sz="1400" spc="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375F92"/>
                </a:solidFill>
                <a:latin typeface="Calibri"/>
                <a:cs typeface="Calibri"/>
              </a:rPr>
              <a:t>known</a:t>
            </a:r>
            <a:r>
              <a:rPr sz="1400" spc="-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375F92"/>
                </a:solidFill>
                <a:latin typeface="Calibri"/>
                <a:cs typeface="Calibri"/>
              </a:rPr>
              <a:t>temperature</a:t>
            </a:r>
            <a:r>
              <a:rPr sz="1400" spc="3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375F92"/>
                </a:solidFill>
                <a:latin typeface="Calibri"/>
                <a:cs typeface="Calibri"/>
              </a:rPr>
              <a:t>value</a:t>
            </a:r>
            <a:r>
              <a:rPr sz="1400" spc="-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from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the </a:t>
            </a:r>
            <a:r>
              <a:rPr sz="1400" spc="-20">
                <a:latin typeface="Calibri"/>
                <a:cs typeface="Calibri"/>
              </a:rPr>
              <a:t>temperature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data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topic</a:t>
            </a:r>
            <a:r>
              <a:rPr sz="1400" b="1" spc="-15">
                <a:solidFill>
                  <a:srgbClr val="375F92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481965" lvl="1" indent="-2159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42857"/>
              <a:buFont typeface="Wingdings"/>
              <a:buChar char=""/>
              <a:tabLst>
                <a:tab pos="481965" algn="l"/>
                <a:tab pos="482600" algn="l"/>
              </a:tabLst>
            </a:pPr>
            <a:r>
              <a:rPr sz="1400" spc="-35">
                <a:solidFill>
                  <a:srgbClr val="375F92"/>
                </a:solidFill>
                <a:latin typeface="Calibri"/>
                <a:cs typeface="Calibri"/>
              </a:rPr>
              <a:t>RETAIN=1</a:t>
            </a:r>
            <a:r>
              <a:rPr sz="1400" spc="-8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indicates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subscriber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that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may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have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been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published</a:t>
            </a:r>
            <a:r>
              <a:rPr sz="1400" spc="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some</a:t>
            </a:r>
            <a:r>
              <a:rPr sz="1400" spc="-15">
                <a:latin typeface="Calibri"/>
                <a:cs typeface="Calibri"/>
              </a:rPr>
              <a:t> time</a:t>
            </a:r>
            <a:r>
              <a:rPr sz="1400" spc="45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ago</a:t>
            </a:r>
            <a:r>
              <a:rPr sz="1400" b="1" spc="-15">
                <a:solidFill>
                  <a:srgbClr val="375F92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32334"/>
            <a:ext cx="1852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0">
                <a:solidFill>
                  <a:srgbClr val="FF0000"/>
                </a:solidFill>
                <a:latin typeface="Arial"/>
                <a:cs typeface="Arial"/>
              </a:rPr>
              <a:t>RETAIN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05382DC-DCE4-1D42-9711-C1ED2186F0F2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l="-51" t="-1675" r="-79" b="2039"/>
          <a:stretch/>
        </p:blipFill>
        <p:spPr>
          <a:xfrm>
            <a:off x="662576" y="3235147"/>
            <a:ext cx="7225812" cy="257070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77856-0553-E87E-7FDD-057191E6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375A8-AF29-3469-3B0F-1478D62F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90373"/>
            <a:ext cx="5594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Remaining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Length</a:t>
            </a:r>
            <a:r>
              <a:rPr sz="4000" spc="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5">
                <a:solidFill>
                  <a:srgbClr val="001F5F"/>
                </a:solidFill>
                <a:latin typeface="Arial"/>
                <a:cs typeface="Arial"/>
              </a:rPr>
              <a:t>(RL)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4DB0FD14-49CC-2049-B7D4-928D62F1D992}" type="datetime1">
              <a:rPr lang="en-US" smtClean="0"/>
              <a:t>9/1/26</a:t>
            </a:fld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3252" y="3828288"/>
            <a:ext cx="2106295" cy="280670"/>
          </a:xfrm>
          <a:custGeom>
            <a:avLst/>
            <a:gdLst/>
            <a:ahLst/>
            <a:cxnLst/>
            <a:rect l="l" t="t" r="r" b="b"/>
            <a:pathLst>
              <a:path w="2106295" h="280670">
                <a:moveTo>
                  <a:pt x="0" y="280416"/>
                </a:moveTo>
                <a:lnTo>
                  <a:pt x="1836" y="225825"/>
                </a:lnTo>
                <a:lnTo>
                  <a:pt x="6845" y="181260"/>
                </a:lnTo>
                <a:lnTo>
                  <a:pt x="14273" y="151221"/>
                </a:lnTo>
                <a:lnTo>
                  <a:pt x="23367" y="140207"/>
                </a:lnTo>
                <a:lnTo>
                  <a:pt x="1029716" y="140207"/>
                </a:lnTo>
                <a:lnTo>
                  <a:pt x="1038832" y="129194"/>
                </a:lnTo>
                <a:lnTo>
                  <a:pt x="1046257" y="99155"/>
                </a:lnTo>
                <a:lnTo>
                  <a:pt x="1051254" y="54590"/>
                </a:lnTo>
                <a:lnTo>
                  <a:pt x="1053084" y="0"/>
                </a:lnTo>
                <a:lnTo>
                  <a:pt x="1054913" y="54590"/>
                </a:lnTo>
                <a:lnTo>
                  <a:pt x="1059910" y="99155"/>
                </a:lnTo>
                <a:lnTo>
                  <a:pt x="1067335" y="129194"/>
                </a:lnTo>
                <a:lnTo>
                  <a:pt x="1076452" y="140207"/>
                </a:lnTo>
                <a:lnTo>
                  <a:pt x="2082800" y="140207"/>
                </a:lnTo>
                <a:lnTo>
                  <a:pt x="2091916" y="151221"/>
                </a:lnTo>
                <a:lnTo>
                  <a:pt x="2099341" y="181260"/>
                </a:lnTo>
                <a:lnTo>
                  <a:pt x="2104338" y="225825"/>
                </a:lnTo>
                <a:lnTo>
                  <a:pt x="2106167" y="280416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0078" y="1003554"/>
            <a:ext cx="8169909" cy="308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58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62585" algn="l"/>
                <a:tab pos="363220" algn="l"/>
              </a:tabLst>
            </a:pPr>
            <a:r>
              <a:rPr sz="1600" spc="-15">
                <a:latin typeface="Calibri"/>
                <a:cs typeface="Calibri"/>
              </a:rPr>
              <a:t>The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i="1" spc="-15">
                <a:latin typeface="Calibri"/>
                <a:cs typeface="Calibri"/>
              </a:rPr>
              <a:t>remaining</a:t>
            </a:r>
            <a:r>
              <a:rPr sz="1600" i="1" spc="40">
                <a:latin typeface="Calibri"/>
                <a:cs typeface="Calibri"/>
              </a:rPr>
              <a:t> </a:t>
            </a:r>
            <a:r>
              <a:rPr sz="1600" i="1" spc="-15">
                <a:latin typeface="Calibri"/>
                <a:cs typeface="Calibri"/>
              </a:rPr>
              <a:t>length</a:t>
            </a:r>
            <a:r>
              <a:rPr sz="1600" i="1" spc="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field </a:t>
            </a:r>
            <a:r>
              <a:rPr sz="1600" spc="-20">
                <a:latin typeface="Calibri"/>
                <a:cs typeface="Calibri"/>
              </a:rPr>
              <a:t>encodes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sum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of</a:t>
            </a:r>
            <a:r>
              <a:rPr sz="1600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the</a:t>
            </a:r>
            <a:r>
              <a:rPr sz="1600" spc="-2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lengths</a:t>
            </a:r>
            <a:r>
              <a:rPr sz="1600" spc="25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of</a:t>
            </a:r>
            <a:r>
              <a:rPr sz="1600" spc="-1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737235" lvl="1" indent="-217170">
              <a:lnSpc>
                <a:spcPct val="100000"/>
              </a:lnSpc>
              <a:buAutoNum type="arabicPeriod"/>
              <a:tabLst>
                <a:tab pos="737870" algn="l"/>
              </a:tabLst>
            </a:pPr>
            <a:r>
              <a:rPr sz="1600" spc="-15">
                <a:latin typeface="Calibri"/>
                <a:cs typeface="Calibri"/>
              </a:rPr>
              <a:t>(Optional)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variable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length</a:t>
            </a:r>
            <a:r>
              <a:rPr sz="1600" spc="14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header</a:t>
            </a:r>
            <a:endParaRPr sz="1600">
              <a:latin typeface="Calibri"/>
              <a:cs typeface="Calibri"/>
            </a:endParaRPr>
          </a:p>
          <a:p>
            <a:pPr marL="737235" lvl="1" indent="-217170">
              <a:lnSpc>
                <a:spcPct val="100000"/>
              </a:lnSpc>
              <a:buAutoNum type="arabicPeriod"/>
              <a:tabLst>
                <a:tab pos="737870" algn="l"/>
              </a:tabLst>
            </a:pPr>
            <a:r>
              <a:rPr sz="1600" spc="-15">
                <a:latin typeface="Calibri"/>
                <a:cs typeface="Calibri"/>
              </a:rPr>
              <a:t>(Optional)</a:t>
            </a:r>
            <a:r>
              <a:rPr sz="1600" spc="9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variable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length</a:t>
            </a:r>
            <a:r>
              <a:rPr sz="1600" spc="1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payload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alibri"/>
              <a:buAutoNum type="arabicPeriod"/>
            </a:pPr>
            <a:endParaRPr sz="1550">
              <a:latin typeface="Calibri"/>
              <a:cs typeface="Calibri"/>
            </a:endParaRPr>
          </a:p>
          <a:p>
            <a:pPr marL="362585" indent="-287020">
              <a:lnSpc>
                <a:spcPct val="100000"/>
              </a:lnSpc>
              <a:buFont typeface="Arial MT"/>
              <a:buChar char="•"/>
              <a:tabLst>
                <a:tab pos="362585" algn="l"/>
                <a:tab pos="363220" algn="l"/>
              </a:tabLst>
            </a:pPr>
            <a:r>
              <a:rPr sz="1600" spc="-105">
                <a:latin typeface="Calibri"/>
                <a:cs typeface="Calibri"/>
              </a:rPr>
              <a:t>To</a:t>
            </a:r>
            <a:r>
              <a:rPr sz="1600" spc="-14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save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bits,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i="1" spc="-10">
                <a:latin typeface="Calibri"/>
                <a:cs typeface="Calibri"/>
              </a:rPr>
              <a:t>RL</a:t>
            </a:r>
            <a:r>
              <a:rPr sz="1600" i="1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variable</a:t>
            </a:r>
            <a:r>
              <a:rPr sz="1600" spc="-3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length</a:t>
            </a:r>
            <a:r>
              <a:rPr sz="16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field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with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1</a:t>
            </a:r>
            <a:r>
              <a:rPr sz="1600" spc="-15">
                <a:latin typeface="Calibri"/>
                <a:cs typeface="Calibri"/>
              </a:rPr>
              <a:t> to </a:t>
            </a:r>
            <a:r>
              <a:rPr sz="1600" spc="-5">
                <a:latin typeface="Calibri"/>
                <a:cs typeface="Calibri"/>
              </a:rPr>
              <a:t>4</a:t>
            </a:r>
            <a:r>
              <a:rPr sz="1600" spc="3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bytes.</a:t>
            </a:r>
            <a:endParaRPr sz="1600">
              <a:latin typeface="Calibri"/>
              <a:cs typeface="Calibri"/>
            </a:endParaRPr>
          </a:p>
          <a:p>
            <a:pPr marL="819785" indent="-287020">
              <a:lnSpc>
                <a:spcPct val="100000"/>
              </a:lnSpc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1600" spc="-15">
                <a:latin typeface="Calibri"/>
                <a:cs typeface="Calibri"/>
              </a:rPr>
              <a:t>The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most</a:t>
            </a:r>
            <a:r>
              <a:rPr sz="1600" spc="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significant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bit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(msb)</a:t>
            </a:r>
            <a:r>
              <a:rPr sz="1600" spc="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field byte</a:t>
            </a:r>
            <a:r>
              <a:rPr sz="16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has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meaning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continuation</a:t>
            </a:r>
            <a:r>
              <a:rPr sz="16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bit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(CB)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8197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1600" spc="-10">
                <a:latin typeface="Calibri"/>
                <a:cs typeface="Calibri"/>
              </a:rPr>
              <a:t>If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more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bytes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40">
                <a:latin typeface="Calibri"/>
                <a:cs typeface="Calibri"/>
              </a:rPr>
              <a:t>follow,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it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20">
                <a:latin typeface="Calibri"/>
                <a:cs typeface="Calibri"/>
              </a:rPr>
              <a:t> set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 spc="12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</a:pPr>
            <a:r>
              <a:rPr sz="1600" spc="-10">
                <a:latin typeface="Calibri"/>
                <a:cs typeface="Calibri"/>
              </a:rPr>
              <a:t>RL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encoded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as::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a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*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128</a:t>
            </a:r>
            <a:r>
              <a:rPr sz="1575" b="1" spc="-7" baseline="21164">
                <a:latin typeface="Calibri"/>
                <a:cs typeface="Calibri"/>
              </a:rPr>
              <a:t>0</a:t>
            </a:r>
            <a:r>
              <a:rPr sz="1575" b="1" spc="37" baseline="21164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+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b * 128</a:t>
            </a:r>
            <a:r>
              <a:rPr sz="1575" b="1" spc="-7" baseline="21164">
                <a:latin typeface="Calibri"/>
                <a:cs typeface="Calibri"/>
              </a:rPr>
              <a:t>1</a:t>
            </a:r>
            <a:r>
              <a:rPr sz="1575" b="1" spc="15" baseline="21164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+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c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* 128</a:t>
            </a:r>
            <a:r>
              <a:rPr sz="1575" b="1" spc="-7" baseline="21164">
                <a:latin typeface="Calibri"/>
                <a:cs typeface="Calibri"/>
              </a:rPr>
              <a:t>2</a:t>
            </a:r>
            <a:r>
              <a:rPr sz="1575" b="1" spc="37" baseline="21164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+</a:t>
            </a:r>
            <a:r>
              <a:rPr sz="1600" b="1" spc="-1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d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* 128</a:t>
            </a:r>
            <a:r>
              <a:rPr sz="1575" b="1" spc="-7" baseline="21164">
                <a:latin typeface="Calibri"/>
                <a:cs typeface="Calibri"/>
              </a:rPr>
              <a:t>3</a:t>
            </a:r>
            <a:endParaRPr sz="1575" baseline="21164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and placed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into </a:t>
            </a:r>
            <a:r>
              <a:rPr sz="1600" spc="-15">
                <a:latin typeface="Calibri"/>
                <a:cs typeface="Calibri"/>
              </a:rPr>
              <a:t>the </a:t>
            </a:r>
            <a:r>
              <a:rPr sz="1600" spc="-10">
                <a:latin typeface="Calibri"/>
                <a:cs typeface="Calibri"/>
              </a:rPr>
              <a:t>RL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field bytes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as</a:t>
            </a:r>
            <a:r>
              <a:rPr sz="1600" spc="7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follows:</a:t>
            </a:r>
            <a:endParaRPr sz="1600">
              <a:latin typeface="Calibri"/>
              <a:cs typeface="Calibri"/>
            </a:endParaRPr>
          </a:p>
          <a:p>
            <a:pPr marL="1583690">
              <a:lnSpc>
                <a:spcPct val="100000"/>
              </a:lnSpc>
              <a:spcBef>
                <a:spcPts val="1270"/>
              </a:spcBef>
            </a:pPr>
            <a:r>
              <a:rPr sz="1400">
                <a:latin typeface="Arial MT"/>
                <a:cs typeface="Arial MT"/>
              </a:rPr>
              <a:t>7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bits</a:t>
            </a:r>
            <a:endParaRPr sz="1400">
              <a:latin typeface="Arial MT"/>
              <a:cs typeface="Arial MT"/>
            </a:endParaRPr>
          </a:p>
          <a:p>
            <a:pPr marL="208915">
              <a:lnSpc>
                <a:spcPct val="100000"/>
              </a:lnSpc>
              <a:spcBef>
                <a:spcPts val="280"/>
              </a:spcBef>
            </a:pPr>
            <a:r>
              <a:rPr sz="1400" spc="-10">
                <a:solidFill>
                  <a:srgbClr val="375F92"/>
                </a:solidFill>
                <a:latin typeface="Calibri"/>
                <a:cs typeface="Calibri"/>
              </a:rPr>
              <a:t>msb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255" y="4108703"/>
            <a:ext cx="8856345" cy="1466215"/>
            <a:chOff x="143255" y="4108703"/>
            <a:chExt cx="8856345" cy="14662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55" y="4108703"/>
              <a:ext cx="7191756" cy="12390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4020" y="4526279"/>
              <a:ext cx="3505200" cy="104851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4022" y="5752664"/>
            <a:ext cx="7065406" cy="587393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4DC3A2-1632-4110-8630-2BC2BDA0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C452F57-9620-688B-CFE4-5FC01738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132334"/>
            <a:ext cx="2647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MQTT</a:t>
            </a:r>
            <a:r>
              <a:rPr sz="4000" spc="-8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QoS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DFB56758-F3D3-EB42-A081-F76FC1EA0E6F}" type="datetime1">
              <a:rPr lang="en-US" smtClean="0"/>
              <a:t>9/1/26</a:t>
            </a:fld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4525" y="1100454"/>
            <a:ext cx="82213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95"/>
              </a:spcBef>
              <a:buSzPct val="43750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600" spc="-25">
                <a:latin typeface="Calibri"/>
                <a:cs typeface="Calibri"/>
              </a:rPr>
              <a:t>Even </a:t>
            </a:r>
            <a:r>
              <a:rPr sz="1600" spc="-15">
                <a:latin typeface="Calibri"/>
                <a:cs typeface="Calibri"/>
              </a:rPr>
              <a:t>though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35">
                <a:latin typeface="Calibri"/>
                <a:cs typeface="Calibri"/>
              </a:rPr>
              <a:t>TCP/IP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provides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guaranteed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data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40">
                <a:latin typeface="Calibri"/>
                <a:cs typeface="Calibri"/>
              </a:rPr>
              <a:t>delivery,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data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 b="1" spc="-15">
                <a:latin typeface="Calibri"/>
                <a:cs typeface="Calibri"/>
              </a:rPr>
              <a:t>loss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can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still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occur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if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2C12F1"/>
                </a:solidFill>
                <a:latin typeface="Calibri"/>
                <a:cs typeface="Calibri"/>
              </a:rPr>
              <a:t>TCP</a:t>
            </a:r>
            <a:r>
              <a:rPr sz="1600" spc="2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connection </a:t>
            </a:r>
            <a:r>
              <a:rPr sz="1600" spc="-35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2C12F1"/>
                </a:solidFill>
                <a:latin typeface="Calibri"/>
                <a:cs typeface="Calibri"/>
              </a:rPr>
              <a:t>breaks</a:t>
            </a:r>
            <a:r>
              <a:rPr sz="1600" spc="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down</a:t>
            </a:r>
            <a:r>
              <a:rPr sz="1600" spc="2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and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messages</a:t>
            </a:r>
            <a:r>
              <a:rPr sz="1600" spc="3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in</a:t>
            </a:r>
            <a:r>
              <a:rPr sz="1600" spc="-2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transit</a:t>
            </a:r>
            <a:r>
              <a:rPr sz="1600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2C12F1"/>
                </a:solidFill>
                <a:latin typeface="Calibri"/>
                <a:cs typeface="Calibri"/>
              </a:rPr>
              <a:t>are</a:t>
            </a:r>
            <a:r>
              <a:rPr sz="1600" spc="114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lost</a:t>
            </a:r>
            <a:r>
              <a:rPr sz="1600" spc="-15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"/>
            </a:pPr>
            <a:endParaRPr sz="155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buSzPct val="43750"/>
              <a:buFont typeface="Wingdings"/>
              <a:buChar char=""/>
              <a:tabLst>
                <a:tab pos="228600" algn="l"/>
                <a:tab pos="229235" algn="l"/>
              </a:tabLst>
            </a:pPr>
            <a:r>
              <a:rPr sz="1600" spc="-25">
                <a:latin typeface="Calibri"/>
                <a:cs typeface="Calibri"/>
              </a:rPr>
              <a:t>Therefore,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MQTT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adds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3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b="1" spc="-15">
                <a:latin typeface="Calibri"/>
                <a:cs typeface="Calibri"/>
              </a:rPr>
              <a:t>quality</a:t>
            </a:r>
            <a:r>
              <a:rPr sz="1600" b="1" spc="25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of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 b="1" spc="-15">
                <a:latin typeface="Calibri"/>
                <a:cs typeface="Calibri"/>
              </a:rPr>
              <a:t>service (QoS)</a:t>
            </a:r>
            <a:r>
              <a:rPr sz="1600" b="1" spc="-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levels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on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top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</a:t>
            </a:r>
            <a:r>
              <a:rPr sz="1600" spc="275">
                <a:latin typeface="Calibri"/>
                <a:cs typeface="Calibri"/>
              </a:rPr>
              <a:t> </a:t>
            </a:r>
            <a:r>
              <a:rPr sz="1600" spc="-55">
                <a:latin typeface="Calibri"/>
                <a:cs typeface="Calibri"/>
              </a:rPr>
              <a:t>TCP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3336" y="2276855"/>
            <a:ext cx="5234940" cy="4117975"/>
            <a:chOff x="783336" y="2276855"/>
            <a:chExt cx="5234940" cy="4117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336" y="2276855"/>
              <a:ext cx="5234940" cy="41178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21130" y="4767833"/>
              <a:ext cx="680085" cy="137160"/>
            </a:xfrm>
            <a:custGeom>
              <a:avLst/>
              <a:gdLst/>
              <a:ahLst/>
              <a:cxnLst/>
              <a:rect l="l" t="t" r="r" b="b"/>
              <a:pathLst>
                <a:path w="680085" h="137160">
                  <a:moveTo>
                    <a:pt x="67970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679704" y="137160"/>
                  </a:lnTo>
                  <a:lnTo>
                    <a:pt x="679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21130" y="4767833"/>
              <a:ext cx="680085" cy="137160"/>
            </a:xfrm>
            <a:custGeom>
              <a:avLst/>
              <a:gdLst/>
              <a:ahLst/>
              <a:cxnLst/>
              <a:rect l="l" t="t" r="r" b="b"/>
              <a:pathLst>
                <a:path w="680085" h="137160">
                  <a:moveTo>
                    <a:pt x="0" y="137160"/>
                  </a:moveTo>
                  <a:lnTo>
                    <a:pt x="679704" y="137160"/>
                  </a:lnTo>
                  <a:lnTo>
                    <a:pt x="679704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46708" y="4726685"/>
            <a:ext cx="8166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>
                <a:latin typeface="Arial MT"/>
                <a:cs typeface="Arial MT"/>
              </a:rPr>
              <a:t>at</a:t>
            </a:r>
            <a:r>
              <a:rPr sz="1100" spc="-40">
                <a:latin typeface="Arial MT"/>
                <a:cs typeface="Arial MT"/>
              </a:rPr>
              <a:t> </a:t>
            </a:r>
            <a:r>
              <a:rPr sz="1100" spc="-5">
                <a:latin typeface="Arial MT"/>
                <a:cs typeface="Arial MT"/>
              </a:rPr>
              <a:t>least</a:t>
            </a:r>
            <a:r>
              <a:rPr sz="1100" spc="-30">
                <a:latin typeface="Arial MT"/>
                <a:cs typeface="Arial MT"/>
              </a:rPr>
              <a:t> </a:t>
            </a:r>
            <a:r>
              <a:rPr sz="1100" spc="-5">
                <a:latin typeface="Arial MT"/>
                <a:cs typeface="Arial MT"/>
              </a:rPr>
              <a:t>once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5870" y="3943858"/>
            <a:ext cx="21640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>
                <a:latin typeface="Arial MT"/>
                <a:cs typeface="Arial MT"/>
              </a:rPr>
              <a:t>PUBREC (REC: received) </a:t>
            </a:r>
            <a:r>
              <a:rPr sz="1400">
                <a:latin typeface="Arial MT"/>
                <a:cs typeface="Arial MT"/>
              </a:rPr>
              <a:t> Packet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is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response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 </a:t>
            </a:r>
            <a:r>
              <a:rPr sz="1400" spc="-37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PUBLISH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Packet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25870" y="4796993"/>
            <a:ext cx="2515870" cy="66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>
                <a:latin typeface="Arial MT"/>
                <a:cs typeface="Arial MT"/>
              </a:rPr>
              <a:t>PUBREL</a:t>
            </a:r>
            <a:r>
              <a:rPr sz="1400" spc="-7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(REL: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release)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Packet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is </a:t>
            </a:r>
            <a:r>
              <a:rPr sz="1400">
                <a:latin typeface="Arial MT"/>
                <a:cs typeface="Arial MT"/>
              </a:rPr>
              <a:t>the </a:t>
            </a:r>
            <a:r>
              <a:rPr sz="1400" spc="-5">
                <a:latin typeface="Arial MT"/>
                <a:cs typeface="Arial MT"/>
              </a:rPr>
              <a:t>response </a:t>
            </a:r>
            <a:r>
              <a:rPr sz="1400">
                <a:latin typeface="Arial MT"/>
                <a:cs typeface="Arial MT"/>
              </a:rPr>
              <a:t>to a </a:t>
            </a:r>
            <a:r>
              <a:rPr sz="1400" spc="-5">
                <a:latin typeface="Arial MT"/>
                <a:cs typeface="Arial MT"/>
              </a:rPr>
              <a:t>PUBREC </a:t>
            </a:r>
            <a:r>
              <a:rPr sz="1400">
                <a:latin typeface="Arial MT"/>
                <a:cs typeface="Arial MT"/>
              </a:rPr>
              <a:t> Packet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25870" y="5651093"/>
            <a:ext cx="244538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>
                <a:latin typeface="Arial MT"/>
                <a:cs typeface="Arial MT"/>
              </a:rPr>
              <a:t>PUBCOMP (COMP: complete)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Packet </a:t>
            </a:r>
            <a:r>
              <a:rPr sz="1400" spc="-5">
                <a:latin typeface="Arial MT"/>
                <a:cs typeface="Arial MT"/>
              </a:rPr>
              <a:t>is </a:t>
            </a:r>
            <a:r>
              <a:rPr sz="1400">
                <a:latin typeface="Arial MT"/>
                <a:cs typeface="Arial MT"/>
              </a:rPr>
              <a:t>the </a:t>
            </a:r>
            <a:r>
              <a:rPr sz="1400" spc="-5">
                <a:latin typeface="Arial MT"/>
                <a:cs typeface="Arial MT"/>
              </a:rPr>
              <a:t>response </a:t>
            </a:r>
            <a:r>
              <a:rPr sz="1400">
                <a:latin typeface="Arial MT"/>
                <a:cs typeface="Arial MT"/>
              </a:rPr>
              <a:t>to a 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PUBREL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Packet.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BCDB937-DDD4-A2AE-0449-E7722899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A93979-A266-A9F7-A3E3-018EA6F3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132334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Co</a:t>
            </a:r>
            <a:r>
              <a:rPr sz="4000" spc="-2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t…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D04B5489-D4AD-504C-B70A-46564E0B8B39}" type="datetime1">
              <a:rPr lang="en-US" smtClean="0"/>
              <a:t>9/1/26</a:t>
            </a:fld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15" y="1097407"/>
            <a:ext cx="8616315" cy="515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algn="just">
              <a:lnSpc>
                <a:spcPct val="100000"/>
              </a:lnSpc>
              <a:spcBef>
                <a:spcPts val="100"/>
              </a:spcBef>
            </a:pPr>
            <a:r>
              <a:rPr sz="1800" b="1" spc="-5">
                <a:latin typeface="Calibri"/>
                <a:cs typeface="Calibri"/>
              </a:rPr>
              <a:t>QoS</a:t>
            </a:r>
            <a:r>
              <a:rPr sz="1800" b="1" spc="-45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level</a:t>
            </a:r>
            <a:r>
              <a:rPr sz="1800" b="1" spc="-20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0:</a:t>
            </a:r>
            <a:endParaRPr sz="1800">
              <a:latin typeface="Calibri"/>
              <a:cs typeface="Calibri"/>
            </a:endParaRPr>
          </a:p>
          <a:p>
            <a:pPr marL="228600" indent="-216535" algn="just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29235" algn="l"/>
              </a:tabLst>
            </a:pP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At-most-once</a:t>
            </a:r>
            <a:r>
              <a:rPr sz="16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delivery</a:t>
            </a:r>
            <a:r>
              <a:rPr sz="16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(«best</a:t>
            </a:r>
            <a:r>
              <a:rPr sz="1600" spc="17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effort»).</a:t>
            </a:r>
            <a:endParaRPr sz="1600">
              <a:latin typeface="Calibri"/>
              <a:cs typeface="Calibri"/>
            </a:endParaRPr>
          </a:p>
          <a:p>
            <a:pPr marL="228600" indent="-216535" algn="just">
              <a:lnSpc>
                <a:spcPct val="100000"/>
              </a:lnSpc>
              <a:buSzPct val="43750"/>
              <a:buFont typeface="Wingdings"/>
              <a:buChar char=""/>
              <a:tabLst>
                <a:tab pos="229235" algn="l"/>
              </a:tabLst>
            </a:pPr>
            <a:r>
              <a:rPr sz="1600" spc="-15">
                <a:latin typeface="Calibri"/>
                <a:cs typeface="Calibri"/>
              </a:rPr>
              <a:t>Messages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are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delivered</a:t>
            </a:r>
            <a:r>
              <a:rPr sz="160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according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delivery </a:t>
            </a:r>
            <a:r>
              <a:rPr sz="1600" spc="-20">
                <a:latin typeface="Calibri"/>
                <a:cs typeface="Calibri"/>
              </a:rPr>
              <a:t>guarantees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underlying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network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30">
                <a:latin typeface="Calibri"/>
                <a:cs typeface="Calibri"/>
              </a:rPr>
              <a:t>(TCP/IP).</a:t>
            </a:r>
            <a:endParaRPr sz="1600">
              <a:latin typeface="Calibri"/>
              <a:cs typeface="Calibri"/>
            </a:endParaRPr>
          </a:p>
          <a:p>
            <a:pPr marL="686435" marR="5080" lvl="1" indent="-216535" algn="just">
              <a:lnSpc>
                <a:spcPct val="100000"/>
              </a:lnSpc>
              <a:buSzPct val="43750"/>
              <a:buFont typeface="Wingdings"/>
              <a:buChar char=""/>
              <a:tabLst>
                <a:tab pos="687070" algn="l"/>
              </a:tabLst>
            </a:pPr>
            <a:r>
              <a:rPr sz="1600" i="1" spc="-20">
                <a:latin typeface="Calibri"/>
                <a:cs typeface="Calibri"/>
              </a:rPr>
              <a:t>Example application</a:t>
            </a:r>
            <a:r>
              <a:rPr sz="1600" spc="-20">
                <a:latin typeface="Calibri"/>
                <a:cs typeface="Calibri"/>
              </a:rPr>
              <a:t>: </a:t>
            </a:r>
            <a:r>
              <a:rPr sz="1600" spc="-40">
                <a:latin typeface="Calibri"/>
                <a:cs typeface="Calibri"/>
              </a:rPr>
              <a:t>Temperature </a:t>
            </a:r>
            <a:r>
              <a:rPr sz="1600" spc="-15">
                <a:latin typeface="Calibri"/>
                <a:cs typeface="Calibri"/>
              </a:rPr>
              <a:t>sensor </a:t>
            </a:r>
            <a:r>
              <a:rPr sz="1600" spc="-25">
                <a:latin typeface="Calibri"/>
                <a:cs typeface="Calibri"/>
              </a:rPr>
              <a:t>data </a:t>
            </a:r>
            <a:r>
              <a:rPr sz="1600" spc="-5">
                <a:latin typeface="Calibri"/>
                <a:cs typeface="Calibri"/>
              </a:rPr>
              <a:t>which </a:t>
            </a:r>
            <a:r>
              <a:rPr sz="1600" spc="-10">
                <a:latin typeface="Calibri"/>
                <a:cs typeface="Calibri"/>
              </a:rPr>
              <a:t>is </a:t>
            </a:r>
            <a:r>
              <a:rPr sz="1600" spc="-20">
                <a:latin typeface="Calibri"/>
                <a:cs typeface="Calibri"/>
              </a:rPr>
              <a:t>regularly </a:t>
            </a:r>
            <a:r>
              <a:rPr sz="1600" spc="-15">
                <a:latin typeface="Calibri"/>
                <a:cs typeface="Calibri"/>
              </a:rPr>
              <a:t>published.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Loss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of an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individual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value </a:t>
            </a:r>
            <a:r>
              <a:rPr sz="1600" spc="-10">
                <a:latin typeface="Calibri"/>
                <a:cs typeface="Calibri"/>
              </a:rPr>
              <a:t>is </a:t>
            </a:r>
            <a:r>
              <a:rPr sz="1600" spc="-15">
                <a:latin typeface="Calibri"/>
                <a:cs typeface="Calibri"/>
              </a:rPr>
              <a:t>not critical since applications (i.e. </a:t>
            </a:r>
            <a:r>
              <a:rPr sz="1600" spc="-20">
                <a:latin typeface="Calibri"/>
                <a:cs typeface="Calibri"/>
              </a:rPr>
              <a:t>consumers </a:t>
            </a:r>
            <a:r>
              <a:rPr sz="1600" spc="-10">
                <a:latin typeface="Calibri"/>
                <a:cs typeface="Calibri"/>
              </a:rPr>
              <a:t>of the </a:t>
            </a:r>
            <a:r>
              <a:rPr sz="1600" spc="-20">
                <a:latin typeface="Calibri"/>
                <a:cs typeface="Calibri"/>
              </a:rPr>
              <a:t>data) </a:t>
            </a:r>
            <a:r>
              <a:rPr sz="1600">
                <a:latin typeface="Calibri"/>
                <a:cs typeface="Calibri"/>
              </a:rPr>
              <a:t>will </a:t>
            </a:r>
            <a:r>
              <a:rPr sz="1600" spc="-20">
                <a:latin typeface="Calibri"/>
                <a:cs typeface="Calibri"/>
              </a:rPr>
              <a:t>anyway </a:t>
            </a:r>
            <a:r>
              <a:rPr sz="1600" spc="-25">
                <a:solidFill>
                  <a:srgbClr val="375F92"/>
                </a:solidFill>
                <a:latin typeface="Calibri"/>
                <a:cs typeface="Calibri"/>
              </a:rPr>
              <a:t>integrate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the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values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over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 time</a:t>
            </a:r>
            <a:endParaRPr sz="16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  <a:spcBef>
                <a:spcPts val="1200"/>
              </a:spcBef>
            </a:pPr>
            <a:r>
              <a:rPr sz="1800" b="1" spc="-10">
                <a:latin typeface="Calibri"/>
                <a:cs typeface="Calibri"/>
              </a:rPr>
              <a:t>QoS</a:t>
            </a:r>
            <a:r>
              <a:rPr sz="1800" b="1" spc="-50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level 1:</a:t>
            </a:r>
            <a:endParaRPr sz="1800">
              <a:latin typeface="Calibri"/>
              <a:cs typeface="Calibri"/>
            </a:endParaRPr>
          </a:p>
          <a:p>
            <a:pPr marL="382270" indent="-2870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SzPct val="43750"/>
              <a:buFont typeface="Arial MT"/>
              <a:buChar char="•"/>
              <a:tabLst>
                <a:tab pos="382270" algn="l"/>
                <a:tab pos="382905" algn="l"/>
              </a:tabLst>
            </a:pP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At-least-once</a:t>
            </a:r>
            <a:r>
              <a:rPr sz="16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40">
                <a:solidFill>
                  <a:srgbClr val="C00000"/>
                </a:solidFill>
                <a:latin typeface="Calibri"/>
                <a:cs typeface="Calibri"/>
              </a:rPr>
              <a:t>delivery.</a:t>
            </a:r>
            <a:endParaRPr sz="1600">
              <a:latin typeface="Calibri"/>
              <a:cs typeface="Calibri"/>
            </a:endParaRPr>
          </a:p>
          <a:p>
            <a:pPr marL="382270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382270" algn="l"/>
                <a:tab pos="382905" algn="l"/>
              </a:tabLst>
            </a:pPr>
            <a:r>
              <a:rPr sz="1600" spc="-15">
                <a:latin typeface="Calibri"/>
                <a:cs typeface="Calibri"/>
              </a:rPr>
              <a:t>Messages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are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guaranteed</a:t>
            </a:r>
            <a:r>
              <a:rPr sz="1600" spc="4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to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 arrive</a:t>
            </a:r>
            <a:r>
              <a:rPr sz="1600" spc="-20">
                <a:latin typeface="Calibri"/>
                <a:cs typeface="Calibri"/>
              </a:rPr>
              <a:t>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but</a:t>
            </a:r>
            <a:r>
              <a:rPr sz="1600" spc="-20">
                <a:latin typeface="Calibri"/>
                <a:cs typeface="Calibri"/>
              </a:rPr>
              <a:t> there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may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be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duplicates</a:t>
            </a:r>
            <a:r>
              <a:rPr sz="1600" spc="-2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839469" marR="222885" lvl="1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839469" algn="l"/>
                <a:tab pos="840105" algn="l"/>
              </a:tabLst>
            </a:pPr>
            <a:r>
              <a:rPr sz="1600" i="1" spc="-20">
                <a:latin typeface="Calibri"/>
                <a:cs typeface="Calibri"/>
              </a:rPr>
              <a:t>Example</a:t>
            </a:r>
            <a:r>
              <a:rPr sz="1600" i="1" spc="25">
                <a:latin typeface="Calibri"/>
                <a:cs typeface="Calibri"/>
              </a:rPr>
              <a:t> </a:t>
            </a:r>
            <a:r>
              <a:rPr sz="1600" i="1" spc="-15">
                <a:latin typeface="Calibri"/>
                <a:cs typeface="Calibri"/>
              </a:rPr>
              <a:t>application</a:t>
            </a:r>
            <a:r>
              <a:rPr sz="1600" b="1" spc="-15">
                <a:latin typeface="Calibri"/>
                <a:cs typeface="Calibri"/>
              </a:rPr>
              <a:t>:</a:t>
            </a:r>
            <a:r>
              <a:rPr sz="1600" b="1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door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sensor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senses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door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state.</a:t>
            </a:r>
            <a:r>
              <a:rPr sz="1600" spc="-10">
                <a:latin typeface="Calibri"/>
                <a:cs typeface="Calibri"/>
              </a:rPr>
              <a:t> It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important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that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door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state 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changes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(closed-&gt;open,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open-&gt;closed)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are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published</a:t>
            </a: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losslessly</a:t>
            </a:r>
            <a:r>
              <a:rPr sz="160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subscribers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(e.g.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alarming 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function).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Applications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simply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discard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duplicate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messages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by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comparing</a:t>
            </a:r>
            <a:r>
              <a:rPr sz="1600" spc="-15">
                <a:latin typeface="Calibri"/>
                <a:cs typeface="Calibri"/>
              </a:rPr>
              <a:t> 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ID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field.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Wingdings"/>
              <a:buChar char=""/>
            </a:pPr>
            <a:endParaRPr sz="1550">
              <a:latin typeface="Calibri"/>
              <a:cs typeface="Calibri"/>
            </a:endParaRPr>
          </a:p>
          <a:p>
            <a:pPr marL="349885">
              <a:lnSpc>
                <a:spcPct val="100000"/>
              </a:lnSpc>
            </a:pPr>
            <a:r>
              <a:rPr sz="1800" b="1" spc="-10">
                <a:latin typeface="Calibri"/>
                <a:cs typeface="Calibri"/>
              </a:rPr>
              <a:t>QoS</a:t>
            </a:r>
            <a:r>
              <a:rPr sz="1800" b="1" spc="-60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level</a:t>
            </a:r>
            <a:r>
              <a:rPr sz="1800" b="1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2:</a:t>
            </a:r>
            <a:endParaRPr sz="1800">
              <a:latin typeface="Calibri"/>
              <a:cs typeface="Calibri"/>
            </a:endParaRPr>
          </a:p>
          <a:p>
            <a:pPr marL="382270" indent="-2870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SzPct val="43750"/>
              <a:buFont typeface="Wingdings"/>
              <a:buChar char=""/>
              <a:tabLst>
                <a:tab pos="382270" algn="l"/>
                <a:tab pos="382905" algn="l"/>
              </a:tabLst>
            </a:pP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Exactly-once</a:t>
            </a:r>
            <a:r>
              <a:rPr sz="16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40">
                <a:solidFill>
                  <a:srgbClr val="C00000"/>
                </a:solidFill>
                <a:latin typeface="Calibri"/>
                <a:cs typeface="Calibri"/>
              </a:rPr>
              <a:t>delivery</a:t>
            </a:r>
            <a:r>
              <a:rPr sz="1600" spc="-4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382270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382270" algn="l"/>
                <a:tab pos="382905" algn="l"/>
              </a:tabLst>
            </a:pPr>
            <a:r>
              <a:rPr sz="1600" spc="-15">
                <a:latin typeface="Calibri"/>
                <a:cs typeface="Calibri"/>
              </a:rPr>
              <a:t>This </a:t>
            </a:r>
            <a:r>
              <a:rPr sz="1600" spc="-10">
                <a:latin typeface="Calibri"/>
                <a:cs typeface="Calibri"/>
              </a:rPr>
              <a:t>is the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highest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level</a:t>
            </a:r>
            <a:r>
              <a:rPr sz="1600" spc="-15">
                <a:latin typeface="Calibri"/>
                <a:cs typeface="Calibri"/>
              </a:rPr>
              <a:t> that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also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incurs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most</a:t>
            </a:r>
            <a:r>
              <a:rPr sz="1600" spc="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overhead</a:t>
            </a:r>
            <a:r>
              <a:rPr sz="1600" spc="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terms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control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messages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and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the</a:t>
            </a:r>
            <a:r>
              <a:rPr sz="1600" spc="3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need</a:t>
            </a:r>
            <a:endParaRPr sz="1600">
              <a:latin typeface="Calibri"/>
              <a:cs typeface="Calibri"/>
            </a:endParaRPr>
          </a:p>
          <a:p>
            <a:pPr marL="382270">
              <a:lnSpc>
                <a:spcPct val="100000"/>
              </a:lnSpc>
              <a:spcBef>
                <a:spcPts val="5"/>
              </a:spcBef>
            </a:pPr>
            <a:r>
              <a:rPr sz="1600" spc="-25">
                <a:latin typeface="Calibri"/>
                <a:cs typeface="Calibri"/>
              </a:rPr>
              <a:t>for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locally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storing</a:t>
            </a:r>
            <a:r>
              <a:rPr sz="1600" spc="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9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messages.</a:t>
            </a:r>
            <a:endParaRPr sz="1600">
              <a:latin typeface="Calibri"/>
              <a:cs typeface="Calibri"/>
            </a:endParaRPr>
          </a:p>
          <a:p>
            <a:pPr marL="382270" indent="-287020">
              <a:lnSpc>
                <a:spcPct val="100000"/>
              </a:lnSpc>
              <a:buClr>
                <a:srgbClr val="000000"/>
              </a:buClr>
              <a:buSzPct val="43750"/>
              <a:buFont typeface="Wingdings"/>
              <a:buChar char=""/>
              <a:tabLst>
                <a:tab pos="382270" algn="l"/>
                <a:tab pos="382905" algn="l"/>
              </a:tabLst>
            </a:pP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Exactly-once</a:t>
            </a:r>
            <a:r>
              <a:rPr sz="1600" spc="-2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5">
                <a:latin typeface="Calibri"/>
                <a:cs typeface="Calibri"/>
              </a:rPr>
              <a:t> a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combination</a:t>
            </a:r>
            <a:r>
              <a:rPr sz="1600" spc="4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C12F1"/>
                </a:solidFill>
                <a:latin typeface="Calibri"/>
                <a:cs typeface="Calibri"/>
              </a:rPr>
              <a:t>of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at-least-once</a:t>
            </a:r>
            <a:r>
              <a:rPr sz="160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and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at-most-once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delivery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guarantee.</a:t>
            </a:r>
            <a:endParaRPr sz="1600">
              <a:latin typeface="Calibri"/>
              <a:cs typeface="Calibri"/>
            </a:endParaRPr>
          </a:p>
          <a:p>
            <a:pPr marL="827405" marR="206375" lvl="1" indent="-287020">
              <a:lnSpc>
                <a:spcPct val="100000"/>
              </a:lnSpc>
              <a:buSzPct val="43750"/>
              <a:buFont typeface="Wingdings"/>
              <a:buChar char=""/>
              <a:tabLst>
                <a:tab pos="826769" algn="l"/>
                <a:tab pos="828040" algn="l"/>
              </a:tabLst>
            </a:pPr>
            <a:r>
              <a:rPr sz="1600" i="1" spc="-20">
                <a:latin typeface="Calibri"/>
                <a:cs typeface="Calibri"/>
              </a:rPr>
              <a:t>Example</a:t>
            </a:r>
            <a:r>
              <a:rPr sz="1600" i="1" spc="35">
                <a:latin typeface="Calibri"/>
                <a:cs typeface="Calibri"/>
              </a:rPr>
              <a:t> </a:t>
            </a:r>
            <a:r>
              <a:rPr sz="1600" i="1" spc="-20">
                <a:latin typeface="Calibri"/>
                <a:cs typeface="Calibri"/>
              </a:rPr>
              <a:t>application</a:t>
            </a:r>
            <a:r>
              <a:rPr sz="1600" b="1" spc="-20">
                <a:latin typeface="Calibri"/>
                <a:cs typeface="Calibri"/>
              </a:rPr>
              <a:t>:</a:t>
            </a:r>
            <a:r>
              <a:rPr sz="1600" b="1" spc="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Applications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where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duplicate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events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could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lead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incorrect</a:t>
            </a:r>
            <a:r>
              <a:rPr sz="1600" spc="6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actions,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e.g.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sounding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an </a:t>
            </a:r>
            <a:r>
              <a:rPr sz="1600" spc="-15">
                <a:latin typeface="Calibri"/>
                <a:cs typeface="Calibri"/>
              </a:rPr>
              <a:t>alarm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as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reaction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 spc="-10">
                <a:latin typeface="Calibri"/>
                <a:cs typeface="Calibri"/>
              </a:rPr>
              <a:t> an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event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received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by</a:t>
            </a:r>
            <a:r>
              <a:rPr sz="1600" spc="-5">
                <a:latin typeface="Calibri"/>
                <a:cs typeface="Calibri"/>
              </a:rPr>
              <a:t> a</a:t>
            </a:r>
            <a:r>
              <a:rPr sz="1600" spc="26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message.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So,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it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avoids</a:t>
            </a:r>
            <a:r>
              <a:rPr sz="16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duplicate.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B11A-D930-D76F-0A96-D85567C0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92F1-88E1-0484-EC6E-B2BF6933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624" y="1028446"/>
            <a:ext cx="83324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sz="1600" b="1" spc="-15">
                <a:latin typeface="Calibri"/>
                <a:cs typeface="Calibri"/>
              </a:rPr>
              <a:t>QoS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level</a:t>
            </a:r>
            <a:r>
              <a:rPr sz="1600" b="1" spc="30">
                <a:latin typeface="Calibri"/>
                <a:cs typeface="Calibri"/>
              </a:rPr>
              <a:t> </a:t>
            </a:r>
            <a:r>
              <a:rPr sz="1600" b="1" spc="-25">
                <a:latin typeface="Calibri"/>
                <a:cs typeface="Calibri"/>
              </a:rPr>
              <a:t>0: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600" spc="-10">
                <a:latin typeface="Calibri"/>
                <a:cs typeface="Calibri"/>
              </a:rPr>
              <a:t>With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QoS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level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0,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delivered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with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at-most-once</a:t>
            </a:r>
            <a:r>
              <a:rPr sz="1600" b="1" spc="-30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2A5F99"/>
                </a:solidFill>
                <a:latin typeface="Calibri"/>
                <a:cs typeface="Calibri"/>
              </a:rPr>
              <a:t>delivery</a:t>
            </a:r>
            <a:r>
              <a:rPr sz="1600" b="1" spc="-5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semantics</a:t>
            </a:r>
            <a:r>
              <a:rPr sz="1600" b="1" spc="55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(«fire-and-forget»).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60147"/>
            <a:ext cx="4587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PUBLISH </a:t>
            </a:r>
            <a:r>
              <a:rPr sz="4000" spc="-10">
                <a:solidFill>
                  <a:srgbClr val="001F5F"/>
                </a:solidFill>
                <a:latin typeface="Arial"/>
                <a:cs typeface="Arial"/>
              </a:rPr>
              <a:t>msg</a:t>
            </a:r>
            <a:r>
              <a:rPr sz="4000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001F5F"/>
                </a:solidFill>
                <a:latin typeface="Arial"/>
                <a:cs typeface="Arial"/>
              </a:rPr>
              <a:t>flow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E75D7202-8B92-9A44-BCEB-A2F45BBDB835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8752" y="1865990"/>
            <a:ext cx="5181235" cy="770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1386" y="3069081"/>
            <a:ext cx="82378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>
                <a:latin typeface="Calibri"/>
                <a:cs typeface="Calibri"/>
              </a:rPr>
              <a:t>QoS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level</a:t>
            </a:r>
            <a:r>
              <a:rPr sz="1600" b="1" spc="25">
                <a:latin typeface="Calibri"/>
                <a:cs typeface="Calibri"/>
              </a:rPr>
              <a:t> </a:t>
            </a:r>
            <a:r>
              <a:rPr sz="1600" b="1" spc="-25">
                <a:latin typeface="Calibri"/>
                <a:cs typeface="Calibri"/>
              </a:rPr>
              <a:t>1: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600" spc="-15">
                <a:latin typeface="Calibri"/>
                <a:cs typeface="Calibri"/>
              </a:rPr>
              <a:t>QoS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level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1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30">
                <a:latin typeface="Calibri"/>
                <a:cs typeface="Calibri"/>
              </a:rPr>
              <a:t>affords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at-least-once</a:t>
            </a:r>
            <a:r>
              <a:rPr sz="1600" b="1" spc="30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15">
                <a:solidFill>
                  <a:srgbClr val="2A5F99"/>
                </a:solidFill>
                <a:latin typeface="Calibri"/>
                <a:cs typeface="Calibri"/>
              </a:rPr>
              <a:t>delivery</a:t>
            </a:r>
            <a:r>
              <a:rPr sz="1600" b="1" spc="-25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semantics.</a:t>
            </a:r>
            <a:r>
              <a:rPr sz="1600" b="1" spc="35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If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client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does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not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receive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PUBACK</a:t>
            </a:r>
            <a:r>
              <a:rPr sz="1600" b="1" spc="10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time,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it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375F92"/>
                </a:solidFill>
                <a:latin typeface="Calibri"/>
                <a:cs typeface="Calibri"/>
              </a:rPr>
              <a:t>re-sends</a:t>
            </a:r>
            <a:r>
              <a:rPr sz="1600" b="1" spc="5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9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message.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272" y="3816096"/>
            <a:ext cx="7534656" cy="26289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E2B8D-9C83-72AF-F1FD-46E8F131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C51E5-507E-6608-3DB7-C8E2BB6F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815" y="1028446"/>
            <a:ext cx="833247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>
                <a:latin typeface="Calibri"/>
                <a:cs typeface="Calibri"/>
              </a:rPr>
              <a:t>QoS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level</a:t>
            </a:r>
            <a:r>
              <a:rPr sz="1600" b="1" spc="30">
                <a:latin typeface="Calibri"/>
                <a:cs typeface="Calibri"/>
              </a:rPr>
              <a:t> </a:t>
            </a:r>
            <a:r>
              <a:rPr sz="1600" b="1" spc="-25">
                <a:latin typeface="Calibri"/>
                <a:cs typeface="Calibri"/>
              </a:rPr>
              <a:t>2: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600" spc="-15">
                <a:latin typeface="Calibri"/>
                <a:cs typeface="Calibri"/>
              </a:rPr>
              <a:t>QoS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level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2 </a:t>
            </a:r>
            <a:r>
              <a:rPr sz="1600" spc="-30">
                <a:latin typeface="Calibri"/>
                <a:cs typeface="Calibri"/>
              </a:rPr>
              <a:t>affords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highest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quality delivery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semantics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exactly-once,</a:t>
            </a:r>
            <a:r>
              <a:rPr sz="1600" b="1" spc="-25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but </a:t>
            </a:r>
            <a:r>
              <a:rPr sz="1600" spc="-20">
                <a:latin typeface="Calibri"/>
                <a:cs typeface="Calibri"/>
              </a:rPr>
              <a:t>comes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with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the</a:t>
            </a:r>
            <a:r>
              <a:rPr sz="1600" spc="3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cost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b="1" spc="-15">
                <a:solidFill>
                  <a:srgbClr val="2A5F99"/>
                </a:solidFill>
                <a:latin typeface="Calibri"/>
                <a:cs typeface="Calibri"/>
              </a:rPr>
              <a:t>additional</a:t>
            </a:r>
            <a:r>
              <a:rPr sz="1600" b="1" spc="20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control</a:t>
            </a:r>
            <a:r>
              <a:rPr sz="1600" b="1" spc="90">
                <a:solidFill>
                  <a:srgbClr val="2A5F99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2A5F99"/>
                </a:solidFill>
                <a:latin typeface="Calibri"/>
                <a:cs typeface="Calibri"/>
              </a:rPr>
              <a:t>messages.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90373"/>
            <a:ext cx="1681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>
                <a:solidFill>
                  <a:srgbClr val="FF0000"/>
                </a:solidFill>
                <a:latin typeface="Arial"/>
                <a:cs typeface="Arial"/>
              </a:rPr>
              <a:t>Con</a:t>
            </a:r>
            <a:r>
              <a:rPr sz="4000" spc="-2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E3EE058F-4C94-D647-9E1B-489CCF134A03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438" y="2537427"/>
            <a:ext cx="7010035" cy="309529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E896F-DBAA-1706-EA4B-1CEA3B45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B7159-101C-810C-EA06-015F64CA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315" y="1005281"/>
            <a:ext cx="865124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sz="1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1:</a:t>
            </a:r>
            <a:endParaRPr sz="1800">
              <a:latin typeface="Calibri"/>
              <a:cs typeface="Calibri"/>
            </a:endParaRPr>
          </a:p>
          <a:p>
            <a:pPr marL="743585" indent="-28702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Session/connection</a:t>
            </a:r>
            <a:r>
              <a:rPr sz="1600" spc="6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and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subscription</a:t>
            </a:r>
            <a:r>
              <a:rPr sz="1600" spc="6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setup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with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clean</a:t>
            </a:r>
            <a:r>
              <a:rPr sz="1600" spc="2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session</a:t>
            </a:r>
            <a:r>
              <a:rPr sz="1600" spc="3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flag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=</a:t>
            </a:r>
            <a:r>
              <a:rPr sz="1600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1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(non-durable</a:t>
            </a:r>
            <a:r>
              <a:rPr sz="1600" spc="3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subscription)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231140"/>
            <a:ext cx="7649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001F5F"/>
                </a:solidFill>
                <a:latin typeface="Arial"/>
                <a:cs typeface="Arial"/>
              </a:rPr>
              <a:t>Example:</a:t>
            </a:r>
            <a:r>
              <a:rPr sz="2800" spc="1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800" spc="-1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r>
              <a:rPr sz="2800" spc="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28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>
                <a:solidFill>
                  <a:srgbClr val="FF0000"/>
                </a:solidFill>
                <a:latin typeface="Arial"/>
                <a:cs typeface="Arial"/>
              </a:rPr>
              <a:t>SUBSCRIBE</a:t>
            </a:r>
            <a:r>
              <a:rPr sz="2800" spc="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>
                <a:solidFill>
                  <a:srgbClr val="FF0000"/>
                </a:solidFill>
                <a:latin typeface="Arial"/>
                <a:cs typeface="Arial"/>
              </a:rPr>
              <a:t>msg</a:t>
            </a:r>
            <a:r>
              <a:rPr sz="2800" spc="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FF0000"/>
                </a:solidFill>
                <a:latin typeface="Arial"/>
                <a:cs typeface="Arial"/>
              </a:rPr>
              <a:t>flow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7D8E06A-9CDC-C94C-9F29-FA71C4928D4C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742" y="2245012"/>
            <a:ext cx="7590707" cy="40067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DA59B-D2CF-868A-796D-8C52517B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80DE3-E7D5-2EF4-0676-A5D61052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952" y="1061084"/>
            <a:ext cx="83235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>
                <a:solidFill>
                  <a:srgbClr val="C00000"/>
                </a:solidFill>
                <a:latin typeface="Calibri"/>
                <a:cs typeface="Calibri"/>
              </a:rPr>
              <a:t>2:</a:t>
            </a:r>
            <a:endParaRPr sz="1800">
              <a:latin typeface="Calibri"/>
              <a:cs typeface="Calibri"/>
            </a:endParaRPr>
          </a:p>
          <a:p>
            <a:pPr marL="795655" indent="-339090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SzPct val="112500"/>
              <a:buFont typeface="Arial MT"/>
              <a:buChar char="•"/>
              <a:tabLst>
                <a:tab pos="795655" algn="l"/>
                <a:tab pos="796290" algn="l"/>
              </a:tabLst>
            </a:pP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Session/connection</a:t>
            </a:r>
            <a:r>
              <a:rPr sz="1600" spc="6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and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subscription</a:t>
            </a:r>
            <a:r>
              <a:rPr sz="1600" spc="6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setup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clean</a:t>
            </a:r>
            <a:r>
              <a:rPr sz="1600" spc="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session</a:t>
            </a:r>
            <a:r>
              <a:rPr sz="1600" spc="5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flag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=</a:t>
            </a:r>
            <a:r>
              <a:rPr sz="1600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0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(durable</a:t>
            </a:r>
            <a:r>
              <a:rPr sz="1600" spc="30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subscription)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Co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t…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40BF01B-A091-4641-BC66-D64579305EBE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569" y="2302316"/>
            <a:ext cx="7753350" cy="39553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732F4-8742-51B6-6ED1-DE4BC12D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B661F-708F-D536-299A-73DA8DAF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252" y="1346082"/>
            <a:ext cx="8039100" cy="304609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>
                <a:solidFill>
                  <a:srgbClr val="2C12F1"/>
                </a:solidFill>
                <a:latin typeface="Calibri"/>
                <a:cs typeface="Calibri"/>
              </a:rPr>
              <a:t>MQTT-SN</a:t>
            </a:r>
            <a:r>
              <a:rPr sz="1800" spc="1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2C12F1"/>
                </a:solidFill>
                <a:latin typeface="Calibri"/>
                <a:cs typeface="Calibri"/>
              </a:rPr>
              <a:t>(MQTT</a:t>
            </a:r>
            <a:r>
              <a:rPr sz="1800" spc="1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2C12F1"/>
                </a:solidFill>
                <a:latin typeface="Calibri"/>
                <a:cs typeface="Calibri"/>
              </a:rPr>
              <a:t>for</a:t>
            </a:r>
            <a:r>
              <a:rPr sz="1800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2C12F1"/>
                </a:solidFill>
                <a:latin typeface="Calibri"/>
                <a:cs typeface="Calibri"/>
              </a:rPr>
              <a:t>sensor</a:t>
            </a:r>
            <a:r>
              <a:rPr sz="1800" spc="-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2C12F1"/>
                </a:solidFill>
                <a:latin typeface="Calibri"/>
                <a:cs typeface="Calibri"/>
              </a:rPr>
              <a:t>networks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1800" spc="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variant</a:t>
            </a:r>
            <a:r>
              <a:rPr sz="1800" spc="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5">
                <a:solidFill>
                  <a:srgbClr val="001F5F"/>
                </a:solidFill>
                <a:latin typeface="Calibri"/>
                <a:cs typeface="Calibri"/>
              </a:rPr>
              <a:t>MQTT</a:t>
            </a:r>
            <a:r>
              <a:rPr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5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been</a:t>
            </a:r>
            <a:r>
              <a:rPr sz="1800" spc="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optimized</a:t>
            </a:r>
            <a:r>
              <a:rPr sz="1800" spc="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800" spc="-39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low</a:t>
            </a:r>
            <a:r>
              <a:rPr sz="1800" spc="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power</a:t>
            </a:r>
            <a:r>
              <a:rPr sz="1800" spc="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environments</a:t>
            </a:r>
            <a:r>
              <a:rPr sz="1800" spc="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such</a:t>
            </a:r>
            <a:r>
              <a:rPr sz="1800" spc="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as sensor</a:t>
            </a:r>
            <a:r>
              <a:rPr sz="18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001F5F"/>
                </a:solidFill>
                <a:latin typeface="Calibri"/>
                <a:cs typeface="Calibri"/>
              </a:rPr>
              <a:t>networks,</a:t>
            </a:r>
            <a:r>
              <a:rPr sz="1800" spc="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as the</a:t>
            </a:r>
            <a:r>
              <a:rPr sz="1800" spc="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800" spc="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1F5F"/>
                </a:solidFill>
                <a:latin typeface="Calibri"/>
                <a:cs typeface="Calibri"/>
              </a:rPr>
              <a:t>suggests.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>
                <a:latin typeface="Arial MT"/>
                <a:cs typeface="Arial MT"/>
              </a:rPr>
              <a:t>SN </a:t>
            </a:r>
            <a:r>
              <a:rPr sz="1800" spc="-10">
                <a:latin typeface="Arial MT"/>
                <a:cs typeface="Arial MT"/>
              </a:rPr>
              <a:t>adds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extra</a:t>
            </a:r>
            <a:r>
              <a:rPr sz="1800" spc="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functionality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for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use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cases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 spc="-15">
                <a:latin typeface="Arial MT"/>
                <a:cs typeface="Arial MT"/>
              </a:rPr>
              <a:t>where</a:t>
            </a:r>
            <a:r>
              <a:rPr sz="1800" spc="50">
                <a:latin typeface="Arial MT"/>
                <a:cs typeface="Arial MT"/>
              </a:rPr>
              <a:t> </a:t>
            </a:r>
            <a:r>
              <a:rPr sz="1800" spc="-15">
                <a:latin typeface="Arial MT"/>
                <a:cs typeface="Arial MT"/>
              </a:rPr>
              <a:t>lower</a:t>
            </a:r>
            <a:r>
              <a:rPr sz="1800" spc="40">
                <a:latin typeface="Arial MT"/>
                <a:cs typeface="Arial MT"/>
              </a:rPr>
              <a:t> </a:t>
            </a:r>
            <a:r>
              <a:rPr sz="1800" spc="-15">
                <a:latin typeface="Arial MT"/>
                <a:cs typeface="Arial MT"/>
              </a:rPr>
              <a:t>power</a:t>
            </a:r>
            <a:r>
              <a:rPr sz="1800" spc="4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is</a:t>
            </a:r>
            <a:r>
              <a:rPr sz="180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required.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Arial MT"/>
              <a:cs typeface="Arial MT"/>
            </a:endParaRPr>
          </a:p>
          <a:p>
            <a:pPr marL="299085" indent="-287020"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>
                <a:latin typeface="Calibri"/>
                <a:cs typeface="Calibri"/>
              </a:rPr>
              <a:t>QoS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mode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-</a:t>
            </a:r>
            <a:r>
              <a:rPr lang="en-US" sz="1600" spc="-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1: allows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fire-and-forget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messaging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35">
                <a:latin typeface="Calibri"/>
                <a:cs typeface="Calibri"/>
              </a:rPr>
              <a:t>Topic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aliases: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allows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simplified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publishing and </a:t>
            </a:r>
            <a:r>
              <a:rPr sz="1600" spc="-10">
                <a:latin typeface="Calibri"/>
                <a:cs typeface="Calibri"/>
              </a:rPr>
              <a:t>reduced </a:t>
            </a:r>
            <a:r>
              <a:rPr sz="1600" spc="-15">
                <a:latin typeface="Calibri"/>
                <a:cs typeface="Calibri"/>
              </a:rPr>
              <a:t>data</a:t>
            </a:r>
            <a:r>
              <a:rPr sz="1600" spc="-10">
                <a:latin typeface="Calibri"/>
                <a:cs typeface="Calibri"/>
              </a:rPr>
              <a:t> overheads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9085" marR="1892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>
                <a:latin typeface="Calibri"/>
                <a:cs typeface="Calibri"/>
              </a:rPr>
              <a:t>Sleep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mode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(disconnected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sessions):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allows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messages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to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queued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on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broker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while</a:t>
            </a:r>
            <a:r>
              <a:rPr sz="1600" spc="-10">
                <a:latin typeface="Calibri"/>
                <a:cs typeface="Calibri"/>
              </a:rPr>
              <a:t> the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remote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Thing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or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device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15">
                <a:latin typeface="Calibri"/>
                <a:cs typeface="Calibri"/>
              </a:rPr>
              <a:t> powered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off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4565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40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35">
                <a:solidFill>
                  <a:srgbClr val="FF0000"/>
                </a:solidFill>
                <a:latin typeface="Arial"/>
                <a:cs typeface="Arial"/>
              </a:rPr>
              <a:t>MQTT-SN?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1A8D739F-3538-0048-9AEA-178EDEFB1AAF}" type="datetime1">
              <a:rPr lang="en-US" smtClean="0"/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E3B3C-3C54-4C66-1A87-83EBAD65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3024B-7244-E1AB-8477-B99D8D61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6707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Demo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sz="4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MQTT</a:t>
            </a:r>
            <a:r>
              <a:rPr sz="40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Protocol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93E7058A-7774-E343-87BA-8E9E358CC448}" type="datetime1">
              <a:rPr lang="en-US" smtClean="0"/>
              <a:t>9/1/26</a:t>
            </a:fld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192967" y="1711823"/>
            <a:ext cx="3934563" cy="4372112"/>
            <a:chOff x="2587751" y="1722120"/>
            <a:chExt cx="6498590" cy="43618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990" y="1741359"/>
              <a:ext cx="6389702" cy="42800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89275" y="1723644"/>
              <a:ext cx="6495415" cy="4358640"/>
            </a:xfrm>
            <a:custGeom>
              <a:avLst/>
              <a:gdLst/>
              <a:ahLst/>
              <a:cxnLst/>
              <a:rect l="l" t="t" r="r" b="b"/>
              <a:pathLst>
                <a:path w="6495415" h="4358640">
                  <a:moveTo>
                    <a:pt x="0" y="4358640"/>
                  </a:moveTo>
                  <a:lnTo>
                    <a:pt x="6495287" y="4358640"/>
                  </a:lnTo>
                  <a:lnTo>
                    <a:pt x="6495287" y="0"/>
                  </a:lnTo>
                  <a:lnTo>
                    <a:pt x="0" y="0"/>
                  </a:lnTo>
                  <a:lnTo>
                    <a:pt x="0" y="43586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689" y="1155953"/>
            <a:ext cx="4953635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latin typeface="Calibri"/>
                <a:cs typeface="Calibri"/>
              </a:rPr>
              <a:t>Send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Sensor</a:t>
            </a:r>
            <a:r>
              <a:rPr sz="1800" b="1" spc="-35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values</a:t>
            </a:r>
            <a:r>
              <a:rPr sz="1800" b="1" spc="-30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to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Cloud</a:t>
            </a:r>
            <a:r>
              <a:rPr sz="1800" b="1" spc="-20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using</a:t>
            </a:r>
            <a:r>
              <a:rPr sz="1800" b="1" spc="-30">
                <a:latin typeface="Calibri"/>
                <a:cs typeface="Calibri"/>
              </a:rPr>
              <a:t> </a:t>
            </a:r>
            <a:r>
              <a:rPr sz="1800" b="1" spc="-15">
                <a:latin typeface="Calibri"/>
                <a:cs typeface="Calibri"/>
              </a:rPr>
              <a:t>MQTT</a:t>
            </a:r>
            <a:r>
              <a:rPr sz="1800" b="1" spc="10">
                <a:latin typeface="Calibri"/>
                <a:cs typeface="Calibri"/>
              </a:rPr>
              <a:t> </a:t>
            </a:r>
            <a:r>
              <a:rPr sz="1800" b="1" spc="-20">
                <a:latin typeface="Calibri"/>
                <a:cs typeface="Calibri"/>
              </a:rPr>
              <a:t>Protocol: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alibri"/>
              <a:cs typeface="Calibri"/>
            </a:endParaRPr>
          </a:p>
          <a:p>
            <a:pPr marL="299085" marR="26473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Ultrasonic</a:t>
            </a:r>
            <a:r>
              <a:rPr sz="180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Sensor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reads </a:t>
            </a:r>
            <a:r>
              <a:rPr sz="1800" spc="-10">
                <a:latin typeface="Calibri"/>
                <a:cs typeface="Calibri"/>
              </a:rPr>
              <a:t>the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distance </a:t>
            </a:r>
            <a:r>
              <a:rPr sz="1800" spc="-15">
                <a:latin typeface="Calibri"/>
                <a:cs typeface="Calibri"/>
              </a:rPr>
              <a:t> between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itself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&amp;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the 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object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marR="272097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>
                <a:latin typeface="Calibri"/>
                <a:cs typeface="Calibri"/>
              </a:rPr>
              <a:t>Sends the </a:t>
            </a:r>
            <a:r>
              <a:rPr sz="1800" spc="-15">
                <a:latin typeface="Calibri"/>
                <a:cs typeface="Calibri"/>
              </a:rPr>
              <a:t>measured 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distance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to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the </a:t>
            </a:r>
            <a:r>
              <a:rPr sz="1800" spc="-15">
                <a:latin typeface="Calibri"/>
                <a:cs typeface="Calibri"/>
              </a:rPr>
              <a:t>cloud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server using </a:t>
            </a:r>
            <a:r>
              <a:rPr sz="1800" spc="-15">
                <a:latin typeface="Calibri"/>
                <a:cs typeface="Calibri"/>
              </a:rPr>
              <a:t>MQTT 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protocol.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marR="303593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20">
                <a:latin typeface="Calibri"/>
                <a:cs typeface="Calibri"/>
              </a:rPr>
              <a:t>Here,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the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cloud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is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ThingSpeak.com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84E47-EE64-6532-2A1E-10216DD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0925A-2ACD-EFDD-B5E5-04E72C59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252" y="1070228"/>
            <a:ext cx="3725545" cy="467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1800" spc="-10">
                <a:solidFill>
                  <a:srgbClr val="C00000"/>
                </a:solidFill>
                <a:latin typeface="Arial MT"/>
                <a:cs typeface="Arial MT"/>
              </a:rPr>
              <a:t>Hardware</a:t>
            </a:r>
            <a:endParaRPr sz="18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ESP8266</a:t>
            </a:r>
            <a:r>
              <a:rPr sz="1900">
                <a:latin typeface="Arial MT"/>
                <a:cs typeface="Arial MT"/>
              </a:rPr>
              <a:t> </a:t>
            </a:r>
            <a:r>
              <a:rPr sz="1900" spc="-10">
                <a:latin typeface="Arial MT"/>
                <a:cs typeface="Arial MT"/>
              </a:rPr>
              <a:t>NodeMCU</a:t>
            </a:r>
            <a:endParaRPr sz="19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Breadboard</a:t>
            </a:r>
            <a:endParaRPr sz="19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Jumper</a:t>
            </a:r>
            <a:r>
              <a:rPr sz="1900" spc="-15">
                <a:latin typeface="Arial MT"/>
                <a:cs typeface="Arial MT"/>
              </a:rPr>
              <a:t> </a:t>
            </a:r>
            <a:r>
              <a:rPr sz="1900" spc="-5">
                <a:latin typeface="Arial MT"/>
                <a:cs typeface="Arial MT"/>
              </a:rPr>
              <a:t>Wires</a:t>
            </a:r>
            <a:endParaRPr sz="19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HC-SR04</a:t>
            </a:r>
            <a:r>
              <a:rPr sz="1900" spc="20">
                <a:latin typeface="Arial MT"/>
                <a:cs typeface="Arial MT"/>
              </a:rPr>
              <a:t> </a:t>
            </a:r>
            <a:r>
              <a:rPr sz="1900" spc="-10">
                <a:latin typeface="Arial MT"/>
                <a:cs typeface="Arial MT"/>
              </a:rPr>
              <a:t>Ultrasonic</a:t>
            </a:r>
            <a:r>
              <a:rPr sz="1900" spc="20">
                <a:latin typeface="Arial MT"/>
                <a:cs typeface="Arial MT"/>
              </a:rPr>
              <a:t> </a:t>
            </a:r>
            <a:r>
              <a:rPr sz="1900" spc="-5">
                <a:latin typeface="Arial MT"/>
                <a:cs typeface="Arial MT"/>
              </a:rPr>
              <a:t>Sensor</a:t>
            </a:r>
            <a:endParaRPr sz="19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Raspberry</a:t>
            </a:r>
            <a:r>
              <a:rPr sz="1900" spc="-15">
                <a:latin typeface="Arial MT"/>
                <a:cs typeface="Arial MT"/>
              </a:rPr>
              <a:t> </a:t>
            </a:r>
            <a:r>
              <a:rPr sz="1900" spc="-5">
                <a:latin typeface="Arial MT"/>
                <a:cs typeface="Arial MT"/>
              </a:rPr>
              <a:t>Pi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ts val="2160"/>
              </a:lnSpc>
            </a:pPr>
            <a:r>
              <a:rPr sz="1800" spc="-10">
                <a:solidFill>
                  <a:srgbClr val="C00000"/>
                </a:solidFill>
                <a:latin typeface="Arial MT"/>
                <a:cs typeface="Arial MT"/>
              </a:rPr>
              <a:t>Software</a:t>
            </a:r>
            <a:endParaRPr sz="1800">
              <a:latin typeface="Arial MT"/>
              <a:cs typeface="Arial MT"/>
            </a:endParaRPr>
          </a:p>
          <a:p>
            <a:pPr marL="554990" indent="-85725">
              <a:lnSpc>
                <a:spcPts val="228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Arduino</a:t>
            </a:r>
            <a:r>
              <a:rPr sz="1900">
                <a:latin typeface="Arial MT"/>
                <a:cs typeface="Arial MT"/>
              </a:rPr>
              <a:t> </a:t>
            </a:r>
            <a:r>
              <a:rPr sz="1900" spc="-5">
                <a:latin typeface="Arial MT"/>
                <a:cs typeface="Arial MT"/>
              </a:rPr>
              <a:t>IDE</a:t>
            </a:r>
            <a:endParaRPr sz="19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5">
                <a:latin typeface="Arial MT"/>
                <a:cs typeface="Arial MT"/>
              </a:rPr>
              <a:t>Fritzing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ts val="2160"/>
              </a:lnSpc>
              <a:spcBef>
                <a:spcPts val="5"/>
              </a:spcBef>
            </a:pPr>
            <a:r>
              <a:rPr sz="1800" spc="-10">
                <a:solidFill>
                  <a:srgbClr val="C00000"/>
                </a:solidFill>
                <a:latin typeface="Arial MT"/>
                <a:cs typeface="Arial MT"/>
              </a:rPr>
              <a:t>Cloud</a:t>
            </a:r>
            <a:r>
              <a:rPr sz="1800" spc="-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C00000"/>
                </a:solidFill>
                <a:latin typeface="Arial MT"/>
                <a:cs typeface="Arial MT"/>
              </a:rPr>
              <a:t>Platform</a:t>
            </a:r>
            <a:endParaRPr sz="1800">
              <a:latin typeface="Arial MT"/>
              <a:cs typeface="Arial MT"/>
            </a:endParaRPr>
          </a:p>
          <a:p>
            <a:pPr marL="554990" indent="-85725">
              <a:lnSpc>
                <a:spcPct val="100000"/>
              </a:lnSpc>
              <a:buSzPct val="94736"/>
              <a:buChar char="•"/>
              <a:tabLst>
                <a:tab pos="555625" algn="l"/>
              </a:tabLst>
            </a:pPr>
            <a:r>
              <a:rPr sz="1900" spc="-10">
                <a:latin typeface="Arial MT"/>
                <a:cs typeface="Arial MT"/>
              </a:rPr>
              <a:t>ThingSpeak</a:t>
            </a:r>
            <a:r>
              <a:rPr sz="1900" spc="-75">
                <a:latin typeface="Arial MT"/>
                <a:cs typeface="Arial MT"/>
              </a:rPr>
              <a:t> </a:t>
            </a:r>
            <a:r>
              <a:rPr sz="1900" spc="-5">
                <a:latin typeface="Arial MT"/>
                <a:cs typeface="Arial MT"/>
              </a:rPr>
              <a:t>Account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Arial MT"/>
              <a:cs typeface="Arial MT"/>
            </a:endParaRPr>
          </a:p>
          <a:p>
            <a:pPr marL="469900" marR="5080">
              <a:lnSpc>
                <a:spcPct val="100000"/>
              </a:lnSpc>
              <a:spcBef>
                <a:spcPts val="5"/>
              </a:spcBef>
            </a:pPr>
            <a:r>
              <a:rPr sz="1400" spc="-5">
                <a:latin typeface="Arial MT"/>
                <a:cs typeface="Arial MT"/>
              </a:rPr>
              <a:t>ThingSpeak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is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IoT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analytics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PaaS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that </a:t>
            </a:r>
            <a:r>
              <a:rPr sz="1400" spc="-37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allows </a:t>
            </a:r>
            <a:r>
              <a:rPr sz="1400" spc="-10">
                <a:latin typeface="Arial MT"/>
                <a:cs typeface="Arial MT"/>
              </a:rPr>
              <a:t>you </a:t>
            </a:r>
            <a:r>
              <a:rPr sz="1400">
                <a:latin typeface="Arial MT"/>
                <a:cs typeface="Arial MT"/>
              </a:rPr>
              <a:t>to </a:t>
            </a:r>
            <a:r>
              <a:rPr sz="1400" spc="-5">
                <a:latin typeface="Arial MT"/>
                <a:cs typeface="Arial MT"/>
              </a:rPr>
              <a:t>aggregate, visualize, and </a:t>
            </a:r>
            <a:r>
              <a:rPr sz="140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analyze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live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data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streams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3410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Requirements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CA8D14E6-C2A7-C043-9CA4-721D0A137081}" type="datetime1">
              <a:rPr lang="en-US" smtClean="0"/>
              <a:t>9/1/26</a:t>
            </a:fld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043939"/>
            <a:ext cx="3579193" cy="33087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8771" y="4818179"/>
            <a:ext cx="1318259" cy="8960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7403" y="4674108"/>
            <a:ext cx="1228344" cy="130180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B5881-51F7-A56C-86BE-46115145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DFC98-2B22-62D1-2B98-18DAAF63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710" y="1241551"/>
            <a:ext cx="8876030" cy="1612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>
                <a:latin typeface="Arial MT"/>
                <a:cs typeface="Arial MT"/>
              </a:rPr>
              <a:t>The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ESP8266 NodeMCU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requires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certain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libraries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for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optimal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use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-5">
                <a:latin typeface="Arial MT"/>
                <a:cs typeface="Arial MT"/>
              </a:rPr>
              <a:t>of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the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board.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10">
                <a:solidFill>
                  <a:srgbClr val="C00000"/>
                </a:solidFill>
                <a:latin typeface="Arial MT"/>
                <a:cs typeface="Arial MT"/>
              </a:rPr>
              <a:t>PubSubClient</a:t>
            </a:r>
            <a:r>
              <a:rPr sz="1800" spc="2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1800" spc="-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It</a:t>
            </a:r>
            <a:r>
              <a:rPr sz="1800" spc="-5">
                <a:latin typeface="Arial MT"/>
                <a:cs typeface="Arial MT"/>
              </a:rPr>
              <a:t> is required</a:t>
            </a:r>
            <a:r>
              <a:rPr sz="1800" spc="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for the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MQTT</a:t>
            </a:r>
            <a:r>
              <a:rPr sz="1800" spc="-5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Messaging.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>
                <a:solidFill>
                  <a:srgbClr val="C00000"/>
                </a:solidFill>
                <a:latin typeface="Arial MT"/>
                <a:cs typeface="Arial MT"/>
              </a:rPr>
              <a:t>ThingSpeak</a:t>
            </a:r>
            <a:r>
              <a:rPr sz="1800" spc="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C00000"/>
                </a:solidFill>
                <a:latin typeface="Arial MT"/>
                <a:cs typeface="Arial MT"/>
              </a:rPr>
              <a:t>– </a:t>
            </a:r>
            <a:r>
              <a:rPr sz="1800">
                <a:latin typeface="Arial MT"/>
                <a:cs typeface="Arial MT"/>
              </a:rPr>
              <a:t>It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is</a:t>
            </a:r>
            <a:r>
              <a:rPr sz="1800">
                <a:latin typeface="Arial MT"/>
                <a:cs typeface="Arial MT"/>
              </a:rPr>
              <a:t> a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communication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library</a:t>
            </a:r>
            <a:r>
              <a:rPr sz="1800" spc="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for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supporting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to </a:t>
            </a:r>
            <a:r>
              <a:rPr sz="1800" spc="-5">
                <a:solidFill>
                  <a:srgbClr val="0000FF"/>
                </a:solidFill>
                <a:latin typeface="Arial MT"/>
                <a:cs typeface="Arial MT"/>
              </a:rPr>
              <a:t>send </a:t>
            </a:r>
            <a:r>
              <a:rPr sz="1800" spc="-5">
                <a:latin typeface="Arial MT"/>
                <a:cs typeface="Arial MT"/>
              </a:rPr>
              <a:t>data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to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cloud.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>
                <a:solidFill>
                  <a:srgbClr val="C00000"/>
                </a:solidFill>
                <a:latin typeface="Arial MT"/>
                <a:cs typeface="Arial MT"/>
              </a:rPr>
              <a:t>ESP8266WiFi</a:t>
            </a:r>
            <a:r>
              <a:rPr sz="1800" spc="1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–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It</a:t>
            </a:r>
            <a:r>
              <a:rPr sz="1800" spc="-5">
                <a:latin typeface="Arial MT"/>
                <a:cs typeface="Arial MT"/>
              </a:rPr>
              <a:t> is required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to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use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 </a:t>
            </a:r>
            <a:r>
              <a:rPr sz="1800">
                <a:solidFill>
                  <a:srgbClr val="0000FF"/>
                </a:solidFill>
                <a:latin typeface="Arial MT"/>
                <a:cs typeface="Arial MT"/>
              </a:rPr>
              <a:t>Wi-Fi</a:t>
            </a:r>
            <a:r>
              <a:rPr sz="1800" spc="-10">
                <a:solidFill>
                  <a:srgbClr val="0000FF"/>
                </a:solidFill>
                <a:latin typeface="Arial MT"/>
                <a:cs typeface="Arial MT"/>
              </a:rPr>
              <a:t> capabilities</a:t>
            </a:r>
            <a:r>
              <a:rPr sz="1800" spc="3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of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</a:t>
            </a:r>
            <a:r>
              <a:rPr sz="1800" spc="-5">
                <a:latin typeface="Arial MT"/>
                <a:cs typeface="Arial MT"/>
              </a:rPr>
              <a:t> NodeMCU.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71920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ESP8266</a:t>
            </a:r>
            <a:r>
              <a:rPr sz="40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NodeMCU:</a:t>
            </a:r>
            <a:r>
              <a:rPr sz="4000" spc="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Libraries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7DEA75AD-840D-0749-AFF4-C1AE454ABCAC}" type="datetime1">
              <a:rPr lang="en-US" smtClean="0"/>
              <a:t>9/1/26</a:t>
            </a:fld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710" y="3507349"/>
            <a:ext cx="5586730" cy="15576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800">
                <a:latin typeface="Arial MT"/>
                <a:cs typeface="Arial MT"/>
              </a:rPr>
              <a:t>Step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to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install above</a:t>
            </a:r>
            <a:r>
              <a:rPr sz="180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libraries</a:t>
            </a:r>
            <a:r>
              <a:rPr sz="1800">
                <a:latin typeface="Arial MT"/>
                <a:cs typeface="Arial MT"/>
              </a:rPr>
              <a:t> for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programming</a:t>
            </a:r>
            <a:r>
              <a:rPr sz="1800" spc="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part:</a:t>
            </a:r>
            <a:endParaRPr sz="1800">
              <a:latin typeface="Arial MT"/>
              <a:cs typeface="Arial MT"/>
            </a:endParaRPr>
          </a:p>
          <a:p>
            <a:pPr marL="756285" indent="-287020">
              <a:lnSpc>
                <a:spcPct val="100000"/>
              </a:lnSpc>
              <a:spcBef>
                <a:spcPts val="610"/>
              </a:spcBef>
              <a:buChar char="•"/>
              <a:tabLst>
                <a:tab pos="756285" algn="l"/>
                <a:tab pos="756920" algn="l"/>
              </a:tabLst>
            </a:pPr>
            <a:r>
              <a:rPr sz="1400">
                <a:latin typeface="Arial MT"/>
                <a:cs typeface="Arial MT"/>
              </a:rPr>
              <a:t>Open</a:t>
            </a:r>
            <a:r>
              <a:rPr sz="1400" spc="-10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Arduino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</a:t>
            </a:r>
            <a:r>
              <a:rPr sz="1400" spc="-10">
                <a:latin typeface="Arial MT"/>
                <a:cs typeface="Arial MT"/>
              </a:rPr>
              <a:t>D</a:t>
            </a:r>
            <a:r>
              <a:rPr sz="1400">
                <a:latin typeface="Arial MT"/>
                <a:cs typeface="Arial MT"/>
              </a:rPr>
              <a:t>E</a:t>
            </a:r>
          </a:p>
          <a:p>
            <a:pPr marL="756285" indent="-287020">
              <a:lnSpc>
                <a:spcPct val="100000"/>
              </a:lnSpc>
              <a:spcBef>
                <a:spcPts val="600"/>
              </a:spcBef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Arial MT"/>
                <a:cs typeface="Arial MT"/>
              </a:rPr>
              <a:t>Move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on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35">
                <a:latin typeface="Arial MT"/>
                <a:cs typeface="Arial MT"/>
              </a:rPr>
              <a:t>Tools</a:t>
            </a:r>
            <a:endParaRPr sz="1400">
              <a:latin typeface="Arial MT"/>
              <a:cs typeface="Arial MT"/>
            </a:endParaRPr>
          </a:p>
          <a:p>
            <a:pPr marL="756285" indent="-287020">
              <a:lnSpc>
                <a:spcPct val="100000"/>
              </a:lnSpc>
              <a:spcBef>
                <a:spcPts val="600"/>
              </a:spcBef>
              <a:buChar char="•"/>
              <a:tabLst>
                <a:tab pos="756285" algn="l"/>
                <a:tab pos="756920" algn="l"/>
              </a:tabLst>
            </a:pPr>
            <a:r>
              <a:rPr sz="1400" spc="-5">
                <a:latin typeface="Arial MT"/>
                <a:cs typeface="Arial MT"/>
              </a:rPr>
              <a:t>Manage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Libraries…</a:t>
            </a:r>
            <a:endParaRPr sz="1400">
              <a:latin typeface="Arial MT"/>
              <a:cs typeface="Arial MT"/>
            </a:endParaRPr>
          </a:p>
          <a:p>
            <a:pPr marL="756285" indent="-287020">
              <a:lnSpc>
                <a:spcPct val="100000"/>
              </a:lnSpc>
              <a:spcBef>
                <a:spcPts val="600"/>
              </a:spcBef>
              <a:buChar char="•"/>
              <a:tabLst>
                <a:tab pos="756285" algn="l"/>
                <a:tab pos="756920" algn="l"/>
              </a:tabLst>
            </a:pPr>
            <a:r>
              <a:rPr sz="1400">
                <a:latin typeface="Arial MT"/>
                <a:cs typeface="Arial MT"/>
              </a:rPr>
              <a:t>Search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install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above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mentioned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libraries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20A8E-B32E-05D3-B288-D266FDB8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99964-9FBF-A40C-F102-FF60F0B2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4646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Setup</a:t>
            </a:r>
            <a:r>
              <a:rPr sz="4000" spc="-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Connections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6196F692-BFE7-CA42-B5DD-CB529A74EABE}" type="datetime1">
              <a:rPr lang="en-US" smtClean="0"/>
              <a:t>9/1/26</a:t>
            </a:fld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7798" y="2371470"/>
            <a:ext cx="4993005" cy="2550160"/>
            <a:chOff x="367798" y="2371470"/>
            <a:chExt cx="4993005" cy="2550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798" y="2686598"/>
              <a:ext cx="4293937" cy="22347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37455" y="2371470"/>
              <a:ext cx="823594" cy="827405"/>
            </a:xfrm>
            <a:custGeom>
              <a:avLst/>
              <a:gdLst/>
              <a:ahLst/>
              <a:cxnLst/>
              <a:rect l="l" t="t" r="r" b="b"/>
              <a:pathLst>
                <a:path w="823595" h="827405">
                  <a:moveTo>
                    <a:pt x="360934" y="361950"/>
                  </a:moveTo>
                  <a:lnTo>
                    <a:pt x="356870" y="362457"/>
                  </a:lnTo>
                  <a:lnTo>
                    <a:pt x="354711" y="365251"/>
                  </a:lnTo>
                  <a:lnTo>
                    <a:pt x="0" y="819276"/>
                  </a:lnTo>
                  <a:lnTo>
                    <a:pt x="10033" y="827151"/>
                  </a:lnTo>
                  <a:lnTo>
                    <a:pt x="360819" y="378023"/>
                  </a:lnTo>
                  <a:lnTo>
                    <a:pt x="355854" y="374141"/>
                  </a:lnTo>
                  <a:lnTo>
                    <a:pt x="364744" y="372999"/>
                  </a:lnTo>
                  <a:lnTo>
                    <a:pt x="374975" y="372999"/>
                  </a:lnTo>
                  <a:lnTo>
                    <a:pt x="363601" y="364108"/>
                  </a:lnTo>
                  <a:lnTo>
                    <a:pt x="360934" y="361950"/>
                  </a:lnTo>
                  <a:close/>
                </a:path>
                <a:path w="823595" h="827405">
                  <a:moveTo>
                    <a:pt x="374975" y="372999"/>
                  </a:moveTo>
                  <a:lnTo>
                    <a:pt x="364744" y="372999"/>
                  </a:lnTo>
                  <a:lnTo>
                    <a:pt x="360819" y="378023"/>
                  </a:lnTo>
                  <a:lnTo>
                    <a:pt x="467360" y="461263"/>
                  </a:lnTo>
                  <a:lnTo>
                    <a:pt x="471297" y="460755"/>
                  </a:lnTo>
                  <a:lnTo>
                    <a:pt x="473456" y="457962"/>
                  </a:lnTo>
                  <a:lnTo>
                    <a:pt x="479510" y="450214"/>
                  </a:lnTo>
                  <a:lnTo>
                    <a:pt x="463423" y="450214"/>
                  </a:lnTo>
                  <a:lnTo>
                    <a:pt x="467347" y="445191"/>
                  </a:lnTo>
                  <a:lnTo>
                    <a:pt x="374975" y="372999"/>
                  </a:lnTo>
                  <a:close/>
                </a:path>
                <a:path w="823595" h="827405">
                  <a:moveTo>
                    <a:pt x="467347" y="445191"/>
                  </a:moveTo>
                  <a:lnTo>
                    <a:pt x="463423" y="450214"/>
                  </a:lnTo>
                  <a:lnTo>
                    <a:pt x="472313" y="449071"/>
                  </a:lnTo>
                  <a:lnTo>
                    <a:pt x="467347" y="445191"/>
                  </a:lnTo>
                  <a:close/>
                </a:path>
                <a:path w="823595" h="827405">
                  <a:moveTo>
                    <a:pt x="771286" y="56159"/>
                  </a:moveTo>
                  <a:lnTo>
                    <a:pt x="467347" y="445191"/>
                  </a:lnTo>
                  <a:lnTo>
                    <a:pt x="472313" y="449071"/>
                  </a:lnTo>
                  <a:lnTo>
                    <a:pt x="463423" y="450214"/>
                  </a:lnTo>
                  <a:lnTo>
                    <a:pt x="479510" y="450214"/>
                  </a:lnTo>
                  <a:lnTo>
                    <a:pt x="781330" y="64016"/>
                  </a:lnTo>
                  <a:lnTo>
                    <a:pt x="771286" y="56159"/>
                  </a:lnTo>
                  <a:close/>
                </a:path>
                <a:path w="823595" h="827405">
                  <a:moveTo>
                    <a:pt x="364744" y="372999"/>
                  </a:moveTo>
                  <a:lnTo>
                    <a:pt x="355854" y="374141"/>
                  </a:lnTo>
                  <a:lnTo>
                    <a:pt x="360819" y="378023"/>
                  </a:lnTo>
                  <a:lnTo>
                    <a:pt x="364744" y="372999"/>
                  </a:lnTo>
                  <a:close/>
                </a:path>
                <a:path w="823595" h="827405">
                  <a:moveTo>
                    <a:pt x="813895" y="46100"/>
                  </a:moveTo>
                  <a:lnTo>
                    <a:pt x="779145" y="46100"/>
                  </a:lnTo>
                  <a:lnTo>
                    <a:pt x="789178" y="53975"/>
                  </a:lnTo>
                  <a:lnTo>
                    <a:pt x="781330" y="64016"/>
                  </a:lnTo>
                  <a:lnTo>
                    <a:pt x="806323" y="83565"/>
                  </a:lnTo>
                  <a:lnTo>
                    <a:pt x="813895" y="46100"/>
                  </a:lnTo>
                  <a:close/>
                </a:path>
                <a:path w="823595" h="827405">
                  <a:moveTo>
                    <a:pt x="779145" y="46100"/>
                  </a:moveTo>
                  <a:lnTo>
                    <a:pt x="771286" y="56159"/>
                  </a:lnTo>
                  <a:lnTo>
                    <a:pt x="781330" y="64016"/>
                  </a:lnTo>
                  <a:lnTo>
                    <a:pt x="789178" y="53975"/>
                  </a:lnTo>
                  <a:lnTo>
                    <a:pt x="779145" y="46100"/>
                  </a:lnTo>
                  <a:close/>
                </a:path>
                <a:path w="823595" h="827405">
                  <a:moveTo>
                    <a:pt x="823214" y="0"/>
                  </a:moveTo>
                  <a:lnTo>
                    <a:pt x="746252" y="36575"/>
                  </a:lnTo>
                  <a:lnTo>
                    <a:pt x="771286" y="56159"/>
                  </a:lnTo>
                  <a:lnTo>
                    <a:pt x="779145" y="46100"/>
                  </a:lnTo>
                  <a:lnTo>
                    <a:pt x="813895" y="46100"/>
                  </a:lnTo>
                  <a:lnTo>
                    <a:pt x="8232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2506" y="3107519"/>
            <a:ext cx="1369756" cy="204784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53583" y="2454910"/>
            <a:ext cx="770890" cy="572770"/>
          </a:xfrm>
          <a:custGeom>
            <a:avLst/>
            <a:gdLst/>
            <a:ahLst/>
            <a:cxnLst/>
            <a:rect l="l" t="t" r="r" b="b"/>
            <a:pathLst>
              <a:path w="770889" h="572769">
                <a:moveTo>
                  <a:pt x="702281" y="538580"/>
                </a:moveTo>
                <a:lnTo>
                  <a:pt x="685926" y="565785"/>
                </a:lnTo>
                <a:lnTo>
                  <a:pt x="770889" y="572388"/>
                </a:lnTo>
                <a:lnTo>
                  <a:pt x="753522" y="545084"/>
                </a:lnTo>
                <a:lnTo>
                  <a:pt x="713104" y="545084"/>
                </a:lnTo>
                <a:lnTo>
                  <a:pt x="702281" y="538580"/>
                </a:lnTo>
                <a:close/>
              </a:path>
              <a:path w="770889" h="572769">
                <a:moveTo>
                  <a:pt x="708801" y="527735"/>
                </a:moveTo>
                <a:lnTo>
                  <a:pt x="702281" y="538580"/>
                </a:lnTo>
                <a:lnTo>
                  <a:pt x="713104" y="545084"/>
                </a:lnTo>
                <a:lnTo>
                  <a:pt x="719708" y="534288"/>
                </a:lnTo>
                <a:lnTo>
                  <a:pt x="708801" y="527735"/>
                </a:lnTo>
                <a:close/>
              </a:path>
              <a:path w="770889" h="572769">
                <a:moveTo>
                  <a:pt x="725169" y="500506"/>
                </a:moveTo>
                <a:lnTo>
                  <a:pt x="708801" y="527735"/>
                </a:lnTo>
                <a:lnTo>
                  <a:pt x="719708" y="534288"/>
                </a:lnTo>
                <a:lnTo>
                  <a:pt x="713104" y="545084"/>
                </a:lnTo>
                <a:lnTo>
                  <a:pt x="753522" y="545084"/>
                </a:lnTo>
                <a:lnTo>
                  <a:pt x="725169" y="500506"/>
                </a:lnTo>
                <a:close/>
              </a:path>
              <a:path w="770889" h="572769">
                <a:moveTo>
                  <a:pt x="400816" y="248308"/>
                </a:moveTo>
                <a:lnTo>
                  <a:pt x="355853" y="323088"/>
                </a:lnTo>
                <a:lnTo>
                  <a:pt x="354075" y="326009"/>
                </a:lnTo>
                <a:lnTo>
                  <a:pt x="355091" y="329945"/>
                </a:lnTo>
                <a:lnTo>
                  <a:pt x="702281" y="538580"/>
                </a:lnTo>
                <a:lnTo>
                  <a:pt x="708801" y="527735"/>
                </a:lnTo>
                <a:lnTo>
                  <a:pt x="378989" y="329564"/>
                </a:lnTo>
                <a:lnTo>
                  <a:pt x="366775" y="329564"/>
                </a:lnTo>
                <a:lnTo>
                  <a:pt x="364616" y="320928"/>
                </a:lnTo>
                <a:lnTo>
                  <a:pt x="371968" y="320928"/>
                </a:lnTo>
                <a:lnTo>
                  <a:pt x="413661" y="251587"/>
                </a:lnTo>
                <a:lnTo>
                  <a:pt x="406272" y="251587"/>
                </a:lnTo>
                <a:lnTo>
                  <a:pt x="400816" y="248308"/>
                </a:lnTo>
                <a:close/>
              </a:path>
              <a:path w="770889" h="572769">
                <a:moveTo>
                  <a:pt x="364616" y="320928"/>
                </a:moveTo>
                <a:lnTo>
                  <a:pt x="366775" y="329564"/>
                </a:lnTo>
                <a:lnTo>
                  <a:pt x="370017" y="324173"/>
                </a:lnTo>
                <a:lnTo>
                  <a:pt x="364616" y="320928"/>
                </a:lnTo>
                <a:close/>
              </a:path>
              <a:path w="770889" h="572769">
                <a:moveTo>
                  <a:pt x="370017" y="324173"/>
                </a:moveTo>
                <a:lnTo>
                  <a:pt x="366775" y="329564"/>
                </a:lnTo>
                <a:lnTo>
                  <a:pt x="378989" y="329564"/>
                </a:lnTo>
                <a:lnTo>
                  <a:pt x="370017" y="324173"/>
                </a:lnTo>
                <a:close/>
              </a:path>
              <a:path w="770889" h="572769">
                <a:moveTo>
                  <a:pt x="371968" y="320928"/>
                </a:moveTo>
                <a:lnTo>
                  <a:pt x="364616" y="320928"/>
                </a:lnTo>
                <a:lnTo>
                  <a:pt x="370017" y="324173"/>
                </a:lnTo>
                <a:lnTo>
                  <a:pt x="371968" y="320928"/>
                </a:lnTo>
                <a:close/>
              </a:path>
              <a:path w="770889" h="572769">
                <a:moveTo>
                  <a:pt x="404113" y="242824"/>
                </a:moveTo>
                <a:lnTo>
                  <a:pt x="400816" y="248308"/>
                </a:lnTo>
                <a:lnTo>
                  <a:pt x="406272" y="251587"/>
                </a:lnTo>
                <a:lnTo>
                  <a:pt x="404113" y="242824"/>
                </a:lnTo>
                <a:close/>
              </a:path>
              <a:path w="770889" h="572769">
                <a:moveTo>
                  <a:pt x="415896" y="242824"/>
                </a:moveTo>
                <a:lnTo>
                  <a:pt x="404113" y="242824"/>
                </a:lnTo>
                <a:lnTo>
                  <a:pt x="406272" y="251587"/>
                </a:lnTo>
                <a:lnTo>
                  <a:pt x="413661" y="251587"/>
                </a:lnTo>
                <a:lnTo>
                  <a:pt x="416813" y="246379"/>
                </a:lnTo>
                <a:lnTo>
                  <a:pt x="415896" y="242824"/>
                </a:lnTo>
                <a:close/>
              </a:path>
              <a:path w="770889" h="572769">
                <a:moveTo>
                  <a:pt x="68608" y="33808"/>
                </a:moveTo>
                <a:lnTo>
                  <a:pt x="62032" y="44747"/>
                </a:lnTo>
                <a:lnTo>
                  <a:pt x="400816" y="248308"/>
                </a:lnTo>
                <a:lnTo>
                  <a:pt x="404113" y="242824"/>
                </a:lnTo>
                <a:lnTo>
                  <a:pt x="415896" y="242824"/>
                </a:lnTo>
                <a:lnTo>
                  <a:pt x="415797" y="242442"/>
                </a:lnTo>
                <a:lnTo>
                  <a:pt x="68608" y="33808"/>
                </a:lnTo>
                <a:close/>
              </a:path>
              <a:path w="770889" h="572769">
                <a:moveTo>
                  <a:pt x="0" y="0"/>
                </a:moveTo>
                <a:lnTo>
                  <a:pt x="45719" y="71881"/>
                </a:lnTo>
                <a:lnTo>
                  <a:pt x="62032" y="44747"/>
                </a:lnTo>
                <a:lnTo>
                  <a:pt x="51180" y="38226"/>
                </a:lnTo>
                <a:lnTo>
                  <a:pt x="57784" y="27304"/>
                </a:lnTo>
                <a:lnTo>
                  <a:pt x="72518" y="27304"/>
                </a:lnTo>
                <a:lnTo>
                  <a:pt x="84962" y="6603"/>
                </a:lnTo>
                <a:lnTo>
                  <a:pt x="0" y="0"/>
                </a:lnTo>
                <a:close/>
              </a:path>
              <a:path w="770889" h="572769">
                <a:moveTo>
                  <a:pt x="57784" y="27304"/>
                </a:moveTo>
                <a:lnTo>
                  <a:pt x="51180" y="38226"/>
                </a:lnTo>
                <a:lnTo>
                  <a:pt x="62032" y="44747"/>
                </a:lnTo>
                <a:lnTo>
                  <a:pt x="68608" y="33808"/>
                </a:lnTo>
                <a:lnTo>
                  <a:pt x="57784" y="27304"/>
                </a:lnTo>
                <a:close/>
              </a:path>
              <a:path w="770889" h="572769">
                <a:moveTo>
                  <a:pt x="72518" y="27304"/>
                </a:moveTo>
                <a:lnTo>
                  <a:pt x="57784" y="27304"/>
                </a:lnTo>
                <a:lnTo>
                  <a:pt x="68608" y="33808"/>
                </a:lnTo>
                <a:lnTo>
                  <a:pt x="72518" y="27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22596" y="1782387"/>
            <a:ext cx="769620" cy="337185"/>
          </a:xfrm>
          <a:custGeom>
            <a:avLst/>
            <a:gdLst/>
            <a:ahLst/>
            <a:cxnLst/>
            <a:rect l="l" t="t" r="r" b="b"/>
            <a:pathLst>
              <a:path w="769620" h="337185">
                <a:moveTo>
                  <a:pt x="206501" y="322256"/>
                </a:moveTo>
                <a:lnTo>
                  <a:pt x="243335" y="293105"/>
                </a:lnTo>
                <a:lnTo>
                  <a:pt x="283790" y="271747"/>
                </a:lnTo>
                <a:lnTo>
                  <a:pt x="326813" y="258140"/>
                </a:lnTo>
                <a:lnTo>
                  <a:pt x="371351" y="252241"/>
                </a:lnTo>
                <a:lnTo>
                  <a:pt x="416349" y="254007"/>
                </a:lnTo>
                <a:lnTo>
                  <a:pt x="460755" y="263394"/>
                </a:lnTo>
                <a:lnTo>
                  <a:pt x="503515" y="280361"/>
                </a:lnTo>
                <a:lnTo>
                  <a:pt x="543575" y="304865"/>
                </a:lnTo>
                <a:lnTo>
                  <a:pt x="579881" y="336861"/>
                </a:lnTo>
              </a:path>
              <a:path w="769620" h="337185">
                <a:moveTo>
                  <a:pt x="206501" y="322256"/>
                </a:moveTo>
                <a:lnTo>
                  <a:pt x="243335" y="293105"/>
                </a:lnTo>
                <a:lnTo>
                  <a:pt x="283790" y="271747"/>
                </a:lnTo>
                <a:lnTo>
                  <a:pt x="326813" y="258140"/>
                </a:lnTo>
                <a:lnTo>
                  <a:pt x="371351" y="252241"/>
                </a:lnTo>
                <a:lnTo>
                  <a:pt x="416349" y="254007"/>
                </a:lnTo>
                <a:lnTo>
                  <a:pt x="460755" y="263394"/>
                </a:lnTo>
                <a:lnTo>
                  <a:pt x="503515" y="280361"/>
                </a:lnTo>
                <a:lnTo>
                  <a:pt x="543575" y="304865"/>
                </a:lnTo>
                <a:lnTo>
                  <a:pt x="579881" y="336861"/>
                </a:lnTo>
              </a:path>
              <a:path w="769620" h="337185">
                <a:moveTo>
                  <a:pt x="105409" y="227006"/>
                </a:moveTo>
                <a:lnTo>
                  <a:pt x="141285" y="196658"/>
                </a:lnTo>
                <a:lnTo>
                  <a:pt x="179718" y="171296"/>
                </a:lnTo>
                <a:lnTo>
                  <a:pt x="220275" y="150903"/>
                </a:lnTo>
                <a:lnTo>
                  <a:pt x="262522" y="135463"/>
                </a:lnTo>
                <a:lnTo>
                  <a:pt x="306028" y="124960"/>
                </a:lnTo>
                <a:lnTo>
                  <a:pt x="350358" y="119374"/>
                </a:lnTo>
                <a:lnTo>
                  <a:pt x="395081" y="118691"/>
                </a:lnTo>
                <a:lnTo>
                  <a:pt x="439762" y="122893"/>
                </a:lnTo>
                <a:lnTo>
                  <a:pt x="483970" y="131963"/>
                </a:lnTo>
                <a:lnTo>
                  <a:pt x="527272" y="145884"/>
                </a:lnTo>
                <a:lnTo>
                  <a:pt x="569233" y="164639"/>
                </a:lnTo>
                <a:lnTo>
                  <a:pt x="609423" y="188211"/>
                </a:lnTo>
                <a:lnTo>
                  <a:pt x="647406" y="216584"/>
                </a:lnTo>
                <a:lnTo>
                  <a:pt x="682751" y="249739"/>
                </a:lnTo>
              </a:path>
              <a:path w="769620" h="337185">
                <a:moveTo>
                  <a:pt x="105409" y="227006"/>
                </a:moveTo>
                <a:lnTo>
                  <a:pt x="141285" y="196658"/>
                </a:lnTo>
                <a:lnTo>
                  <a:pt x="179718" y="171296"/>
                </a:lnTo>
                <a:lnTo>
                  <a:pt x="220275" y="150903"/>
                </a:lnTo>
                <a:lnTo>
                  <a:pt x="262522" y="135463"/>
                </a:lnTo>
                <a:lnTo>
                  <a:pt x="306028" y="124960"/>
                </a:lnTo>
                <a:lnTo>
                  <a:pt x="350358" y="119374"/>
                </a:lnTo>
                <a:lnTo>
                  <a:pt x="395081" y="118691"/>
                </a:lnTo>
                <a:lnTo>
                  <a:pt x="439762" y="122893"/>
                </a:lnTo>
                <a:lnTo>
                  <a:pt x="483970" y="131963"/>
                </a:lnTo>
                <a:lnTo>
                  <a:pt x="527272" y="145884"/>
                </a:lnTo>
                <a:lnTo>
                  <a:pt x="569233" y="164639"/>
                </a:lnTo>
                <a:lnTo>
                  <a:pt x="609423" y="188211"/>
                </a:lnTo>
                <a:lnTo>
                  <a:pt x="647406" y="216584"/>
                </a:lnTo>
                <a:lnTo>
                  <a:pt x="682751" y="249739"/>
                </a:lnTo>
              </a:path>
              <a:path w="769620" h="337185">
                <a:moveTo>
                  <a:pt x="0" y="144710"/>
                </a:moveTo>
                <a:lnTo>
                  <a:pt x="34853" y="114274"/>
                </a:lnTo>
                <a:lnTo>
                  <a:pt x="71640" y="87449"/>
                </a:lnTo>
                <a:lnTo>
                  <a:pt x="110131" y="64225"/>
                </a:lnTo>
                <a:lnTo>
                  <a:pt x="150095" y="44594"/>
                </a:lnTo>
                <a:lnTo>
                  <a:pt x="191300" y="28545"/>
                </a:lnTo>
                <a:lnTo>
                  <a:pt x="233515" y="16071"/>
                </a:lnTo>
                <a:lnTo>
                  <a:pt x="276510" y="7162"/>
                </a:lnTo>
                <a:lnTo>
                  <a:pt x="320053" y="1807"/>
                </a:lnTo>
                <a:lnTo>
                  <a:pt x="363912" y="0"/>
                </a:lnTo>
                <a:lnTo>
                  <a:pt x="407858" y="1729"/>
                </a:lnTo>
                <a:lnTo>
                  <a:pt x="451659" y="6986"/>
                </a:lnTo>
                <a:lnTo>
                  <a:pt x="495083" y="15761"/>
                </a:lnTo>
                <a:lnTo>
                  <a:pt x="537901" y="28046"/>
                </a:lnTo>
                <a:lnTo>
                  <a:pt x="579879" y="43831"/>
                </a:lnTo>
                <a:lnTo>
                  <a:pt x="620789" y="63107"/>
                </a:lnTo>
                <a:lnTo>
                  <a:pt x="660398" y="85865"/>
                </a:lnTo>
                <a:lnTo>
                  <a:pt x="698476" y="112095"/>
                </a:lnTo>
                <a:lnTo>
                  <a:pt x="734790" y="141789"/>
                </a:lnTo>
                <a:lnTo>
                  <a:pt x="769112" y="174936"/>
                </a:lnTo>
              </a:path>
              <a:path w="769620" h="337185">
                <a:moveTo>
                  <a:pt x="0" y="144710"/>
                </a:moveTo>
                <a:lnTo>
                  <a:pt x="34853" y="114274"/>
                </a:lnTo>
                <a:lnTo>
                  <a:pt x="71640" y="87449"/>
                </a:lnTo>
                <a:lnTo>
                  <a:pt x="110131" y="64225"/>
                </a:lnTo>
                <a:lnTo>
                  <a:pt x="150095" y="44594"/>
                </a:lnTo>
                <a:lnTo>
                  <a:pt x="191300" y="28545"/>
                </a:lnTo>
                <a:lnTo>
                  <a:pt x="233515" y="16071"/>
                </a:lnTo>
                <a:lnTo>
                  <a:pt x="276510" y="7162"/>
                </a:lnTo>
                <a:lnTo>
                  <a:pt x="320053" y="1807"/>
                </a:lnTo>
                <a:lnTo>
                  <a:pt x="363912" y="0"/>
                </a:lnTo>
                <a:lnTo>
                  <a:pt x="407858" y="1729"/>
                </a:lnTo>
                <a:lnTo>
                  <a:pt x="451659" y="6986"/>
                </a:lnTo>
                <a:lnTo>
                  <a:pt x="495083" y="15761"/>
                </a:lnTo>
                <a:lnTo>
                  <a:pt x="537901" y="28046"/>
                </a:lnTo>
                <a:lnTo>
                  <a:pt x="579879" y="43831"/>
                </a:lnTo>
                <a:lnTo>
                  <a:pt x="620789" y="63107"/>
                </a:lnTo>
                <a:lnTo>
                  <a:pt x="660398" y="85865"/>
                </a:lnTo>
                <a:lnTo>
                  <a:pt x="698476" y="112095"/>
                </a:lnTo>
                <a:lnTo>
                  <a:pt x="734790" y="141789"/>
                </a:lnTo>
                <a:lnTo>
                  <a:pt x="769112" y="17493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41341" y="1488439"/>
            <a:ext cx="12528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>
                <a:latin typeface="Arial MT"/>
                <a:cs typeface="Arial MT"/>
              </a:rPr>
              <a:t>TP-LINK_ED34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3915" y="5263388"/>
            <a:ext cx="1530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-15">
                <a:latin typeface="Calibri"/>
                <a:cs typeface="Calibri"/>
              </a:rPr>
              <a:t>MQTT </a:t>
            </a:r>
            <a:r>
              <a:rPr sz="1800" spc="-10">
                <a:latin typeface="Calibri"/>
                <a:cs typeface="Calibri"/>
              </a:rPr>
              <a:t>Server 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(Broker) 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"</a:t>
            </a:r>
            <a:r>
              <a:rPr sz="1800" b="1" spc="-15">
                <a:solidFill>
                  <a:srgbClr val="00AF50"/>
                </a:solidFill>
                <a:latin typeface="Calibri"/>
                <a:cs typeface="Calibri"/>
              </a:rPr>
              <a:t>192.168.0.10</a:t>
            </a:r>
            <a:r>
              <a:rPr sz="1800" b="1" spc="-5">
                <a:solidFill>
                  <a:srgbClr val="00AF50"/>
                </a:solidFill>
                <a:latin typeface="Calibri"/>
                <a:cs typeface="Calibri"/>
              </a:rPr>
              <a:t>4</a:t>
            </a:r>
            <a:r>
              <a:rPr sz="1800">
                <a:latin typeface="Calibri"/>
                <a:cs typeface="Calibri"/>
              </a:rPr>
              <a:t>"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64460" y="5089016"/>
            <a:ext cx="1170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1800" spc="-15">
                <a:latin typeface="Calibri"/>
                <a:cs typeface="Calibri"/>
              </a:rPr>
              <a:t>M</a:t>
            </a:r>
            <a:r>
              <a:rPr sz="1800" spc="-50">
                <a:latin typeface="Calibri"/>
                <a:cs typeface="Calibri"/>
              </a:rPr>
              <a:t>Q</a:t>
            </a:r>
            <a:r>
              <a:rPr sz="1800" spc="5">
                <a:latin typeface="Calibri"/>
                <a:cs typeface="Calibri"/>
              </a:rPr>
              <a:t>T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-20">
                <a:latin typeface="Calibri"/>
                <a:cs typeface="Calibri"/>
              </a:rPr>
              <a:t>li</a:t>
            </a:r>
            <a:r>
              <a:rPr sz="1800" spc="-10">
                <a:latin typeface="Calibri"/>
                <a:cs typeface="Calibri"/>
              </a:rPr>
              <a:t>e</a:t>
            </a:r>
            <a:r>
              <a:rPr sz="1800" spc="-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t  </a:t>
            </a:r>
            <a:r>
              <a:rPr sz="1800" spc="-15">
                <a:latin typeface="Calibri"/>
                <a:cs typeface="Calibri"/>
              </a:rPr>
              <a:t>(Publisher)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5438" y="2048637"/>
            <a:ext cx="12719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>
                <a:latin typeface="Arial MT"/>
                <a:cs typeface="Arial MT"/>
              </a:rPr>
              <a:t>Publish</a:t>
            </a:r>
            <a:r>
              <a:rPr sz="1400" spc="60">
                <a:latin typeface="Arial MT"/>
                <a:cs typeface="Arial MT"/>
              </a:rPr>
              <a:t> </a:t>
            </a:r>
            <a:r>
              <a:rPr sz="1400" spc="-5">
                <a:latin typeface="Arial MT"/>
                <a:cs typeface="Arial MT"/>
              </a:rPr>
              <a:t>on </a:t>
            </a:r>
            <a:r>
              <a:rPr sz="1400">
                <a:latin typeface="Arial MT"/>
                <a:cs typeface="Arial MT"/>
              </a:rPr>
              <a:t> </a:t>
            </a:r>
            <a:r>
              <a:rPr sz="1400" spc="-165">
                <a:latin typeface="Arial MT"/>
                <a:cs typeface="Arial MT"/>
              </a:rPr>
              <a:t>T</a:t>
            </a:r>
            <a:r>
              <a:rPr sz="1400" spc="-5">
                <a:latin typeface="Arial MT"/>
                <a:cs typeface="Arial MT"/>
              </a:rPr>
              <a:t>opi</a:t>
            </a:r>
            <a:r>
              <a:rPr sz="1400">
                <a:latin typeface="Arial MT"/>
                <a:cs typeface="Arial MT"/>
              </a:rPr>
              <a:t>c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“dist</a:t>
            </a:r>
            <a:r>
              <a:rPr sz="1400" spc="-5">
                <a:latin typeface="Arial MT"/>
                <a:cs typeface="Arial MT"/>
              </a:rPr>
              <a:t>an</a:t>
            </a:r>
            <a:r>
              <a:rPr sz="1400" spc="-10">
                <a:latin typeface="Arial MT"/>
                <a:cs typeface="Arial MT"/>
              </a:rPr>
              <a:t>c</a:t>
            </a:r>
            <a:r>
              <a:rPr sz="1400" spc="-5">
                <a:latin typeface="Arial MT"/>
                <a:cs typeface="Arial MT"/>
              </a:rPr>
              <a:t>e”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39028" y="1138427"/>
            <a:ext cx="2870200" cy="873760"/>
            <a:chOff x="5939028" y="1138427"/>
            <a:chExt cx="2870200" cy="873760"/>
          </a:xfrm>
        </p:grpSpPr>
        <p:sp>
          <p:nvSpPr>
            <p:cNvPr id="14" name="object 14"/>
            <p:cNvSpPr/>
            <p:nvPr/>
          </p:nvSpPr>
          <p:spPr>
            <a:xfrm>
              <a:off x="7411212" y="1142999"/>
              <a:ext cx="1393190" cy="864235"/>
            </a:xfrm>
            <a:custGeom>
              <a:avLst/>
              <a:gdLst/>
              <a:ahLst/>
              <a:cxnLst/>
              <a:rect l="l" t="t" r="r" b="b"/>
              <a:pathLst>
                <a:path w="1393190" h="864235">
                  <a:moveTo>
                    <a:pt x="0" y="432053"/>
                  </a:moveTo>
                  <a:lnTo>
                    <a:pt x="10085" y="358371"/>
                  </a:lnTo>
                  <a:lnTo>
                    <a:pt x="39227" y="288732"/>
                  </a:lnTo>
                  <a:lnTo>
                    <a:pt x="60421" y="255753"/>
                  </a:lnTo>
                  <a:lnTo>
                    <a:pt x="85753" y="224173"/>
                  </a:lnTo>
                  <a:lnTo>
                    <a:pt x="115013" y="194123"/>
                  </a:lnTo>
                  <a:lnTo>
                    <a:pt x="147992" y="165732"/>
                  </a:lnTo>
                  <a:lnTo>
                    <a:pt x="184482" y="139129"/>
                  </a:lnTo>
                  <a:lnTo>
                    <a:pt x="224272" y="114445"/>
                  </a:lnTo>
                  <a:lnTo>
                    <a:pt x="267155" y="91808"/>
                  </a:lnTo>
                  <a:lnTo>
                    <a:pt x="312922" y="71349"/>
                  </a:lnTo>
                  <a:lnTo>
                    <a:pt x="361363" y="53198"/>
                  </a:lnTo>
                  <a:lnTo>
                    <a:pt x="412269" y="37483"/>
                  </a:lnTo>
                  <a:lnTo>
                    <a:pt x="465432" y="24335"/>
                  </a:lnTo>
                  <a:lnTo>
                    <a:pt x="520642" y="13882"/>
                  </a:lnTo>
                  <a:lnTo>
                    <a:pt x="577690" y="6256"/>
                  </a:lnTo>
                  <a:lnTo>
                    <a:pt x="636369" y="1585"/>
                  </a:lnTo>
                  <a:lnTo>
                    <a:pt x="696468" y="0"/>
                  </a:lnTo>
                  <a:lnTo>
                    <a:pt x="756566" y="1585"/>
                  </a:lnTo>
                  <a:lnTo>
                    <a:pt x="815245" y="6256"/>
                  </a:lnTo>
                  <a:lnTo>
                    <a:pt x="872293" y="13882"/>
                  </a:lnTo>
                  <a:lnTo>
                    <a:pt x="927503" y="24335"/>
                  </a:lnTo>
                  <a:lnTo>
                    <a:pt x="980666" y="37483"/>
                  </a:lnTo>
                  <a:lnTo>
                    <a:pt x="1031572" y="53198"/>
                  </a:lnTo>
                  <a:lnTo>
                    <a:pt x="1080013" y="71349"/>
                  </a:lnTo>
                  <a:lnTo>
                    <a:pt x="1125780" y="91808"/>
                  </a:lnTo>
                  <a:lnTo>
                    <a:pt x="1168663" y="114445"/>
                  </a:lnTo>
                  <a:lnTo>
                    <a:pt x="1208453" y="139129"/>
                  </a:lnTo>
                  <a:lnTo>
                    <a:pt x="1244943" y="165732"/>
                  </a:lnTo>
                  <a:lnTo>
                    <a:pt x="1277922" y="194123"/>
                  </a:lnTo>
                  <a:lnTo>
                    <a:pt x="1307182" y="224173"/>
                  </a:lnTo>
                  <a:lnTo>
                    <a:pt x="1332514" y="255753"/>
                  </a:lnTo>
                  <a:lnTo>
                    <a:pt x="1353708" y="288732"/>
                  </a:lnTo>
                  <a:lnTo>
                    <a:pt x="1370557" y="322982"/>
                  </a:lnTo>
                  <a:lnTo>
                    <a:pt x="1390379" y="394772"/>
                  </a:lnTo>
                  <a:lnTo>
                    <a:pt x="1392936" y="432053"/>
                  </a:lnTo>
                  <a:lnTo>
                    <a:pt x="1390379" y="469335"/>
                  </a:lnTo>
                  <a:lnTo>
                    <a:pt x="1370557" y="541125"/>
                  </a:lnTo>
                  <a:lnTo>
                    <a:pt x="1353708" y="575375"/>
                  </a:lnTo>
                  <a:lnTo>
                    <a:pt x="1332514" y="608354"/>
                  </a:lnTo>
                  <a:lnTo>
                    <a:pt x="1307182" y="639934"/>
                  </a:lnTo>
                  <a:lnTo>
                    <a:pt x="1277922" y="669984"/>
                  </a:lnTo>
                  <a:lnTo>
                    <a:pt x="1244943" y="698375"/>
                  </a:lnTo>
                  <a:lnTo>
                    <a:pt x="1208453" y="724978"/>
                  </a:lnTo>
                  <a:lnTo>
                    <a:pt x="1168663" y="749662"/>
                  </a:lnTo>
                  <a:lnTo>
                    <a:pt x="1125780" y="772299"/>
                  </a:lnTo>
                  <a:lnTo>
                    <a:pt x="1080013" y="792758"/>
                  </a:lnTo>
                  <a:lnTo>
                    <a:pt x="1031572" y="810909"/>
                  </a:lnTo>
                  <a:lnTo>
                    <a:pt x="980666" y="826624"/>
                  </a:lnTo>
                  <a:lnTo>
                    <a:pt x="927503" y="839772"/>
                  </a:lnTo>
                  <a:lnTo>
                    <a:pt x="872293" y="850225"/>
                  </a:lnTo>
                  <a:lnTo>
                    <a:pt x="815245" y="857851"/>
                  </a:lnTo>
                  <a:lnTo>
                    <a:pt x="756566" y="862522"/>
                  </a:lnTo>
                  <a:lnTo>
                    <a:pt x="696468" y="864108"/>
                  </a:lnTo>
                  <a:lnTo>
                    <a:pt x="636369" y="862522"/>
                  </a:lnTo>
                  <a:lnTo>
                    <a:pt x="577690" y="857851"/>
                  </a:lnTo>
                  <a:lnTo>
                    <a:pt x="520642" y="850225"/>
                  </a:lnTo>
                  <a:lnTo>
                    <a:pt x="465432" y="839772"/>
                  </a:lnTo>
                  <a:lnTo>
                    <a:pt x="412269" y="826624"/>
                  </a:lnTo>
                  <a:lnTo>
                    <a:pt x="361363" y="810909"/>
                  </a:lnTo>
                  <a:lnTo>
                    <a:pt x="312922" y="792758"/>
                  </a:lnTo>
                  <a:lnTo>
                    <a:pt x="267155" y="772299"/>
                  </a:lnTo>
                  <a:lnTo>
                    <a:pt x="224272" y="749662"/>
                  </a:lnTo>
                  <a:lnTo>
                    <a:pt x="184482" y="724978"/>
                  </a:lnTo>
                  <a:lnTo>
                    <a:pt x="147992" y="698375"/>
                  </a:lnTo>
                  <a:lnTo>
                    <a:pt x="115013" y="669984"/>
                  </a:lnTo>
                  <a:lnTo>
                    <a:pt x="85753" y="639934"/>
                  </a:lnTo>
                  <a:lnTo>
                    <a:pt x="60421" y="608354"/>
                  </a:lnTo>
                  <a:lnTo>
                    <a:pt x="39227" y="575375"/>
                  </a:lnTo>
                  <a:lnTo>
                    <a:pt x="22378" y="541125"/>
                  </a:lnTo>
                  <a:lnTo>
                    <a:pt x="2556" y="469335"/>
                  </a:lnTo>
                  <a:lnTo>
                    <a:pt x="0" y="432053"/>
                  </a:lnTo>
                  <a:close/>
                </a:path>
              </a:pathLst>
            </a:custGeom>
            <a:ln w="9143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39028" y="1767840"/>
              <a:ext cx="1472565" cy="167640"/>
            </a:xfrm>
            <a:custGeom>
              <a:avLst/>
              <a:gdLst/>
              <a:ahLst/>
              <a:cxnLst/>
              <a:rect l="l" t="t" r="r" b="b"/>
              <a:pathLst>
                <a:path w="1472565" h="167639">
                  <a:moveTo>
                    <a:pt x="76200" y="90932"/>
                  </a:moveTo>
                  <a:lnTo>
                    <a:pt x="0" y="129032"/>
                  </a:lnTo>
                  <a:lnTo>
                    <a:pt x="76200" y="167132"/>
                  </a:lnTo>
                  <a:lnTo>
                    <a:pt x="76200" y="135382"/>
                  </a:lnTo>
                  <a:lnTo>
                    <a:pt x="63500" y="135382"/>
                  </a:lnTo>
                  <a:lnTo>
                    <a:pt x="63500" y="122682"/>
                  </a:lnTo>
                  <a:lnTo>
                    <a:pt x="76200" y="122682"/>
                  </a:lnTo>
                  <a:lnTo>
                    <a:pt x="76200" y="90932"/>
                  </a:lnTo>
                  <a:close/>
                </a:path>
                <a:path w="1472565" h="167639">
                  <a:moveTo>
                    <a:pt x="76200" y="122682"/>
                  </a:moveTo>
                  <a:lnTo>
                    <a:pt x="63500" y="122682"/>
                  </a:lnTo>
                  <a:lnTo>
                    <a:pt x="63500" y="135382"/>
                  </a:lnTo>
                  <a:lnTo>
                    <a:pt x="76200" y="135382"/>
                  </a:lnTo>
                  <a:lnTo>
                    <a:pt x="76200" y="122682"/>
                  </a:lnTo>
                  <a:close/>
                </a:path>
                <a:path w="1472565" h="167639">
                  <a:moveTo>
                    <a:pt x="729869" y="122682"/>
                  </a:moveTo>
                  <a:lnTo>
                    <a:pt x="76200" y="122682"/>
                  </a:lnTo>
                  <a:lnTo>
                    <a:pt x="76200" y="135382"/>
                  </a:lnTo>
                  <a:lnTo>
                    <a:pt x="739648" y="135382"/>
                  </a:lnTo>
                  <a:lnTo>
                    <a:pt x="742569" y="132587"/>
                  </a:lnTo>
                  <a:lnTo>
                    <a:pt x="742569" y="129032"/>
                  </a:lnTo>
                  <a:lnTo>
                    <a:pt x="729869" y="129032"/>
                  </a:lnTo>
                  <a:lnTo>
                    <a:pt x="729869" y="122682"/>
                  </a:lnTo>
                  <a:close/>
                </a:path>
                <a:path w="1472565" h="167639">
                  <a:moveTo>
                    <a:pt x="1396111" y="31750"/>
                  </a:moveTo>
                  <a:lnTo>
                    <a:pt x="732663" y="31750"/>
                  </a:lnTo>
                  <a:lnTo>
                    <a:pt x="729869" y="34544"/>
                  </a:lnTo>
                  <a:lnTo>
                    <a:pt x="729869" y="129032"/>
                  </a:lnTo>
                  <a:lnTo>
                    <a:pt x="736219" y="122682"/>
                  </a:lnTo>
                  <a:lnTo>
                    <a:pt x="742569" y="122682"/>
                  </a:lnTo>
                  <a:lnTo>
                    <a:pt x="742569" y="44450"/>
                  </a:lnTo>
                  <a:lnTo>
                    <a:pt x="736219" y="44450"/>
                  </a:lnTo>
                  <a:lnTo>
                    <a:pt x="742569" y="38100"/>
                  </a:lnTo>
                  <a:lnTo>
                    <a:pt x="1396111" y="38100"/>
                  </a:lnTo>
                  <a:lnTo>
                    <a:pt x="1396111" y="31750"/>
                  </a:lnTo>
                  <a:close/>
                </a:path>
                <a:path w="1472565" h="167639">
                  <a:moveTo>
                    <a:pt x="742569" y="122682"/>
                  </a:moveTo>
                  <a:lnTo>
                    <a:pt x="736219" y="122682"/>
                  </a:lnTo>
                  <a:lnTo>
                    <a:pt x="729869" y="129032"/>
                  </a:lnTo>
                  <a:lnTo>
                    <a:pt x="742569" y="129032"/>
                  </a:lnTo>
                  <a:lnTo>
                    <a:pt x="742569" y="122682"/>
                  </a:lnTo>
                  <a:close/>
                </a:path>
                <a:path w="1472565" h="167639">
                  <a:moveTo>
                    <a:pt x="1396111" y="0"/>
                  </a:moveTo>
                  <a:lnTo>
                    <a:pt x="1396111" y="76200"/>
                  </a:lnTo>
                  <a:lnTo>
                    <a:pt x="1459611" y="44450"/>
                  </a:lnTo>
                  <a:lnTo>
                    <a:pt x="1408811" y="44450"/>
                  </a:lnTo>
                  <a:lnTo>
                    <a:pt x="1408811" y="31750"/>
                  </a:lnTo>
                  <a:lnTo>
                    <a:pt x="1459611" y="31750"/>
                  </a:lnTo>
                  <a:lnTo>
                    <a:pt x="1396111" y="0"/>
                  </a:lnTo>
                  <a:close/>
                </a:path>
                <a:path w="1472565" h="167639">
                  <a:moveTo>
                    <a:pt x="742569" y="38100"/>
                  </a:moveTo>
                  <a:lnTo>
                    <a:pt x="736219" y="44450"/>
                  </a:lnTo>
                  <a:lnTo>
                    <a:pt x="742569" y="44450"/>
                  </a:lnTo>
                  <a:lnTo>
                    <a:pt x="742569" y="38100"/>
                  </a:lnTo>
                  <a:close/>
                </a:path>
                <a:path w="1472565" h="167639">
                  <a:moveTo>
                    <a:pt x="1396111" y="38100"/>
                  </a:moveTo>
                  <a:lnTo>
                    <a:pt x="742569" y="38100"/>
                  </a:lnTo>
                  <a:lnTo>
                    <a:pt x="742569" y="44450"/>
                  </a:lnTo>
                  <a:lnTo>
                    <a:pt x="1396111" y="44450"/>
                  </a:lnTo>
                  <a:lnTo>
                    <a:pt x="1396111" y="38100"/>
                  </a:lnTo>
                  <a:close/>
                </a:path>
                <a:path w="1472565" h="167639">
                  <a:moveTo>
                    <a:pt x="1459611" y="31750"/>
                  </a:moveTo>
                  <a:lnTo>
                    <a:pt x="1408811" y="31750"/>
                  </a:lnTo>
                  <a:lnTo>
                    <a:pt x="1408811" y="44450"/>
                  </a:lnTo>
                  <a:lnTo>
                    <a:pt x="1459611" y="44450"/>
                  </a:lnTo>
                  <a:lnTo>
                    <a:pt x="1472311" y="38100"/>
                  </a:lnTo>
                  <a:lnTo>
                    <a:pt x="145961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25485" y="1267790"/>
            <a:ext cx="6985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latin typeface="Arial MT"/>
                <a:cs typeface="Arial MT"/>
              </a:rPr>
              <a:t>Cloud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>
                <a:latin typeface="Arial MT"/>
                <a:cs typeface="Arial MT"/>
              </a:rPr>
              <a:t>S</a:t>
            </a:r>
            <a:r>
              <a:rPr sz="1800" spc="-10">
                <a:latin typeface="Arial MT"/>
                <a:cs typeface="Arial MT"/>
              </a:rPr>
              <a:t>e</a:t>
            </a:r>
            <a:r>
              <a:rPr sz="1800">
                <a:latin typeface="Arial MT"/>
                <a:cs typeface="Arial MT"/>
              </a:rPr>
              <a:t>rver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157086" y="1286382"/>
            <a:ext cx="12719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>
                <a:latin typeface="Arial MT"/>
                <a:cs typeface="Arial MT"/>
              </a:rPr>
              <a:t>Subscribe to 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165">
                <a:latin typeface="Arial MT"/>
                <a:cs typeface="Arial MT"/>
              </a:rPr>
              <a:t>T</a:t>
            </a:r>
            <a:r>
              <a:rPr sz="1400" spc="-5">
                <a:latin typeface="Arial MT"/>
                <a:cs typeface="Arial MT"/>
              </a:rPr>
              <a:t>opi</a:t>
            </a:r>
            <a:r>
              <a:rPr sz="1400">
                <a:latin typeface="Arial MT"/>
                <a:cs typeface="Arial MT"/>
              </a:rPr>
              <a:t>c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“dist</a:t>
            </a:r>
            <a:r>
              <a:rPr sz="1400" spc="-5">
                <a:latin typeface="Arial MT"/>
                <a:cs typeface="Arial MT"/>
              </a:rPr>
              <a:t>an</a:t>
            </a:r>
            <a:r>
              <a:rPr sz="1400" spc="-10">
                <a:latin typeface="Arial MT"/>
                <a:cs typeface="Arial MT"/>
              </a:rPr>
              <a:t>c</a:t>
            </a:r>
            <a:r>
              <a:rPr sz="1400" spc="-5">
                <a:latin typeface="Arial MT"/>
                <a:cs typeface="Arial MT"/>
              </a:rPr>
              <a:t>e”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5230" y="2083053"/>
            <a:ext cx="1170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100"/>
              </a:spcBef>
            </a:pPr>
            <a:r>
              <a:rPr sz="1800" spc="-15">
                <a:latin typeface="Calibri"/>
                <a:cs typeface="Calibri"/>
              </a:rPr>
              <a:t>M</a:t>
            </a:r>
            <a:r>
              <a:rPr sz="1800" spc="-50">
                <a:latin typeface="Calibri"/>
                <a:cs typeface="Calibri"/>
              </a:rPr>
              <a:t>Q</a:t>
            </a:r>
            <a:r>
              <a:rPr sz="1800" spc="5">
                <a:latin typeface="Calibri"/>
                <a:cs typeface="Calibri"/>
              </a:rPr>
              <a:t>T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-20">
                <a:latin typeface="Calibri"/>
                <a:cs typeface="Calibri"/>
              </a:rPr>
              <a:t>li</a:t>
            </a:r>
            <a:r>
              <a:rPr sz="1800" spc="-10">
                <a:latin typeface="Calibri"/>
                <a:cs typeface="Calibri"/>
              </a:rPr>
              <a:t>e</a:t>
            </a:r>
            <a:r>
              <a:rPr sz="1800" spc="-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t  </a:t>
            </a:r>
            <a:r>
              <a:rPr sz="1800" spc="-15">
                <a:latin typeface="Calibri"/>
                <a:cs typeface="Calibri"/>
              </a:rPr>
              <a:t>(Subscriber)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0B481CC-132E-5C31-9DA6-F8938CB9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15C889B-164C-FBD5-5F62-6160EB98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252" y="1064133"/>
            <a:ext cx="3604260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#include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&lt;ESP8266WiFi.h&gt;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#include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&lt;</a:t>
            </a:r>
            <a:r>
              <a:rPr sz="1600" b="1" spc="-15">
                <a:solidFill>
                  <a:srgbClr val="FF0000"/>
                </a:solidFill>
                <a:latin typeface="Calibri"/>
                <a:cs typeface="Calibri"/>
              </a:rPr>
              <a:t>PubSubClient.h</a:t>
            </a:r>
            <a:r>
              <a:rPr sz="1600" spc="-15">
                <a:latin typeface="Calibri"/>
                <a:cs typeface="Calibri"/>
              </a:rPr>
              <a:t>&gt;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Calibri"/>
              <a:cs typeface="Calibri"/>
            </a:endParaRPr>
          </a:p>
          <a:p>
            <a:pPr marL="12700" marR="1927860">
              <a:lnSpc>
                <a:spcPct val="100000"/>
              </a:lnSpc>
            </a:pPr>
            <a:r>
              <a:rPr sz="1600" spc="-20">
                <a:latin typeface="Calibri"/>
                <a:cs typeface="Calibri"/>
              </a:rPr>
              <a:t>#define</a:t>
            </a:r>
            <a:r>
              <a:rPr sz="1600" spc="-15">
                <a:latin typeface="Calibri"/>
                <a:cs typeface="Calibri"/>
              </a:rPr>
              <a:t> TRIGGER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D6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#define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ECHO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D8 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long </a:t>
            </a:r>
            <a:r>
              <a:rPr sz="1600" spc="-20">
                <a:latin typeface="Calibri"/>
                <a:cs typeface="Calibri"/>
              </a:rPr>
              <a:t>duration,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cm;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>
                <a:latin typeface="Calibri"/>
                <a:cs typeface="Calibri"/>
              </a:rPr>
              <a:t>const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char*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ssid </a:t>
            </a:r>
            <a:r>
              <a:rPr sz="1600" spc="-5">
                <a:latin typeface="Calibri"/>
                <a:cs typeface="Calibri"/>
              </a:rPr>
              <a:t>=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"</a:t>
            </a:r>
            <a:r>
              <a:rPr sz="1600" b="1" spc="-20">
                <a:solidFill>
                  <a:srgbClr val="00AF50"/>
                </a:solidFill>
                <a:latin typeface="Calibri"/>
                <a:cs typeface="Calibri"/>
              </a:rPr>
              <a:t>TP-LINK_ED34</a:t>
            </a:r>
            <a:r>
              <a:rPr sz="1600" spc="-20">
                <a:latin typeface="Calibri"/>
                <a:cs typeface="Calibri"/>
              </a:rPr>
              <a:t>";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20">
                <a:latin typeface="Calibri"/>
                <a:cs typeface="Calibri"/>
              </a:rPr>
              <a:t>const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char*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password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=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"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48193580</a:t>
            </a:r>
            <a:r>
              <a:rPr sz="1600" spc="-15">
                <a:latin typeface="Calibri"/>
                <a:cs typeface="Calibri"/>
              </a:rPr>
              <a:t>";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5">
                <a:latin typeface="Calibri"/>
                <a:cs typeface="Calibri"/>
              </a:rPr>
              <a:t>//Raspberry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IP</a:t>
            </a:r>
            <a:r>
              <a:rPr sz="1600" spc="-20">
                <a:latin typeface="Calibri"/>
                <a:cs typeface="Calibri"/>
              </a:rPr>
              <a:t> Address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20">
                <a:latin typeface="Calibri"/>
                <a:cs typeface="Calibri"/>
              </a:rPr>
              <a:t>const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char*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mqtt_server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=</a:t>
            </a:r>
            <a:r>
              <a:rPr sz="1600" spc="-15">
                <a:latin typeface="Calibri"/>
                <a:cs typeface="Calibri"/>
              </a:rPr>
              <a:t> "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192.168.0.104</a:t>
            </a:r>
            <a:r>
              <a:rPr sz="1600" spc="-15">
                <a:latin typeface="Calibri"/>
                <a:cs typeface="Calibri"/>
              </a:rPr>
              <a:t>";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80440" algn="l"/>
              </a:tabLst>
            </a:pPr>
            <a:r>
              <a:rPr sz="1600" spc="-15">
                <a:latin typeface="Calibri"/>
                <a:cs typeface="Calibri"/>
              </a:rPr>
              <a:t>WiFiClient	espClient;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265555" algn="l"/>
              </a:tabLst>
            </a:pPr>
            <a:r>
              <a:rPr sz="1600" b="1" spc="-15">
                <a:solidFill>
                  <a:srgbClr val="FF0000"/>
                </a:solidFill>
                <a:latin typeface="Calibri"/>
                <a:cs typeface="Calibri"/>
              </a:rPr>
              <a:t>PubSubClient	</a:t>
            </a:r>
            <a:r>
              <a:rPr sz="1600" spc="-20">
                <a:latin typeface="Calibri"/>
                <a:cs typeface="Calibri"/>
              </a:rPr>
              <a:t>client(espClient);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561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Programming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001F5F"/>
                </a:solidFill>
                <a:latin typeface="Arial"/>
                <a:cs typeface="Arial"/>
              </a:rPr>
              <a:t>ESP8266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5CBD6CF0-5921-5448-9911-BD4495DF74AD}" type="datetime1">
              <a:rPr lang="en-US" smtClean="0"/>
              <a:t>9/1/26</a:t>
            </a:fld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49470" y="1143127"/>
            <a:ext cx="411861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2552700" indent="-18034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void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C00000"/>
                </a:solidFill>
                <a:latin typeface="Calibri"/>
                <a:cs typeface="Calibri"/>
              </a:rPr>
              <a:t>setup_wifi</a:t>
            </a:r>
            <a:r>
              <a:rPr sz="1600" b="1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()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delay(10); </a:t>
            </a:r>
            <a:r>
              <a:rPr sz="1600" spc="-15">
                <a:latin typeface="Calibri"/>
                <a:cs typeface="Calibri"/>
              </a:rPr>
              <a:t> Serial.println();</a:t>
            </a:r>
            <a:endParaRPr sz="1600">
              <a:latin typeface="Calibri"/>
              <a:cs typeface="Calibri"/>
            </a:endParaRPr>
          </a:p>
          <a:p>
            <a:pPr marL="192405" marR="150495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Serial.print("Connecting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");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Serial.println(ssid);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WiFi.begin(ssid,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password);</a:t>
            </a:r>
            <a:endParaRPr sz="1600">
              <a:latin typeface="Calibri"/>
              <a:cs typeface="Calibri"/>
            </a:endParaRPr>
          </a:p>
          <a:p>
            <a:pPr marL="463550" marR="528955" indent="-271780">
              <a:lnSpc>
                <a:spcPct val="100000"/>
              </a:lnSpc>
              <a:spcBef>
                <a:spcPts val="5"/>
              </a:spcBef>
            </a:pPr>
            <a:r>
              <a:rPr sz="1600" spc="-15">
                <a:latin typeface="Calibri"/>
                <a:cs typeface="Calibri"/>
              </a:rPr>
              <a:t>while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(WiFi.status()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!=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WL_CONNECTED)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delay(500);</a:t>
            </a:r>
            <a:endParaRPr sz="1600">
              <a:latin typeface="Calibri"/>
              <a:cs typeface="Calibri"/>
            </a:endParaRPr>
          </a:p>
          <a:p>
            <a:pPr marL="46355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Serial.print(".");</a:t>
            </a:r>
            <a:endParaRPr sz="16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Serial.println("");</a:t>
            </a:r>
            <a:endParaRPr sz="16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Serial.print("WiFi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connected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-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ESP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IP </a:t>
            </a:r>
            <a:r>
              <a:rPr sz="1600" spc="-20">
                <a:latin typeface="Calibri"/>
                <a:cs typeface="Calibri"/>
              </a:rPr>
              <a:t>address: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");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Serial.println(WiFi.localIP());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9470" y="4801361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5779" y="1043939"/>
            <a:ext cx="0" cy="5261610"/>
          </a:xfrm>
          <a:custGeom>
            <a:avLst/>
            <a:gdLst/>
            <a:ahLst/>
            <a:cxnLst/>
            <a:rect l="l" t="t" r="r" b="b"/>
            <a:pathLst>
              <a:path h="5261610">
                <a:moveTo>
                  <a:pt x="0" y="0"/>
                </a:moveTo>
                <a:lnTo>
                  <a:pt x="0" y="5261521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E03BA-0849-3FC8-6C17-2FF050103E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D2A5F-6B20-F473-C663-39F416ADCD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614" y="1171702"/>
            <a:ext cx="4135754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void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C00000"/>
                </a:solidFill>
                <a:latin typeface="Calibri"/>
                <a:cs typeface="Calibri"/>
              </a:rPr>
              <a:t>reconnect</a:t>
            </a:r>
            <a:r>
              <a:rPr sz="1600" b="1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()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102235" marR="1397635" indent="4572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//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Loop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until</a:t>
            </a:r>
            <a:r>
              <a:rPr sz="1600" spc="-25">
                <a:latin typeface="Calibri"/>
                <a:cs typeface="Calibri"/>
              </a:rPr>
              <a:t> we're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reconnected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while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(!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0000"/>
                </a:solidFill>
                <a:latin typeface="Calibri"/>
                <a:cs typeface="Calibri"/>
              </a:rPr>
              <a:t>client.connected</a:t>
            </a:r>
            <a:r>
              <a:rPr sz="1600" b="1" spc="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())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</a:pPr>
            <a:r>
              <a:rPr sz="1600" spc="-20">
                <a:latin typeface="Calibri"/>
                <a:cs typeface="Calibri"/>
              </a:rPr>
              <a:t>Serial.print("Attempting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MQTT</a:t>
            </a:r>
            <a:r>
              <a:rPr sz="1600" spc="-15">
                <a:latin typeface="Calibri"/>
                <a:cs typeface="Calibri"/>
              </a:rPr>
              <a:t> connection...");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</a:pPr>
            <a:r>
              <a:rPr sz="1600" spc="-10">
                <a:latin typeface="Calibri"/>
                <a:cs typeface="Calibri"/>
              </a:rPr>
              <a:t>if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</a:t>
            </a:r>
            <a:r>
              <a:rPr sz="1600" b="1" spc="-15">
                <a:solidFill>
                  <a:srgbClr val="FF0000"/>
                </a:solidFill>
                <a:latin typeface="Calibri"/>
                <a:cs typeface="Calibri"/>
              </a:rPr>
              <a:t>client.connect</a:t>
            </a:r>
            <a:r>
              <a:rPr sz="1600" spc="-15">
                <a:latin typeface="Calibri"/>
                <a:cs typeface="Calibri"/>
              </a:rPr>
              <a:t>("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ESP8266Client</a:t>
            </a:r>
            <a:r>
              <a:rPr sz="1600" spc="-15">
                <a:latin typeface="Calibri"/>
                <a:cs typeface="Calibri"/>
              </a:rPr>
              <a:t>"))</a:t>
            </a:r>
            <a:endParaRPr sz="16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55372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Serial.println("connected");</a:t>
            </a:r>
            <a:endParaRPr sz="1600">
              <a:latin typeface="Calibri"/>
              <a:cs typeface="Calibri"/>
            </a:endParaRPr>
          </a:p>
          <a:p>
            <a:pPr marL="553720">
              <a:lnSpc>
                <a:spcPct val="100000"/>
              </a:lnSpc>
            </a:pPr>
            <a:r>
              <a:rPr sz="1600" b="1" spc="-15">
                <a:solidFill>
                  <a:srgbClr val="FF0000"/>
                </a:solidFill>
                <a:latin typeface="Calibri"/>
                <a:cs typeface="Calibri"/>
              </a:rPr>
              <a:t>client.subscribe</a:t>
            </a:r>
            <a:r>
              <a:rPr sz="1600" spc="-15">
                <a:latin typeface="Calibri"/>
                <a:cs typeface="Calibri"/>
              </a:rPr>
              <a:t>("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esp8266/4</a:t>
            </a:r>
            <a:r>
              <a:rPr sz="1600" spc="-15">
                <a:latin typeface="Calibri"/>
                <a:cs typeface="Calibri"/>
              </a:rPr>
              <a:t>");</a:t>
            </a:r>
            <a:endParaRPr sz="16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else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553720" marR="40005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Serial.print("failed,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rc="); </a:t>
            </a:r>
            <a:r>
              <a:rPr sz="1600" spc="-20">
                <a:latin typeface="Calibri"/>
                <a:cs typeface="Calibri"/>
              </a:rPr>
              <a:t> Serial.print(client.state()); </a:t>
            </a:r>
            <a:r>
              <a:rPr sz="1600" spc="-15">
                <a:latin typeface="Calibri"/>
                <a:cs typeface="Calibri"/>
              </a:rPr>
              <a:t> Serial.println("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try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again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5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seconds"); </a:t>
            </a:r>
            <a:r>
              <a:rPr sz="1600" spc="-34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delay(15000);</a:t>
            </a:r>
            <a:endParaRPr sz="1600">
              <a:latin typeface="Calibri"/>
              <a:cs typeface="Calibri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8529" y="5317997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614" y="5561787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Co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t…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95"/>
              </a:spcBef>
            </a:pPr>
            <a:r>
              <a:rPr spc="-15"/>
              <a:t>void</a:t>
            </a:r>
            <a:r>
              <a:rPr spc="-10"/>
              <a:t> </a:t>
            </a:r>
            <a:r>
              <a:rPr b="1" spc="-15">
                <a:solidFill>
                  <a:srgbClr val="C00000"/>
                </a:solidFill>
                <a:latin typeface="Calibri"/>
                <a:cs typeface="Calibri"/>
              </a:rPr>
              <a:t>callback</a:t>
            </a:r>
            <a:r>
              <a:rPr b="1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15"/>
              <a:t>(String</a:t>
            </a:r>
            <a:r>
              <a:rPr spc="20"/>
              <a:t> </a:t>
            </a:r>
            <a:r>
              <a:rPr spc="-15"/>
              <a:t>topic,</a:t>
            </a:r>
            <a:r>
              <a:t> </a:t>
            </a:r>
            <a:r>
              <a:rPr spc="-15"/>
              <a:t>byte*</a:t>
            </a:r>
            <a:r>
              <a:rPr spc="15"/>
              <a:t> </a:t>
            </a:r>
            <a:r>
              <a:rPr spc="-20"/>
              <a:t>message,</a:t>
            </a:r>
          </a:p>
          <a:p>
            <a:pPr marL="1325245">
              <a:lnSpc>
                <a:spcPct val="100000"/>
              </a:lnSpc>
            </a:pPr>
            <a:r>
              <a:rPr spc="-15"/>
              <a:t>unsigned</a:t>
            </a:r>
            <a:r>
              <a:rPr spc="-20"/>
              <a:t> </a:t>
            </a:r>
            <a:r>
              <a:rPr spc="-15"/>
              <a:t>int</a:t>
            </a:r>
            <a:r>
              <a:rPr spc="-25"/>
              <a:t> </a:t>
            </a:r>
            <a:r>
              <a:rPr spc="-20"/>
              <a:t>length)</a:t>
            </a:r>
          </a:p>
          <a:p>
            <a:pPr marL="106045">
              <a:lnSpc>
                <a:spcPct val="100000"/>
              </a:lnSpc>
            </a:pPr>
            <a:r>
              <a:rPr spc="-5"/>
              <a:t>{</a:t>
            </a:r>
          </a:p>
          <a:p>
            <a:pPr marL="285750" marR="213360">
              <a:lnSpc>
                <a:spcPct val="100000"/>
              </a:lnSpc>
              <a:spcBef>
                <a:spcPts val="5"/>
              </a:spcBef>
            </a:pPr>
            <a:r>
              <a:rPr spc="-15"/>
              <a:t>Serial.print("Message</a:t>
            </a:r>
            <a:r>
              <a:rPr spc="25"/>
              <a:t> </a:t>
            </a:r>
            <a:r>
              <a:rPr spc="-20"/>
              <a:t>arrived</a:t>
            </a:r>
            <a:r>
              <a:rPr spc="25"/>
              <a:t> </a:t>
            </a:r>
            <a:r>
              <a:rPr spc="-10"/>
              <a:t>on</a:t>
            </a:r>
            <a:r>
              <a:rPr spc="-15"/>
              <a:t> topic:</a:t>
            </a:r>
            <a:r>
              <a:rPr spc="-10"/>
              <a:t> </a:t>
            </a:r>
            <a:r>
              <a:rPr spc="-15"/>
              <a:t>"); </a:t>
            </a:r>
            <a:r>
              <a:rPr spc="-345"/>
              <a:t> </a:t>
            </a:r>
            <a:r>
              <a:rPr spc="-15"/>
              <a:t>Serial.print(topic);</a:t>
            </a:r>
          </a:p>
          <a:p>
            <a:pPr marL="285750">
              <a:lnSpc>
                <a:spcPct val="100000"/>
              </a:lnSpc>
            </a:pPr>
            <a:r>
              <a:rPr spc="-15"/>
              <a:t>Serial.print("Message:</a:t>
            </a:r>
            <a:r>
              <a:rPr spc="10"/>
              <a:t> </a:t>
            </a:r>
            <a:r>
              <a:rPr spc="-15"/>
              <a:t>");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/>
          </a:p>
          <a:p>
            <a:pPr marL="285750">
              <a:lnSpc>
                <a:spcPct val="100000"/>
              </a:lnSpc>
            </a:pPr>
            <a:r>
              <a:rPr spc="-15"/>
              <a:t>String</a:t>
            </a:r>
            <a:r>
              <a:rPr spc="-10"/>
              <a:t> </a:t>
            </a:r>
            <a:r>
              <a:rPr spc="-30"/>
              <a:t>messageTemp;</a:t>
            </a:r>
          </a:p>
          <a:p>
            <a:pPr marL="647065" marR="382905" indent="-361950">
              <a:lnSpc>
                <a:spcPct val="100000"/>
              </a:lnSpc>
            </a:pPr>
            <a:r>
              <a:rPr spc="-25"/>
              <a:t>for</a:t>
            </a:r>
            <a:r>
              <a:rPr spc="10"/>
              <a:t> </a:t>
            </a:r>
            <a:r>
              <a:rPr spc="-15"/>
              <a:t>(int</a:t>
            </a:r>
            <a:r>
              <a:rPr spc="-10"/>
              <a:t> </a:t>
            </a:r>
            <a:r>
              <a:rPr spc="-5"/>
              <a:t>i</a:t>
            </a:r>
            <a:r>
              <a:rPr spc="-10"/>
              <a:t> </a:t>
            </a:r>
            <a:r>
              <a:rPr spc="-5"/>
              <a:t>=</a:t>
            </a:r>
            <a:r>
              <a:rPr spc="-20"/>
              <a:t> </a:t>
            </a:r>
            <a:r>
              <a:rPr spc="-15"/>
              <a:t>0;</a:t>
            </a:r>
            <a:r>
              <a:t> </a:t>
            </a:r>
            <a:r>
              <a:rPr spc="-5"/>
              <a:t>i</a:t>
            </a:r>
            <a:r>
              <a:rPr spc="-20"/>
              <a:t> </a:t>
            </a:r>
            <a:r>
              <a:rPr spc="-5"/>
              <a:t>&lt;</a:t>
            </a:r>
            <a:r>
              <a:rPr spc="-10"/>
              <a:t> </a:t>
            </a:r>
            <a:r>
              <a:rPr spc="-20"/>
              <a:t>length;</a:t>
            </a:r>
            <a:r>
              <a:t> </a:t>
            </a:r>
            <a:r>
              <a:rPr spc="-15"/>
              <a:t>i++)</a:t>
            </a:r>
            <a:r>
              <a:rPr spc="5"/>
              <a:t> </a:t>
            </a:r>
            <a:r>
              <a:rPr spc="-5"/>
              <a:t>{ </a:t>
            </a:r>
            <a:r>
              <a:t> </a:t>
            </a:r>
            <a:r>
              <a:rPr spc="-15"/>
              <a:t>Serial.print((char)message[i]); </a:t>
            </a:r>
            <a:r>
              <a:rPr spc="-10"/>
              <a:t> </a:t>
            </a:r>
            <a:r>
              <a:rPr spc="-30"/>
              <a:t>messageTemp</a:t>
            </a:r>
            <a:r>
              <a:rPr spc="5"/>
              <a:t> </a:t>
            </a:r>
            <a:r>
              <a:rPr spc="-10"/>
              <a:t>+=</a:t>
            </a:r>
            <a:r>
              <a:rPr spc="-25"/>
              <a:t> </a:t>
            </a:r>
            <a:r>
              <a:rPr spc="-15"/>
              <a:t>(char)message[i];</a:t>
            </a:r>
          </a:p>
          <a:p>
            <a:pPr marL="285750">
              <a:lnSpc>
                <a:spcPct val="100000"/>
              </a:lnSpc>
            </a:pPr>
            <a:r>
              <a:rPr spc="-5"/>
              <a:t>}</a:t>
            </a:r>
          </a:p>
          <a:p>
            <a:pPr marL="285750">
              <a:lnSpc>
                <a:spcPct val="100000"/>
              </a:lnSpc>
            </a:pPr>
            <a:r>
              <a:rPr spc="-15"/>
              <a:t>Serial.println();</a:t>
            </a:r>
          </a:p>
          <a:p>
            <a:pPr marL="106045">
              <a:lnSpc>
                <a:spcPct val="100000"/>
              </a:lnSpc>
            </a:pPr>
            <a:r>
              <a:rPr spc="-5"/>
              <a:t>}</a:t>
            </a:r>
          </a:p>
          <a:p>
            <a:pPr>
              <a:lnSpc>
                <a:spcPct val="100000"/>
              </a:lnSpc>
            </a:pPr>
            <a:endParaRPr spc="-5"/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/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>
                <a:latin typeface="Arial MT"/>
                <a:cs typeface="Arial MT"/>
              </a:rPr>
              <a:t>A</a:t>
            </a:r>
            <a:r>
              <a:rPr sz="1800" spc="-110">
                <a:latin typeface="Arial MT"/>
                <a:cs typeface="Arial MT"/>
              </a:rPr>
              <a:t> </a:t>
            </a:r>
            <a:r>
              <a:rPr sz="1800" b="1" spc="-5">
                <a:latin typeface="Arial"/>
                <a:cs typeface="Arial"/>
              </a:rPr>
              <a:t>callback</a:t>
            </a:r>
            <a:r>
              <a:rPr sz="1800" b="1" spc="10">
                <a:latin typeface="Arial"/>
                <a:cs typeface="Arial"/>
              </a:rPr>
              <a:t> </a:t>
            </a:r>
            <a:r>
              <a:rPr sz="1800" spc="-5">
                <a:latin typeface="Arial MT"/>
                <a:cs typeface="Arial MT"/>
              </a:rPr>
              <a:t>is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a</a:t>
            </a:r>
            <a:r>
              <a:rPr sz="1800" spc="-5">
                <a:latin typeface="Arial MT"/>
                <a:cs typeface="Arial MT"/>
              </a:rPr>
              <a:t> function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that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is passed </a:t>
            </a:r>
            <a:r>
              <a:rPr sz="1800" spc="-484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as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an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argument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to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another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 spc="-5">
                <a:latin typeface="Arial MT"/>
                <a:cs typeface="Arial MT"/>
              </a:rPr>
              <a:t>function.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CF5B5ADC-7D99-A14F-9840-ED6B8E34E103}" type="datetime1">
              <a:rPr lang="en-US" smtClean="0"/>
              <a:t>9/1/26</a:t>
            </a:fld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37303" y="1043939"/>
            <a:ext cx="0" cy="5261610"/>
          </a:xfrm>
          <a:custGeom>
            <a:avLst/>
            <a:gdLst/>
            <a:ahLst/>
            <a:cxnLst/>
            <a:rect l="l" t="t" r="r" b="b"/>
            <a:pathLst>
              <a:path h="5261610">
                <a:moveTo>
                  <a:pt x="0" y="0"/>
                </a:moveTo>
                <a:lnTo>
                  <a:pt x="0" y="5261521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7B8E8B8-611F-C664-5AE4-BDE82A3D451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D92423-05B3-9AF3-630F-EB64201998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291" y="4626102"/>
            <a:ext cx="296354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void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C00000"/>
                </a:solidFill>
                <a:latin typeface="Calibri"/>
                <a:cs typeface="Calibri"/>
              </a:rPr>
              <a:t>loop</a:t>
            </a:r>
            <a:r>
              <a:rPr sz="1600" b="1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() </a:t>
            </a: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</a:pPr>
            <a:r>
              <a:rPr sz="1600" spc="-10">
                <a:latin typeface="Calibri"/>
                <a:cs typeface="Calibri"/>
              </a:rPr>
              <a:t>if</a:t>
            </a:r>
            <a:r>
              <a:rPr sz="1600" spc="-15">
                <a:latin typeface="Calibri"/>
                <a:cs typeface="Calibri"/>
              </a:rPr>
              <a:t> (!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client.connected</a:t>
            </a:r>
            <a:r>
              <a:rPr sz="1600" spc="3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())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</a:pP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reconnect</a:t>
            </a:r>
            <a:r>
              <a:rPr sz="1600" spc="-20">
                <a:latin typeface="Calibri"/>
                <a:cs typeface="Calibri"/>
              </a:rPr>
              <a:t>();</a:t>
            </a:r>
            <a:endParaRPr sz="16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  <a:p>
            <a:pPr marL="283845" marR="5080" indent="-181610">
              <a:lnSpc>
                <a:spcPct val="100000"/>
              </a:lnSpc>
            </a:pPr>
            <a:r>
              <a:rPr sz="1600" spc="-15">
                <a:latin typeface="Calibri"/>
                <a:cs typeface="Calibri"/>
              </a:rPr>
              <a:t>if(!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client.loop()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) 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</a:t>
            </a:r>
            <a:r>
              <a:rPr sz="1600" spc="-15">
                <a:latin typeface="Calibri"/>
                <a:cs typeface="Calibri"/>
              </a:rPr>
              <a:t>li</a:t>
            </a:r>
            <a:r>
              <a:rPr sz="1600" spc="-20">
                <a:latin typeface="Calibri"/>
                <a:cs typeface="Calibri"/>
              </a:rPr>
              <a:t>e</a:t>
            </a:r>
            <a:r>
              <a:rPr sz="1600" spc="-30">
                <a:latin typeface="Calibri"/>
                <a:cs typeface="Calibri"/>
              </a:rPr>
              <a:t>n</a:t>
            </a:r>
            <a:r>
              <a:rPr sz="1600" spc="-15">
                <a:latin typeface="Calibri"/>
                <a:cs typeface="Calibri"/>
              </a:rPr>
              <a:t>t.</a:t>
            </a:r>
            <a:r>
              <a:rPr sz="1600" spc="-35">
                <a:latin typeface="Calibri"/>
                <a:cs typeface="Calibri"/>
              </a:rPr>
              <a:t>c</a:t>
            </a:r>
            <a:r>
              <a:rPr sz="1600" spc="-20">
                <a:latin typeface="Calibri"/>
                <a:cs typeface="Calibri"/>
              </a:rPr>
              <a:t>onnec</a:t>
            </a:r>
            <a:r>
              <a:rPr sz="1600" spc="-5">
                <a:latin typeface="Calibri"/>
                <a:cs typeface="Calibri"/>
              </a:rPr>
              <a:t>t</a:t>
            </a:r>
            <a:r>
              <a:rPr sz="1600" spc="-25">
                <a:latin typeface="Calibri"/>
                <a:cs typeface="Calibri"/>
              </a:rPr>
              <a:t>("</a:t>
            </a:r>
            <a:r>
              <a:rPr sz="1600" b="1" spc="-20">
                <a:solidFill>
                  <a:srgbClr val="00AF50"/>
                </a:solidFill>
                <a:latin typeface="Calibri"/>
                <a:cs typeface="Calibri"/>
              </a:rPr>
              <a:t>ES</a:t>
            </a:r>
            <a:r>
              <a:rPr sz="1600" b="1" spc="-10">
                <a:solidFill>
                  <a:srgbClr val="00AF50"/>
                </a:solidFill>
                <a:latin typeface="Calibri"/>
                <a:cs typeface="Calibri"/>
              </a:rPr>
              <a:t>P826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6</a:t>
            </a:r>
            <a:r>
              <a:rPr sz="1600" b="1" spc="-25">
                <a:solidFill>
                  <a:srgbClr val="00AF50"/>
                </a:solidFill>
                <a:latin typeface="Calibri"/>
                <a:cs typeface="Calibri"/>
              </a:rPr>
              <a:t>C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li</a:t>
            </a:r>
            <a:r>
              <a:rPr sz="1600" b="1" spc="-1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1600" b="1" spc="-35">
                <a:solidFill>
                  <a:srgbClr val="00AF50"/>
                </a:solidFill>
                <a:latin typeface="Calibri"/>
                <a:cs typeface="Calibri"/>
              </a:rPr>
              <a:t>n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1600" spc="-5">
                <a:latin typeface="Calibri"/>
                <a:cs typeface="Calibri"/>
              </a:rPr>
              <a:t>"</a:t>
            </a:r>
            <a:r>
              <a:rPr sz="1600" spc="-25">
                <a:latin typeface="Calibri"/>
                <a:cs typeface="Calibri"/>
              </a:rPr>
              <a:t>)</a:t>
            </a:r>
            <a:r>
              <a:rPr sz="1600" spc="-5">
                <a:latin typeface="Calibri"/>
                <a:cs typeface="Calibri"/>
              </a:rPr>
              <a:t>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1687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Co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t…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336D6B2-D609-2C41-9E35-6E8E09A393FA}" type="datetime1">
              <a:rPr lang="en-US" smtClean="0"/>
              <a:t>9/1/26</a:t>
            </a:fld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91253" y="993774"/>
            <a:ext cx="23996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>
                <a:latin typeface="Calibri"/>
                <a:cs typeface="Calibri"/>
              </a:rPr>
              <a:t>digitalWrite(TRIGGER,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LOW); </a:t>
            </a:r>
            <a:r>
              <a:rPr sz="1600" spc="-20">
                <a:latin typeface="Calibri"/>
                <a:cs typeface="Calibri"/>
              </a:rPr>
              <a:t> delayMicroseconds(2); 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digitalWrite(TRIGGER,</a:t>
            </a:r>
            <a:r>
              <a:rPr sz="1600" spc="5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HIGH);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delayMicroseconds(10); 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digitalWrite(TRIGGER,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LOW);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1253" y="2457068"/>
            <a:ext cx="266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>
                <a:latin typeface="Calibri"/>
                <a:cs typeface="Calibri"/>
              </a:rPr>
              <a:t>duration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=</a:t>
            </a:r>
            <a:r>
              <a:rPr sz="1600" spc="-20">
                <a:latin typeface="Calibri"/>
                <a:cs typeface="Calibri"/>
              </a:rPr>
              <a:t> pulseIn(ECHO,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HIGH);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91253" y="2944748"/>
            <a:ext cx="22536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>
                <a:latin typeface="Calibri"/>
                <a:cs typeface="Calibri"/>
              </a:rPr>
              <a:t>cm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=</a:t>
            </a:r>
            <a:r>
              <a:rPr sz="1600" spc="-20">
                <a:latin typeface="Calibri"/>
                <a:cs typeface="Calibri"/>
              </a:rPr>
              <a:t> duration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/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29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/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2;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20">
                <a:latin typeface="Calibri"/>
                <a:cs typeface="Calibri"/>
              </a:rPr>
              <a:t>static</a:t>
            </a:r>
            <a:r>
              <a:rPr sz="1600" spc="-15">
                <a:latin typeface="Calibri"/>
                <a:cs typeface="Calibri"/>
              </a:rPr>
              <a:t> char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distanceincm[7];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1253" y="3676650"/>
            <a:ext cx="2557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dtostrf(cm,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6,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2,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distanceincm);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1253" y="4164329"/>
            <a:ext cx="4191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client.</a:t>
            </a:r>
            <a:r>
              <a:rPr sz="1600" spc="-15">
                <a:solidFill>
                  <a:srgbClr val="2C12F1"/>
                </a:solidFill>
                <a:latin typeface="Calibri"/>
                <a:cs typeface="Calibri"/>
              </a:rPr>
              <a:t>publish</a:t>
            </a:r>
            <a:r>
              <a:rPr sz="1600" b="1" spc="-15">
                <a:latin typeface="Calibri"/>
                <a:cs typeface="Calibri"/>
              </a:rPr>
              <a:t>("/esp8266/distance"</a:t>
            </a:r>
            <a:r>
              <a:rPr sz="1600" spc="-15">
                <a:latin typeface="Calibri"/>
                <a:cs typeface="Calibri"/>
              </a:rPr>
              <a:t>,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distanceincm);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1253" y="4652009"/>
            <a:ext cx="20510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Serial.print("Distance: ");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Serial.print(cm); 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Serial.print("cm"); 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Serial.println(); 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delay(5000);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1421" y="5871464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18203" y="1043939"/>
            <a:ext cx="0" cy="5261610"/>
          </a:xfrm>
          <a:custGeom>
            <a:avLst/>
            <a:gdLst/>
            <a:ahLst/>
            <a:cxnLst/>
            <a:rect l="l" t="t" r="r" b="b"/>
            <a:pathLst>
              <a:path h="5261610">
                <a:moveTo>
                  <a:pt x="0" y="0"/>
                </a:moveTo>
                <a:lnTo>
                  <a:pt x="0" y="5261521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4291" y="1072642"/>
            <a:ext cx="25793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void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C00000"/>
                </a:solidFill>
                <a:latin typeface="Calibri"/>
                <a:cs typeface="Calibri"/>
              </a:rPr>
              <a:t>setup</a:t>
            </a:r>
            <a:r>
              <a:rPr sz="1600" b="1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()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{ 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Serial.begin(115200); 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pinMode(TRIGGER,OUTPUT);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pinMode(ECHO,INPUT);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4123" y="2292223"/>
            <a:ext cx="1096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>
                <a:solidFill>
                  <a:srgbClr val="2C12F1"/>
                </a:solidFill>
                <a:latin typeface="Calibri"/>
                <a:cs typeface="Calibri"/>
              </a:rPr>
              <a:t>setup_wifi</a:t>
            </a:r>
            <a:r>
              <a:rPr sz="1600" spc="5">
                <a:solidFill>
                  <a:srgbClr val="2C12F1"/>
                </a:solidFill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();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123" y="2779598"/>
            <a:ext cx="3006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solidFill>
                  <a:srgbClr val="FF0000"/>
                </a:solidFill>
                <a:latin typeface="Calibri"/>
                <a:cs typeface="Calibri"/>
              </a:rPr>
              <a:t>client.setServer</a:t>
            </a:r>
            <a:r>
              <a:rPr sz="160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(mqtt_server,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1883</a:t>
            </a:r>
            <a:r>
              <a:rPr sz="1600" spc="-20">
                <a:latin typeface="Calibri"/>
                <a:cs typeface="Calibri"/>
              </a:rPr>
              <a:t>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123" y="3267836"/>
            <a:ext cx="2299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>
                <a:latin typeface="Calibri"/>
                <a:cs typeface="Calibri"/>
              </a:rPr>
              <a:t>client.setCallback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(</a:t>
            </a:r>
            <a:r>
              <a:rPr sz="1600" spc="-20">
                <a:solidFill>
                  <a:srgbClr val="FF0000"/>
                </a:solidFill>
                <a:latin typeface="Calibri"/>
                <a:cs typeface="Calibri"/>
              </a:rPr>
              <a:t>callback</a:t>
            </a:r>
            <a:r>
              <a:rPr sz="1600" spc="-20">
                <a:latin typeface="Calibri"/>
                <a:cs typeface="Calibri"/>
              </a:rPr>
              <a:t>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291" y="3511677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0017795-3B3C-C9BE-5F3E-59774E5348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9B5539-8E5F-1EF9-334C-7C58273A3A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399" y="1064132"/>
            <a:ext cx="4304030" cy="5147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>
                <a:latin typeface="Calibri"/>
                <a:cs typeface="Calibri"/>
              </a:rPr>
              <a:t>import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paho.mqtt.client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as</a:t>
            </a:r>
            <a:r>
              <a:rPr sz="1400" spc="-20">
                <a:latin typeface="Calibri"/>
                <a:cs typeface="Calibri"/>
              </a:rPr>
              <a:t> mqtt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41500" algn="l"/>
              </a:tabLst>
            </a:pPr>
            <a:r>
              <a:rPr sz="1400" spc="-15">
                <a:latin typeface="Calibri"/>
                <a:cs typeface="Calibri"/>
              </a:rPr>
              <a:t>import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urllib3	</a:t>
            </a:r>
            <a:r>
              <a:rPr sz="1400">
                <a:latin typeface="Calibri"/>
                <a:cs typeface="Calibri"/>
              </a:rPr>
              <a:t>#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powerful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HTTP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client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for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20">
                <a:latin typeface="Calibri"/>
                <a:cs typeface="Calibri"/>
              </a:rPr>
              <a:t>myAPI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'</a:t>
            </a:r>
            <a:r>
              <a:rPr sz="1400" b="1" spc="-10">
                <a:solidFill>
                  <a:srgbClr val="00AF50"/>
                </a:solidFill>
                <a:latin typeface="Calibri"/>
                <a:cs typeface="Calibri"/>
              </a:rPr>
              <a:t>SMLI56456456RHUB</a:t>
            </a:r>
            <a:r>
              <a:rPr sz="1400" spc="-10">
                <a:latin typeface="Calibri"/>
                <a:cs typeface="Calibri"/>
              </a:rPr>
              <a:t>'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baseURL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'https://api.thingspeak.com/update?api_key=%s'</a:t>
            </a:r>
            <a:endParaRPr sz="1400">
              <a:latin typeface="Calibri"/>
              <a:cs typeface="Calibri"/>
            </a:endParaRPr>
          </a:p>
          <a:p>
            <a:pPr marR="210820" algn="r">
              <a:lnSpc>
                <a:spcPct val="100000"/>
              </a:lnSpc>
            </a:pPr>
            <a:r>
              <a:rPr sz="1400">
                <a:latin typeface="Calibri"/>
                <a:cs typeface="Calibri"/>
              </a:rPr>
              <a:t>%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myAPI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val=''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20">
                <a:latin typeface="Calibri"/>
                <a:cs typeface="Calibri"/>
              </a:rPr>
              <a:t>http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urllib3.PoolManager()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323215" marR="833755" indent="-31115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def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on_connect</a:t>
            </a:r>
            <a:r>
              <a:rPr sz="1400" b="1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(client,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userdata,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flags, </a:t>
            </a:r>
            <a:r>
              <a:rPr sz="1400" spc="-25">
                <a:latin typeface="Calibri"/>
                <a:cs typeface="Calibri"/>
              </a:rPr>
              <a:t>rc): 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print("Connected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with</a:t>
            </a:r>
            <a:r>
              <a:rPr sz="1400" spc="-15">
                <a:latin typeface="Calibri"/>
                <a:cs typeface="Calibri"/>
              </a:rPr>
              <a:t> result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code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"+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str(rc))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client.</a:t>
            </a:r>
            <a:r>
              <a:rPr sz="1400" spc="-15">
                <a:solidFill>
                  <a:srgbClr val="2C12F1"/>
                </a:solidFill>
                <a:latin typeface="Calibri"/>
                <a:cs typeface="Calibri"/>
              </a:rPr>
              <a:t>subscribe</a:t>
            </a:r>
            <a:r>
              <a:rPr sz="1400" spc="-15">
                <a:latin typeface="Calibri"/>
                <a:cs typeface="Calibri"/>
              </a:rPr>
              <a:t>("/esp8266/distance")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Calibri"/>
              <a:cs typeface="Calibri"/>
            </a:endParaRPr>
          </a:p>
          <a:p>
            <a:pPr marL="283845" marR="275590" indent="-27178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def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on_message </a:t>
            </a:r>
            <a:r>
              <a:rPr sz="1400" spc="-15">
                <a:latin typeface="Calibri"/>
                <a:cs typeface="Calibri"/>
              </a:rPr>
              <a:t>(client,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userdata,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message): 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print("Received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'"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+ </a:t>
            </a:r>
            <a:r>
              <a:rPr sz="1400" spc="-15">
                <a:latin typeface="Calibri"/>
                <a:cs typeface="Calibri"/>
              </a:rPr>
              <a:t>str(message.payload)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+</a:t>
            </a:r>
          </a:p>
          <a:p>
            <a:pPr marL="2068830">
              <a:lnSpc>
                <a:spcPct val="100000"/>
              </a:lnSpc>
            </a:pPr>
            <a:r>
              <a:rPr sz="1400" spc="-10">
                <a:latin typeface="Calibri"/>
                <a:cs typeface="Calibri"/>
              </a:rPr>
              <a:t>"'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on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topic </a:t>
            </a:r>
            <a:r>
              <a:rPr sz="1400" spc="-5">
                <a:latin typeface="Calibri"/>
                <a:cs typeface="Calibri"/>
              </a:rPr>
              <a:t>'"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+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message.topic)</a:t>
            </a:r>
            <a:endParaRPr sz="1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</a:pPr>
            <a:r>
              <a:rPr sz="1400" spc="-20">
                <a:latin typeface="Calibri"/>
                <a:cs typeface="Calibri"/>
              </a:rPr>
              <a:t>distance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0</a:t>
            </a:r>
          </a:p>
          <a:p>
            <a:pPr marL="554990" marR="1046480" indent="-271780">
              <a:lnSpc>
                <a:spcPct val="100000"/>
              </a:lnSpc>
            </a:pPr>
            <a:r>
              <a:rPr sz="1400" spc="-10">
                <a:latin typeface="Calibri"/>
                <a:cs typeface="Calibri"/>
              </a:rPr>
              <a:t>if</a:t>
            </a:r>
            <a:r>
              <a:rPr sz="1400" spc="-20">
                <a:latin typeface="Calibri"/>
                <a:cs typeface="Calibri"/>
              </a:rPr>
              <a:t> message.topic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==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"/esp8266/distance"</a:t>
            </a:r>
            <a:r>
              <a:rPr sz="1400" spc="-15">
                <a:latin typeface="Calibri"/>
                <a:cs typeface="Calibri"/>
              </a:rPr>
              <a:t>: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print("Distance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updated")</a:t>
            </a:r>
            <a:endParaRPr sz="1400">
              <a:latin typeface="Calibri"/>
              <a:cs typeface="Calibri"/>
            </a:endParaRPr>
          </a:p>
          <a:p>
            <a:pPr marL="554990" marR="873760">
              <a:lnSpc>
                <a:spcPct val="100000"/>
              </a:lnSpc>
            </a:pPr>
            <a:r>
              <a:rPr sz="1400" spc="-20">
                <a:latin typeface="Calibri"/>
                <a:cs typeface="Calibri"/>
              </a:rPr>
              <a:t>distance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str(message.payload,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'UTF-8')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distance</a:t>
            </a:r>
            <a:r>
              <a:rPr sz="1400" spc="27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 </a:t>
            </a:r>
            <a:r>
              <a:rPr sz="1400" spc="-15">
                <a:latin typeface="Calibri"/>
                <a:cs typeface="Calibri"/>
              </a:rPr>
              <a:t>distance.strip() 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print(distance)</a:t>
            </a:r>
            <a:endParaRPr sz="14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global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val</a:t>
            </a:r>
            <a:endParaRPr sz="14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val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distance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4596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>
                <a:solidFill>
                  <a:srgbClr val="FF0000"/>
                </a:solidFill>
                <a:latin typeface="Arial"/>
                <a:cs typeface="Arial"/>
              </a:rPr>
              <a:t>Programming</a:t>
            </a:r>
            <a:r>
              <a:rPr sz="40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5">
                <a:solidFill>
                  <a:srgbClr val="001F5F"/>
                </a:solidFill>
                <a:latin typeface="Arial"/>
                <a:cs typeface="Arial"/>
              </a:rPr>
              <a:t>R.</a:t>
            </a:r>
            <a:r>
              <a:rPr sz="4000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001F5F"/>
                </a:solidFill>
                <a:latin typeface="Arial"/>
                <a:cs typeface="Arial"/>
              </a:rPr>
              <a:t>Pi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4993FE52-B7A1-8C48-BE4B-972643466BAC}" type="datetime1">
              <a:rPr lang="en-US" smtClean="0"/>
              <a:t>9/1/26</a:t>
            </a:fld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05350" y="1263776"/>
            <a:ext cx="427482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170" algn="just">
              <a:lnSpc>
                <a:spcPct val="100000"/>
              </a:lnSpc>
              <a:spcBef>
                <a:spcPts val="105"/>
              </a:spcBef>
            </a:pPr>
            <a:r>
              <a:rPr sz="1400" spc="-10">
                <a:latin typeface="Calibri"/>
                <a:cs typeface="Calibri"/>
              </a:rPr>
              <a:t>if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val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!=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''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:</a:t>
            </a:r>
          </a:p>
          <a:p>
            <a:pPr marL="245745" marR="5080" algn="just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conn </a:t>
            </a:r>
            <a:r>
              <a:rPr sz="1400">
                <a:latin typeface="Calibri"/>
                <a:cs typeface="Calibri"/>
              </a:rPr>
              <a:t>= </a:t>
            </a:r>
            <a:r>
              <a:rPr sz="1400" spc="-15">
                <a:latin typeface="Calibri"/>
                <a:cs typeface="Calibri"/>
              </a:rPr>
              <a:t>http.request('GET', </a:t>
            </a:r>
            <a:r>
              <a:rPr sz="1400" spc="-10">
                <a:latin typeface="Calibri"/>
                <a:cs typeface="Calibri"/>
              </a:rPr>
              <a:t>baseURL </a:t>
            </a:r>
            <a:r>
              <a:rPr sz="1400" spc="-15">
                <a:latin typeface="Calibri"/>
                <a:cs typeface="Calibri"/>
              </a:rPr>
              <a:t>+'&amp;field1=%s'%(val))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print(conn.status)</a:t>
            </a:r>
            <a:endParaRPr sz="1400">
              <a:latin typeface="Calibri"/>
              <a:cs typeface="Calibri"/>
            </a:endParaRPr>
          </a:p>
          <a:p>
            <a:pPr marL="245745" marR="3164205" algn="just">
              <a:lnSpc>
                <a:spcPct val="100000"/>
              </a:lnSpc>
            </a:pPr>
            <a:r>
              <a:rPr sz="1400" spc="-20">
                <a:latin typeface="Calibri"/>
                <a:cs typeface="Calibri"/>
              </a:rPr>
              <a:t>conn.read()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-30">
                <a:latin typeface="Calibri"/>
                <a:cs typeface="Calibri"/>
              </a:rPr>
              <a:t>c</a:t>
            </a:r>
            <a:r>
              <a:rPr sz="1400" spc="-10">
                <a:latin typeface="Calibri"/>
                <a:cs typeface="Calibri"/>
              </a:rPr>
              <a:t>o</a:t>
            </a:r>
            <a:r>
              <a:rPr sz="1400" spc="-20">
                <a:latin typeface="Calibri"/>
                <a:cs typeface="Calibri"/>
              </a:rPr>
              <a:t>nn</a:t>
            </a:r>
            <a:r>
              <a:rPr sz="1400" spc="-10">
                <a:latin typeface="Calibri"/>
                <a:cs typeface="Calibri"/>
              </a:rPr>
              <a:t>.</a:t>
            </a:r>
            <a:r>
              <a:rPr sz="1400" spc="-20">
                <a:latin typeface="Calibri"/>
                <a:cs typeface="Calibri"/>
              </a:rPr>
              <a:t>c</a:t>
            </a:r>
            <a:r>
              <a:rPr sz="1400" spc="-15">
                <a:latin typeface="Calibri"/>
                <a:cs typeface="Calibri"/>
              </a:rPr>
              <a:t>l</a:t>
            </a:r>
            <a:r>
              <a:rPr sz="1400" spc="-10">
                <a:latin typeface="Calibri"/>
                <a:cs typeface="Calibri"/>
              </a:rPr>
              <a:t>os</a:t>
            </a:r>
            <a:r>
              <a:rPr sz="1400" spc="-15">
                <a:latin typeface="Calibri"/>
                <a:cs typeface="Calibri"/>
              </a:rPr>
              <a:t>e</a:t>
            </a:r>
            <a:r>
              <a:rPr sz="1400" spc="-20">
                <a:latin typeface="Calibri"/>
                <a:cs typeface="Calibri"/>
              </a:rPr>
              <a:t>()  val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''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5">
                <a:latin typeface="Calibri"/>
                <a:cs typeface="Calibri"/>
              </a:rPr>
              <a:t>def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main():</a:t>
            </a:r>
            <a:endParaRPr sz="1400">
              <a:latin typeface="Calibri"/>
              <a:cs typeface="Calibri"/>
            </a:endParaRPr>
          </a:p>
          <a:p>
            <a:pPr marL="167640" marR="125984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mqtt_client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20">
                <a:latin typeface="Calibri"/>
                <a:cs typeface="Calibri"/>
              </a:rPr>
              <a:t> mqtt.Client() </a:t>
            </a:r>
            <a:r>
              <a:rPr sz="1400" spc="-15">
                <a:latin typeface="Calibri"/>
                <a:cs typeface="Calibri"/>
              </a:rPr>
              <a:t> mqtt_client.on_connect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on_connect </a:t>
            </a:r>
            <a:r>
              <a:rPr sz="1400" b="1" spc="-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mqtt_client.on_message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on_message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mqtt_client.connect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('localhost',</a:t>
            </a:r>
            <a:r>
              <a:rPr sz="1400" spc="50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1883</a:t>
            </a:r>
            <a:r>
              <a:rPr sz="1400" spc="-15">
                <a:latin typeface="Calibri"/>
                <a:cs typeface="Calibri"/>
              </a:rPr>
              <a:t>,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60)</a:t>
            </a:r>
            <a:endParaRPr sz="14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</a:pPr>
            <a:r>
              <a:rPr sz="1400">
                <a:latin typeface="Calibri"/>
                <a:cs typeface="Calibri"/>
              </a:rPr>
              <a:t>#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Connect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</a:t>
            </a:r>
            <a:r>
              <a:rPr sz="1400" spc="-10">
                <a:latin typeface="Calibri"/>
                <a:cs typeface="Calibri"/>
              </a:rPr>
              <a:t> the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MQTT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server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and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process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messages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 </a:t>
            </a:r>
            <a:r>
              <a:rPr sz="1400">
                <a:latin typeface="Calibri"/>
                <a:cs typeface="Calibri"/>
              </a:rPr>
              <a:t>a</a:t>
            </a:r>
          </a:p>
          <a:p>
            <a:pPr marL="280670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background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thread.</a:t>
            </a:r>
            <a:endParaRPr sz="14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</a:pPr>
            <a:r>
              <a:rPr sz="1400" spc="-15">
                <a:latin typeface="Calibri"/>
                <a:cs typeface="Calibri"/>
              </a:rPr>
              <a:t>mqtt_client.loop_start()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Calibri"/>
              <a:cs typeface="Calibri"/>
            </a:endParaRPr>
          </a:p>
          <a:p>
            <a:pPr marL="167640" marR="1808480" indent="-155575">
              <a:lnSpc>
                <a:spcPct val="100000"/>
              </a:lnSpc>
              <a:tabLst>
                <a:tab pos="318770" algn="l"/>
                <a:tab pos="934085" algn="l"/>
                <a:tab pos="1367790" algn="l"/>
                <a:tab pos="1898650" algn="l"/>
              </a:tabLst>
            </a:pPr>
            <a:r>
              <a:rPr sz="1400" spc="-10">
                <a:latin typeface="Calibri"/>
                <a:cs typeface="Calibri"/>
              </a:rPr>
              <a:t>if</a:t>
            </a:r>
            <a:r>
              <a:rPr sz="1400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	</a:t>
            </a:r>
            <a:r>
              <a:rPr sz="1400" spc="-20">
                <a:latin typeface="Calibri"/>
                <a:cs typeface="Calibri"/>
              </a:rPr>
              <a:t>name</a:t>
            </a:r>
            <a:r>
              <a:rPr sz="1400" u="sng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400" spc="-10">
                <a:latin typeface="Calibri"/>
                <a:cs typeface="Calibri"/>
              </a:rPr>
              <a:t>== '</a:t>
            </a:r>
            <a:r>
              <a:rPr sz="1400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400" spc="-20">
                <a:latin typeface="Calibri"/>
                <a:cs typeface="Calibri"/>
              </a:rPr>
              <a:t>main</a:t>
            </a:r>
            <a:r>
              <a:rPr sz="1400" u="sng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400" spc="-10">
                <a:latin typeface="Calibri"/>
                <a:cs typeface="Calibri"/>
              </a:rPr>
              <a:t>': 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print('MQTT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to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InfluxDB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bridge')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main()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85715" y="1043939"/>
            <a:ext cx="0" cy="5261610"/>
          </a:xfrm>
          <a:custGeom>
            <a:avLst/>
            <a:gdLst/>
            <a:ahLst/>
            <a:cxnLst/>
            <a:rect l="l" t="t" r="r" b="b"/>
            <a:pathLst>
              <a:path h="5261610">
                <a:moveTo>
                  <a:pt x="0" y="0"/>
                </a:moveTo>
                <a:lnTo>
                  <a:pt x="0" y="5261521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2CDB0B-60D4-41A3-712D-420EFBB64C5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877A12-42F2-DA38-6C69-A57B6CEB6C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" y="115265"/>
            <a:ext cx="7266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ThingSpeak</a:t>
            </a:r>
            <a:r>
              <a:rPr sz="40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000" spc="-10">
                <a:solidFill>
                  <a:srgbClr val="FF0000"/>
                </a:solidFill>
                <a:latin typeface="Arial"/>
                <a:cs typeface="Arial"/>
              </a:rPr>
              <a:t>Cloud Dashboard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211C98F5-E75C-8A48-96DC-FF6ACD1B0D7A}" type="datetime1">
              <a:rPr lang="en-US" smtClean="0"/>
              <a:t>9/1/26</a:t>
            </a:fld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660" y="1787138"/>
            <a:ext cx="8675836" cy="362217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ED1A-4D02-5B82-63FE-82B8ABF4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60078-0FA9-3FFD-2E1A-919494C9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3550" y="99771"/>
            <a:ext cx="31400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/>
              <a:t>What</a:t>
            </a:r>
            <a:r>
              <a:rPr spc="5"/>
              <a:t> </a:t>
            </a:r>
            <a:r>
              <a:rPr spc="-5"/>
              <a:t>is</a:t>
            </a:r>
            <a:r>
              <a:rPr spc="-35"/>
              <a:t> </a:t>
            </a:r>
            <a:r>
              <a:rPr spc="-10"/>
              <a:t>CoAP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172" y="1341599"/>
            <a:ext cx="4624351" cy="36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u="sng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CoAP</a:t>
            </a:r>
            <a:r>
              <a:rPr sz="1600" u="sng" spc="-2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 </a:t>
            </a:r>
            <a:r>
              <a:rPr sz="1600" u="sng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-</a:t>
            </a:r>
            <a:r>
              <a:rPr sz="1600" u="sng" spc="-25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Constrained</a:t>
            </a:r>
            <a:r>
              <a:rPr sz="1600" u="sng" spc="5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Application</a:t>
            </a:r>
            <a:r>
              <a:rPr sz="1600" u="sng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5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Calibri"/>
                <a:cs typeface="Calibri"/>
              </a:rPr>
              <a:t>Protocol.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b="1" spc="-5">
                <a:latin typeface="Calibri"/>
                <a:cs typeface="Calibri"/>
              </a:rPr>
              <a:t>Specialized</a:t>
            </a:r>
            <a:r>
              <a:rPr sz="1600" b="1" spc="-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web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transfer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protocol.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Devised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constrained</a:t>
            </a:r>
            <a:r>
              <a:rPr sz="1600" b="1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low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power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10">
                <a:latin typeface="Calibri"/>
                <a:cs typeface="Calibri"/>
              </a:rPr>
              <a:t>networks.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 </a:t>
            </a:r>
            <a:r>
              <a:rPr sz="1600" spc="-5">
                <a:latin typeface="Calibri"/>
                <a:cs typeface="Calibri"/>
              </a:rPr>
              <a:t>is </a:t>
            </a:r>
            <a:r>
              <a:rPr sz="1600">
                <a:latin typeface="Calibri"/>
                <a:cs typeface="Calibri"/>
              </a:rPr>
              <a:t>an </a:t>
            </a:r>
            <a:r>
              <a:rPr sz="1600" b="1" spc="-5">
                <a:latin typeface="Calibri"/>
                <a:cs typeface="Calibri"/>
              </a:rPr>
              <a:t>application </a:t>
            </a:r>
            <a:r>
              <a:rPr sz="1600" b="1" spc="-15">
                <a:latin typeface="Calibri"/>
                <a:cs typeface="Calibri"/>
              </a:rPr>
              <a:t>layer </a:t>
            </a:r>
            <a:r>
              <a:rPr sz="1600" b="1" spc="-5">
                <a:latin typeface="Calibri"/>
                <a:cs typeface="Calibri"/>
              </a:rPr>
              <a:t>protocol </a:t>
            </a:r>
            <a:r>
              <a:rPr sz="1600" spc="-5">
                <a:latin typeface="Calibri"/>
                <a:cs typeface="Calibri"/>
              </a:rPr>
              <a:t>(</a:t>
            </a:r>
            <a:r>
              <a:rPr sz="1600" spc="-5">
                <a:solidFill>
                  <a:srgbClr val="0033CC"/>
                </a:solidFill>
                <a:latin typeface="Calibri"/>
                <a:cs typeface="Calibri"/>
              </a:rPr>
              <a:t>similar </a:t>
            </a:r>
            <a:r>
              <a:rPr sz="1600" spc="-35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33CC"/>
                </a:solidFill>
                <a:latin typeface="Calibri"/>
                <a:cs typeface="Calibri"/>
              </a:rPr>
              <a:t>as</a:t>
            </a:r>
            <a:r>
              <a:rPr sz="1600" spc="-1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5">
                <a:solidFill>
                  <a:srgbClr val="0033CC"/>
                </a:solidFill>
                <a:latin typeface="Calibri"/>
                <a:cs typeface="Calibri"/>
              </a:rPr>
              <a:t>HTTP</a:t>
            </a:r>
            <a:r>
              <a:rPr sz="1600" spc="5">
                <a:latin typeface="Calibri"/>
                <a:cs typeface="Calibri"/>
              </a:rPr>
              <a:t>).</a:t>
            </a:r>
            <a:endParaRPr sz="1600">
              <a:latin typeface="Calibri"/>
              <a:cs typeface="Calibri"/>
            </a:endParaRPr>
          </a:p>
          <a:p>
            <a:pPr marL="356870" marR="236220" indent="-34480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10">
                <a:latin typeface="Calibri"/>
                <a:cs typeface="Calibri"/>
              </a:rPr>
              <a:t>Inspired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from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30">
                <a:latin typeface="Calibri"/>
                <a:cs typeface="Calibri"/>
              </a:rPr>
              <a:t>HTTP,</a:t>
            </a:r>
            <a:r>
              <a:rPr sz="1600" spc="-6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it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follows</a:t>
            </a:r>
            <a:r>
              <a:rPr sz="1600" spc="6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request- </a:t>
            </a:r>
            <a:r>
              <a:rPr sz="1600" b="1" spc="-3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response</a:t>
            </a:r>
            <a:r>
              <a:rPr sz="1600" b="1" spc="-4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pattern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has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transparent</a:t>
            </a:r>
            <a:r>
              <a:rPr sz="1600" b="1" spc="-6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mapping</a:t>
            </a:r>
            <a:r>
              <a:rPr sz="1600" b="1" spc="-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35">
                <a:latin typeface="Calibri"/>
                <a:cs typeface="Calibri"/>
              </a:rPr>
              <a:t>HTTP.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protocol</a:t>
            </a:r>
            <a:r>
              <a:rPr sz="1600" spc="5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spec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specified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b="1" spc="5">
                <a:latin typeface="Calibri"/>
                <a:cs typeface="Calibri"/>
              </a:rPr>
              <a:t>RFC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7252</a:t>
            </a:r>
            <a:r>
              <a:rPr sz="1600">
                <a:latin typeface="Calibri"/>
                <a:cs typeface="Calibri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3523" y="1711942"/>
            <a:ext cx="4096747" cy="26952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2783CD8E-6285-F242-ADAF-6BF4E4BBE43A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29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2127759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5844"/>
            <a:ext cx="7162800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/>
              <a:t>Characteristics</a:t>
            </a:r>
            <a:r>
              <a:rPr spc="25"/>
              <a:t> </a:t>
            </a:r>
            <a:r>
              <a:rPr spc="-5"/>
              <a:t>of CoAP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3A4F30B7-60C8-2E4C-90D9-D5BCC7FD0378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4370" y="1244670"/>
            <a:ext cx="4125595" cy="43065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very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efficient</a:t>
            </a:r>
            <a:r>
              <a:rPr sz="1600" spc="6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RESTful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protocol.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Embedded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web </a:t>
            </a:r>
            <a:r>
              <a:rPr sz="1600" spc="-15">
                <a:latin typeface="Calibri"/>
                <a:cs typeface="Calibri"/>
              </a:rPr>
              <a:t>transfer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protocol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Low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parsing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complexity.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10">
                <a:solidFill>
                  <a:srgbClr val="0033CC"/>
                </a:solidFill>
                <a:latin typeface="Calibri"/>
                <a:cs typeface="Calibri"/>
              </a:rPr>
              <a:t>Proxied</a:t>
            </a:r>
            <a:r>
              <a:rPr sz="1600" spc="-2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to/from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35">
                <a:latin typeface="Calibri"/>
                <a:cs typeface="Calibri"/>
              </a:rPr>
              <a:t>HTTP.</a:t>
            </a:r>
            <a:endParaRPr sz="1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65"/>
              </a:spcBef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400" spc="-45">
                <a:solidFill>
                  <a:srgbClr val="C00000"/>
                </a:solidFill>
                <a:latin typeface="Calibri"/>
                <a:cs typeface="Calibri"/>
              </a:rPr>
              <a:t>GET</a:t>
            </a:r>
            <a:r>
              <a:rPr sz="1400" spc="-45">
                <a:solidFill>
                  <a:srgbClr val="974707"/>
                </a:solidFill>
                <a:latin typeface="Calibri"/>
                <a:cs typeface="Calibri"/>
              </a:rPr>
              <a:t>,</a:t>
            </a:r>
            <a:r>
              <a:rPr sz="1400" spc="25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400" spc="-35">
                <a:solidFill>
                  <a:srgbClr val="C00000"/>
                </a:solidFill>
                <a:latin typeface="Calibri"/>
                <a:cs typeface="Calibri"/>
              </a:rPr>
              <a:t>POST</a:t>
            </a:r>
            <a:r>
              <a:rPr sz="1400" spc="-35">
                <a:solidFill>
                  <a:srgbClr val="974707"/>
                </a:solidFill>
                <a:latin typeface="Calibri"/>
                <a:cs typeface="Calibri"/>
              </a:rPr>
              <a:t>,</a:t>
            </a:r>
            <a:r>
              <a:rPr sz="140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PUT</a:t>
            </a:r>
            <a:r>
              <a:rPr sz="14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and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DELETE</a:t>
            </a:r>
            <a:r>
              <a:rPr sz="1400" spc="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methods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are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used.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400" spc="-5">
                <a:latin typeface="Calibri"/>
                <a:cs typeface="Calibri"/>
              </a:rPr>
              <a:t>Uses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subset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HTTP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response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codes.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400" spc="-5">
                <a:solidFill>
                  <a:srgbClr val="0033CC"/>
                </a:solidFill>
                <a:latin typeface="Calibri"/>
                <a:cs typeface="Calibri"/>
              </a:rPr>
              <a:t>URI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is </a:t>
            </a:r>
            <a:r>
              <a:rPr sz="1400" spc="-15">
                <a:latin typeface="Calibri"/>
                <a:cs typeface="Calibri"/>
              </a:rPr>
              <a:t>supported</a:t>
            </a:r>
            <a:r>
              <a:rPr sz="1200" spc="-15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"/>
            </a:pPr>
            <a:endParaRPr sz="21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Low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header </a:t>
            </a:r>
            <a:r>
              <a:rPr sz="1600" spc="-10">
                <a:latin typeface="Calibri"/>
                <a:cs typeface="Calibri"/>
              </a:rPr>
              <a:t>overhead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uses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small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simple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4</a:t>
            </a:r>
            <a:r>
              <a:rPr sz="1600" b="1" spc="-5">
                <a:latin typeface="Calibri"/>
                <a:cs typeface="Calibri"/>
              </a:rPr>
              <a:t> byte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 spc="-20">
                <a:latin typeface="Calibri"/>
                <a:cs typeface="Calibri"/>
              </a:rPr>
              <a:t>header.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Supports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binding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45">
                <a:solidFill>
                  <a:srgbClr val="0033CC"/>
                </a:solidFill>
                <a:latin typeface="Calibri"/>
                <a:cs typeface="Calibri"/>
              </a:rPr>
              <a:t>UDP</a:t>
            </a:r>
            <a:r>
              <a:rPr sz="1600" spc="-45">
                <a:solidFill>
                  <a:srgbClr val="94B3D6"/>
                </a:solidFill>
                <a:latin typeface="Calibri"/>
                <a:cs typeface="Calibri"/>
              </a:rPr>
              <a:t>,</a:t>
            </a:r>
            <a:r>
              <a:rPr sz="1600" spc="-30">
                <a:solidFill>
                  <a:srgbClr val="94B3D6"/>
                </a:solidFill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5">
                <a:solidFill>
                  <a:srgbClr val="0033CC"/>
                </a:solidFill>
                <a:latin typeface="Calibri"/>
                <a:cs typeface="Calibri"/>
              </a:rPr>
              <a:t>TCP</a:t>
            </a:r>
            <a:r>
              <a:rPr sz="1600" spc="-55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DTLS based </a:t>
            </a:r>
            <a:r>
              <a:rPr sz="1600" spc="-15">
                <a:latin typeface="Calibri"/>
                <a:cs typeface="Calibri"/>
              </a:rPr>
              <a:t>certificate</a:t>
            </a:r>
            <a:r>
              <a:rPr sz="1600" spc="6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600" spc="3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used.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/>
              <a:t>What</a:t>
            </a:r>
            <a:r>
              <a:rPr spc="-30"/>
              <a:t> </a:t>
            </a:r>
            <a:r>
              <a:rPr spc="-5"/>
              <a:t>is</a:t>
            </a:r>
            <a:r>
              <a:rPr spc="-25"/>
              <a:t> </a:t>
            </a:r>
            <a:r>
              <a:rPr spc="-5"/>
              <a:t>REST?</a:t>
            </a:r>
          </a:p>
          <a:p>
            <a:pPr marL="299085" marR="5080" indent="-28702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15"/>
              <a:t>Representational</a:t>
            </a:r>
            <a:r>
              <a:rPr sz="1400" spc="114"/>
              <a:t> </a:t>
            </a:r>
            <a:r>
              <a:rPr sz="1400" spc="-25"/>
              <a:t>State</a:t>
            </a:r>
            <a:r>
              <a:rPr sz="1400" spc="50"/>
              <a:t> </a:t>
            </a:r>
            <a:r>
              <a:rPr sz="1400" spc="-30"/>
              <a:t>Transfer</a:t>
            </a:r>
            <a:r>
              <a:rPr sz="1400" spc="45"/>
              <a:t> </a:t>
            </a:r>
            <a:r>
              <a:rPr sz="1400" spc="-10"/>
              <a:t>(REST)</a:t>
            </a:r>
            <a:r>
              <a:rPr sz="1400" spc="30"/>
              <a:t> </a:t>
            </a:r>
            <a:r>
              <a:rPr sz="1400" spc="-10"/>
              <a:t>is </a:t>
            </a:r>
            <a:r>
              <a:rPr sz="1400" spc="-300"/>
              <a:t> </a:t>
            </a:r>
            <a:r>
              <a:rPr sz="1400" spc="-5"/>
              <a:t>a </a:t>
            </a:r>
            <a:r>
              <a:rPr sz="1400" spc="-15"/>
              <a:t>software architecture</a:t>
            </a:r>
            <a:r>
              <a:rPr sz="1400" spc="-10"/>
              <a:t> </a:t>
            </a:r>
            <a:r>
              <a:rPr sz="1400" spc="-15"/>
              <a:t>that </a:t>
            </a:r>
            <a:r>
              <a:rPr sz="1400" spc="-10"/>
              <a:t>imposes </a:t>
            </a:r>
            <a:r>
              <a:rPr sz="1400" spc="-5"/>
              <a:t> </a:t>
            </a:r>
            <a:r>
              <a:rPr sz="1400" spc="-10"/>
              <a:t>conditions</a:t>
            </a:r>
            <a:r>
              <a:rPr sz="1400" spc="35"/>
              <a:t> </a:t>
            </a:r>
            <a:r>
              <a:rPr sz="1400" spc="-5"/>
              <a:t>on</a:t>
            </a:r>
            <a:r>
              <a:rPr sz="1400"/>
              <a:t> </a:t>
            </a:r>
            <a:r>
              <a:rPr sz="1400" spc="-10"/>
              <a:t>how</a:t>
            </a:r>
            <a:r>
              <a:rPr sz="1400"/>
              <a:t> </a:t>
            </a:r>
            <a:r>
              <a:rPr sz="1400" spc="-5"/>
              <a:t>an</a:t>
            </a:r>
            <a:r>
              <a:rPr sz="1400"/>
              <a:t> </a:t>
            </a:r>
            <a:r>
              <a:rPr sz="1400" spc="-5"/>
              <a:t>API</a:t>
            </a:r>
            <a:r>
              <a:rPr sz="1400" spc="-25"/>
              <a:t> </a:t>
            </a:r>
            <a:r>
              <a:rPr sz="1400" spc="-10"/>
              <a:t>should</a:t>
            </a:r>
            <a:r>
              <a:rPr sz="1400" spc="45"/>
              <a:t> </a:t>
            </a:r>
            <a:r>
              <a:rPr sz="1400" spc="-15"/>
              <a:t>work.</a:t>
            </a:r>
            <a:endParaRPr sz="1400"/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350"/>
          </a:p>
          <a:p>
            <a:pPr marL="299085" marR="2730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5"/>
              <a:t>API</a:t>
            </a:r>
            <a:r>
              <a:rPr sz="1400" spc="5"/>
              <a:t> </a:t>
            </a:r>
            <a:r>
              <a:rPr sz="1400" spc="-15"/>
              <a:t>developers</a:t>
            </a:r>
            <a:r>
              <a:rPr sz="1400" spc="70"/>
              <a:t> </a:t>
            </a:r>
            <a:r>
              <a:rPr sz="1400" spc="-5"/>
              <a:t>can</a:t>
            </a:r>
            <a:r>
              <a:rPr sz="1400" spc="-20"/>
              <a:t> </a:t>
            </a:r>
            <a:r>
              <a:rPr sz="1400" spc="-10"/>
              <a:t>design</a:t>
            </a:r>
            <a:r>
              <a:rPr sz="1400" spc="30"/>
              <a:t> </a:t>
            </a:r>
            <a:r>
              <a:rPr sz="1400" spc="-5"/>
              <a:t>APIs</a:t>
            </a:r>
            <a:r>
              <a:rPr sz="1400"/>
              <a:t> </a:t>
            </a:r>
            <a:r>
              <a:rPr sz="1400" spc="-15"/>
              <a:t>using </a:t>
            </a:r>
            <a:r>
              <a:rPr sz="1400" spc="-10"/>
              <a:t> </a:t>
            </a:r>
            <a:r>
              <a:rPr sz="1400" spc="-15"/>
              <a:t>several </a:t>
            </a:r>
            <a:r>
              <a:rPr sz="1400" spc="-20"/>
              <a:t>different </a:t>
            </a:r>
            <a:r>
              <a:rPr sz="1400" spc="-15"/>
              <a:t>architectures.</a:t>
            </a:r>
            <a:r>
              <a:rPr sz="1400" spc="-10"/>
              <a:t> </a:t>
            </a:r>
            <a:r>
              <a:rPr sz="1400" spc="-5"/>
              <a:t>APIs </a:t>
            </a:r>
            <a:r>
              <a:rPr sz="1400" spc="-20"/>
              <a:t>that </a:t>
            </a:r>
            <a:r>
              <a:rPr sz="1400" spc="-305"/>
              <a:t> </a:t>
            </a:r>
            <a:r>
              <a:rPr sz="1400" spc="-10"/>
              <a:t>follow</a:t>
            </a:r>
            <a:r>
              <a:rPr sz="1400" spc="-20"/>
              <a:t> </a:t>
            </a:r>
            <a:r>
              <a:rPr sz="1400" spc="-15"/>
              <a:t>the</a:t>
            </a:r>
            <a:r>
              <a:rPr sz="1400" spc="40"/>
              <a:t> </a:t>
            </a:r>
            <a:r>
              <a:rPr sz="1400" spc="-10"/>
              <a:t>REST</a:t>
            </a:r>
            <a:r>
              <a:rPr sz="1400" spc="5"/>
              <a:t> </a:t>
            </a:r>
            <a:r>
              <a:rPr sz="1400" spc="-15"/>
              <a:t>architectural</a:t>
            </a:r>
            <a:r>
              <a:rPr sz="1400" spc="75"/>
              <a:t> </a:t>
            </a:r>
            <a:r>
              <a:rPr sz="1400" spc="-15"/>
              <a:t>style</a:t>
            </a:r>
            <a:r>
              <a:rPr sz="1400" spc="65"/>
              <a:t> </a:t>
            </a:r>
            <a:r>
              <a:rPr sz="1400" spc="-15"/>
              <a:t>are </a:t>
            </a:r>
            <a:r>
              <a:rPr sz="1400" spc="-10"/>
              <a:t> </a:t>
            </a:r>
            <a:r>
              <a:rPr sz="1400" spc="-5"/>
              <a:t>called</a:t>
            </a:r>
            <a:r>
              <a:rPr sz="1400"/>
              <a:t> </a:t>
            </a:r>
            <a:r>
              <a:rPr sz="1400" spc="-10"/>
              <a:t>REST</a:t>
            </a:r>
            <a:r>
              <a:rPr sz="1400" spc="15"/>
              <a:t> </a:t>
            </a:r>
            <a:r>
              <a:rPr sz="1400" spc="-5"/>
              <a:t>APIs</a:t>
            </a:r>
            <a:r>
              <a:rPr sz="1400" spc="-25"/>
              <a:t> </a:t>
            </a:r>
            <a:r>
              <a:rPr sz="1400" spc="-5"/>
              <a:t>or</a:t>
            </a:r>
            <a:r>
              <a:rPr sz="1400" spc="-15"/>
              <a:t> </a:t>
            </a:r>
            <a:r>
              <a:rPr sz="1400" spc="-10"/>
              <a:t>RESTful</a:t>
            </a:r>
            <a:r>
              <a:rPr sz="1400" spc="30"/>
              <a:t> </a:t>
            </a:r>
            <a:r>
              <a:rPr sz="1400" spc="-20"/>
              <a:t>web</a:t>
            </a:r>
            <a:r>
              <a:rPr sz="1400" spc="30"/>
              <a:t> </a:t>
            </a:r>
            <a:r>
              <a:rPr sz="1400" spc="-5"/>
              <a:t>APIs.</a:t>
            </a:r>
            <a:endParaRPr sz="1400"/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350"/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5"/>
              <a:t>Some</a:t>
            </a:r>
            <a:r>
              <a:rPr sz="1400" spc="-15"/>
              <a:t> </a:t>
            </a:r>
            <a:r>
              <a:rPr sz="1400"/>
              <a:t>of</a:t>
            </a:r>
            <a:r>
              <a:rPr sz="1400" spc="-35"/>
              <a:t> </a:t>
            </a:r>
            <a:r>
              <a:rPr sz="1400" spc="-15"/>
              <a:t>the</a:t>
            </a:r>
            <a:r>
              <a:rPr sz="1400" spc="40"/>
              <a:t> </a:t>
            </a:r>
            <a:r>
              <a:rPr sz="1400" spc="-15"/>
              <a:t>constraints</a:t>
            </a:r>
            <a:r>
              <a:rPr sz="1400" spc="65"/>
              <a:t> </a:t>
            </a:r>
            <a:r>
              <a:rPr sz="1400"/>
              <a:t>of</a:t>
            </a:r>
            <a:r>
              <a:rPr sz="1400" spc="-10"/>
              <a:t> </a:t>
            </a:r>
            <a:r>
              <a:rPr sz="1400" spc="-15"/>
              <a:t>the</a:t>
            </a:r>
            <a:r>
              <a:rPr sz="1400" spc="10"/>
              <a:t> </a:t>
            </a:r>
            <a:r>
              <a:rPr sz="1400" spc="-10"/>
              <a:t>REST</a:t>
            </a:r>
            <a:endParaRPr sz="1400"/>
          </a:p>
          <a:p>
            <a:pPr marL="299085">
              <a:lnSpc>
                <a:spcPct val="100000"/>
              </a:lnSpc>
            </a:pPr>
            <a:r>
              <a:rPr sz="1400" spc="-15"/>
              <a:t>architectural</a:t>
            </a:r>
            <a:r>
              <a:rPr sz="1400" spc="45"/>
              <a:t> </a:t>
            </a:r>
            <a:r>
              <a:rPr sz="1400" spc="-10"/>
              <a:t>style:</a:t>
            </a:r>
            <a:endParaRPr sz="1400"/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5">
                <a:latin typeface="Calibri"/>
                <a:cs typeface="Calibri"/>
              </a:rPr>
              <a:t>Uniform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interface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Statelessness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Cacheability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Code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on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demand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20">
                <a:latin typeface="Calibri"/>
                <a:cs typeface="Calibri"/>
              </a:rPr>
              <a:t>Layered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20"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32277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/>
              <a:t>CoAP</a:t>
            </a:r>
            <a:r>
              <a:rPr sz="4000" spc="-55"/>
              <a:t> </a:t>
            </a:r>
            <a:r>
              <a:rPr sz="4000" spc="-5"/>
              <a:t>Structure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6334" y="954556"/>
            <a:ext cx="4714875" cy="249301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500" spc="-5">
                <a:latin typeface="Calibri"/>
                <a:cs typeface="Calibri"/>
              </a:rPr>
              <a:t>There</a:t>
            </a:r>
            <a:r>
              <a:rPr sz="1500" spc="-10">
                <a:latin typeface="Calibri"/>
                <a:cs typeface="Calibri"/>
              </a:rPr>
              <a:t> are </a:t>
            </a:r>
            <a:r>
              <a:rPr sz="1500" b="1" spc="-5">
                <a:latin typeface="Calibri"/>
                <a:cs typeface="Calibri"/>
              </a:rPr>
              <a:t>two</a:t>
            </a:r>
            <a:r>
              <a:rPr sz="1500" b="1" spc="-20">
                <a:latin typeface="Calibri"/>
                <a:cs typeface="Calibri"/>
              </a:rPr>
              <a:t> </a:t>
            </a:r>
            <a:r>
              <a:rPr sz="1500" b="1" spc="-10">
                <a:latin typeface="Calibri"/>
                <a:cs typeface="Calibri"/>
              </a:rPr>
              <a:t>different</a:t>
            </a:r>
            <a:r>
              <a:rPr sz="1500" b="1" spc="-45">
                <a:latin typeface="Calibri"/>
                <a:cs typeface="Calibri"/>
              </a:rPr>
              <a:t> </a:t>
            </a:r>
            <a:r>
              <a:rPr sz="1500" b="1" spc="-10">
                <a:latin typeface="Calibri"/>
                <a:cs typeface="Calibri"/>
              </a:rPr>
              <a:t>layers </a:t>
            </a:r>
            <a:r>
              <a:rPr sz="1500" spc="-5">
                <a:latin typeface="Calibri"/>
                <a:cs typeface="Calibri"/>
              </a:rPr>
              <a:t>that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make </a:t>
            </a:r>
            <a:r>
              <a:rPr sz="1500">
                <a:latin typeface="Calibri"/>
                <a:cs typeface="Calibri"/>
              </a:rPr>
              <a:t>CoAP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Protocol:</a:t>
            </a:r>
            <a:endParaRPr sz="1500">
              <a:latin typeface="Calibri"/>
              <a:cs typeface="Calibri"/>
            </a:endParaRPr>
          </a:p>
          <a:p>
            <a:pPr marL="777875" lvl="1" indent="-367030">
              <a:lnSpc>
                <a:spcPct val="100000"/>
              </a:lnSpc>
              <a:spcBef>
                <a:spcPts val="195"/>
              </a:spcBef>
              <a:buSzPct val="73333"/>
              <a:buFont typeface="Wingdings"/>
              <a:buChar char=""/>
              <a:tabLst>
                <a:tab pos="777875" algn="l"/>
                <a:tab pos="778510" algn="l"/>
              </a:tabLst>
            </a:pPr>
            <a:r>
              <a:rPr sz="1500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endParaRPr sz="1500">
              <a:latin typeface="Calibri"/>
              <a:cs typeface="Calibri"/>
            </a:endParaRPr>
          </a:p>
          <a:p>
            <a:pPr marL="783590" lvl="1" indent="-372745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783590" algn="l"/>
                <a:tab pos="784225" algn="l"/>
              </a:tabLst>
            </a:pPr>
            <a:r>
              <a:rPr sz="1500" spc="-5">
                <a:solidFill>
                  <a:srgbClr val="C00000"/>
                </a:solidFill>
                <a:latin typeface="Calibri"/>
                <a:cs typeface="Calibri"/>
              </a:rPr>
              <a:t>Request/Response.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344170" marR="2817495" indent="-344170" algn="r">
              <a:lnSpc>
                <a:spcPct val="100000"/>
              </a:lnSpc>
              <a:buFont typeface="Wingdings"/>
              <a:buChar char=""/>
              <a:tabLst>
                <a:tab pos="344170" algn="l"/>
                <a:tab pos="344805" algn="l"/>
              </a:tabLst>
            </a:pPr>
            <a:r>
              <a:rPr sz="1500" spc="10">
                <a:latin typeface="Calibri"/>
                <a:cs typeface="Calibri"/>
              </a:rPr>
              <a:t>T</a:t>
            </a:r>
            <a:r>
              <a:rPr sz="1500">
                <a:latin typeface="Calibri"/>
                <a:cs typeface="Calibri"/>
              </a:rPr>
              <a:t>h</a:t>
            </a:r>
            <a:r>
              <a:rPr sz="1500" spc="5">
                <a:latin typeface="Calibri"/>
                <a:cs typeface="Calibri"/>
              </a:rPr>
              <a:t>e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b="1" spc="5">
                <a:latin typeface="Calibri"/>
                <a:cs typeface="Calibri"/>
              </a:rPr>
              <a:t>Mes</a:t>
            </a:r>
            <a:r>
              <a:rPr sz="1500" b="1" spc="-10">
                <a:latin typeface="Calibri"/>
                <a:cs typeface="Calibri"/>
              </a:rPr>
              <a:t>s</a:t>
            </a:r>
            <a:r>
              <a:rPr sz="1500" b="1" spc="5">
                <a:latin typeface="Calibri"/>
                <a:cs typeface="Calibri"/>
              </a:rPr>
              <a:t>a</a:t>
            </a:r>
            <a:r>
              <a:rPr sz="1500" b="1" spc="-20">
                <a:latin typeface="Calibri"/>
                <a:cs typeface="Calibri"/>
              </a:rPr>
              <a:t>g</a:t>
            </a:r>
            <a:r>
              <a:rPr sz="1500" b="1" spc="10">
                <a:latin typeface="Calibri"/>
                <a:cs typeface="Calibri"/>
              </a:rPr>
              <a:t>e</a:t>
            </a:r>
            <a:r>
              <a:rPr sz="1500" b="1">
                <a:latin typeface="Calibri"/>
                <a:cs typeface="Calibri"/>
              </a:rPr>
              <a:t>s</a:t>
            </a:r>
            <a:r>
              <a:rPr sz="1500" b="1" spc="-55">
                <a:latin typeface="Calibri"/>
                <a:cs typeface="Calibri"/>
              </a:rPr>
              <a:t> </a:t>
            </a:r>
            <a:r>
              <a:rPr sz="1500" b="1" spc="-15">
                <a:latin typeface="Calibri"/>
                <a:cs typeface="Calibri"/>
              </a:rPr>
              <a:t>l</a:t>
            </a:r>
            <a:r>
              <a:rPr sz="1500" b="1" spc="-25">
                <a:latin typeface="Calibri"/>
                <a:cs typeface="Calibri"/>
              </a:rPr>
              <a:t>a</a:t>
            </a:r>
            <a:r>
              <a:rPr sz="1500" b="1" spc="-20">
                <a:latin typeface="Calibri"/>
                <a:cs typeface="Calibri"/>
              </a:rPr>
              <a:t>y</a:t>
            </a:r>
            <a:r>
              <a:rPr sz="1500" b="1" spc="10">
                <a:latin typeface="Calibri"/>
                <a:cs typeface="Calibri"/>
              </a:rPr>
              <a:t>e</a:t>
            </a:r>
            <a:r>
              <a:rPr sz="1500" b="1">
                <a:latin typeface="Calibri"/>
                <a:cs typeface="Calibri"/>
              </a:rPr>
              <a:t>r</a:t>
            </a:r>
            <a:endParaRPr sz="1500">
              <a:latin typeface="Calibri"/>
              <a:cs typeface="Calibri"/>
            </a:endParaRPr>
          </a:p>
          <a:p>
            <a:pPr marL="286385" marR="2854960" lvl="1" indent="-286385" algn="r">
              <a:lnSpc>
                <a:spcPct val="100000"/>
              </a:lnSpc>
              <a:spcBef>
                <a:spcPts val="170"/>
              </a:spcBef>
              <a:buFont typeface="Wingdings"/>
              <a:buChar char=""/>
              <a:tabLst>
                <a:tab pos="286385" algn="l"/>
                <a:tab pos="287020" algn="l"/>
              </a:tabLst>
            </a:pPr>
            <a:r>
              <a:rPr sz="1400" spc="-10">
                <a:latin typeface="Calibri"/>
                <a:cs typeface="Calibri"/>
              </a:rPr>
              <a:t>deals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with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0033CC"/>
                </a:solidFill>
                <a:latin typeface="Calibri"/>
                <a:cs typeface="Calibri"/>
              </a:rPr>
              <a:t>UDP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75"/>
              </a:spcBef>
              <a:buFont typeface="Wingdings"/>
              <a:buChar char="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deals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with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asynchronous</a:t>
            </a:r>
            <a:r>
              <a:rPr sz="1400" spc="8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messages.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65"/>
              </a:spcBef>
              <a:buFont typeface="Wingdings"/>
              <a:buChar char="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is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meant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for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Re-transmitting</a:t>
            </a:r>
            <a:r>
              <a:rPr sz="1400" spc="11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lost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packets.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500" b="1">
                <a:latin typeface="Calibri"/>
                <a:cs typeface="Calibri"/>
              </a:rPr>
              <a:t>Message</a:t>
            </a:r>
            <a:r>
              <a:rPr sz="1500" b="1" spc="-50">
                <a:latin typeface="Calibri"/>
                <a:cs typeface="Calibri"/>
              </a:rPr>
              <a:t> </a:t>
            </a:r>
            <a:r>
              <a:rPr sz="1500" b="1" spc="-10">
                <a:latin typeface="Calibri"/>
                <a:cs typeface="Calibri"/>
              </a:rPr>
              <a:t>layer</a:t>
            </a:r>
            <a:r>
              <a:rPr sz="1500" b="1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supports</a:t>
            </a:r>
            <a:r>
              <a:rPr sz="1500" spc="-5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four </a:t>
            </a:r>
            <a:r>
              <a:rPr sz="1500">
                <a:latin typeface="Calibri"/>
                <a:cs typeface="Calibri"/>
              </a:rPr>
              <a:t>types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of</a:t>
            </a:r>
            <a:r>
              <a:rPr sz="1500" spc="1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messages: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5622" y="3424732"/>
            <a:ext cx="2376805" cy="10293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12445" indent="-500380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512445" algn="l"/>
                <a:tab pos="513080" algn="l"/>
              </a:tabLst>
            </a:pPr>
            <a:r>
              <a:rPr sz="1500" spc="-5">
                <a:latin typeface="Calibri"/>
                <a:cs typeface="Calibri"/>
              </a:rPr>
              <a:t>Confirmable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(</a:t>
            </a:r>
            <a:r>
              <a:rPr sz="1500">
                <a:solidFill>
                  <a:srgbClr val="0033CC"/>
                </a:solidFill>
                <a:latin typeface="Calibri"/>
                <a:cs typeface="Calibri"/>
              </a:rPr>
              <a:t>CON</a:t>
            </a:r>
            <a:r>
              <a:rPr sz="1500">
                <a:latin typeface="Calibri"/>
                <a:cs typeface="Calibri"/>
              </a:rPr>
              <a:t>)</a:t>
            </a:r>
          </a:p>
          <a:p>
            <a:pPr marL="512445" indent="-500380">
              <a:lnSpc>
                <a:spcPct val="100000"/>
              </a:lnSpc>
              <a:spcBef>
                <a:spcPts val="175"/>
              </a:spcBef>
              <a:buFont typeface="Wingdings"/>
              <a:buChar char=""/>
              <a:tabLst>
                <a:tab pos="512445" algn="l"/>
                <a:tab pos="513080" algn="l"/>
              </a:tabLst>
            </a:pPr>
            <a:r>
              <a:rPr sz="1500" spc="-5">
                <a:latin typeface="Calibri"/>
                <a:cs typeface="Calibri"/>
              </a:rPr>
              <a:t>Non-confirmable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 spc="5">
                <a:latin typeface="Calibri"/>
                <a:cs typeface="Calibri"/>
              </a:rPr>
              <a:t>(</a:t>
            </a:r>
            <a:r>
              <a:rPr sz="1500" spc="5">
                <a:solidFill>
                  <a:srgbClr val="0033CC"/>
                </a:solidFill>
                <a:latin typeface="Calibri"/>
                <a:cs typeface="Calibri"/>
              </a:rPr>
              <a:t>NON</a:t>
            </a:r>
            <a:r>
              <a:rPr sz="1500" spc="5">
                <a:latin typeface="Calibri"/>
                <a:cs typeface="Calibri"/>
              </a:rPr>
              <a:t>)</a:t>
            </a:r>
            <a:endParaRPr sz="1500">
              <a:latin typeface="Calibri"/>
              <a:cs typeface="Calibri"/>
            </a:endParaRPr>
          </a:p>
          <a:p>
            <a:pPr marL="512445" indent="-500380">
              <a:lnSpc>
                <a:spcPct val="100000"/>
              </a:lnSpc>
              <a:spcBef>
                <a:spcPts val="190"/>
              </a:spcBef>
              <a:buFont typeface="Wingdings"/>
              <a:buChar char=""/>
              <a:tabLst>
                <a:tab pos="512445" algn="l"/>
                <a:tab pos="513080" algn="l"/>
              </a:tabLst>
            </a:pPr>
            <a:r>
              <a:rPr sz="1500" spc="-5">
                <a:latin typeface="Calibri"/>
                <a:cs typeface="Calibri"/>
              </a:rPr>
              <a:t>Acknowledgment</a:t>
            </a:r>
            <a:r>
              <a:rPr sz="1500" spc="-55">
                <a:latin typeface="Calibri"/>
                <a:cs typeface="Calibri"/>
              </a:rPr>
              <a:t> </a:t>
            </a:r>
            <a:r>
              <a:rPr sz="1500" spc="5">
                <a:latin typeface="Calibri"/>
                <a:cs typeface="Calibri"/>
              </a:rPr>
              <a:t>(</a:t>
            </a:r>
            <a:r>
              <a:rPr sz="1500" spc="5">
                <a:solidFill>
                  <a:srgbClr val="0033CC"/>
                </a:solidFill>
                <a:latin typeface="Calibri"/>
                <a:cs typeface="Calibri"/>
              </a:rPr>
              <a:t>ACK</a:t>
            </a:r>
            <a:r>
              <a:rPr sz="1500" spc="5">
                <a:latin typeface="Calibri"/>
                <a:cs typeface="Calibri"/>
              </a:rPr>
              <a:t>)</a:t>
            </a:r>
            <a:endParaRPr sz="1500">
              <a:latin typeface="Calibri"/>
              <a:cs typeface="Calibri"/>
            </a:endParaRPr>
          </a:p>
          <a:p>
            <a:pPr marL="512445" indent="-500380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512445" algn="l"/>
                <a:tab pos="513080" algn="l"/>
              </a:tabLst>
            </a:pPr>
            <a:r>
              <a:rPr sz="1500" spc="-5">
                <a:latin typeface="Calibri"/>
                <a:cs typeface="Calibri"/>
              </a:rPr>
              <a:t>Reset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spc="-5">
                <a:latin typeface="Calibri"/>
                <a:cs typeface="Calibri"/>
              </a:rPr>
              <a:t>(</a:t>
            </a:r>
            <a:r>
              <a:rPr sz="1500" spc="-5">
                <a:solidFill>
                  <a:srgbClr val="0033CC"/>
                </a:solidFill>
                <a:latin typeface="Calibri"/>
                <a:cs typeface="Calibri"/>
              </a:rPr>
              <a:t>RST</a:t>
            </a:r>
            <a:r>
              <a:rPr sz="1500" spc="-5">
                <a:latin typeface="Calibri"/>
                <a:cs typeface="Calibri"/>
              </a:rPr>
              <a:t>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4928962"/>
            <a:ext cx="6363335" cy="148907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309"/>
              </a:spcBef>
              <a:buFont typeface="Wingdings"/>
              <a:buChar char=""/>
              <a:tabLst>
                <a:tab pos="356870" algn="l"/>
                <a:tab pos="357505" algn="l"/>
              </a:tabLst>
            </a:pPr>
            <a:r>
              <a:rPr sz="1500" spc="5">
                <a:latin typeface="Calibri"/>
                <a:cs typeface="Calibri"/>
              </a:rPr>
              <a:t>T</a:t>
            </a:r>
            <a:r>
              <a:rPr sz="1500">
                <a:latin typeface="Calibri"/>
                <a:cs typeface="Calibri"/>
              </a:rPr>
              <a:t>h</a:t>
            </a:r>
            <a:r>
              <a:rPr sz="1500" spc="5">
                <a:latin typeface="Calibri"/>
                <a:cs typeface="Calibri"/>
              </a:rPr>
              <a:t>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b="1" spc="-35">
                <a:latin typeface="Calibri"/>
                <a:cs typeface="Calibri"/>
              </a:rPr>
              <a:t>R</a:t>
            </a:r>
            <a:r>
              <a:rPr sz="1500" b="1" spc="5">
                <a:latin typeface="Calibri"/>
                <a:cs typeface="Calibri"/>
              </a:rPr>
              <a:t>eq</a:t>
            </a:r>
            <a:r>
              <a:rPr sz="1500" b="1" spc="10">
                <a:latin typeface="Calibri"/>
                <a:cs typeface="Calibri"/>
              </a:rPr>
              <a:t>u</a:t>
            </a:r>
            <a:r>
              <a:rPr sz="1500" b="1" spc="5">
                <a:latin typeface="Calibri"/>
                <a:cs typeface="Calibri"/>
              </a:rPr>
              <a:t>e</a:t>
            </a:r>
            <a:r>
              <a:rPr sz="1500" b="1" spc="-25">
                <a:latin typeface="Calibri"/>
                <a:cs typeface="Calibri"/>
              </a:rPr>
              <a:t>s</a:t>
            </a:r>
            <a:r>
              <a:rPr sz="1500" b="1" spc="5">
                <a:latin typeface="Calibri"/>
                <a:cs typeface="Calibri"/>
              </a:rPr>
              <a:t>t/</a:t>
            </a:r>
            <a:r>
              <a:rPr sz="1500" b="1" spc="-35">
                <a:latin typeface="Calibri"/>
                <a:cs typeface="Calibri"/>
              </a:rPr>
              <a:t>R</a:t>
            </a:r>
            <a:r>
              <a:rPr sz="1500" b="1" spc="5">
                <a:latin typeface="Calibri"/>
                <a:cs typeface="Calibri"/>
              </a:rPr>
              <a:t>esponse</a:t>
            </a:r>
            <a:r>
              <a:rPr sz="1500" b="1" spc="-100">
                <a:latin typeface="Calibri"/>
                <a:cs typeface="Calibri"/>
              </a:rPr>
              <a:t> </a:t>
            </a:r>
            <a:r>
              <a:rPr sz="1500" b="1" spc="-15">
                <a:latin typeface="Calibri"/>
                <a:cs typeface="Calibri"/>
              </a:rPr>
              <a:t>l</a:t>
            </a:r>
            <a:r>
              <a:rPr sz="1500" b="1" spc="-25">
                <a:latin typeface="Calibri"/>
                <a:cs typeface="Calibri"/>
              </a:rPr>
              <a:t>a</a:t>
            </a:r>
            <a:r>
              <a:rPr sz="1500" b="1" spc="-20">
                <a:latin typeface="Calibri"/>
                <a:cs typeface="Calibri"/>
              </a:rPr>
              <a:t>y</a:t>
            </a:r>
            <a:r>
              <a:rPr sz="1500" b="1" spc="5">
                <a:latin typeface="Calibri"/>
                <a:cs typeface="Calibri"/>
              </a:rPr>
              <a:t>er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70"/>
              </a:spcBef>
              <a:buFont typeface="Wingdings"/>
              <a:buChar char="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manages</a:t>
            </a:r>
            <a:r>
              <a:rPr sz="1400" spc="6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request/response</a:t>
            </a:r>
            <a:r>
              <a:rPr sz="1400" spc="1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interaction</a:t>
            </a:r>
            <a:r>
              <a:rPr sz="1400" spc="1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based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on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request/response</a:t>
            </a:r>
            <a:r>
              <a:rPr sz="1400" spc="13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0033CC"/>
                </a:solidFill>
                <a:latin typeface="Calibri"/>
                <a:cs typeface="Calibri"/>
              </a:rPr>
              <a:t>messages</a:t>
            </a:r>
            <a:r>
              <a:rPr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500" spc="-5">
                <a:latin typeface="Calibri"/>
                <a:cs typeface="Calibri"/>
              </a:rPr>
              <a:t>Request/Response</a:t>
            </a:r>
            <a:r>
              <a:rPr sz="1500" spc="-6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layer</a:t>
            </a:r>
            <a:r>
              <a:rPr sz="1500" spc="-1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uses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5">
                <a:latin typeface="Calibri"/>
                <a:cs typeface="Calibri"/>
              </a:rPr>
              <a:t>different</a:t>
            </a:r>
            <a:r>
              <a:rPr sz="1500" spc="20">
                <a:latin typeface="Calibri"/>
                <a:cs typeface="Calibri"/>
              </a:rPr>
              <a:t> </a:t>
            </a:r>
            <a:r>
              <a:rPr sz="1500">
                <a:solidFill>
                  <a:srgbClr val="0033CC"/>
                </a:solidFill>
                <a:latin typeface="Calibri"/>
                <a:cs typeface="Calibri"/>
              </a:rPr>
              <a:t>methods</a:t>
            </a:r>
            <a:endParaRPr sz="1500">
              <a:latin typeface="Calibri"/>
              <a:cs typeface="Calibri"/>
            </a:endParaRPr>
          </a:p>
          <a:p>
            <a:pPr marL="698500" lvl="1" indent="-287655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698500" algn="l"/>
                <a:tab pos="699135" algn="l"/>
              </a:tabLst>
            </a:pPr>
            <a:r>
              <a:rPr sz="1400" spc="-15">
                <a:solidFill>
                  <a:srgbClr val="C00000"/>
                </a:solidFill>
                <a:latin typeface="Calibri"/>
                <a:cs typeface="Calibri"/>
              </a:rPr>
              <a:t>Request</a:t>
            </a:r>
            <a:r>
              <a:rPr sz="1400" spc="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1400" spc="-10">
                <a:latin typeface="Calibri"/>
                <a:cs typeface="Calibri"/>
              </a:rPr>
              <a:t>: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GET</a:t>
            </a:r>
            <a:r>
              <a:rPr sz="1400" spc="-10">
                <a:latin typeface="Calibri"/>
                <a:cs typeface="Calibri"/>
              </a:rPr>
              <a:t>,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b="1" spc="-15">
                <a:latin typeface="Calibri"/>
                <a:cs typeface="Calibri"/>
              </a:rPr>
              <a:t>POST</a:t>
            </a:r>
            <a:r>
              <a:rPr sz="1400" spc="-15">
                <a:latin typeface="Calibri"/>
                <a:cs typeface="Calibri"/>
              </a:rPr>
              <a:t>,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PUT</a:t>
            </a:r>
            <a:r>
              <a:rPr sz="1400" spc="-5">
                <a:latin typeface="Calibri"/>
                <a:cs typeface="Calibri"/>
              </a:rPr>
              <a:t>,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and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DELETE</a:t>
            </a:r>
            <a:r>
              <a:rPr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698500" lvl="1" indent="-287655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698500" algn="l"/>
                <a:tab pos="699135" algn="l"/>
              </a:tabLst>
            </a:pP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Response</a:t>
            </a:r>
            <a:r>
              <a:rPr sz="140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r>
              <a:rPr sz="1400" spc="-10">
                <a:latin typeface="Calibri"/>
                <a:cs typeface="Calibri"/>
              </a:rPr>
              <a:t>:</a:t>
            </a:r>
            <a:r>
              <a:rPr sz="1400" spc="6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2.xx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</a:t>
            </a:r>
            <a:r>
              <a:rPr sz="1400" b="1" spc="-10">
                <a:latin typeface="Calibri"/>
                <a:cs typeface="Calibri"/>
              </a:rPr>
              <a:t>success</a:t>
            </a:r>
            <a:r>
              <a:rPr sz="1400" spc="-10">
                <a:latin typeface="Calibri"/>
                <a:cs typeface="Calibri"/>
              </a:rPr>
              <a:t>),</a:t>
            </a:r>
            <a:r>
              <a:rPr sz="1400" spc="6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4.xx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(</a:t>
            </a:r>
            <a:r>
              <a:rPr sz="1400" b="1" spc="-15">
                <a:latin typeface="Calibri"/>
                <a:cs typeface="Calibri"/>
              </a:rPr>
              <a:t>client</a:t>
            </a:r>
            <a:r>
              <a:rPr sz="1400" b="1" spc="5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error</a:t>
            </a:r>
            <a:r>
              <a:rPr sz="1400" spc="-5">
                <a:latin typeface="Calibri"/>
                <a:cs typeface="Calibri"/>
              </a:rPr>
              <a:t>),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5.xx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(</a:t>
            </a:r>
            <a:r>
              <a:rPr sz="1400" b="1" spc="-5">
                <a:latin typeface="Calibri"/>
                <a:cs typeface="Calibri"/>
              </a:rPr>
              <a:t>server</a:t>
            </a:r>
            <a:r>
              <a:rPr sz="1400" b="1" spc="35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error</a:t>
            </a:r>
            <a:r>
              <a:rPr sz="1400" spc="-5"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199" y="1414211"/>
            <a:ext cx="3179146" cy="29887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78123" y="3430523"/>
            <a:ext cx="143510" cy="502920"/>
          </a:xfrm>
          <a:custGeom>
            <a:avLst/>
            <a:gdLst/>
            <a:ahLst/>
            <a:cxnLst/>
            <a:rect l="l" t="t" r="r" b="b"/>
            <a:pathLst>
              <a:path w="143510" h="502920">
                <a:moveTo>
                  <a:pt x="0" y="0"/>
                </a:moveTo>
                <a:lnTo>
                  <a:pt x="27854" y="936"/>
                </a:lnTo>
                <a:lnTo>
                  <a:pt x="50625" y="3492"/>
                </a:lnTo>
                <a:lnTo>
                  <a:pt x="65990" y="7286"/>
                </a:lnTo>
                <a:lnTo>
                  <a:pt x="71627" y="11937"/>
                </a:lnTo>
                <a:lnTo>
                  <a:pt x="71627" y="239521"/>
                </a:lnTo>
                <a:lnTo>
                  <a:pt x="77265" y="244173"/>
                </a:lnTo>
                <a:lnTo>
                  <a:pt x="92630" y="247967"/>
                </a:lnTo>
                <a:lnTo>
                  <a:pt x="115401" y="250523"/>
                </a:lnTo>
                <a:lnTo>
                  <a:pt x="143255" y="251459"/>
                </a:lnTo>
                <a:lnTo>
                  <a:pt x="115401" y="252396"/>
                </a:lnTo>
                <a:lnTo>
                  <a:pt x="92630" y="254952"/>
                </a:lnTo>
                <a:lnTo>
                  <a:pt x="77265" y="258746"/>
                </a:lnTo>
                <a:lnTo>
                  <a:pt x="71627" y="263398"/>
                </a:lnTo>
                <a:lnTo>
                  <a:pt x="71627" y="490981"/>
                </a:lnTo>
                <a:lnTo>
                  <a:pt x="65990" y="495633"/>
                </a:lnTo>
                <a:lnTo>
                  <a:pt x="50625" y="499427"/>
                </a:lnTo>
                <a:lnTo>
                  <a:pt x="27854" y="501983"/>
                </a:lnTo>
                <a:lnTo>
                  <a:pt x="0" y="502919"/>
                </a:lnTo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44010" y="3520566"/>
            <a:ext cx="10083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16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Request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8123" y="4043171"/>
            <a:ext cx="143510" cy="506095"/>
          </a:xfrm>
          <a:custGeom>
            <a:avLst/>
            <a:gdLst/>
            <a:ahLst/>
            <a:cxnLst/>
            <a:rect l="l" t="t" r="r" b="b"/>
            <a:pathLst>
              <a:path w="143510" h="506095">
                <a:moveTo>
                  <a:pt x="0" y="0"/>
                </a:moveTo>
                <a:lnTo>
                  <a:pt x="27854" y="936"/>
                </a:lnTo>
                <a:lnTo>
                  <a:pt x="50625" y="3492"/>
                </a:lnTo>
                <a:lnTo>
                  <a:pt x="65990" y="7286"/>
                </a:lnTo>
                <a:lnTo>
                  <a:pt x="71627" y="11937"/>
                </a:lnTo>
                <a:lnTo>
                  <a:pt x="71627" y="241045"/>
                </a:lnTo>
                <a:lnTo>
                  <a:pt x="77265" y="245697"/>
                </a:lnTo>
                <a:lnTo>
                  <a:pt x="92630" y="249491"/>
                </a:lnTo>
                <a:lnTo>
                  <a:pt x="115401" y="252047"/>
                </a:lnTo>
                <a:lnTo>
                  <a:pt x="143255" y="252983"/>
                </a:lnTo>
                <a:lnTo>
                  <a:pt x="115401" y="253920"/>
                </a:lnTo>
                <a:lnTo>
                  <a:pt x="92630" y="256476"/>
                </a:lnTo>
                <a:lnTo>
                  <a:pt x="77265" y="260270"/>
                </a:lnTo>
                <a:lnTo>
                  <a:pt x="71627" y="264921"/>
                </a:lnTo>
                <a:lnTo>
                  <a:pt x="71627" y="494029"/>
                </a:lnTo>
                <a:lnTo>
                  <a:pt x="65990" y="498681"/>
                </a:lnTo>
                <a:lnTo>
                  <a:pt x="50625" y="502475"/>
                </a:lnTo>
                <a:lnTo>
                  <a:pt x="27854" y="505031"/>
                </a:lnTo>
                <a:lnTo>
                  <a:pt x="0" y="505967"/>
                </a:lnTo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4010" y="4133799"/>
            <a:ext cx="11303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16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Response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7D576EAB-FAA4-BC43-A34A-CB2C86293514}" type="datetime1">
              <a:rPr lang="en-US" spc="-10" smtClean="0"/>
              <a:t>9/1/26</a:t>
            </a:fld>
            <a:endParaRPr spc="-1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31</a:t>
            </a:fld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787141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/>
              <a:t>CoAP</a:t>
            </a:r>
            <a:r>
              <a:rPr sz="4000" spc="-20"/>
              <a:t> </a:t>
            </a:r>
            <a:r>
              <a:rPr sz="4000" spc="-15"/>
              <a:t>Status</a:t>
            </a:r>
            <a:r>
              <a:rPr sz="4000" spc="-5"/>
              <a:t> </a:t>
            </a:r>
            <a:r>
              <a:rPr sz="4000"/>
              <a:t>Codes</a:t>
            </a:r>
            <a:r>
              <a:rPr sz="4000" spc="-45"/>
              <a:t> </a:t>
            </a:r>
            <a:r>
              <a:rPr sz="4000"/>
              <a:t>in</a:t>
            </a:r>
            <a:r>
              <a:rPr sz="4000" spc="-20"/>
              <a:t> </a:t>
            </a:r>
            <a:r>
              <a:rPr sz="4000" spc="-5"/>
              <a:t>Response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607" y="1122859"/>
            <a:ext cx="7448232" cy="5113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75986" y="6287211"/>
            <a:ext cx="4030979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>
                <a:latin typeface="Calibri"/>
                <a:cs typeface="Calibri"/>
              </a:rPr>
              <a:t>Source: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 u="sng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https://www.slideshare.net/aniruddha.chakrabarti/coap-web-protocol-for-iot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64B9335F-52A2-634E-9D25-7AD91E6835F3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32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474154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/>
              <a:t>CoAP</a:t>
            </a:r>
            <a:r>
              <a:rPr sz="4000" spc="-30"/>
              <a:t> </a:t>
            </a:r>
            <a:r>
              <a:rPr sz="4000" spc="-10"/>
              <a:t>Message</a:t>
            </a:r>
            <a:r>
              <a:rPr sz="4000" spc="-40"/>
              <a:t> </a:t>
            </a:r>
            <a:r>
              <a:rPr sz="4000" spc="-15"/>
              <a:t>Format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2362201"/>
            <a:ext cx="7753350" cy="2532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pc="-20"/>
              <a:t>Ver</a:t>
            </a:r>
            <a:r>
              <a:rPr spc="-35"/>
              <a:t> </a:t>
            </a:r>
            <a:r>
              <a:rPr>
                <a:solidFill>
                  <a:srgbClr val="6F2F9F"/>
                </a:solidFill>
              </a:rPr>
              <a:t>(2</a:t>
            </a:r>
            <a:r>
              <a:rPr spc="-25">
                <a:solidFill>
                  <a:srgbClr val="6F2F9F"/>
                </a:solidFill>
              </a:rPr>
              <a:t> </a:t>
            </a:r>
            <a:r>
              <a:rPr>
                <a:solidFill>
                  <a:srgbClr val="6F2F9F"/>
                </a:solidFill>
              </a:rPr>
              <a:t>bit):</a:t>
            </a:r>
            <a:r>
              <a:rPr spc="-10">
                <a:solidFill>
                  <a:srgbClr val="6F2F9F"/>
                </a:solidFill>
              </a:rPr>
              <a:t> </a:t>
            </a:r>
            <a:r>
              <a:rPr b="0" spc="-10">
                <a:latin typeface="Calibri"/>
                <a:cs typeface="Calibri"/>
              </a:rPr>
              <a:t>indicating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the</a:t>
            </a:r>
            <a:r>
              <a:rPr b="0" spc="5">
                <a:latin typeface="Calibri"/>
                <a:cs typeface="Calibri"/>
              </a:rPr>
              <a:t> CoAP</a:t>
            </a:r>
            <a:r>
              <a:rPr b="0" spc="-25">
                <a:latin typeface="Calibri"/>
                <a:cs typeface="Calibri"/>
              </a:rPr>
              <a:t> </a:t>
            </a:r>
            <a:r>
              <a:rPr spc="-5"/>
              <a:t>version.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t>T</a:t>
            </a:r>
            <a:r>
              <a:rPr spc="-20"/>
              <a:t> </a:t>
            </a:r>
            <a:r>
              <a:rPr>
                <a:solidFill>
                  <a:srgbClr val="6F2F9F"/>
                </a:solidFill>
              </a:rPr>
              <a:t>(2</a:t>
            </a:r>
            <a:r>
              <a:rPr spc="-5">
                <a:solidFill>
                  <a:srgbClr val="6F2F9F"/>
                </a:solidFill>
              </a:rPr>
              <a:t> bit):</a:t>
            </a:r>
            <a:r>
              <a:rPr spc="-15">
                <a:solidFill>
                  <a:srgbClr val="6F2F9F"/>
                </a:solidFill>
              </a:rPr>
              <a:t> </a:t>
            </a:r>
            <a:r>
              <a:rPr b="0" spc="-10">
                <a:latin typeface="Calibri"/>
                <a:cs typeface="Calibri"/>
              </a:rPr>
              <a:t>indicating</a:t>
            </a:r>
            <a:r>
              <a:rPr b="0">
                <a:latin typeface="Calibri"/>
                <a:cs typeface="Calibri"/>
              </a:rPr>
              <a:t> </a:t>
            </a:r>
            <a:r>
              <a:rPr b="0" spc="-5">
                <a:latin typeface="Calibri"/>
                <a:cs typeface="Calibri"/>
              </a:rPr>
              <a:t>the</a:t>
            </a:r>
            <a:r>
              <a:rPr b="0">
                <a:latin typeface="Calibri"/>
                <a:cs typeface="Calibri"/>
              </a:rPr>
              <a:t> </a:t>
            </a:r>
            <a:r>
              <a:t>message</a:t>
            </a:r>
            <a:r>
              <a:rPr spc="-65"/>
              <a:t> </a:t>
            </a:r>
            <a:r>
              <a:t>type</a:t>
            </a:r>
          </a:p>
          <a:p>
            <a:pPr marL="756285" lvl="1" indent="-28765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Confirmable</a:t>
            </a:r>
            <a:r>
              <a:rPr sz="1400" spc="8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CON</a:t>
            </a:r>
            <a:r>
              <a:rPr sz="1400" spc="-10">
                <a:latin typeface="Calibri"/>
                <a:cs typeface="Calibri"/>
              </a:rPr>
              <a:t>),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Non-confirmable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</a:t>
            </a:r>
            <a:r>
              <a:rPr sz="1400" spc="-1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400" spc="-10">
                <a:latin typeface="Calibri"/>
                <a:cs typeface="Calibri"/>
              </a:rPr>
              <a:t>),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Acknowledgement</a:t>
            </a:r>
            <a:r>
              <a:rPr sz="1400" spc="1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(</a:t>
            </a:r>
            <a:r>
              <a:rPr sz="1400">
                <a:solidFill>
                  <a:srgbClr val="C00000"/>
                </a:solidFill>
                <a:latin typeface="Calibri"/>
                <a:cs typeface="Calibri"/>
              </a:rPr>
              <a:t>ACK</a:t>
            </a:r>
            <a:r>
              <a:rPr sz="1400">
                <a:latin typeface="Calibri"/>
                <a:cs typeface="Calibri"/>
              </a:rPr>
              <a:t>),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Reset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(</a:t>
            </a:r>
            <a:r>
              <a:rPr sz="1400" spc="-5">
                <a:solidFill>
                  <a:srgbClr val="C00000"/>
                </a:solidFill>
                <a:latin typeface="Calibri"/>
                <a:cs typeface="Calibri"/>
              </a:rPr>
              <a:t>RST</a:t>
            </a:r>
            <a:r>
              <a:rPr sz="1400" spc="-5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15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t>TKL</a:t>
            </a:r>
            <a:r>
              <a:rPr spc="-10"/>
              <a:t> </a:t>
            </a:r>
            <a:r>
              <a:rPr>
                <a:solidFill>
                  <a:srgbClr val="6F2F9F"/>
                </a:solidFill>
              </a:rPr>
              <a:t>(4</a:t>
            </a:r>
            <a:r>
              <a:rPr spc="-20">
                <a:solidFill>
                  <a:srgbClr val="6F2F9F"/>
                </a:solidFill>
              </a:rPr>
              <a:t> </a:t>
            </a:r>
            <a:r>
              <a:rPr spc="-5">
                <a:solidFill>
                  <a:srgbClr val="6F2F9F"/>
                </a:solidFill>
              </a:rPr>
              <a:t>bit)</a:t>
            </a:r>
            <a:r>
              <a:rPr b="0" spc="-5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r>
              <a:rPr b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0" spc="-5">
                <a:latin typeface="Calibri"/>
                <a:cs typeface="Calibri"/>
              </a:rPr>
              <a:t>Specifies</a:t>
            </a:r>
            <a:r>
              <a:rPr b="0" spc="15">
                <a:latin typeface="Calibri"/>
                <a:cs typeface="Calibri"/>
              </a:rPr>
              <a:t> </a:t>
            </a:r>
            <a:r>
              <a:rPr b="0" spc="-5">
                <a:latin typeface="Calibri"/>
                <a:cs typeface="Calibri"/>
              </a:rPr>
              <a:t>the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 spc="-20">
                <a:latin typeface="Calibri"/>
                <a:cs typeface="Calibri"/>
              </a:rPr>
              <a:t>size</a:t>
            </a:r>
            <a:r>
              <a:rPr b="0" spc="5">
                <a:latin typeface="Calibri"/>
                <a:cs typeface="Calibri"/>
              </a:rPr>
              <a:t> (0-8</a:t>
            </a:r>
            <a:r>
              <a:rPr b="0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bytes)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 spc="-5">
                <a:latin typeface="Calibri"/>
                <a:cs typeface="Calibri"/>
              </a:rPr>
              <a:t>of</a:t>
            </a:r>
            <a:r>
              <a:rPr b="0" spc="10">
                <a:latin typeface="Calibri"/>
                <a:cs typeface="Calibri"/>
              </a:rPr>
              <a:t> </a:t>
            </a:r>
            <a:r>
              <a:rPr b="0" spc="-5">
                <a:latin typeface="Calibri"/>
                <a:cs typeface="Calibri"/>
              </a:rPr>
              <a:t>the</a:t>
            </a:r>
            <a:r>
              <a:rPr b="0" spc="5">
                <a:latin typeface="Calibri"/>
                <a:cs typeface="Calibri"/>
              </a:rPr>
              <a:t> </a:t>
            </a:r>
            <a:r>
              <a:rPr b="0" spc="-40">
                <a:latin typeface="Calibri"/>
                <a:cs typeface="Calibri"/>
              </a:rPr>
              <a:t>Token</a:t>
            </a:r>
            <a:r>
              <a:rPr b="0" spc="-1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field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pc="-40"/>
              <a:t>Token</a:t>
            </a:r>
            <a:r>
              <a:rPr spc="-30"/>
              <a:t> </a:t>
            </a:r>
            <a:r>
              <a:rPr spc="5"/>
              <a:t>(0-8</a:t>
            </a:r>
            <a:r>
              <a:rPr spc="-30"/>
              <a:t> </a:t>
            </a:r>
            <a:r>
              <a:rPr spc="-5"/>
              <a:t>byte):</a:t>
            </a:r>
            <a:r>
              <a:rPr spc="355"/>
              <a:t> </a:t>
            </a:r>
            <a:r>
              <a:rPr b="0" spc="-15">
                <a:solidFill>
                  <a:srgbClr val="0033CC"/>
                </a:solidFill>
                <a:latin typeface="Calibri"/>
                <a:cs typeface="Calibri"/>
              </a:rPr>
              <a:t>correlates</a:t>
            </a:r>
            <a:r>
              <a:rPr b="0" spc="6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b="0" spc="-15">
                <a:latin typeface="Calibri"/>
                <a:cs typeface="Calibri"/>
              </a:rPr>
              <a:t>requests</a:t>
            </a:r>
            <a:r>
              <a:rPr b="0" spc="40">
                <a:latin typeface="Calibri"/>
                <a:cs typeface="Calibri"/>
              </a:rPr>
              <a:t> </a:t>
            </a:r>
            <a:r>
              <a:rPr b="0">
                <a:latin typeface="Calibri"/>
                <a:cs typeface="Calibri"/>
              </a:rPr>
              <a:t>and</a:t>
            </a:r>
            <a:r>
              <a:rPr b="0" spc="-5">
                <a:latin typeface="Calibri"/>
                <a:cs typeface="Calibri"/>
              </a:rPr>
              <a:t> </a:t>
            </a:r>
            <a:r>
              <a:rPr b="0" spc="-10">
                <a:latin typeface="Calibri"/>
                <a:cs typeface="Calibri"/>
              </a:rPr>
              <a:t>responses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t>Code</a:t>
            </a:r>
            <a:r>
              <a:rPr spc="-10"/>
              <a:t> </a:t>
            </a:r>
            <a:r>
              <a:rPr>
                <a:solidFill>
                  <a:srgbClr val="6F2F9F"/>
                </a:solidFill>
              </a:rPr>
              <a:t>(8</a:t>
            </a:r>
            <a:r>
              <a:rPr spc="-15">
                <a:solidFill>
                  <a:srgbClr val="6F2F9F"/>
                </a:solidFill>
              </a:rPr>
              <a:t> </a:t>
            </a:r>
            <a:r>
              <a:rPr spc="-5">
                <a:solidFill>
                  <a:srgbClr val="6F2F9F"/>
                </a:solidFill>
              </a:rPr>
              <a:t>bit)</a:t>
            </a:r>
            <a:r>
              <a:rPr b="0" spc="-5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r>
              <a:rPr b="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0" spc="-15">
                <a:latin typeface="Calibri"/>
                <a:cs typeface="Calibri"/>
              </a:rPr>
              <a:t>indicates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6622" y="4936947"/>
            <a:ext cx="3554729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request</a:t>
            </a:r>
            <a:r>
              <a:rPr sz="160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method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a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request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message,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response</a:t>
            </a:r>
            <a:r>
              <a:rPr sz="160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code</a:t>
            </a:r>
            <a:r>
              <a:rPr sz="16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10">
                <a:latin typeface="Calibri"/>
                <a:cs typeface="Calibri"/>
              </a:rPr>
              <a:t> response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2921" y="4936947"/>
            <a:ext cx="257111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5">
                <a:latin typeface="Calibri"/>
                <a:cs typeface="Calibri"/>
              </a:rPr>
              <a:t>e.g: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GET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 </a:t>
            </a:r>
            <a:r>
              <a:rPr sz="1600" spc="-10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request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method</a:t>
            </a:r>
            <a:endParaRPr sz="16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</a:pPr>
            <a:r>
              <a:rPr sz="1600" spc="5">
                <a:latin typeface="Calibri"/>
                <a:cs typeface="Calibri"/>
              </a:rPr>
              <a:t>e.g.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2.05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response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422" y="5668771"/>
            <a:ext cx="6259830" cy="701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b="1">
                <a:latin typeface="Calibri"/>
                <a:cs typeface="Calibri"/>
              </a:rPr>
              <a:t>Message</a:t>
            </a:r>
            <a:r>
              <a:rPr sz="1600" b="1" spc="-7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ID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6F2F9F"/>
                </a:solidFill>
                <a:latin typeface="Calibri"/>
                <a:cs typeface="Calibri"/>
              </a:rPr>
              <a:t>(16</a:t>
            </a:r>
            <a:r>
              <a:rPr sz="1600" b="1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6F2F9F"/>
                </a:solidFill>
                <a:latin typeface="Calibri"/>
                <a:cs typeface="Calibri"/>
              </a:rPr>
              <a:t>bit)</a:t>
            </a:r>
            <a:r>
              <a:rPr sz="1600" spc="-5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>
                <a:latin typeface="Calibri"/>
                <a:cs typeface="Calibri"/>
              </a:rPr>
              <a:t>Detects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duplication</a:t>
            </a:r>
            <a:endParaRPr sz="14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5">
                <a:latin typeface="Calibri"/>
                <a:cs typeface="Calibri"/>
              </a:rPr>
              <a:t>Used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to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0033CC"/>
                </a:solidFill>
                <a:latin typeface="Calibri"/>
                <a:cs typeface="Calibri"/>
              </a:rPr>
              <a:t>match</a:t>
            </a:r>
            <a:r>
              <a:rPr sz="1400" spc="6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ACK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and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RST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message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types</a:t>
            </a:r>
            <a:r>
              <a:rPr sz="1400" spc="5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to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CON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and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NON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types.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2285" y="1145325"/>
            <a:ext cx="4786968" cy="121687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82A56443-D6EA-C142-BD8A-E404BFF48993}" type="datetime1">
              <a:rPr lang="en-US" spc="-10" smtClean="0"/>
              <a:t>9/1/26</a:t>
            </a:fld>
            <a:endParaRPr spc="-1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33</a:t>
            </a:fld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2003934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498792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/>
              <a:t>CoAP</a:t>
            </a:r>
            <a:r>
              <a:rPr sz="4000" spc="-45"/>
              <a:t> </a:t>
            </a:r>
            <a:r>
              <a:rPr sz="4000"/>
              <a:t>Messaging</a:t>
            </a:r>
            <a:r>
              <a:rPr sz="4000" spc="-45"/>
              <a:t> </a:t>
            </a:r>
            <a:r>
              <a:rPr sz="400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334" y="950864"/>
            <a:ext cx="8086090" cy="26231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deals with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b="1" spc="5">
                <a:latin typeface="Calibri"/>
                <a:cs typeface="Calibri"/>
              </a:rPr>
              <a:t>UDP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for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exchanging </a:t>
            </a:r>
            <a:r>
              <a:rPr sz="1600" spc="-5">
                <a:latin typeface="Calibri"/>
                <a:cs typeface="Calibri"/>
              </a:rPr>
              <a:t>messages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between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endpoints.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5">
                <a:latin typeface="Calibri"/>
                <a:cs typeface="Calibri"/>
              </a:rPr>
              <a:t>Each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CoAP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0033CC"/>
                </a:solidFill>
                <a:latin typeface="Calibri"/>
                <a:cs typeface="Calibri"/>
              </a:rPr>
              <a:t>message</a:t>
            </a:r>
            <a:r>
              <a:rPr sz="1600" spc="-1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has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unique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b="1">
                <a:latin typeface="Calibri"/>
                <a:cs typeface="Calibri"/>
              </a:rPr>
              <a:t>Unique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ID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useful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detect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0033CC"/>
                </a:solidFill>
                <a:latin typeface="Calibri"/>
                <a:cs typeface="Calibri"/>
              </a:rPr>
              <a:t>duplicates</a:t>
            </a:r>
            <a:r>
              <a:rPr sz="1600" spc="-15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b="1" spc="-5">
                <a:solidFill>
                  <a:srgbClr val="C00000"/>
                </a:solidFill>
                <a:latin typeface="Calibri"/>
                <a:cs typeface="Calibri"/>
              </a:rPr>
              <a:t>Reliable</a:t>
            </a:r>
            <a:r>
              <a:rPr sz="1600" b="1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C00000"/>
                </a:solidFill>
                <a:latin typeface="Calibri"/>
                <a:cs typeface="Calibri"/>
              </a:rPr>
              <a:t>messaging</a:t>
            </a:r>
            <a:r>
              <a:rPr sz="1600" b="1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 </a:t>
            </a:r>
            <a:r>
              <a:rPr sz="1600" spc="-10">
                <a:latin typeface="Calibri"/>
                <a:cs typeface="Calibri"/>
              </a:rPr>
              <a:t>obtained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using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a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Confirmable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message</a:t>
            </a:r>
            <a:r>
              <a:rPr sz="1600" b="1" spc="-6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(CON).</a:t>
            </a:r>
            <a:endParaRPr sz="1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70"/>
              </a:spcBef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400" spc="-5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CON</a:t>
            </a:r>
            <a:r>
              <a:rPr sz="1400" b="1" spc="-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is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sent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again</a:t>
            </a:r>
            <a:r>
              <a:rPr sz="1400" spc="3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400" spc="1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0033CC"/>
                </a:solidFill>
                <a:latin typeface="Calibri"/>
                <a:cs typeface="Calibri"/>
              </a:rPr>
              <a:t>again</a:t>
            </a:r>
            <a:r>
              <a:rPr sz="1400" spc="4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until</a:t>
            </a:r>
            <a:r>
              <a:rPr sz="1400" spc="8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the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other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party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sends</a:t>
            </a:r>
            <a:r>
              <a:rPr sz="1400" spc="4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an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acknowledge</a:t>
            </a:r>
            <a:r>
              <a:rPr sz="1400" b="1" spc="4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(ACK) </a:t>
            </a:r>
            <a:r>
              <a:rPr sz="1400" spc="-5">
                <a:latin typeface="Calibri"/>
                <a:cs typeface="Calibri"/>
              </a:rPr>
              <a:t>message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400" spc="-20">
                <a:latin typeface="Calibri"/>
                <a:cs typeface="Calibri"/>
              </a:rPr>
              <a:t>negative</a:t>
            </a:r>
            <a:r>
              <a:rPr sz="1400" spc="114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acknowledgement</a:t>
            </a:r>
            <a:r>
              <a:rPr sz="1400" spc="10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through</a:t>
            </a:r>
            <a:r>
              <a:rPr sz="1400" spc="7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reset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(RST).</a:t>
            </a:r>
            <a:endParaRPr sz="14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5"/>
              </a:spcBef>
              <a:buFont typeface="Wingdings"/>
              <a:buChar char=""/>
              <a:tabLst>
                <a:tab pos="1156335" algn="l"/>
              </a:tabLst>
            </a:pPr>
            <a:r>
              <a:rPr sz="1200" spc="-10">
                <a:latin typeface="Calibri"/>
                <a:cs typeface="Calibri"/>
              </a:rPr>
              <a:t>The</a:t>
            </a:r>
            <a:r>
              <a:rPr sz="1200" spc="25">
                <a:latin typeface="Calibri"/>
                <a:cs typeface="Calibri"/>
              </a:rPr>
              <a:t> </a:t>
            </a:r>
            <a:r>
              <a:rPr sz="1200" b="1" spc="-20">
                <a:latin typeface="Calibri"/>
                <a:cs typeface="Calibri"/>
              </a:rPr>
              <a:t>ACK</a:t>
            </a:r>
            <a:r>
              <a:rPr sz="1200" b="1" spc="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message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contains</a:t>
            </a:r>
            <a:r>
              <a:rPr sz="1200" spc="3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the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solidFill>
                  <a:srgbClr val="0033CC"/>
                </a:solidFill>
                <a:latin typeface="Calibri"/>
                <a:cs typeface="Calibri"/>
              </a:rPr>
              <a:t>same</a:t>
            </a:r>
            <a:r>
              <a:rPr sz="1200" spc="2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0033CC"/>
                </a:solidFill>
                <a:latin typeface="Calibri"/>
                <a:cs typeface="Calibri"/>
              </a:rPr>
              <a:t>ID</a:t>
            </a:r>
            <a:r>
              <a:rPr sz="1200" spc="-1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of</a:t>
            </a:r>
            <a:r>
              <a:rPr sz="1200" spc="3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the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b="1" spc="-10">
                <a:latin typeface="Calibri"/>
                <a:cs typeface="Calibri"/>
              </a:rPr>
              <a:t>CON</a:t>
            </a:r>
            <a:r>
              <a:rPr sz="1200" b="1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message</a:t>
            </a: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Wingdings"/>
              <a:buChar char=""/>
              <a:tabLst>
                <a:tab pos="1156335" algn="l"/>
              </a:tabLst>
            </a:pPr>
            <a:r>
              <a:rPr sz="1200">
                <a:latin typeface="Calibri"/>
                <a:cs typeface="Calibri"/>
              </a:rPr>
              <a:t>If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the </a:t>
            </a:r>
            <a:r>
              <a:rPr sz="1200">
                <a:latin typeface="Calibri"/>
                <a:cs typeface="Calibri"/>
              </a:rPr>
              <a:t>server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has</a:t>
            </a:r>
            <a:r>
              <a:rPr sz="1200" spc="10"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0033CC"/>
                </a:solidFill>
                <a:latin typeface="Calibri"/>
                <a:cs typeface="Calibri"/>
              </a:rPr>
              <a:t>troubles</a:t>
            </a:r>
            <a:r>
              <a:rPr sz="1200" spc="6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0033CC"/>
                </a:solidFill>
                <a:latin typeface="Calibri"/>
                <a:cs typeface="Calibri"/>
              </a:rPr>
              <a:t>managing</a:t>
            </a:r>
            <a:r>
              <a:rPr sz="1200" spc="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the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incoming</a:t>
            </a:r>
            <a:r>
              <a:rPr sz="1200" spc="30"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0033CC"/>
                </a:solidFill>
                <a:latin typeface="Calibri"/>
                <a:cs typeface="Calibri"/>
              </a:rPr>
              <a:t>request,</a:t>
            </a:r>
            <a:r>
              <a:rPr sz="1200" spc="3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send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back</a:t>
            </a:r>
            <a:r>
              <a:rPr sz="1200" spc="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b="1" spc="-10">
                <a:latin typeface="Calibri"/>
                <a:cs typeface="Calibri"/>
              </a:rPr>
              <a:t>Reset</a:t>
            </a:r>
            <a:r>
              <a:rPr sz="1200" b="1" spc="5">
                <a:latin typeface="Calibri"/>
                <a:cs typeface="Calibri"/>
              </a:rPr>
              <a:t> </a:t>
            </a:r>
            <a:r>
              <a:rPr sz="1200" b="1" spc="-5">
                <a:latin typeface="Calibri"/>
                <a:cs typeface="Calibri"/>
              </a:rPr>
              <a:t>message</a:t>
            </a:r>
            <a:r>
              <a:rPr sz="1200" b="1" spc="-40">
                <a:latin typeface="Calibri"/>
                <a:cs typeface="Calibri"/>
              </a:rPr>
              <a:t> </a:t>
            </a:r>
            <a:r>
              <a:rPr sz="1200" b="1">
                <a:latin typeface="Calibri"/>
                <a:cs typeface="Calibri"/>
              </a:rPr>
              <a:t>(RST)</a:t>
            </a:r>
            <a:r>
              <a:rPr sz="1200" b="1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instead</a:t>
            </a:r>
            <a:r>
              <a:rPr sz="1200" spc="2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of</a:t>
            </a:r>
            <a:r>
              <a:rPr sz="1200" spc="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b="1" spc="-15">
                <a:latin typeface="Calibri"/>
                <a:cs typeface="Calibri"/>
              </a:rPr>
              <a:t>ACK</a:t>
            </a:r>
            <a:r>
              <a:rPr sz="1200" spc="-15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Wingdings"/>
              <a:buChar char=""/>
              <a:tabLst>
                <a:tab pos="1156335" algn="l"/>
              </a:tabLst>
            </a:pPr>
            <a:r>
              <a:rPr sz="1200" spc="-10">
                <a:latin typeface="Calibri"/>
                <a:cs typeface="Calibri"/>
              </a:rPr>
              <a:t>Retransmissions</a:t>
            </a:r>
            <a:r>
              <a:rPr sz="1200" spc="25">
                <a:latin typeface="Calibri"/>
                <a:cs typeface="Calibri"/>
              </a:rPr>
              <a:t> </a:t>
            </a:r>
            <a:r>
              <a:rPr sz="1200" spc="-15">
                <a:latin typeface="Calibri"/>
                <a:cs typeface="Calibri"/>
              </a:rPr>
              <a:t>are</a:t>
            </a:r>
            <a:r>
              <a:rPr sz="1200" spc="1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made</a:t>
            </a:r>
            <a:r>
              <a:rPr sz="1200" spc="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until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all</a:t>
            </a:r>
            <a:r>
              <a:rPr sz="1200" spc="3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attempts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5">
                <a:latin typeface="Calibri"/>
                <a:cs typeface="Calibri"/>
              </a:rPr>
              <a:t>are</a:t>
            </a:r>
            <a:r>
              <a:rPr sz="1200" spc="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exhausted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5313" y="3995341"/>
            <a:ext cx="2486018" cy="23935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660" y="3895884"/>
            <a:ext cx="2674561" cy="24868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5E15DCD9-A1E4-D44E-B44A-204628BA49A8}" type="datetime1">
              <a:rPr lang="en-US" spc="-10" smtClean="0"/>
              <a:t>9/1/26</a:t>
            </a:fld>
            <a:endParaRPr spc="-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34</a:t>
            </a:fld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2003934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2414348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/>
              <a:t>Co</a:t>
            </a:r>
            <a:r>
              <a:rPr sz="4000" spc="-45"/>
              <a:t>n</a:t>
            </a:r>
            <a:r>
              <a:rPr sz="4000" spc="5"/>
              <a:t>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6334" y="998677"/>
            <a:ext cx="8747125" cy="1616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b="1">
                <a:latin typeface="Calibri"/>
                <a:cs typeface="Calibri"/>
              </a:rPr>
              <a:t>Non-confirmable</a:t>
            </a:r>
            <a:r>
              <a:rPr sz="1600" b="1" spc="-6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(NON) </a:t>
            </a:r>
            <a:r>
              <a:rPr sz="1600" spc="-5">
                <a:latin typeface="Calibri"/>
                <a:cs typeface="Calibri"/>
              </a:rPr>
              <a:t>messages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don’t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require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an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ACK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 </a:t>
            </a:r>
            <a:r>
              <a:rPr sz="1600" spc="-30">
                <a:latin typeface="Calibri"/>
                <a:cs typeface="Calibri"/>
              </a:rPr>
              <a:t>server.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They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are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unreliable</a:t>
            </a:r>
            <a:r>
              <a:rPr sz="16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messages</a:t>
            </a:r>
            <a:r>
              <a:rPr sz="16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or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other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words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that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b="1" spc="5">
                <a:latin typeface="Calibri"/>
                <a:cs typeface="Calibri"/>
              </a:rPr>
              <a:t>do </a:t>
            </a:r>
            <a:r>
              <a:rPr sz="1600" b="1">
                <a:latin typeface="Calibri"/>
                <a:cs typeface="Calibri"/>
              </a:rPr>
              <a:t>not</a:t>
            </a:r>
            <a:r>
              <a:rPr sz="1600" b="1" spc="-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contain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033CC"/>
                </a:solidFill>
                <a:latin typeface="Calibri"/>
                <a:cs typeface="Calibri"/>
              </a:rPr>
              <a:t>critical</a:t>
            </a:r>
            <a:r>
              <a:rPr sz="1600" spc="1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0033CC"/>
                </a:solidFill>
                <a:latin typeface="Calibri"/>
                <a:cs typeface="Calibri"/>
              </a:rPr>
              <a:t>information</a:t>
            </a:r>
            <a:r>
              <a:rPr sz="1600" spc="1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that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must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be</a:t>
            </a:r>
            <a:r>
              <a:rPr sz="1600" spc="-15">
                <a:latin typeface="Calibri"/>
                <a:cs typeface="Calibri"/>
              </a:rPr>
              <a:t> delivered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30">
                <a:latin typeface="Calibri"/>
                <a:cs typeface="Calibri"/>
              </a:rPr>
              <a:t>server.</a:t>
            </a:r>
            <a:endParaRPr sz="1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70"/>
              </a:spcBef>
              <a:buFont typeface="Courier New"/>
              <a:buChar char="o"/>
              <a:tabLst>
                <a:tab pos="756285" algn="l"/>
                <a:tab pos="756920" algn="l"/>
              </a:tabLst>
            </a:pPr>
            <a:r>
              <a:rPr sz="1400" b="1" spc="-15">
                <a:latin typeface="Calibri"/>
                <a:cs typeface="Calibri"/>
              </a:rPr>
              <a:t>Example</a:t>
            </a:r>
            <a:r>
              <a:rPr sz="1400" b="1" spc="2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:</a:t>
            </a:r>
            <a:r>
              <a:rPr sz="1400" b="1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Messages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that</a:t>
            </a:r>
            <a:r>
              <a:rPr sz="1400" spc="6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contain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sensed</a:t>
            </a:r>
            <a:r>
              <a:rPr sz="1400" spc="3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values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from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sensors.</a:t>
            </a:r>
            <a:endParaRPr sz="1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Courier New"/>
              <a:buChar char="o"/>
              <a:tabLst>
                <a:tab pos="756285" algn="l"/>
                <a:tab pos="756920" algn="l"/>
              </a:tabLst>
            </a:pPr>
            <a:r>
              <a:rPr sz="1400" spc="-25">
                <a:latin typeface="Calibri"/>
                <a:cs typeface="Calibri"/>
              </a:rPr>
              <a:t>Even</a:t>
            </a:r>
            <a:r>
              <a:rPr sz="1400" spc="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if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these</a:t>
            </a:r>
            <a:r>
              <a:rPr sz="1400" spc="4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messages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are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unreliable,</a:t>
            </a:r>
            <a:r>
              <a:rPr sz="1400" spc="10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they</a:t>
            </a:r>
            <a:r>
              <a:rPr sz="1400" spc="4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have</a:t>
            </a:r>
            <a:r>
              <a:rPr sz="1400" spc="4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a</a:t>
            </a:r>
            <a:r>
              <a:rPr sz="140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unique</a:t>
            </a:r>
            <a:r>
              <a:rPr sz="1400" b="1" spc="4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ID</a:t>
            </a:r>
            <a:r>
              <a:rPr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0592" y="3464688"/>
            <a:ext cx="3303362" cy="24509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1EF71DCF-1B1E-9A44-A518-A201AD2084AD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35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6690359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/>
              <a:t>CoAP</a:t>
            </a:r>
            <a:r>
              <a:rPr sz="4000" spc="-20"/>
              <a:t> </a:t>
            </a:r>
            <a:r>
              <a:rPr sz="4000" spc="-10"/>
              <a:t>Request/Response</a:t>
            </a:r>
            <a:r>
              <a:rPr sz="4000" spc="-100"/>
              <a:t> </a:t>
            </a:r>
            <a:r>
              <a:rPr sz="400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334" y="950864"/>
            <a:ext cx="8429625" cy="11487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>
                <a:latin typeface="Calibri"/>
                <a:cs typeface="Calibri"/>
              </a:rPr>
              <a:t>The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CoAP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Request/Response</a:t>
            </a:r>
            <a:r>
              <a:rPr sz="1600" b="1" spc="-9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second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layer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in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CoAP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Abstraction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45">
                <a:latin typeface="Calibri"/>
                <a:cs typeface="Calibri"/>
              </a:rPr>
              <a:t>layer.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The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request</a:t>
            </a:r>
            <a:r>
              <a:rPr sz="16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sent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using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Confirmable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(</a:t>
            </a:r>
            <a:r>
              <a:rPr sz="1600" spc="-20">
                <a:solidFill>
                  <a:srgbClr val="C00000"/>
                </a:solidFill>
                <a:latin typeface="Calibri"/>
                <a:cs typeface="Calibri"/>
              </a:rPr>
              <a:t>CON</a:t>
            </a:r>
            <a:r>
              <a:rPr sz="1600" spc="-20">
                <a:latin typeface="Calibri"/>
                <a:cs typeface="Calibri"/>
              </a:rPr>
              <a:t>)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or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Non-confirmable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(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600" spc="-5">
                <a:latin typeface="Calibri"/>
                <a:cs typeface="Calibri"/>
              </a:rPr>
              <a:t>)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10">
                <a:latin typeface="Calibri"/>
                <a:cs typeface="Calibri"/>
              </a:rPr>
              <a:t>There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are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several</a:t>
            </a:r>
            <a:r>
              <a:rPr sz="16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scenarios</a:t>
            </a:r>
            <a:r>
              <a:rPr sz="160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(e.g.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Piggy-Backed,</a:t>
            </a:r>
            <a:r>
              <a:rPr sz="16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Separate</a:t>
            </a:r>
            <a:r>
              <a:rPr sz="16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Response)</a:t>
            </a:r>
            <a:r>
              <a:rPr sz="16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depending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if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server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can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5">
                <a:latin typeface="Calibri"/>
                <a:cs typeface="Calibri"/>
              </a:rPr>
              <a:t>answer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immediately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client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request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or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if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not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available.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387315"/>
            <a:ext cx="5960696" cy="3619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6334" y="5719368"/>
            <a:ext cx="149006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>
                <a:latin typeface="Calibri"/>
                <a:cs typeface="Calibri"/>
              </a:rPr>
              <a:t>C</a:t>
            </a:r>
            <a:r>
              <a:rPr sz="1800" spc="10">
                <a:latin typeface="Calibri"/>
                <a:cs typeface="Calibri"/>
              </a:rPr>
              <a:t>o</a:t>
            </a:r>
            <a:r>
              <a:rPr sz="1800" spc="-15">
                <a:latin typeface="Calibri"/>
                <a:cs typeface="Calibri"/>
              </a:rPr>
              <a:t>A</a:t>
            </a:r>
            <a:r>
              <a:rPr sz="1800">
                <a:latin typeface="Calibri"/>
                <a:cs typeface="Calibri"/>
              </a:rPr>
              <a:t>P</a:t>
            </a:r>
            <a:r>
              <a:rPr lang="en-US" sz="180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URI: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F05DF750-4512-684C-9F22-E1470EA535ED}" type="datetime1">
              <a:rPr lang="en-US" spc="-10" smtClean="0"/>
              <a:t>9/1/26</a:t>
            </a:fld>
            <a:endParaRPr spc="-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36</a:t>
            </a:fld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2740356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/>
              <a:t>Co</a:t>
            </a:r>
            <a:r>
              <a:rPr sz="4000" spc="-45"/>
              <a:t>n</a:t>
            </a:r>
            <a:r>
              <a:rPr sz="4000" spc="5"/>
              <a:t>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6334" y="950864"/>
            <a:ext cx="8397875" cy="1489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6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server</a:t>
            </a:r>
            <a:r>
              <a:rPr sz="160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16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answer</a:t>
            </a:r>
            <a:r>
              <a:rPr sz="16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immediately</a:t>
            </a: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client</a:t>
            </a:r>
            <a:r>
              <a:rPr sz="1600" spc="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request</a:t>
            </a:r>
            <a:r>
              <a:rPr sz="1600" spc="3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(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Piggy-Backed</a:t>
            </a:r>
            <a:r>
              <a:rPr sz="1600" b="1" spc="-7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response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If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request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carried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using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Confirmable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message</a:t>
            </a:r>
            <a:r>
              <a:rPr sz="1600" spc="-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(CON).</a:t>
            </a:r>
            <a:endParaRPr sz="1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Font typeface="Wingdings"/>
              <a:buChar char=""/>
              <a:tabLst>
                <a:tab pos="756920" algn="l"/>
              </a:tabLst>
            </a:pP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server</a:t>
            </a:r>
            <a:r>
              <a:rPr sz="1600" spc="5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sends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back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an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5">
                <a:solidFill>
                  <a:srgbClr val="375F92"/>
                </a:solidFill>
                <a:latin typeface="Calibri"/>
                <a:cs typeface="Calibri"/>
              </a:rPr>
              <a:t>ACK</a:t>
            </a:r>
            <a:r>
              <a:rPr sz="1600" spc="-4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message</a:t>
            </a:r>
            <a:r>
              <a:rPr sz="1600" spc="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client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containing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response</a:t>
            </a:r>
            <a:r>
              <a:rPr sz="1600" b="1" spc="-4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or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the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error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code</a:t>
            </a:r>
            <a:r>
              <a:rPr sz="1600">
                <a:latin typeface="Calibri"/>
                <a:cs typeface="Calibri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b="1">
                <a:latin typeface="Calibri"/>
                <a:cs typeface="Calibri"/>
              </a:rPr>
              <a:t>The</a:t>
            </a:r>
            <a:r>
              <a:rPr sz="1600" b="1" spc="-15">
                <a:latin typeface="Calibri"/>
                <a:cs typeface="Calibri"/>
              </a:rPr>
              <a:t> </a:t>
            </a:r>
            <a:r>
              <a:rPr sz="1600" b="1" spc="-40">
                <a:latin typeface="Calibri"/>
                <a:cs typeface="Calibri"/>
              </a:rPr>
              <a:t>Token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different</a:t>
            </a:r>
            <a:r>
              <a:rPr sz="1600" spc="6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from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Message-ID</a:t>
            </a:r>
            <a:r>
              <a:rPr sz="1600" spc="-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 </a:t>
            </a:r>
            <a:r>
              <a:rPr sz="1600" spc="-5">
                <a:latin typeface="Calibri"/>
                <a:cs typeface="Calibri"/>
              </a:rPr>
              <a:t>it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used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match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request</a:t>
            </a:r>
            <a:r>
              <a:rPr sz="1600" b="1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response</a:t>
            </a:r>
            <a:r>
              <a:rPr sz="1600">
                <a:latin typeface="Calibri"/>
                <a:cs typeface="Calibri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0424" y="2967858"/>
            <a:ext cx="3571520" cy="32974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DE1B761E-3BE5-014D-B69F-84C3F1DCDD79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37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81400" y="6630720"/>
            <a:ext cx="155079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0251"/>
            <a:ext cx="2664156" cy="62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/>
              <a:t>Co</a:t>
            </a:r>
            <a:r>
              <a:rPr sz="4000" spc="-45"/>
              <a:t>n</a:t>
            </a:r>
            <a:r>
              <a:rPr sz="4000" spc="5"/>
              <a:t>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6334" y="950864"/>
            <a:ext cx="8503285" cy="14408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16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60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server</a:t>
            </a:r>
            <a:r>
              <a:rPr sz="160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C00000"/>
                </a:solidFill>
                <a:latin typeface="Calibri"/>
                <a:cs typeface="Calibri"/>
              </a:rPr>
              <a:t>can’t</a:t>
            </a:r>
            <a:r>
              <a:rPr sz="1600" b="1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answer</a:t>
            </a:r>
            <a:r>
              <a:rPr sz="16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C00000"/>
                </a:solidFill>
                <a:latin typeface="Calibri"/>
                <a:cs typeface="Calibri"/>
              </a:rPr>
              <a:t>immediately</a:t>
            </a:r>
            <a:r>
              <a:rPr sz="16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 </a:t>
            </a:r>
            <a:r>
              <a:rPr sz="1600" spc="-15">
                <a:latin typeface="Calibri"/>
                <a:cs typeface="Calibri"/>
              </a:rPr>
              <a:t>request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coming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from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client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(Separate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Response)</a:t>
            </a:r>
            <a:r>
              <a:rPr sz="1600">
                <a:latin typeface="Calibri"/>
                <a:cs typeface="Calibri"/>
              </a:rPr>
              <a:t>.</a:t>
            </a: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sends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an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5">
                <a:solidFill>
                  <a:srgbClr val="375F92"/>
                </a:solidFill>
                <a:latin typeface="Calibri"/>
                <a:cs typeface="Calibri"/>
              </a:rPr>
              <a:t>ACK</a:t>
            </a:r>
            <a:r>
              <a:rPr sz="1600" spc="-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message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with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b="1" spc="5">
                <a:solidFill>
                  <a:srgbClr val="375F92"/>
                </a:solidFill>
                <a:latin typeface="Calibri"/>
                <a:cs typeface="Calibri"/>
              </a:rPr>
              <a:t>empty</a:t>
            </a:r>
            <a:r>
              <a:rPr sz="1600" b="1" spc="-4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response</a:t>
            </a:r>
            <a:r>
              <a:rPr sz="1600">
                <a:latin typeface="Calibri"/>
                <a:cs typeface="Calibri"/>
              </a:rPr>
              <a:t>.</a:t>
            </a: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When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response</a:t>
            </a:r>
            <a:r>
              <a:rPr sz="1600" spc="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is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available</a:t>
            </a:r>
            <a:r>
              <a:rPr sz="1600" spc="-10">
                <a:latin typeface="Calibri"/>
                <a:cs typeface="Calibri"/>
              </a:rPr>
              <a:t>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then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server</a:t>
            </a:r>
            <a:r>
              <a:rPr sz="1600" spc="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sends</a:t>
            </a:r>
            <a:r>
              <a:rPr sz="1600" spc="20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a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b="1" spc="5">
                <a:solidFill>
                  <a:srgbClr val="375F92"/>
                </a:solidFill>
                <a:latin typeface="Calibri"/>
                <a:cs typeface="Calibri"/>
              </a:rPr>
              <a:t>new</a:t>
            </a:r>
            <a:r>
              <a:rPr sz="1600" b="1" spc="-4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 spc="-5">
                <a:solidFill>
                  <a:srgbClr val="375F92"/>
                </a:solidFill>
                <a:latin typeface="Calibri"/>
                <a:cs typeface="Calibri"/>
              </a:rPr>
              <a:t>CON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 message</a:t>
            </a:r>
            <a:r>
              <a:rPr sz="1600" b="1" spc="-6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client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containing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1600" spc="-10">
                <a:latin typeface="Calibri"/>
                <a:cs typeface="Calibri"/>
              </a:rPr>
              <a:t>response.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 spc="-20">
                <a:latin typeface="Calibri"/>
                <a:cs typeface="Calibri"/>
              </a:rPr>
              <a:t>At</a:t>
            </a:r>
            <a:r>
              <a:rPr sz="1600" spc="-10">
                <a:latin typeface="Calibri"/>
                <a:cs typeface="Calibri"/>
              </a:rPr>
              <a:t> this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point,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 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client</a:t>
            </a:r>
            <a:r>
              <a:rPr sz="1600" spc="3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sends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back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375F92"/>
                </a:solidFill>
                <a:latin typeface="Calibri"/>
                <a:cs typeface="Calibri"/>
              </a:rPr>
              <a:t>ACK</a:t>
            </a:r>
            <a:r>
              <a:rPr sz="1600" b="1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message</a:t>
            </a:r>
            <a:r>
              <a:rPr sz="1600">
                <a:latin typeface="Calibri"/>
                <a:cs typeface="Calibri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5338" y="2883089"/>
            <a:ext cx="3530392" cy="32159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1C861FB2-F825-C545-A585-48A93439BFFC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38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8057" y="99771"/>
            <a:ext cx="51739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/>
              <a:t>CoAP</a:t>
            </a:r>
            <a:r>
              <a:rPr spc="-30"/>
              <a:t> </a:t>
            </a:r>
            <a:r>
              <a:rPr spc="-5"/>
              <a:t>Security</a:t>
            </a:r>
            <a:r>
              <a:rPr spc="-15"/>
              <a:t> </a:t>
            </a:r>
            <a:r>
              <a:rPr spc="-5"/>
              <a:t>Aspects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023944"/>
            <a:ext cx="5589905" cy="41236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uses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75F92"/>
                </a:solidFill>
                <a:latin typeface="Calibri"/>
                <a:cs typeface="Calibri"/>
              </a:rPr>
              <a:t>UDP</a:t>
            </a:r>
            <a:r>
              <a:rPr sz="1600" b="1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transport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information.</a:t>
            </a:r>
            <a:endParaRPr sz="16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CoAP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relies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UDP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security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aspects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to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protect</a:t>
            </a:r>
            <a:r>
              <a:rPr sz="1600" spc="4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the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information.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850">
              <a:latin typeface="Calibri"/>
              <a:cs typeface="Calibri"/>
            </a:endParaRPr>
          </a:p>
          <a:p>
            <a:pPr marL="335915" marR="2521585" indent="-323850">
              <a:lnSpc>
                <a:spcPct val="1201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As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H</a:t>
            </a:r>
            <a:r>
              <a:rPr sz="1600" spc="30">
                <a:latin typeface="Calibri"/>
                <a:cs typeface="Calibri"/>
              </a:rPr>
              <a:t>T</a:t>
            </a:r>
            <a:r>
              <a:rPr sz="1600" spc="5">
                <a:latin typeface="Calibri"/>
                <a:cs typeface="Calibri"/>
              </a:rPr>
              <a:t>T</a:t>
            </a:r>
            <a:r>
              <a:rPr sz="1600">
                <a:latin typeface="Calibri"/>
                <a:cs typeface="Calibri"/>
              </a:rPr>
              <a:t>P</a:t>
            </a:r>
            <a:r>
              <a:rPr sz="1600" spc="-7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u</a:t>
            </a:r>
            <a:r>
              <a:rPr sz="1600" spc="-15">
                <a:latin typeface="Calibri"/>
                <a:cs typeface="Calibri"/>
              </a:rPr>
              <a:t>s</a:t>
            </a:r>
            <a:r>
              <a:rPr sz="1600" spc="-10">
                <a:latin typeface="Calibri"/>
                <a:cs typeface="Calibri"/>
              </a:rPr>
              <a:t>e</a:t>
            </a:r>
            <a:r>
              <a:rPr sz="1600">
                <a:latin typeface="Calibri"/>
                <a:cs typeface="Calibri"/>
              </a:rPr>
              <a:t>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 spc="5">
                <a:latin typeface="Calibri"/>
                <a:cs typeface="Calibri"/>
              </a:rPr>
              <a:t>T</a:t>
            </a:r>
            <a:r>
              <a:rPr sz="1600" spc="-5">
                <a:latin typeface="Calibri"/>
                <a:cs typeface="Calibri"/>
              </a:rPr>
              <a:t>L</a:t>
            </a:r>
            <a:r>
              <a:rPr sz="1600">
                <a:latin typeface="Calibri"/>
                <a:cs typeface="Calibri"/>
              </a:rPr>
              <a:t>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o</a:t>
            </a:r>
            <a:r>
              <a:rPr sz="1600" spc="-30">
                <a:latin typeface="Calibri"/>
                <a:cs typeface="Calibri"/>
              </a:rPr>
              <a:t>v</a:t>
            </a:r>
            <a:r>
              <a:rPr sz="1600" spc="-10">
                <a:latin typeface="Calibri"/>
                <a:cs typeface="Calibri"/>
              </a:rPr>
              <a:t>e</a:t>
            </a:r>
            <a:r>
              <a:rPr sz="1600">
                <a:latin typeface="Calibri"/>
                <a:cs typeface="Calibri"/>
              </a:rPr>
              <a:t>r</a:t>
            </a:r>
            <a:r>
              <a:rPr sz="1600" spc="35">
                <a:latin typeface="Calibri"/>
                <a:cs typeface="Calibri"/>
              </a:rPr>
              <a:t> </a:t>
            </a:r>
            <a:r>
              <a:rPr sz="1600" spc="-15">
                <a:latin typeface="Calibri"/>
                <a:cs typeface="Calibri"/>
              </a:rPr>
              <a:t>T</a:t>
            </a:r>
            <a:r>
              <a:rPr sz="1600">
                <a:latin typeface="Calibri"/>
                <a:cs typeface="Calibri"/>
              </a:rPr>
              <a:t>C</a:t>
            </a:r>
            <a:r>
              <a:rPr sz="1600" spc="-185">
                <a:latin typeface="Calibri"/>
                <a:cs typeface="Calibri"/>
              </a:rPr>
              <a:t>P</a:t>
            </a:r>
            <a:r>
              <a:rPr sz="1600">
                <a:latin typeface="Calibri"/>
                <a:cs typeface="Calibri"/>
              </a:rPr>
              <a:t>,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b="1" spc="-15">
                <a:latin typeface="Calibri"/>
                <a:cs typeface="Calibri"/>
              </a:rPr>
              <a:t>C</a:t>
            </a:r>
            <a:r>
              <a:rPr sz="1600" b="1">
                <a:latin typeface="Calibri"/>
                <a:cs typeface="Calibri"/>
              </a:rPr>
              <a:t>o</a:t>
            </a:r>
            <a:r>
              <a:rPr sz="1600" b="1" spc="5">
                <a:latin typeface="Calibri"/>
                <a:cs typeface="Calibri"/>
              </a:rPr>
              <a:t>A</a:t>
            </a:r>
            <a:r>
              <a:rPr sz="1600" b="1">
                <a:latin typeface="Calibri"/>
                <a:cs typeface="Calibri"/>
              </a:rPr>
              <a:t>P  uses </a:t>
            </a:r>
            <a:r>
              <a:rPr sz="1600" b="1" spc="-10">
                <a:latin typeface="Calibri"/>
                <a:cs typeface="Calibri"/>
              </a:rPr>
              <a:t>Datagram </a:t>
            </a:r>
            <a:r>
              <a:rPr sz="1600" b="1" spc="-5">
                <a:latin typeface="Calibri"/>
                <a:cs typeface="Calibri"/>
              </a:rPr>
              <a:t>TLS </a:t>
            </a:r>
            <a:r>
              <a:rPr sz="1600" b="1">
                <a:latin typeface="Calibri"/>
                <a:cs typeface="Calibri"/>
              </a:rPr>
              <a:t>over </a:t>
            </a:r>
            <a:r>
              <a:rPr sz="1600" b="1" spc="-40">
                <a:latin typeface="Calibri"/>
                <a:cs typeface="Calibri"/>
              </a:rPr>
              <a:t>UDP. 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DTLS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supports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RSA,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In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some</a:t>
            </a:r>
            <a:r>
              <a:rPr sz="1600" spc="-15">
                <a:latin typeface="Calibri"/>
                <a:cs typeface="Calibri"/>
              </a:rPr>
              <a:t> constrained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devices,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some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335915">
              <a:lnSpc>
                <a:spcPct val="100000"/>
              </a:lnSpc>
              <a:spcBef>
                <a:spcPts val="384"/>
              </a:spcBef>
            </a:pP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DTLS</a:t>
            </a:r>
            <a:r>
              <a:rPr sz="1600" spc="-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cipher</a:t>
            </a:r>
            <a:r>
              <a:rPr sz="1600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suits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may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not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available.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Calibri"/>
              <a:cs typeface="Calibri"/>
            </a:endParaRPr>
          </a:p>
          <a:p>
            <a:pPr marL="335915" marR="2262505" indent="-323850">
              <a:lnSpc>
                <a:spcPct val="1201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600">
                <a:latin typeface="Calibri"/>
                <a:cs typeface="Calibri"/>
              </a:rPr>
              <a:t>Some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cipher</a:t>
            </a:r>
            <a:r>
              <a:rPr sz="1600" spc="-10">
                <a:latin typeface="Calibri"/>
                <a:cs typeface="Calibri"/>
              </a:rPr>
              <a:t> suites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introduces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more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b="1" spc="-5">
                <a:latin typeface="Calibri"/>
                <a:cs typeface="Calibri"/>
              </a:rPr>
              <a:t>complexity </a:t>
            </a:r>
            <a:r>
              <a:rPr sz="1600">
                <a:latin typeface="Calibri"/>
                <a:cs typeface="Calibri"/>
              </a:rPr>
              <a:t>and </a:t>
            </a:r>
            <a:r>
              <a:rPr sz="1600" spc="-15">
                <a:latin typeface="Calibri"/>
                <a:cs typeface="Calibri"/>
              </a:rPr>
              <a:t>constrained </a:t>
            </a:r>
            <a:r>
              <a:rPr sz="1600" spc="-10">
                <a:latin typeface="Calibri"/>
                <a:cs typeface="Calibri"/>
              </a:rPr>
              <a:t>devices </a:t>
            </a:r>
            <a:r>
              <a:rPr sz="1600" spc="-350"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may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5">
                <a:solidFill>
                  <a:srgbClr val="375F92"/>
                </a:solidFill>
                <a:latin typeface="Calibri"/>
                <a:cs typeface="Calibri"/>
              </a:rPr>
              <a:t>not</a:t>
            </a:r>
            <a:r>
              <a:rPr sz="160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have</a:t>
            </a:r>
            <a:r>
              <a:rPr sz="1600" spc="-1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15">
                <a:solidFill>
                  <a:srgbClr val="375F92"/>
                </a:solidFill>
                <a:latin typeface="Calibri"/>
                <a:cs typeface="Calibri"/>
              </a:rPr>
              <a:t>resources</a:t>
            </a:r>
            <a:r>
              <a:rPr sz="1600" spc="4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sz="1600" spc="-5">
                <a:latin typeface="Calibri"/>
                <a:cs typeface="Calibri"/>
              </a:rPr>
              <a:t>enough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 spc="-35">
                <a:latin typeface="Calibri"/>
                <a:cs typeface="Calibri"/>
              </a:rPr>
              <a:t>to 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manage</a:t>
            </a:r>
            <a:r>
              <a:rPr sz="1600" spc="-6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it.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535" y="2268323"/>
            <a:ext cx="3699378" cy="40846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BA925E96-9527-F14D-99C3-91BB908D0757}" type="datetime1">
              <a:rPr lang="en-US" spc="-10" smtClean="0"/>
              <a:t>9/1/26</a:t>
            </a:fld>
            <a:endParaRPr spc="-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39</a:t>
            </a:fld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8600" y="99771"/>
            <a:ext cx="3605529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/>
              <a:t>CoAP</a:t>
            </a:r>
            <a:r>
              <a:rPr spc="-40"/>
              <a:t> </a:t>
            </a:r>
            <a:r>
              <a:rPr spc="-70"/>
              <a:t>Vs.</a:t>
            </a:r>
            <a:r>
              <a:rPr spc="-30"/>
              <a:t> </a:t>
            </a:r>
            <a:r>
              <a:rPr spc="-15"/>
              <a:t>MQTT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89C6E27C-FCB4-E445-8416-E1C0921F0F79}" type="datetime1">
              <a:rPr lang="en-US" spc="-10" smtClean="0"/>
              <a:t>9/1/26</a:t>
            </a:fld>
            <a:endParaRPr spc="-1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40</a:t>
            </a:fld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6334" y="999236"/>
            <a:ext cx="86772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  <a:tab pos="4387850" algn="l"/>
                <a:tab pos="4732020" algn="l"/>
              </a:tabLst>
            </a:pPr>
            <a:r>
              <a:rPr sz="1900" spc="-5">
                <a:latin typeface="Calibri"/>
                <a:cs typeface="Calibri"/>
              </a:rPr>
              <a:t>MQTT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uses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a</a:t>
            </a:r>
            <a:r>
              <a:rPr sz="1900" spc="20">
                <a:latin typeface="Calibri"/>
                <a:cs typeface="Calibri"/>
              </a:rPr>
              <a:t> </a:t>
            </a:r>
            <a:r>
              <a:rPr sz="1900">
                <a:solidFill>
                  <a:srgbClr val="C00000"/>
                </a:solidFill>
                <a:latin typeface="Calibri"/>
                <a:cs typeface="Calibri"/>
              </a:rPr>
              <a:t>publisher</a:t>
            </a:r>
            <a:r>
              <a:rPr sz="19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20">
                <a:solidFill>
                  <a:srgbClr val="C00000"/>
                </a:solidFill>
                <a:latin typeface="Calibri"/>
                <a:cs typeface="Calibri"/>
              </a:rPr>
              <a:t>-subscriber</a:t>
            </a:r>
            <a:r>
              <a:rPr sz="1900" spc="-20">
                <a:latin typeface="Calibri"/>
                <a:cs typeface="Calibri"/>
              </a:rPr>
              <a:t>.	</a:t>
            </a:r>
            <a:r>
              <a:rPr sz="1900" spc="-5">
                <a:latin typeface="Arial MT"/>
                <a:cs typeface="Arial MT"/>
              </a:rPr>
              <a:t>•	</a:t>
            </a:r>
            <a:r>
              <a:rPr sz="1900" spc="-5">
                <a:latin typeface="Calibri"/>
                <a:cs typeface="Calibri"/>
              </a:rPr>
              <a:t>CoAP</a:t>
            </a:r>
            <a:r>
              <a:rPr sz="1900" spc="1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uses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a</a:t>
            </a:r>
            <a:r>
              <a:rPr sz="1900" spc="10">
                <a:latin typeface="Calibri"/>
                <a:cs typeface="Calibri"/>
              </a:rPr>
              <a:t> </a:t>
            </a:r>
            <a:r>
              <a:rPr sz="1900" spc="-10">
                <a:solidFill>
                  <a:srgbClr val="C00000"/>
                </a:solidFill>
                <a:latin typeface="Calibri"/>
                <a:cs typeface="Calibri"/>
              </a:rPr>
              <a:t>request-response</a:t>
            </a:r>
            <a:r>
              <a:rPr sz="19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paradigm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334" y="1694433"/>
            <a:ext cx="4218305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7505" algn="l"/>
              </a:tabLst>
            </a:pPr>
            <a:r>
              <a:rPr sz="1900" spc="-5">
                <a:latin typeface="Calibri"/>
                <a:cs typeface="Calibri"/>
              </a:rPr>
              <a:t>MQTT uses a </a:t>
            </a:r>
            <a:r>
              <a:rPr sz="1900" spc="-15">
                <a:solidFill>
                  <a:srgbClr val="C00000"/>
                </a:solidFill>
                <a:latin typeface="Calibri"/>
                <a:cs typeface="Calibri"/>
              </a:rPr>
              <a:t>central </a:t>
            </a:r>
            <a:r>
              <a:rPr sz="1900" spc="-20">
                <a:solidFill>
                  <a:srgbClr val="C00000"/>
                </a:solidFill>
                <a:latin typeface="Calibri"/>
                <a:cs typeface="Calibri"/>
              </a:rPr>
              <a:t>broker </a:t>
            </a:r>
            <a:r>
              <a:rPr sz="1900" spc="-25">
                <a:latin typeface="Calibri"/>
                <a:cs typeface="Calibri"/>
              </a:rPr>
              <a:t>to </a:t>
            </a:r>
            <a:r>
              <a:rPr sz="1900" spc="-10">
                <a:latin typeface="Calibri"/>
                <a:cs typeface="Calibri"/>
              </a:rPr>
              <a:t>dispatch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messages coming from </a:t>
            </a:r>
            <a:r>
              <a:rPr sz="1900" spc="-5">
                <a:latin typeface="Calibri"/>
                <a:cs typeface="Calibri"/>
              </a:rPr>
              <a:t>the </a:t>
            </a:r>
            <a:r>
              <a:rPr sz="1900">
                <a:latin typeface="Calibri"/>
                <a:cs typeface="Calibri"/>
              </a:rPr>
              <a:t>publisher </a:t>
            </a:r>
            <a:r>
              <a:rPr sz="1900" spc="-25">
                <a:latin typeface="Calibri"/>
                <a:cs typeface="Calibri"/>
              </a:rPr>
              <a:t>to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clients.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2968574"/>
            <a:ext cx="39306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900" spc="-10">
                <a:latin typeface="Calibri"/>
                <a:cs typeface="Calibri"/>
              </a:rPr>
              <a:t>MQTT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is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an</a:t>
            </a:r>
            <a:r>
              <a:rPr sz="1900" spc="-10">
                <a:latin typeface="Calibri"/>
                <a:cs typeface="Calibri"/>
              </a:rPr>
              <a:t> </a:t>
            </a:r>
            <a:r>
              <a:rPr sz="1900" spc="-15">
                <a:solidFill>
                  <a:srgbClr val="C00000"/>
                </a:solidFill>
                <a:latin typeface="Calibri"/>
                <a:cs typeface="Calibri"/>
              </a:rPr>
              <a:t>event-oriented</a:t>
            </a:r>
            <a:r>
              <a:rPr sz="19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protocol.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34" y="4011929"/>
            <a:ext cx="40290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900" spc="-5">
                <a:latin typeface="Calibri"/>
                <a:cs typeface="Calibri"/>
              </a:rPr>
              <a:t>MQTT</a:t>
            </a:r>
            <a:r>
              <a:rPr sz="1900" spc="-2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uses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Asynchronous</a:t>
            </a:r>
            <a:r>
              <a:rPr sz="1900" spc="-10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messaging</a:t>
            </a:r>
            <a:r>
              <a:rPr sz="1900" spc="-5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1713" y="1694433"/>
            <a:ext cx="437896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900" spc="-5">
                <a:latin typeface="Calibri"/>
                <a:cs typeface="Calibri"/>
              </a:rPr>
              <a:t>CoAP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is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essentially</a:t>
            </a:r>
            <a:r>
              <a:rPr sz="1900" spc="4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a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one-to-one</a:t>
            </a:r>
            <a:r>
              <a:rPr sz="19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10">
                <a:solidFill>
                  <a:srgbClr val="C00000"/>
                </a:solidFill>
                <a:latin typeface="Calibri"/>
                <a:cs typeface="Calibri"/>
              </a:rPr>
              <a:t>protocol </a:t>
            </a:r>
            <a:r>
              <a:rPr sz="1900" spc="-4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very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similar</a:t>
            </a:r>
            <a:r>
              <a:rPr sz="1900" spc="5">
                <a:latin typeface="Calibri"/>
                <a:cs typeface="Calibri"/>
              </a:rPr>
              <a:t> </a:t>
            </a:r>
            <a:r>
              <a:rPr sz="1900" spc="-20">
                <a:latin typeface="Calibri"/>
                <a:cs typeface="Calibri"/>
              </a:rPr>
              <a:t>to</a:t>
            </a:r>
            <a:r>
              <a:rPr sz="1900" spc="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25">
                <a:latin typeface="Calibri"/>
                <a:cs typeface="Calibri"/>
              </a:rPr>
              <a:t> </a:t>
            </a:r>
            <a:r>
              <a:rPr sz="1900" spc="5">
                <a:latin typeface="Calibri"/>
                <a:cs typeface="Calibri"/>
              </a:rPr>
              <a:t>HTTP</a:t>
            </a:r>
            <a:r>
              <a:rPr sz="1900" spc="-2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protocol.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1713" y="3027044"/>
            <a:ext cx="398716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900" spc="-5">
                <a:latin typeface="Calibri"/>
                <a:cs typeface="Calibri"/>
              </a:rPr>
              <a:t>While CoAP is more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suitable </a:t>
            </a:r>
            <a:r>
              <a:rPr sz="1900" spc="-2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sz="1900" spc="-30">
                <a:solidFill>
                  <a:srgbClr val="C00000"/>
                </a:solidFill>
                <a:latin typeface="Calibri"/>
                <a:cs typeface="Calibri"/>
              </a:rPr>
              <a:t>state </a:t>
            </a:r>
            <a:r>
              <a:rPr sz="1900" spc="-4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40">
                <a:solidFill>
                  <a:srgbClr val="C00000"/>
                </a:solidFill>
                <a:latin typeface="Calibri"/>
                <a:cs typeface="Calibri"/>
              </a:rPr>
              <a:t>transfer.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1713" y="4011929"/>
            <a:ext cx="354266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1900" spc="-5">
                <a:latin typeface="Calibri"/>
                <a:cs typeface="Calibri"/>
              </a:rPr>
              <a:t>CoAP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uses</a:t>
            </a:r>
            <a:r>
              <a:rPr sz="1900" spc="-3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both</a:t>
            </a:r>
            <a:r>
              <a:rPr sz="1900" spc="-10"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Asynchronous</a:t>
            </a:r>
            <a:r>
              <a:rPr sz="1900" spc="-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&amp; </a:t>
            </a:r>
            <a:r>
              <a:rPr sz="1900" spc="-4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Synchronous</a:t>
            </a:r>
            <a:r>
              <a:rPr sz="19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5">
                <a:solidFill>
                  <a:srgbClr val="C00000"/>
                </a:solidFill>
                <a:latin typeface="Calibri"/>
                <a:cs typeface="Calibri"/>
              </a:rPr>
              <a:t>messaging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977" y="-200852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10"/>
              <a:t>CoAP</a:t>
            </a:r>
            <a:r>
              <a:rPr spc="-30"/>
              <a:t> </a:t>
            </a:r>
            <a:r>
              <a:rPr spc="-10"/>
              <a:t>vs.</a:t>
            </a:r>
            <a:r>
              <a:rPr spc="-20"/>
              <a:t> </a:t>
            </a:r>
            <a:r>
              <a:t>HTTP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l="1288" t="3632" r="-1288" b="-3632"/>
          <a:stretch/>
        </p:blipFill>
        <p:spPr>
          <a:xfrm>
            <a:off x="481467" y="1257233"/>
            <a:ext cx="8539825" cy="49682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536244" y="6630720"/>
            <a:ext cx="726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9D710506-97FE-A04B-B26B-4934F12DA4C9}" type="datetime1">
              <a:rPr lang="en-US" spc="-10" smtClean="0"/>
              <a:t>9/1/26</a:t>
            </a:fld>
            <a:endParaRPr spc="-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407654" y="6630720"/>
            <a:ext cx="229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41</a:t>
            </a:fld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15866" y="6635902"/>
            <a:ext cx="111632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</a:pPr>
            <a:r>
              <a:rPr spc="-15"/>
              <a:t>Thanks!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19B19FF6-467B-0340-8F5A-F303A66E892B}" type="datetime1">
              <a:rPr lang="en-US" smtClean="0"/>
              <a:t>9/1/26</a:t>
            </a:fld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706" y="2602147"/>
            <a:ext cx="1902526" cy="186098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3DAAA-AFD4-8123-8B3D-0CEC95DD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Dr. Abhishek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563CA-848B-A529-CF07-434ABF34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695C3E0D14054E8D691F711C7A00B0" ma:contentTypeVersion="3" ma:contentTypeDescription="Create a new document." ma:contentTypeScope="" ma:versionID="003c86ae37ebc2216ecdf5f105cbfd9d">
  <xsd:schema xmlns:xsd="http://www.w3.org/2001/XMLSchema" xmlns:xs="http://www.w3.org/2001/XMLSchema" xmlns:p="http://schemas.microsoft.com/office/2006/metadata/properties" xmlns:ns2="75345c70-523e-4bc0-8e84-f971258a586a" targetNamespace="http://schemas.microsoft.com/office/2006/metadata/properties" ma:root="true" ma:fieldsID="5692ef7bc69e0e59730a5c5536ae81e0" ns2:_="">
    <xsd:import namespace="75345c70-523e-4bc0-8e84-f971258a58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45c70-523e-4bc0-8e84-f971258a58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9B128F-AB3B-449E-A8B8-6D95CB968ED3}"/>
</file>

<file path=customXml/itemProps2.xml><?xml version="1.0" encoding="utf-8"?>
<ds:datastoreItem xmlns:ds="http://schemas.openxmlformats.org/officeDocument/2006/customXml" ds:itemID="{45F3E5B6-66AA-421A-A7EF-1018AEF8F382}"/>
</file>

<file path=customXml/itemProps3.xml><?xml version="1.0" encoding="utf-8"?>
<ds:datastoreItem xmlns:ds="http://schemas.openxmlformats.org/officeDocument/2006/customXml" ds:itemID="{009649F8-47C4-4496-87B7-F3E186BC55E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3942</Words>
  <Application>Microsoft Macintosh PowerPoint</Application>
  <PresentationFormat>On-screen Show (4:3)</PresentationFormat>
  <Paragraphs>633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Aptos Display</vt:lpstr>
      <vt:lpstr>Arial</vt:lpstr>
      <vt:lpstr>Arial MT</vt:lpstr>
      <vt:lpstr>Calibri</vt:lpstr>
      <vt:lpstr>Courier New</vt:lpstr>
      <vt:lpstr>Times New Roman</vt:lpstr>
      <vt:lpstr>Wingdings</vt:lpstr>
      <vt:lpstr>Office Theme</vt:lpstr>
      <vt:lpstr>PowerPoint Presentation</vt:lpstr>
      <vt:lpstr>What is MQTT?</vt:lpstr>
      <vt:lpstr>MQTT Characteristics</vt:lpstr>
      <vt:lpstr>Advantages of MQTT</vt:lpstr>
      <vt:lpstr>Publish &amp; Subscribe Messaging</vt:lpstr>
      <vt:lpstr>Cont…</vt:lpstr>
      <vt:lpstr>Cont…</vt:lpstr>
      <vt:lpstr>MQTT Message Format</vt:lpstr>
      <vt:lpstr>Cont…</vt:lpstr>
      <vt:lpstr>Message Types</vt:lpstr>
      <vt:lpstr>RETAIN</vt:lpstr>
      <vt:lpstr>Remaining Length (RL)</vt:lpstr>
      <vt:lpstr>MQTT QoS</vt:lpstr>
      <vt:lpstr>Cont…</vt:lpstr>
      <vt:lpstr>PUBLISH msg flow</vt:lpstr>
      <vt:lpstr>Cont…</vt:lpstr>
      <vt:lpstr>Example: CONNECT &amp; SUBSCRIBE msg flow</vt:lpstr>
      <vt:lpstr>Cont…</vt:lpstr>
      <vt:lpstr>What is MQTT-SN?</vt:lpstr>
      <vt:lpstr>Demo using MQTT Protocol</vt:lpstr>
      <vt:lpstr>Requirements</vt:lpstr>
      <vt:lpstr>ESP8266 NodeMCU: Libraries</vt:lpstr>
      <vt:lpstr>Setup Connections</vt:lpstr>
      <vt:lpstr>Programming ESP8266</vt:lpstr>
      <vt:lpstr>Cont…</vt:lpstr>
      <vt:lpstr>Cont…</vt:lpstr>
      <vt:lpstr>Programming R. Pi</vt:lpstr>
      <vt:lpstr>ThingSpeak Cloud Dashboard</vt:lpstr>
      <vt:lpstr>What is CoAP</vt:lpstr>
      <vt:lpstr>Characteristics of CoAP</vt:lpstr>
      <vt:lpstr>CoAP Structure</vt:lpstr>
      <vt:lpstr>CoAP Status Codes in Response</vt:lpstr>
      <vt:lpstr>CoAP Message Format</vt:lpstr>
      <vt:lpstr>CoAP Messaging Model</vt:lpstr>
      <vt:lpstr>Cont…</vt:lpstr>
      <vt:lpstr>CoAP Request/Response Model</vt:lpstr>
      <vt:lpstr>Cont…</vt:lpstr>
      <vt:lpstr>Cont…</vt:lpstr>
      <vt:lpstr>CoAP Security Aspects</vt:lpstr>
      <vt:lpstr>CoAP Vs. MQTT</vt:lpstr>
      <vt:lpstr>CoAP vs. HTTP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Khatua</dc:creator>
  <cp:lastModifiedBy>AbhishekS Kumar</cp:lastModifiedBy>
  <cp:revision>2</cp:revision>
  <dcterms:created xsi:type="dcterms:W3CDTF">2024-11-01T08:19:18Z</dcterms:created>
  <dcterms:modified xsi:type="dcterms:W3CDTF">2026-09-03T08:17:54Z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2024-11-01T00:00:00Z</vt:filetime>
  </property>
  <property fmtid="{D5CDD505-2E9C-101B-9397-08002B2CF9AE}" pid="5" name="ContentTypeId">
    <vt:lpwstr>0x0101007F695C3E0D14054E8D691F711C7A00B0</vt:lpwstr>
  </property>
</Properties>
</file>