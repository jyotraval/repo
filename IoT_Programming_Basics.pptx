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  <p:sldId id="274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3DE"/>
    <a:srgbClr val="FD71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213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AD8F5-5ED8-D5E7-1CF2-82362A21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C2E7C-4DE0-CA01-5181-25875502D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9CF06-FF01-10F9-FCF7-B50AE6ABE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67A1B-95AD-A82B-106C-4B589E1DC2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15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52160"/>
            <a:ext cx="2926080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flipV="1">
            <a:off x="2926080" y="5212080"/>
            <a:ext cx="640080" cy="64008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566160" y="5212080"/>
            <a:ext cx="2377440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01200" y="914400"/>
            <a:ext cx="1920240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flipH="1">
            <a:off x="9052560" y="914400"/>
            <a:ext cx="548640" cy="54864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052560" y="1463040"/>
            <a:ext cx="0" cy="91440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515600" y="0"/>
            <a:ext cx="0" cy="91440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902452" y="517093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884932" y="581101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1480292" y="87325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011412" y="233629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905238" y="4967478"/>
            <a:ext cx="854964" cy="854964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065544" y="4718761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065544" y="5822442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656521" y="5127784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760202" y="5127784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0332720" y="4718761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332720" y="5822442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656521" y="5394960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760202" y="5394960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599896" y="4718761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599896" y="5822442"/>
            <a:ext cx="0" cy="248717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656521" y="5662136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760202" y="5662136"/>
            <a:ext cx="248717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1965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 ·  TECHNOLOGY FOR IoT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5800" y="237744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for IoT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731520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 structure to digital &amp; analog I/O on the ESP32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31520" y="4160520"/>
            <a:ext cx="2011680" cy="0"/>
          </a:xfrm>
          <a:prstGeom prst="line">
            <a:avLst/>
          </a:prstGeom>
          <a:noFill/>
          <a:ln w="38100">
            <a:solidFill>
              <a:srgbClr val="FFC1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31520" y="46177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631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1520" y="460857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33472" y="46177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631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633472" y="460857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69664" y="46177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631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169664" y="460857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 / loop()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54496" y="46177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631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54496" y="460857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digitalRead/Write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30768" y="46177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631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430768" y="460857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analogRead/Write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ROADMAP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We'll Cover Today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120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86384" y="2551176"/>
            <a:ext cx="384048" cy="384048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86384" y="2551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98448" y="2468880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Basic structure of an ESP32 / Arduino program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364992"/>
            <a:ext cx="5120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86384" y="3447288"/>
            <a:ext cx="384048" cy="384048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86384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98448" y="3364992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Preprocessor directives (#include, #define)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261104"/>
            <a:ext cx="5120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86384" y="4343400"/>
            <a:ext cx="384048" cy="384048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86384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98448" y="4261104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setup() and loop() — the two core functions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157216"/>
            <a:ext cx="5120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86384" y="5239512"/>
            <a:ext cx="384048" cy="384048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86384" y="5239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98448" y="5157216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GPIO pins &amp; pinMode()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80760" y="2468880"/>
            <a:ext cx="5120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27064" y="2551176"/>
            <a:ext cx="384048" cy="384048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27064" y="2551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39128" y="2468880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digitalWrite() and digitalRead()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80760" y="3364992"/>
            <a:ext cx="5120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27064" y="3447288"/>
            <a:ext cx="384048" cy="384048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27064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39128" y="3364992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Analog signals, ADC, analogRead()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080760" y="4261104"/>
            <a:ext cx="5120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227064" y="4343400"/>
            <a:ext cx="384048" cy="384048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27064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39128" y="4261104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PWM &amp; analogWrite()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GETTING STARTED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Writing a Program for the ESP32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577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program for a microcontroller is called a sketch 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written in a simplified C/C++.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Arduino IDE compiles the sketch and uploads 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to the ESP32 over USB.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board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then runs that code independently, over and over,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reading sensors and controlling outputs.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sketch follows the same predictable skeleton — once you know it, any new sketch is easy to read.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675120" y="2011680"/>
            <a:ext cx="4846320" cy="3931920"/>
          </a:xfrm>
          <a:prstGeom prst="roundRect">
            <a:avLst>
              <a:gd name="adj" fmla="val 2326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675120" y="2212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150" dirty="0">
                <a:solidFill>
                  <a:srgbClr val="FFC1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CODE  →  UPLOAD  →  RUN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40880" y="2743200"/>
            <a:ext cx="4114800" cy="685800"/>
          </a:xfrm>
          <a:prstGeom prst="roundRect">
            <a:avLst>
              <a:gd name="adj" fmla="val 12000"/>
            </a:avLst>
          </a:prstGeom>
          <a:solidFill>
            <a:srgbClr val="163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178040" y="2862072"/>
            <a:ext cx="457200" cy="457200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7804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43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18120" y="277977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Write sketch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 Arduino IDE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098280" y="3429000"/>
            <a:ext cx="0" cy="182880"/>
          </a:xfrm>
          <a:prstGeom prst="line">
            <a:avLst/>
          </a:prstGeom>
          <a:noFill/>
          <a:ln w="25400">
            <a:solidFill>
              <a:srgbClr val="3A5A7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040880" y="3611880"/>
            <a:ext cx="4114800" cy="685800"/>
          </a:xfrm>
          <a:prstGeom prst="roundRect">
            <a:avLst>
              <a:gd name="adj" fmla="val 12000"/>
            </a:avLst>
          </a:prstGeom>
          <a:solidFill>
            <a:srgbClr val="163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178040" y="3730752"/>
            <a:ext cx="457200" cy="457200"/>
          </a:xfrm>
          <a:prstGeom prst="ellipse">
            <a:avLst/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17804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43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18120" y="364845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Upload via USB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(compiled to machine code)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98280" y="4297680"/>
            <a:ext cx="0" cy="182880"/>
          </a:xfrm>
          <a:prstGeom prst="line">
            <a:avLst/>
          </a:prstGeom>
          <a:noFill/>
          <a:ln w="25400">
            <a:solidFill>
              <a:srgbClr val="3A5A7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040880" y="4480560"/>
            <a:ext cx="4114800" cy="685800"/>
          </a:xfrm>
          <a:prstGeom prst="roundRect">
            <a:avLst>
              <a:gd name="adj" fmla="val 12000"/>
            </a:avLst>
          </a:prstGeom>
          <a:solidFill>
            <a:srgbClr val="163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178040" y="4599432"/>
            <a:ext cx="457200" cy="457200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7804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43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818120" y="451713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ESP32 runs code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repeatedly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Structure of a Sketch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ESP32 / Arduino program has exactly three parts, always in this order.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94960" cy="4762344"/>
          </a:xfrm>
          <a:prstGeom prst="roundRect">
            <a:avLst>
              <a:gd name="adj" fmla="val 2000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2212848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88136" y="22128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07592" y="22128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32688" y="2542032"/>
            <a:ext cx="480974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DIRECTIVES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&lt;Library.h&gt;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LED_PIN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setup() -- runs ONCE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(LED_PIN,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loop() -- runs FOREVER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(LED_PIN,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2057400"/>
            <a:ext cx="50749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29400" y="2240280"/>
            <a:ext cx="457200" cy="457200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294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43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269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Directives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69480" y="24963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Setup instructions for the compiler — libraries and constants.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46520" y="3429000"/>
            <a:ext cx="50749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629400" y="3611880"/>
            <a:ext cx="457200" cy="457200"/>
          </a:xfrm>
          <a:prstGeom prst="ellipse">
            <a:avLst/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6294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43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69480" y="35387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setup()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69480" y="38679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Runs a single time when the board powers on or resets.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46520" y="4800600"/>
            <a:ext cx="507492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629400" y="4983480"/>
            <a:ext cx="457200" cy="457200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2940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43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269480" y="4910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33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loop()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69480" y="52395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Runs continuously, forever, right after setup() finishes.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Preprocessor Directives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Directives begin with # and are handled before compilation even starts.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#include 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brings in a library's ready-made functions, e.g. WiFi or sensor drivers.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#define 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creates a named constant that is swapped in everywhere it's used — easy to update once.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Directives </a:t>
            </a:r>
            <a:r>
              <a:rPr lang="en-US" sz="2000" u="sng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don't end with a semicolon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unlike normal C++ statements.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0" y="201168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29400" y="2212848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48856" y="22128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068312" y="22128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93408" y="2542032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&lt;WiFi.h&gt;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LED_PIN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BAUD_RATE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457200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FF6E0"/>
          </a:solidFill>
          <a:ln w="12700">
            <a:solidFill>
              <a:srgbClr val="FFC1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29400" y="470916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30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#define as a global find-and-replace performed before your code even compiles.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void setup() — Runs Once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Called a single time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right after the ESP32 boots up or is reset.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for </a:t>
            </a:r>
            <a:r>
              <a:rPr lang="en-US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one-time preparation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u="sng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configuring pin modes and starting communication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Typical jobs: pinMode(), Serial.begin(), connecting to Wi-Fi.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Once setup() finishes, control passes automatically to loop().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0" y="2103120"/>
            <a:ext cx="5120640" cy="2651760"/>
          </a:xfrm>
          <a:prstGeom prst="roundRect">
            <a:avLst>
              <a:gd name="adj" fmla="val 3103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29400" y="2304288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48856" y="230428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068312" y="23042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93408" y="2633472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(switchPin,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void loop() — Runs Forever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Executes immediately after setup()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then 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repeats endlessly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is where the </a:t>
            </a:r>
            <a:r>
              <a:rPr lang="en-US" sz="2000" b="1" u="sng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behaviour of your device 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lives: reading sensors, reacting, updating outputs.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pass-through loop() is sometimes called one "cycle" of the program.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0" y="2103119"/>
            <a:ext cx="5120640" cy="2758129"/>
          </a:xfrm>
          <a:prstGeom prst="roundRect">
            <a:avLst>
              <a:gd name="adj" fmla="val 3103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29400" y="2304288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48856" y="230428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068312" y="23042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693408" y="2633472"/>
            <a:ext cx="45354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0" y="5029200"/>
            <a:ext cx="5120640" cy="1005840"/>
          </a:xfrm>
          <a:prstGeom prst="roundRect">
            <a:avLst>
              <a:gd name="adj" fmla="val 8182"/>
            </a:avLst>
          </a:prstGeom>
          <a:solidFill>
            <a:srgbClr val="1631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0" y="5029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  runs once  →  loop()  repeats  ↻  forever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I/O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GPIO Pins &amp; pinMode()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GPIO = General Purpose Input/Output — pins that can be configured as input or output in software.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pinMode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(pin, MODE) tells the ESP32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a pin will be used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inside setup().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 is either OUTPUT (to drive a device) or INPUT (to read a signal).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4407408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88136" y="440740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07592" y="440740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32688" y="4736592"/>
            <a:ext cx="4809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(switchPin,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7512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2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GPIO CONSIDERATIONS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675120" y="2660904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31152" y="249631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level is 3.3 V </a:t>
            </a:r>
            <a:r>
              <a:rPr lang="en-US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5 V tolerant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75120" y="3483864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31152" y="331927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6–11 are reserved for internal flash; never use these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675120" y="4306824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31152" y="414223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34–39 are input-only (no internal pull-ups)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675120" y="5129784"/>
            <a:ext cx="109728" cy="109728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31152" y="496519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pull-up resistors can be enabled in software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9FFE5-9458-ECD9-D00E-E82145B9F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28CBF4CA-3562-7A4B-240B-9FB2229F4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887" y="2799"/>
            <a:ext cx="9834473" cy="68185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8447F83-FEFE-0F6A-2A70-9DF190514FD6}"/>
              </a:ext>
            </a:extLst>
          </p:cNvPr>
          <p:cNvSpPr/>
          <p:nvPr/>
        </p:nvSpPr>
        <p:spPr>
          <a:xfrm>
            <a:off x="257525" y="2799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GPIO Pins</a:t>
            </a:r>
            <a:endParaRPr lang="en-US" sz="3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D0DB9FB-7A57-D6F8-921D-AAFD66F93E24}"/>
              </a:ext>
            </a:extLst>
          </p:cNvPr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94983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digitalWrite() — </a:t>
            </a:r>
            <a:r>
              <a:rPr lang="en-US" sz="3200" b="1" u="sng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Blinking an LED</a:t>
            </a:r>
            <a:endParaRPr lang="en-US" sz="3200" u="sng" dirty="0">
              <a:solidFill>
                <a:srgbClr val="C0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722376" cy="310896"/>
          </a:xfrm>
          <a:prstGeom prst="roundRect">
            <a:avLst>
              <a:gd name="adj" fmla="val 50000"/>
            </a:avLst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72184"/>
            <a:ext cx="722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digitalWrite(pin, value) </a:t>
            </a:r>
          </a:p>
          <a:p>
            <a:pPr lvl="1">
              <a:spcAft>
                <a:spcPts val="1300"/>
              </a:spcAft>
              <a:buSzPct val="100000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sets a pin HIGH (3.3 V, LED on) or LOW (0 V, LED off).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pin must first be set OUTPUT with pinMode() in setup().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delay(ms) pauses the program for the given time in milliseconds.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47091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anode </a:t>
            </a: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GPIO 2 (through a 220 Ω resistor)
</a:t>
            </a:r>
            <a:r>
              <a:rPr lang="en-US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cathode </a:t>
            </a: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GND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120640" cy="4572000"/>
          </a:xfrm>
          <a:prstGeom prst="roundRect">
            <a:avLst>
              <a:gd name="adj" fmla="val 1800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29400" y="1755648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848856" y="17556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068312" y="17556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93408" y="2084832"/>
            <a:ext cx="453542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ledPin =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600" i="1" dirty="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LED ON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600" i="1" dirty="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LED OFF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digitalRead() — </a:t>
            </a:r>
            <a:r>
              <a:rPr lang="en-US" sz="3200" b="1" u="sng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Switch</a:t>
            </a:r>
            <a:endParaRPr lang="en-US" sz="3200" u="sng" dirty="0">
              <a:solidFill>
                <a:srgbClr val="C0000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635508" cy="310896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72184"/>
            <a:ext cx="6355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digitalRead(pin) returns the current logic level of a pin: HIGH or LOW.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pin must be set INPUT with pinMode() in setup().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Store the result in an int and act on it with an if / else check.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47091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terminal 1 </a:t>
            </a: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GPIO 4
</a:t>
            </a:r>
            <a:r>
              <a:rPr lang="en-US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terminal 2 </a:t>
            </a:r>
            <a:r>
              <a:rPr lang="en-US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GND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958584" y="355600"/>
            <a:ext cx="5120640" cy="6055360"/>
          </a:xfrm>
          <a:prstGeom prst="roundRect">
            <a:avLst>
              <a:gd name="adj" fmla="val 1800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68312" y="524256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287768" y="52425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507224" y="52425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19" y="795796"/>
            <a:ext cx="5380031" cy="56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D71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switchPin = 4;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D71B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ledPin = 2;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(switchPin, </a:t>
            </a:r>
            <a:r>
              <a:rPr lang="en-US" sz="16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INPUT_PULLUP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	</a:t>
            </a:r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>
              <a:lnSpc>
                <a:spcPct val="130000"/>
              </a:lnSpc>
            </a:pPr>
            <a:endParaRPr lang="en-US" sz="1600" dirty="0">
              <a:solidFill>
                <a:srgbClr val="6FB7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30000"/>
              </a:lnSpc>
            </a:pPr>
            <a:endParaRPr lang="en-US" sz="1600" dirty="0">
              <a:solidFill>
                <a:srgbClr val="6FB7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B7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state 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(switchPin);</a:t>
            </a:r>
          </a:p>
          <a:p>
            <a:pPr>
              <a:lnSpc>
                <a:spcPct val="130000"/>
              </a:lnSpc>
            </a:pPr>
            <a:endParaRPr lang="en-US" sz="1600" dirty="0">
              <a:solidFill>
                <a:srgbClr val="6FB7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(state == </a:t>
            </a:r>
            <a:r>
              <a:rPr lang="en-US" sz="16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       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ANALOGREAD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 Signals &amp; the ADC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 signals have only two states: HIGH or LOW.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Analog signals vary continuously — e.g. a potentiometer, temperature or light sensor.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ESP32's built-in ADC (Analog-to-Digital Converter) turns a voltage into a number.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12-bit resolution → values from 0 to 4095, over 0 V to 3.3 V.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516636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524764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= </a:t>
            </a:r>
            <a:r>
              <a:rPr lang="en-US" sz="1800" b="1" dirty="0">
                <a:solidFill>
                  <a:srgbClr val="FFC1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(ADC Value / 4095)</a:t>
            </a:r>
            <a:r>
              <a:rPr lang="en-US" sz="1800" dirty="0">
                <a:solidFill>
                  <a:srgbClr val="CFE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3.3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92024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ADC RANGE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766560" y="2606040"/>
            <a:ext cx="4480560" cy="320040"/>
          </a:xfrm>
          <a:prstGeom prst="roundRect">
            <a:avLst>
              <a:gd name="adj" fmla="val 48571"/>
            </a:avLst>
          </a:prstGeom>
          <a:solidFill>
            <a:srgbClr val="E7EDF3"/>
          </a:solidFill>
          <a:ln/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66560" y="2606040"/>
            <a:ext cx="4480560" cy="320040"/>
          </a:xfrm>
          <a:prstGeom prst="roundRect">
            <a:avLst>
              <a:gd name="adj" fmla="val 48571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0" y="2971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332720" y="2971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4095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C1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 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14984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FC1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3.3 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66560" y="37033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12-bit resolution: 2^12 = 4096 discrete steps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2240" y="4572000"/>
            <a:ext cx="5029200" cy="1280160"/>
          </a:xfrm>
          <a:prstGeom prst="roundRect">
            <a:avLst>
              <a:gd name="adj" fmla="val 7143"/>
            </a:avLst>
          </a:prstGeom>
          <a:solidFill>
            <a:srgbClr val="FFF6E0"/>
          </a:solidFill>
          <a:ln w="12700">
            <a:solidFill>
              <a:srgbClr val="FFC145"/>
            </a:solidFill>
            <a:prstDash val="solid"/>
          </a:ln>
        </p:spPr>
        <p:txBody>
          <a:bodyPr/>
          <a:lstStyle/>
          <a:p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20840" y="4572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5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Recommended pin: potentiometer wiper → GPIO 34 (input-only ADC pin). Never exceed 3.3 V on this pin.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INPUT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analogRead() — Reading a Potentiometer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722376" cy="310896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72184"/>
            <a:ext cx="722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analogRead(pin) 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returns a number from 0–4095 representing the pin's voltage.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Convert it to volts using the ADC formula from the previous slide.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Serial.begin() 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Serial.print() </a:t>
            </a: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let you view live readings on the Serial Monitor.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47091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 wiper </a:t>
            </a: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GPIO 34
</a:t>
            </a:r>
            <a:r>
              <a:rPr lang="en-US" sz="2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terminals </a:t>
            </a: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3.3 V and GND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588000" cy="5120640"/>
          </a:xfrm>
          <a:prstGeom prst="roundRect">
            <a:avLst>
              <a:gd name="adj" fmla="val 1800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29400" y="1755648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848856" y="17556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068312" y="17556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93408" y="1932432"/>
            <a:ext cx="5120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potPin = 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adcValue =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(potPin);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voltage = (adcValue/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4095.0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1E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"Voltage: "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(voltage);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analogWrite() — PWM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809244" cy="310896"/>
          </a:xfrm>
          <a:prstGeom prst="roundRect">
            <a:avLst>
              <a:gd name="adj" fmla="val 50000"/>
            </a:avLst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72184"/>
            <a:ext cx="8092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ESP32 has </a:t>
            </a:r>
            <a:r>
              <a:rPr lang="en-US" u="sng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true analog output 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analogWrite() simulates it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using PWM 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(Pulse Width Modulation).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rapidly switches a pin HIGH/LOW; the value 0–255 sets how much of the time it stays HIGH.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Used for LED brightness</a:t>
            </a: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motor speed, and buzzer tone control.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4828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CYCLE = BRIGHTNESS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516636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223E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5166360"/>
            <a:ext cx="354330" cy="256032"/>
          </a:xfrm>
          <a:prstGeom prst="roundRect">
            <a:avLst>
              <a:gd name="adj" fmla="val 21429"/>
            </a:avLst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54589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516636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223E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606040" y="5166360"/>
            <a:ext cx="708660" cy="256032"/>
          </a:xfrm>
          <a:prstGeom prst="roundRect">
            <a:avLst>
              <a:gd name="adj" fmla="val 21429"/>
            </a:avLst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606040" y="54589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516636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223E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343400" y="516636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43400" y="54589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54000"/>
            <a:ext cx="5120640" cy="5872480"/>
          </a:xfrm>
          <a:prstGeom prst="roundRect">
            <a:avLst>
              <a:gd name="adj" fmla="val 1800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29400" y="384048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48856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068312" y="3840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93408" y="631952"/>
            <a:ext cx="453542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ledPin =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</a:t>
            </a:r>
            <a:r>
              <a:rPr lang="en-US" sz="1600" i="1" dirty="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PWM-capable pin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r>
              <a:rPr lang="en-US" sz="1600" i="1" dirty="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~25%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600" i="1" dirty="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~50%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(ledPin,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600" i="1" dirty="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100%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2194560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6217920"/>
            <a:ext cx="2130552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153412" y="78181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017252" y="6176772"/>
            <a:ext cx="82296" cy="82296"/>
          </a:xfrm>
          <a:prstGeom prst="ellipse">
            <a:avLst/>
          </a:prstGeom>
          <a:solidFill>
            <a:srgbClr val="FFC1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ESP32 Function Toolkit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6314F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14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pinMode(pin, mode)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97680" y="1737360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Configure a pin as INPUT or OUTPUT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01200" y="19202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01200" y="19019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Setup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6314F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263347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14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digitalWrite(pin, val)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97680" y="2633472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Set a pin HIGH or LOW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01200" y="2816352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01200" y="27980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 Out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52958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6314F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3529584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14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digitalRead(pin)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97680" y="3529584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 HIGH or LOW from a pin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01200" y="371246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01200" y="36941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Digital 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442569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6314F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68680" y="4425696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14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analogRead(pin)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97680" y="4425696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 a 0–4095 value from an ADC pin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601200" y="4608576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01200" y="45902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Analog 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532180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6314F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8680" y="532180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14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analogWrite(pin, val)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297680" y="5321808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4ECF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 a PWM signal, 0–255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601200" y="550468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601200" y="5486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43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Analog Out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TOPICS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Your Own Function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function is a named, reusable block of code — setup() and loop() are functions too.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returnType is what the function gives back — use void if it returns nothing.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Parameters (in the parentheses) are inputs the function receives.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Call the function by name wherever you need it, instead of repeating code.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0" y="285515"/>
            <a:ext cx="5120640" cy="6085802"/>
          </a:xfrm>
          <a:prstGeom prst="roundRect">
            <a:avLst>
              <a:gd name="adj" fmla="val 1800"/>
            </a:avLst>
          </a:prstGeom>
          <a:solidFill>
            <a:srgbClr val="0B1B2E"/>
          </a:solidFill>
          <a:ln/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29400" y="486683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6848856" y="486683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7068312" y="486683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6693408" y="815867"/>
            <a:ext cx="4535424" cy="538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6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returnType functionName(parameters)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isPressed(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pin) {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(pin) ==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blinkLed(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pin, 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times) {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times; i++) {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(pin,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58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6FB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(isPressed(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blinkLed(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6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TOPICS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vs Function — What's the Difference?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10243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C14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MACRO  (#define)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4663440" cy="822960"/>
          </a:xfrm>
          <a:prstGeom prst="roundRect">
            <a:avLst>
              <a:gd name="adj" fmla="val 6667"/>
            </a:avLst>
          </a:prstGeom>
          <a:solidFill>
            <a:srgbClr val="0B1B2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560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4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#define SQUARE(x) ((x)*(x))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D6E4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Replaced by the preprocessor before compiling — a pure text substitution.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D6E4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type checking — can cause subtle bugs.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D6E4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debugging step-through; it never really "exists" as code.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76200" dist="25400" dir="5400000" algn="bl" rotWithShape="0">
              <a:srgbClr val="1B2A41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3AAFA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FUNCTION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75120" y="2514600"/>
            <a:ext cx="4663440" cy="822960"/>
          </a:xfrm>
          <a:prstGeom prst="roundRect">
            <a:avLst>
              <a:gd name="adj" fmla="val 6667"/>
            </a:avLst>
          </a:prstGeom>
          <a:solidFill>
            <a:srgbClr val="0B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560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FB7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int </a:t>
            </a:r>
            <a:r>
              <a:rPr lang="en-US" dirty="0">
                <a:solidFill>
                  <a:srgbClr val="F58FC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square</a:t>
            </a:r>
            <a:r>
              <a:rPr lang="en-US" dirty="0">
                <a:solidFill>
                  <a:srgbClr val="D6E4F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(int x) {  return x * x;}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75120" y="352044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Compiled as real code — has proper type checking.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Easier to debug (breakpoints, step-through).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Preferred for anything beyond a trivial one-line swap.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1764</Words>
  <Application>Microsoft Office PowerPoint</Application>
  <PresentationFormat>Widescreen</PresentationFormat>
  <Paragraphs>298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Mahesh Kumar</cp:lastModifiedBy>
  <cp:revision>12</cp:revision>
  <dcterms:created xsi:type="dcterms:W3CDTF">2026-08-18T08:38:29Z</dcterms:created>
  <dcterms:modified xsi:type="dcterms:W3CDTF">2026-09-01T11:52:29Z</dcterms:modified>
</cp:coreProperties>
</file>