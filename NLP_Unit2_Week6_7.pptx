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Layouts/slideLayout120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90.xml" ContentType="application/vnd.openxmlformats-officedocument.presentationml.slideLayout+xml"/>
  <Override PartName="/ppt/notesSlides/notesSlide70.xml" ContentType="application/vnd.openxmlformats-officedocument.presentationml.notesSlide+xml"/>
  <Override PartName="/ppt/notesMasters/notesMaster10.xml" ContentType="application/vnd.openxmlformats-officedocument.presentationml.notesMaster+xml"/>
  <Override PartName="/ppt/slideMasters/slideMaster10.xml" ContentType="application/vnd.openxmlformats-officedocument.presentationml.slideMaster+xml"/>
  <Override PartName="/ppt/slideLayouts/slideLayout23.xml" ContentType="application/vnd.openxmlformats-officedocument.presentationml.slideLayout+xml"/>
  <Override PartName="/ppt/slides/slide29.xml" ContentType="application/vnd.openxmlformats-officedocument.presentationml.slide+xml"/>
  <Override PartName="/ppt/theme/theme30.xml" ContentType="application/vnd.openxmlformats-officedocument.theme+xml"/>
  <Override PartName="/ppt/slideLayouts/slideLayout80.xml" ContentType="application/vnd.openxmlformats-officedocument.presentationml.slideLayout+xml"/>
  <Override PartName="/ppt/theme/theme10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70.xml" ContentType="application/vnd.openxmlformats-officedocument.presentationml.slideLayout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7"/>
  </p:notesMasterIdLst>
  <p:sldIdLst>
    <p:sldId id="384" r:id="rId3"/>
    <p:sldId id="563" r:id="rId4"/>
    <p:sldId id="385" r:id="rId5"/>
    <p:sldId id="386" r:id="rId6"/>
    <p:sldId id="387" r:id="rId7"/>
    <p:sldId id="389" r:id="rId8"/>
    <p:sldId id="392" r:id="rId9"/>
    <p:sldId id="517" r:id="rId10"/>
    <p:sldId id="397" r:id="rId11"/>
    <p:sldId id="398" r:id="rId12"/>
    <p:sldId id="579" r:id="rId13"/>
    <p:sldId id="569" r:id="rId14"/>
    <p:sldId id="396" r:id="rId15"/>
    <p:sldId id="566" r:id="rId16"/>
    <p:sldId id="452" r:id="rId17"/>
    <p:sldId id="546" r:id="rId18"/>
    <p:sldId id="547" r:id="rId19"/>
    <p:sldId id="550" r:id="rId20"/>
    <p:sldId id="580" r:id="rId21"/>
    <p:sldId id="581" r:id="rId22"/>
    <p:sldId id="582" r:id="rId23"/>
    <p:sldId id="583" r:id="rId24"/>
    <p:sldId id="432" r:id="rId25"/>
    <p:sldId id="584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47" autoAdjust="0"/>
    <p:restoredTop sz="90056" autoAdjust="0"/>
  </p:normalViewPr>
  <p:slideViewPr>
    <p:cSldViewPr>
      <p:cViewPr varScale="1">
        <p:scale>
          <a:sx n="82" d="100"/>
          <a:sy n="82" d="100"/>
        </p:scale>
        <p:origin x="1320" y="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customXml" Target="../customXml/item3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customXml" Target="../customXml/item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customXml" Target="../customXml/item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_rels/notesMaster10.xml.rels><?xml version="1.0" encoding="UTF-8" standalone="yes"?>
<Relationships xmlns="http://schemas.openxmlformats.org/package/2006/relationships"><Relationship Id="rId1" Type="http://schemas.openxmlformats.org/officeDocument/2006/relationships/theme" Target="../theme/theme3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F9673B-F029-4EB6-981F-6118A75E367B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F8E48-716F-463C-9A2D-BA57804D2BA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0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F9673B-F029-4EB6-981F-6118A75E367B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F8E48-716F-463C-9A2D-BA57804D2BA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DD14ED-9F17-3C4B-92FE-F8C6D73CA7E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charset="0"/>
                <a:ea typeface="ＭＳ Ｐゴシック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Sans" charset="0"/>
              <a:ea typeface="ＭＳ Ｐゴシック" charset="0"/>
              <a:cs typeface="+mn-cs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B9031F-EB71-7642-8F3C-6FDC1408CB9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3575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B9031F-EB71-7642-8F3C-6FDC1408CB9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1651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357E1AA-3B5C-7144-BCE2-DB2BE2D704A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charset="0"/>
                <a:ea typeface="ＭＳ Ｐゴシック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Sans" charset="0"/>
              <a:ea typeface="ＭＳ Ｐゴシック" charset="0"/>
              <a:cs typeface="+mn-cs"/>
            </a:endParaRPr>
          </a:p>
        </p:txBody>
      </p:sp>
      <p:sp>
        <p:nvSpPr>
          <p:cNvPr id="6451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2223D22-0F96-2447-8062-54A2324D8AD1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charset="0"/>
                <a:ea typeface="ＭＳ Ｐゴシック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Sans" charset="0"/>
              <a:ea typeface="ＭＳ Ｐゴシック" charset="0"/>
              <a:cs typeface="+mn-cs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24D5933-64A4-6347-B6F5-7474C2DA1EC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charset="0"/>
                <a:ea typeface="ＭＳ Ｐゴシック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Sans" charset="0"/>
              <a:ea typeface="ＭＳ Ｐゴシック" charset="0"/>
              <a:cs typeface="+mn-cs"/>
            </a:endParaRPr>
          </a:p>
        </p:txBody>
      </p:sp>
      <p:sp>
        <p:nvSpPr>
          <p:cNvPr id="7065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C90346-8C42-B949-9ED1-59E585D457E3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charset="0"/>
                <a:ea typeface="ＭＳ Ｐゴシック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Sans" charset="0"/>
              <a:ea typeface="ＭＳ Ｐゴシック" charset="0"/>
              <a:cs typeface="+mn-cs"/>
            </a:endParaRPr>
          </a:p>
        </p:txBody>
      </p:sp>
      <p:sp>
        <p:nvSpPr>
          <p:cNvPr id="768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61A37D4-2F67-9A41-B61D-68722A521FD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charset="0"/>
                <a:ea typeface="ＭＳ Ｐゴシック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Sans" charset="0"/>
              <a:ea typeface="ＭＳ Ｐゴシック" charset="0"/>
              <a:cs typeface="+mn-cs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9167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51B35A-A25C-A94E-9FD5-654338FF1842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charset="0"/>
                <a:ea typeface="ＭＳ Ｐゴシック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Sans" charset="0"/>
              <a:ea typeface="ＭＳ Ｐゴシック" charset="0"/>
              <a:cs typeface="+mn-cs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9769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DC5F2-6B6E-FD48-8039-2DB790B32523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charset="0"/>
                <a:ea typeface="ＭＳ Ｐゴシック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Sans" charset="0"/>
              <a:ea typeface="ＭＳ Ｐゴシック" charset="0"/>
              <a:cs typeface="+mn-cs"/>
            </a:endParaRPr>
          </a:p>
        </p:txBody>
      </p:sp>
      <p:sp>
        <p:nvSpPr>
          <p:cNvPr id="7885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DC5F2-6B6E-FD48-8039-2DB790B32523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charset="0"/>
                <a:ea typeface="ＭＳ Ｐゴシック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Sans" charset="0"/>
              <a:ea typeface="ＭＳ Ｐゴシック" charset="0"/>
              <a:cs typeface="+mn-cs"/>
            </a:endParaRPr>
          </a:p>
        </p:txBody>
      </p:sp>
      <p:sp>
        <p:nvSpPr>
          <p:cNvPr id="7885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3454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9DF897-5E92-F241-9A21-E64EA536231D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charset="0"/>
                <a:ea typeface="ＭＳ Ｐゴシック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charset="0"/>
              <a:ea typeface="ＭＳ Ｐゴシック" charset="0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3150" y="704850"/>
            <a:ext cx="4699000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1667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A8AC387-3E46-1143-BAAD-D9B1D56CD6C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charset="0"/>
                <a:ea typeface="ＭＳ Ｐゴシック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Sans" charset="0"/>
              <a:ea typeface="ＭＳ Ｐゴシック" charset="0"/>
              <a:cs typeface="+mn-cs"/>
            </a:endParaRPr>
          </a:p>
        </p:txBody>
      </p:sp>
      <p:sp>
        <p:nvSpPr>
          <p:cNvPr id="13414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6349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AC2B776-986B-2545-8075-7FDAA4407823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charset="0"/>
                <a:ea typeface="ＭＳ Ｐゴシック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Sans" charset="0"/>
              <a:ea typeface="ＭＳ Ｐゴシック" charset="0"/>
              <a:cs typeface="+mn-cs"/>
            </a:endParaRPr>
          </a:p>
        </p:txBody>
      </p:sp>
      <p:sp>
        <p:nvSpPr>
          <p:cNvPr id="1361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7073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33EBD86-0A01-3B4B-B540-6B90BD60E5F2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charset="0"/>
                <a:ea typeface="ＭＳ Ｐゴシック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Sans" charset="0"/>
              <a:ea typeface="ＭＳ Ｐゴシック" charset="0"/>
              <a:cs typeface="+mn-cs"/>
            </a:endParaRPr>
          </a:p>
        </p:txBody>
      </p:sp>
      <p:sp>
        <p:nvSpPr>
          <p:cNvPr id="13824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7815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BC8CE-3731-C129-8796-D3B183EC1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>
            <a:extLst>
              <a:ext uri="{FF2B5EF4-FFF2-40B4-BE49-F238E27FC236}">
                <a16:creationId xmlns:a16="http://schemas.microsoft.com/office/drawing/2014/main" id="{9262B518-81C8-02DE-99AB-E5B212CA53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33EBD86-0A01-3B4B-B540-6B90BD60E5F2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charset="0"/>
                <a:ea typeface="ＭＳ Ｐゴシック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Sans" charset="0"/>
              <a:ea typeface="ＭＳ Ｐゴシック" charset="0"/>
              <a:cs typeface="+mn-cs"/>
            </a:endParaRPr>
          </a:p>
        </p:txBody>
      </p:sp>
      <p:sp>
        <p:nvSpPr>
          <p:cNvPr id="138243" name="Rectangle 2">
            <a:extLst>
              <a:ext uri="{FF2B5EF4-FFF2-40B4-BE49-F238E27FC236}">
                <a16:creationId xmlns:a16="http://schemas.microsoft.com/office/drawing/2014/main" id="{838A205F-422F-DF98-59BC-AAA729230BF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8244" name="Rectangle 3">
            <a:extLst>
              <a:ext uri="{FF2B5EF4-FFF2-40B4-BE49-F238E27FC236}">
                <a16:creationId xmlns:a16="http://schemas.microsoft.com/office/drawing/2014/main" id="{1D42D603-C8F8-ED40-27D3-B2C78C252A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8644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073864A-ADC2-1B43-A5CC-41DA2E2D0DB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charset="0"/>
                <a:ea typeface="ＭＳ Ｐゴシック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Sans" charset="0"/>
              <a:ea typeface="ＭＳ Ｐゴシック" charset="0"/>
              <a:cs typeface="+mn-cs"/>
            </a:endParaRPr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1EE11-3BFD-9036-4601-6E9D210D0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>
            <a:extLst>
              <a:ext uri="{FF2B5EF4-FFF2-40B4-BE49-F238E27FC236}">
                <a16:creationId xmlns:a16="http://schemas.microsoft.com/office/drawing/2014/main" id="{AE7BE77F-1742-662D-5DA5-1F4C6E4AE8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073864A-ADC2-1B43-A5CC-41DA2E2D0DB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charset="0"/>
                <a:ea typeface="ＭＳ Ｐゴシック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Sans" charset="0"/>
              <a:ea typeface="ＭＳ Ｐゴシック" charset="0"/>
              <a:cs typeface="+mn-cs"/>
            </a:endParaRPr>
          </a:p>
        </p:txBody>
      </p:sp>
      <p:sp>
        <p:nvSpPr>
          <p:cNvPr id="144387" name="Rectangle 2">
            <a:extLst>
              <a:ext uri="{FF2B5EF4-FFF2-40B4-BE49-F238E27FC236}">
                <a16:creationId xmlns:a16="http://schemas.microsoft.com/office/drawing/2014/main" id="{8C883FB9-28FC-F7A2-5579-29945F49FA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>
            <a:extLst>
              <a:ext uri="{FF2B5EF4-FFF2-40B4-BE49-F238E27FC236}">
                <a16:creationId xmlns:a16="http://schemas.microsoft.com/office/drawing/2014/main" id="{16653EC0-21FA-319F-D7E8-C72281087F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96434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357E1AA-3B5C-7144-BCE2-DB2BE2D704A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Sans" charset="0"/>
                <a:ea typeface="ＭＳ Ｐゴシック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Sans" charset="0"/>
              <a:ea typeface="ＭＳ Ｐゴシック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 dirty="0"/>
              <a:t>Let's see how language models work more formally. For all language models, whether large language models or the n-gram models we  consider in this chapter, our goal is to.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62F1F-95C1-45CA-84F0-B138AAEBAF81}" type="datetime1">
              <a:rPr lang="en-IN" smtClean="0"/>
              <a:t>01/Sep/2026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01/Sep/2026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60D6-FD85-46FC-B621-90CF24064286}" type="datetime1">
              <a:rPr lang="en-IN" smtClean="0"/>
              <a:t>01/Sep/2026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D685E-EC22-4A30-9C5A-5527B3C4452F}" type="datetime1">
              <a:rPr lang="en-IN" smtClean="0"/>
              <a:t>01/Sep/2026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A1E3-69D8-4A03-B392-4B3DA43B89F5}" type="datetime1">
              <a:rPr lang="en-IN" smtClean="0"/>
              <a:t>01/Sep/2026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0FA67-6AED-47ED-98CB-817068A34CDD}" type="datetime1">
              <a:rPr lang="en-IN" smtClean="0"/>
              <a:t>01/Sep/2026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EBA68-83D6-4A7C-9443-03C3BAB145F5}" type="datetime1">
              <a:rPr lang="en-IN" smtClean="0"/>
              <a:t>01/Sep/2026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F257B-BAD3-4E20-B0B4-3EA4E039C483}" type="datetime1">
              <a:rPr lang="en-IN" smtClean="0"/>
              <a:t>01/Sep/2026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41437-D38A-47BA-AECD-4B3F5E59E416}" type="datetime1">
              <a:rPr lang="en-IN" smtClean="0"/>
              <a:t>01/Sep/2026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ACA0-1FF6-43FE-9E2F-4E13179A1744}" type="datetime1">
              <a:rPr lang="en-IN" smtClean="0"/>
              <a:t>01/Sep/2026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CC08-E355-4133-96C3-E543032B013A}" type="datetime1">
              <a:rPr lang="en-IN" smtClean="0"/>
              <a:t>01/Sep/2026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857A6-5C95-DC12-AE90-149AE5D772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3342DF-6025-18CB-C5B1-E3045B2A1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7"/>
            <a:ext cx="6858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4A5C9-1957-5B55-17A8-4160E011C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289FE-29CB-5C33-00FB-3114008B8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48E4D-DBCE-69C7-1F3F-7D5EF1FB6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08C0D9-79B2-7D6B-C70C-CB76F988CC71}"/>
              </a:ext>
            </a:extLst>
          </p:cNvPr>
          <p:cNvSpPr/>
          <p:nvPr userDrawn="1"/>
        </p:nvSpPr>
        <p:spPr>
          <a:xfrm rot="16200000">
            <a:off x="-3406515" y="3331565"/>
            <a:ext cx="6858003" cy="1948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AAB34-6A63-71B6-3009-FAF6E8DA8A07}"/>
              </a:ext>
            </a:extLst>
          </p:cNvPr>
          <p:cNvSpPr/>
          <p:nvPr userDrawn="1"/>
        </p:nvSpPr>
        <p:spPr>
          <a:xfrm rot="16200000" flipV="1">
            <a:off x="-3299855" y="3421130"/>
            <a:ext cx="6858003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793524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0AC9A-EF2C-8DC0-336E-A45F2D2B3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52AF2-1F65-0A9A-3716-606A1CF26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453F5-FA51-41BE-7B39-4E3576AC9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4D116-0324-D382-0007-AA0BDA793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adapted from Jure Leskovec</a:t>
            </a:r>
            <a:endParaRPr lang="en-US" sz="525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8A64B-8DB7-C087-6511-87AC42FF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1253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B0083-7AFC-BA41-05F7-548D13A40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8A8A1-DF26-AE04-0348-09FE45657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D4762-DE9A-D3D8-3DA2-6C82F7985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A994A-32E1-4C28-5A82-D93E8E889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0B9DC-CC6D-4439-E0A1-0DFD941D0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2CFA9E-F33B-2DA5-6D69-5C55D258D8E4}"/>
              </a:ext>
            </a:extLst>
          </p:cNvPr>
          <p:cNvSpPr/>
          <p:nvPr userDrawn="1"/>
        </p:nvSpPr>
        <p:spPr>
          <a:xfrm rot="16200000">
            <a:off x="-3414010" y="3339060"/>
            <a:ext cx="6858003" cy="1798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5CAE60-732E-99B3-FCF4-9C23A667EFB8}"/>
              </a:ext>
            </a:extLst>
          </p:cNvPr>
          <p:cNvSpPr/>
          <p:nvPr userDrawn="1"/>
        </p:nvSpPr>
        <p:spPr>
          <a:xfrm rot="16200000" flipV="1">
            <a:off x="-3329835" y="3406139"/>
            <a:ext cx="6858003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33206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2F9FA-75BA-EBC8-19EF-DA35F7787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54E7D-F23A-F9FB-1181-256E66954B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2B5E16-86FC-8FAD-3887-42C73FC14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7B3B51-06DA-A69D-6520-F00D4C931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2D53B0-0D64-ABFC-F93C-84856C9A8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8A81C9-A0E5-2E3B-6B0F-FB80A4B26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3364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2C519-24C9-276D-DFD5-5E328EEDB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BA8D2-2D9A-85AA-A4A5-5DEAC5269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7F7AB-B416-CEE6-6B9C-CD41790F1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2BE2BE-4746-50F0-709B-4401907ED6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D5F167-8F8D-3091-3185-A3FC070A75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07A156-5F7D-572F-BB68-EC4E5F7E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902EC0-A5FA-154A-5E75-4E1942FFF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586798-011C-5014-5ABA-B4BD0BAE9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6666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1C9EF-4874-A483-16BE-0F18F6E2E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B5B110-5140-4951-E8D9-9AF742867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65318D-79D1-A07B-D12C-3BB72025B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8789DF-9535-4BFD-0E95-1C96329D3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5224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3C1939-3587-A4DB-36A4-F706AAA37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F976FE-F3EC-0A22-3517-F5777D480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0E6C3-C0F3-30D8-274B-F14E67305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0575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0FC8A-F6DE-72AF-545B-074A80D47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C0028-F3B8-6C33-7A03-D72F78D52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8953B7-A625-C89F-6763-501F2DEE65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1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48442C-1ED5-79B4-61B3-C580CAA2F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9A55FA-007F-DDEC-B2DA-D024A6C06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C939C7-554B-9341-0DD5-DB578DCB4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5575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AA77E-30D0-450F-31BA-E9FBAECD7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450C80-CBB1-DF79-32EF-6F54BCE444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8BD0AB-7F41-438E-EE96-1C7680710D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1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71F3B9-6E7A-72FE-74D8-7277994D7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08819-A152-73C5-E2B1-61458E580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67C3AD-F5D2-E5C1-85EE-725B8C2B8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3677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A71C0-812A-0C50-5634-125EAE135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E7DD48-3BAB-FCEF-5D66-DC28B239EA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3F5A1-BFC4-028B-D442-328854BBA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9/1/2026</a:t>
            </a:fld>
            <a:r>
              <a:rPr lang="en-US"/>
              <a:t>sss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EF023-459C-2CE1-7101-FD6EF3891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adapted from Jure Leskovec</a:t>
            </a:r>
            <a:endParaRPr lang="en-US" sz="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DB79D-7821-3287-45BF-4E5ED9797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6381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DBB315-192D-DCB2-3ACD-C89C486AB1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365126"/>
            <a:ext cx="1971675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C098B8-3009-6ED2-C8B1-6F56A3ACA9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365126"/>
            <a:ext cx="5800725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D3519-C2D8-33BB-F76D-D5302E9B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D3FC7-DFB6-89E3-4ECF-1AF7FF698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114A3-4F69-A5B6-32A4-0365164F2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6482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01/Sep/2026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60D6-FD85-46FC-B621-90CF24064286}" type="datetime1">
              <a:rPr lang="en-IN" smtClean="0"/>
              <a:t>01/Sep/2026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D685E-EC22-4A30-9C5A-5527B3C4452F}" type="datetime1">
              <a:rPr lang="en-IN" smtClean="0"/>
              <a:t>01/Sep/2026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A1E3-69D8-4A03-B392-4B3DA43B89F5}" type="datetime1">
              <a:rPr lang="en-IN" smtClean="0"/>
              <a:t>01/Sep/2026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0FA67-6AED-47ED-98CB-817068A34CDD}" type="datetime1">
              <a:rPr lang="en-IN" smtClean="0"/>
              <a:t>01/Sep/2026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EBA68-83D6-4A7C-9443-03C3BAB145F5}" type="datetime1">
              <a:rPr lang="en-IN" smtClean="0"/>
              <a:t>01/Sep/2026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F257B-BAD3-4E20-B0B4-3EA4E039C483}" type="datetime1">
              <a:rPr lang="en-IN" smtClean="0"/>
              <a:t>01/Sep/2026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41437-D38A-47BA-AECD-4B3F5E59E416}" type="datetime1">
              <a:rPr lang="en-IN" smtClean="0"/>
              <a:t>01/Sep/2026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ACA0-1FF6-43FE-9E2F-4E13179A1744}" type="datetime1">
              <a:rPr lang="en-IN" smtClean="0"/>
              <a:t>01/Sep/2026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62F1F-95C1-45CA-84F0-B138AAEBAF81}" type="datetime1">
              <a:rPr lang="en-IN" smtClean="0"/>
              <a:t>01/Sep/2026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CC08-E355-4133-96C3-E543032B013A}" type="datetime1">
              <a:rPr lang="en-IN" smtClean="0"/>
              <a:t>01/Sep/2026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5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chemeClr val="bg2"/>
                </a:solidFill>
              </a:defRPr>
            </a:lvl1pPr>
          </a:lstStyle>
          <a:p>
            <a:fld id="{9034A2FE-D172-435F-AA4B-518E3133ACED}" type="datetime1">
              <a:rPr lang="en-IN" smtClean="0"/>
              <a:t>01/Sep/2026</a:t>
            </a:fld>
            <a:endParaRPr lang="en-US"/>
          </a:p>
        </p:txBody>
      </p:sp>
      <p:sp>
        <p:nvSpPr>
          <p:cNvPr id="29185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Dr. Jigar Shah  (Asst. Prof., ICT, PDEU, Gandhinagar)</a:t>
            </a:r>
          </a:p>
        </p:txBody>
      </p:sp>
      <p:sp>
        <p:nvSpPr>
          <p:cNvPr id="291856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fld id="{34829615-EA85-47CB-9745-0124BEE5BE2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91859" name="Rectangle 19"/>
          <p:cNvSpPr>
            <a:spLocks noChangeArrowheads="1"/>
          </p:cNvSpPr>
          <p:nvPr userDrawn="1"/>
        </p:nvSpPr>
        <p:spPr bwMode="gray">
          <a:xfrm>
            <a:off x="114300" y="2830513"/>
            <a:ext cx="8890000" cy="42862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kumimoji="1" lang="en-US" sz="2400"/>
          </a:p>
        </p:txBody>
      </p:sp>
      <p:sp>
        <p:nvSpPr>
          <p:cNvPr id="291860" name="Rectangle 20"/>
          <p:cNvSpPr>
            <a:spLocks noChangeArrowheads="1"/>
          </p:cNvSpPr>
          <p:nvPr userDrawn="1"/>
        </p:nvSpPr>
        <p:spPr bwMode="gray">
          <a:xfrm>
            <a:off x="122238" y="4167188"/>
            <a:ext cx="8890000" cy="4286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hlink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kumimoji="1" lang="en-US" sz="2400"/>
          </a:p>
        </p:txBody>
      </p:sp>
    </p:spTree>
    <p:extLst>
      <p:ext uri="{BB962C8B-B14F-4D97-AF65-F5344CB8AC3E}">
        <p14:creationId xmlns:p14="http://schemas.microsoft.com/office/powerpoint/2010/main" val="3328958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120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ADB42-1EA6-48BD-91C6-255795457A8A}" type="datetime1">
              <a:rPr lang="en-IN" smtClean="0"/>
              <a:t>01/Sep/2026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A31C88-6160-49B0-5939-26719CD07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E06FA-BEDC-8348-9A02-803298001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8D976-A636-FE03-6B5E-432C706E87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CDC23-E565-C848-9AF6-12BD09C53D91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344D3-60B9-48FF-607D-C9CBAE397E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8B360-BCFE-C7B1-E66D-08BE5B2F26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242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ADB42-1EA6-48BD-91C6-255795457A8A}" type="datetime1">
              <a:rPr lang="en-IN" smtClean="0"/>
              <a:t>01/Sep/2026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0.png"/><Relationship Id="rId4" Type="http://schemas.openxmlformats.org/officeDocument/2006/relationships/slide" Target="slide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220.png"/><Relationship Id="rId4" Type="http://schemas.openxmlformats.org/officeDocument/2006/relationships/slide" Target="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2819400"/>
            <a:ext cx="7543800" cy="685800"/>
          </a:xfrm>
        </p:spPr>
        <p:txBody>
          <a:bodyPr>
            <a:normAutofit fontScale="92500"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0000"/>
                </a:solidFill>
                <a:latin typeface="Calibri" charset="0"/>
              </a:rPr>
              <a:t>Introduction to N-gram Language Models</a:t>
            </a:r>
          </a:p>
          <a:p>
            <a:pPr eaLnBrk="1" hangingPunct="1"/>
            <a:endParaRPr lang="en-US" sz="2800" b="1" dirty="0">
              <a:solidFill>
                <a:srgbClr val="FF0000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161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Language Models (LMs)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09800"/>
            <a:ext cx="7886700" cy="2895600"/>
          </a:xfrm>
        </p:spPr>
        <p:txBody>
          <a:bodyPr>
            <a:normAutofit lnSpcReduction="10000"/>
          </a:bodyPr>
          <a:lstStyle/>
          <a:p>
            <a:pPr lvl="1"/>
            <a:r>
              <a:rPr lang="en-US" sz="2900" dirty="0"/>
              <a:t>A language model (LM) is a machine learning model that predicts </a:t>
            </a:r>
            <a:r>
              <a:rPr lang="en-IN" sz="2900" dirty="0"/>
              <a:t>next </a:t>
            </a:r>
            <a:r>
              <a:rPr lang="en-US" sz="2900" dirty="0"/>
              <a:t>upcoming words. </a:t>
            </a:r>
          </a:p>
          <a:p>
            <a:pPr marL="0" indent="0">
              <a:buNone/>
            </a:pPr>
            <a:endParaRPr lang="en-US" sz="2800" dirty="0"/>
          </a:p>
          <a:p>
            <a:pPr marL="174625" indent="227013"/>
            <a:r>
              <a:rPr lang="en-US" sz="2600" dirty="0"/>
              <a:t>More formally:</a:t>
            </a:r>
          </a:p>
          <a:p>
            <a:pPr marL="571500" lvl="1" indent="227013">
              <a:buFont typeface="Arial" panose="020B0604020202020204" pitchFamily="34" charset="0"/>
              <a:buChar char="•"/>
            </a:pPr>
            <a:r>
              <a:rPr lang="en-US" sz="2200" dirty="0"/>
              <a:t>An LM assigns a probability to each potential next word</a:t>
            </a:r>
          </a:p>
          <a:p>
            <a:pPr marL="682625" lvl="2" indent="227013"/>
            <a:r>
              <a:rPr lang="en-US" sz="1800" dirty="0"/>
              <a:t>gives a probability distribution over possible next words</a:t>
            </a:r>
          </a:p>
          <a:p>
            <a:pPr marL="571500" lvl="1" indent="227013">
              <a:buFont typeface="Arial" panose="020B0604020202020204" pitchFamily="34" charset="0"/>
              <a:buChar char="•"/>
            </a:pPr>
            <a:r>
              <a:rPr lang="en-US" sz="2200" dirty="0"/>
              <a:t>An LM can assign a probability to a whole sentence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71BC46-D931-FF25-096F-743080CC19B3}"/>
              </a:ext>
            </a:extLst>
          </p:cNvPr>
          <p:cNvSpPr txBox="1"/>
          <p:nvPr/>
        </p:nvSpPr>
        <p:spPr>
          <a:xfrm>
            <a:off x="5029201" y="2743200"/>
            <a:ext cx="18473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1892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Why word prediction?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2057400"/>
            <a:ext cx="7863840" cy="366950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It's a helpful part of language tasks:</a:t>
            </a:r>
          </a:p>
          <a:p>
            <a:pPr lvl="1"/>
            <a:r>
              <a:rPr lang="en-IN" dirty="0"/>
              <a:t>Autocomplete</a:t>
            </a:r>
            <a:endParaRPr lang="en-US" dirty="0"/>
          </a:p>
          <a:p>
            <a:pPr marL="522288" lvl="1" indent="-179388"/>
            <a:r>
              <a:rPr lang="en-US" dirty="0"/>
              <a:t>Grammar or spell checking</a:t>
            </a:r>
          </a:p>
          <a:p>
            <a:pPr marL="576263" lvl="1" indent="-233363"/>
            <a:r>
              <a:rPr lang="en-US" dirty="0"/>
              <a:t>Speech recognition</a:t>
            </a:r>
          </a:p>
          <a:p>
            <a:pPr marL="576263" lvl="1" indent="-233363"/>
            <a:r>
              <a:rPr lang="en-IN" dirty="0"/>
              <a:t>Machine translation</a:t>
            </a:r>
            <a:endParaRPr lang="en-US" dirty="0"/>
          </a:p>
          <a:p>
            <a:pPr marL="493713" lvl="2" indent="0">
              <a:buNone/>
            </a:pPr>
            <a:endParaRPr lang="en-US" dirty="0">
              <a:solidFill>
                <a:srgbClr val="0200FF"/>
              </a:solidFill>
            </a:endParaRPr>
          </a:p>
          <a:p>
            <a:r>
              <a:rPr lang="en-US" sz="2000" dirty="0"/>
              <a:t>It’s how LLMs (Large Language Models) Work:</a:t>
            </a:r>
          </a:p>
          <a:p>
            <a:pPr lvl="1"/>
            <a:r>
              <a:rPr lang="en-US" sz="1700" dirty="0"/>
              <a:t>LLMs are </a:t>
            </a:r>
            <a:r>
              <a:rPr lang="en-US" sz="1700" b="1" dirty="0"/>
              <a:t>trained</a:t>
            </a:r>
            <a:r>
              <a:rPr lang="en-US" sz="1700" dirty="0"/>
              <a:t> to predict words. </a:t>
            </a:r>
          </a:p>
          <a:p>
            <a:pPr lvl="2"/>
            <a:r>
              <a:rPr lang="en-US" sz="1400" dirty="0"/>
              <a:t>Left-to-right (autoregressive) LMs learn to predict the next word.</a:t>
            </a:r>
          </a:p>
          <a:p>
            <a:pPr lvl="1"/>
            <a:r>
              <a:rPr lang="en-US" sz="1700" dirty="0"/>
              <a:t>LLMs generate text by predicting words</a:t>
            </a:r>
          </a:p>
          <a:p>
            <a:pPr lvl="2"/>
            <a:r>
              <a:rPr lang="en-US" sz="1400" dirty="0"/>
              <a:t>By predicting the next word over and over again</a:t>
            </a:r>
          </a:p>
          <a:p>
            <a:pPr marL="150813" lvl="1" indent="0">
              <a:buNone/>
            </a:pPr>
            <a:endParaRPr lang="en-US" dirty="0">
              <a:solidFill>
                <a:srgbClr val="0200FF"/>
              </a:solidFill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65188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b="1" dirty="0">
                <a:solidFill>
                  <a:srgbClr val="FF0000"/>
                </a:solidFill>
              </a:rPr>
              <a:t>General Language Modeling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b="1" dirty="0">
                <a:latin typeface="Calibri" charset="0"/>
              </a:rPr>
              <a:t>Goal:</a:t>
            </a:r>
            <a:r>
              <a:rPr lang="en-US" sz="2800" dirty="0">
                <a:latin typeface="Calibri" charset="0"/>
              </a:rPr>
              <a:t> Compute the probability of a sentence W or sequence of words w</a:t>
            </a:r>
            <a:r>
              <a:rPr lang="en-US" sz="2800" baseline="-25000" dirty="0">
                <a:latin typeface="Calibri" charset="0"/>
              </a:rPr>
              <a:t>1</a:t>
            </a:r>
            <a:r>
              <a:rPr lang="en-US" sz="2800" dirty="0">
                <a:latin typeface="Calibri" charset="0"/>
              </a:rPr>
              <a:t>,w</a:t>
            </a:r>
            <a:r>
              <a:rPr lang="en-US" sz="2800" baseline="-25000" dirty="0">
                <a:latin typeface="Calibri" charset="0"/>
              </a:rPr>
              <a:t>2</a:t>
            </a:r>
            <a:r>
              <a:rPr lang="en-US" sz="2800" dirty="0">
                <a:latin typeface="Calibri" charset="0"/>
              </a:rPr>
              <a:t>,w</a:t>
            </a:r>
            <a:r>
              <a:rPr lang="en-US" sz="2800" baseline="-25000" dirty="0">
                <a:latin typeface="Calibri" charset="0"/>
              </a:rPr>
              <a:t>3</a:t>
            </a:r>
            <a:r>
              <a:rPr lang="en-US" sz="2800" dirty="0">
                <a:latin typeface="Calibri" charset="0"/>
              </a:rPr>
              <a:t>,w</a:t>
            </a:r>
            <a:r>
              <a:rPr lang="en-US" sz="2800" baseline="-25000" dirty="0">
                <a:latin typeface="Calibri" charset="0"/>
              </a:rPr>
              <a:t>4</a:t>
            </a:r>
            <a:r>
              <a:rPr lang="en-US" sz="2800" dirty="0">
                <a:latin typeface="Calibri" charset="0"/>
              </a:rPr>
              <a:t>,w</a:t>
            </a:r>
            <a:r>
              <a:rPr lang="en-US" sz="2800" baseline="-25000" dirty="0">
                <a:latin typeface="Calibri" charset="0"/>
              </a:rPr>
              <a:t>5</a:t>
            </a:r>
            <a:r>
              <a:rPr lang="en-US" sz="2800" dirty="0">
                <a:latin typeface="Calibri" charset="0"/>
              </a:rPr>
              <a:t>…</a:t>
            </a:r>
            <a:r>
              <a:rPr lang="en-US" sz="2800" dirty="0" err="1">
                <a:latin typeface="Calibri" charset="0"/>
              </a:rPr>
              <a:t>w</a:t>
            </a:r>
            <a:r>
              <a:rPr lang="en-US" sz="2800" baseline="-25000" dirty="0" err="1">
                <a:latin typeface="Calibri" charset="0"/>
              </a:rPr>
              <a:t>n</a:t>
            </a:r>
            <a:r>
              <a:rPr lang="en-US" sz="2800" dirty="0">
                <a:latin typeface="Calibri" charset="0"/>
              </a:rPr>
              <a:t> :</a:t>
            </a:r>
          </a:p>
          <a:p>
            <a:pPr lvl="1">
              <a:buNone/>
            </a:pPr>
            <a:r>
              <a:rPr lang="en-US" dirty="0">
                <a:latin typeface="Calibri" charset="0"/>
              </a:rPr>
              <a:t>     P(W) = P(w</a:t>
            </a:r>
            <a:r>
              <a:rPr lang="en-US" baseline="-25000" dirty="0">
                <a:latin typeface="Calibri" charset="0"/>
              </a:rPr>
              <a:t>1</a:t>
            </a:r>
            <a:r>
              <a:rPr lang="en-US" dirty="0">
                <a:latin typeface="Calibri" charset="0"/>
              </a:rPr>
              <a:t>,w</a:t>
            </a:r>
            <a:r>
              <a:rPr lang="en-US" baseline="-25000" dirty="0">
                <a:latin typeface="Calibri" charset="0"/>
              </a:rPr>
              <a:t>2</a:t>
            </a:r>
            <a:r>
              <a:rPr lang="en-US" dirty="0">
                <a:latin typeface="Calibri" charset="0"/>
              </a:rPr>
              <a:t>,w</a:t>
            </a:r>
            <a:r>
              <a:rPr lang="en-US" baseline="-25000" dirty="0">
                <a:latin typeface="Calibri" charset="0"/>
              </a:rPr>
              <a:t>3</a:t>
            </a:r>
            <a:r>
              <a:rPr lang="en-US" dirty="0">
                <a:latin typeface="Calibri" charset="0"/>
              </a:rPr>
              <a:t>,w</a:t>
            </a:r>
            <a:r>
              <a:rPr lang="en-US" baseline="-25000" dirty="0">
                <a:latin typeface="Calibri" charset="0"/>
              </a:rPr>
              <a:t>4</a:t>
            </a:r>
            <a:r>
              <a:rPr lang="en-US" dirty="0">
                <a:latin typeface="Calibri" charset="0"/>
              </a:rPr>
              <a:t>,w</a:t>
            </a:r>
            <a:r>
              <a:rPr lang="en-US" baseline="-25000" dirty="0">
                <a:latin typeface="Calibri" charset="0"/>
              </a:rPr>
              <a:t>5</a:t>
            </a:r>
            <a:r>
              <a:rPr lang="en-US" dirty="0">
                <a:latin typeface="Calibri" charset="0"/>
              </a:rPr>
              <a:t>,…,</a:t>
            </a:r>
            <a:r>
              <a:rPr lang="en-US" dirty="0" err="1">
                <a:latin typeface="Calibri" charset="0"/>
              </a:rPr>
              <a:t>w</a:t>
            </a:r>
            <a:r>
              <a:rPr lang="en-US" baseline="-25000" dirty="0" err="1">
                <a:latin typeface="Calibri" charset="0"/>
              </a:rPr>
              <a:t>n</a:t>
            </a:r>
            <a:r>
              <a:rPr lang="en-US" dirty="0">
                <a:latin typeface="Calibri" charset="0"/>
              </a:rPr>
              <a:t>) = P(w</a:t>
            </a:r>
            <a:r>
              <a:rPr lang="en-US" baseline="-25000" dirty="0">
                <a:latin typeface="Calibri" charset="0"/>
              </a:rPr>
              <a:t>1:n</a:t>
            </a:r>
            <a:r>
              <a:rPr lang="en-US" dirty="0">
                <a:latin typeface="Calibri" charset="0"/>
              </a:rPr>
              <a:t>)</a:t>
            </a:r>
          </a:p>
          <a:p>
            <a:pPr eaLnBrk="1" hangingPunct="1"/>
            <a:r>
              <a:rPr lang="en-US" sz="2800" b="1" dirty="0">
                <a:latin typeface="Calibri" charset="0"/>
              </a:rPr>
              <a:t>OR</a:t>
            </a:r>
            <a:r>
              <a:rPr lang="en-US" sz="2800" dirty="0">
                <a:latin typeface="Calibri" charset="0"/>
              </a:rPr>
              <a:t> probability of an upcoming next word:</a:t>
            </a:r>
          </a:p>
          <a:p>
            <a:pPr lvl="1">
              <a:buNone/>
            </a:pPr>
            <a:r>
              <a:rPr lang="en-US" dirty="0">
                <a:latin typeface="Calibri" charset="0"/>
              </a:rPr>
              <a:t>		P(w</a:t>
            </a:r>
            <a:r>
              <a:rPr lang="en-US" baseline="-25000" dirty="0">
                <a:latin typeface="Calibri" charset="0"/>
              </a:rPr>
              <a:t>n</a:t>
            </a:r>
            <a:r>
              <a:rPr lang="en-US" dirty="0">
                <a:latin typeface="Calibri" charset="0"/>
              </a:rPr>
              <a:t>|w</a:t>
            </a:r>
            <a:r>
              <a:rPr lang="en-US" baseline="-25000" dirty="0">
                <a:latin typeface="Calibri" charset="0"/>
              </a:rPr>
              <a:t>1</a:t>
            </a:r>
            <a:r>
              <a:rPr lang="en-US" dirty="0">
                <a:latin typeface="Calibri" charset="0"/>
              </a:rPr>
              <a:t>,w</a:t>
            </a:r>
            <a:r>
              <a:rPr lang="en-US" baseline="-25000" dirty="0">
                <a:latin typeface="Calibri" charset="0"/>
              </a:rPr>
              <a:t>2</a:t>
            </a:r>
            <a:r>
              <a:rPr lang="en-US" dirty="0">
                <a:latin typeface="Calibri" charset="0"/>
              </a:rPr>
              <a:t>,…,w</a:t>
            </a:r>
            <a:r>
              <a:rPr lang="en-US" baseline="-25000" dirty="0">
                <a:latin typeface="Calibri" charset="0"/>
              </a:rPr>
              <a:t>n-1</a:t>
            </a:r>
            <a:r>
              <a:rPr lang="en-US" dirty="0">
                <a:latin typeface="Calibri" charset="0"/>
              </a:rPr>
              <a:t>) = P(w</a:t>
            </a:r>
            <a:r>
              <a:rPr lang="en-US" baseline="-25000" dirty="0">
                <a:latin typeface="Calibri" charset="0"/>
              </a:rPr>
              <a:t>n</a:t>
            </a:r>
            <a:r>
              <a:rPr lang="en-US" dirty="0">
                <a:latin typeface="Calibri" charset="0"/>
              </a:rPr>
              <a:t>|w</a:t>
            </a:r>
            <a:r>
              <a:rPr lang="en-US" baseline="-25000" dirty="0">
                <a:latin typeface="Calibri" charset="0"/>
              </a:rPr>
              <a:t>1:n-1</a:t>
            </a:r>
            <a:r>
              <a:rPr lang="en-US" dirty="0">
                <a:latin typeface="Calibri" charset="0"/>
              </a:rPr>
              <a:t>)</a:t>
            </a:r>
          </a:p>
          <a:p>
            <a:pPr lvl="1">
              <a:buNone/>
            </a:pPr>
            <a:endParaRPr lang="en-US" dirty="0">
              <a:latin typeface="Calibri" charset="0"/>
            </a:endParaRPr>
          </a:p>
          <a:p>
            <a:pPr eaLnBrk="1" hangingPunct="1"/>
            <a:r>
              <a:rPr lang="en-US" dirty="0">
                <a:latin typeface="Calibri" charset="0"/>
              </a:rPr>
              <a:t>An LM </a:t>
            </a:r>
            <a:r>
              <a:rPr lang="en-US" sz="2800" dirty="0">
                <a:latin typeface="Calibri" charset="0"/>
              </a:rPr>
              <a:t>computes either of these:</a:t>
            </a:r>
          </a:p>
          <a:p>
            <a:pPr lvl="1">
              <a:buNone/>
            </a:pPr>
            <a:r>
              <a:rPr lang="en-US" dirty="0">
                <a:latin typeface="Calibri" charset="0"/>
              </a:rPr>
              <a:t>          P(W)  ( </a:t>
            </a:r>
            <a:r>
              <a:rPr lang="en-US" i="1" dirty="0">
                <a:latin typeface="Calibri" charset="0"/>
              </a:rPr>
              <a:t>i.e.</a:t>
            </a:r>
            <a:r>
              <a:rPr lang="en-US" dirty="0">
                <a:latin typeface="Calibri" charset="0"/>
              </a:rPr>
              <a:t> P(w</a:t>
            </a:r>
            <a:r>
              <a:rPr lang="en-US" baseline="-25000" dirty="0">
                <a:latin typeface="Calibri" charset="0"/>
              </a:rPr>
              <a:t>1:n</a:t>
            </a:r>
            <a:r>
              <a:rPr lang="en-US" dirty="0">
                <a:latin typeface="Calibri" charset="0"/>
              </a:rPr>
              <a:t>))</a:t>
            </a:r>
          </a:p>
          <a:p>
            <a:pPr lvl="1">
              <a:buNone/>
            </a:pPr>
            <a:r>
              <a:rPr lang="en-US" dirty="0">
                <a:latin typeface="Calibri" charset="0"/>
              </a:rPr>
              <a:t>   </a:t>
            </a:r>
            <a:r>
              <a:rPr lang="en-US" b="1" dirty="0">
                <a:latin typeface="Calibri" charset="0"/>
              </a:rPr>
              <a:t>OR</a:t>
            </a:r>
            <a:r>
              <a:rPr lang="en-US" dirty="0">
                <a:latin typeface="Calibri" charset="0"/>
              </a:rPr>
              <a:t> P(w</a:t>
            </a:r>
            <a:r>
              <a:rPr lang="en-US" baseline="-25000" dirty="0">
                <a:latin typeface="Calibri" charset="0"/>
              </a:rPr>
              <a:t>n</a:t>
            </a:r>
            <a:r>
              <a:rPr lang="en-US" dirty="0">
                <a:latin typeface="Calibri" charset="0"/>
              </a:rPr>
              <a:t>|w</a:t>
            </a:r>
            <a:r>
              <a:rPr lang="en-US" baseline="-25000" dirty="0">
                <a:latin typeface="Calibri" charset="0"/>
              </a:rPr>
              <a:t>1</a:t>
            </a:r>
            <a:r>
              <a:rPr lang="en-US" dirty="0">
                <a:latin typeface="Calibri" charset="0"/>
              </a:rPr>
              <a:t>,w</a:t>
            </a:r>
            <a:r>
              <a:rPr lang="en-US" baseline="-25000" dirty="0">
                <a:latin typeface="Calibri" charset="0"/>
              </a:rPr>
              <a:t>2</a:t>
            </a:r>
            <a:r>
              <a:rPr lang="en-US" sz="2400" dirty="0">
                <a:latin typeface="Calibri" charset="0"/>
              </a:rPr>
              <a:t>,</a:t>
            </a:r>
            <a:r>
              <a:rPr lang="en-US" dirty="0">
                <a:latin typeface="Calibri" charset="0"/>
              </a:rPr>
              <a:t>…,w</a:t>
            </a:r>
            <a:r>
              <a:rPr lang="en-US" baseline="-25000" dirty="0">
                <a:latin typeface="Calibri" charset="0"/>
              </a:rPr>
              <a:t>n-1</a:t>
            </a:r>
            <a:r>
              <a:rPr lang="en-US" dirty="0">
                <a:latin typeface="Calibri" charset="0"/>
              </a:rPr>
              <a:t>) </a:t>
            </a:r>
            <a:r>
              <a:rPr lang="en-US" sz="2400" dirty="0">
                <a:latin typeface="Calibri" charset="0"/>
              </a:rPr>
              <a:t>( </a:t>
            </a:r>
            <a:r>
              <a:rPr lang="en-US" sz="2400" i="1" dirty="0">
                <a:latin typeface="Calibri" charset="0"/>
              </a:rPr>
              <a:t>i.e.</a:t>
            </a:r>
            <a:r>
              <a:rPr lang="en-US" sz="2400" dirty="0">
                <a:latin typeface="Calibri" charset="0"/>
              </a:rPr>
              <a:t> P(w</a:t>
            </a:r>
            <a:r>
              <a:rPr lang="en-US" sz="2400" baseline="-25000" dirty="0">
                <a:latin typeface="Calibri" charset="0"/>
              </a:rPr>
              <a:t>n</a:t>
            </a:r>
            <a:r>
              <a:rPr lang="en-US" sz="2400" dirty="0">
                <a:latin typeface="Calibri" charset="0"/>
              </a:rPr>
              <a:t>|w</a:t>
            </a:r>
            <a:r>
              <a:rPr lang="en-US" sz="2400" baseline="-25000" dirty="0">
                <a:latin typeface="Calibri" charset="0"/>
              </a:rPr>
              <a:t>1:n-1</a:t>
            </a:r>
            <a:r>
              <a:rPr lang="en-US" sz="2400" dirty="0">
                <a:latin typeface="Calibri" charset="0"/>
              </a:rPr>
              <a:t>))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9F53C331-C00A-E5A8-BB45-CE20B7FAAEC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3009122" y="1643354"/>
              <a:ext cx="2286000" cy="1714500"/>
            </p:xfrm>
            <a:graphic>
              <a:graphicData uri="http://schemas.microsoft.com/office/powerpoint/2016/slidezoom">
                <pslz:sldZm>
                  <pslz:sldZmObj sldId="386" cId="2586377199">
                    <pslz:zmPr id="{E2261F15-84A5-4145-966E-9E97EE5262F1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Slide Zoom 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9F53C331-C00A-E5A8-BB45-CE20B7FAAEC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3009122" y="1643354"/>
                <a:ext cx="2286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6377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685800"/>
            <a:ext cx="7543800" cy="85184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How to compute P(W)  or P(w</a:t>
            </a:r>
            <a:r>
              <a:rPr lang="en-US" b="1" baseline="-25000" dirty="0">
                <a:solidFill>
                  <a:srgbClr val="FF0000"/>
                </a:solidFill>
              </a:rPr>
              <a:t>n</a:t>
            </a:r>
            <a:r>
              <a:rPr lang="en-US" b="1" dirty="0">
                <a:solidFill>
                  <a:srgbClr val="FF0000"/>
                </a:solidFill>
              </a:rPr>
              <a:t>|w</a:t>
            </a:r>
            <a:r>
              <a:rPr lang="en-US" b="1" baseline="-25000" dirty="0">
                <a:solidFill>
                  <a:srgbClr val="FF0000"/>
                </a:solidFill>
              </a:rPr>
              <a:t>1</a:t>
            </a:r>
            <a:r>
              <a:rPr lang="en-US" b="1" dirty="0">
                <a:solidFill>
                  <a:srgbClr val="FF0000"/>
                </a:solidFill>
              </a:rPr>
              <a:t>, …,w</a:t>
            </a:r>
            <a:r>
              <a:rPr lang="en-US" b="1" baseline="-25000" dirty="0">
                <a:solidFill>
                  <a:srgbClr val="FF0000"/>
                </a:solidFill>
              </a:rPr>
              <a:t>n-1</a:t>
            </a:r>
            <a:r>
              <a:rPr lang="en-US" b="1" dirty="0">
                <a:solidFill>
                  <a:srgbClr val="FF0000"/>
                </a:solidFill>
              </a:rPr>
              <a:t>) ?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>
          <a:xfrm>
            <a:off x="822960" y="2362200"/>
            <a:ext cx="8016240" cy="3276600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latin typeface="Calibri" charset="0"/>
              </a:rPr>
              <a:t>The joint probability P(W) = P(w</a:t>
            </a:r>
            <a:r>
              <a:rPr lang="en-US" baseline="-25000" dirty="0">
                <a:latin typeface="Calibri" charset="0"/>
              </a:rPr>
              <a:t>1</a:t>
            </a:r>
            <a:r>
              <a:rPr lang="en-US" dirty="0">
                <a:latin typeface="Calibri" charset="0"/>
              </a:rPr>
              <a:t>,w</a:t>
            </a:r>
            <a:r>
              <a:rPr lang="en-US" baseline="-25000" dirty="0">
                <a:latin typeface="Calibri" charset="0"/>
              </a:rPr>
              <a:t>2</a:t>
            </a:r>
            <a:r>
              <a:rPr lang="en-US" dirty="0">
                <a:latin typeface="Calibri" charset="0"/>
              </a:rPr>
              <a:t>,w</a:t>
            </a:r>
            <a:r>
              <a:rPr lang="en-US" baseline="-25000" dirty="0">
                <a:latin typeface="Calibri" charset="0"/>
              </a:rPr>
              <a:t>3</a:t>
            </a:r>
            <a:r>
              <a:rPr lang="en-US" dirty="0">
                <a:latin typeface="Calibri" charset="0"/>
              </a:rPr>
              <a:t>,w</a:t>
            </a:r>
            <a:r>
              <a:rPr lang="en-US" baseline="-25000" dirty="0">
                <a:latin typeface="Calibri" charset="0"/>
              </a:rPr>
              <a:t>4</a:t>
            </a:r>
            <a:r>
              <a:rPr lang="en-US" dirty="0">
                <a:latin typeface="Calibri" charset="0"/>
              </a:rPr>
              <a:t>,w</a:t>
            </a:r>
            <a:r>
              <a:rPr lang="en-US" baseline="-25000" dirty="0">
                <a:latin typeface="Calibri" charset="0"/>
              </a:rPr>
              <a:t>5</a:t>
            </a:r>
            <a:r>
              <a:rPr lang="en-US" dirty="0">
                <a:latin typeface="Calibri" charset="0"/>
              </a:rPr>
              <a:t>…</a:t>
            </a:r>
            <a:r>
              <a:rPr lang="en-US" dirty="0" err="1">
                <a:latin typeface="Calibri" charset="0"/>
              </a:rPr>
              <a:t>w</a:t>
            </a:r>
            <a:r>
              <a:rPr lang="en-US" baseline="-25000" dirty="0" err="1">
                <a:latin typeface="Calibri" charset="0"/>
              </a:rPr>
              <a:t>n</a:t>
            </a:r>
            <a:r>
              <a:rPr lang="en-US" dirty="0">
                <a:latin typeface="Calibri" charset="0"/>
              </a:rPr>
              <a:t>) = P(w</a:t>
            </a:r>
            <a:r>
              <a:rPr lang="en-US" baseline="-25000" dirty="0">
                <a:latin typeface="Calibri" charset="0"/>
              </a:rPr>
              <a:t>1:n</a:t>
            </a:r>
            <a:r>
              <a:rPr lang="en-US" dirty="0">
                <a:latin typeface="Calibri" charset="0"/>
              </a:rPr>
              <a:t>)</a:t>
            </a:r>
          </a:p>
          <a:p>
            <a:pPr marL="0" indent="0" eaLnBrk="1" hangingPunct="1">
              <a:buNone/>
            </a:pPr>
            <a:r>
              <a:rPr lang="en-US" dirty="0">
                <a:latin typeface="Calibri" charset="0"/>
              </a:rPr>
              <a:t>	Rely on the Chain Rule of Probability</a:t>
            </a:r>
          </a:p>
          <a:p>
            <a:r>
              <a:rPr lang="en-US" b="1" dirty="0">
                <a:solidFill>
                  <a:srgbClr val="FF0000"/>
                </a:solidFill>
              </a:rPr>
              <a:t>Reminder: The Chain Rule</a:t>
            </a:r>
          </a:p>
          <a:p>
            <a:r>
              <a:rPr lang="en-US" sz="2800" dirty="0">
                <a:latin typeface="Calibri" charset="0"/>
              </a:rPr>
              <a:t>Recall the definition of conditional probabilities</a:t>
            </a:r>
            <a:endParaRPr lang="en-US" sz="3600" dirty="0">
              <a:latin typeface="Calibri" charset="0"/>
            </a:endParaRPr>
          </a:p>
          <a:p>
            <a:pPr marL="457200" lvl="1" indent="0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B|A) = P(A,B)/P(A)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3100" dirty="0">
                <a:latin typeface="Calibri" charset="0"/>
              </a:rPr>
              <a:t>Rewriting:</a:t>
            </a:r>
            <a:r>
              <a:rPr lang="en-US" dirty="0">
                <a:latin typeface="Calibri" charset="0"/>
              </a:rPr>
              <a:t>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P(A,B) = P(A) P(B|A)</a:t>
            </a:r>
          </a:p>
          <a:p>
            <a:r>
              <a:rPr lang="en-US" sz="2800" dirty="0">
                <a:latin typeface="Calibri" charset="0"/>
              </a:rPr>
              <a:t>More variables:</a:t>
            </a:r>
          </a:p>
          <a:p>
            <a:pPr marL="457200" lvl="1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P(A,B,C,D) = P(A) P(B|A) P(C|A,B) P(D|A,B,C)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Calibri" charset="0"/>
              </a:rPr>
              <a:t>The Chain Rule in General:</a:t>
            </a:r>
          </a:p>
          <a:p>
            <a:pP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P(w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,w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,w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,…,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P(w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800" dirty="0">
              <a:latin typeface="Calibri" charset="0"/>
            </a:endParaRPr>
          </a:p>
          <a:p>
            <a:pP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= P(w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)P(w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|w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)P(w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|w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,w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)…P(w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|w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,…,w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P(w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)P(w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|w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)P(w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|w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)…P(w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|w</a:t>
            </a:r>
            <a:r>
              <a:rPr 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1:n-1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6253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690245" y="538803"/>
            <a:ext cx="7543800" cy="68039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600" b="1" dirty="0">
                <a:solidFill>
                  <a:srgbClr val="FF0000"/>
                </a:solidFill>
              </a:rPr>
              <a:t>The Chain Rule applied to compute joint probability of words in sentence: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2133600"/>
            <a:ext cx="8473440" cy="3429000"/>
          </a:xfrm>
        </p:spPr>
        <p:txBody>
          <a:bodyPr>
            <a:normAutofit/>
          </a:bodyPr>
          <a:lstStyle/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>
              <a:buNone/>
            </a:pPr>
            <a:endParaRPr lang="en-US" dirty="0">
              <a:latin typeface="Calibri" charset="0"/>
            </a:endParaRPr>
          </a:p>
          <a:p>
            <a:pPr eaLnBrk="1" hangingPunct="1">
              <a:buNone/>
            </a:pPr>
            <a:endParaRPr lang="en-US" sz="2800" dirty="0">
              <a:latin typeface="Calibri" charset="0"/>
            </a:endParaRPr>
          </a:p>
          <a:p>
            <a:pPr eaLnBrk="1" hangingPunct="1">
              <a:buNone/>
            </a:pPr>
            <a:r>
              <a:rPr lang="en-US" sz="2400" dirty="0">
                <a:latin typeface="Calibri" charset="0"/>
              </a:rPr>
              <a:t>P(“The water of Walden Pond”) =</a:t>
            </a:r>
          </a:p>
          <a:p>
            <a:pPr eaLnBrk="1" hangingPunct="1">
              <a:buFont typeface="Times" charset="0"/>
              <a:buNone/>
            </a:pPr>
            <a:r>
              <a:rPr lang="en-US" sz="2000" dirty="0">
                <a:latin typeface="Calibri" charset="0"/>
              </a:rPr>
              <a:t>	</a:t>
            </a:r>
            <a:r>
              <a:rPr lang="en-US" sz="2400" dirty="0">
                <a:solidFill>
                  <a:srgbClr val="404040"/>
                </a:solidFill>
                <a:latin typeface="Calibri" charset="0"/>
              </a:rPr>
              <a:t>P(The) × P(</a:t>
            </a:r>
            <a:r>
              <a:rPr lang="en-US" sz="2400" dirty="0" err="1">
                <a:solidFill>
                  <a:srgbClr val="404040"/>
                </a:solidFill>
                <a:latin typeface="Calibri" charset="0"/>
              </a:rPr>
              <a:t>water|The</a:t>
            </a:r>
            <a:r>
              <a:rPr lang="en-US" sz="2400" dirty="0">
                <a:solidFill>
                  <a:srgbClr val="404040"/>
                </a:solidFill>
                <a:latin typeface="Calibri" charset="0"/>
              </a:rPr>
              <a:t>) ×  P(</a:t>
            </a:r>
            <a:r>
              <a:rPr lang="en-US" sz="2400" dirty="0" err="1">
                <a:solidFill>
                  <a:srgbClr val="404040"/>
                </a:solidFill>
                <a:latin typeface="Calibri" charset="0"/>
              </a:rPr>
              <a:t>of|The</a:t>
            </a:r>
            <a:r>
              <a:rPr lang="en-US" sz="2400" dirty="0">
                <a:solidFill>
                  <a:srgbClr val="404040"/>
                </a:solidFill>
                <a:latin typeface="Calibri" charset="0"/>
              </a:rPr>
              <a:t> water) </a:t>
            </a:r>
          </a:p>
          <a:p>
            <a:pPr eaLnBrk="1" hangingPunct="1">
              <a:buFont typeface="Times" charset="0"/>
              <a:buNone/>
            </a:pPr>
            <a:r>
              <a:rPr lang="en-US" sz="2400" dirty="0">
                <a:solidFill>
                  <a:srgbClr val="404040"/>
                </a:solidFill>
                <a:latin typeface="Calibri" charset="0"/>
              </a:rPr>
              <a:t>      ×  P(</a:t>
            </a:r>
            <a:r>
              <a:rPr lang="en-US" sz="2400" dirty="0" err="1">
                <a:solidFill>
                  <a:srgbClr val="404040"/>
                </a:solidFill>
                <a:latin typeface="Calibri" charset="0"/>
              </a:rPr>
              <a:t>Walden|The</a:t>
            </a:r>
            <a:r>
              <a:rPr lang="en-US" sz="2400" dirty="0">
                <a:solidFill>
                  <a:srgbClr val="404040"/>
                </a:solidFill>
                <a:latin typeface="Calibri" charset="0"/>
              </a:rPr>
              <a:t> water of) ×  P(</a:t>
            </a:r>
            <a:r>
              <a:rPr lang="en-US" sz="2400" dirty="0" err="1">
                <a:solidFill>
                  <a:srgbClr val="404040"/>
                </a:solidFill>
                <a:latin typeface="Calibri" charset="0"/>
              </a:rPr>
              <a:t>Pond|The</a:t>
            </a:r>
            <a:r>
              <a:rPr lang="en-US" sz="2400" dirty="0">
                <a:solidFill>
                  <a:srgbClr val="404040"/>
                </a:solidFill>
                <a:latin typeface="Calibri" charset="0"/>
              </a:rPr>
              <a:t> water of Walden)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8B985C-BA86-16D2-AA52-11661078B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51" y="1828800"/>
            <a:ext cx="7270750" cy="1524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2A9ED8-D1AC-3719-7FF3-6B9734D6D4F5}"/>
              </a:ext>
            </a:extLst>
          </p:cNvPr>
          <p:cNvSpPr txBox="1"/>
          <p:nvPr/>
        </p:nvSpPr>
        <p:spPr>
          <a:xfrm>
            <a:off x="609600" y="5410200"/>
            <a:ext cx="7772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Problem: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Long conditioning histories become impossible to compute because sequences never repeat identically in finite text.</a:t>
            </a:r>
          </a:p>
        </p:txBody>
      </p:sp>
    </p:spTree>
    <p:extLst>
      <p:ext uri="{BB962C8B-B14F-4D97-AF65-F5344CB8AC3E}">
        <p14:creationId xmlns:p14="http://schemas.microsoft.com/office/powerpoint/2010/main" val="4109627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38489"/>
            <a:ext cx="7886700" cy="99417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Solution: </a:t>
            </a:r>
            <a:r>
              <a:rPr lang="en-IN" b="1" dirty="0">
                <a:solidFill>
                  <a:srgbClr val="FF0000"/>
                </a:solidFill>
              </a:rPr>
              <a:t>Markov Approximation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>
          <a:xfrm>
            <a:off x="822960" y="1765300"/>
            <a:ext cx="7940040" cy="4178300"/>
          </a:xfrm>
        </p:spPr>
        <p:txBody>
          <a:bodyPr>
            <a:normAutofit/>
          </a:bodyPr>
          <a:lstStyle/>
          <a:p>
            <a:pPr lvl="1"/>
            <a:endParaRPr lang="en-US" sz="3600" dirty="0"/>
          </a:p>
          <a:p>
            <a:pPr lvl="1" eaLnBrk="1" hangingPunct="1"/>
            <a:endParaRPr lang="en-US" sz="3600" dirty="0">
              <a:solidFill>
                <a:srgbClr val="A50021"/>
              </a:solidFill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  <a:p>
            <a:pPr eaLnBrk="1" hangingPunct="1">
              <a:buFont typeface="Wingdings" charset="2"/>
              <a:buNone/>
            </a:pPr>
            <a:endParaRPr lang="en-US" dirty="0">
              <a:latin typeface="Calibri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88EBAF3-C48F-5720-DB57-04F4CE76B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3429000"/>
            <a:ext cx="4802233" cy="7003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42FC21F-53B7-B3B6-6452-F13E6E4C3C13}"/>
                  </a:ext>
                </a:extLst>
              </p:cNvPr>
              <p:cNvSpPr txBox="1"/>
              <p:nvPr/>
            </p:nvSpPr>
            <p:spPr>
              <a:xfrm>
                <a:off x="318135" y="1524000"/>
                <a:ext cx="8949690" cy="31712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Sans" charset="0"/>
                    <a:ea typeface="+mn-ea"/>
                    <a:cs typeface="+mn-cs"/>
                  </a:rPr>
                  <a:t>Approximate context by looking back only 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𝑁</m:t>
                    </m:r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−1</m:t>
                    </m:r>
                  </m:oMath>
                </a14:m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Sans" charset="0"/>
                    <a:ea typeface="+mn-ea"/>
                    <a:cs typeface="+mn-cs"/>
                  </a:rPr>
                  <a:t>words: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I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Sans" charset="0"/>
                    <a:ea typeface="+mn-ea"/>
                    <a:cs typeface="+mn-cs"/>
                  </a:rPr>
                  <a:t>Unigram (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𝑁</m:t>
                    </m:r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=1</m:t>
                    </m:r>
                  </m:oMath>
                </a14:m>
                <a:r>
                  <a:rPr kumimoji="0" lang="en-I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Sans" charset="0"/>
                    <a:ea typeface="+mn-ea"/>
                    <a:cs typeface="+mn-cs"/>
                  </a:rPr>
                  <a:t>) Model: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Sans" charset="0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I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P</m:t>
                    </m:r>
                    <m:d>
                      <m:dPr>
                        <m:ctrlPr>
                          <a:rPr kumimoji="0" lang="en-IN" sz="1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kumimoji="0" lang="en-IN" sz="1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W</m:t>
                        </m:r>
                      </m:e>
                    </m:d>
                    <m:r>
                      <a:rPr kumimoji="0" lang="en-I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I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𝑃</m:t>
                    </m:r>
                    <m:d>
                      <m:dPr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,…,</m:t>
                        </m:r>
                        <m:sSub>
                          <m:sSubPr>
                            <m:ctrlP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≈</m:t>
                    </m:r>
                    <m:nary>
                      <m:naryPr>
                        <m:chr m:val="∏"/>
                        <m:limLoc m:val="undOvr"/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𝑘</m:t>
                        </m:r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=1</m:t>
                        </m:r>
                      </m:sub>
                      <m:sup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  <m:e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</m:e>
                    </m:nary>
                    <m:d>
                      <m:dPr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I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Sans" charset="0"/>
                    <a:ea typeface="+mn-ea"/>
                    <a:cs typeface="+mn-cs"/>
                  </a:rPr>
                  <a:t>Bigram (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𝑁</m:t>
                    </m:r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=2</m:t>
                    </m:r>
                  </m:oMath>
                </a14:m>
                <a:r>
                  <a:rPr kumimoji="0" lang="en-I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Sans" charset="0"/>
                    <a:ea typeface="+mn-ea"/>
                    <a:cs typeface="+mn-cs"/>
                  </a:rPr>
                  <a:t>) Model: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Sans" charset="0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I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P</m:t>
                    </m:r>
                    <m:d>
                      <m:dPr>
                        <m:ctrlPr>
                          <a:rPr kumimoji="0" lang="en-IN" sz="1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kumimoji="0" lang="en-IN" sz="1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W</m:t>
                        </m:r>
                      </m:e>
                    </m:d>
                    <m:r>
                      <a:rPr kumimoji="0" lang="en-I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I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𝑃</m:t>
                    </m:r>
                    <m:d>
                      <m:dPr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,…,</m:t>
                        </m:r>
                        <m:sSub>
                          <m:sSubPr>
                            <m:ctrlP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≈</m:t>
                    </m:r>
                    <m:nary>
                      <m:naryPr>
                        <m:chr m:val="∏"/>
                        <m:limLoc m:val="undOvr"/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𝑘</m:t>
                        </m:r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=1</m:t>
                        </m:r>
                      </m:sub>
                      <m:sup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  <m:e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</m:e>
                    </m:nary>
                    <m:d>
                      <m:dPr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𝑘</m:t>
                            </m:r>
                          </m:sub>
                        </m:sSub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∣</m:t>
                        </m:r>
                        <m:sSub>
                          <m:sSubPr>
                            <m:ctrlP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𝑘</m:t>
                            </m:r>
                            <m: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ucida Sans" charset="0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I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Sans" charset="0"/>
                    <a:ea typeface="+mn-ea"/>
                    <a:cs typeface="+mn-cs"/>
                  </a:rPr>
                  <a:t>Trigram (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𝑁</m:t>
                    </m:r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=3</m:t>
                    </m:r>
                  </m:oMath>
                </a14:m>
                <a:r>
                  <a:rPr kumimoji="0" lang="en-I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Sans" charset="0"/>
                    <a:ea typeface="+mn-ea"/>
                    <a:cs typeface="+mn-cs"/>
                  </a:rPr>
                  <a:t>) Model: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ucida Sans" charset="0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I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P</m:t>
                    </m:r>
                    <m:d>
                      <m:dPr>
                        <m:ctrlPr>
                          <a:rPr kumimoji="0" lang="en-IN" sz="1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kumimoji="0" lang="en-IN" sz="1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W</m:t>
                        </m:r>
                      </m:e>
                    </m:d>
                    <m:r>
                      <a:rPr kumimoji="0" lang="en-I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I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𝑃</m:t>
                    </m:r>
                    <m:d>
                      <m:dPr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,…,</m:t>
                        </m:r>
                        <m:sSub>
                          <m:sSubPr>
                            <m:ctrlP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≈</m:t>
                    </m:r>
                    <m:nary>
                      <m:naryPr>
                        <m:chr m:val="∏"/>
                        <m:limLoc m:val="undOvr"/>
                        <m:ctrlP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a:rPr kumimoji="0" lang="en-I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𝑘</m:t>
                        </m:r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=1</m:t>
                        </m:r>
                      </m:sub>
                      <m:sup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  <m:e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</m:e>
                    </m:nary>
                    <m:d>
                      <m:dPr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𝑘</m:t>
                            </m:r>
                          </m:sub>
                        </m:sSub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∣</m:t>
                        </m:r>
                        <m:sSub>
                          <m:sSubPr>
                            <m:ctrlP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𝑘</m:t>
                            </m:r>
                            <m: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−2</m:t>
                            </m:r>
                          </m:sub>
                        </m:sSub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sSub>
                          <m:sSubPr>
                            <m:ctrlP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𝑘</m:t>
                            </m:r>
                            <m: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ogle Sans Text"/>
                  <a:ea typeface="+mn-ea"/>
                  <a:cs typeface="+mn-cs"/>
                </a:endParaRPr>
              </a:p>
              <a:p>
                <a:pPr marL="2286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General N-gram model:</a:t>
                </a: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3429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Approximate context by looking back only 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𝑁</m:t>
                    </m:r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−1</m:t>
                    </m:r>
                  </m:oMath>
                </a14:m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words:</a:t>
                </a:r>
              </a:p>
              <a:p>
                <a:pPr marL="3429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3429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3429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N-gram (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𝑁</m:t>
                    </m:r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m:rPr>
                        <m:sty m:val="p"/>
                      </m:rP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N</m:t>
                    </m:r>
                  </m:oMath>
                </a14:m>
                <a:r>
                  <a:rPr kumimoji="0" lang="en-I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) Language Model: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IN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P</m:t>
                    </m:r>
                    <m:d>
                      <m:dPr>
                        <m:ctrlPr>
                          <a:rPr kumimoji="0" lang="en-IN" sz="1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kumimoji="0" lang="en-IN" sz="18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W</m:t>
                        </m:r>
                      </m:e>
                    </m:d>
                    <m:r>
                      <a:rPr kumimoji="0" lang="en-IN" sz="1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I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𝑃</m:t>
                    </m:r>
                    <m:d>
                      <m:dPr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,…,</m:t>
                        </m:r>
                        <m:sSub>
                          <m:sSubPr>
                            <m:ctrlP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≈</m:t>
                    </m:r>
                    <m:nary>
                      <m:naryPr>
                        <m:chr m:val="∏"/>
                        <m:limLoc m:val="undOvr"/>
                        <m:ctrl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/>
                          </m:r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k</m:t>
                        </m:r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=1</m:t>
                        </m:r>
                      </m:sub>
                      <m:sup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</m:sup>
                      <m:e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</m:e>
                    </m:nary>
                    <m:d>
                      <m:dPr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𝑘</m:t>
                            </m:r>
                          </m:sub>
                        </m:sSub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∣</m:t>
                        </m:r>
                        <m:sSub>
                          <m:sSubPr>
                            <m:ctrlP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𝑘</m:t>
                            </m:r>
                            <m: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N</m:t>
                            </m:r>
                            <m: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+1:</m:t>
                            </m:r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𝑘</m:t>
                            </m:r>
                            <m: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ogle Sans Text"/>
                  <a:ea typeface="+mn-ea"/>
                  <a:cs typeface="+mn-cs"/>
                </a:endParaRPr>
              </a:p>
              <a:p>
                <a:pPr marL="3429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ogle Sans Tex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42FC21F-53B7-B3B6-6452-F13E6E4C3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135" y="1524000"/>
                <a:ext cx="8949690" cy="3171253"/>
              </a:xfrm>
              <a:prstGeom prst="rect">
                <a:avLst/>
              </a:prstGeom>
              <a:blipFill>
                <a:blip r:embed="rId4"/>
                <a:stretch>
                  <a:fillRect l="-613" t="-769" b="-121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1689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B9293-03E9-44EC-B7E4-C2168CC81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17526-67C4-EEDF-7FB6-E041DC1C5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751" y="-76200"/>
            <a:ext cx="8229600" cy="808037"/>
          </a:xfrm>
        </p:spPr>
        <p:txBody>
          <a:bodyPr/>
          <a:lstStyle/>
          <a:p>
            <a:r>
              <a:rPr lang="en-IN" dirty="0"/>
              <a:t>Language Models: N-grams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D3DE9-09C1-22CE-D9CE-23302A143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31838"/>
            <a:ext cx="8229600" cy="551656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N-gram language model predicts the probability of the next word given (N-1) previous words:</a:t>
            </a:r>
          </a:p>
          <a:p>
            <a:pPr lvl="1"/>
            <a:r>
              <a:rPr lang="en-IN" dirty="0"/>
              <a:t>N=1 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/>
              <a:t>Unigram</a:t>
            </a:r>
          </a:p>
          <a:p>
            <a:pPr lvl="1"/>
            <a:r>
              <a:rPr lang="en-IN" dirty="0"/>
              <a:t>N=2  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/>
              <a:t>Bigram</a:t>
            </a:r>
          </a:p>
          <a:p>
            <a:pPr lvl="1"/>
            <a:r>
              <a:rPr lang="en-IN" dirty="0"/>
              <a:t>N=3 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/>
              <a:t>Trigram</a:t>
            </a:r>
          </a:p>
          <a:p>
            <a:endParaRPr lang="en-IN" dirty="0"/>
          </a:p>
          <a:p>
            <a:r>
              <a:rPr lang="en-IN" dirty="0"/>
              <a:t>Example:</a:t>
            </a:r>
          </a:p>
          <a:p>
            <a:pPr lvl="1"/>
            <a:r>
              <a:rPr lang="en-IN" dirty="0"/>
              <a:t>"I love natural language processing”</a:t>
            </a:r>
          </a:p>
          <a:p>
            <a:r>
              <a:rPr lang="en-IN" dirty="0"/>
              <a:t>Unigrams (N=1):</a:t>
            </a:r>
          </a:p>
          <a:p>
            <a:pPr lvl="1"/>
            <a:r>
              <a:rPr lang="en-IN" dirty="0"/>
              <a:t>[ "I", "love", "natural", "language", "processing" ]</a:t>
            </a:r>
          </a:p>
          <a:p>
            <a:r>
              <a:rPr lang="en-IN" dirty="0"/>
              <a:t>Bigrams (N=2):</a:t>
            </a:r>
          </a:p>
          <a:p>
            <a:pPr lvl="1"/>
            <a:r>
              <a:rPr lang="en-IN" dirty="0"/>
              <a:t>[ "I love", "love natural", "natural language", "language processing" ]</a:t>
            </a:r>
          </a:p>
          <a:p>
            <a:r>
              <a:rPr lang="en-IN" dirty="0"/>
              <a:t>Trigrams (N=3):</a:t>
            </a:r>
          </a:p>
          <a:p>
            <a:pPr lvl="1"/>
            <a:r>
              <a:rPr lang="en-IN" dirty="0"/>
              <a:t>[ "I love natural", "love natural language", "natural language processing" 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44C53-8BE5-6DD3-1A83-DB3F9F581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01/Sep/2026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44047-1DA3-B21E-C966-039277C87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39239-78F7-836E-EE3A-D49DC3C7D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3175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7" name="Rectangle 2"/>
          <p:cNvSpPr>
            <a:spLocks noGrp="1" noChangeArrowheads="1"/>
          </p:cNvSpPr>
          <p:nvPr>
            <p:ph type="title"/>
          </p:nvPr>
        </p:nvSpPr>
        <p:spPr>
          <a:xfrm>
            <a:off x="286139" y="152400"/>
            <a:ext cx="8839200" cy="99417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Estimating probabilities using Maximum Likelihood Estimation (MLE)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878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57200" y="1295400"/>
                <a:ext cx="8382000" cy="5562600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IN" dirty="0"/>
                  <a:t>Calculate relative frequency counts from a training corpus:</a:t>
                </a:r>
              </a:p>
              <a:p>
                <a:pPr lvl="0"/>
                <a:r>
                  <a:rPr lang="en-IN" b="1" dirty="0"/>
                  <a:t>Unigram (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b="1" dirty="0"/>
                  <a:t>):</a:t>
                </a:r>
                <a:endParaRPr lang="en-IN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𝑀𝐿𝐸</m:t>
                        </m:r>
                      </m:sub>
                    </m:sSub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𝑡𝑜𝑡𝑎𝑙</m:t>
                            </m:r>
                          </m:sub>
                        </m:sSub>
                      </m:den>
                    </m:f>
                  </m:oMath>
                </a14:m>
                <a:endParaRPr lang="en-IN" dirty="0"/>
              </a:p>
              <a:p>
                <a:pPr lvl="1"/>
                <a:r>
                  <a:rPr lang="en-IN" i="1" dirty="0"/>
                  <a:t>(where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</m:oMath>
                </a14:m>
                <a:r>
                  <a:rPr lang="en-IN" i="1" dirty="0"/>
                  <a:t>is the total number of tokens in the corpus).</a:t>
                </a:r>
                <a:endParaRPr lang="en-IN" dirty="0"/>
              </a:p>
              <a:p>
                <a:pPr lvl="0"/>
                <a:r>
                  <a:rPr lang="en-IN" b="1" dirty="0"/>
                  <a:t>Bigram (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IN" b="1" dirty="0"/>
                  <a:t>):</a:t>
                </a:r>
                <a:endParaRPr lang="en-IN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𝑀𝐿𝐸</m:t>
                        </m:r>
                      </m:sub>
                    </m:sSub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IN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IN" dirty="0"/>
              </a:p>
              <a:p>
                <a:pPr lvl="0"/>
                <a:r>
                  <a:rPr lang="en-IN" b="1" dirty="0"/>
                  <a:t>Trigram (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IN" b="1" dirty="0"/>
                  <a:t>):</a:t>
                </a:r>
                <a:endParaRPr lang="en-IN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𝑀𝐿𝐸</m:t>
                        </m:r>
                      </m:sub>
                    </m:sSub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IN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en-IN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sub>
                            </m:s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sub>
                            </m:s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IN" dirty="0"/>
              </a:p>
              <a:p>
                <a:r>
                  <a:rPr lang="en-IN" b="1" dirty="0"/>
                  <a:t>N-gram (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IN" b="1" dirty="0"/>
                  <a:t>):</a:t>
                </a:r>
                <a:endParaRPr lang="en-IN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𝑀𝐿𝐸</m:t>
                        </m:r>
                      </m:sub>
                    </m:sSub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IN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+1</m:t>
                            </m:r>
                            <m:r>
                              <a:rPr lang="en-IN" b="0" i="0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/>
                        </m:sSubSup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  <m:sup/>
                            </m:sSubSup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  <m:sup/>
                            </m:sSubSup>
                          </m:e>
                        </m:d>
                      </m:den>
                    </m:f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/>
                            </m:sSubSup>
                          </m:e>
                        </m:d>
                      </m:num>
                      <m:den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  <m:sup/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nary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  <m: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  <m:sup/>
                            </m:sSubSup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den>
                    </m:f>
                  </m:oMath>
                </a14:m>
                <a:endParaRPr lang="en-IN" dirty="0"/>
              </a:p>
              <a:p>
                <a:r>
                  <a:rPr lang="en-IN" b="1" dirty="0"/>
                  <a:t>What about start of sentence and end of sentence (sentence boundaries)?</a:t>
                </a:r>
              </a:p>
              <a:p>
                <a:r>
                  <a:rPr lang="en-IN" dirty="0"/>
                  <a:t>Augment the sequence with sentence-boundary markers using special symbols e.g., &lt;s&gt; </a:t>
                </a:r>
                <a:r>
                  <a:rPr lang="en-IN" dirty="0">
                    <a:sym typeface="Wingdings" panose="05000000000000000000" pitchFamily="2" charset="2"/>
                  </a:rPr>
                  <a:t> start of sentence </a:t>
                </a:r>
                <a:r>
                  <a:rPr lang="en-IN" dirty="0"/>
                  <a:t>and &lt;/s&gt; </a:t>
                </a:r>
                <a:r>
                  <a:rPr lang="en-IN" dirty="0">
                    <a:sym typeface="Wingdings" panose="05000000000000000000" pitchFamily="2" charset="2"/>
                  </a:rPr>
                  <a:t> end of sentence,;</a:t>
                </a:r>
                <a:r>
                  <a:rPr lang="en-IN" dirty="0"/>
                  <a:t> and then apply all the calculations up to chain rule.</a:t>
                </a:r>
              </a:p>
              <a:p>
                <a:endParaRPr lang="en-IN" dirty="0"/>
              </a:p>
              <a:p>
                <a:endParaRPr lang="en-IN" dirty="0"/>
              </a:p>
              <a:p>
                <a:pPr lvl="1"/>
                <a:endParaRPr lang="en-IN" dirty="0"/>
              </a:p>
              <a:p>
                <a:pPr lvl="1"/>
                <a:endParaRPr lang="en-IN" dirty="0"/>
              </a:p>
              <a:p>
                <a:endParaRPr lang="en-US" dirty="0">
                  <a:latin typeface="Calibri" charset="0"/>
                </a:endParaRPr>
              </a:p>
            </p:txBody>
          </p:sp>
        </mc:Choice>
        <mc:Fallback xmlns="">
          <p:sp>
            <p:nvSpPr>
              <p:cNvPr id="79878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382000" cy="5562600"/>
              </a:xfrm>
              <a:blipFill>
                <a:blip r:embed="rId3"/>
                <a:stretch>
                  <a:fillRect l="-655" t="-1645" r="-2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8301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solidFill>
                  <a:srgbClr val="FF0000"/>
                </a:solidFill>
              </a:rPr>
              <a:t>An 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E48AA5-4F02-0E7D-BFA6-A9D3DF416B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95400"/>
                <a:ext cx="7886700" cy="4602161"/>
              </a:xfrm>
            </p:spPr>
            <p:txBody>
              <a:bodyPr>
                <a:normAutofit fontScale="70000" lnSpcReduction="20000"/>
              </a:bodyPr>
              <a:lstStyle/>
              <a:p>
                <a:pPr lvl="0"/>
                <a:r>
                  <a:rPr lang="en-IN" b="1" dirty="0"/>
                  <a:t>Training Corpus for Bigram Model:</a:t>
                </a:r>
                <a:endParaRPr lang="en-IN" dirty="0"/>
              </a:p>
              <a:p>
                <a:pPr lvl="1"/>
                <a:r>
                  <a:rPr lang="en-IN" dirty="0"/>
                  <a:t>&lt;s&gt; I am Sam &lt;/s&gt;</a:t>
                </a:r>
              </a:p>
              <a:p>
                <a:pPr lvl="1"/>
                <a:r>
                  <a:rPr lang="en-IN" dirty="0"/>
                  <a:t>&lt;s&gt; Sam I am &lt;/s&gt;</a:t>
                </a:r>
              </a:p>
              <a:p>
                <a:pPr lvl="1"/>
                <a:r>
                  <a:rPr lang="en-IN" dirty="0"/>
                  <a:t>&lt;s&gt; I do not like green eggs &lt;/s&gt;</a:t>
                </a:r>
              </a:p>
              <a:p>
                <a:pPr lvl="0"/>
                <a:r>
                  <a:rPr lang="en-IN" b="1" dirty="0"/>
                  <a:t>Calculate: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am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lang="en-IN" i="0"/>
                          <m:t>I</m:t>
                        </m:r>
                      </m:e>
                    </m:d>
                  </m:oMath>
                </a14:m>
                <a:endParaRPr lang="en-IN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i="0"/>
                      <m:t>Count</m:t>
                    </m:r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I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IN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i="0"/>
                      <m:t>Count</m:t>
                    </m:r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I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IN" i="0"/>
                          <m:t>am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IN" dirty="0"/>
              </a:p>
              <a:p>
                <a:pPr lvl="1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am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lang="en-IN" i="0"/>
                          <m:t>I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IN" dirty="0"/>
              </a:p>
              <a:p>
                <a:pPr lvl="0"/>
                <a:r>
                  <a:rPr lang="en-IN" b="1" dirty="0"/>
                  <a:t>Calculate: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Sam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lang="en-IN" i="0"/>
                          <m:t>&lt;s&gt;</m:t>
                        </m:r>
                      </m:e>
                    </m:d>
                  </m:oMath>
                </a14:m>
                <a:endParaRPr lang="en-IN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i="0"/>
                      <m:t>Count</m:t>
                    </m:r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&lt;s&gt;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IN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i="0"/>
                      <m:t>Count</m:t>
                    </m:r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&lt;s&gt;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IN" i="0"/>
                          <m:t>Sam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IN" dirty="0"/>
              </a:p>
              <a:p>
                <a:pPr lvl="1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Sam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lang="en-IN" i="0"/>
                          <m:t>&lt;s&gt;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E48AA5-4F02-0E7D-BFA6-A9D3DF416B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95400"/>
                <a:ext cx="7886700" cy="4602161"/>
              </a:xfrm>
              <a:blipFill>
                <a:blip r:embed="rId3"/>
                <a:stretch>
                  <a:fillRect l="-850" t="-22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4317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9CBC6-5D89-2162-BEE4-73AAAFA8F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7013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Estimating probabilities using Maximum Likelihood Estimation (MLE) :</a:t>
            </a:r>
            <a:endParaRPr lang="en-IN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992CB0-2A8D-827B-1438-87F1AECE8C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400" y="1600200"/>
                <a:ext cx="8991600" cy="4525963"/>
              </a:xfrm>
            </p:spPr>
            <p:txBody>
              <a:bodyPr>
                <a:normAutofit fontScale="92500" lnSpcReduction="20000"/>
              </a:bodyPr>
              <a:lstStyle/>
              <a:p>
                <a:pPr algn="just"/>
                <a:r>
                  <a:rPr lang="en-IN" dirty="0"/>
                  <a:t>To calculate the probability of an entire sentence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dirty="0"/>
                  <a:t>, augment the sequence with sentence-boundary markers (e.g., &lt;s&gt; and &lt;/s&gt;) and apply the chain rule:</a:t>
                </a:r>
              </a:p>
              <a:p>
                <a:pPr lvl="1" algn="just"/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undOvr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𝑀𝐿𝐸</m:t>
                            </m:r>
                          </m:sub>
                        </m:sSub>
                      </m:e>
                    </m:nary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Sup>
                          <m:sSub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+1</m:t>
                            </m:r>
                            <m:r>
                              <a:rPr lang="en-IN" b="0" i="0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/>
                        </m:sSubSup>
                      </m:e>
                    </m:d>
                  </m:oMath>
                </a14:m>
                <a:endParaRPr lang="en-IN" dirty="0"/>
              </a:p>
              <a:p>
                <a:pPr lvl="1" algn="just"/>
                <a:r>
                  <a:rPr lang="en-IN" dirty="0"/>
                  <a:t>Here n+1</a:t>
                </a:r>
                <a:r>
                  <a:rPr lang="en-IN" baseline="30000" dirty="0"/>
                  <a:t>th</a:t>
                </a:r>
                <a:r>
                  <a:rPr lang="en-IN" dirty="0"/>
                  <a:t> term includes &lt;/s&gt; token Also, use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IN" dirty="0"/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IN" dirty="0"/>
                  <a:t> </a:t>
                </a:r>
              </a:p>
              <a:p>
                <a:pPr algn="just"/>
                <a:r>
                  <a:rPr lang="en-IN" dirty="0"/>
                  <a:t>In practice, compute this in </a:t>
                </a:r>
                <a:r>
                  <a:rPr lang="en-IN" b="1" dirty="0"/>
                  <a:t>log-space</a:t>
                </a:r>
                <a:r>
                  <a:rPr lang="en-IN" dirty="0"/>
                  <a:t> to prevent numerical underflow:</a:t>
                </a:r>
              </a:p>
              <a:p>
                <a:pPr lvl="1" algn="just"/>
                <a14:m>
                  <m:oMath xmlns:m="http://schemas.openxmlformats.org/officeDocument/2006/math">
                    <m:func>
                      <m:func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func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func>
                              <m:funcPr>
                                <m:ctrlPr>
                                  <a:rPr lang="en-IN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IN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func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𝑀𝐿𝐸</m:t>
                            </m:r>
                          </m:sub>
                        </m:sSub>
                      </m:e>
                    </m:nary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IN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+1: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/>
                        </m:sSubSup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992CB0-2A8D-827B-1438-87F1AECE8C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1600200"/>
                <a:ext cx="8991600" cy="4525963"/>
              </a:xfrm>
              <a:blipFill>
                <a:blip r:embed="rId2"/>
                <a:stretch>
                  <a:fillRect l="-1356" t="-3504" r="-15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66AE0-384F-F61E-FD7C-8656F061F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ABDB27-ED5A-4E0B-8784-15C769C9A57F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01/Sep/2026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17F93-79F2-2666-0A79-DABAF1227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01F85-184C-0DBA-C95B-3D334CB96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1792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CB4C6-69BB-9B39-B420-0FF73FB1B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Larger N-grams: Dataset?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9734A-4136-C79F-EB60-F35DD2A0B1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2960" y="1447800"/>
                <a:ext cx="8244840" cy="4724400"/>
              </a:xfrm>
            </p:spPr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US" dirty="0"/>
                  <a:t>Large datasets of large N-grams have been released</a:t>
                </a:r>
              </a:p>
              <a:p>
                <a:pPr lvl="1" algn="just">
                  <a:buFont typeface="Arial" panose="020B0604020202020204" pitchFamily="34" charset="0"/>
                  <a:buChar char="•"/>
                </a:pPr>
                <a:r>
                  <a:rPr lang="en-IN" sz="2400" dirty="0"/>
                  <a:t>Corpus of Contemporary American English (COCA) N-grams: </a:t>
                </a:r>
                <a:r>
                  <a:rPr lang="en-US" sz="2300" dirty="0">
                    <a:latin typeface="NimbusRomNo9L"/>
                  </a:rPr>
                  <a:t>1 billion words: 1-grams up to 5-grams </a:t>
                </a:r>
              </a:p>
              <a:p>
                <a:pPr lvl="1" algn="just">
                  <a:buFont typeface="Arial" panose="020B0604020202020204" pitchFamily="34" charset="0"/>
                  <a:buChar char="•"/>
                </a:pPr>
                <a:r>
                  <a:rPr lang="en-IN" sz="2400" dirty="0"/>
                  <a:t>Google Books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sz="2400" dirty="0"/>
                  <a:t>-gram: Max Order- 5-gram</a:t>
                </a:r>
                <a:endParaRPr lang="en-US" sz="2300" dirty="0">
                  <a:latin typeface="NimbusRomNo9L"/>
                </a:endParaRPr>
              </a:p>
              <a:p>
                <a:pPr lvl="1" algn="just">
                  <a:buFont typeface="Arial" panose="020B0604020202020204" pitchFamily="34" charset="0"/>
                  <a:buChar char="•"/>
                </a:pPr>
                <a:r>
                  <a:rPr lang="en-IN" sz="2400" dirty="0"/>
                  <a:t>Google Web 1T: </a:t>
                </a:r>
                <a:r>
                  <a:rPr lang="en-US" sz="2300" dirty="0"/>
                  <a:t>(1 trillion words) </a:t>
                </a:r>
                <a:r>
                  <a:rPr lang="en-IN" sz="2000" dirty="0"/>
                  <a:t>Max Order- 5-gram</a:t>
                </a:r>
                <a:endParaRPr lang="en-US" sz="2300" dirty="0"/>
              </a:p>
              <a:p>
                <a:pPr marL="436563" lvl="1" algn="just"/>
                <a:r>
                  <a:rPr lang="en-US" sz="2400" b="1" dirty="0"/>
                  <a:t>Newest model:</a:t>
                </a:r>
                <a:r>
                  <a:rPr lang="en-US" sz="2400" dirty="0"/>
                  <a:t> </a:t>
                </a:r>
                <a:r>
                  <a:rPr lang="en-US" sz="2400" dirty="0" err="1"/>
                  <a:t>infini</a:t>
                </a:r>
                <a:r>
                  <a:rPr lang="en-US" sz="2400" dirty="0"/>
                  <a:t>-gram (∞-gram) (Liu et al 2024):</a:t>
                </a:r>
              </a:p>
              <a:p>
                <a:pPr marL="836613" lvl="2" algn="just"/>
                <a:r>
                  <a:rPr lang="en-IN" dirty="0"/>
                  <a:t>An </a:t>
                </a:r>
                <a:r>
                  <a:rPr lang="en-IN" sz="2000" dirty="0"/>
                  <a:t>open-source engine and framework introduced that allows computing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/>
                  <a:t>-gram language model probabilities and exact counts for </a:t>
                </a:r>
                <a:r>
                  <a:rPr lang="en-IN" b="1" dirty="0"/>
                  <a:t>arbitrary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IN" b="1" dirty="0"/>
                  <a:t> (from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IN" b="1" dirty="0"/>
                  <a:t> up to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IN" b="1" dirty="0"/>
                  <a:t>)</a:t>
                </a:r>
                <a:r>
                  <a:rPr lang="en-IN" sz="2000" dirty="0"/>
                  <a:t> over trillion-token corpora in milliseconds.</a:t>
                </a:r>
                <a:endParaRPr lang="en-US" sz="2000" dirty="0"/>
              </a:p>
              <a:p>
                <a:pPr marL="801688" lvl="2" indent="-176213" algn="just"/>
                <a:r>
                  <a:rPr lang="en-US" sz="2000" dirty="0"/>
                  <a:t>No precomputing! Instead, store 5 trillion words of web text in </a:t>
                </a:r>
                <a:r>
                  <a:rPr lang="en-US" sz="2000" b="1" dirty="0"/>
                  <a:t>suffix arrays</a:t>
                </a:r>
                <a:r>
                  <a:rPr lang="en-US" sz="2000" dirty="0"/>
                  <a:t>. 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89734A-4136-C79F-EB60-F35DD2A0B1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960" y="1447800"/>
                <a:ext cx="8244840" cy="4724400"/>
              </a:xfrm>
              <a:blipFill>
                <a:blip r:embed="rId2"/>
                <a:stretch>
                  <a:fillRect l="-1478" t="-2581" r="-16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4510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Problems with N-gram models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828800"/>
            <a:ext cx="8321040" cy="4171950"/>
          </a:xfrm>
        </p:spPr>
        <p:txBody>
          <a:bodyPr>
            <a:normAutofit/>
          </a:bodyPr>
          <a:lstStyle/>
          <a:p>
            <a:pPr marL="576263" indent="-514350" algn="just">
              <a:buFont typeface="+mj-lt"/>
              <a:buAutoNum type="arabicPeriod"/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N-grams can't handle </a:t>
            </a:r>
            <a:r>
              <a:rPr lang="en-US" sz="2600" b="1" dirty="0">
                <a:solidFill>
                  <a:srgbClr val="008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long-term dependencies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350838" lvl="1" indent="-288925" algn="just">
              <a:spcBef>
                <a:spcPts val="1350"/>
              </a:spcBef>
              <a:buNone/>
            </a:pPr>
            <a:r>
              <a:rPr lang="en-US" sz="2300" dirty="0">
                <a:solidFill>
                  <a:srgbClr val="02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US" sz="2300" b="1" dirty="0">
                <a:solidFill>
                  <a:srgbClr val="02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soups </a:t>
            </a:r>
            <a:r>
              <a:rPr lang="en-US" sz="2300" dirty="0">
                <a:solidFill>
                  <a:srgbClr val="02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that I made from that new cookbook I bought yesterday </a:t>
            </a:r>
            <a:r>
              <a:rPr lang="en-US" sz="2300" b="1" dirty="0">
                <a:solidFill>
                  <a:srgbClr val="02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were</a:t>
            </a:r>
            <a:r>
              <a:rPr lang="en-US" sz="2300" dirty="0">
                <a:solidFill>
                  <a:srgbClr val="02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amazingly delicious."</a:t>
            </a:r>
          </a:p>
          <a:p>
            <a:pPr marL="576263" indent="-514350" algn="just">
              <a:buFont typeface="+mj-lt"/>
              <a:buAutoNum type="arabicPeriod"/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N-grams don't do well at modeling new sequences (even if they have similar meanings to sequences, they've seen)</a:t>
            </a:r>
          </a:p>
          <a:p>
            <a:pPr marL="0" indent="0" algn="just">
              <a:buNone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The solution: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Large language models (LLMs)</a:t>
            </a:r>
          </a:p>
          <a:p>
            <a:pPr marL="808038" indent="-457200" algn="just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Can handle much longer contexts because they use neural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embedding spaces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can model meaning better</a:t>
            </a:r>
          </a:p>
        </p:txBody>
      </p:sp>
    </p:spTree>
    <p:extLst>
      <p:ext uri="{BB962C8B-B14F-4D97-AF65-F5344CB8AC3E}">
        <p14:creationId xmlns:p14="http://schemas.microsoft.com/office/powerpoint/2010/main" val="3274342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Why study N-gram models?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22961" y="1524000"/>
            <a:ext cx="7543801" cy="4724400"/>
          </a:xfrm>
        </p:spPr>
        <p:txBody>
          <a:bodyPr>
            <a:normAutofit/>
          </a:bodyPr>
          <a:lstStyle/>
          <a:p>
            <a:pPr marL="457200" indent="-457200" algn="just"/>
            <a:r>
              <a:rPr lang="en-US" dirty="0"/>
              <a:t>They are the "fruit fly of NLP“ - a simple model that introduces important topics for </a:t>
            </a:r>
            <a:r>
              <a:rPr lang="en-US" b="1" dirty="0"/>
              <a:t>large language models (LLMs)</a:t>
            </a:r>
          </a:p>
          <a:p>
            <a:pPr marL="515938" lvl="1" indent="396875" algn="just"/>
            <a:r>
              <a:rPr lang="en-US" sz="1800" b="1" dirty="0"/>
              <a:t>training</a:t>
            </a:r>
            <a:r>
              <a:rPr lang="en-US" sz="1800" dirty="0"/>
              <a:t> and </a:t>
            </a:r>
            <a:r>
              <a:rPr lang="en-US" sz="1800" b="1" dirty="0"/>
              <a:t>testing </a:t>
            </a:r>
            <a:r>
              <a:rPr lang="en-US" sz="1800" dirty="0"/>
              <a:t>datasets</a:t>
            </a:r>
          </a:p>
          <a:p>
            <a:pPr marL="515938" lvl="1" indent="396875" algn="just"/>
            <a:r>
              <a:rPr lang="en-US" sz="1800" dirty="0"/>
              <a:t>the </a:t>
            </a:r>
            <a:r>
              <a:rPr lang="en-US" sz="1800" b="1" dirty="0"/>
              <a:t>perplexity</a:t>
            </a:r>
            <a:r>
              <a:rPr lang="en-US" sz="1800" dirty="0"/>
              <a:t> performance metric</a:t>
            </a:r>
          </a:p>
          <a:p>
            <a:pPr marL="515938" lvl="1" indent="396875" algn="just"/>
            <a:r>
              <a:rPr lang="en-US" sz="1800" b="1" dirty="0"/>
              <a:t>sampling</a:t>
            </a:r>
            <a:r>
              <a:rPr lang="en-US" sz="1800" dirty="0"/>
              <a:t> to generate sentences</a:t>
            </a:r>
          </a:p>
          <a:p>
            <a:pPr marL="515938" lvl="1" indent="396875" algn="just"/>
            <a:r>
              <a:rPr lang="en-US" sz="1800" dirty="0"/>
              <a:t>ideas like </a:t>
            </a:r>
            <a:r>
              <a:rPr lang="en-US" sz="1800" b="1" dirty="0"/>
              <a:t>interpolation</a:t>
            </a:r>
            <a:r>
              <a:rPr lang="en-US" sz="1800" dirty="0"/>
              <a:t> and </a:t>
            </a:r>
            <a:r>
              <a:rPr lang="en-US" sz="1800" b="1" dirty="0"/>
              <a:t>backoff</a:t>
            </a:r>
          </a:p>
          <a:p>
            <a:pPr marL="515938" lvl="1" indent="396875" algn="just"/>
            <a:r>
              <a:rPr lang="en-US" sz="1800" dirty="0"/>
              <a:t>N-grams are efficient and fast and useful in situations where LLMs are too heavyweight</a:t>
            </a:r>
          </a:p>
        </p:txBody>
      </p:sp>
    </p:spTree>
    <p:extLst>
      <p:ext uri="{BB962C8B-B14F-4D97-AF65-F5344CB8AC3E}">
        <p14:creationId xmlns:p14="http://schemas.microsoft.com/office/powerpoint/2010/main" val="1850552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>
          <a:xfrm>
            <a:off x="0" y="3124200"/>
            <a:ext cx="9144000" cy="1447800"/>
          </a:xfrm>
        </p:spPr>
        <p:txBody>
          <a:bodyPr>
            <a:normAutofit/>
          </a:bodyPr>
          <a:lstStyle/>
          <a:p>
            <a:pPr eaLnBrk="1" hangingPunct="1">
              <a:buFont typeface="Times" charset="0"/>
              <a:buNone/>
            </a:pPr>
            <a:r>
              <a:rPr lang="en-US" sz="2800" b="1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How to Evaluate Performance of N-gram Language Models ?</a:t>
            </a:r>
          </a:p>
        </p:txBody>
      </p:sp>
    </p:spTree>
    <p:extLst>
      <p:ext uri="{BB962C8B-B14F-4D97-AF65-F5344CB8AC3E}">
        <p14:creationId xmlns:p14="http://schemas.microsoft.com/office/powerpoint/2010/main" val="21063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05323" y="91963"/>
            <a:ext cx="7886700" cy="99417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How to evaluate performance of N-gram models?</a:t>
            </a:r>
          </a:p>
        </p:txBody>
      </p:sp>
      <p:sp>
        <p:nvSpPr>
          <p:cNvPr id="133123" name="Rectangle 3"/>
          <p:cNvSpPr>
            <a:spLocks noGrp="1" noChangeArrowheads="1"/>
          </p:cNvSpPr>
          <p:nvPr>
            <p:ph idx="1"/>
          </p:nvPr>
        </p:nvSpPr>
        <p:spPr>
          <a:xfrm>
            <a:off x="746292" y="2646784"/>
            <a:ext cx="7604761" cy="409903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600" dirty="0">
                <a:solidFill>
                  <a:srgbClr val="0200FF"/>
                </a:solidFill>
              </a:rPr>
              <a:t>"Extrinsic (in-vivo) Evaluation"</a:t>
            </a:r>
          </a:p>
          <a:p>
            <a:pPr marL="0" indent="0">
              <a:buNone/>
            </a:pPr>
            <a:r>
              <a:rPr lang="en-US" sz="3300" dirty="0"/>
              <a:t>To compare models A and B</a:t>
            </a:r>
          </a:p>
          <a:p>
            <a:pPr marL="665163" lvl="1" indent="-514350">
              <a:buFont typeface="+mj-lt"/>
              <a:buAutoNum type="arabicPeriod"/>
            </a:pPr>
            <a:r>
              <a:rPr lang="en-US" sz="2900" dirty="0"/>
              <a:t>Put each model in a real task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500" dirty="0"/>
              <a:t>Machine Translation, speech recognition, etc. </a:t>
            </a:r>
          </a:p>
          <a:p>
            <a:pPr marL="665163" lvl="1" indent="-514350">
              <a:buFont typeface="+mj-lt"/>
              <a:buAutoNum type="arabicPeriod"/>
            </a:pPr>
            <a:r>
              <a:rPr lang="en-US" sz="2900" dirty="0"/>
              <a:t>Run the task, get accuracy score for A and for B: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500" dirty="0"/>
              <a:t>How many words translated correctly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500" dirty="0"/>
              <a:t>How many words transcribed correctly</a:t>
            </a:r>
          </a:p>
          <a:p>
            <a:pPr marL="665163" lvl="1" indent="-514350">
              <a:buFont typeface="+mj-lt"/>
              <a:buAutoNum type="arabicPeriod"/>
            </a:pPr>
            <a:r>
              <a:rPr lang="en-US" sz="2900" dirty="0"/>
              <a:t>Compare accuracy for A and B</a:t>
            </a:r>
          </a:p>
          <a:p>
            <a:pPr marL="150813" lvl="1" indent="0">
              <a:buNone/>
            </a:pPr>
            <a:endParaRPr lang="en-US" sz="2900" dirty="0"/>
          </a:p>
          <a:p>
            <a:r>
              <a:rPr lang="en-US" sz="2800" dirty="0">
                <a:latin typeface="Calibri" charset="0"/>
              </a:rPr>
              <a:t>Extrinsic evaluation not always possible</a:t>
            </a:r>
          </a:p>
          <a:p>
            <a:pPr lvl="1"/>
            <a:r>
              <a:rPr lang="en-US" sz="2400" dirty="0">
                <a:latin typeface="Calibri" charset="0"/>
              </a:rPr>
              <a:t>Expensive, time-consuming </a:t>
            </a:r>
          </a:p>
          <a:p>
            <a:pPr lvl="1"/>
            <a:r>
              <a:rPr lang="en-US" sz="2400" dirty="0">
                <a:latin typeface="Calibri" charset="0"/>
              </a:rPr>
              <a:t>Doesn't always generalize to other applications</a:t>
            </a:r>
            <a:endParaRPr lang="en-US" sz="2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F4A1482-DBF1-E6D6-D9C9-FDE489B45DD9}"/>
                  </a:ext>
                </a:extLst>
              </p:cNvPr>
              <p:cNvSpPr txBox="1"/>
              <p:nvPr/>
            </p:nvSpPr>
            <p:spPr>
              <a:xfrm>
                <a:off x="605323" y="1053478"/>
                <a:ext cx="8081477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marR="0" lvl="0" indent="-28575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Evaluating the performance of an 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𝑁</m:t>
                    </m:r>
                  </m:oMath>
                </a14:m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-gram language model is done via two primary methodologies: </a:t>
                </a:r>
              </a:p>
              <a:p>
                <a:pPr marL="742950" marR="0" lvl="1" indent="-28575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I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Extrinsic evaluation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(measuring downstream task improvement) </a:t>
                </a:r>
              </a:p>
              <a:p>
                <a:pPr marL="742950" marR="0" lvl="1" indent="-28575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I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Intrinsic evaluation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(measuring the model's predictive power on unseen text)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F4A1482-DBF1-E6D6-D9C9-FDE489B45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323" y="1053478"/>
                <a:ext cx="8081477" cy="1477328"/>
              </a:xfrm>
              <a:prstGeom prst="rect">
                <a:avLst/>
              </a:prstGeom>
              <a:blipFill>
                <a:blip r:embed="rId3"/>
                <a:stretch>
                  <a:fillRect l="-452" t="-2479" r="-679" b="-57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9564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0"/>
            <a:ext cx="7239000" cy="994172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>
                <a:solidFill>
                  <a:srgbClr val="FF0000"/>
                </a:solidFill>
              </a:rPr>
              <a:t>Intrinsic (in-vitro) evaluation </a:t>
            </a:r>
          </a:p>
        </p:txBody>
      </p:sp>
      <p:sp>
        <p:nvSpPr>
          <p:cNvPr id="135171" name="Rectangle 3"/>
          <p:cNvSpPr>
            <a:spLocks noGrp="1" noChangeArrowheads="1"/>
          </p:cNvSpPr>
          <p:nvPr>
            <p:ph idx="1"/>
          </p:nvPr>
        </p:nvSpPr>
        <p:spPr>
          <a:xfrm>
            <a:off x="664488" y="838200"/>
            <a:ext cx="7940040" cy="3946401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b="1" dirty="0">
                <a:solidFill>
                  <a:srgbClr val="0200FF"/>
                </a:solidFill>
                <a:latin typeface="Calibri" charset="0"/>
              </a:rPr>
              <a:t>Perplexity:</a:t>
            </a:r>
          </a:p>
          <a:p>
            <a:pPr lvl="1" algn="just"/>
            <a:r>
              <a:rPr lang="en-US" dirty="0"/>
              <a:t>An </a:t>
            </a:r>
            <a:r>
              <a:rPr lang="en-US" b="1" dirty="0">
                <a:solidFill>
                  <a:srgbClr val="0200FF"/>
                </a:solidFill>
              </a:rPr>
              <a:t>evaluation metric </a:t>
            </a:r>
            <a:r>
              <a:rPr lang="en-US" dirty="0"/>
              <a:t>(like</a:t>
            </a:r>
            <a:r>
              <a:rPr lang="en-US" b="1" dirty="0">
                <a:solidFill>
                  <a:srgbClr val="008000"/>
                </a:solidFill>
              </a:rPr>
              <a:t> </a:t>
            </a:r>
            <a:r>
              <a:rPr lang="en-US" b="1" dirty="0">
                <a:solidFill>
                  <a:srgbClr val="0200FF"/>
                </a:solidFill>
              </a:rPr>
              <a:t>perplexity</a:t>
            </a:r>
            <a:r>
              <a:rPr lang="en-US" dirty="0"/>
              <a:t>)</a:t>
            </a:r>
            <a:r>
              <a:rPr lang="en-US" b="1" dirty="0">
                <a:solidFill>
                  <a:srgbClr val="008000"/>
                </a:solidFill>
              </a:rPr>
              <a:t> </a:t>
            </a:r>
            <a:r>
              <a:rPr lang="en-US" dirty="0"/>
              <a:t>tells us how well our model does on the test set.</a:t>
            </a:r>
          </a:p>
          <a:p>
            <a:pPr lvl="1" algn="just"/>
            <a:r>
              <a:rPr lang="en-US" dirty="0">
                <a:cs typeface="Calibri"/>
              </a:rPr>
              <a:t>Directly measures language model performance at predicting words.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  <a:cs typeface="Calibri"/>
              </a:rPr>
              <a:t>Doesn't necessarily correspond with real application performance but gives us a single general metric for language models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  <a:cs typeface="Calibri"/>
              </a:rPr>
              <a:t>Useful for large language models (LLMs) as well as N-grams</a:t>
            </a:r>
          </a:p>
          <a:p>
            <a:pPr lvl="1" algn="just"/>
            <a:r>
              <a:rPr lang="en-IN" dirty="0"/>
              <a:t>Perplexity is directly derived from </a:t>
            </a:r>
            <a:r>
              <a:rPr lang="en-IN" b="1" dirty="0"/>
              <a:t>Claude Shannon’s </a:t>
            </a:r>
            <a:r>
              <a:rPr lang="en-IN" dirty="0"/>
              <a:t>foundational work in </a:t>
            </a:r>
            <a:r>
              <a:rPr lang="en-IN" b="1" dirty="0"/>
              <a:t>Information Theory (1948)</a:t>
            </a:r>
            <a:r>
              <a:rPr lang="en-IN" dirty="0"/>
              <a:t> and his 1951 paper, </a:t>
            </a:r>
            <a:r>
              <a:rPr lang="en-IN" i="1" dirty="0"/>
              <a:t>"Prediction and Entropy of Printed English.“</a:t>
            </a:r>
          </a:p>
          <a:p>
            <a:pPr lvl="1" algn="just"/>
            <a:r>
              <a:rPr lang="en-IN" dirty="0"/>
              <a:t>Perplexity translates Shannon's abstract measure of information (bits) into an intuitive, physical scale representing word-choice uncertainty.</a:t>
            </a:r>
            <a:endParaRPr lang="en-US" dirty="0">
              <a:latin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5E402B-6D86-822C-CADD-B34125B92A7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434" t="12427"/>
          <a:stretch/>
        </p:blipFill>
        <p:spPr>
          <a:xfrm>
            <a:off x="808391" y="4575509"/>
            <a:ext cx="1378161" cy="18635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513125-4D74-7852-29C7-42304A744142}"/>
              </a:ext>
            </a:extLst>
          </p:cNvPr>
          <p:cNvSpPr txBox="1"/>
          <p:nvPr/>
        </p:nvSpPr>
        <p:spPr>
          <a:xfrm>
            <a:off x="653078" y="6412468"/>
            <a:ext cx="1709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Claude Shannon</a:t>
            </a:r>
          </a:p>
        </p:txBody>
      </p:sp>
    </p:spTree>
    <p:extLst>
      <p:ext uri="{BB962C8B-B14F-4D97-AF65-F5344CB8AC3E}">
        <p14:creationId xmlns:p14="http://schemas.microsoft.com/office/powerpoint/2010/main" val="181839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9326366-31A0-04FC-5C1D-BC0FD40B23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3400" y="1143000"/>
                <a:ext cx="7795260" cy="533400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sz="2400" b="1" dirty="0">
                    <a:solidFill>
                      <a:srgbClr val="0200FF"/>
                    </a:solidFill>
                    <a:latin typeface="Calibri" charset="0"/>
                  </a:rPr>
                  <a:t>Perplexity:</a:t>
                </a:r>
              </a:p>
              <a:p>
                <a:pPr algn="just"/>
                <a:r>
                  <a:rPr lang="en-IN" dirty="0"/>
                  <a:t>Intrinsic evaluation tests how well the model predicts a held-out test corpus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dirty="0"/>
                  <a:t>without running a downstream application. Here the last word includes &lt;/s&gt;</a:t>
                </a:r>
              </a:p>
              <a:p>
                <a:pPr algn="just"/>
                <a:r>
                  <a:rPr lang="en-IN" b="1" dirty="0"/>
                  <a:t>Perplexity (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𝑃𝑃</m:t>
                    </m:r>
                  </m:oMath>
                </a14:m>
                <a:r>
                  <a:rPr lang="en-IN" b="1" dirty="0"/>
                  <a:t>) </a:t>
                </a:r>
                <a:r>
                  <a:rPr lang="en-IN" dirty="0"/>
                  <a:t>is the standard intrinsic metric. </a:t>
                </a:r>
              </a:p>
              <a:p>
                <a:pPr algn="just"/>
                <a:r>
                  <a:rPr lang="en-IN" dirty="0"/>
                  <a:t>It represents the inverse probability of the test set, normalized by the total number of words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dirty="0"/>
                  <a:t>: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𝑃𝑃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e>
                      <m:sup>
                        <m:r>
                          <a:rPr lang="en-IN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   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IN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g>
                      <m:e>
                        <m:nary>
                          <m:naryPr>
                            <m:chr m:val="∏"/>
                            <m:limLoc m:val="undOvr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f>
                              <m:fPr>
                                <m:ctrlPr>
                                  <a:rPr lang="en-IN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∣</m:t>
                                    </m:r>
                                    <m:sSubSup>
                                      <m:sSubSupPr>
                                        <m:ctrlP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IN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n-IN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  <m:r>
                                          <a:rPr lang="en-IN" b="0" i="1" smtClean="0">
                                            <a:latin typeface="Cambria Math" panose="02040503050406030204" pitchFamily="18" charset="0"/>
                                          </a:rPr>
                                          <m:t>:</m:t>
                                        </m:r>
                                        <m:r>
                                          <a:rPr lang="en-IN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IN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  <m:sup/>
                                    </m:sSubSup>
                                  </m:e>
                                </m:d>
                              </m:den>
                            </m:f>
                          </m:e>
                        </m:nary>
                      </m:e>
                    </m:rad>
                  </m:oMath>
                </a14:m>
                <a:endParaRPr lang="en-IN" dirty="0"/>
              </a:p>
              <a:p>
                <a:pPr lvl="0" algn="just"/>
                <a:r>
                  <a:rPr lang="en-IN" sz="2400" b="1" dirty="0"/>
                  <a:t>Interpretation:</a:t>
                </a:r>
                <a:r>
                  <a:rPr lang="en-IN" sz="2400" dirty="0"/>
                  <a:t> Perplexity can be thought of as the </a:t>
                </a:r>
                <a:r>
                  <a:rPr lang="en-IN" sz="2400" b="1" dirty="0"/>
                  <a:t>effective branching factor</a:t>
                </a:r>
                <a:r>
                  <a:rPr lang="en-IN" sz="2400" dirty="0"/>
                  <a:t>—the average number of equally likely words the model is choosing among at each step.</a:t>
                </a:r>
              </a:p>
              <a:p>
                <a:pPr lvl="0" algn="just"/>
                <a:r>
                  <a:rPr lang="en-IN" sz="2400" b="1" dirty="0"/>
                  <a:t>Goal:</a:t>
                </a:r>
                <a:r>
                  <a:rPr lang="en-IN" sz="2400" dirty="0"/>
                  <a:t> </a:t>
                </a:r>
                <a:r>
                  <a:rPr lang="en-IN" sz="2400" b="1" dirty="0"/>
                  <a:t>Lower perplexity indicates a better model.</a:t>
                </a:r>
                <a:r>
                  <a:rPr lang="en-IN" sz="2400" dirty="0"/>
                  <a:t> A lower perplexity means the model assigns higher probabilities to the actual words that appeared in the test set.</a:t>
                </a:r>
              </a:p>
              <a:p>
                <a:pPr algn="just"/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Probability range is  [0,1], perplexity range is [1,∞]</a:t>
                </a:r>
              </a:p>
              <a:p>
                <a:pPr algn="just"/>
                <a:r>
                  <a:rPr lang="en-US" sz="2400" b="1" dirty="0">
                    <a:solidFill>
                      <a:srgbClr val="0200FF"/>
                    </a:solidFill>
                    <a:cs typeface="Calibri"/>
                  </a:rPr>
                  <a:t>Minimizing perplexity is the same as maximizing probability</a:t>
                </a:r>
              </a:p>
              <a:p>
                <a:pPr algn="just"/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 algn="just"/>
                <a:endParaRPr lang="en-IN" sz="2400" dirty="0"/>
              </a:p>
              <a:p>
                <a:endParaRPr lang="en-US" sz="2400" b="1" dirty="0">
                  <a:solidFill>
                    <a:srgbClr val="0200FF"/>
                  </a:solidFill>
                  <a:latin typeface="Calibri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9326366-31A0-04FC-5C1D-BC0FD40B23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3400" y="1143000"/>
                <a:ext cx="7795260" cy="5334000"/>
              </a:xfrm>
              <a:blipFill>
                <a:blip r:embed="rId3"/>
                <a:stretch>
                  <a:fillRect l="-939" t="-1943" r="-1017" b="-6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D9B5A5C7-6EEA-9195-5707-5431B98C9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-1555"/>
            <a:ext cx="78867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Intrinsic (in-vitro) evaluation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1121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1E4C9-B099-513F-03C5-9DAE9A112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0CE2E36-CFF9-AC48-D148-12B5E75CF4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3400" y="1143000"/>
                <a:ext cx="7795260" cy="5334000"/>
              </a:xfrm>
            </p:spPr>
            <p:txBody>
              <a:bodyPr>
                <a:normAutofit fontScale="92500"/>
              </a:bodyPr>
              <a:lstStyle/>
              <a:p>
                <a:pPr algn="just"/>
                <a:r>
                  <a:rPr lang="en-US" sz="2400" b="1" dirty="0">
                    <a:solidFill>
                      <a:srgbClr val="0200FF"/>
                    </a:solidFill>
                    <a:latin typeface="Calibri" charset="0"/>
                  </a:rPr>
                  <a:t>Log Perplexity / Cross-Entropy:</a:t>
                </a:r>
              </a:p>
              <a:p>
                <a:pPr algn="just"/>
                <a:r>
                  <a:rPr lang="en-IN" dirty="0"/>
                  <a:t>Because calculating product probabilities leads to numerical underflow, perplexity is computed in log-space via average negative log-likelihood (Cross-Entropy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</m:oMath>
                </a14:m>
                <a:r>
                  <a:rPr lang="en-IN" dirty="0"/>
                  <a:t>):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IN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IN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func>
                      </m:e>
                    </m:nary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IN">
                            <a:latin typeface="Cambria Math" panose="02040503050406030204" pitchFamily="18" charset="0"/>
                          </a:rPr>
                          <m:t>∣</m:t>
                        </m:r>
                        <m:sSubSup>
                          <m:sSub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+1</m:t>
                            </m:r>
                            <m:r>
                              <a:rPr lang="en-IN" b="0" i="0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/>
                        </m:sSubSup>
                      </m:e>
                    </m:d>
                  </m:oMath>
                </a14:m>
                <a:endParaRPr lang="en-IN" dirty="0"/>
              </a:p>
              <a:p>
                <a:pPr algn="just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𝑃𝑃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sup>
                    </m:sSup>
                  </m:oMath>
                </a14:m>
                <a:endParaRPr lang="en-IN" dirty="0"/>
              </a:p>
              <a:p>
                <a:pPr algn="just"/>
                <a:r>
                  <a:rPr lang="en-IN" sz="2400" b="1" dirty="0"/>
                  <a:t>Critical Requirements for Fair Perplexity Comparison</a:t>
                </a:r>
              </a:p>
              <a:p>
                <a:pPr lvl="0" algn="just"/>
                <a:r>
                  <a:rPr lang="en-IN" sz="2400" b="1" dirty="0"/>
                  <a:t>Identical Vocabulary:</a:t>
                </a:r>
                <a:r>
                  <a:rPr lang="en-IN" sz="2400" dirty="0"/>
                  <a:t> Models must share the exact same vocabulary (including the </a:t>
                </a:r>
                <a:r>
                  <a:rPr lang="en-IN" dirty="0"/>
                  <a:t>&lt;UNK&gt;</a:t>
                </a:r>
                <a:r>
                  <a:rPr lang="en-IN" sz="2400" dirty="0"/>
                  <a:t> token handling). Comparing perplexities across models with different vocabularies is mathematically invalid because an open vocabulary with high unknown-token assignment artificially deflates perplexity.</a:t>
                </a:r>
              </a:p>
              <a:p>
                <a:pPr lvl="0" algn="just"/>
                <a:r>
                  <a:rPr lang="en-IN" sz="2400" b="1" dirty="0"/>
                  <a:t>Identical Tokenization &amp; Test Set:</a:t>
                </a:r>
                <a:r>
                  <a:rPr lang="en-IN" sz="2400" dirty="0"/>
                  <a:t> Both models must be evaluated on the exact same tokenized test split with identical sentence-boundary markers (</a:t>
                </a:r>
                <a:r>
                  <a:rPr lang="en-IN" dirty="0"/>
                  <a:t>&lt;s&gt;</a:t>
                </a:r>
                <a:r>
                  <a:rPr lang="en-IN" sz="2400" dirty="0"/>
                  <a:t>, </a:t>
                </a:r>
                <a:r>
                  <a:rPr lang="en-IN" dirty="0"/>
                  <a:t>&lt;/s&gt;</a:t>
                </a:r>
                <a:r>
                  <a:rPr lang="en-IN" sz="2400" dirty="0"/>
                  <a:t>).</a:t>
                </a:r>
              </a:p>
              <a:p>
                <a:pPr algn="just"/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 algn="just"/>
                <a:endParaRPr lang="en-IN" sz="2400" dirty="0"/>
              </a:p>
              <a:p>
                <a:endParaRPr lang="en-US" sz="2400" b="1" dirty="0">
                  <a:solidFill>
                    <a:srgbClr val="0200FF"/>
                  </a:solidFill>
                  <a:latin typeface="Calibri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0CE2E36-CFF9-AC48-D148-12B5E75CF4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3400" y="1143000"/>
                <a:ext cx="7795260" cy="5334000"/>
              </a:xfrm>
              <a:blipFill>
                <a:blip r:embed="rId3"/>
                <a:stretch>
                  <a:fillRect l="-939" t="-1486" r="-10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0BBB0AA4-59B5-3687-FC00-5F61D1609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-1555"/>
            <a:ext cx="78867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Intrinsic (in-vitro) evaluation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29866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73A93-0118-4F80-13BC-91CC69DEB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52400"/>
            <a:ext cx="7886700" cy="1325563"/>
          </a:xfrm>
        </p:spPr>
        <p:txBody>
          <a:bodyPr/>
          <a:lstStyle/>
          <a:p>
            <a:r>
              <a:rPr lang="en-IN" b="1" dirty="0"/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9E076-3F81-CE42-BD63-B57356289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95401"/>
            <a:ext cx="7886700" cy="4881564"/>
          </a:xfrm>
        </p:spPr>
        <p:txBody>
          <a:bodyPr/>
          <a:lstStyle/>
          <a:p>
            <a:pPr lvl="0"/>
            <a:r>
              <a:rPr lang="en-IN" b="1" dirty="0"/>
              <a:t>Training Corpus for Bigram Model:</a:t>
            </a:r>
            <a:endParaRPr lang="en-IN" dirty="0"/>
          </a:p>
          <a:p>
            <a:pPr lvl="1"/>
            <a:r>
              <a:rPr lang="en-IN" dirty="0"/>
              <a:t>&lt;s&gt; I am Sam &lt;/s&gt;</a:t>
            </a:r>
          </a:p>
          <a:p>
            <a:pPr lvl="1"/>
            <a:r>
              <a:rPr lang="en-IN" dirty="0"/>
              <a:t>&lt;s&gt; Sam I am &lt;/s&gt;</a:t>
            </a:r>
          </a:p>
          <a:p>
            <a:pPr lvl="1"/>
            <a:r>
              <a:rPr lang="en-IN" dirty="0"/>
              <a:t>&lt;s&gt; I do not like green eggs &lt;/s&gt;</a:t>
            </a:r>
          </a:p>
          <a:p>
            <a:r>
              <a:rPr lang="en-IN" b="1" dirty="0"/>
              <a:t>Test Sequence</a:t>
            </a:r>
            <a:endParaRPr lang="en-IN" dirty="0"/>
          </a:p>
          <a:p>
            <a:pPr lvl="1"/>
            <a:r>
              <a:rPr lang="en-IN" dirty="0"/>
              <a:t>&lt;s&gt; I am Sam &lt;/s&gt;</a:t>
            </a:r>
          </a:p>
          <a:p>
            <a:r>
              <a:rPr lang="en-IN" b="1" dirty="0"/>
              <a:t>Estimate probability of Test sequence using MLE.</a:t>
            </a:r>
          </a:p>
          <a:p>
            <a:r>
              <a:rPr lang="en-IN" b="1" dirty="0"/>
              <a:t>Find Perplexity score using direct formula and using Cross Entropy.</a:t>
            </a:r>
          </a:p>
          <a:p>
            <a:r>
              <a:rPr lang="en-IN" b="1" dirty="0"/>
              <a:t>Repeat the task for Trigram model.</a:t>
            </a:r>
          </a:p>
          <a:p>
            <a:r>
              <a:rPr lang="en-IN" b="1" dirty="0"/>
              <a:t>Interpret the results.</a:t>
            </a:r>
          </a:p>
        </p:txBody>
      </p:sp>
    </p:spTree>
    <p:extLst>
      <p:ext uri="{BB962C8B-B14F-4D97-AF65-F5344CB8AC3E}">
        <p14:creationId xmlns:p14="http://schemas.microsoft.com/office/powerpoint/2010/main" val="26654817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DC9125-4392-5D28-13F0-003BC75AA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665" y="42197"/>
            <a:ext cx="7886700" cy="625475"/>
          </a:xfrm>
        </p:spPr>
        <p:txBody>
          <a:bodyPr/>
          <a:lstStyle/>
          <a:p>
            <a:r>
              <a:rPr lang="en-IN" dirty="0"/>
              <a:t>Solution: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A1A520-8B85-7C8C-0706-815EB67115D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381000" y="685800"/>
                <a:ext cx="3886200" cy="5635274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IN" dirty="0"/>
                  <a:t>Model: N = 2 (Bigram)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I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lang="en-IN" i="0"/>
                          <m:t>&lt;s&gt;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am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lang="en-IN" i="0"/>
                          <m:t>I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Sam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lang="en-IN" i="0"/>
                          <m:t>am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&lt;/s&gt;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lang="en-IN" i="0"/>
                          <m:t>Sam</m:t>
                        </m:r>
                      </m:e>
                    </m:d>
                  </m:oMath>
                </a14:m>
                <a:endParaRPr lang="en-IN" dirty="0"/>
              </a:p>
              <a:p>
                <a:pPr lvl="0"/>
                <a:r>
                  <a:rPr lang="en-IN" dirty="0"/>
                  <a:t>Test data: n = 4 considering one more then 3 actual tokens for sentence boundary</a:t>
                </a:r>
              </a:p>
              <a:p>
                <a:pPr lvl="0"/>
                <a:r>
                  <a:rPr lang="en-IN" dirty="0"/>
                  <a:t>Evaluated tokens: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i="0"/>
                      <m:t>I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, 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i="0"/>
                      <m:t>am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, 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i="0"/>
                      <m:t>Sam</m:t>
                    </m:r>
                    <m:r>
                      <a:rPr lang="en-IN">
                        <a:latin typeface="Cambria Math" panose="02040503050406030204" pitchFamily="18" charset="0"/>
                      </a:rPr>
                      <m:t>, 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i="0"/>
                      <m:t>&lt;/s&gt;</m:t>
                    </m:r>
                  </m:oMath>
                </a14:m>
                <a:endParaRPr lang="en-IN" dirty="0"/>
              </a:p>
              <a:p>
                <a:pPr lvl="0"/>
                <a:r>
                  <a:rPr lang="en-IN" dirty="0"/>
                  <a:t>Number of tokens: n =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IN" dirty="0"/>
              </a:p>
              <a:p>
                <a:r>
                  <a:rPr lang="en-IN" b="1" dirty="0"/>
                  <a:t>Relevant Counts:</a:t>
                </a:r>
                <a:endParaRPr lang="en-IN" dirty="0"/>
              </a:p>
              <a:p>
                <a:pPr lvl="0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&lt;s&gt;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IN" dirty="0"/>
              </a:p>
              <a:p>
                <a:pPr lvl="0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I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IN" dirty="0"/>
              </a:p>
              <a:p>
                <a:pPr lvl="0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am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IN" dirty="0"/>
              </a:p>
              <a:p>
                <a:pPr lvl="0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Sam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IN" dirty="0"/>
              </a:p>
              <a:p>
                <a:pPr lvl="0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&lt;s&gt;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IN" i="0"/>
                          <m:t>I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IN" dirty="0"/>
              </a:p>
              <a:p>
                <a:pPr lvl="0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I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IN" i="0"/>
                          <m:t>am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IN" dirty="0"/>
              </a:p>
              <a:p>
                <a:pPr lvl="0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am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IN" i="0"/>
                          <m:t>Sam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IN" dirty="0"/>
              </a:p>
              <a:p>
                <a:pPr lvl="0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Sam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IN" i="0"/>
                          <m:t>&lt;/s&gt;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A1A520-8B85-7C8C-0706-815EB67115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81000" y="685800"/>
                <a:ext cx="3886200" cy="5635274"/>
              </a:xfrm>
              <a:blipFill>
                <a:blip r:embed="rId2"/>
                <a:stretch>
                  <a:fillRect l="-1256" t="-1840" b="-12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7EB5736-348B-2BF9-08DB-D21193CA72E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855029" y="269162"/>
                <a:ext cx="3886200" cy="4351339"/>
              </a:xfrm>
            </p:spPr>
            <p:txBody>
              <a:bodyPr>
                <a:normAutofit fontScale="92500" lnSpcReduction="20000"/>
              </a:bodyPr>
              <a:lstStyle/>
              <a:p>
                <a:pPr lvl="0"/>
                <a:r>
                  <a:rPr lang="en-IN" b="1" dirty="0"/>
                  <a:t>Step 1: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I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lang="en-IN" i="0"/>
                          <m:t>&lt;s&gt;</m:t>
                        </m:r>
                      </m:e>
                    </m:d>
                  </m:oMath>
                </a14:m>
                <a:endParaRPr lang="en-IN" dirty="0"/>
              </a:p>
              <a:p>
                <a:pPr lvl="0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I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lang="en-IN" i="0"/>
                          <m:t>&lt;s&gt;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IN" i="0"/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IN" i="0"/>
                              <m:t>&lt;s&gt;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en-IN" i="0"/>
                              <m:t>I</m:t>
                            </m:r>
                          </m:e>
                        </m:d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IN" i="0"/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IN" i="0"/>
                              <m:t>&lt;s&gt;</m:t>
                            </m:r>
                          </m:e>
                        </m:d>
                      </m:den>
                    </m:f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>
                        <a:latin typeface="Cambria Math" panose="02040503050406030204" pitchFamily="18" charset="0"/>
                      </a:rPr>
                      <m:t>≈0.66667</m:t>
                    </m:r>
                  </m:oMath>
                </a14:m>
                <a:endParaRPr lang="en-IN" dirty="0"/>
              </a:p>
              <a:p>
                <a:pPr lvl="0"/>
                <a:r>
                  <a:rPr lang="en-IN" b="1" dirty="0"/>
                  <a:t>Step 2: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am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lang="en-IN" i="0"/>
                          <m:t>I</m:t>
                        </m:r>
                      </m:e>
                    </m:d>
                  </m:oMath>
                </a14:m>
                <a:endParaRPr lang="en-IN" dirty="0"/>
              </a:p>
              <a:p>
                <a:pPr lvl="0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am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lang="en-IN" i="0"/>
                          <m:t>I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IN" i="0"/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IN" i="0"/>
                              <m:t>I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en-IN" i="0"/>
                              <m:t>am</m:t>
                            </m:r>
                          </m:e>
                        </m:d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IN" i="0"/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IN" i="0"/>
                              <m:t>I</m:t>
                            </m:r>
                          </m:e>
                        </m:d>
                      </m:den>
                    </m:f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>
                        <a:latin typeface="Cambria Math" panose="02040503050406030204" pitchFamily="18" charset="0"/>
                      </a:rPr>
                      <m:t>≈0.66667</m:t>
                    </m:r>
                  </m:oMath>
                </a14:m>
                <a:endParaRPr lang="en-IN" dirty="0"/>
              </a:p>
              <a:p>
                <a:pPr lvl="0"/>
                <a:r>
                  <a:rPr lang="en-IN" b="1" dirty="0"/>
                  <a:t>Step 3: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Sam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lang="en-IN" i="0"/>
                          <m:t>am</m:t>
                        </m:r>
                      </m:e>
                    </m:d>
                  </m:oMath>
                </a14:m>
                <a:endParaRPr lang="en-IN" dirty="0"/>
              </a:p>
              <a:p>
                <a:pPr lvl="0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Sam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lang="en-IN" i="0"/>
                          <m:t>am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IN" i="0"/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IN" i="0"/>
                              <m:t>am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en-IN" i="0"/>
                              <m:t>Sam</m:t>
                            </m:r>
                          </m:e>
                        </m:d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IN" i="0"/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IN" i="0"/>
                              <m:t>am</m:t>
                            </m:r>
                          </m:e>
                        </m:d>
                      </m:den>
                    </m:f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>
                        <a:latin typeface="Cambria Math" panose="02040503050406030204" pitchFamily="18" charset="0"/>
                      </a:rPr>
                      <m:t>=0.50000</m:t>
                    </m:r>
                  </m:oMath>
                </a14:m>
                <a:endParaRPr lang="en-IN" dirty="0"/>
              </a:p>
              <a:p>
                <a:pPr lvl="0"/>
                <a:r>
                  <a:rPr lang="en-IN" b="1" dirty="0"/>
                  <a:t>Step 4: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&lt;/s&gt;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lang="en-IN" i="0"/>
                          <m:t>Sam</m:t>
                        </m:r>
                      </m:e>
                    </m:d>
                  </m:oMath>
                </a14:m>
                <a:endParaRPr lang="en-IN" dirty="0"/>
              </a:p>
              <a:p>
                <a:pPr lvl="0"/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&lt;/s&gt;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lang="en-IN" i="0"/>
                          <m:t>Sam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IN" i="0"/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IN" i="0"/>
                              <m:t>Sam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en-IN" i="0"/>
                              <m:t>&lt;/s&gt;</m:t>
                            </m:r>
                          </m:e>
                        </m:d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IN" i="0"/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IN" i="0"/>
                              <m:t>Sam</m:t>
                            </m:r>
                          </m:e>
                        </m:d>
                      </m:den>
                    </m:f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>
                        <a:latin typeface="Cambria Math" panose="02040503050406030204" pitchFamily="18" charset="0"/>
                      </a:rPr>
                      <m:t>=0.50000</m:t>
                    </m:r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7EB5736-348B-2BF9-08DB-D21193CA72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855029" y="269162"/>
                <a:ext cx="3886200" cy="4351339"/>
              </a:xfrm>
              <a:blipFill>
                <a:blip r:embed="rId3"/>
                <a:stretch>
                  <a:fillRect l="-1097" t="-2381" b="-5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34865C-3840-4E97-803A-420722F0DA7A}"/>
                  </a:ext>
                </a:extLst>
              </p:cNvPr>
              <p:cNvSpPr txBox="1"/>
              <p:nvPr/>
            </p:nvSpPr>
            <p:spPr>
              <a:xfrm>
                <a:off x="4512129" y="5325607"/>
                <a:ext cx="4572000" cy="12632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𝑃𝑃</m:t>
                    </m:r>
                    <m:d>
                      <m:dPr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𝑊</m:t>
                        </m:r>
                      </m:e>
                    </m:d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I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𝑃</m:t>
                    </m:r>
                    <m:sSup>
                      <m:sSupPr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𝑊</m:t>
                            </m:r>
                          </m:e>
                        </m:d>
                      </m:e>
                      <m:sup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  <m:f>
                          <m:fPr>
                            <m:ctrlP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en-I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𝑛</m:t>
                            </m:r>
                          </m:den>
                        </m:f>
                      </m:sup>
                    </m:sSup>
                  </m:oMath>
                </a14:m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where 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=4</m:t>
                    </m:r>
                  </m:oMath>
                </a14:m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𝑃𝑃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𝑊</m:t>
                          </m:r>
                        </m:e>
                      </m:d>
                      <m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0" lang="en-IN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r>
                                    <a:rPr kumimoji="0" lang="en-IN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0" lang="en-IN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f>
                            <m:fPr>
                              <m:ctrlP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  <m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9</m:t>
                          </m:r>
                        </m:e>
                        <m:sup>
                          <m:f>
                            <m:fPr>
                              <m:ctrlP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  <m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radPr>
                        <m:deg/>
                        <m:e>
                          <m:rad>
                            <m:radPr>
                              <m:degHide m:val="on"/>
                              <m:ctrlP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9</m:t>
                              </m:r>
                            </m:e>
                          </m:rad>
                        </m:e>
                      </m:rad>
                      <m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radPr>
                        <m:deg/>
                        <m:e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e>
                      </m:rad>
                      <m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≈1.732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ogle Sans Tex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34865C-3840-4E97-803A-420722F0DA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2129" y="5325607"/>
                <a:ext cx="4572000" cy="12632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69DFD20-C548-E479-17C7-4D3C19FA32EF}"/>
                  </a:ext>
                </a:extLst>
              </p:cNvPr>
              <p:cNvSpPr txBox="1"/>
              <p:nvPr/>
            </p:nvSpPr>
            <p:spPr>
              <a:xfrm>
                <a:off x="4419600" y="4620501"/>
                <a:ext cx="4576664" cy="612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I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𝑊</m:t>
                          </m:r>
                        </m:e>
                      </m:d>
                      <m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num>
                        <m:den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den>
                      </m:f>
                      <m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f>
                        <m:fPr>
                          <m:ctrl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num>
                        <m:den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den>
                      </m:f>
                      <m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f>
                        <m:fPr>
                          <m:ctrl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den>
                      </m:f>
                      <m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f>
                        <m:fPr>
                          <m:ctrl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den>
                      </m:f>
                      <m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</m:num>
                        <m:den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36</m:t>
                          </m:r>
                        </m:den>
                      </m:f>
                      <m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9</m:t>
                          </m:r>
                        </m:den>
                      </m:f>
                      <m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≈0.11111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ogle Sans Tex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69DFD20-C548-E479-17C7-4D3C19FA3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0" y="4620501"/>
                <a:ext cx="4576664" cy="6127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15795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21B21-FD1A-A8CD-A73B-5BA1744CC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877BD7-A0F8-1A16-477E-51F6615A7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52400"/>
            <a:ext cx="7886700" cy="1325563"/>
          </a:xfrm>
        </p:spPr>
        <p:txBody>
          <a:bodyPr/>
          <a:lstStyle/>
          <a:p>
            <a:r>
              <a:rPr lang="en-IN" dirty="0"/>
              <a:t>Solution: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58978D-9641-EA40-8987-D47A6161AB6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066800" y="1066801"/>
                <a:ext cx="7010400" cy="3733800"/>
              </a:xfrm>
            </p:spPr>
            <p:txBody>
              <a:bodyPr>
                <a:normAutofit fontScale="92500" lnSpcReduction="10000"/>
              </a:bodyPr>
              <a:lstStyle/>
              <a:p>
                <a:pPr lvl="0"/>
                <a:r>
                  <a:rPr lang="en-IN" b="1" dirty="0"/>
                  <a:t>Calculation via Log Cross-Entropy:</a:t>
                </a:r>
                <a:endParaRPr lang="en-IN" b="1" i="1" dirty="0"/>
              </a:p>
              <a:p>
                <a:pPr lvl="0"/>
                <a14:m>
                  <m:oMath xmlns:m="http://schemas.openxmlformats.org/officeDocument/2006/math">
                    <m:func>
                      <m:func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func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I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lang="en-IN" i="0"/>
                          <m:t>&lt;s&gt;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2/3</m:t>
                            </m:r>
                          </m:e>
                        </m:d>
                      </m:e>
                    </m:func>
                    <m:r>
                      <a:rPr lang="en-IN">
                        <a:latin typeface="Cambria Math" panose="02040503050406030204" pitchFamily="18" charset="0"/>
                      </a:rPr>
                      <m:t>≈−0.58496</m:t>
                    </m:r>
                  </m:oMath>
                </a14:m>
                <a:endParaRPr lang="en-IN" dirty="0"/>
              </a:p>
              <a:p>
                <a:pPr lvl="0"/>
                <a14:m>
                  <m:oMath xmlns:m="http://schemas.openxmlformats.org/officeDocument/2006/math">
                    <m:func>
                      <m:func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func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am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lang="en-IN" i="0"/>
                          <m:t>I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2/3</m:t>
                            </m:r>
                          </m:e>
                        </m:d>
                      </m:e>
                    </m:func>
                    <m:r>
                      <a:rPr lang="en-IN">
                        <a:latin typeface="Cambria Math" panose="02040503050406030204" pitchFamily="18" charset="0"/>
                      </a:rPr>
                      <m:t>≈−0.58496</m:t>
                    </m:r>
                  </m:oMath>
                </a14:m>
                <a:endParaRPr lang="en-IN" dirty="0"/>
              </a:p>
              <a:p>
                <a:pPr lvl="0"/>
                <a14:m>
                  <m:oMath xmlns:m="http://schemas.openxmlformats.org/officeDocument/2006/math">
                    <m:func>
                      <m:func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func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Sam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lang="en-IN" i="0"/>
                          <m:t>am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1/2</m:t>
                            </m:r>
                          </m:e>
                        </m:d>
                      </m:e>
                    </m:func>
                    <m:r>
                      <a:rPr lang="en-IN">
                        <a:latin typeface="Cambria Math" panose="02040503050406030204" pitchFamily="18" charset="0"/>
                      </a:rPr>
                      <m:t>=−1.00000</m:t>
                    </m:r>
                  </m:oMath>
                </a14:m>
                <a:endParaRPr lang="en-IN" dirty="0"/>
              </a:p>
              <a:p>
                <a:pPr lvl="0"/>
                <a14:m>
                  <m:oMath xmlns:m="http://schemas.openxmlformats.org/officeDocument/2006/math">
                    <m:func>
                      <m:func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func>
                    <m:d>
                      <m:dPr>
                        <m:ctrlPr>
                          <a:rPr lang="en-IN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0"/>
                          <m:t>&lt;/s&gt;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lang="en-IN" i="0"/>
                          <m:t>Sam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1/2</m:t>
                            </m:r>
                          </m:e>
                        </m:d>
                      </m:e>
                    </m:func>
                    <m:r>
                      <a:rPr lang="en-IN">
                        <a:latin typeface="Cambria Math" panose="02040503050406030204" pitchFamily="18" charset="0"/>
                      </a:rPr>
                      <m:t>=−1.00000</m:t>
                    </m:r>
                  </m:oMath>
                </a14:m>
                <a:endParaRPr lang="en-IN" dirty="0"/>
              </a:p>
              <a:p>
                <a:r>
                  <a:rPr lang="en-IN" b="1" dirty="0"/>
                  <a:t>Cross-Entropy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</m:oMath>
                </a14:m>
                <a:r>
                  <a:rPr lang="en-IN" b="1" dirty="0"/>
                  <a:t>:</a:t>
                </a:r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−0.58496</m:t>
                            </m:r>
                          </m:e>
                        </m:d>
                        <m:r>
                          <a:rPr lang="en-IN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−0.58496</m:t>
                            </m:r>
                          </m:e>
                        </m:d>
                        <m:r>
                          <a:rPr lang="en-IN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−1.00000</m:t>
                            </m:r>
                          </m:e>
                        </m:d>
                        <m:r>
                          <a:rPr lang="en-IN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−1.00000</m:t>
                            </m:r>
                          </m:e>
                        </m:d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−3.16992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≈0.79248</m:t>
                    </m:r>
                    <m:r>
                      <m:rPr>
                        <m:nor/>
                      </m:rPr>
                      <a:rPr lang="en-IN" i="0"/>
                      <m:t> bits/word</m:t>
                    </m:r>
                  </m:oMath>
                </a14:m>
                <a:endParaRPr lang="en-IN" dirty="0"/>
              </a:p>
              <a:p>
                <a:r>
                  <a:rPr lang="en-IN" b="1" dirty="0"/>
                  <a:t>Perplexity:</a:t>
                </a:r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𝑃𝑃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sup>
                    </m:sSup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>
                            <a:latin typeface="Cambria Math" panose="02040503050406030204" pitchFamily="18" charset="0"/>
                          </a:rPr>
                          <m:t>0.79248</m:t>
                        </m:r>
                      </m:sup>
                    </m:sSup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>
                        <a:latin typeface="Cambria Math" panose="02040503050406030204" pitchFamily="18" charset="0"/>
                      </a:rPr>
                      <m:t>≈1.732</m:t>
                    </m:r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58978D-9641-EA40-8987-D47A6161AB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066800" y="1066801"/>
                <a:ext cx="7010400" cy="3733800"/>
              </a:xfrm>
              <a:blipFill>
                <a:blip r:embed="rId2"/>
                <a:stretch>
                  <a:fillRect l="-609" t="-2121" b="-53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40506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7FC1CD2-916B-55D0-4AE4-C4CB1EDCD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228600"/>
            <a:ext cx="7886700" cy="1325563"/>
          </a:xfrm>
        </p:spPr>
        <p:txBody>
          <a:bodyPr/>
          <a:lstStyle/>
          <a:p>
            <a:r>
              <a:rPr lang="en-IN" dirty="0"/>
              <a:t>Solution: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978C73-9EB6-ECE1-DDD9-8B750FD85D39}"/>
                  </a:ext>
                </a:extLst>
              </p:cNvPr>
              <p:cNvSpPr txBox="1"/>
              <p:nvPr/>
            </p:nvSpPr>
            <p:spPr>
              <a:xfrm>
                <a:off x="250760" y="661325"/>
                <a:ext cx="4572000" cy="60989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2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Model: N = 3 (Trigram)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2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Represent training data set for Trigram Model: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&lt;s&gt; &lt;s&gt; I am Sam &lt;/s&gt;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&lt;s&gt; &lt;s&gt; Sam I am &lt;/s&gt;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&lt;s&gt; &lt;s&gt; I do not like green eggs &lt;/s&gt;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Test data: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&lt;s&gt; &lt;s&gt; I am Sam &lt;/s&gt;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Evaluated tokens: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𝑤</m:t>
                        </m:r>
                      </m:e>
                      <m:sub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m:rPr>
                        <m:nor/>
                      </m:rP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m:t>I</m:t>
                    </m:r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, </m:t>
                    </m:r>
                    <m:sSub>
                      <m:sSubPr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𝑤</m:t>
                        </m:r>
                      </m:e>
                      <m:sub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m:rPr>
                        <m:nor/>
                      </m:rP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m:t>am</m:t>
                    </m:r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, </m:t>
                    </m:r>
                    <m:sSub>
                      <m:sSubPr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𝑤</m:t>
                        </m:r>
                      </m:e>
                      <m:sub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sub>
                    </m:sSub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m:rPr>
                        <m:nor/>
                      </m:rP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m:t>Sam</m:t>
                    </m:r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, </m:t>
                    </m:r>
                    <m:sSub>
                      <m:sSubPr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𝑤</m:t>
                        </m:r>
                      </m:e>
                      <m:sub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4</m:t>
                        </m:r>
                      </m:sub>
                    </m:sSub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m:rPr>
                        <m:nor/>
                      </m:rP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m:t>&lt;/s&gt;</m:t>
                    </m:r>
                  </m:oMath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Number of tokens (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</m:oMath>
                </a14:m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): </a:t>
                </a:r>
                <a14:m>
                  <m:oMath xmlns:m="http://schemas.openxmlformats.org/officeDocument/2006/math"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4</m:t>
                    </m:r>
                  </m:oMath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I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𝑊</m:t>
                          </m:r>
                        </m:e>
                      </m:d>
                      <m:r>
                        <a:rPr kumimoji="0" lang="en-I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I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</m:t>
                      </m:r>
                      <m:d>
                        <m:dPr>
                          <m:ctrl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kumimoji="0" lang="en-IN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m:t> | &lt;s&gt;,&lt;s&gt;</m:t>
                          </m:r>
                        </m:e>
                      </m:d>
                      <m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r>
                        <a:rPr kumimoji="0" lang="en-I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</m:t>
                      </m:r>
                      <m:d>
                        <m:dPr>
                          <m:ctrl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m:t>am</m:t>
                          </m:r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∣</m:t>
                          </m:r>
                          <m:r>
                            <m:rPr>
                              <m:nor/>
                            </m:rPr>
                            <a:rPr kumimoji="0" lang="en-IN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&lt;s&gt;, </m:t>
                          </m:r>
                          <m:r>
                            <m:rPr>
                              <m:nor/>
                            </m:r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m:t>I</m:t>
                          </m:r>
                        </m:e>
                      </m:d>
                      <m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r>
                        <a:rPr kumimoji="0" lang="en-I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</m:t>
                      </m:r>
                      <m:d>
                        <m:dPr>
                          <m:ctrl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m:t>Sam</m:t>
                          </m:r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∣</m:t>
                          </m:r>
                          <m:r>
                            <m:rPr>
                              <m:nor/>
                            </m:rPr>
                            <a:rPr kumimoji="0" lang="en-IN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I, </m:t>
                          </m:r>
                          <m:r>
                            <m:rPr>
                              <m:nor/>
                            </m:r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m:t>am</m:t>
                          </m:r>
                        </m:e>
                      </m:d>
                      <m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r>
                        <a:rPr kumimoji="0" lang="en-I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</m:t>
                      </m:r>
                      <m:d>
                        <m:dPr>
                          <m:ctrl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m:t>&lt;/s&gt;</m:t>
                          </m:r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∣</m:t>
                          </m:r>
                          <m:r>
                            <m:rPr>
                              <m:nor/>
                            </m:rPr>
                            <a:rPr kumimoji="0" lang="en-IN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am, </m:t>
                          </m:r>
                          <m:r>
                            <m:rPr>
                              <m:nor/>
                            </m:r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m:t>Sam</m:t>
                          </m:r>
                        </m:e>
                      </m:d>
                      <m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I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</m:t>
                      </m:r>
                      <m:d>
                        <m:dPr>
                          <m:ctrl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m:t>I</m:t>
                          </m:r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∣</m:t>
                          </m:r>
                          <m:r>
                            <m:rPr>
                              <m:nor/>
                            </m:r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m:t>&lt;s&gt;</m:t>
                          </m:r>
                        </m:e>
                      </m:d>
                      <m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r>
                        <a:rPr kumimoji="0" lang="en-I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</m:t>
                      </m:r>
                      <m:d>
                        <m:dPr>
                          <m:ctrl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m:t>am</m:t>
                          </m:r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∣</m:t>
                          </m:r>
                          <m:r>
                            <m:rPr>
                              <m:nor/>
                            </m:r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m:t>I</m:t>
                          </m:r>
                        </m:e>
                      </m:d>
                      <m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r>
                        <a:rPr kumimoji="0" lang="en-I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</m:t>
                      </m:r>
                      <m:d>
                        <m:dPr>
                          <m:ctrl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m:t>Sam</m:t>
                          </m:r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∣</m:t>
                          </m:r>
                          <m:r>
                            <m:rPr>
                              <m:nor/>
                            </m:r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m:t>am</m:t>
                          </m:r>
                        </m:e>
                      </m:d>
                      <m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r>
                        <a:rPr kumimoji="0" lang="en-I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</m:t>
                      </m:r>
                      <m:d>
                        <m:dPr>
                          <m:ctrl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m:t>&lt;/s&gt;</m:t>
                          </m:r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∣</m:t>
                          </m:r>
                          <m:r>
                            <m:rPr>
                              <m:nor/>
                            </m:r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m:t>Sam</m:t>
                          </m:r>
                        </m:e>
                      </m:d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The Trigram MLE formula is: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</m:e>
                        <m:sub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𝑀𝐿𝐸</m:t>
                          </m:r>
                        </m:sub>
                      </m:sSub>
                      <m:d>
                        <m:dPr>
                          <m:ctrlP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𝑘</m:t>
                              </m:r>
                            </m:sub>
                          </m:sSub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∣</m:t>
                          </m:r>
                          <m:sSub>
                            <m:sSubPr>
                              <m:ctrlP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𝑘</m:t>
                              </m:r>
                              <m: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−2</m:t>
                              </m:r>
                            </m:sub>
                          </m:sSub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0" lang="en-I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𝑘</m:t>
                              </m:r>
                              <m: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  <m:d>
                            <m:dPr>
                              <m:ctrlP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𝑘</m:t>
                                  </m:r>
                                  <m:r>
                                    <a:rPr kumimoji="0" lang="en-IN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−2</m:t>
                                  </m:r>
                                </m:sub>
                              </m:sSub>
                              <m: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𝑘</m:t>
                                  </m:r>
                                  <m:r>
                                    <a:rPr kumimoji="0" lang="en-IN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  <m:d>
                            <m:dPr>
                              <m:ctrlP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𝑘</m:t>
                                  </m:r>
                                  <m:r>
                                    <a:rPr kumimoji="0" lang="en-IN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−2</m:t>
                                  </m:r>
                                </m:sub>
                              </m:sSub>
                              <m: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IN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0" lang="en-IN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𝑘</m:t>
                                  </m:r>
                                  <m:r>
                                    <a:rPr kumimoji="0" lang="en-IN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3978C73-9EB6-ECE1-DDD9-8B750FD85D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60" y="661325"/>
                <a:ext cx="4572000" cy="6098914"/>
              </a:xfrm>
              <a:prstGeom prst="rect">
                <a:avLst/>
              </a:prstGeom>
              <a:blipFill>
                <a:blip r:embed="rId3"/>
                <a:stretch>
                  <a:fillRect l="-1600" t="-5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2A85E5F-789D-A796-877E-37DCF16F7CD8}"/>
                  </a:ext>
                </a:extLst>
              </p:cNvPr>
              <p:cNvSpPr txBox="1"/>
              <p:nvPr/>
            </p:nvSpPr>
            <p:spPr>
              <a:xfrm>
                <a:off x="4724400" y="602238"/>
                <a:ext cx="4321240" cy="62170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I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Step 1: 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𝑃</m:t>
                    </m:r>
                    <m:d>
                      <m:dPr>
                        <m:ctrl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m:t>I</m:t>
                        </m:r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m:t>&lt;s&gt;</m:t>
                        </m:r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m:t>&lt;s&gt;</m:t>
                        </m:r>
                      </m:e>
                    </m:d>
                  </m:oMath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𝑃</m:t>
                    </m:r>
                    <m:d>
                      <m:dPr>
                        <m:ctrl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m:t>I</m:t>
                        </m:r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m:t>&lt;s&gt;</m:t>
                        </m:r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m:t>&lt;s&gt;</m:t>
                        </m:r>
                      </m:e>
                    </m:d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  <m:d>
                          <m:dPr>
                            <m:ctrlP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m:t>&lt;s&gt;</m:t>
                            </m:r>
                            <m: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m:t>&lt;s&gt;</m:t>
                            </m:r>
                            <m: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m:t>I</m:t>
                            </m:r>
                          </m:e>
                        </m:d>
                      </m:num>
                      <m:den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  <m:d>
                          <m:dPr>
                            <m:ctrlP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m:t>&lt;s&gt;</m:t>
                            </m:r>
                            <m: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m:t>&lt;s&gt;</m:t>
                            </m:r>
                          </m:e>
                        </m:d>
                      </m:den>
                    </m:f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num>
                      <m:den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den>
                    </m:f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≈0.66667</m:t>
                    </m:r>
                  </m:oMath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I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Step 2: 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𝑃</m:t>
                    </m:r>
                    <m:d>
                      <m:dPr>
                        <m:ctrl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m:t>am</m:t>
                        </m:r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m:t>&lt;s&gt;</m:t>
                        </m:r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m:t>I</m:t>
                        </m:r>
                      </m:e>
                    </m:d>
                  </m:oMath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𝑃</m:t>
                    </m:r>
                    <m:d>
                      <m:dPr>
                        <m:ctrl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m:t>am</m:t>
                        </m:r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m:t>&lt;s&gt;</m:t>
                        </m:r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m:t>I</m:t>
                        </m:r>
                      </m:e>
                    </m:d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  <m:d>
                          <m:dPr>
                            <m:ctrlP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m:t>&lt;s&gt;</m:t>
                            </m:r>
                            <m: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m:t>I</m:t>
                            </m:r>
                            <m: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m:t>am</m:t>
                            </m:r>
                          </m:e>
                        </m:d>
                      </m:num>
                      <m:den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  <m:d>
                          <m:dPr>
                            <m:ctrlP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m:t>&lt;s&gt;</m:t>
                            </m:r>
                            <m: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m:t>I</m:t>
                            </m:r>
                          </m:e>
                        </m:d>
                      </m:den>
                    </m:f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den>
                    </m:f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=0.50000</m:t>
                    </m:r>
                  </m:oMath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I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Step 3: 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𝑃</m:t>
                    </m:r>
                    <m:d>
                      <m:dPr>
                        <m:ctrl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m:t>Sam</m:t>
                        </m:r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m:t>I</m:t>
                        </m:r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m:t>am</m:t>
                        </m:r>
                      </m:e>
                    </m:d>
                  </m:oMath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𝑃</m:t>
                    </m:r>
                    <m:d>
                      <m:dPr>
                        <m:ctrl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m:t>Sam</m:t>
                        </m:r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m:t>I</m:t>
                        </m:r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m:t>am</m:t>
                        </m:r>
                      </m:e>
                    </m:d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  <m:d>
                          <m:dPr>
                            <m:ctrlP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m:t>I</m:t>
                            </m:r>
                            <m: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m:t>am</m:t>
                            </m:r>
                            <m: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m:t>Sam</m:t>
                            </m:r>
                          </m:e>
                        </m:d>
                      </m:num>
                      <m:den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  <m:d>
                          <m:dPr>
                            <m:ctrlP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m:t>I</m:t>
                            </m:r>
                            <m: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m:t>am</m:t>
                            </m:r>
                          </m:e>
                        </m:d>
                      </m:den>
                    </m:f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den>
                    </m:f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=0.50000</m:t>
                    </m:r>
                  </m:oMath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I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Step 4: 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𝑃</m:t>
                    </m:r>
                    <m:d>
                      <m:dPr>
                        <m:ctrl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m:t>&lt;/s&gt;</m:t>
                        </m:r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m:t>am</m:t>
                        </m:r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m:t>Sam</m:t>
                        </m:r>
                      </m:e>
                    </m:d>
                  </m:oMath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𝑃</m:t>
                    </m:r>
                    <m:d>
                      <m:dPr>
                        <m:ctrl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m:t>&lt;/s&gt;</m:t>
                        </m:r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∣</m:t>
                        </m:r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m:t>am</m:t>
                        </m:r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</m:t>
                        </m:r>
                        <m:r>
                          <m:rPr>
                            <m:nor/>
                          </m:r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rPr>
                          <m:t>Sam</m:t>
                        </m:r>
                      </m:e>
                    </m:d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  <m:d>
                          <m:dPr>
                            <m:ctrlP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m:t>am</m:t>
                            </m:r>
                            <m: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m:t>Sam</m:t>
                            </m:r>
                            <m: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m:t>&lt;/s&gt;</m:t>
                            </m:r>
                          </m:e>
                        </m:d>
                      </m:num>
                      <m:den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  <m:d>
                          <m:dPr>
                            <m:ctrlP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m:t>am</m:t>
                            </m:r>
                            <m: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libri" panose="020F0502020204030204"/>
                                <a:ea typeface="+mn-ea"/>
                                <a:cs typeface="+mn-cs"/>
                              </a:rPr>
                              <m:t>Sam</m:t>
                            </m:r>
                          </m:e>
                        </m:d>
                      </m:den>
                    </m:f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den>
                    </m:f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=1.00000</m:t>
                    </m:r>
                  </m:oMath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ogle Sans Text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𝑃</m:t>
                    </m:r>
                    <m:d>
                      <m:dPr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𝑊</m:t>
                        </m:r>
                      </m:e>
                    </m:d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num>
                      <m:den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3</m:t>
                        </m:r>
                      </m:den>
                    </m:f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</m:t>
                    </m:r>
                    <m:f>
                      <m:fPr>
                        <m:ctrl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den>
                    </m:f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</m:t>
                    </m:r>
                    <m:f>
                      <m:fPr>
                        <m:ctrl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den>
                    </m:f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×1=</m:t>
                    </m:r>
                    <m:f>
                      <m:fPr>
                        <m:ctrl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num>
                      <m:den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12</m:t>
                        </m:r>
                      </m:den>
                    </m:f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6</m:t>
                        </m:r>
                      </m:den>
                    </m:f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≈0.16667</m:t>
                    </m:r>
                  </m:oMath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𝑃𝑃</m:t>
                    </m:r>
                    <m:d>
                      <m:dPr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𝑊</m:t>
                        </m:r>
                      </m:e>
                    </m:d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p>
                      <m:sSupPr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kumimoji="0" lang="en-IN" sz="18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fPr>
                              <m:num>
                                <m:r>
                                  <a:rPr kumimoji="0" lang="en-IN" sz="18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kumimoji="0" lang="en-IN" sz="1800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  <m:f>
                          <m:fPr>
                            <m:ctrlP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p>
                      <m:sSupPr>
                        <m:ctrlP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6</m:t>
                        </m:r>
                      </m:e>
                      <m:sup>
                        <m:f>
                          <m:fPr>
                            <m:ctrlP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ad>
                      <m:radPr>
                        <m:degHide m:val="on"/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radPr>
                      <m:deg/>
                      <m:e>
                        <m:rad>
                          <m:radPr>
                            <m:degHide m:val="on"/>
                            <m:ctrlPr>
                              <a:rPr kumimoji="0" lang="en-I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radPr>
                          <m:deg/>
                          <m:e>
                            <m:r>
                              <a:rPr kumimoji="0" lang="en-IN" sz="18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6</m:t>
                            </m:r>
                          </m:e>
                        </m:rad>
                      </m:e>
                    </m:rad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≈</m:t>
                    </m:r>
                    <m:rad>
                      <m:radPr>
                        <m:degHide m:val="on"/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radPr>
                      <m:deg/>
                      <m:e>
                        <m:r>
                          <a:rPr kumimoji="0" lang="en-IN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2.44949</m:t>
                        </m:r>
                      </m:e>
                    </m:rad>
                    <m:r>
                      <a:rPr kumimoji="0" lang="en-IN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≈1.565</m:t>
                    </m:r>
                  </m:oMath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ogle Sans Text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oogle Sans Tex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2A85E5F-789D-A796-877E-37DCF16F7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602238"/>
                <a:ext cx="4321240" cy="6217087"/>
              </a:xfrm>
              <a:prstGeom prst="rect">
                <a:avLst/>
              </a:prstGeom>
              <a:blipFill>
                <a:blip r:embed="rId4"/>
                <a:stretch>
                  <a:fillRect l="-846" t="-5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4444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04FA3-EA75-131D-C5B6-6A7D222CE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BE25C9A-AE7C-C9C1-25E8-98A1158C6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228600"/>
            <a:ext cx="7886700" cy="1325563"/>
          </a:xfrm>
        </p:spPr>
        <p:txBody>
          <a:bodyPr/>
          <a:lstStyle/>
          <a:p>
            <a:r>
              <a:rPr lang="en-IN" b="1" dirty="0"/>
              <a:t>Solution: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F436F1C-2E74-2908-6A11-CE1362E66F3D}"/>
              </a:ext>
            </a:extLst>
          </p:cNvPr>
          <p:cNvSpPr txBox="1">
            <a:spLocks noChangeArrowheads="1"/>
          </p:cNvSpPr>
          <p:nvPr/>
        </p:nvSpPr>
        <p:spPr>
          <a:xfrm>
            <a:off x="247650" y="6057438"/>
            <a:ext cx="8648700" cy="6803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Holding test set constant: Lower perplexity = better language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AAB4B0-1263-F097-9222-26DEFE52800C}"/>
                  </a:ext>
                </a:extLst>
              </p:cNvPr>
              <p:cNvSpPr txBox="1"/>
              <p:nvPr/>
            </p:nvSpPr>
            <p:spPr>
              <a:xfrm>
                <a:off x="122270" y="765467"/>
                <a:ext cx="6811930" cy="5441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Calculation via Log Cross-Entropy: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log</m:t>
                              </m:r>
                            </m:e>
                            <m:sub>
                              <m: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</m:e>
                      </m:func>
                      <m:d>
                        <m:dPr>
                          <m:ctrl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m:t>I</m:t>
                          </m:r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∣</m:t>
                          </m:r>
                          <m:r>
                            <m:rPr>
                              <m:nor/>
                            </m:r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m:t>&lt;s&gt;</m:t>
                          </m:r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m:t>&lt;s&gt;</m:t>
                          </m:r>
                        </m:e>
                      </m:d>
                      <m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unc>
                        <m:funcPr>
                          <m:ctrlP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log</m:t>
                              </m:r>
                            </m:e>
                            <m:sub>
                              <m: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2/3</m:t>
                              </m:r>
                            </m:e>
                          </m:d>
                        </m:e>
                      </m:func>
                      <m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≈−0.58496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log</m:t>
                              </m:r>
                            </m:e>
                            <m:sub>
                              <m: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</m:e>
                      </m:func>
                      <m:d>
                        <m:dPr>
                          <m:ctrl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m:t>am</m:t>
                          </m:r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∣</m:t>
                          </m:r>
                          <m:r>
                            <m:rPr>
                              <m:nor/>
                            </m:r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m:t>&lt;s&gt;</m:t>
                          </m:r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m:t>I</m:t>
                          </m:r>
                        </m:e>
                      </m:d>
                      <m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unc>
                        <m:funcPr>
                          <m:ctrlP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log</m:t>
                              </m:r>
                            </m:e>
                            <m:sub>
                              <m: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1/2</m:t>
                              </m:r>
                            </m:e>
                          </m:d>
                        </m:e>
                      </m:func>
                      <m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=−1.00000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log</m:t>
                              </m:r>
                            </m:e>
                            <m:sub>
                              <m: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</m:e>
                      </m:func>
                      <m:d>
                        <m:dPr>
                          <m:ctrl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m:t>Sam</m:t>
                          </m:r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∣</m:t>
                          </m:r>
                          <m:r>
                            <m:rPr>
                              <m:nor/>
                            </m:r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m:t>I</m:t>
                          </m:r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m:t>am</m:t>
                          </m:r>
                        </m:e>
                      </m:d>
                      <m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unc>
                        <m:funcPr>
                          <m:ctrlP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log</m:t>
                              </m:r>
                            </m:e>
                            <m:sub>
                              <m: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1/2</m:t>
                              </m:r>
                            </m:e>
                          </m:d>
                        </m:e>
                      </m:func>
                      <m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=−1.00000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log</m:t>
                              </m:r>
                            </m:e>
                            <m:sub>
                              <m: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</m:e>
                      </m:func>
                      <m:d>
                        <m:dPr>
                          <m:ctrl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m:t>&lt;/s&gt;</m:t>
                          </m:r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∣</m:t>
                          </m:r>
                          <m:r>
                            <m:rPr>
                              <m:nor/>
                            </m:r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m:t>am</m:t>
                          </m:r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m:t>Sam</m:t>
                          </m:r>
                        </m:e>
                      </m:d>
                      <m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unc>
                        <m:funcPr>
                          <m:ctrlP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log</m:t>
                              </m:r>
                            </m:e>
                            <m:sub>
                              <m: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e>
                          </m:d>
                        </m:e>
                      </m:func>
                      <m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=0.00000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Cross-Entropy </a:t>
                </a:r>
                <a14:m>
                  <m:oMath xmlns:m="http://schemas.openxmlformats.org/officeDocument/2006/math">
                    <m:r>
                      <a:rPr kumimoji="0" lang="en-I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𝐻</m:t>
                    </m:r>
                    <m:d>
                      <m:dPr>
                        <m:ctrlP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I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𝑊</m:t>
                        </m:r>
                      </m:e>
                    </m:d>
                  </m:oMath>
                </a14:m>
                <a:r>
                  <a:rPr kumimoji="0" lang="en-I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:</a:t>
                </a: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I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𝐻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𝑊</m:t>
                          </m:r>
                        </m:e>
                      </m:d>
                      <m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</m:t>
                      </m:r>
                      <m:f>
                        <m:fPr>
                          <m:ctrl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−0.58496</m:t>
                              </m:r>
                            </m:e>
                          </m:d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d>
                            <m:dPr>
                              <m:ctrlP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−1.00000</m:t>
                              </m:r>
                            </m:e>
                          </m:d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d>
                            <m:dPr>
                              <m:ctrlP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−1.00000</m:t>
                              </m:r>
                            </m:e>
                          </m:d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+0.00000</m:t>
                          </m:r>
                        </m:e>
                      </m:d>
                      <m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</m:t>
                      </m:r>
                      <m:f>
                        <m:fPr>
                          <m:ctrl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</m:den>
                      </m:f>
                      <m:d>
                        <m:dPr>
                          <m:ctrl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−2.58496</m:t>
                          </m:r>
                        </m:e>
                      </m:d>
                      <m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≈0.64624</m:t>
                      </m:r>
                      <m:r>
                        <m:rPr>
                          <m:nor/>
                        </m:rP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m:t> bits/word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Perplexity:</a:t>
                </a: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IN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𝑃𝑃</m:t>
                      </m:r>
                      <m:d>
                        <m:dPr>
                          <m:ctrlP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𝑊</m:t>
                          </m:r>
                        </m:e>
                      </m:d>
                      <m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e>
                        <m:sup>
                          <m:r>
                            <a:rPr kumimoji="0" lang="en-I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</m:t>
                          </m:r>
                          <m:d>
                            <m:dPr>
                              <m:ctrlP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IN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𝑊</m:t>
                              </m:r>
                            </m:e>
                          </m:d>
                        </m:sup>
                      </m:sSup>
                      <m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e>
                        <m:sup>
                          <m:r>
                            <a:rPr kumimoji="0" lang="en-IN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0.64624</m:t>
                          </m:r>
                        </m:sup>
                      </m:sSup>
                      <m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≈1.565</m:t>
                      </m:r>
                    </m:oMath>
                  </m:oMathPara>
                </a14:m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The trigram model achieves a lower perplexity (</a:t>
                </a:r>
                <a:r>
                  <a:rPr kumimoji="0" lang="en-I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1.565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vs. </a:t>
                </a:r>
                <a:r>
                  <a:rPr kumimoji="0" lang="en-I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1.732</a:t>
                </a: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for the bigram model) because the additional word of history resolves ambiguity (such as knowing with certainty that &lt;/s&gt; follows am Sam)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AAB4B0-1263-F097-9222-26DEFE528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70" y="765467"/>
                <a:ext cx="6811930" cy="5441618"/>
              </a:xfrm>
              <a:prstGeom prst="rect">
                <a:avLst/>
              </a:prstGeom>
              <a:blipFill>
                <a:blip r:embed="rId3"/>
                <a:stretch>
                  <a:fillRect l="-1342" r="-7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14796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b="1" dirty="0">
                <a:solidFill>
                  <a:srgbClr val="FF0000"/>
                </a:solidFill>
              </a:rPr>
              <a:t>General Language Modeling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b="1" dirty="0">
                <a:latin typeface="Calibri" charset="0"/>
              </a:rPr>
              <a:t>Goal:</a:t>
            </a:r>
            <a:r>
              <a:rPr lang="en-US" sz="2800" dirty="0">
                <a:latin typeface="Calibri" charset="0"/>
              </a:rPr>
              <a:t> Compute the probability of a sentence W or sequence of words w</a:t>
            </a:r>
            <a:r>
              <a:rPr lang="en-US" sz="2800" baseline="-25000" dirty="0">
                <a:latin typeface="Calibri" charset="0"/>
              </a:rPr>
              <a:t>1</a:t>
            </a:r>
            <a:r>
              <a:rPr lang="en-US" sz="2800" dirty="0">
                <a:latin typeface="Calibri" charset="0"/>
              </a:rPr>
              <a:t>,w</a:t>
            </a:r>
            <a:r>
              <a:rPr lang="en-US" sz="2800" baseline="-25000" dirty="0">
                <a:latin typeface="Calibri" charset="0"/>
              </a:rPr>
              <a:t>2</a:t>
            </a:r>
            <a:r>
              <a:rPr lang="en-US" sz="2800" dirty="0">
                <a:latin typeface="Calibri" charset="0"/>
              </a:rPr>
              <a:t>,w</a:t>
            </a:r>
            <a:r>
              <a:rPr lang="en-US" sz="2800" baseline="-25000" dirty="0">
                <a:latin typeface="Calibri" charset="0"/>
              </a:rPr>
              <a:t>3</a:t>
            </a:r>
            <a:r>
              <a:rPr lang="en-US" sz="2800" dirty="0">
                <a:latin typeface="Calibri" charset="0"/>
              </a:rPr>
              <a:t>,w</a:t>
            </a:r>
            <a:r>
              <a:rPr lang="en-US" sz="2800" baseline="-25000" dirty="0">
                <a:latin typeface="Calibri" charset="0"/>
              </a:rPr>
              <a:t>4</a:t>
            </a:r>
            <a:r>
              <a:rPr lang="en-US" sz="2800" dirty="0">
                <a:latin typeface="Calibri" charset="0"/>
              </a:rPr>
              <a:t>,w</a:t>
            </a:r>
            <a:r>
              <a:rPr lang="en-US" sz="2800" baseline="-25000" dirty="0">
                <a:latin typeface="Calibri" charset="0"/>
              </a:rPr>
              <a:t>5</a:t>
            </a:r>
            <a:r>
              <a:rPr lang="en-US" sz="2800" dirty="0">
                <a:latin typeface="Calibri" charset="0"/>
              </a:rPr>
              <a:t>…</a:t>
            </a:r>
            <a:r>
              <a:rPr lang="en-US" sz="2800" dirty="0" err="1">
                <a:latin typeface="Calibri" charset="0"/>
              </a:rPr>
              <a:t>w</a:t>
            </a:r>
            <a:r>
              <a:rPr lang="en-US" sz="2800" baseline="-25000" dirty="0" err="1">
                <a:latin typeface="Calibri" charset="0"/>
              </a:rPr>
              <a:t>n</a:t>
            </a:r>
            <a:r>
              <a:rPr lang="en-US" sz="2800" dirty="0">
                <a:latin typeface="Calibri" charset="0"/>
              </a:rPr>
              <a:t> :</a:t>
            </a:r>
          </a:p>
          <a:p>
            <a:pPr lvl="1">
              <a:buNone/>
            </a:pPr>
            <a:r>
              <a:rPr lang="en-US" dirty="0">
                <a:latin typeface="Calibri" charset="0"/>
              </a:rPr>
              <a:t>     P(W) = P(w</a:t>
            </a:r>
            <a:r>
              <a:rPr lang="en-US" baseline="-25000" dirty="0">
                <a:latin typeface="Calibri" charset="0"/>
              </a:rPr>
              <a:t>1</a:t>
            </a:r>
            <a:r>
              <a:rPr lang="en-US" dirty="0">
                <a:latin typeface="Calibri" charset="0"/>
              </a:rPr>
              <a:t>,w</a:t>
            </a:r>
            <a:r>
              <a:rPr lang="en-US" baseline="-25000" dirty="0">
                <a:latin typeface="Calibri" charset="0"/>
              </a:rPr>
              <a:t>2</a:t>
            </a:r>
            <a:r>
              <a:rPr lang="en-US" dirty="0">
                <a:latin typeface="Calibri" charset="0"/>
              </a:rPr>
              <a:t>,w</a:t>
            </a:r>
            <a:r>
              <a:rPr lang="en-US" baseline="-25000" dirty="0">
                <a:latin typeface="Calibri" charset="0"/>
              </a:rPr>
              <a:t>3</a:t>
            </a:r>
            <a:r>
              <a:rPr lang="en-US" dirty="0">
                <a:latin typeface="Calibri" charset="0"/>
              </a:rPr>
              <a:t>,w</a:t>
            </a:r>
            <a:r>
              <a:rPr lang="en-US" baseline="-25000" dirty="0">
                <a:latin typeface="Calibri" charset="0"/>
              </a:rPr>
              <a:t>4</a:t>
            </a:r>
            <a:r>
              <a:rPr lang="en-US" dirty="0">
                <a:latin typeface="Calibri" charset="0"/>
              </a:rPr>
              <a:t>,w</a:t>
            </a:r>
            <a:r>
              <a:rPr lang="en-US" baseline="-25000" dirty="0">
                <a:latin typeface="Calibri" charset="0"/>
              </a:rPr>
              <a:t>5</a:t>
            </a:r>
            <a:r>
              <a:rPr lang="en-US" dirty="0">
                <a:latin typeface="Calibri" charset="0"/>
              </a:rPr>
              <a:t>,…,</a:t>
            </a:r>
            <a:r>
              <a:rPr lang="en-US" dirty="0" err="1">
                <a:latin typeface="Calibri" charset="0"/>
              </a:rPr>
              <a:t>w</a:t>
            </a:r>
            <a:r>
              <a:rPr lang="en-US" baseline="-25000" dirty="0" err="1">
                <a:latin typeface="Calibri" charset="0"/>
              </a:rPr>
              <a:t>n</a:t>
            </a:r>
            <a:r>
              <a:rPr lang="en-US" dirty="0">
                <a:latin typeface="Calibri" charset="0"/>
              </a:rPr>
              <a:t>) = P(w</a:t>
            </a:r>
            <a:r>
              <a:rPr lang="en-US" baseline="-25000" dirty="0">
                <a:latin typeface="Calibri" charset="0"/>
              </a:rPr>
              <a:t>1:n</a:t>
            </a:r>
            <a:r>
              <a:rPr lang="en-US" dirty="0">
                <a:latin typeface="Calibri" charset="0"/>
              </a:rPr>
              <a:t>)</a:t>
            </a:r>
          </a:p>
          <a:p>
            <a:pPr eaLnBrk="1" hangingPunct="1"/>
            <a:r>
              <a:rPr lang="en-US" sz="2800" b="1" dirty="0">
                <a:latin typeface="Calibri" charset="0"/>
              </a:rPr>
              <a:t>OR</a:t>
            </a:r>
            <a:r>
              <a:rPr lang="en-US" sz="2800" dirty="0">
                <a:latin typeface="Calibri" charset="0"/>
              </a:rPr>
              <a:t> probability of an upcoming next word:</a:t>
            </a:r>
          </a:p>
          <a:p>
            <a:pPr lvl="1">
              <a:buNone/>
            </a:pPr>
            <a:r>
              <a:rPr lang="en-US" dirty="0">
                <a:latin typeface="Calibri" charset="0"/>
              </a:rPr>
              <a:t>		P(w</a:t>
            </a:r>
            <a:r>
              <a:rPr lang="en-US" baseline="-25000" dirty="0">
                <a:latin typeface="Calibri" charset="0"/>
              </a:rPr>
              <a:t>n</a:t>
            </a:r>
            <a:r>
              <a:rPr lang="en-US" dirty="0">
                <a:latin typeface="Calibri" charset="0"/>
              </a:rPr>
              <a:t>|w</a:t>
            </a:r>
            <a:r>
              <a:rPr lang="en-US" baseline="-25000" dirty="0">
                <a:latin typeface="Calibri" charset="0"/>
              </a:rPr>
              <a:t>1</a:t>
            </a:r>
            <a:r>
              <a:rPr lang="en-US" dirty="0">
                <a:latin typeface="Calibri" charset="0"/>
              </a:rPr>
              <a:t>,w</a:t>
            </a:r>
            <a:r>
              <a:rPr lang="en-US" baseline="-25000" dirty="0">
                <a:latin typeface="Calibri" charset="0"/>
              </a:rPr>
              <a:t>2</a:t>
            </a:r>
            <a:r>
              <a:rPr lang="en-US" dirty="0">
                <a:latin typeface="Calibri" charset="0"/>
              </a:rPr>
              <a:t>,…,w</a:t>
            </a:r>
            <a:r>
              <a:rPr lang="en-US" baseline="-25000" dirty="0">
                <a:latin typeface="Calibri" charset="0"/>
              </a:rPr>
              <a:t>n-1</a:t>
            </a:r>
            <a:r>
              <a:rPr lang="en-US" dirty="0">
                <a:latin typeface="Calibri" charset="0"/>
              </a:rPr>
              <a:t>) = P(w</a:t>
            </a:r>
            <a:r>
              <a:rPr lang="en-US" baseline="-25000" dirty="0">
                <a:latin typeface="Calibri" charset="0"/>
              </a:rPr>
              <a:t>n</a:t>
            </a:r>
            <a:r>
              <a:rPr lang="en-US" dirty="0">
                <a:latin typeface="Calibri" charset="0"/>
              </a:rPr>
              <a:t>|w</a:t>
            </a:r>
            <a:r>
              <a:rPr lang="en-US" baseline="-25000" dirty="0">
                <a:latin typeface="Calibri" charset="0"/>
              </a:rPr>
              <a:t>1:n-1</a:t>
            </a:r>
            <a:r>
              <a:rPr lang="en-US" dirty="0">
                <a:latin typeface="Calibri" charset="0"/>
              </a:rPr>
              <a:t>)</a:t>
            </a:r>
          </a:p>
          <a:p>
            <a:pPr lvl="1">
              <a:buNone/>
            </a:pPr>
            <a:endParaRPr lang="en-US" dirty="0">
              <a:latin typeface="Calibri" charset="0"/>
            </a:endParaRPr>
          </a:p>
          <a:p>
            <a:pPr eaLnBrk="1" hangingPunct="1"/>
            <a:r>
              <a:rPr lang="en-US" dirty="0">
                <a:latin typeface="Calibri" charset="0"/>
              </a:rPr>
              <a:t>An LM </a:t>
            </a:r>
            <a:r>
              <a:rPr lang="en-US" sz="2800" dirty="0">
                <a:latin typeface="Calibri" charset="0"/>
              </a:rPr>
              <a:t>computes either of these:</a:t>
            </a:r>
          </a:p>
          <a:p>
            <a:pPr lvl="1">
              <a:buNone/>
            </a:pPr>
            <a:r>
              <a:rPr lang="en-US" dirty="0">
                <a:latin typeface="Calibri" charset="0"/>
              </a:rPr>
              <a:t>          P(W)  ( </a:t>
            </a:r>
            <a:r>
              <a:rPr lang="en-US" i="1" dirty="0">
                <a:latin typeface="Calibri" charset="0"/>
              </a:rPr>
              <a:t>i.e.</a:t>
            </a:r>
            <a:r>
              <a:rPr lang="en-US" dirty="0">
                <a:latin typeface="Calibri" charset="0"/>
              </a:rPr>
              <a:t> P(w</a:t>
            </a:r>
            <a:r>
              <a:rPr lang="en-US" baseline="-25000" dirty="0">
                <a:latin typeface="Calibri" charset="0"/>
              </a:rPr>
              <a:t>1:n</a:t>
            </a:r>
            <a:r>
              <a:rPr lang="en-US" dirty="0">
                <a:latin typeface="Calibri" charset="0"/>
              </a:rPr>
              <a:t>))</a:t>
            </a:r>
          </a:p>
          <a:p>
            <a:pPr lvl="1">
              <a:buNone/>
            </a:pPr>
            <a:r>
              <a:rPr lang="en-US" dirty="0">
                <a:latin typeface="Calibri" charset="0"/>
              </a:rPr>
              <a:t>   </a:t>
            </a:r>
            <a:r>
              <a:rPr lang="en-US" b="1" dirty="0">
                <a:latin typeface="Calibri" charset="0"/>
              </a:rPr>
              <a:t>OR</a:t>
            </a:r>
            <a:r>
              <a:rPr lang="en-US" dirty="0">
                <a:latin typeface="Calibri" charset="0"/>
              </a:rPr>
              <a:t> P(w</a:t>
            </a:r>
            <a:r>
              <a:rPr lang="en-US" baseline="-25000" dirty="0">
                <a:latin typeface="Calibri" charset="0"/>
              </a:rPr>
              <a:t>n</a:t>
            </a:r>
            <a:r>
              <a:rPr lang="en-US" dirty="0">
                <a:latin typeface="Calibri" charset="0"/>
              </a:rPr>
              <a:t>|w</a:t>
            </a:r>
            <a:r>
              <a:rPr lang="en-US" baseline="-25000" dirty="0">
                <a:latin typeface="Calibri" charset="0"/>
              </a:rPr>
              <a:t>1</a:t>
            </a:r>
            <a:r>
              <a:rPr lang="en-US" dirty="0">
                <a:latin typeface="Calibri" charset="0"/>
              </a:rPr>
              <a:t>,w</a:t>
            </a:r>
            <a:r>
              <a:rPr lang="en-US" baseline="-25000" dirty="0">
                <a:latin typeface="Calibri" charset="0"/>
              </a:rPr>
              <a:t>2</a:t>
            </a:r>
            <a:r>
              <a:rPr lang="en-US" sz="2400" dirty="0">
                <a:latin typeface="Calibri" charset="0"/>
              </a:rPr>
              <a:t>,</a:t>
            </a:r>
            <a:r>
              <a:rPr lang="en-US" dirty="0">
                <a:latin typeface="Calibri" charset="0"/>
              </a:rPr>
              <a:t>…,w</a:t>
            </a:r>
            <a:r>
              <a:rPr lang="en-US" baseline="-25000" dirty="0">
                <a:latin typeface="Calibri" charset="0"/>
              </a:rPr>
              <a:t>n-1</a:t>
            </a:r>
            <a:r>
              <a:rPr lang="en-US" dirty="0">
                <a:latin typeface="Calibri" charset="0"/>
              </a:rPr>
              <a:t>) </a:t>
            </a:r>
            <a:r>
              <a:rPr lang="en-US" sz="2400" dirty="0">
                <a:latin typeface="Calibri" charset="0"/>
              </a:rPr>
              <a:t>( </a:t>
            </a:r>
            <a:r>
              <a:rPr lang="en-US" sz="2400" i="1" dirty="0">
                <a:latin typeface="Calibri" charset="0"/>
              </a:rPr>
              <a:t>i.e.</a:t>
            </a:r>
            <a:r>
              <a:rPr lang="en-US" sz="2400" dirty="0">
                <a:latin typeface="Calibri" charset="0"/>
              </a:rPr>
              <a:t> P(w</a:t>
            </a:r>
            <a:r>
              <a:rPr lang="en-US" sz="2400" baseline="-25000" dirty="0">
                <a:latin typeface="Calibri" charset="0"/>
              </a:rPr>
              <a:t>n</a:t>
            </a:r>
            <a:r>
              <a:rPr lang="en-US" sz="2400" dirty="0">
                <a:latin typeface="Calibri" charset="0"/>
              </a:rPr>
              <a:t>|w</a:t>
            </a:r>
            <a:r>
              <a:rPr lang="en-US" sz="2400" baseline="-25000" dirty="0">
                <a:latin typeface="Calibri" charset="0"/>
              </a:rPr>
              <a:t>1:n-1</a:t>
            </a:r>
            <a:r>
              <a:rPr lang="en-US" sz="2400" dirty="0">
                <a:latin typeface="Calibri" charset="0"/>
              </a:rPr>
              <a:t>))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9F53C331-C00A-E5A8-BB45-CE20B7FAAEC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40376879"/>
                  </p:ext>
                </p:extLst>
              </p:nvPr>
            </p:nvGraphicFramePr>
            <p:xfrm>
              <a:off x="-3009122" y="1643354"/>
              <a:ext cx="2286000" cy="1714500"/>
            </p:xfrm>
            <a:graphic>
              <a:graphicData uri="http://schemas.microsoft.com/office/powerpoint/2016/slidezoom">
                <pslz:sldZm>
                  <pslz:sldZmObj sldId="386" cId="2586377199">
                    <pslz:zmPr id="{E2261F15-84A5-4145-966E-9E97EE5262F1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Slide Zoom 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9F53C331-C00A-E5A8-BB45-CE20B7FAAEC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3009122" y="1643354"/>
                <a:ext cx="2286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6377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99728A6127F4F89CAF9F3240C8CFF" ma:contentTypeVersion="3" ma:contentTypeDescription="Create a new document." ma:contentTypeScope="" ma:versionID="7e7402f0dab3fcc782adb50016726280">
  <xsd:schema xmlns:xsd="http://www.w3.org/2001/XMLSchema" xmlns:xs="http://www.w3.org/2001/XMLSchema" xmlns:p="http://schemas.microsoft.com/office/2006/metadata/properties" xmlns:ns2="79306fda-43a2-430c-89ae-9679da3ec0e1" targetNamespace="http://schemas.microsoft.com/office/2006/metadata/properties" ma:root="true" ma:fieldsID="d53381ab9528536bd2d8f002f0f3cf7e" ns2:_="">
    <xsd:import namespace="79306fda-43a2-430c-89ae-9679da3ec0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306fda-43a2-430c-89ae-9679da3ec0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9E76F76-CDC9-4AAF-8D33-0C9708B59F79}"/>
</file>

<file path=customXml/itemProps2.xml><?xml version="1.0" encoding="utf-8"?>
<ds:datastoreItem xmlns:ds="http://schemas.openxmlformats.org/officeDocument/2006/customXml" ds:itemID="{62840AF5-EBE3-4712-A03F-6B934B5717EB}"/>
</file>

<file path=customXml/itemProps3.xml><?xml version="1.0" encoding="utf-8"?>
<ds:datastoreItem xmlns:ds="http://schemas.openxmlformats.org/officeDocument/2006/customXml" ds:itemID="{FEA70FB1-8891-4852-8E9C-54E72BDB45FC}"/>
</file>

<file path=docProps/app.xml><?xml version="1.0" encoding="utf-8"?>
<Properties xmlns="http://schemas.openxmlformats.org/officeDocument/2006/extended-properties" xmlns:vt="http://schemas.openxmlformats.org/officeDocument/2006/docPropsVTypes">
  <TotalTime>13637</TotalTime>
  <Words>2539</Words>
  <Application>Microsoft Office PowerPoint</Application>
  <PresentationFormat>On-screen Show (4:3)</PresentationFormat>
  <Paragraphs>290</Paragraphs>
  <Slides>24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6" baseType="lpstr">
      <vt:lpstr>Arial</vt:lpstr>
      <vt:lpstr>Calibri</vt:lpstr>
      <vt:lpstr>Calibri Light</vt:lpstr>
      <vt:lpstr>Cambria Math</vt:lpstr>
      <vt:lpstr>Google Sans Text</vt:lpstr>
      <vt:lpstr>Lucida Sans</vt:lpstr>
      <vt:lpstr>NimbusRomNo9L</vt:lpstr>
      <vt:lpstr>Times</vt:lpstr>
      <vt:lpstr>Times New Roman</vt:lpstr>
      <vt:lpstr>Wingdings</vt:lpstr>
      <vt:lpstr>Office Theme</vt:lpstr>
      <vt:lpstr>1_Office Theme</vt:lpstr>
      <vt:lpstr>PowerPoint Presentation</vt:lpstr>
      <vt:lpstr>Language Models (LMs)</vt:lpstr>
      <vt:lpstr>Why word prediction?</vt:lpstr>
      <vt:lpstr>General Language Modeling</vt:lpstr>
      <vt:lpstr>How to compute P(W)  or P(wn|w1, …,wn-1) ?</vt:lpstr>
      <vt:lpstr>The Chain Rule applied to compute joint probability of words in sentence:</vt:lpstr>
      <vt:lpstr>Solution: Markov Approximation</vt:lpstr>
      <vt:lpstr>Language Models: N-grams </vt:lpstr>
      <vt:lpstr>Estimating probabilities using Maximum Likelihood Estimation (MLE) :</vt:lpstr>
      <vt:lpstr>An example:</vt:lpstr>
      <vt:lpstr>Estimating probabilities using Maximum Likelihood Estimation (MLE) :</vt:lpstr>
      <vt:lpstr>Larger N-grams: Dataset?</vt:lpstr>
      <vt:lpstr>Problems with N-gram models</vt:lpstr>
      <vt:lpstr>Why study N-gram models?</vt:lpstr>
      <vt:lpstr>PowerPoint Presentation</vt:lpstr>
      <vt:lpstr>How to evaluate performance of N-gram models?</vt:lpstr>
      <vt:lpstr>Intrinsic (in-vitro) evaluation </vt:lpstr>
      <vt:lpstr>Intrinsic (in-vitro) evaluation </vt:lpstr>
      <vt:lpstr>Intrinsic (in-vitro) evaluation </vt:lpstr>
      <vt:lpstr>Example:</vt:lpstr>
      <vt:lpstr>Solution:</vt:lpstr>
      <vt:lpstr>Solution:</vt:lpstr>
      <vt:lpstr>Solution:</vt:lpstr>
      <vt:lpstr>Solution: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 Probability Theory &amp; Random Variables</dc:title>
  <dc:creator>Jigar</dc:creator>
  <cp:lastModifiedBy>Jigarkumar Shah</cp:lastModifiedBy>
  <cp:revision>1234</cp:revision>
  <dcterms:created xsi:type="dcterms:W3CDTF">2006-08-16T00:00:00Z</dcterms:created>
  <dcterms:modified xsi:type="dcterms:W3CDTF">2026-09-01T12:02:53Z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0x010100EEC99728A6127F4F89CAF9F3240C8CFF</vt:lpwstr>
  </property>
</Properties>
</file>