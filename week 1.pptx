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29" r:id="rId66"/>
    <p:sldId id="330" r:id="rId67"/>
    <p:sldId id="331" r:id="rId68"/>
    <p:sldId id="332" r:id="rId69"/>
    <p:sldId id="333" r:id="rId70"/>
    <p:sldId id="334" r:id="rId71"/>
    <p:sldId id="335" r:id="rId72"/>
    <p:sldId id="336" r:id="rId73"/>
    <p:sldId id="337" r:id="rId74"/>
    <p:sldId id="338" r:id="rId75"/>
    <p:sldId id="339" r:id="rId76"/>
    <p:sldId id="340" r:id="rId77"/>
    <p:sldId id="341" r:id="rId78"/>
    <p:sldId id="342" r:id="rId79"/>
    <p:sldId id="343" r:id="rId80"/>
    <p:sldId id="344" r:id="rId81"/>
    <p:sldId id="345" r:id="rId82"/>
    <p:sldId id="346" r:id="rId83"/>
    <p:sldId id="347" r:id="rId84"/>
    <p:sldId id="348" r:id="rId85"/>
    <p:sldId id="349" r:id="rId86"/>
    <p:sldId id="350" r:id="rId87"/>
    <p:sldId id="351" r:id="rId88"/>
    <p:sldId id="352" r:id="rId89"/>
    <p:sldId id="353" r:id="rId90"/>
    <p:sldId id="354" r:id="rId91"/>
    <p:sldId id="355" r:id="rId92"/>
    <p:sldId id="356" r:id="rId93"/>
    <p:sldId id="357" r:id="rId94"/>
    <p:sldId id="358" r:id="rId95"/>
    <p:sldId id="359" r:id="rId96"/>
    <p:sldId id="360" r:id="rId97"/>
    <p:sldId id="361" r:id="rId98"/>
    <p:sldId id="362" r:id="rId99"/>
    <p:sldId id="363" r:id="rId100"/>
    <p:sldId id="364" r:id="rId101"/>
    <p:sldId id="365" r:id="rId102"/>
    <p:sldId id="366" r:id="rId103"/>
    <p:sldId id="367" r:id="rId104"/>
    <p:sldId id="368" r:id="rId105"/>
    <p:sldId id="369" r:id="rId106"/>
    <p:sldId id="370" r:id="rId107"/>
    <p:sldId id="371" r:id="rId108"/>
    <p:sldId id="372" r:id="rId109"/>
    <p:sldId id="373" r:id="rId110"/>
    <p:sldId id="374" r:id="rId111"/>
    <p:sldId id="375" r:id="rId112"/>
    <p:sldId id="376" r:id="rId113"/>
    <p:sldId id="377" r:id="rId114"/>
    <p:sldId id="378" r:id="rId115"/>
    <p:sldId id="379" r:id="rId116"/>
    <p:sldId id="380" r:id="rId117"/>
    <p:sldId id="381" r:id="rId118"/>
    <p:sldId id="382" r:id="rId119"/>
    <p:sldId id="383" r:id="rId120"/>
    <p:sldId id="384" r:id="rId121"/>
    <p:sldId id="385" r:id="rId122"/>
    <p:sldId id="386" r:id="rId123"/>
    <p:sldId id="387" r:id="rId124"/>
    <p:sldId id="388" r:id="rId125"/>
    <p:sldId id="389" r:id="rId126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568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580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639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774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35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84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460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414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10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287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5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D8BD707-D9CF-40AE-B4C6-C98DA3205C09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38100">
              <a:lnSpc>
                <a:spcPts val="238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04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5900" y="342900"/>
            <a:ext cx="5859780" cy="1659889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3740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45"/>
              </a:spcBef>
            </a:pPr>
            <a:r>
              <a:rPr sz="5400" spc="-15" dirty="0">
                <a:solidFill>
                  <a:srgbClr val="0000CC"/>
                </a:solidFill>
              </a:rPr>
              <a:t>Introduction</a:t>
            </a:r>
            <a:endParaRPr sz="5400"/>
          </a:p>
        </p:txBody>
      </p:sp>
      <p:sp>
        <p:nvSpPr>
          <p:cNvPr id="4" name="object 4"/>
          <p:cNvSpPr txBox="1"/>
          <p:nvPr/>
        </p:nvSpPr>
        <p:spPr>
          <a:xfrm>
            <a:off x="8504935" y="479277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0173" y="207340"/>
            <a:ext cx="48710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CC"/>
                </a:solidFill>
              </a:rPr>
              <a:t>What</a:t>
            </a:r>
            <a:r>
              <a:rPr sz="3000" spc="-25" dirty="0">
                <a:solidFill>
                  <a:srgbClr val="0000CC"/>
                </a:solidFill>
              </a:rPr>
              <a:t> </a:t>
            </a:r>
            <a:r>
              <a:rPr sz="3000" dirty="0">
                <a:solidFill>
                  <a:srgbClr val="0000CC"/>
                </a:solidFill>
              </a:rPr>
              <a:t>is</a:t>
            </a:r>
            <a:r>
              <a:rPr sz="3000" spc="-10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Software </a:t>
            </a:r>
            <a:r>
              <a:rPr sz="3000" dirty="0">
                <a:solidFill>
                  <a:srgbClr val="0000CC"/>
                </a:solidFill>
              </a:rPr>
              <a:t>Engineering?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57911" y="585004"/>
            <a:ext cx="6896734" cy="3575685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485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Engineering</a:t>
            </a:r>
            <a:r>
              <a:rPr sz="30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approach</a:t>
            </a:r>
            <a:r>
              <a:rPr sz="3000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3000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0000CC"/>
                </a:solidFill>
                <a:latin typeface="Calibri"/>
                <a:cs typeface="Calibri"/>
              </a:rPr>
              <a:t>develop</a:t>
            </a:r>
            <a:r>
              <a:rPr sz="3000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software.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285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Building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Construction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Analogy.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20" dirty="0">
                <a:latin typeface="Calibri"/>
                <a:cs typeface="Calibri"/>
              </a:rPr>
              <a:t>Systematic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collection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5" dirty="0">
                <a:latin typeface="Calibri"/>
                <a:cs typeface="Calibri"/>
              </a:rPr>
              <a:t> past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experience: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285"/>
              </a:spcBef>
            </a:pPr>
            <a:r>
              <a:rPr sz="2700" spc="-15" dirty="0">
                <a:latin typeface="Arial MT"/>
                <a:cs typeface="Arial MT"/>
              </a:rPr>
              <a:t>–</a:t>
            </a:r>
            <a:r>
              <a:rPr sz="2700" spc="-15" dirty="0">
                <a:latin typeface="Calibri"/>
                <a:cs typeface="Calibri"/>
              </a:rPr>
              <a:t>Techniques,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265"/>
              </a:spcBef>
            </a:pPr>
            <a:r>
              <a:rPr sz="2700" spc="10" dirty="0">
                <a:latin typeface="Arial MT"/>
                <a:cs typeface="Arial MT"/>
              </a:rPr>
              <a:t>–</a:t>
            </a:r>
            <a:r>
              <a:rPr sz="2700" spc="10" dirty="0">
                <a:latin typeface="Calibri"/>
                <a:cs typeface="Calibri"/>
              </a:rPr>
              <a:t>Methodologies,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245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Guidelines.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4992" y="2732947"/>
            <a:ext cx="1079084" cy="21513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916167" y="3842152"/>
            <a:ext cx="289560" cy="431165"/>
            <a:chOff x="5916167" y="3842152"/>
            <a:chExt cx="289560" cy="431165"/>
          </a:xfrm>
        </p:grpSpPr>
        <p:sp>
          <p:nvSpPr>
            <p:cNvPr id="6" name="object 6"/>
            <p:cNvSpPr/>
            <p:nvPr/>
          </p:nvSpPr>
          <p:spPr>
            <a:xfrm>
              <a:off x="6088445" y="3918589"/>
              <a:ext cx="88265" cy="354965"/>
            </a:xfrm>
            <a:custGeom>
              <a:avLst/>
              <a:gdLst/>
              <a:ahLst/>
              <a:cxnLst/>
              <a:rect l="l" t="t" r="r" b="b"/>
              <a:pathLst>
                <a:path w="88264" h="354964">
                  <a:moveTo>
                    <a:pt x="87959" y="0"/>
                  </a:moveTo>
                  <a:lnTo>
                    <a:pt x="0" y="0"/>
                  </a:lnTo>
                  <a:lnTo>
                    <a:pt x="0" y="354694"/>
                  </a:lnTo>
                  <a:lnTo>
                    <a:pt x="87960" y="354694"/>
                  </a:lnTo>
                  <a:lnTo>
                    <a:pt x="8795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45284" y="3873572"/>
              <a:ext cx="143510" cy="399415"/>
            </a:xfrm>
            <a:custGeom>
              <a:avLst/>
              <a:gdLst/>
              <a:ahLst/>
              <a:cxnLst/>
              <a:rect l="l" t="t" r="r" b="b"/>
              <a:pathLst>
                <a:path w="143510" h="399414">
                  <a:moveTo>
                    <a:pt x="0" y="0"/>
                  </a:moveTo>
                  <a:lnTo>
                    <a:pt x="0" y="303638"/>
                  </a:lnTo>
                  <a:lnTo>
                    <a:pt x="143161" y="399258"/>
                  </a:lnTo>
                  <a:lnTo>
                    <a:pt x="143160" y="47889"/>
                  </a:lnTo>
                  <a:lnTo>
                    <a:pt x="120414" y="30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2100" y="3875990"/>
              <a:ext cx="237339" cy="3951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16167" y="3842152"/>
              <a:ext cx="289560" cy="48895"/>
            </a:xfrm>
            <a:custGeom>
              <a:avLst/>
              <a:gdLst/>
              <a:ahLst/>
              <a:cxnLst/>
              <a:rect l="l" t="t" r="r" b="b"/>
              <a:pathLst>
                <a:path w="289560" h="48895">
                  <a:moveTo>
                    <a:pt x="0" y="0"/>
                  </a:moveTo>
                  <a:lnTo>
                    <a:pt x="174704" y="48489"/>
                  </a:lnTo>
                  <a:lnTo>
                    <a:pt x="289357" y="46526"/>
                  </a:lnTo>
                  <a:lnTo>
                    <a:pt x="124508" y="36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7683" y="3842301"/>
              <a:ext cx="287233" cy="8202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403335" y="4766868"/>
            <a:ext cx="2311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z="2400" b="1" dirty="0">
                <a:solidFill>
                  <a:srgbClr val="888888"/>
                </a:solidFill>
                <a:latin typeface="Calibri"/>
                <a:cs typeface="Calibri"/>
              </a:rPr>
              <a:t>2</a:t>
            </a:fld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5214" y="250393"/>
            <a:ext cx="34340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IEEE</a:t>
            </a:r>
            <a:r>
              <a:rPr sz="4400" spc="-40" dirty="0"/>
              <a:t> </a:t>
            </a:r>
            <a:r>
              <a:rPr sz="4400" spc="-10" dirty="0"/>
              <a:t>Definition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909827" y="1196339"/>
            <a:ext cx="7324725" cy="2758440"/>
            <a:chOff x="909827" y="1196339"/>
            <a:chExt cx="7324725" cy="2758440"/>
          </a:xfrm>
        </p:grpSpPr>
        <p:sp>
          <p:nvSpPr>
            <p:cNvPr id="4" name="object 4"/>
            <p:cNvSpPr/>
            <p:nvPr/>
          </p:nvSpPr>
          <p:spPr>
            <a:xfrm>
              <a:off x="914399" y="1200911"/>
              <a:ext cx="7315200" cy="2749550"/>
            </a:xfrm>
            <a:custGeom>
              <a:avLst/>
              <a:gdLst/>
              <a:ahLst/>
              <a:cxnLst/>
              <a:rect l="l" t="t" r="r" b="b"/>
              <a:pathLst>
                <a:path w="7315200" h="2749550">
                  <a:moveTo>
                    <a:pt x="7315200" y="0"/>
                  </a:moveTo>
                  <a:lnTo>
                    <a:pt x="0" y="0"/>
                  </a:lnTo>
                  <a:lnTo>
                    <a:pt x="0" y="2749296"/>
                  </a:lnTo>
                  <a:lnTo>
                    <a:pt x="7315200" y="2749296"/>
                  </a:lnTo>
                  <a:lnTo>
                    <a:pt x="73152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399" y="1200911"/>
              <a:ext cx="7315200" cy="2749550"/>
            </a:xfrm>
            <a:custGeom>
              <a:avLst/>
              <a:gdLst/>
              <a:ahLst/>
              <a:cxnLst/>
              <a:rect l="l" t="t" r="r" b="b"/>
              <a:pathLst>
                <a:path w="7315200" h="2749550">
                  <a:moveTo>
                    <a:pt x="0" y="2749296"/>
                  </a:moveTo>
                  <a:lnTo>
                    <a:pt x="7315200" y="2749296"/>
                  </a:lnTo>
                  <a:lnTo>
                    <a:pt x="7315200" y="0"/>
                  </a:lnTo>
                  <a:lnTo>
                    <a:pt x="0" y="0"/>
                  </a:lnTo>
                  <a:lnTo>
                    <a:pt x="0" y="2749296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93444" y="1212341"/>
            <a:ext cx="6957695" cy="24034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4965" marR="5080" indent="-342900" algn="just">
              <a:lnSpc>
                <a:spcPts val="3779"/>
              </a:lnSpc>
              <a:spcBef>
                <a:spcPts val="7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10" dirty="0">
                <a:solidFill>
                  <a:srgbClr val="006600"/>
                </a:solidFill>
                <a:latin typeface="Calibri"/>
                <a:cs typeface="Calibri"/>
              </a:rPr>
              <a:t>“Software </a:t>
            </a:r>
            <a:r>
              <a:rPr sz="3000" spc="-5" dirty="0">
                <a:solidFill>
                  <a:srgbClr val="006600"/>
                </a:solidFill>
                <a:latin typeface="Calibri"/>
                <a:cs typeface="Calibri"/>
              </a:rPr>
              <a:t>engineering </a:t>
            </a:r>
            <a:r>
              <a:rPr sz="3000" dirty="0">
                <a:solidFill>
                  <a:srgbClr val="006600"/>
                </a:solidFill>
                <a:latin typeface="Calibri"/>
                <a:cs typeface="Calibri"/>
              </a:rPr>
              <a:t>is the </a:t>
            </a:r>
            <a:r>
              <a:rPr sz="3000" spc="-10" dirty="0">
                <a:solidFill>
                  <a:srgbClr val="006600"/>
                </a:solidFill>
                <a:latin typeface="Calibri"/>
                <a:cs typeface="Calibri"/>
              </a:rPr>
              <a:t>application </a:t>
            </a:r>
            <a:r>
              <a:rPr sz="3000" spc="-5" dirty="0">
                <a:solidFill>
                  <a:srgbClr val="006600"/>
                </a:solidFill>
                <a:latin typeface="Calibri"/>
                <a:cs typeface="Calibri"/>
              </a:rPr>
              <a:t>of </a:t>
            </a:r>
            <a:r>
              <a:rPr sz="3000" spc="-66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6600"/>
                </a:solidFill>
                <a:latin typeface="Calibri"/>
                <a:cs typeface="Calibri"/>
              </a:rPr>
              <a:t>a</a:t>
            </a:r>
            <a:r>
              <a:rPr sz="3000" spc="-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006600"/>
                </a:solidFill>
                <a:latin typeface="Calibri"/>
                <a:cs typeface="Calibri"/>
              </a:rPr>
              <a:t>systematic,</a:t>
            </a:r>
            <a:r>
              <a:rPr sz="3000" spc="-4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6600"/>
                </a:solidFill>
                <a:latin typeface="Calibri"/>
                <a:cs typeface="Calibri"/>
              </a:rPr>
              <a:t>disciplined,</a:t>
            </a:r>
            <a:r>
              <a:rPr sz="3000" spc="1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6600"/>
                </a:solidFill>
                <a:latin typeface="Calibri"/>
                <a:cs typeface="Calibri"/>
              </a:rPr>
              <a:t>quantifiable</a:t>
            </a:r>
            <a:endParaRPr sz="3000">
              <a:latin typeface="Calibri"/>
              <a:cs typeface="Calibri"/>
            </a:endParaRPr>
          </a:p>
          <a:p>
            <a:pPr marL="354965" marR="206375" algn="just">
              <a:lnSpc>
                <a:spcPts val="3779"/>
              </a:lnSpc>
            </a:pPr>
            <a:r>
              <a:rPr sz="3000" spc="-10" dirty="0">
                <a:solidFill>
                  <a:srgbClr val="006600"/>
                </a:solidFill>
                <a:latin typeface="Calibri"/>
                <a:cs typeface="Calibri"/>
              </a:rPr>
              <a:t>approach </a:t>
            </a:r>
            <a:r>
              <a:rPr sz="3000" spc="-15" dirty="0">
                <a:solidFill>
                  <a:srgbClr val="006600"/>
                </a:solidFill>
                <a:latin typeface="Calibri"/>
                <a:cs typeface="Calibri"/>
              </a:rPr>
              <a:t>to </a:t>
            </a:r>
            <a:r>
              <a:rPr sz="3000" dirty="0">
                <a:solidFill>
                  <a:srgbClr val="006600"/>
                </a:solidFill>
                <a:latin typeface="Calibri"/>
                <a:cs typeface="Calibri"/>
              </a:rPr>
              <a:t>the </a:t>
            </a:r>
            <a:r>
              <a:rPr sz="3000" spc="-15" dirty="0">
                <a:solidFill>
                  <a:srgbClr val="006600"/>
                </a:solidFill>
                <a:latin typeface="Calibri"/>
                <a:cs typeface="Calibri"/>
              </a:rPr>
              <a:t>development, operation, </a:t>
            </a:r>
            <a:r>
              <a:rPr sz="3000" spc="-66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6600"/>
                </a:solidFill>
                <a:latin typeface="Calibri"/>
                <a:cs typeface="Calibri"/>
              </a:rPr>
              <a:t>and </a:t>
            </a:r>
            <a:r>
              <a:rPr sz="3000" spc="-10" dirty="0">
                <a:solidFill>
                  <a:srgbClr val="006600"/>
                </a:solidFill>
                <a:latin typeface="Calibri"/>
                <a:cs typeface="Calibri"/>
              </a:rPr>
              <a:t>maintenance </a:t>
            </a:r>
            <a:r>
              <a:rPr sz="3000" spc="-5" dirty="0">
                <a:solidFill>
                  <a:srgbClr val="006600"/>
                </a:solidFill>
                <a:latin typeface="Calibri"/>
                <a:cs typeface="Calibri"/>
              </a:rPr>
              <a:t>of </a:t>
            </a:r>
            <a:r>
              <a:rPr sz="3000" spc="-15" dirty="0">
                <a:solidFill>
                  <a:srgbClr val="006600"/>
                </a:solidFill>
                <a:latin typeface="Calibri"/>
                <a:cs typeface="Calibri"/>
              </a:rPr>
              <a:t>software; </a:t>
            </a:r>
            <a:r>
              <a:rPr sz="3000" spc="-10" dirty="0">
                <a:solidFill>
                  <a:srgbClr val="006600"/>
                </a:solidFill>
                <a:latin typeface="Calibri"/>
                <a:cs typeface="Calibri"/>
              </a:rPr>
              <a:t>that </a:t>
            </a:r>
            <a:r>
              <a:rPr sz="3000" dirty="0">
                <a:solidFill>
                  <a:srgbClr val="006600"/>
                </a:solidFill>
                <a:latin typeface="Calibri"/>
                <a:cs typeface="Calibri"/>
              </a:rPr>
              <a:t>is, the </a:t>
            </a:r>
            <a:r>
              <a:rPr sz="3000" spc="-66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6600"/>
                </a:solidFill>
                <a:latin typeface="Calibri"/>
                <a:cs typeface="Calibri"/>
              </a:rPr>
              <a:t>application</a:t>
            </a:r>
            <a:r>
              <a:rPr sz="3000" spc="-1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6600"/>
                </a:solidFill>
                <a:latin typeface="Calibri"/>
                <a:cs typeface="Calibri"/>
              </a:rPr>
              <a:t>of </a:t>
            </a:r>
            <a:r>
              <a:rPr sz="3000" spc="-10" dirty="0">
                <a:solidFill>
                  <a:srgbClr val="006600"/>
                </a:solidFill>
                <a:latin typeface="Calibri"/>
                <a:cs typeface="Calibri"/>
              </a:rPr>
              <a:t>engineering</a:t>
            </a:r>
            <a:r>
              <a:rPr sz="3000" spc="1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006600"/>
                </a:solidFill>
                <a:latin typeface="Calibri"/>
                <a:cs typeface="Calibri"/>
              </a:rPr>
              <a:t>to</a:t>
            </a:r>
            <a:r>
              <a:rPr sz="3000" spc="-2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3000" spc="-30" dirty="0">
                <a:solidFill>
                  <a:srgbClr val="006600"/>
                </a:solidFill>
                <a:latin typeface="Calibri"/>
                <a:cs typeface="Calibri"/>
              </a:rPr>
              <a:t>software.”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3335" y="4766868"/>
            <a:ext cx="2311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z="2400" b="1" dirty="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6958" y="176606"/>
            <a:ext cx="3146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00CC"/>
                </a:solidFill>
              </a:rPr>
              <a:t>Software</a:t>
            </a:r>
            <a:r>
              <a:rPr spc="-25" dirty="0">
                <a:solidFill>
                  <a:srgbClr val="0000CC"/>
                </a:solidFill>
              </a:rPr>
              <a:t> </a:t>
            </a:r>
            <a:r>
              <a:rPr spc="-10" dirty="0">
                <a:solidFill>
                  <a:srgbClr val="0000CC"/>
                </a:solidFill>
              </a:rPr>
              <a:t>Crisis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9311" y="616376"/>
            <a:ext cx="7263765" cy="3583940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525"/>
              </a:spcBef>
              <a:buFont typeface="Arial MT"/>
              <a:buChar char="•"/>
              <a:tabLst>
                <a:tab pos="244475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10" dirty="0">
                <a:latin typeface="Calibri"/>
                <a:cs typeface="Calibri"/>
              </a:rPr>
              <a:t>often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case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software </a:t>
            </a:r>
            <a:r>
              <a:rPr sz="3200" spc="-10" dirty="0">
                <a:latin typeface="Calibri"/>
                <a:cs typeface="Calibri"/>
              </a:rPr>
              <a:t>products:</a:t>
            </a:r>
            <a:endParaRPr sz="32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240"/>
              </a:spcBef>
            </a:pPr>
            <a:r>
              <a:rPr sz="2800" spc="-2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800" spc="-20" dirty="0">
                <a:solidFill>
                  <a:srgbClr val="0000CC"/>
                </a:solidFill>
                <a:latin typeface="Calibri"/>
                <a:cs typeface="Calibri"/>
              </a:rPr>
              <a:t>Fail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meet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user</a:t>
            </a:r>
            <a:r>
              <a:rPr sz="2800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requirements.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175"/>
              </a:spcBef>
            </a:pPr>
            <a:r>
              <a:rPr sz="2800" spc="-1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Expensive.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180"/>
              </a:spcBef>
            </a:pPr>
            <a:r>
              <a:rPr sz="2800" spc="-1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Difficult</a:t>
            </a:r>
            <a:r>
              <a:rPr sz="2800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0000CC"/>
                </a:solidFill>
                <a:latin typeface="Calibri"/>
                <a:cs typeface="Calibri"/>
              </a:rPr>
              <a:t>alter,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debug,</a:t>
            </a:r>
            <a:r>
              <a:rPr sz="2800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enhance.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175"/>
              </a:spcBef>
            </a:pPr>
            <a:r>
              <a:rPr sz="2800" spc="-1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Often</a:t>
            </a:r>
            <a:r>
              <a:rPr sz="28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delivered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late.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180"/>
              </a:spcBef>
            </a:pPr>
            <a:r>
              <a:rPr sz="2800" spc="-5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Use</a:t>
            </a:r>
            <a:r>
              <a:rPr sz="28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resources</a:t>
            </a:r>
            <a:r>
              <a:rPr sz="2800" spc="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CC"/>
                </a:solidFill>
                <a:latin typeface="Calibri"/>
                <a:cs typeface="Calibri"/>
              </a:rPr>
              <a:t>non-optimally.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657" y="231724"/>
            <a:ext cx="361187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0000CC"/>
                </a:solidFill>
                <a:latin typeface="Comic Sans MS"/>
                <a:cs typeface="Comic Sans MS"/>
              </a:rPr>
              <a:t>Software</a:t>
            </a:r>
            <a:r>
              <a:rPr sz="3000" spc="-55" dirty="0">
                <a:solidFill>
                  <a:srgbClr val="0000CC"/>
                </a:solidFill>
                <a:latin typeface="Comic Sans MS"/>
                <a:cs typeface="Comic Sans MS"/>
              </a:rPr>
              <a:t> </a:t>
            </a:r>
            <a:r>
              <a:rPr sz="3000" dirty="0">
                <a:solidFill>
                  <a:srgbClr val="0000CC"/>
                </a:solidFill>
                <a:latin typeface="Comic Sans MS"/>
                <a:cs typeface="Comic Sans MS"/>
              </a:rPr>
              <a:t>Crisis</a:t>
            </a:r>
            <a:r>
              <a:rPr sz="3000" spc="-45" dirty="0">
                <a:solidFill>
                  <a:srgbClr val="0000CC"/>
                </a:solidFill>
                <a:latin typeface="Comic Sans MS"/>
                <a:cs typeface="Comic Sans MS"/>
              </a:rPr>
              <a:t> </a:t>
            </a:r>
            <a:r>
              <a:rPr sz="1350" spc="-5" dirty="0">
                <a:solidFill>
                  <a:srgbClr val="0000CC"/>
                </a:solidFill>
                <a:latin typeface="Comic Sans MS"/>
                <a:cs typeface="Comic Sans MS"/>
              </a:rPr>
              <a:t>(cont.)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37689" y="729869"/>
            <a:ext cx="5029835" cy="2926715"/>
            <a:chOff x="2337689" y="729869"/>
            <a:chExt cx="5029835" cy="2926715"/>
          </a:xfrm>
        </p:grpSpPr>
        <p:sp>
          <p:nvSpPr>
            <p:cNvPr id="4" name="object 4"/>
            <p:cNvSpPr/>
            <p:nvPr/>
          </p:nvSpPr>
          <p:spPr>
            <a:xfrm>
              <a:off x="2352294" y="744474"/>
              <a:ext cx="5000625" cy="2897505"/>
            </a:xfrm>
            <a:custGeom>
              <a:avLst/>
              <a:gdLst/>
              <a:ahLst/>
              <a:cxnLst/>
              <a:rect l="l" t="t" r="r" b="b"/>
              <a:pathLst>
                <a:path w="5000625" h="2897504">
                  <a:moveTo>
                    <a:pt x="0" y="0"/>
                  </a:moveTo>
                  <a:lnTo>
                    <a:pt x="0" y="2897124"/>
                  </a:lnTo>
                </a:path>
                <a:path w="5000625" h="2897504">
                  <a:moveTo>
                    <a:pt x="0" y="2897124"/>
                  </a:moveTo>
                  <a:lnTo>
                    <a:pt x="5000244" y="289712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06040" y="1156716"/>
              <a:ext cx="4422775" cy="2215515"/>
            </a:xfrm>
            <a:custGeom>
              <a:avLst/>
              <a:gdLst/>
              <a:ahLst/>
              <a:cxnLst/>
              <a:rect l="l" t="t" r="r" b="b"/>
              <a:pathLst>
                <a:path w="4422775" h="2215515">
                  <a:moveTo>
                    <a:pt x="0" y="0"/>
                  </a:moveTo>
                  <a:lnTo>
                    <a:pt x="34885" y="59354"/>
                  </a:lnTo>
                  <a:lnTo>
                    <a:pt x="58164" y="97383"/>
                  </a:lnTo>
                  <a:lnTo>
                    <a:pt x="88400" y="145409"/>
                  </a:lnTo>
                  <a:lnTo>
                    <a:pt x="127889" y="206756"/>
                  </a:lnTo>
                  <a:lnTo>
                    <a:pt x="149541" y="240495"/>
                  </a:lnTo>
                  <a:lnTo>
                    <a:pt x="173572" y="278574"/>
                  </a:lnTo>
                  <a:lnTo>
                    <a:pt x="199689" y="320220"/>
                  </a:lnTo>
                  <a:lnTo>
                    <a:pt x="227600" y="364659"/>
                  </a:lnTo>
                  <a:lnTo>
                    <a:pt x="257013" y="411118"/>
                  </a:lnTo>
                  <a:lnTo>
                    <a:pt x="287637" y="458823"/>
                  </a:lnTo>
                  <a:lnTo>
                    <a:pt x="319179" y="507002"/>
                  </a:lnTo>
                  <a:lnTo>
                    <a:pt x="351347" y="554879"/>
                  </a:lnTo>
                  <a:lnTo>
                    <a:pt x="383850" y="601683"/>
                  </a:lnTo>
                  <a:lnTo>
                    <a:pt x="416395" y="646639"/>
                  </a:lnTo>
                  <a:lnTo>
                    <a:pt x="448691" y="688975"/>
                  </a:lnTo>
                  <a:lnTo>
                    <a:pt x="480962" y="729366"/>
                  </a:lnTo>
                  <a:lnTo>
                    <a:pt x="513769" y="769211"/>
                  </a:lnTo>
                  <a:lnTo>
                    <a:pt x="547111" y="808503"/>
                  </a:lnTo>
                  <a:lnTo>
                    <a:pt x="580989" y="847239"/>
                  </a:lnTo>
                  <a:lnTo>
                    <a:pt x="615402" y="885413"/>
                  </a:lnTo>
                  <a:lnTo>
                    <a:pt x="650350" y="923019"/>
                  </a:lnTo>
                  <a:lnTo>
                    <a:pt x="685833" y="960053"/>
                  </a:lnTo>
                  <a:lnTo>
                    <a:pt x="721852" y="996509"/>
                  </a:lnTo>
                  <a:lnTo>
                    <a:pt x="758406" y="1032382"/>
                  </a:lnTo>
                  <a:lnTo>
                    <a:pt x="795495" y="1067667"/>
                  </a:lnTo>
                  <a:lnTo>
                    <a:pt x="833120" y="1102360"/>
                  </a:lnTo>
                  <a:lnTo>
                    <a:pt x="870492" y="1136279"/>
                  </a:lnTo>
                  <a:lnTo>
                    <a:pt x="907249" y="1169214"/>
                  </a:lnTo>
                  <a:lnTo>
                    <a:pt x="943824" y="1201320"/>
                  </a:lnTo>
                  <a:lnTo>
                    <a:pt x="980646" y="1232754"/>
                  </a:lnTo>
                  <a:lnTo>
                    <a:pt x="1018148" y="1263671"/>
                  </a:lnTo>
                  <a:lnTo>
                    <a:pt x="1056759" y="1294227"/>
                  </a:lnTo>
                  <a:lnTo>
                    <a:pt x="1096912" y="1324577"/>
                  </a:lnTo>
                  <a:lnTo>
                    <a:pt x="1139037" y="1354878"/>
                  </a:lnTo>
                  <a:lnTo>
                    <a:pt x="1183565" y="1385284"/>
                  </a:lnTo>
                  <a:lnTo>
                    <a:pt x="1230928" y="1415952"/>
                  </a:lnTo>
                  <a:lnTo>
                    <a:pt x="1281557" y="1447038"/>
                  </a:lnTo>
                  <a:lnTo>
                    <a:pt x="1318015" y="1468691"/>
                  </a:lnTo>
                  <a:lnTo>
                    <a:pt x="1355271" y="1490564"/>
                  </a:lnTo>
                  <a:lnTo>
                    <a:pt x="1393371" y="1512607"/>
                  </a:lnTo>
                  <a:lnTo>
                    <a:pt x="1432361" y="1534767"/>
                  </a:lnTo>
                  <a:lnTo>
                    <a:pt x="1472289" y="1556994"/>
                  </a:lnTo>
                  <a:lnTo>
                    <a:pt x="1513202" y="1579237"/>
                  </a:lnTo>
                  <a:lnTo>
                    <a:pt x="1555145" y="1601445"/>
                  </a:lnTo>
                  <a:lnTo>
                    <a:pt x="1598167" y="1623567"/>
                  </a:lnTo>
                  <a:lnTo>
                    <a:pt x="1642315" y="1645553"/>
                  </a:lnTo>
                  <a:lnTo>
                    <a:pt x="1687634" y="1667350"/>
                  </a:lnTo>
                  <a:lnTo>
                    <a:pt x="1734172" y="1688909"/>
                  </a:lnTo>
                  <a:lnTo>
                    <a:pt x="1781976" y="1710178"/>
                  </a:lnTo>
                  <a:lnTo>
                    <a:pt x="1831093" y="1731105"/>
                  </a:lnTo>
                  <a:lnTo>
                    <a:pt x="1881569" y="1751642"/>
                  </a:lnTo>
                  <a:lnTo>
                    <a:pt x="1933452" y="1771735"/>
                  </a:lnTo>
                  <a:lnTo>
                    <a:pt x="1986788" y="1791335"/>
                  </a:lnTo>
                  <a:lnTo>
                    <a:pt x="2028838" y="1806132"/>
                  </a:lnTo>
                  <a:lnTo>
                    <a:pt x="2072489" y="1820901"/>
                  </a:lnTo>
                  <a:lnTo>
                    <a:pt x="2117593" y="1835619"/>
                  </a:lnTo>
                  <a:lnTo>
                    <a:pt x="2164005" y="1850266"/>
                  </a:lnTo>
                  <a:lnTo>
                    <a:pt x="2211580" y="1864818"/>
                  </a:lnTo>
                  <a:lnTo>
                    <a:pt x="2260172" y="1879256"/>
                  </a:lnTo>
                  <a:lnTo>
                    <a:pt x="2309636" y="1893555"/>
                  </a:lnTo>
                  <a:lnTo>
                    <a:pt x="2359825" y="1907696"/>
                  </a:lnTo>
                  <a:lnTo>
                    <a:pt x="2410594" y="1921656"/>
                  </a:lnTo>
                  <a:lnTo>
                    <a:pt x="2461798" y="1935414"/>
                  </a:lnTo>
                  <a:lnTo>
                    <a:pt x="2513290" y="1948948"/>
                  </a:lnTo>
                  <a:lnTo>
                    <a:pt x="2564926" y="1962236"/>
                  </a:lnTo>
                  <a:lnTo>
                    <a:pt x="2616559" y="1975256"/>
                  </a:lnTo>
                  <a:lnTo>
                    <a:pt x="2668044" y="1987987"/>
                  </a:lnTo>
                  <a:lnTo>
                    <a:pt x="2719235" y="2000407"/>
                  </a:lnTo>
                  <a:lnTo>
                    <a:pt x="2769987" y="2012494"/>
                  </a:lnTo>
                  <a:lnTo>
                    <a:pt x="2820154" y="2024227"/>
                  </a:lnTo>
                  <a:lnTo>
                    <a:pt x="2869590" y="2035583"/>
                  </a:lnTo>
                  <a:lnTo>
                    <a:pt x="2918150" y="2046542"/>
                  </a:lnTo>
                  <a:lnTo>
                    <a:pt x="2965688" y="2057081"/>
                  </a:lnTo>
                  <a:lnTo>
                    <a:pt x="3012059" y="2067179"/>
                  </a:lnTo>
                  <a:lnTo>
                    <a:pt x="3065791" y="2078477"/>
                  </a:lnTo>
                  <a:lnTo>
                    <a:pt x="3119945" y="2089343"/>
                  </a:lnTo>
                  <a:lnTo>
                    <a:pt x="3174356" y="2099777"/>
                  </a:lnTo>
                  <a:lnTo>
                    <a:pt x="3228860" y="2109779"/>
                  </a:lnTo>
                  <a:lnTo>
                    <a:pt x="3283292" y="2119351"/>
                  </a:lnTo>
                  <a:lnTo>
                    <a:pt x="3337489" y="2128491"/>
                  </a:lnTo>
                  <a:lnTo>
                    <a:pt x="3391286" y="2137201"/>
                  </a:lnTo>
                  <a:lnTo>
                    <a:pt x="3444519" y="2145482"/>
                  </a:lnTo>
                  <a:lnTo>
                    <a:pt x="3497024" y="2153332"/>
                  </a:lnTo>
                  <a:lnTo>
                    <a:pt x="3548636" y="2160753"/>
                  </a:lnTo>
                  <a:lnTo>
                    <a:pt x="3599192" y="2167746"/>
                  </a:lnTo>
                  <a:lnTo>
                    <a:pt x="3648526" y="2174310"/>
                  </a:lnTo>
                  <a:lnTo>
                    <a:pt x="3696475" y="2180446"/>
                  </a:lnTo>
                  <a:lnTo>
                    <a:pt x="3742875" y="2186155"/>
                  </a:lnTo>
                  <a:lnTo>
                    <a:pt x="3787561" y="2191436"/>
                  </a:lnTo>
                  <a:lnTo>
                    <a:pt x="3830369" y="2196290"/>
                  </a:lnTo>
                  <a:lnTo>
                    <a:pt x="3871135" y="2200718"/>
                  </a:lnTo>
                  <a:lnTo>
                    <a:pt x="3909694" y="2204720"/>
                  </a:lnTo>
                  <a:lnTo>
                    <a:pt x="3981329" y="2210807"/>
                  </a:lnTo>
                  <a:lnTo>
                    <a:pt x="4046890" y="2214041"/>
                  </a:lnTo>
                  <a:lnTo>
                    <a:pt x="4106643" y="2214992"/>
                  </a:lnTo>
                  <a:lnTo>
                    <a:pt x="4160856" y="2214231"/>
                  </a:lnTo>
                  <a:lnTo>
                    <a:pt x="4209793" y="2212329"/>
                  </a:lnTo>
                  <a:lnTo>
                    <a:pt x="4253723" y="2209856"/>
                  </a:lnTo>
                  <a:lnTo>
                    <a:pt x="4292912" y="2207383"/>
                  </a:lnTo>
                  <a:lnTo>
                    <a:pt x="4327626" y="2205480"/>
                  </a:lnTo>
                  <a:lnTo>
                    <a:pt x="4358132" y="2204720"/>
                  </a:lnTo>
                  <a:lnTo>
                    <a:pt x="4402802" y="2204720"/>
                  </a:lnTo>
                  <a:lnTo>
                    <a:pt x="4418409" y="2204720"/>
                  </a:lnTo>
                  <a:lnTo>
                    <a:pt x="4419943" y="2204720"/>
                  </a:lnTo>
                  <a:lnTo>
                    <a:pt x="4422394" y="2204720"/>
                  </a:lnTo>
                </a:path>
              </a:pathLst>
            </a:custGeom>
            <a:ln w="762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93311" y="3587622"/>
            <a:ext cx="52514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dirty="0">
                <a:solidFill>
                  <a:srgbClr val="003300"/>
                </a:solidFill>
                <a:latin typeface="Comic Sans MS"/>
                <a:cs typeface="Comic Sans MS"/>
              </a:rPr>
              <a:t>Year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5514" y="1765173"/>
            <a:ext cx="89725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sz="1750" b="1" u="heavy" spc="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Hw</a:t>
            </a:r>
            <a:r>
              <a:rPr sz="1750" b="1" u="heavy" spc="-7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750" b="1" u="heavy" spc="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cost </a:t>
            </a:r>
            <a:r>
              <a:rPr sz="1750" b="1" spc="-745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Sw</a:t>
            </a:r>
            <a:r>
              <a:rPr sz="1750" b="1" spc="-60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cost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07107" y="1362455"/>
            <a:ext cx="173990" cy="346075"/>
          </a:xfrm>
          <a:custGeom>
            <a:avLst/>
            <a:gdLst/>
            <a:ahLst/>
            <a:cxnLst/>
            <a:rect l="l" t="t" r="r" b="b"/>
            <a:pathLst>
              <a:path w="173989" h="346075">
                <a:moveTo>
                  <a:pt x="115824" y="144780"/>
                </a:moveTo>
                <a:lnTo>
                  <a:pt x="57912" y="144780"/>
                </a:lnTo>
                <a:lnTo>
                  <a:pt x="57912" y="345948"/>
                </a:lnTo>
                <a:lnTo>
                  <a:pt x="115824" y="345948"/>
                </a:lnTo>
                <a:lnTo>
                  <a:pt x="115824" y="144780"/>
                </a:lnTo>
                <a:close/>
              </a:path>
              <a:path w="173989" h="346075">
                <a:moveTo>
                  <a:pt x="86868" y="0"/>
                </a:moveTo>
                <a:lnTo>
                  <a:pt x="0" y="173736"/>
                </a:lnTo>
                <a:lnTo>
                  <a:pt x="57912" y="173736"/>
                </a:lnTo>
                <a:lnTo>
                  <a:pt x="57912" y="144780"/>
                </a:lnTo>
                <a:lnTo>
                  <a:pt x="159258" y="144780"/>
                </a:lnTo>
                <a:lnTo>
                  <a:pt x="86868" y="0"/>
                </a:lnTo>
                <a:close/>
              </a:path>
              <a:path w="173989" h="346075">
                <a:moveTo>
                  <a:pt x="159258" y="144780"/>
                </a:moveTo>
                <a:lnTo>
                  <a:pt x="115824" y="144780"/>
                </a:lnTo>
                <a:lnTo>
                  <a:pt x="115824" y="173736"/>
                </a:lnTo>
                <a:lnTo>
                  <a:pt x="173736" y="173736"/>
                </a:lnTo>
                <a:lnTo>
                  <a:pt x="159258" y="144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29328" y="3689603"/>
            <a:ext cx="321945" cy="173990"/>
          </a:xfrm>
          <a:custGeom>
            <a:avLst/>
            <a:gdLst/>
            <a:ahLst/>
            <a:cxnLst/>
            <a:rect l="l" t="t" r="r" b="b"/>
            <a:pathLst>
              <a:path w="321945" h="173989">
                <a:moveTo>
                  <a:pt x="147827" y="0"/>
                </a:moveTo>
                <a:lnTo>
                  <a:pt x="147827" y="173736"/>
                </a:lnTo>
                <a:lnTo>
                  <a:pt x="263651" y="115824"/>
                </a:lnTo>
                <a:lnTo>
                  <a:pt x="176784" y="115824"/>
                </a:lnTo>
                <a:lnTo>
                  <a:pt x="176784" y="57912"/>
                </a:lnTo>
                <a:lnTo>
                  <a:pt x="263651" y="57912"/>
                </a:lnTo>
                <a:lnTo>
                  <a:pt x="147827" y="0"/>
                </a:lnTo>
                <a:close/>
              </a:path>
              <a:path w="321945" h="173989">
                <a:moveTo>
                  <a:pt x="147827" y="57912"/>
                </a:moveTo>
                <a:lnTo>
                  <a:pt x="0" y="57912"/>
                </a:lnTo>
                <a:lnTo>
                  <a:pt x="0" y="115824"/>
                </a:lnTo>
                <a:lnTo>
                  <a:pt x="147827" y="115824"/>
                </a:lnTo>
                <a:lnTo>
                  <a:pt x="147827" y="57912"/>
                </a:lnTo>
                <a:close/>
              </a:path>
              <a:path w="321945" h="173989">
                <a:moveTo>
                  <a:pt x="263651" y="57912"/>
                </a:moveTo>
                <a:lnTo>
                  <a:pt x="176784" y="57912"/>
                </a:lnTo>
                <a:lnTo>
                  <a:pt x="176784" y="115824"/>
                </a:lnTo>
                <a:lnTo>
                  <a:pt x="263651" y="115824"/>
                </a:lnTo>
                <a:lnTo>
                  <a:pt x="321563" y="86868"/>
                </a:lnTo>
                <a:lnTo>
                  <a:pt x="263651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63901" y="4031996"/>
            <a:ext cx="450596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dirty="0">
                <a:latin typeface="Comic Sans MS"/>
                <a:cs typeface="Comic Sans MS"/>
              </a:rPr>
              <a:t>Relative</a:t>
            </a:r>
            <a:r>
              <a:rPr sz="1750" b="1" spc="40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Cost</a:t>
            </a:r>
            <a:r>
              <a:rPr sz="1750" b="1" spc="10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of</a:t>
            </a:r>
            <a:r>
              <a:rPr sz="1750" b="1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Hardware</a:t>
            </a:r>
            <a:r>
              <a:rPr sz="1750" b="1" spc="15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and</a:t>
            </a:r>
            <a:r>
              <a:rPr sz="1750" b="1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Software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15489" y="3603497"/>
            <a:ext cx="57404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5" dirty="0">
                <a:latin typeface="Comic Sans MS"/>
                <a:cs typeface="Comic Sans MS"/>
              </a:rPr>
              <a:t>1960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9657" y="3668979"/>
            <a:ext cx="57404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5" dirty="0">
                <a:latin typeface="Comic Sans MS"/>
                <a:cs typeface="Comic Sans MS"/>
              </a:rPr>
              <a:t>2018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61103" y="928116"/>
            <a:ext cx="3584575" cy="1851660"/>
          </a:xfrm>
          <a:prstGeom prst="rect">
            <a:avLst/>
          </a:prstGeom>
          <a:solidFill>
            <a:srgbClr val="FFFFCC"/>
          </a:solidFill>
          <a:ln w="9144">
            <a:solidFill>
              <a:srgbClr val="FF33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 marR="1419225">
              <a:lnSpc>
                <a:spcPct val="101899"/>
              </a:lnSpc>
              <a:spcBef>
                <a:spcPts val="275"/>
              </a:spcBef>
            </a:pPr>
            <a:r>
              <a:rPr sz="1600" b="1" spc="15" dirty="0">
                <a:latin typeface="Comic Sans MS"/>
                <a:cs typeface="Comic Sans MS"/>
              </a:rPr>
              <a:t>Laptop</a:t>
            </a:r>
            <a:r>
              <a:rPr sz="1600" b="1" dirty="0">
                <a:latin typeface="Comic Sans MS"/>
                <a:cs typeface="Comic Sans MS"/>
              </a:rPr>
              <a:t> </a:t>
            </a:r>
            <a:r>
              <a:rPr sz="1600" b="1" spc="15" dirty="0">
                <a:latin typeface="Comic Sans MS"/>
                <a:cs typeface="Comic Sans MS"/>
              </a:rPr>
              <a:t>or</a:t>
            </a:r>
            <a:r>
              <a:rPr sz="1600" b="1" spc="-10" dirty="0">
                <a:latin typeface="Comic Sans MS"/>
                <a:cs typeface="Comic Sans MS"/>
              </a:rPr>
              <a:t> </a:t>
            </a:r>
            <a:r>
              <a:rPr sz="1600" b="1" spc="15" dirty="0">
                <a:latin typeface="Comic Sans MS"/>
                <a:cs typeface="Comic Sans MS"/>
              </a:rPr>
              <a:t>Desktop = </a:t>
            </a:r>
            <a:r>
              <a:rPr sz="1600" b="1" spc="-680" dirty="0">
                <a:latin typeface="Comic Sans MS"/>
                <a:cs typeface="Comic Sans MS"/>
              </a:rPr>
              <a:t> </a:t>
            </a:r>
            <a:r>
              <a:rPr sz="1600" b="1" spc="10" dirty="0">
                <a:latin typeface="Comic Sans MS"/>
                <a:cs typeface="Comic Sans MS"/>
              </a:rPr>
              <a:t>Rs.45,000/-</a:t>
            </a:r>
            <a:endParaRPr sz="1600">
              <a:latin typeface="Comic Sans MS"/>
              <a:cs typeface="Comic Sans MS"/>
            </a:endParaRPr>
          </a:p>
          <a:p>
            <a:pPr marL="92075" marR="638810">
              <a:lnSpc>
                <a:spcPct val="102499"/>
              </a:lnSpc>
              <a:spcBef>
                <a:spcPts val="975"/>
              </a:spcBef>
            </a:pPr>
            <a:r>
              <a:rPr sz="1600" b="1" spc="10" dirty="0">
                <a:latin typeface="Comic Sans MS"/>
                <a:cs typeface="Comic Sans MS"/>
              </a:rPr>
              <a:t>Rational</a:t>
            </a:r>
            <a:r>
              <a:rPr sz="1600" b="1" spc="15" dirty="0">
                <a:latin typeface="Comic Sans MS"/>
                <a:cs typeface="Comic Sans MS"/>
              </a:rPr>
              <a:t> </a:t>
            </a:r>
            <a:r>
              <a:rPr sz="1600" b="1" spc="10" dirty="0">
                <a:latin typeface="Comic Sans MS"/>
                <a:cs typeface="Comic Sans MS"/>
              </a:rPr>
              <a:t>suite</a:t>
            </a:r>
            <a:r>
              <a:rPr sz="1600" b="1" spc="25" dirty="0">
                <a:latin typeface="Comic Sans MS"/>
                <a:cs typeface="Comic Sans MS"/>
              </a:rPr>
              <a:t> </a:t>
            </a:r>
            <a:r>
              <a:rPr sz="1600" b="1" spc="15" dirty="0">
                <a:latin typeface="Comic Sans MS"/>
                <a:cs typeface="Comic Sans MS"/>
              </a:rPr>
              <a:t>node</a:t>
            </a:r>
            <a:r>
              <a:rPr sz="1600" b="1" spc="10" dirty="0">
                <a:latin typeface="Comic Sans MS"/>
                <a:cs typeface="Comic Sans MS"/>
              </a:rPr>
              <a:t> </a:t>
            </a:r>
            <a:r>
              <a:rPr sz="1600" b="1" spc="15" dirty="0">
                <a:latin typeface="Comic Sans MS"/>
                <a:cs typeface="Comic Sans MS"/>
              </a:rPr>
              <a:t>locked</a:t>
            </a:r>
            <a:r>
              <a:rPr sz="1600" b="1" spc="5" dirty="0">
                <a:latin typeface="Comic Sans MS"/>
                <a:cs typeface="Comic Sans MS"/>
              </a:rPr>
              <a:t> </a:t>
            </a:r>
            <a:r>
              <a:rPr sz="1600" b="1" spc="15" dirty="0">
                <a:latin typeface="Comic Sans MS"/>
                <a:cs typeface="Comic Sans MS"/>
              </a:rPr>
              <a:t>= </a:t>
            </a:r>
            <a:r>
              <a:rPr sz="1600" b="1" spc="-680" dirty="0">
                <a:latin typeface="Comic Sans MS"/>
                <a:cs typeface="Comic Sans MS"/>
              </a:rPr>
              <a:t> </a:t>
            </a:r>
            <a:r>
              <a:rPr sz="1600" b="1" spc="10" dirty="0">
                <a:latin typeface="Comic Sans MS"/>
                <a:cs typeface="Comic Sans MS"/>
              </a:rPr>
              <a:t>Rs.3,14,600/-</a:t>
            </a:r>
            <a:endParaRPr sz="1600">
              <a:latin typeface="Comic Sans MS"/>
              <a:cs typeface="Comic Sans MS"/>
            </a:endParaRPr>
          </a:p>
          <a:p>
            <a:pPr marL="92075">
              <a:lnSpc>
                <a:spcPct val="100000"/>
              </a:lnSpc>
              <a:spcBef>
                <a:spcPts val="1019"/>
              </a:spcBef>
              <a:tabLst>
                <a:tab pos="1642110" algn="l"/>
              </a:tabLst>
            </a:pPr>
            <a:r>
              <a:rPr sz="1600" b="1" spc="10" dirty="0">
                <a:latin typeface="Comic Sans MS"/>
                <a:cs typeface="Comic Sans MS"/>
              </a:rPr>
              <a:t>Rational</a:t>
            </a:r>
            <a:r>
              <a:rPr sz="1600" b="1" spc="45" dirty="0">
                <a:latin typeface="Comic Sans MS"/>
                <a:cs typeface="Comic Sans MS"/>
              </a:rPr>
              <a:t> </a:t>
            </a:r>
            <a:r>
              <a:rPr sz="1600" b="1" spc="10" dirty="0">
                <a:latin typeface="Comic Sans MS"/>
                <a:cs typeface="Comic Sans MS"/>
              </a:rPr>
              <a:t>suite	floating</a:t>
            </a:r>
            <a:r>
              <a:rPr sz="1600" b="1" spc="-25" dirty="0">
                <a:latin typeface="Comic Sans MS"/>
                <a:cs typeface="Comic Sans MS"/>
              </a:rPr>
              <a:t> </a:t>
            </a:r>
            <a:r>
              <a:rPr sz="1600" b="1" spc="10" dirty="0">
                <a:latin typeface="Comic Sans MS"/>
                <a:cs typeface="Comic Sans MS"/>
              </a:rPr>
              <a:t>license=</a:t>
            </a:r>
            <a:endParaRPr sz="1600">
              <a:latin typeface="Comic Sans MS"/>
              <a:cs typeface="Comic Sans MS"/>
            </a:endParaRPr>
          </a:p>
          <a:p>
            <a:pPr marL="92075">
              <a:lnSpc>
                <a:spcPct val="100000"/>
              </a:lnSpc>
              <a:spcBef>
                <a:spcPts val="40"/>
              </a:spcBef>
            </a:pPr>
            <a:r>
              <a:rPr sz="1600" b="1" spc="15" dirty="0">
                <a:latin typeface="Comic Sans MS"/>
                <a:cs typeface="Comic Sans MS"/>
              </a:rPr>
              <a:t>Rs.6,03,200/-</a:t>
            </a:r>
            <a:endParaRPr sz="1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5883" y="160477"/>
            <a:ext cx="7247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Then</a:t>
            </a:r>
            <a:r>
              <a:rPr sz="2800" spc="5" dirty="0"/>
              <a:t> </a:t>
            </a:r>
            <a:r>
              <a:rPr sz="2800" spc="-20" dirty="0"/>
              <a:t>why</a:t>
            </a:r>
            <a:r>
              <a:rPr sz="2800" spc="5" dirty="0"/>
              <a:t> </a:t>
            </a:r>
            <a:r>
              <a:rPr sz="2800" spc="-5" dirty="0"/>
              <a:t>not</a:t>
            </a:r>
            <a:r>
              <a:rPr sz="2800" dirty="0"/>
              <a:t> </a:t>
            </a:r>
            <a:r>
              <a:rPr sz="2800" spc="-20" dirty="0"/>
              <a:t>have</a:t>
            </a:r>
            <a:r>
              <a:rPr sz="2800" spc="10" dirty="0"/>
              <a:t> </a:t>
            </a:r>
            <a:r>
              <a:rPr sz="2800" spc="-15" dirty="0"/>
              <a:t>entirely</a:t>
            </a:r>
            <a:r>
              <a:rPr sz="2800" spc="20" dirty="0"/>
              <a:t> </a:t>
            </a:r>
            <a:r>
              <a:rPr sz="2800" spc="-15" dirty="0"/>
              <a:t>hardware</a:t>
            </a:r>
            <a:r>
              <a:rPr sz="2800" spc="30" dirty="0"/>
              <a:t> </a:t>
            </a:r>
            <a:r>
              <a:rPr sz="2800" spc="-20" dirty="0"/>
              <a:t>systems?...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6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4916" y="465068"/>
            <a:ext cx="7564755" cy="389318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15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virtue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software: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6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10" dirty="0">
                <a:solidFill>
                  <a:srgbClr val="800080"/>
                </a:solidFill>
                <a:latin typeface="Calibri"/>
                <a:cs typeface="Calibri"/>
              </a:rPr>
              <a:t>Relatively</a:t>
            </a:r>
            <a:r>
              <a:rPr sz="2450" spc="-15" dirty="0">
                <a:solidFill>
                  <a:srgbClr val="800080"/>
                </a:solidFill>
                <a:latin typeface="Calibri"/>
                <a:cs typeface="Calibri"/>
              </a:rPr>
              <a:t> easy</a:t>
            </a: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 and </a:t>
            </a:r>
            <a:r>
              <a:rPr sz="2450" spc="-20" dirty="0">
                <a:solidFill>
                  <a:srgbClr val="800080"/>
                </a:solidFill>
                <a:latin typeface="Calibri"/>
                <a:cs typeface="Calibri"/>
              </a:rPr>
              <a:t>faster</a:t>
            </a:r>
            <a:r>
              <a:rPr sz="2450" spc="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800080"/>
                </a:solidFill>
                <a:latin typeface="Calibri"/>
                <a:cs typeface="Calibri"/>
              </a:rPr>
              <a:t>to</a:t>
            </a: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800080"/>
                </a:solidFill>
                <a:latin typeface="Calibri"/>
                <a:cs typeface="Calibri"/>
              </a:rPr>
              <a:t>develop</a:t>
            </a:r>
            <a:r>
              <a:rPr sz="2450" spc="-30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and</a:t>
            </a:r>
            <a:r>
              <a:rPr sz="2450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800080"/>
                </a:solidFill>
                <a:latin typeface="Calibri"/>
                <a:cs typeface="Calibri"/>
              </a:rPr>
              <a:t>to</a:t>
            </a:r>
            <a:r>
              <a:rPr sz="2450" spc="10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800080"/>
                </a:solidFill>
                <a:latin typeface="Calibri"/>
                <a:cs typeface="Calibri"/>
              </a:rPr>
              <a:t>change…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10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Consumes</a:t>
            </a:r>
            <a:r>
              <a:rPr sz="2450" spc="-1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800080"/>
                </a:solidFill>
                <a:latin typeface="Calibri"/>
                <a:cs typeface="Calibri"/>
              </a:rPr>
              <a:t>no</a:t>
            </a:r>
            <a:r>
              <a:rPr sz="2450" spc="-2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space,</a:t>
            </a:r>
            <a:r>
              <a:rPr sz="2450" spc="-1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800080"/>
                </a:solidFill>
                <a:latin typeface="Calibri"/>
                <a:cs typeface="Calibri"/>
              </a:rPr>
              <a:t>weight,</a:t>
            </a: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 or</a:t>
            </a:r>
            <a:r>
              <a:rPr sz="2450" spc="-3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power…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2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5" dirty="0">
                <a:latin typeface="Calibri"/>
                <a:cs typeface="Calibri"/>
              </a:rPr>
              <a:t>Otherwise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all </a:t>
            </a:r>
            <a:r>
              <a:rPr sz="2450" spc="-10" dirty="0">
                <a:latin typeface="Calibri"/>
                <a:cs typeface="Calibri"/>
              </a:rPr>
              <a:t>might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as</a:t>
            </a:r>
            <a:r>
              <a:rPr sz="2450" spc="-10" dirty="0">
                <a:latin typeface="Calibri"/>
                <a:cs typeface="Calibri"/>
              </a:rPr>
              <a:t> well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be </a:t>
            </a:r>
            <a:r>
              <a:rPr sz="2450" spc="-15" dirty="0">
                <a:latin typeface="Calibri"/>
                <a:cs typeface="Calibri"/>
              </a:rPr>
              <a:t>hardware.</a:t>
            </a:r>
            <a:endParaRPr sz="2450">
              <a:latin typeface="Calibri"/>
              <a:cs typeface="Calibri"/>
            </a:endParaRPr>
          </a:p>
          <a:p>
            <a:pPr marL="355600" marR="5080" indent="-342900">
              <a:lnSpc>
                <a:spcPct val="1049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  <a:tab pos="4669155" algn="l"/>
              </a:tabLst>
            </a:pP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more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 the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complexity</a:t>
            </a:r>
            <a:r>
              <a:rPr sz="27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of	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software,</a:t>
            </a:r>
            <a:r>
              <a:rPr sz="27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harder </a:t>
            </a:r>
            <a:r>
              <a:rPr sz="2700" spc="-5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it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 is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change--why?</a:t>
            </a:r>
            <a:endParaRPr sz="2700">
              <a:latin typeface="Calibri"/>
              <a:cs typeface="Calibri"/>
            </a:endParaRPr>
          </a:p>
          <a:p>
            <a:pPr marL="756285" marR="418465" lvl="1" indent="-287020">
              <a:lnSpc>
                <a:spcPct val="103699"/>
              </a:lnSpc>
              <a:spcBef>
                <a:spcPts val="850"/>
              </a:spcBef>
              <a:buFont typeface="Arial MT"/>
              <a:buChar char="–"/>
              <a:tabLst>
                <a:tab pos="756920" algn="l"/>
                <a:tab pos="3506470" algn="l"/>
              </a:tabLst>
            </a:pPr>
            <a:r>
              <a:rPr sz="2450" spc="-35" dirty="0">
                <a:solidFill>
                  <a:srgbClr val="800080"/>
                </a:solidFill>
                <a:latin typeface="Calibri"/>
                <a:cs typeface="Calibri"/>
              </a:rPr>
              <a:t>Further,</a:t>
            </a:r>
            <a:r>
              <a:rPr sz="2450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the </a:t>
            </a:r>
            <a:r>
              <a:rPr sz="2450" spc="-10" dirty="0">
                <a:solidFill>
                  <a:srgbClr val="800080"/>
                </a:solidFill>
                <a:latin typeface="Calibri"/>
                <a:cs typeface="Calibri"/>
              </a:rPr>
              <a:t>more </a:t>
            </a: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the</a:t>
            </a:r>
            <a:r>
              <a:rPr sz="2450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800080"/>
                </a:solidFill>
                <a:latin typeface="Calibri"/>
                <a:cs typeface="Calibri"/>
              </a:rPr>
              <a:t>changes</a:t>
            </a:r>
            <a:r>
              <a:rPr sz="2450" spc="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made</a:t>
            </a:r>
            <a:r>
              <a:rPr sz="2450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800080"/>
                </a:solidFill>
                <a:latin typeface="Calibri"/>
                <a:cs typeface="Calibri"/>
              </a:rPr>
              <a:t>to</a:t>
            </a:r>
            <a:r>
              <a:rPr sz="2450" spc="-5" dirty="0">
                <a:solidFill>
                  <a:srgbClr val="800080"/>
                </a:solidFill>
                <a:latin typeface="Calibri"/>
                <a:cs typeface="Calibri"/>
              </a:rPr>
              <a:t> a </a:t>
            </a:r>
            <a:r>
              <a:rPr sz="2450" spc="-15" dirty="0">
                <a:solidFill>
                  <a:srgbClr val="800080"/>
                </a:solidFill>
                <a:latin typeface="Calibri"/>
                <a:cs typeface="Calibri"/>
              </a:rPr>
              <a:t>program, </a:t>
            </a:r>
            <a:r>
              <a:rPr sz="2450" spc="-540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800080"/>
                </a:solidFill>
                <a:latin typeface="Calibri"/>
                <a:cs typeface="Calibri"/>
              </a:rPr>
              <a:t>the</a:t>
            </a:r>
            <a:r>
              <a:rPr sz="2450" spc="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800080"/>
                </a:solidFill>
                <a:latin typeface="Calibri"/>
                <a:cs typeface="Calibri"/>
              </a:rPr>
              <a:t>greater</a:t>
            </a:r>
            <a:r>
              <a:rPr sz="2450" spc="-25" dirty="0">
                <a:solidFill>
                  <a:srgbClr val="80008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800080"/>
                </a:solidFill>
                <a:latin typeface="Calibri"/>
                <a:cs typeface="Calibri"/>
              </a:rPr>
              <a:t>becomes	</a:t>
            </a:r>
            <a:r>
              <a:rPr sz="2450" dirty="0">
                <a:solidFill>
                  <a:srgbClr val="800080"/>
                </a:solidFill>
                <a:latin typeface="Calibri"/>
                <a:cs typeface="Calibri"/>
              </a:rPr>
              <a:t>its </a:t>
            </a:r>
            <a:r>
              <a:rPr sz="2450" spc="-25" dirty="0">
                <a:solidFill>
                  <a:srgbClr val="800080"/>
                </a:solidFill>
                <a:latin typeface="Calibri"/>
                <a:cs typeface="Calibri"/>
              </a:rPr>
              <a:t>complexity.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83295" y="254394"/>
            <a:ext cx="5060315" cy="4095115"/>
            <a:chOff x="1783295" y="254394"/>
            <a:chExt cx="5060315" cy="4095115"/>
          </a:xfrm>
        </p:grpSpPr>
        <p:sp>
          <p:nvSpPr>
            <p:cNvPr id="3" name="object 3"/>
            <p:cNvSpPr/>
            <p:nvPr/>
          </p:nvSpPr>
          <p:spPr>
            <a:xfrm>
              <a:off x="1790262" y="261682"/>
              <a:ext cx="2553335" cy="2404110"/>
            </a:xfrm>
            <a:custGeom>
              <a:avLst/>
              <a:gdLst/>
              <a:ahLst/>
              <a:cxnLst/>
              <a:rect l="l" t="t" r="r" b="b"/>
              <a:pathLst>
                <a:path w="2553335" h="2404110">
                  <a:moveTo>
                    <a:pt x="2553305" y="0"/>
                  </a:moveTo>
                  <a:lnTo>
                    <a:pt x="2469360" y="448"/>
                  </a:lnTo>
                  <a:lnTo>
                    <a:pt x="2416001" y="1787"/>
                  </a:lnTo>
                  <a:lnTo>
                    <a:pt x="2362933" y="4008"/>
                  </a:lnTo>
                  <a:lnTo>
                    <a:pt x="2310167" y="7102"/>
                  </a:lnTo>
                  <a:lnTo>
                    <a:pt x="2257714" y="11061"/>
                  </a:lnTo>
                  <a:lnTo>
                    <a:pt x="2205584" y="15876"/>
                  </a:lnTo>
                  <a:lnTo>
                    <a:pt x="2153788" y="21538"/>
                  </a:lnTo>
                  <a:lnTo>
                    <a:pt x="2102337" y="28038"/>
                  </a:lnTo>
                  <a:lnTo>
                    <a:pt x="2051242" y="35368"/>
                  </a:lnTo>
                  <a:lnTo>
                    <a:pt x="2000513" y="43519"/>
                  </a:lnTo>
                  <a:lnTo>
                    <a:pt x="1950161" y="52482"/>
                  </a:lnTo>
                  <a:lnTo>
                    <a:pt x="1900198" y="62249"/>
                  </a:lnTo>
                  <a:lnTo>
                    <a:pt x="1850633" y="72811"/>
                  </a:lnTo>
                  <a:lnTo>
                    <a:pt x="1801478" y="84158"/>
                  </a:lnTo>
                  <a:lnTo>
                    <a:pt x="1752743" y="96283"/>
                  </a:lnTo>
                  <a:lnTo>
                    <a:pt x="1704439" y="109177"/>
                  </a:lnTo>
                  <a:lnTo>
                    <a:pt x="1656577" y="122830"/>
                  </a:lnTo>
                  <a:lnTo>
                    <a:pt x="1609167" y="137235"/>
                  </a:lnTo>
                  <a:lnTo>
                    <a:pt x="1562221" y="152382"/>
                  </a:lnTo>
                  <a:lnTo>
                    <a:pt x="1515749" y="168262"/>
                  </a:lnTo>
                  <a:lnTo>
                    <a:pt x="1469762" y="184868"/>
                  </a:lnTo>
                  <a:lnTo>
                    <a:pt x="1424271" y="202190"/>
                  </a:lnTo>
                  <a:lnTo>
                    <a:pt x="1379286" y="220220"/>
                  </a:lnTo>
                  <a:lnTo>
                    <a:pt x="1334818" y="238948"/>
                  </a:lnTo>
                  <a:lnTo>
                    <a:pt x="1290878" y="258367"/>
                  </a:lnTo>
                  <a:lnTo>
                    <a:pt x="1247477" y="278466"/>
                  </a:lnTo>
                  <a:lnTo>
                    <a:pt x="1204625" y="299239"/>
                  </a:lnTo>
                  <a:lnTo>
                    <a:pt x="1162334" y="320675"/>
                  </a:lnTo>
                  <a:lnTo>
                    <a:pt x="1120613" y="342767"/>
                  </a:lnTo>
                  <a:lnTo>
                    <a:pt x="1079475" y="365505"/>
                  </a:lnTo>
                  <a:lnTo>
                    <a:pt x="1038929" y="388881"/>
                  </a:lnTo>
                  <a:lnTo>
                    <a:pt x="998986" y="412886"/>
                  </a:lnTo>
                  <a:lnTo>
                    <a:pt x="959657" y="437511"/>
                  </a:lnTo>
                  <a:lnTo>
                    <a:pt x="920953" y="462748"/>
                  </a:lnTo>
                  <a:lnTo>
                    <a:pt x="882885" y="488588"/>
                  </a:lnTo>
                  <a:lnTo>
                    <a:pt x="845463" y="515022"/>
                  </a:lnTo>
                  <a:lnTo>
                    <a:pt x="808699" y="542041"/>
                  </a:lnTo>
                  <a:lnTo>
                    <a:pt x="772602" y="569637"/>
                  </a:lnTo>
                  <a:lnTo>
                    <a:pt x="737184" y="597801"/>
                  </a:lnTo>
                  <a:lnTo>
                    <a:pt x="702455" y="626524"/>
                  </a:lnTo>
                  <a:lnTo>
                    <a:pt x="668426" y="655797"/>
                  </a:lnTo>
                  <a:lnTo>
                    <a:pt x="635109" y="685613"/>
                  </a:lnTo>
                  <a:lnTo>
                    <a:pt x="602513" y="715961"/>
                  </a:lnTo>
                  <a:lnTo>
                    <a:pt x="570650" y="746834"/>
                  </a:lnTo>
                  <a:lnTo>
                    <a:pt x="539530" y="778223"/>
                  </a:lnTo>
                  <a:lnTo>
                    <a:pt x="509164" y="810118"/>
                  </a:lnTo>
                  <a:lnTo>
                    <a:pt x="479562" y="842511"/>
                  </a:lnTo>
                  <a:lnTo>
                    <a:pt x="450737" y="875394"/>
                  </a:lnTo>
                  <a:lnTo>
                    <a:pt x="422697" y="908758"/>
                  </a:lnTo>
                  <a:lnTo>
                    <a:pt x="395455" y="942594"/>
                  </a:lnTo>
                  <a:lnTo>
                    <a:pt x="369021" y="976893"/>
                  </a:lnTo>
                  <a:lnTo>
                    <a:pt x="343405" y="1011646"/>
                  </a:lnTo>
                  <a:lnTo>
                    <a:pt x="318618" y="1046846"/>
                  </a:lnTo>
                  <a:lnTo>
                    <a:pt x="294672" y="1082482"/>
                  </a:lnTo>
                  <a:lnTo>
                    <a:pt x="271577" y="1118547"/>
                  </a:lnTo>
                  <a:lnTo>
                    <a:pt x="249343" y="1155032"/>
                  </a:lnTo>
                  <a:lnTo>
                    <a:pt x="227982" y="1191927"/>
                  </a:lnTo>
                  <a:lnTo>
                    <a:pt x="207504" y="1229225"/>
                  </a:lnTo>
                  <a:lnTo>
                    <a:pt x="187920" y="1266916"/>
                  </a:lnTo>
                  <a:lnTo>
                    <a:pt x="169241" y="1304992"/>
                  </a:lnTo>
                  <a:lnTo>
                    <a:pt x="151477" y="1343444"/>
                  </a:lnTo>
                  <a:lnTo>
                    <a:pt x="134640" y="1382263"/>
                  </a:lnTo>
                  <a:lnTo>
                    <a:pt x="118739" y="1421441"/>
                  </a:lnTo>
                  <a:lnTo>
                    <a:pt x="103787" y="1460969"/>
                  </a:lnTo>
                  <a:lnTo>
                    <a:pt x="89793" y="1500838"/>
                  </a:lnTo>
                  <a:lnTo>
                    <a:pt x="76768" y="1541039"/>
                  </a:lnTo>
                  <a:lnTo>
                    <a:pt x="64724" y="1581564"/>
                  </a:lnTo>
                  <a:lnTo>
                    <a:pt x="53670" y="1622404"/>
                  </a:lnTo>
                  <a:lnTo>
                    <a:pt x="43618" y="1663550"/>
                  </a:lnTo>
                  <a:lnTo>
                    <a:pt x="34578" y="1704994"/>
                  </a:lnTo>
                  <a:lnTo>
                    <a:pt x="26562" y="1746727"/>
                  </a:lnTo>
                  <a:lnTo>
                    <a:pt x="19579" y="1788739"/>
                  </a:lnTo>
                  <a:lnTo>
                    <a:pt x="13641" y="1831023"/>
                  </a:lnTo>
                  <a:lnTo>
                    <a:pt x="8759" y="1873570"/>
                  </a:lnTo>
                  <a:lnTo>
                    <a:pt x="4943" y="1916370"/>
                  </a:lnTo>
                  <a:lnTo>
                    <a:pt x="2204" y="1959416"/>
                  </a:lnTo>
                  <a:lnTo>
                    <a:pt x="552" y="2002698"/>
                  </a:lnTo>
                  <a:lnTo>
                    <a:pt x="0" y="2046208"/>
                  </a:lnTo>
                  <a:lnTo>
                    <a:pt x="89" y="2094357"/>
                  </a:lnTo>
                  <a:lnTo>
                    <a:pt x="718" y="2143832"/>
                  </a:lnTo>
                  <a:lnTo>
                    <a:pt x="2425" y="2194418"/>
                  </a:lnTo>
                  <a:lnTo>
                    <a:pt x="5748" y="2245894"/>
                  </a:lnTo>
                  <a:lnTo>
                    <a:pt x="11228" y="2298045"/>
                  </a:lnTo>
                  <a:lnTo>
                    <a:pt x="19402" y="2350651"/>
                  </a:lnTo>
                  <a:lnTo>
                    <a:pt x="30810" y="2403496"/>
                  </a:lnTo>
                  <a:lnTo>
                    <a:pt x="2523000" y="2046208"/>
                  </a:lnTo>
                  <a:lnTo>
                    <a:pt x="255330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90262" y="261682"/>
              <a:ext cx="2553335" cy="2404110"/>
            </a:xfrm>
            <a:custGeom>
              <a:avLst/>
              <a:gdLst/>
              <a:ahLst/>
              <a:cxnLst/>
              <a:rect l="l" t="t" r="r" b="b"/>
              <a:pathLst>
                <a:path w="2553335" h="2404110">
                  <a:moveTo>
                    <a:pt x="2553305" y="0"/>
                  </a:moveTo>
                  <a:lnTo>
                    <a:pt x="2542177" y="0"/>
                  </a:lnTo>
                  <a:lnTo>
                    <a:pt x="2532470" y="0"/>
                  </a:lnTo>
                  <a:lnTo>
                    <a:pt x="2525604" y="0"/>
                  </a:lnTo>
                  <a:lnTo>
                    <a:pt x="2523000" y="0"/>
                  </a:lnTo>
                  <a:lnTo>
                    <a:pt x="2469360" y="448"/>
                  </a:lnTo>
                  <a:lnTo>
                    <a:pt x="2416001" y="1787"/>
                  </a:lnTo>
                  <a:lnTo>
                    <a:pt x="2362933" y="4008"/>
                  </a:lnTo>
                  <a:lnTo>
                    <a:pt x="2310167" y="7102"/>
                  </a:lnTo>
                  <a:lnTo>
                    <a:pt x="2257714" y="11061"/>
                  </a:lnTo>
                  <a:lnTo>
                    <a:pt x="2205584" y="15876"/>
                  </a:lnTo>
                  <a:lnTo>
                    <a:pt x="2153788" y="21538"/>
                  </a:lnTo>
                  <a:lnTo>
                    <a:pt x="2102337" y="28038"/>
                  </a:lnTo>
                  <a:lnTo>
                    <a:pt x="2051242" y="35368"/>
                  </a:lnTo>
                  <a:lnTo>
                    <a:pt x="2000513" y="43519"/>
                  </a:lnTo>
                  <a:lnTo>
                    <a:pt x="1950161" y="52482"/>
                  </a:lnTo>
                  <a:lnTo>
                    <a:pt x="1900198" y="62249"/>
                  </a:lnTo>
                  <a:lnTo>
                    <a:pt x="1850633" y="72811"/>
                  </a:lnTo>
                  <a:lnTo>
                    <a:pt x="1801478" y="84158"/>
                  </a:lnTo>
                  <a:lnTo>
                    <a:pt x="1752743" y="96283"/>
                  </a:lnTo>
                  <a:lnTo>
                    <a:pt x="1704439" y="109177"/>
                  </a:lnTo>
                  <a:lnTo>
                    <a:pt x="1656577" y="122830"/>
                  </a:lnTo>
                  <a:lnTo>
                    <a:pt x="1609167" y="137235"/>
                  </a:lnTo>
                  <a:lnTo>
                    <a:pt x="1562221" y="152382"/>
                  </a:lnTo>
                  <a:lnTo>
                    <a:pt x="1515749" y="168262"/>
                  </a:lnTo>
                  <a:lnTo>
                    <a:pt x="1469762" y="184868"/>
                  </a:lnTo>
                  <a:lnTo>
                    <a:pt x="1424271" y="202190"/>
                  </a:lnTo>
                  <a:lnTo>
                    <a:pt x="1379286" y="220220"/>
                  </a:lnTo>
                  <a:lnTo>
                    <a:pt x="1334818" y="238948"/>
                  </a:lnTo>
                  <a:lnTo>
                    <a:pt x="1290878" y="258367"/>
                  </a:lnTo>
                  <a:lnTo>
                    <a:pt x="1247477" y="278466"/>
                  </a:lnTo>
                  <a:lnTo>
                    <a:pt x="1204625" y="299239"/>
                  </a:lnTo>
                  <a:lnTo>
                    <a:pt x="1162334" y="320675"/>
                  </a:lnTo>
                  <a:lnTo>
                    <a:pt x="1120613" y="342767"/>
                  </a:lnTo>
                  <a:lnTo>
                    <a:pt x="1079475" y="365505"/>
                  </a:lnTo>
                  <a:lnTo>
                    <a:pt x="1038929" y="388881"/>
                  </a:lnTo>
                  <a:lnTo>
                    <a:pt x="998986" y="412886"/>
                  </a:lnTo>
                  <a:lnTo>
                    <a:pt x="959657" y="437511"/>
                  </a:lnTo>
                  <a:lnTo>
                    <a:pt x="920953" y="462748"/>
                  </a:lnTo>
                  <a:lnTo>
                    <a:pt x="882885" y="488588"/>
                  </a:lnTo>
                  <a:lnTo>
                    <a:pt x="845463" y="515022"/>
                  </a:lnTo>
                  <a:lnTo>
                    <a:pt x="808699" y="542041"/>
                  </a:lnTo>
                  <a:lnTo>
                    <a:pt x="772602" y="569637"/>
                  </a:lnTo>
                  <a:lnTo>
                    <a:pt x="737184" y="597801"/>
                  </a:lnTo>
                  <a:lnTo>
                    <a:pt x="702455" y="626524"/>
                  </a:lnTo>
                  <a:lnTo>
                    <a:pt x="668426" y="655797"/>
                  </a:lnTo>
                  <a:lnTo>
                    <a:pt x="635109" y="685613"/>
                  </a:lnTo>
                  <a:lnTo>
                    <a:pt x="602513" y="715961"/>
                  </a:lnTo>
                  <a:lnTo>
                    <a:pt x="570650" y="746834"/>
                  </a:lnTo>
                  <a:lnTo>
                    <a:pt x="539530" y="778223"/>
                  </a:lnTo>
                  <a:lnTo>
                    <a:pt x="509164" y="810118"/>
                  </a:lnTo>
                  <a:lnTo>
                    <a:pt x="479562" y="842511"/>
                  </a:lnTo>
                  <a:lnTo>
                    <a:pt x="450737" y="875394"/>
                  </a:lnTo>
                  <a:lnTo>
                    <a:pt x="422697" y="908758"/>
                  </a:lnTo>
                  <a:lnTo>
                    <a:pt x="395455" y="942594"/>
                  </a:lnTo>
                  <a:lnTo>
                    <a:pt x="369021" y="976893"/>
                  </a:lnTo>
                  <a:lnTo>
                    <a:pt x="343405" y="1011646"/>
                  </a:lnTo>
                  <a:lnTo>
                    <a:pt x="318618" y="1046846"/>
                  </a:lnTo>
                  <a:lnTo>
                    <a:pt x="294672" y="1082482"/>
                  </a:lnTo>
                  <a:lnTo>
                    <a:pt x="271577" y="1118547"/>
                  </a:lnTo>
                  <a:lnTo>
                    <a:pt x="249343" y="1155032"/>
                  </a:lnTo>
                  <a:lnTo>
                    <a:pt x="227982" y="1191927"/>
                  </a:lnTo>
                  <a:lnTo>
                    <a:pt x="207504" y="1229225"/>
                  </a:lnTo>
                  <a:lnTo>
                    <a:pt x="187920" y="1266916"/>
                  </a:lnTo>
                  <a:lnTo>
                    <a:pt x="169241" y="1304992"/>
                  </a:lnTo>
                  <a:lnTo>
                    <a:pt x="151477" y="1343444"/>
                  </a:lnTo>
                  <a:lnTo>
                    <a:pt x="134640" y="1382263"/>
                  </a:lnTo>
                  <a:lnTo>
                    <a:pt x="118739" y="1421441"/>
                  </a:lnTo>
                  <a:lnTo>
                    <a:pt x="103787" y="1460969"/>
                  </a:lnTo>
                  <a:lnTo>
                    <a:pt x="89793" y="1500838"/>
                  </a:lnTo>
                  <a:lnTo>
                    <a:pt x="76768" y="1541039"/>
                  </a:lnTo>
                  <a:lnTo>
                    <a:pt x="64724" y="1581564"/>
                  </a:lnTo>
                  <a:lnTo>
                    <a:pt x="53670" y="1622404"/>
                  </a:lnTo>
                  <a:lnTo>
                    <a:pt x="43618" y="1663550"/>
                  </a:lnTo>
                  <a:lnTo>
                    <a:pt x="34578" y="1704994"/>
                  </a:lnTo>
                  <a:lnTo>
                    <a:pt x="26562" y="1746727"/>
                  </a:lnTo>
                  <a:lnTo>
                    <a:pt x="19579" y="1788739"/>
                  </a:lnTo>
                  <a:lnTo>
                    <a:pt x="13641" y="1831023"/>
                  </a:lnTo>
                  <a:lnTo>
                    <a:pt x="8759" y="1873570"/>
                  </a:lnTo>
                  <a:lnTo>
                    <a:pt x="4943" y="1916370"/>
                  </a:lnTo>
                  <a:lnTo>
                    <a:pt x="2204" y="1959416"/>
                  </a:lnTo>
                  <a:lnTo>
                    <a:pt x="552" y="2002698"/>
                  </a:lnTo>
                  <a:lnTo>
                    <a:pt x="0" y="2046208"/>
                  </a:lnTo>
                  <a:lnTo>
                    <a:pt x="89" y="2094357"/>
                  </a:lnTo>
                  <a:lnTo>
                    <a:pt x="718" y="2143832"/>
                  </a:lnTo>
                  <a:lnTo>
                    <a:pt x="2425" y="2194418"/>
                  </a:lnTo>
                  <a:lnTo>
                    <a:pt x="5748" y="2245894"/>
                  </a:lnTo>
                  <a:lnTo>
                    <a:pt x="11228" y="2298045"/>
                  </a:lnTo>
                  <a:lnTo>
                    <a:pt x="19402" y="2350651"/>
                  </a:lnTo>
                  <a:lnTo>
                    <a:pt x="30810" y="2403496"/>
                  </a:lnTo>
                  <a:lnTo>
                    <a:pt x="2523000" y="2046208"/>
                  </a:lnTo>
                  <a:lnTo>
                    <a:pt x="2553305" y="0"/>
                  </a:lnTo>
                  <a:close/>
                </a:path>
              </a:pathLst>
            </a:custGeom>
            <a:ln w="136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3263" y="261682"/>
              <a:ext cx="2522855" cy="4080510"/>
            </a:xfrm>
            <a:custGeom>
              <a:avLst/>
              <a:gdLst/>
              <a:ahLst/>
              <a:cxnLst/>
              <a:rect l="l" t="t" r="r" b="b"/>
              <a:pathLst>
                <a:path w="2522854" h="4080510">
                  <a:moveTo>
                    <a:pt x="30305" y="0"/>
                  </a:moveTo>
                  <a:lnTo>
                    <a:pt x="0" y="2046208"/>
                  </a:lnTo>
                  <a:lnTo>
                    <a:pt x="121624" y="4080099"/>
                  </a:lnTo>
                  <a:lnTo>
                    <a:pt x="175565" y="4077185"/>
                  </a:lnTo>
                  <a:lnTo>
                    <a:pt x="229171" y="4073399"/>
                  </a:lnTo>
                  <a:lnTo>
                    <a:pt x="282431" y="4068751"/>
                  </a:lnTo>
                  <a:lnTo>
                    <a:pt x="335335" y="4063249"/>
                  </a:lnTo>
                  <a:lnTo>
                    <a:pt x="387873" y="4056902"/>
                  </a:lnTo>
                  <a:lnTo>
                    <a:pt x="440033" y="4049719"/>
                  </a:lnTo>
                  <a:lnTo>
                    <a:pt x="491806" y="4041709"/>
                  </a:lnTo>
                  <a:lnTo>
                    <a:pt x="543179" y="4032880"/>
                  </a:lnTo>
                  <a:lnTo>
                    <a:pt x="594144" y="4023243"/>
                  </a:lnTo>
                  <a:lnTo>
                    <a:pt x="644690" y="4012806"/>
                  </a:lnTo>
                  <a:lnTo>
                    <a:pt x="694805" y="4001577"/>
                  </a:lnTo>
                  <a:lnTo>
                    <a:pt x="744479" y="3989566"/>
                  </a:lnTo>
                  <a:lnTo>
                    <a:pt x="793702" y="3976782"/>
                  </a:lnTo>
                  <a:lnTo>
                    <a:pt x="842463" y="3963233"/>
                  </a:lnTo>
                  <a:lnTo>
                    <a:pt x="890751" y="3948929"/>
                  </a:lnTo>
                  <a:lnTo>
                    <a:pt x="938556" y="3933878"/>
                  </a:lnTo>
                  <a:lnTo>
                    <a:pt x="985868" y="3918089"/>
                  </a:lnTo>
                  <a:lnTo>
                    <a:pt x="1032675" y="3901572"/>
                  </a:lnTo>
                  <a:lnTo>
                    <a:pt x="1078967" y="3884335"/>
                  </a:lnTo>
                  <a:lnTo>
                    <a:pt x="1124734" y="3866388"/>
                  </a:lnTo>
                  <a:lnTo>
                    <a:pt x="1169964" y="3847738"/>
                  </a:lnTo>
                  <a:lnTo>
                    <a:pt x="1214648" y="3828396"/>
                  </a:lnTo>
                  <a:lnTo>
                    <a:pt x="1258775" y="3808369"/>
                  </a:lnTo>
                  <a:lnTo>
                    <a:pt x="1302334" y="3787668"/>
                  </a:lnTo>
                  <a:lnTo>
                    <a:pt x="1345314" y="3766300"/>
                  </a:lnTo>
                  <a:lnTo>
                    <a:pt x="1387705" y="3744275"/>
                  </a:lnTo>
                  <a:lnTo>
                    <a:pt x="1429497" y="3721603"/>
                  </a:lnTo>
                  <a:lnTo>
                    <a:pt x="1470678" y="3698290"/>
                  </a:lnTo>
                  <a:lnTo>
                    <a:pt x="1511239" y="3674348"/>
                  </a:lnTo>
                  <a:lnTo>
                    <a:pt x="1551168" y="3649784"/>
                  </a:lnTo>
                  <a:lnTo>
                    <a:pt x="1590455" y="3624607"/>
                  </a:lnTo>
                  <a:lnTo>
                    <a:pt x="1629090" y="3598827"/>
                  </a:lnTo>
                  <a:lnTo>
                    <a:pt x="1667061" y="3572453"/>
                  </a:lnTo>
                  <a:lnTo>
                    <a:pt x="1704359" y="3545493"/>
                  </a:lnTo>
                  <a:lnTo>
                    <a:pt x="1740972" y="3517956"/>
                  </a:lnTo>
                  <a:lnTo>
                    <a:pt x="1776891" y="3489851"/>
                  </a:lnTo>
                  <a:lnTo>
                    <a:pt x="1812104" y="3461188"/>
                  </a:lnTo>
                  <a:lnTo>
                    <a:pt x="1846601" y="3431974"/>
                  </a:lnTo>
                  <a:lnTo>
                    <a:pt x="1880371" y="3402220"/>
                  </a:lnTo>
                  <a:lnTo>
                    <a:pt x="1913404" y="3371934"/>
                  </a:lnTo>
                  <a:lnTo>
                    <a:pt x="1945689" y="3341124"/>
                  </a:lnTo>
                  <a:lnTo>
                    <a:pt x="1977215" y="3309801"/>
                  </a:lnTo>
                  <a:lnTo>
                    <a:pt x="2007973" y="3277972"/>
                  </a:lnTo>
                  <a:lnTo>
                    <a:pt x="2037951" y="3245647"/>
                  </a:lnTo>
                  <a:lnTo>
                    <a:pt x="2067139" y="3212835"/>
                  </a:lnTo>
                  <a:lnTo>
                    <a:pt x="2095525" y="3179544"/>
                  </a:lnTo>
                  <a:lnTo>
                    <a:pt x="2123101" y="3145784"/>
                  </a:lnTo>
                  <a:lnTo>
                    <a:pt x="2149854" y="3111564"/>
                  </a:lnTo>
                  <a:lnTo>
                    <a:pt x="2175775" y="3076892"/>
                  </a:lnTo>
                  <a:lnTo>
                    <a:pt x="2200853" y="3041777"/>
                  </a:lnTo>
                  <a:lnTo>
                    <a:pt x="2225077" y="3006229"/>
                  </a:lnTo>
                  <a:lnTo>
                    <a:pt x="2248437" y="2970255"/>
                  </a:lnTo>
                  <a:lnTo>
                    <a:pt x="2270921" y="2933867"/>
                  </a:lnTo>
                  <a:lnTo>
                    <a:pt x="2292521" y="2897071"/>
                  </a:lnTo>
                  <a:lnTo>
                    <a:pt x="2313224" y="2859877"/>
                  </a:lnTo>
                  <a:lnTo>
                    <a:pt x="2333020" y="2822294"/>
                  </a:lnTo>
                  <a:lnTo>
                    <a:pt x="2351899" y="2784332"/>
                  </a:lnTo>
                  <a:lnTo>
                    <a:pt x="2369850" y="2745998"/>
                  </a:lnTo>
                  <a:lnTo>
                    <a:pt x="2386863" y="2707302"/>
                  </a:lnTo>
                  <a:lnTo>
                    <a:pt x="2402927" y="2668253"/>
                  </a:lnTo>
                  <a:lnTo>
                    <a:pt x="2418031" y="2628859"/>
                  </a:lnTo>
                  <a:lnTo>
                    <a:pt x="2432165" y="2589131"/>
                  </a:lnTo>
                  <a:lnTo>
                    <a:pt x="2445318" y="2549075"/>
                  </a:lnTo>
                  <a:lnTo>
                    <a:pt x="2457480" y="2508703"/>
                  </a:lnTo>
                  <a:lnTo>
                    <a:pt x="2468640" y="2468022"/>
                  </a:lnTo>
                  <a:lnTo>
                    <a:pt x="2478787" y="2427041"/>
                  </a:lnTo>
                  <a:lnTo>
                    <a:pt x="2487911" y="2385770"/>
                  </a:lnTo>
                  <a:lnTo>
                    <a:pt x="2496001" y="2344216"/>
                  </a:lnTo>
                  <a:lnTo>
                    <a:pt x="2503047" y="2302391"/>
                  </a:lnTo>
                  <a:lnTo>
                    <a:pt x="2509038" y="2260301"/>
                  </a:lnTo>
                  <a:lnTo>
                    <a:pt x="2513963" y="2217956"/>
                  </a:lnTo>
                  <a:lnTo>
                    <a:pt x="2517812" y="2175366"/>
                  </a:lnTo>
                  <a:lnTo>
                    <a:pt x="2520575" y="2132538"/>
                  </a:lnTo>
                  <a:lnTo>
                    <a:pt x="2522240" y="2089483"/>
                  </a:lnTo>
                  <a:lnTo>
                    <a:pt x="2522798" y="2046208"/>
                  </a:lnTo>
                  <a:lnTo>
                    <a:pt x="2522252" y="2003165"/>
                  </a:lnTo>
                  <a:lnTo>
                    <a:pt x="2520623" y="1960337"/>
                  </a:lnTo>
                  <a:lnTo>
                    <a:pt x="2517921" y="1917734"/>
                  </a:lnTo>
                  <a:lnTo>
                    <a:pt x="2514157" y="1875364"/>
                  </a:lnTo>
                  <a:lnTo>
                    <a:pt x="2509340" y="1833236"/>
                  </a:lnTo>
                  <a:lnTo>
                    <a:pt x="2503482" y="1791358"/>
                  </a:lnTo>
                  <a:lnTo>
                    <a:pt x="2496593" y="1749739"/>
                  </a:lnTo>
                  <a:lnTo>
                    <a:pt x="2488684" y="1708388"/>
                  </a:lnTo>
                  <a:lnTo>
                    <a:pt x="2479765" y="1667314"/>
                  </a:lnTo>
                  <a:lnTo>
                    <a:pt x="2469847" y="1626526"/>
                  </a:lnTo>
                  <a:lnTo>
                    <a:pt x="2458941" y="1586031"/>
                  </a:lnTo>
                  <a:lnTo>
                    <a:pt x="2447057" y="1545840"/>
                  </a:lnTo>
                  <a:lnTo>
                    <a:pt x="2434205" y="1505960"/>
                  </a:lnTo>
                  <a:lnTo>
                    <a:pt x="2420396" y="1466400"/>
                  </a:lnTo>
                  <a:lnTo>
                    <a:pt x="2405642" y="1427169"/>
                  </a:lnTo>
                  <a:lnTo>
                    <a:pt x="2389951" y="1388276"/>
                  </a:lnTo>
                  <a:lnTo>
                    <a:pt x="2373336" y="1349729"/>
                  </a:lnTo>
                  <a:lnTo>
                    <a:pt x="2355806" y="1311538"/>
                  </a:lnTo>
                  <a:lnTo>
                    <a:pt x="2337372" y="1273711"/>
                  </a:lnTo>
                  <a:lnTo>
                    <a:pt x="2318045" y="1236256"/>
                  </a:lnTo>
                  <a:lnTo>
                    <a:pt x="2297834" y="1199182"/>
                  </a:lnTo>
                  <a:lnTo>
                    <a:pt x="2276752" y="1162499"/>
                  </a:lnTo>
                  <a:lnTo>
                    <a:pt x="2254808" y="1126215"/>
                  </a:lnTo>
                  <a:lnTo>
                    <a:pt x="2232013" y="1090338"/>
                  </a:lnTo>
                  <a:lnTo>
                    <a:pt x="2208377" y="1054877"/>
                  </a:lnTo>
                  <a:lnTo>
                    <a:pt x="2183912" y="1019841"/>
                  </a:lnTo>
                  <a:lnTo>
                    <a:pt x="2158627" y="985239"/>
                  </a:lnTo>
                  <a:lnTo>
                    <a:pt x="2132533" y="951080"/>
                  </a:lnTo>
                  <a:lnTo>
                    <a:pt x="2105642" y="917371"/>
                  </a:lnTo>
                  <a:lnTo>
                    <a:pt x="2077962" y="884123"/>
                  </a:lnTo>
                  <a:lnTo>
                    <a:pt x="2049506" y="851343"/>
                  </a:lnTo>
                  <a:lnTo>
                    <a:pt x="2020282" y="819040"/>
                  </a:lnTo>
                  <a:lnTo>
                    <a:pt x="1990303" y="787223"/>
                  </a:lnTo>
                  <a:lnTo>
                    <a:pt x="1959579" y="755902"/>
                  </a:lnTo>
                  <a:lnTo>
                    <a:pt x="1928120" y="725083"/>
                  </a:lnTo>
                  <a:lnTo>
                    <a:pt x="1895937" y="694777"/>
                  </a:lnTo>
                  <a:lnTo>
                    <a:pt x="1863040" y="664992"/>
                  </a:lnTo>
                  <a:lnTo>
                    <a:pt x="1829440" y="635737"/>
                  </a:lnTo>
                  <a:lnTo>
                    <a:pt x="1795147" y="607020"/>
                  </a:lnTo>
                  <a:lnTo>
                    <a:pt x="1760173" y="578850"/>
                  </a:lnTo>
                  <a:lnTo>
                    <a:pt x="1724527" y="551236"/>
                  </a:lnTo>
                  <a:lnTo>
                    <a:pt x="1688220" y="524186"/>
                  </a:lnTo>
                  <a:lnTo>
                    <a:pt x="1651264" y="497710"/>
                  </a:lnTo>
                  <a:lnTo>
                    <a:pt x="1613667" y="471816"/>
                  </a:lnTo>
                  <a:lnTo>
                    <a:pt x="1575442" y="446512"/>
                  </a:lnTo>
                  <a:lnTo>
                    <a:pt x="1536598" y="421808"/>
                  </a:lnTo>
                  <a:lnTo>
                    <a:pt x="1497146" y="397712"/>
                  </a:lnTo>
                  <a:lnTo>
                    <a:pt x="1457097" y="374233"/>
                  </a:lnTo>
                  <a:lnTo>
                    <a:pt x="1416461" y="351380"/>
                  </a:lnTo>
                  <a:lnTo>
                    <a:pt x="1375249" y="329161"/>
                  </a:lnTo>
                  <a:lnTo>
                    <a:pt x="1333471" y="307585"/>
                  </a:lnTo>
                  <a:lnTo>
                    <a:pt x="1291139" y="286661"/>
                  </a:lnTo>
                  <a:lnTo>
                    <a:pt x="1248262" y="266398"/>
                  </a:lnTo>
                  <a:lnTo>
                    <a:pt x="1204850" y="246803"/>
                  </a:lnTo>
                  <a:lnTo>
                    <a:pt x="1160916" y="227887"/>
                  </a:lnTo>
                  <a:lnTo>
                    <a:pt x="1116469" y="209658"/>
                  </a:lnTo>
                  <a:lnTo>
                    <a:pt x="1071520" y="192123"/>
                  </a:lnTo>
                  <a:lnTo>
                    <a:pt x="1026079" y="175293"/>
                  </a:lnTo>
                  <a:lnTo>
                    <a:pt x="980157" y="159176"/>
                  </a:lnTo>
                  <a:lnTo>
                    <a:pt x="933764" y="143781"/>
                  </a:lnTo>
                  <a:lnTo>
                    <a:pt x="886912" y="129115"/>
                  </a:lnTo>
                  <a:lnTo>
                    <a:pt x="839610" y="115189"/>
                  </a:lnTo>
                  <a:lnTo>
                    <a:pt x="791870" y="102011"/>
                  </a:lnTo>
                  <a:lnTo>
                    <a:pt x="743701" y="89589"/>
                  </a:lnTo>
                  <a:lnTo>
                    <a:pt x="695115" y="77932"/>
                  </a:lnTo>
                  <a:lnTo>
                    <a:pt x="646122" y="67050"/>
                  </a:lnTo>
                  <a:lnTo>
                    <a:pt x="596732" y="56949"/>
                  </a:lnTo>
                  <a:lnTo>
                    <a:pt x="546957" y="47641"/>
                  </a:lnTo>
                  <a:lnTo>
                    <a:pt x="496806" y="39132"/>
                  </a:lnTo>
                  <a:lnTo>
                    <a:pt x="446290" y="31432"/>
                  </a:lnTo>
                  <a:lnTo>
                    <a:pt x="395421" y="24550"/>
                  </a:lnTo>
                  <a:lnTo>
                    <a:pt x="344207" y="18494"/>
                  </a:lnTo>
                  <a:lnTo>
                    <a:pt x="292661" y="13273"/>
                  </a:lnTo>
                  <a:lnTo>
                    <a:pt x="240792" y="8896"/>
                  </a:lnTo>
                  <a:lnTo>
                    <a:pt x="188612" y="5372"/>
                  </a:lnTo>
                  <a:lnTo>
                    <a:pt x="136130" y="2708"/>
                  </a:lnTo>
                  <a:lnTo>
                    <a:pt x="83357" y="914"/>
                  </a:lnTo>
                  <a:lnTo>
                    <a:pt x="3030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13263" y="261682"/>
              <a:ext cx="2522855" cy="4080510"/>
            </a:xfrm>
            <a:custGeom>
              <a:avLst/>
              <a:gdLst/>
              <a:ahLst/>
              <a:cxnLst/>
              <a:rect l="l" t="t" r="r" b="b"/>
              <a:pathLst>
                <a:path w="2522854" h="4080510">
                  <a:moveTo>
                    <a:pt x="121624" y="4080099"/>
                  </a:moveTo>
                  <a:lnTo>
                    <a:pt x="175565" y="4077185"/>
                  </a:lnTo>
                  <a:lnTo>
                    <a:pt x="229171" y="4073399"/>
                  </a:lnTo>
                  <a:lnTo>
                    <a:pt x="282431" y="4068751"/>
                  </a:lnTo>
                  <a:lnTo>
                    <a:pt x="335335" y="4063249"/>
                  </a:lnTo>
                  <a:lnTo>
                    <a:pt x="387873" y="4056902"/>
                  </a:lnTo>
                  <a:lnTo>
                    <a:pt x="440033" y="4049719"/>
                  </a:lnTo>
                  <a:lnTo>
                    <a:pt x="491806" y="4041709"/>
                  </a:lnTo>
                  <a:lnTo>
                    <a:pt x="543179" y="4032880"/>
                  </a:lnTo>
                  <a:lnTo>
                    <a:pt x="594144" y="4023243"/>
                  </a:lnTo>
                  <a:lnTo>
                    <a:pt x="644690" y="4012806"/>
                  </a:lnTo>
                  <a:lnTo>
                    <a:pt x="694805" y="4001577"/>
                  </a:lnTo>
                  <a:lnTo>
                    <a:pt x="744479" y="3989566"/>
                  </a:lnTo>
                  <a:lnTo>
                    <a:pt x="793702" y="3976782"/>
                  </a:lnTo>
                  <a:lnTo>
                    <a:pt x="842463" y="3963233"/>
                  </a:lnTo>
                  <a:lnTo>
                    <a:pt x="890751" y="3948929"/>
                  </a:lnTo>
                  <a:lnTo>
                    <a:pt x="938556" y="3933878"/>
                  </a:lnTo>
                  <a:lnTo>
                    <a:pt x="985868" y="3918089"/>
                  </a:lnTo>
                  <a:lnTo>
                    <a:pt x="1032675" y="3901572"/>
                  </a:lnTo>
                  <a:lnTo>
                    <a:pt x="1078967" y="3884335"/>
                  </a:lnTo>
                  <a:lnTo>
                    <a:pt x="1124734" y="3866388"/>
                  </a:lnTo>
                  <a:lnTo>
                    <a:pt x="1169964" y="3847738"/>
                  </a:lnTo>
                  <a:lnTo>
                    <a:pt x="1214648" y="3828396"/>
                  </a:lnTo>
                  <a:lnTo>
                    <a:pt x="1258775" y="3808369"/>
                  </a:lnTo>
                  <a:lnTo>
                    <a:pt x="1302334" y="3787668"/>
                  </a:lnTo>
                  <a:lnTo>
                    <a:pt x="1345314" y="3766300"/>
                  </a:lnTo>
                  <a:lnTo>
                    <a:pt x="1387705" y="3744275"/>
                  </a:lnTo>
                  <a:lnTo>
                    <a:pt x="1429497" y="3721603"/>
                  </a:lnTo>
                  <a:lnTo>
                    <a:pt x="1470678" y="3698290"/>
                  </a:lnTo>
                  <a:lnTo>
                    <a:pt x="1511239" y="3674348"/>
                  </a:lnTo>
                  <a:lnTo>
                    <a:pt x="1551168" y="3649784"/>
                  </a:lnTo>
                  <a:lnTo>
                    <a:pt x="1590455" y="3624607"/>
                  </a:lnTo>
                  <a:lnTo>
                    <a:pt x="1629090" y="3598827"/>
                  </a:lnTo>
                  <a:lnTo>
                    <a:pt x="1667061" y="3572453"/>
                  </a:lnTo>
                  <a:lnTo>
                    <a:pt x="1704359" y="3545493"/>
                  </a:lnTo>
                  <a:lnTo>
                    <a:pt x="1740972" y="3517956"/>
                  </a:lnTo>
                  <a:lnTo>
                    <a:pt x="1776891" y="3489851"/>
                  </a:lnTo>
                  <a:lnTo>
                    <a:pt x="1812104" y="3461188"/>
                  </a:lnTo>
                  <a:lnTo>
                    <a:pt x="1846601" y="3431974"/>
                  </a:lnTo>
                  <a:lnTo>
                    <a:pt x="1880371" y="3402220"/>
                  </a:lnTo>
                  <a:lnTo>
                    <a:pt x="1913404" y="3371934"/>
                  </a:lnTo>
                  <a:lnTo>
                    <a:pt x="1945689" y="3341124"/>
                  </a:lnTo>
                  <a:lnTo>
                    <a:pt x="1977215" y="3309801"/>
                  </a:lnTo>
                  <a:lnTo>
                    <a:pt x="2007973" y="3277972"/>
                  </a:lnTo>
                  <a:lnTo>
                    <a:pt x="2037951" y="3245647"/>
                  </a:lnTo>
                  <a:lnTo>
                    <a:pt x="2067139" y="3212835"/>
                  </a:lnTo>
                  <a:lnTo>
                    <a:pt x="2095525" y="3179544"/>
                  </a:lnTo>
                  <a:lnTo>
                    <a:pt x="2123101" y="3145784"/>
                  </a:lnTo>
                  <a:lnTo>
                    <a:pt x="2149854" y="3111564"/>
                  </a:lnTo>
                  <a:lnTo>
                    <a:pt x="2175775" y="3076892"/>
                  </a:lnTo>
                  <a:lnTo>
                    <a:pt x="2200853" y="3041777"/>
                  </a:lnTo>
                  <a:lnTo>
                    <a:pt x="2225077" y="3006229"/>
                  </a:lnTo>
                  <a:lnTo>
                    <a:pt x="2248437" y="2970255"/>
                  </a:lnTo>
                  <a:lnTo>
                    <a:pt x="2270921" y="2933867"/>
                  </a:lnTo>
                  <a:lnTo>
                    <a:pt x="2292521" y="2897071"/>
                  </a:lnTo>
                  <a:lnTo>
                    <a:pt x="2313224" y="2859877"/>
                  </a:lnTo>
                  <a:lnTo>
                    <a:pt x="2333020" y="2822294"/>
                  </a:lnTo>
                  <a:lnTo>
                    <a:pt x="2351899" y="2784332"/>
                  </a:lnTo>
                  <a:lnTo>
                    <a:pt x="2369850" y="2745998"/>
                  </a:lnTo>
                  <a:lnTo>
                    <a:pt x="2386863" y="2707302"/>
                  </a:lnTo>
                  <a:lnTo>
                    <a:pt x="2402927" y="2668253"/>
                  </a:lnTo>
                  <a:lnTo>
                    <a:pt x="2418031" y="2628859"/>
                  </a:lnTo>
                  <a:lnTo>
                    <a:pt x="2432165" y="2589131"/>
                  </a:lnTo>
                  <a:lnTo>
                    <a:pt x="2445318" y="2549075"/>
                  </a:lnTo>
                  <a:lnTo>
                    <a:pt x="2457480" y="2508703"/>
                  </a:lnTo>
                  <a:lnTo>
                    <a:pt x="2468640" y="2468022"/>
                  </a:lnTo>
                  <a:lnTo>
                    <a:pt x="2478787" y="2427041"/>
                  </a:lnTo>
                  <a:lnTo>
                    <a:pt x="2487911" y="2385770"/>
                  </a:lnTo>
                  <a:lnTo>
                    <a:pt x="2496001" y="2344216"/>
                  </a:lnTo>
                  <a:lnTo>
                    <a:pt x="2503047" y="2302391"/>
                  </a:lnTo>
                  <a:lnTo>
                    <a:pt x="2509038" y="2260301"/>
                  </a:lnTo>
                  <a:lnTo>
                    <a:pt x="2513963" y="2217956"/>
                  </a:lnTo>
                  <a:lnTo>
                    <a:pt x="2517812" y="2175366"/>
                  </a:lnTo>
                  <a:lnTo>
                    <a:pt x="2520575" y="2132538"/>
                  </a:lnTo>
                  <a:lnTo>
                    <a:pt x="2522240" y="2089483"/>
                  </a:lnTo>
                  <a:lnTo>
                    <a:pt x="2522798" y="2046208"/>
                  </a:lnTo>
                  <a:lnTo>
                    <a:pt x="2522252" y="2003165"/>
                  </a:lnTo>
                  <a:lnTo>
                    <a:pt x="2520623" y="1960337"/>
                  </a:lnTo>
                  <a:lnTo>
                    <a:pt x="2517921" y="1917734"/>
                  </a:lnTo>
                  <a:lnTo>
                    <a:pt x="2514157" y="1875364"/>
                  </a:lnTo>
                  <a:lnTo>
                    <a:pt x="2509340" y="1833236"/>
                  </a:lnTo>
                  <a:lnTo>
                    <a:pt x="2503482" y="1791358"/>
                  </a:lnTo>
                  <a:lnTo>
                    <a:pt x="2496593" y="1749739"/>
                  </a:lnTo>
                  <a:lnTo>
                    <a:pt x="2488684" y="1708388"/>
                  </a:lnTo>
                  <a:lnTo>
                    <a:pt x="2479765" y="1667314"/>
                  </a:lnTo>
                  <a:lnTo>
                    <a:pt x="2469847" y="1626526"/>
                  </a:lnTo>
                  <a:lnTo>
                    <a:pt x="2458941" y="1586031"/>
                  </a:lnTo>
                  <a:lnTo>
                    <a:pt x="2447057" y="1545840"/>
                  </a:lnTo>
                  <a:lnTo>
                    <a:pt x="2434205" y="1505960"/>
                  </a:lnTo>
                  <a:lnTo>
                    <a:pt x="2420396" y="1466400"/>
                  </a:lnTo>
                  <a:lnTo>
                    <a:pt x="2405642" y="1427169"/>
                  </a:lnTo>
                  <a:lnTo>
                    <a:pt x="2389951" y="1388276"/>
                  </a:lnTo>
                  <a:lnTo>
                    <a:pt x="2373336" y="1349729"/>
                  </a:lnTo>
                  <a:lnTo>
                    <a:pt x="2355806" y="1311538"/>
                  </a:lnTo>
                  <a:lnTo>
                    <a:pt x="2337372" y="1273711"/>
                  </a:lnTo>
                  <a:lnTo>
                    <a:pt x="2318045" y="1236256"/>
                  </a:lnTo>
                  <a:lnTo>
                    <a:pt x="2297834" y="1199182"/>
                  </a:lnTo>
                  <a:lnTo>
                    <a:pt x="2276752" y="1162499"/>
                  </a:lnTo>
                  <a:lnTo>
                    <a:pt x="2254808" y="1126215"/>
                  </a:lnTo>
                  <a:lnTo>
                    <a:pt x="2232013" y="1090338"/>
                  </a:lnTo>
                  <a:lnTo>
                    <a:pt x="2208377" y="1054877"/>
                  </a:lnTo>
                  <a:lnTo>
                    <a:pt x="2183912" y="1019841"/>
                  </a:lnTo>
                  <a:lnTo>
                    <a:pt x="2158627" y="985239"/>
                  </a:lnTo>
                  <a:lnTo>
                    <a:pt x="2132533" y="951080"/>
                  </a:lnTo>
                  <a:lnTo>
                    <a:pt x="2105642" y="917371"/>
                  </a:lnTo>
                  <a:lnTo>
                    <a:pt x="2077962" y="884123"/>
                  </a:lnTo>
                  <a:lnTo>
                    <a:pt x="2049506" y="851343"/>
                  </a:lnTo>
                  <a:lnTo>
                    <a:pt x="2020282" y="819040"/>
                  </a:lnTo>
                  <a:lnTo>
                    <a:pt x="1990303" y="787223"/>
                  </a:lnTo>
                  <a:lnTo>
                    <a:pt x="1959579" y="755902"/>
                  </a:lnTo>
                  <a:lnTo>
                    <a:pt x="1928120" y="725083"/>
                  </a:lnTo>
                  <a:lnTo>
                    <a:pt x="1895937" y="694777"/>
                  </a:lnTo>
                  <a:lnTo>
                    <a:pt x="1863040" y="664992"/>
                  </a:lnTo>
                  <a:lnTo>
                    <a:pt x="1829440" y="635737"/>
                  </a:lnTo>
                  <a:lnTo>
                    <a:pt x="1795147" y="607020"/>
                  </a:lnTo>
                  <a:lnTo>
                    <a:pt x="1760173" y="578850"/>
                  </a:lnTo>
                  <a:lnTo>
                    <a:pt x="1724527" y="551236"/>
                  </a:lnTo>
                  <a:lnTo>
                    <a:pt x="1688220" y="524186"/>
                  </a:lnTo>
                  <a:lnTo>
                    <a:pt x="1651264" y="497710"/>
                  </a:lnTo>
                  <a:lnTo>
                    <a:pt x="1613667" y="471816"/>
                  </a:lnTo>
                  <a:lnTo>
                    <a:pt x="1575442" y="446512"/>
                  </a:lnTo>
                  <a:lnTo>
                    <a:pt x="1536598" y="421808"/>
                  </a:lnTo>
                  <a:lnTo>
                    <a:pt x="1497146" y="397712"/>
                  </a:lnTo>
                  <a:lnTo>
                    <a:pt x="1457097" y="374233"/>
                  </a:lnTo>
                  <a:lnTo>
                    <a:pt x="1416461" y="351380"/>
                  </a:lnTo>
                  <a:lnTo>
                    <a:pt x="1375249" y="329161"/>
                  </a:lnTo>
                  <a:lnTo>
                    <a:pt x="1333471" y="307585"/>
                  </a:lnTo>
                  <a:lnTo>
                    <a:pt x="1291139" y="286661"/>
                  </a:lnTo>
                  <a:lnTo>
                    <a:pt x="1248262" y="266398"/>
                  </a:lnTo>
                  <a:lnTo>
                    <a:pt x="1204850" y="246803"/>
                  </a:lnTo>
                  <a:lnTo>
                    <a:pt x="1160916" y="227887"/>
                  </a:lnTo>
                  <a:lnTo>
                    <a:pt x="1116469" y="209658"/>
                  </a:lnTo>
                  <a:lnTo>
                    <a:pt x="1071520" y="192123"/>
                  </a:lnTo>
                  <a:lnTo>
                    <a:pt x="1026079" y="175293"/>
                  </a:lnTo>
                  <a:lnTo>
                    <a:pt x="980157" y="159176"/>
                  </a:lnTo>
                  <a:lnTo>
                    <a:pt x="933764" y="143781"/>
                  </a:lnTo>
                  <a:lnTo>
                    <a:pt x="886912" y="129115"/>
                  </a:lnTo>
                  <a:lnTo>
                    <a:pt x="839610" y="115189"/>
                  </a:lnTo>
                  <a:lnTo>
                    <a:pt x="791870" y="102011"/>
                  </a:lnTo>
                  <a:lnTo>
                    <a:pt x="743701" y="89589"/>
                  </a:lnTo>
                  <a:lnTo>
                    <a:pt x="695115" y="77932"/>
                  </a:lnTo>
                  <a:lnTo>
                    <a:pt x="646122" y="67050"/>
                  </a:lnTo>
                  <a:lnTo>
                    <a:pt x="596732" y="56949"/>
                  </a:lnTo>
                  <a:lnTo>
                    <a:pt x="546957" y="47641"/>
                  </a:lnTo>
                  <a:lnTo>
                    <a:pt x="496806" y="39132"/>
                  </a:lnTo>
                  <a:lnTo>
                    <a:pt x="446290" y="31432"/>
                  </a:lnTo>
                  <a:lnTo>
                    <a:pt x="395421" y="24550"/>
                  </a:lnTo>
                  <a:lnTo>
                    <a:pt x="344207" y="18494"/>
                  </a:lnTo>
                  <a:lnTo>
                    <a:pt x="292661" y="13273"/>
                  </a:lnTo>
                  <a:lnTo>
                    <a:pt x="240792" y="8896"/>
                  </a:lnTo>
                  <a:lnTo>
                    <a:pt x="188612" y="5372"/>
                  </a:lnTo>
                  <a:lnTo>
                    <a:pt x="136130" y="2708"/>
                  </a:lnTo>
                  <a:lnTo>
                    <a:pt x="83357" y="914"/>
                  </a:lnTo>
                  <a:lnTo>
                    <a:pt x="30305" y="0"/>
                  </a:lnTo>
                  <a:lnTo>
                    <a:pt x="0" y="2046208"/>
                  </a:lnTo>
                  <a:lnTo>
                    <a:pt x="121624" y="4080099"/>
                  </a:lnTo>
                  <a:close/>
                </a:path>
              </a:pathLst>
            </a:custGeom>
            <a:ln w="143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21072" y="2307891"/>
              <a:ext cx="2614295" cy="2033905"/>
            </a:xfrm>
            <a:custGeom>
              <a:avLst/>
              <a:gdLst/>
              <a:ahLst/>
              <a:cxnLst/>
              <a:rect l="l" t="t" r="r" b="b"/>
              <a:pathLst>
                <a:path w="2614295" h="2033904">
                  <a:moveTo>
                    <a:pt x="2492190" y="0"/>
                  </a:moveTo>
                  <a:lnTo>
                    <a:pt x="0" y="357287"/>
                  </a:lnTo>
                  <a:lnTo>
                    <a:pt x="9769" y="399458"/>
                  </a:lnTo>
                  <a:lnTo>
                    <a:pt x="20581" y="441280"/>
                  </a:lnTo>
                  <a:lnTo>
                    <a:pt x="32422" y="482744"/>
                  </a:lnTo>
                  <a:lnTo>
                    <a:pt x="45281" y="523843"/>
                  </a:lnTo>
                  <a:lnTo>
                    <a:pt x="59145" y="564569"/>
                  </a:lnTo>
                  <a:lnTo>
                    <a:pt x="74004" y="604913"/>
                  </a:lnTo>
                  <a:lnTo>
                    <a:pt x="89844" y="644868"/>
                  </a:lnTo>
                  <a:lnTo>
                    <a:pt x="106654" y="684427"/>
                  </a:lnTo>
                  <a:lnTo>
                    <a:pt x="124422" y="723580"/>
                  </a:lnTo>
                  <a:lnTo>
                    <a:pt x="143135" y="762321"/>
                  </a:lnTo>
                  <a:lnTo>
                    <a:pt x="162784" y="800641"/>
                  </a:lnTo>
                  <a:lnTo>
                    <a:pt x="183354" y="838533"/>
                  </a:lnTo>
                  <a:lnTo>
                    <a:pt x="204834" y="875988"/>
                  </a:lnTo>
                  <a:lnTo>
                    <a:pt x="227213" y="912999"/>
                  </a:lnTo>
                  <a:lnTo>
                    <a:pt x="250478" y="949558"/>
                  </a:lnTo>
                  <a:lnTo>
                    <a:pt x="274618" y="985657"/>
                  </a:lnTo>
                  <a:lnTo>
                    <a:pt x="299620" y="1021288"/>
                  </a:lnTo>
                  <a:lnTo>
                    <a:pt x="325472" y="1056443"/>
                  </a:lnTo>
                  <a:lnTo>
                    <a:pt x="352164" y="1091115"/>
                  </a:lnTo>
                  <a:lnTo>
                    <a:pt x="379681" y="1125295"/>
                  </a:lnTo>
                  <a:lnTo>
                    <a:pt x="408014" y="1158976"/>
                  </a:lnTo>
                  <a:lnTo>
                    <a:pt x="437150" y="1192150"/>
                  </a:lnTo>
                  <a:lnTo>
                    <a:pt x="467076" y="1224808"/>
                  </a:lnTo>
                  <a:lnTo>
                    <a:pt x="497781" y="1256943"/>
                  </a:lnTo>
                  <a:lnTo>
                    <a:pt x="529253" y="1288548"/>
                  </a:lnTo>
                  <a:lnTo>
                    <a:pt x="561481" y="1319613"/>
                  </a:lnTo>
                  <a:lnTo>
                    <a:pt x="594451" y="1350132"/>
                  </a:lnTo>
                  <a:lnTo>
                    <a:pt x="628153" y="1380096"/>
                  </a:lnTo>
                  <a:lnTo>
                    <a:pt x="662574" y="1409498"/>
                  </a:lnTo>
                  <a:lnTo>
                    <a:pt x="697702" y="1438330"/>
                  </a:lnTo>
                  <a:lnTo>
                    <a:pt x="733526" y="1466583"/>
                  </a:lnTo>
                  <a:lnTo>
                    <a:pt x="770033" y="1494250"/>
                  </a:lnTo>
                  <a:lnTo>
                    <a:pt x="807212" y="1521323"/>
                  </a:lnTo>
                  <a:lnTo>
                    <a:pt x="845050" y="1547795"/>
                  </a:lnTo>
                  <a:lnTo>
                    <a:pt x="883536" y="1573656"/>
                  </a:lnTo>
                  <a:lnTo>
                    <a:pt x="922657" y="1598901"/>
                  </a:lnTo>
                  <a:lnTo>
                    <a:pt x="962403" y="1623519"/>
                  </a:lnTo>
                  <a:lnTo>
                    <a:pt x="1002760" y="1647504"/>
                  </a:lnTo>
                  <a:lnTo>
                    <a:pt x="1043717" y="1670848"/>
                  </a:lnTo>
                  <a:lnTo>
                    <a:pt x="1085262" y="1693543"/>
                  </a:lnTo>
                  <a:lnTo>
                    <a:pt x="1127383" y="1715581"/>
                  </a:lnTo>
                  <a:lnTo>
                    <a:pt x="1170069" y="1736953"/>
                  </a:lnTo>
                  <a:lnTo>
                    <a:pt x="1213306" y="1757654"/>
                  </a:lnTo>
                  <a:lnTo>
                    <a:pt x="1257084" y="1777673"/>
                  </a:lnTo>
                  <a:lnTo>
                    <a:pt x="1301390" y="1797004"/>
                  </a:lnTo>
                  <a:lnTo>
                    <a:pt x="1346212" y="1815638"/>
                  </a:lnTo>
                  <a:lnTo>
                    <a:pt x="1391539" y="1833568"/>
                  </a:lnTo>
                  <a:lnTo>
                    <a:pt x="1437358" y="1850786"/>
                  </a:lnTo>
                  <a:lnTo>
                    <a:pt x="1483658" y="1867284"/>
                  </a:lnTo>
                  <a:lnTo>
                    <a:pt x="1530426" y="1883054"/>
                  </a:lnTo>
                  <a:lnTo>
                    <a:pt x="1577651" y="1898088"/>
                  </a:lnTo>
                  <a:lnTo>
                    <a:pt x="1625321" y="1912378"/>
                  </a:lnTo>
                  <a:lnTo>
                    <a:pt x="1673424" y="1925917"/>
                  </a:lnTo>
                  <a:lnTo>
                    <a:pt x="1721947" y="1938696"/>
                  </a:lnTo>
                  <a:lnTo>
                    <a:pt x="1770880" y="1950708"/>
                  </a:lnTo>
                  <a:lnTo>
                    <a:pt x="1820209" y="1961945"/>
                  </a:lnTo>
                  <a:lnTo>
                    <a:pt x="1869924" y="1972399"/>
                  </a:lnTo>
                  <a:lnTo>
                    <a:pt x="1920011" y="1982061"/>
                  </a:lnTo>
                  <a:lnTo>
                    <a:pt x="1970460" y="1990925"/>
                  </a:lnTo>
                  <a:lnTo>
                    <a:pt x="2021258" y="1998982"/>
                  </a:lnTo>
                  <a:lnTo>
                    <a:pt x="2072394" y="2006224"/>
                  </a:lnTo>
                  <a:lnTo>
                    <a:pt x="2123855" y="2012644"/>
                  </a:lnTo>
                  <a:lnTo>
                    <a:pt x="2175629" y="2018233"/>
                  </a:lnTo>
                  <a:lnTo>
                    <a:pt x="2227705" y="2022985"/>
                  </a:lnTo>
                  <a:lnTo>
                    <a:pt x="2280071" y="2026889"/>
                  </a:lnTo>
                  <a:lnTo>
                    <a:pt x="2332714" y="2029940"/>
                  </a:lnTo>
                  <a:lnTo>
                    <a:pt x="2385623" y="2032129"/>
                  </a:lnTo>
                  <a:lnTo>
                    <a:pt x="2438785" y="2033449"/>
                  </a:lnTo>
                  <a:lnTo>
                    <a:pt x="2613814" y="2033890"/>
                  </a:lnTo>
                  <a:lnTo>
                    <a:pt x="249219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21072" y="2307891"/>
              <a:ext cx="2614295" cy="2033905"/>
            </a:xfrm>
            <a:custGeom>
              <a:avLst/>
              <a:gdLst/>
              <a:ahLst/>
              <a:cxnLst/>
              <a:rect l="l" t="t" r="r" b="b"/>
              <a:pathLst>
                <a:path w="2614295" h="2033904">
                  <a:moveTo>
                    <a:pt x="0" y="357287"/>
                  </a:moveTo>
                  <a:lnTo>
                    <a:pt x="9769" y="399458"/>
                  </a:lnTo>
                  <a:lnTo>
                    <a:pt x="20581" y="441280"/>
                  </a:lnTo>
                  <a:lnTo>
                    <a:pt x="32422" y="482744"/>
                  </a:lnTo>
                  <a:lnTo>
                    <a:pt x="45281" y="523843"/>
                  </a:lnTo>
                  <a:lnTo>
                    <a:pt x="59145" y="564569"/>
                  </a:lnTo>
                  <a:lnTo>
                    <a:pt x="74004" y="604913"/>
                  </a:lnTo>
                  <a:lnTo>
                    <a:pt x="89844" y="644868"/>
                  </a:lnTo>
                  <a:lnTo>
                    <a:pt x="106654" y="684427"/>
                  </a:lnTo>
                  <a:lnTo>
                    <a:pt x="124422" y="723580"/>
                  </a:lnTo>
                  <a:lnTo>
                    <a:pt x="143135" y="762321"/>
                  </a:lnTo>
                  <a:lnTo>
                    <a:pt x="162784" y="800641"/>
                  </a:lnTo>
                  <a:lnTo>
                    <a:pt x="183354" y="838533"/>
                  </a:lnTo>
                  <a:lnTo>
                    <a:pt x="204834" y="875988"/>
                  </a:lnTo>
                  <a:lnTo>
                    <a:pt x="227213" y="912999"/>
                  </a:lnTo>
                  <a:lnTo>
                    <a:pt x="250478" y="949558"/>
                  </a:lnTo>
                  <a:lnTo>
                    <a:pt x="274618" y="985657"/>
                  </a:lnTo>
                  <a:lnTo>
                    <a:pt x="299620" y="1021288"/>
                  </a:lnTo>
                  <a:lnTo>
                    <a:pt x="325472" y="1056443"/>
                  </a:lnTo>
                  <a:lnTo>
                    <a:pt x="352164" y="1091115"/>
                  </a:lnTo>
                  <a:lnTo>
                    <a:pt x="379681" y="1125295"/>
                  </a:lnTo>
                  <a:lnTo>
                    <a:pt x="408014" y="1158976"/>
                  </a:lnTo>
                  <a:lnTo>
                    <a:pt x="437150" y="1192150"/>
                  </a:lnTo>
                  <a:lnTo>
                    <a:pt x="467076" y="1224808"/>
                  </a:lnTo>
                  <a:lnTo>
                    <a:pt x="497781" y="1256943"/>
                  </a:lnTo>
                  <a:lnTo>
                    <a:pt x="529253" y="1288548"/>
                  </a:lnTo>
                  <a:lnTo>
                    <a:pt x="561481" y="1319613"/>
                  </a:lnTo>
                  <a:lnTo>
                    <a:pt x="594451" y="1350132"/>
                  </a:lnTo>
                  <a:lnTo>
                    <a:pt x="628153" y="1380096"/>
                  </a:lnTo>
                  <a:lnTo>
                    <a:pt x="662574" y="1409498"/>
                  </a:lnTo>
                  <a:lnTo>
                    <a:pt x="697702" y="1438330"/>
                  </a:lnTo>
                  <a:lnTo>
                    <a:pt x="733526" y="1466583"/>
                  </a:lnTo>
                  <a:lnTo>
                    <a:pt x="770033" y="1494250"/>
                  </a:lnTo>
                  <a:lnTo>
                    <a:pt x="807212" y="1521323"/>
                  </a:lnTo>
                  <a:lnTo>
                    <a:pt x="845050" y="1547795"/>
                  </a:lnTo>
                  <a:lnTo>
                    <a:pt x="883536" y="1573656"/>
                  </a:lnTo>
                  <a:lnTo>
                    <a:pt x="922657" y="1598901"/>
                  </a:lnTo>
                  <a:lnTo>
                    <a:pt x="962403" y="1623519"/>
                  </a:lnTo>
                  <a:lnTo>
                    <a:pt x="1002760" y="1647504"/>
                  </a:lnTo>
                  <a:lnTo>
                    <a:pt x="1043717" y="1670848"/>
                  </a:lnTo>
                  <a:lnTo>
                    <a:pt x="1085262" y="1693543"/>
                  </a:lnTo>
                  <a:lnTo>
                    <a:pt x="1127383" y="1715581"/>
                  </a:lnTo>
                  <a:lnTo>
                    <a:pt x="1170069" y="1736953"/>
                  </a:lnTo>
                  <a:lnTo>
                    <a:pt x="1213306" y="1757654"/>
                  </a:lnTo>
                  <a:lnTo>
                    <a:pt x="1257084" y="1777673"/>
                  </a:lnTo>
                  <a:lnTo>
                    <a:pt x="1301390" y="1797004"/>
                  </a:lnTo>
                  <a:lnTo>
                    <a:pt x="1346212" y="1815638"/>
                  </a:lnTo>
                  <a:lnTo>
                    <a:pt x="1391539" y="1833568"/>
                  </a:lnTo>
                  <a:lnTo>
                    <a:pt x="1437358" y="1850786"/>
                  </a:lnTo>
                  <a:lnTo>
                    <a:pt x="1483658" y="1867284"/>
                  </a:lnTo>
                  <a:lnTo>
                    <a:pt x="1530426" y="1883054"/>
                  </a:lnTo>
                  <a:lnTo>
                    <a:pt x="1577651" y="1898088"/>
                  </a:lnTo>
                  <a:lnTo>
                    <a:pt x="1625321" y="1912378"/>
                  </a:lnTo>
                  <a:lnTo>
                    <a:pt x="1673424" y="1925917"/>
                  </a:lnTo>
                  <a:lnTo>
                    <a:pt x="1721947" y="1938696"/>
                  </a:lnTo>
                  <a:lnTo>
                    <a:pt x="1770880" y="1950708"/>
                  </a:lnTo>
                  <a:lnTo>
                    <a:pt x="1820209" y="1961945"/>
                  </a:lnTo>
                  <a:lnTo>
                    <a:pt x="1869924" y="1972399"/>
                  </a:lnTo>
                  <a:lnTo>
                    <a:pt x="1920011" y="1982061"/>
                  </a:lnTo>
                  <a:lnTo>
                    <a:pt x="1970460" y="1990925"/>
                  </a:lnTo>
                  <a:lnTo>
                    <a:pt x="2021258" y="1998982"/>
                  </a:lnTo>
                  <a:lnTo>
                    <a:pt x="2072394" y="2006224"/>
                  </a:lnTo>
                  <a:lnTo>
                    <a:pt x="2123855" y="2012644"/>
                  </a:lnTo>
                  <a:lnTo>
                    <a:pt x="2175629" y="2018233"/>
                  </a:lnTo>
                  <a:lnTo>
                    <a:pt x="2227705" y="2022985"/>
                  </a:lnTo>
                  <a:lnTo>
                    <a:pt x="2280071" y="2026889"/>
                  </a:lnTo>
                  <a:lnTo>
                    <a:pt x="2332714" y="2029940"/>
                  </a:lnTo>
                  <a:lnTo>
                    <a:pt x="2385623" y="2032129"/>
                  </a:lnTo>
                  <a:lnTo>
                    <a:pt x="2438785" y="2033449"/>
                  </a:lnTo>
                  <a:lnTo>
                    <a:pt x="2492190" y="2033890"/>
                  </a:lnTo>
                  <a:lnTo>
                    <a:pt x="2517586" y="2033890"/>
                  </a:lnTo>
                  <a:lnTo>
                    <a:pt x="2547320" y="2033890"/>
                  </a:lnTo>
                  <a:lnTo>
                    <a:pt x="2579895" y="2033890"/>
                  </a:lnTo>
                  <a:lnTo>
                    <a:pt x="2613814" y="2033890"/>
                  </a:lnTo>
                  <a:lnTo>
                    <a:pt x="2492190" y="0"/>
                  </a:lnTo>
                  <a:lnTo>
                    <a:pt x="0" y="357287"/>
                  </a:lnTo>
                  <a:close/>
                </a:path>
              </a:pathLst>
            </a:custGeom>
            <a:ln w="133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58954" y="2313955"/>
              <a:ext cx="2461895" cy="357505"/>
            </a:xfrm>
            <a:custGeom>
              <a:avLst/>
              <a:gdLst/>
              <a:ahLst/>
              <a:cxnLst/>
              <a:rect l="l" t="t" r="r" b="b"/>
              <a:pathLst>
                <a:path w="2461895" h="357505">
                  <a:moveTo>
                    <a:pt x="2461784" y="0"/>
                  </a:moveTo>
                  <a:lnTo>
                    <a:pt x="0" y="357287"/>
                  </a:lnTo>
                </a:path>
              </a:pathLst>
            </a:custGeom>
            <a:ln w="12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285745" y="1482090"/>
            <a:ext cx="173799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10" dirty="0">
                <a:solidFill>
                  <a:srgbClr val="0000FF"/>
                </a:solidFill>
              </a:rPr>
              <a:t>28%</a:t>
            </a:r>
            <a:r>
              <a:rPr sz="2150" spc="-80" dirty="0">
                <a:solidFill>
                  <a:srgbClr val="0000FF"/>
                </a:solidFill>
              </a:rPr>
              <a:t> </a:t>
            </a:r>
            <a:r>
              <a:rPr sz="2150" spc="5" dirty="0">
                <a:solidFill>
                  <a:srgbClr val="0000FF"/>
                </a:solidFill>
              </a:rPr>
              <a:t>Successful</a:t>
            </a:r>
            <a:endParaRPr sz="2150"/>
          </a:p>
        </p:txBody>
      </p:sp>
      <p:sp>
        <p:nvSpPr>
          <p:cNvPr id="13" name="object 13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47670" y="2187066"/>
            <a:ext cx="3867150" cy="13411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75180">
              <a:lnSpc>
                <a:spcPct val="100000"/>
              </a:lnSpc>
              <a:spcBef>
                <a:spcPts val="120"/>
              </a:spcBef>
            </a:pP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49%</a:t>
            </a:r>
            <a:r>
              <a:rPr sz="215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Delayed</a:t>
            </a:r>
            <a:r>
              <a:rPr sz="215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endParaRPr sz="2150">
              <a:latin typeface="Calibri"/>
              <a:cs typeface="Calibri"/>
            </a:endParaRPr>
          </a:p>
          <a:p>
            <a:pPr marL="2075180">
              <a:lnSpc>
                <a:spcPct val="100000"/>
              </a:lnSpc>
              <a:spcBef>
                <a:spcPts val="35"/>
              </a:spcBef>
            </a:pP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cost</a:t>
            </a:r>
            <a:r>
              <a:rPr sz="215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overrun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150" b="1" spc="10" dirty="0">
                <a:solidFill>
                  <a:srgbClr val="FFFF00"/>
                </a:solidFill>
                <a:latin typeface="Calibri"/>
                <a:cs typeface="Calibri"/>
              </a:rPr>
              <a:t>23%</a:t>
            </a:r>
            <a:r>
              <a:rPr sz="215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FFFF00"/>
                </a:solidFill>
                <a:latin typeface="Calibri"/>
                <a:cs typeface="Calibri"/>
              </a:rPr>
              <a:t>Cancelled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39" y="411226"/>
            <a:ext cx="2320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600CC"/>
                </a:solidFill>
                <a:latin typeface="Times New Roman"/>
                <a:cs typeface="Times New Roman"/>
              </a:rPr>
              <a:t>Standish </a:t>
            </a:r>
            <a:r>
              <a:rPr sz="1800" b="1" spc="-10" dirty="0">
                <a:solidFill>
                  <a:srgbClr val="6600CC"/>
                </a:solidFill>
                <a:latin typeface="Times New Roman"/>
                <a:cs typeface="Times New Roman"/>
              </a:rPr>
              <a:t>Group</a:t>
            </a:r>
            <a:r>
              <a:rPr sz="1800" b="1" spc="-25" dirty="0">
                <a:solidFill>
                  <a:srgbClr val="6600CC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600CC"/>
                </a:solidFill>
                <a:latin typeface="Times New Roman"/>
                <a:cs typeface="Times New Roman"/>
              </a:rPr>
              <a:t>Report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9591" y="188798"/>
            <a:ext cx="6975475" cy="8534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019425" marR="5080" indent="-3007360">
              <a:lnSpc>
                <a:spcPts val="3160"/>
              </a:lnSpc>
              <a:spcBef>
                <a:spcPts val="370"/>
              </a:spcBef>
            </a:pPr>
            <a:r>
              <a:rPr sz="2800" spc="-10" dirty="0"/>
              <a:t>Which</a:t>
            </a:r>
            <a:r>
              <a:rPr sz="2800" spc="10" dirty="0"/>
              <a:t> </a:t>
            </a:r>
            <a:r>
              <a:rPr sz="2800" spc="-20" dirty="0"/>
              <a:t>Factors</a:t>
            </a:r>
            <a:r>
              <a:rPr sz="2800" spc="15" dirty="0"/>
              <a:t> </a:t>
            </a:r>
            <a:r>
              <a:rPr sz="2800" spc="-15" dirty="0"/>
              <a:t>are</a:t>
            </a:r>
            <a:r>
              <a:rPr sz="2800" spc="15" dirty="0"/>
              <a:t> </a:t>
            </a:r>
            <a:r>
              <a:rPr sz="2800" spc="-10" dirty="0"/>
              <a:t>Contributing</a:t>
            </a:r>
            <a:r>
              <a:rPr sz="2800" spc="20" dirty="0"/>
              <a:t> </a:t>
            </a:r>
            <a:r>
              <a:rPr sz="2800" spc="-15" dirty="0"/>
              <a:t>to</a:t>
            </a:r>
            <a:r>
              <a:rPr sz="2800" spc="10" dirty="0"/>
              <a:t> </a:t>
            </a:r>
            <a:r>
              <a:rPr sz="2800" spc="-5" dirty="0"/>
              <a:t>the</a:t>
            </a:r>
            <a:r>
              <a:rPr sz="2800" spc="10" dirty="0"/>
              <a:t> </a:t>
            </a:r>
            <a:r>
              <a:rPr sz="2800" spc="-15" dirty="0"/>
              <a:t>Software </a:t>
            </a:r>
            <a:r>
              <a:rPr sz="2800" spc="-620" dirty="0"/>
              <a:t> </a:t>
            </a:r>
            <a:r>
              <a:rPr sz="2800" spc="-10" dirty="0"/>
              <a:t>Crisis?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911" y="895349"/>
            <a:ext cx="3929379" cy="1184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-5" dirty="0">
                <a:latin typeface="Calibri"/>
                <a:cs typeface="Calibri"/>
              </a:rPr>
              <a:t>Larger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problems,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61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-10" dirty="0">
                <a:latin typeface="Calibri"/>
                <a:cs typeface="Calibri"/>
              </a:rPr>
              <a:t>Poor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project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management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911" y="2382723"/>
            <a:ext cx="146685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spc="5" dirty="0">
                <a:solidFill>
                  <a:srgbClr val="0000FF"/>
                </a:solidFill>
                <a:latin typeface="Arial MT"/>
                <a:cs typeface="Arial MT"/>
              </a:rPr>
              <a:t>•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" y="2363723"/>
            <a:ext cx="7216775" cy="589915"/>
          </a:xfrm>
          <a:prstGeom prst="rect">
            <a:avLst/>
          </a:prstGeom>
          <a:solidFill>
            <a:srgbClr val="FFFFCC"/>
          </a:solidFill>
          <a:ln w="9144">
            <a:solidFill>
              <a:srgbClr val="FF6699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75"/>
              </a:spcBef>
            </a:pP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Lack</a:t>
            </a:r>
            <a:r>
              <a:rPr sz="27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adequate</a:t>
            </a:r>
            <a:r>
              <a:rPr sz="27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training</a:t>
            </a:r>
            <a:r>
              <a:rPr sz="27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7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engineering,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911" y="3126994"/>
            <a:ext cx="4799965" cy="1184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5" dirty="0">
                <a:latin typeface="Calibri"/>
                <a:cs typeface="Calibri"/>
              </a:rPr>
              <a:t>Increasing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skill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shortage,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61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5" dirty="0">
                <a:latin typeface="Calibri"/>
                <a:cs typeface="Calibri"/>
              </a:rPr>
              <a:t>Low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productivity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improvements.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272" y="120269"/>
            <a:ext cx="6210935" cy="4258310"/>
            <a:chOff x="914272" y="120269"/>
            <a:chExt cx="6210935" cy="4258310"/>
          </a:xfrm>
        </p:grpSpPr>
        <p:sp>
          <p:nvSpPr>
            <p:cNvPr id="3" name="object 3"/>
            <p:cNvSpPr/>
            <p:nvPr/>
          </p:nvSpPr>
          <p:spPr>
            <a:xfrm>
              <a:off x="928877" y="134874"/>
              <a:ext cx="6181725" cy="4229100"/>
            </a:xfrm>
            <a:custGeom>
              <a:avLst/>
              <a:gdLst/>
              <a:ahLst/>
              <a:cxnLst/>
              <a:rect l="l" t="t" r="r" b="b"/>
              <a:pathLst>
                <a:path w="6181725" h="4229100">
                  <a:moveTo>
                    <a:pt x="0" y="0"/>
                  </a:moveTo>
                  <a:lnTo>
                    <a:pt x="0" y="4229100"/>
                  </a:lnTo>
                </a:path>
                <a:path w="6181725" h="4229100">
                  <a:moveTo>
                    <a:pt x="0" y="4140707"/>
                  </a:moveTo>
                  <a:lnTo>
                    <a:pt x="6181344" y="4142231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78991" y="926592"/>
              <a:ext cx="5265420" cy="2832735"/>
            </a:xfrm>
            <a:custGeom>
              <a:avLst/>
              <a:gdLst/>
              <a:ahLst/>
              <a:cxnLst/>
              <a:rect l="l" t="t" r="r" b="b"/>
              <a:pathLst>
                <a:path w="5265420" h="2832735">
                  <a:moveTo>
                    <a:pt x="0" y="2815336"/>
                  </a:moveTo>
                  <a:lnTo>
                    <a:pt x="45277" y="2820852"/>
                  </a:lnTo>
                  <a:lnTo>
                    <a:pt x="90783" y="2825819"/>
                  </a:lnTo>
                  <a:lnTo>
                    <a:pt x="136743" y="2829723"/>
                  </a:lnTo>
                  <a:lnTo>
                    <a:pt x="183383" y="2832052"/>
                  </a:lnTo>
                  <a:lnTo>
                    <a:pt x="230928" y="2832291"/>
                  </a:lnTo>
                  <a:lnTo>
                    <a:pt x="279604" y="2829927"/>
                  </a:lnTo>
                  <a:lnTo>
                    <a:pt x="329637" y="2824446"/>
                  </a:lnTo>
                  <a:lnTo>
                    <a:pt x="381254" y="2815336"/>
                  </a:lnTo>
                  <a:lnTo>
                    <a:pt x="424299" y="2806512"/>
                  </a:lnTo>
                  <a:lnTo>
                    <a:pt x="469162" y="2797141"/>
                  </a:lnTo>
                  <a:lnTo>
                    <a:pt x="515387" y="2786699"/>
                  </a:lnTo>
                  <a:lnTo>
                    <a:pt x="562520" y="2774661"/>
                  </a:lnTo>
                  <a:lnTo>
                    <a:pt x="610108" y="2760503"/>
                  </a:lnTo>
                  <a:lnTo>
                    <a:pt x="657695" y="2743701"/>
                  </a:lnTo>
                  <a:lnTo>
                    <a:pt x="704828" y="2723731"/>
                  </a:lnTo>
                  <a:lnTo>
                    <a:pt x="751053" y="2700068"/>
                  </a:lnTo>
                  <a:lnTo>
                    <a:pt x="795916" y="2672188"/>
                  </a:lnTo>
                  <a:lnTo>
                    <a:pt x="838962" y="2639568"/>
                  </a:lnTo>
                  <a:lnTo>
                    <a:pt x="870823" y="2610031"/>
                  </a:lnTo>
                  <a:lnTo>
                    <a:pt x="901884" y="2576003"/>
                  </a:lnTo>
                  <a:lnTo>
                    <a:pt x="932250" y="2538206"/>
                  </a:lnTo>
                  <a:lnTo>
                    <a:pt x="962028" y="2497361"/>
                  </a:lnTo>
                  <a:lnTo>
                    <a:pt x="991322" y="2454189"/>
                  </a:lnTo>
                  <a:lnTo>
                    <a:pt x="1020239" y="2409412"/>
                  </a:lnTo>
                  <a:lnTo>
                    <a:pt x="1048884" y="2363751"/>
                  </a:lnTo>
                  <a:lnTo>
                    <a:pt x="1077364" y="2317928"/>
                  </a:lnTo>
                  <a:lnTo>
                    <a:pt x="1105784" y="2272665"/>
                  </a:lnTo>
                  <a:lnTo>
                    <a:pt x="1134249" y="2228681"/>
                  </a:lnTo>
                  <a:lnTo>
                    <a:pt x="1162866" y="2186700"/>
                  </a:lnTo>
                  <a:lnTo>
                    <a:pt x="1191740" y="2147442"/>
                  </a:lnTo>
                  <a:lnTo>
                    <a:pt x="1220978" y="2111629"/>
                  </a:lnTo>
                  <a:lnTo>
                    <a:pt x="1249548" y="2075571"/>
                  </a:lnTo>
                  <a:lnTo>
                    <a:pt x="1272969" y="2040740"/>
                  </a:lnTo>
                  <a:lnTo>
                    <a:pt x="1292961" y="2007133"/>
                  </a:lnTo>
                  <a:lnTo>
                    <a:pt x="1311242" y="1974751"/>
                  </a:lnTo>
                  <a:lnTo>
                    <a:pt x="1329531" y="1943591"/>
                  </a:lnTo>
                  <a:lnTo>
                    <a:pt x="1373015" y="1884932"/>
                  </a:lnTo>
                  <a:lnTo>
                    <a:pt x="1401647" y="1857431"/>
                  </a:lnTo>
                  <a:lnTo>
                    <a:pt x="1437165" y="1831147"/>
                  </a:lnTo>
                  <a:lnTo>
                    <a:pt x="1481289" y="1806079"/>
                  </a:lnTo>
                  <a:lnTo>
                    <a:pt x="1535738" y="1782225"/>
                  </a:lnTo>
                  <a:lnTo>
                    <a:pt x="1602232" y="1759585"/>
                  </a:lnTo>
                  <a:lnTo>
                    <a:pt x="1674746" y="1741007"/>
                  </a:lnTo>
                  <a:lnTo>
                    <a:pt x="1716248" y="1732371"/>
                  </a:lnTo>
                  <a:lnTo>
                    <a:pt x="1760859" y="1724135"/>
                  </a:lnTo>
                  <a:lnTo>
                    <a:pt x="1808287" y="1716272"/>
                  </a:lnTo>
                  <a:lnTo>
                    <a:pt x="1858243" y="1708756"/>
                  </a:lnTo>
                  <a:lnTo>
                    <a:pt x="1910435" y="1701559"/>
                  </a:lnTo>
                  <a:lnTo>
                    <a:pt x="1964571" y="1694655"/>
                  </a:lnTo>
                  <a:lnTo>
                    <a:pt x="2020363" y="1688018"/>
                  </a:lnTo>
                  <a:lnTo>
                    <a:pt x="2077517" y="1681620"/>
                  </a:lnTo>
                  <a:lnTo>
                    <a:pt x="2135744" y="1675435"/>
                  </a:lnTo>
                  <a:lnTo>
                    <a:pt x="2194753" y="1669437"/>
                  </a:lnTo>
                  <a:lnTo>
                    <a:pt x="2254252" y="1663599"/>
                  </a:lnTo>
                  <a:lnTo>
                    <a:pt x="2313951" y="1657893"/>
                  </a:lnTo>
                  <a:lnTo>
                    <a:pt x="2373559" y="1652294"/>
                  </a:lnTo>
                  <a:lnTo>
                    <a:pt x="2432785" y="1646774"/>
                  </a:lnTo>
                  <a:lnTo>
                    <a:pt x="2491338" y="1641308"/>
                  </a:lnTo>
                  <a:lnTo>
                    <a:pt x="2548927" y="1635868"/>
                  </a:lnTo>
                  <a:lnTo>
                    <a:pt x="2605262" y="1630427"/>
                  </a:lnTo>
                  <a:lnTo>
                    <a:pt x="2660051" y="1624960"/>
                  </a:lnTo>
                  <a:lnTo>
                    <a:pt x="2713003" y="1619438"/>
                  </a:lnTo>
                  <a:lnTo>
                    <a:pt x="2763829" y="1613837"/>
                  </a:lnTo>
                  <a:lnTo>
                    <a:pt x="2812236" y="1608128"/>
                  </a:lnTo>
                  <a:lnTo>
                    <a:pt x="2857934" y="1602286"/>
                  </a:lnTo>
                  <a:lnTo>
                    <a:pt x="2900631" y="1596283"/>
                  </a:lnTo>
                  <a:lnTo>
                    <a:pt x="2940038" y="1590093"/>
                  </a:lnTo>
                  <a:lnTo>
                    <a:pt x="2975864" y="1583690"/>
                  </a:lnTo>
                  <a:lnTo>
                    <a:pt x="3040635" y="1572337"/>
                  </a:lnTo>
                  <a:lnTo>
                    <a:pt x="3095130" y="1564580"/>
                  </a:lnTo>
                  <a:lnTo>
                    <a:pt x="3140806" y="1559341"/>
                  </a:lnTo>
                  <a:lnTo>
                    <a:pt x="3179123" y="1555539"/>
                  </a:lnTo>
                  <a:lnTo>
                    <a:pt x="3211540" y="1552095"/>
                  </a:lnTo>
                  <a:lnTo>
                    <a:pt x="3264511" y="1541965"/>
                  </a:lnTo>
                  <a:lnTo>
                    <a:pt x="3311390" y="1520316"/>
                  </a:lnTo>
                  <a:lnTo>
                    <a:pt x="3363853" y="1478513"/>
                  </a:lnTo>
                  <a:lnTo>
                    <a:pt x="3395826" y="1447356"/>
                  </a:lnTo>
                  <a:lnTo>
                    <a:pt x="3433572" y="1407922"/>
                  </a:lnTo>
                  <a:lnTo>
                    <a:pt x="3481358" y="1349975"/>
                  </a:lnTo>
                  <a:lnTo>
                    <a:pt x="3506194" y="1315442"/>
                  </a:lnTo>
                  <a:lnTo>
                    <a:pt x="3531583" y="1277693"/>
                  </a:lnTo>
                  <a:lnTo>
                    <a:pt x="3557469" y="1237097"/>
                  </a:lnTo>
                  <a:lnTo>
                    <a:pt x="3583794" y="1194023"/>
                  </a:lnTo>
                  <a:lnTo>
                    <a:pt x="3610503" y="1148839"/>
                  </a:lnTo>
                  <a:lnTo>
                    <a:pt x="3637537" y="1101914"/>
                  </a:lnTo>
                  <a:lnTo>
                    <a:pt x="3664842" y="1053617"/>
                  </a:lnTo>
                  <a:lnTo>
                    <a:pt x="3692359" y="1004317"/>
                  </a:lnTo>
                  <a:lnTo>
                    <a:pt x="3720033" y="954381"/>
                  </a:lnTo>
                  <a:lnTo>
                    <a:pt x="3747806" y="904179"/>
                  </a:lnTo>
                  <a:lnTo>
                    <a:pt x="3775623" y="854079"/>
                  </a:lnTo>
                  <a:lnTo>
                    <a:pt x="3803425" y="804450"/>
                  </a:lnTo>
                  <a:lnTo>
                    <a:pt x="3831157" y="755660"/>
                  </a:lnTo>
                  <a:lnTo>
                    <a:pt x="3858763" y="708079"/>
                  </a:lnTo>
                  <a:lnTo>
                    <a:pt x="3886184" y="662074"/>
                  </a:lnTo>
                  <a:lnTo>
                    <a:pt x="3913365" y="618015"/>
                  </a:lnTo>
                  <a:lnTo>
                    <a:pt x="3940249" y="576269"/>
                  </a:lnTo>
                  <a:lnTo>
                    <a:pt x="3966779" y="537207"/>
                  </a:lnTo>
                  <a:lnTo>
                    <a:pt x="3992898" y="501195"/>
                  </a:lnTo>
                  <a:lnTo>
                    <a:pt x="4018551" y="468604"/>
                  </a:lnTo>
                  <a:lnTo>
                    <a:pt x="4043680" y="439800"/>
                  </a:lnTo>
                  <a:lnTo>
                    <a:pt x="4086979" y="396181"/>
                  </a:lnTo>
                  <a:lnTo>
                    <a:pt x="4128755" y="359540"/>
                  </a:lnTo>
                  <a:lnTo>
                    <a:pt x="4169323" y="329035"/>
                  </a:lnTo>
                  <a:lnTo>
                    <a:pt x="4209000" y="303820"/>
                  </a:lnTo>
                  <a:lnTo>
                    <a:pt x="4248100" y="283054"/>
                  </a:lnTo>
                  <a:lnTo>
                    <a:pt x="4286941" y="265891"/>
                  </a:lnTo>
                  <a:lnTo>
                    <a:pt x="4325838" y="251487"/>
                  </a:lnTo>
                  <a:lnTo>
                    <a:pt x="4365108" y="239000"/>
                  </a:lnTo>
                  <a:lnTo>
                    <a:pt x="4405065" y="227585"/>
                  </a:lnTo>
                  <a:lnTo>
                    <a:pt x="4446027" y="216398"/>
                  </a:lnTo>
                  <a:lnTo>
                    <a:pt x="4488308" y="204595"/>
                  </a:lnTo>
                  <a:lnTo>
                    <a:pt x="4532226" y="191333"/>
                  </a:lnTo>
                  <a:lnTo>
                    <a:pt x="4578096" y="175768"/>
                  </a:lnTo>
                  <a:lnTo>
                    <a:pt x="4622242" y="160417"/>
                  </a:lnTo>
                  <a:lnTo>
                    <a:pt x="4667486" y="145684"/>
                  </a:lnTo>
                  <a:lnTo>
                    <a:pt x="4713742" y="131522"/>
                  </a:lnTo>
                  <a:lnTo>
                    <a:pt x="4760924" y="117884"/>
                  </a:lnTo>
                  <a:lnTo>
                    <a:pt x="4808949" y="104723"/>
                  </a:lnTo>
                  <a:lnTo>
                    <a:pt x="4857731" y="91992"/>
                  </a:lnTo>
                  <a:lnTo>
                    <a:pt x="4907184" y="79644"/>
                  </a:lnTo>
                  <a:lnTo>
                    <a:pt x="4957225" y="67633"/>
                  </a:lnTo>
                  <a:lnTo>
                    <a:pt x="5007768" y="55911"/>
                  </a:lnTo>
                  <a:lnTo>
                    <a:pt x="5058728" y="44432"/>
                  </a:lnTo>
                  <a:lnTo>
                    <a:pt x="5110020" y="33148"/>
                  </a:lnTo>
                  <a:lnTo>
                    <a:pt x="5161559" y="22012"/>
                  </a:lnTo>
                  <a:lnTo>
                    <a:pt x="5213260" y="10979"/>
                  </a:lnTo>
                  <a:lnTo>
                    <a:pt x="5265039" y="0"/>
                  </a:lnTo>
                </a:path>
              </a:pathLst>
            </a:custGeom>
            <a:ln w="76200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07439" y="3730244"/>
            <a:ext cx="635635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1" spc="-5" dirty="0">
                <a:solidFill>
                  <a:srgbClr val="FF0066"/>
                </a:solidFill>
                <a:latin typeface="Comic Sans MS"/>
                <a:cs typeface="Comic Sans MS"/>
              </a:rPr>
              <a:t>Art</a:t>
            </a:r>
            <a:endParaRPr sz="28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8113" y="2191639"/>
            <a:ext cx="89408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spc="-5" dirty="0">
                <a:solidFill>
                  <a:srgbClr val="0000FF"/>
                </a:solidFill>
                <a:latin typeface="Comic Sans MS"/>
                <a:cs typeface="Comic Sans MS"/>
              </a:rPr>
              <a:t>Cra</a:t>
            </a:r>
            <a:r>
              <a:rPr sz="2600" b="1" dirty="0">
                <a:solidFill>
                  <a:srgbClr val="0000FF"/>
                </a:solidFill>
                <a:latin typeface="Comic Sans MS"/>
                <a:cs typeface="Comic Sans MS"/>
              </a:rPr>
              <a:t>f</a:t>
            </a:r>
            <a:r>
              <a:rPr sz="2600" b="1" spc="-5" dirty="0">
                <a:solidFill>
                  <a:srgbClr val="0000FF"/>
                </a:solidFill>
                <a:latin typeface="Comic Sans MS"/>
                <a:cs typeface="Comic Sans MS"/>
              </a:rPr>
              <a:t>t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0592" y="1050417"/>
            <a:ext cx="1809114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spc="-10" dirty="0">
                <a:solidFill>
                  <a:srgbClr val="008000"/>
                </a:solidFill>
                <a:latin typeface="Comic Sans MS"/>
                <a:cs typeface="Comic Sans MS"/>
              </a:rPr>
              <a:t>Engineering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3782" y="1146809"/>
            <a:ext cx="1362075" cy="522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 marR="5080" indent="-90170">
              <a:lnSpc>
                <a:spcPct val="101899"/>
              </a:lnSpc>
              <a:spcBef>
                <a:spcPts val="95"/>
              </a:spcBef>
            </a:pPr>
            <a:r>
              <a:rPr sz="1600" b="1" spc="15" dirty="0">
                <a:latin typeface="Comic Sans MS"/>
                <a:cs typeface="Comic Sans MS"/>
              </a:rPr>
              <a:t>Esoteric</a:t>
            </a:r>
            <a:r>
              <a:rPr sz="1600" b="1" spc="-30" dirty="0">
                <a:latin typeface="Comic Sans MS"/>
                <a:cs typeface="Comic Sans MS"/>
              </a:rPr>
              <a:t> </a:t>
            </a:r>
            <a:r>
              <a:rPr sz="1600" b="1" spc="10" dirty="0">
                <a:latin typeface="Comic Sans MS"/>
                <a:cs typeface="Comic Sans MS"/>
              </a:rPr>
              <a:t>Past </a:t>
            </a:r>
            <a:r>
              <a:rPr sz="1600" b="1" spc="-680" dirty="0">
                <a:latin typeface="Comic Sans MS"/>
                <a:cs typeface="Comic Sans MS"/>
              </a:rPr>
              <a:t> </a:t>
            </a:r>
            <a:r>
              <a:rPr sz="1600" b="1" spc="15" dirty="0">
                <a:latin typeface="Comic Sans MS"/>
                <a:cs typeface="Comic Sans MS"/>
              </a:rPr>
              <a:t>Experience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8598" y="2522600"/>
            <a:ext cx="3131185" cy="51498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0"/>
              </a:spcBef>
            </a:pPr>
            <a:r>
              <a:rPr sz="1600" b="1" spc="-10" dirty="0">
                <a:solidFill>
                  <a:srgbClr val="339933"/>
                </a:solidFill>
                <a:latin typeface="Comic Sans MS"/>
                <a:cs typeface="Comic Sans MS"/>
              </a:rPr>
              <a:t>Systematic</a:t>
            </a:r>
            <a:r>
              <a:rPr sz="1600" b="1" spc="10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339933"/>
                </a:solidFill>
                <a:latin typeface="Comic Sans MS"/>
                <a:cs typeface="Comic Sans MS"/>
              </a:rPr>
              <a:t>Use</a:t>
            </a:r>
            <a:r>
              <a:rPr sz="1600" b="1" spc="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339933"/>
                </a:solidFill>
                <a:latin typeface="Comic Sans MS"/>
                <a:cs typeface="Comic Sans MS"/>
              </a:rPr>
              <a:t>of</a:t>
            </a:r>
            <a:r>
              <a:rPr sz="1600" b="1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339933"/>
                </a:solidFill>
                <a:latin typeface="Comic Sans MS"/>
                <a:cs typeface="Comic Sans MS"/>
              </a:rPr>
              <a:t>Past </a:t>
            </a:r>
            <a:r>
              <a:rPr sz="1600" b="1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1600" b="1" spc="-10" dirty="0">
                <a:solidFill>
                  <a:srgbClr val="339933"/>
                </a:solidFill>
                <a:latin typeface="Comic Sans MS"/>
                <a:cs typeface="Comic Sans MS"/>
              </a:rPr>
              <a:t>Experience</a:t>
            </a:r>
            <a:r>
              <a:rPr sz="1600" b="1" spc="5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339933"/>
                </a:solidFill>
                <a:latin typeface="Comic Sans MS"/>
                <a:cs typeface="Comic Sans MS"/>
              </a:rPr>
              <a:t>and</a:t>
            </a:r>
            <a:r>
              <a:rPr sz="1600" b="1" spc="1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1600" b="1" spc="-10" dirty="0">
                <a:solidFill>
                  <a:srgbClr val="339933"/>
                </a:solidFill>
                <a:latin typeface="Comic Sans MS"/>
                <a:cs typeface="Comic Sans MS"/>
              </a:rPr>
              <a:t>Scientific</a:t>
            </a:r>
            <a:r>
              <a:rPr sz="1600" b="1" spc="45" dirty="0">
                <a:solidFill>
                  <a:srgbClr val="339933"/>
                </a:solidFill>
                <a:latin typeface="Comic Sans MS"/>
                <a:cs typeface="Comic Sans MS"/>
              </a:rPr>
              <a:t> </a:t>
            </a:r>
            <a:r>
              <a:rPr sz="1600" b="1" spc="-10" dirty="0">
                <a:solidFill>
                  <a:srgbClr val="339933"/>
                </a:solidFill>
                <a:latin typeface="Comic Sans MS"/>
                <a:cs typeface="Comic Sans MS"/>
              </a:rPr>
              <a:t>Basis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51686" y="1808226"/>
            <a:ext cx="4592320" cy="2422525"/>
            <a:chOff x="1551686" y="1808226"/>
            <a:chExt cx="4592320" cy="2422525"/>
          </a:xfrm>
        </p:grpSpPr>
        <p:sp>
          <p:nvSpPr>
            <p:cNvPr id="11" name="object 11"/>
            <p:cNvSpPr/>
            <p:nvPr/>
          </p:nvSpPr>
          <p:spPr>
            <a:xfrm>
              <a:off x="4859274" y="1808226"/>
              <a:ext cx="616585" cy="715010"/>
            </a:xfrm>
            <a:custGeom>
              <a:avLst/>
              <a:gdLst/>
              <a:ahLst/>
              <a:cxnLst/>
              <a:rect l="l" t="t" r="r" b="b"/>
              <a:pathLst>
                <a:path w="616585" h="715010">
                  <a:moveTo>
                    <a:pt x="67627" y="56502"/>
                  </a:moveTo>
                  <a:lnTo>
                    <a:pt x="45543" y="75438"/>
                  </a:lnTo>
                  <a:lnTo>
                    <a:pt x="593978" y="715010"/>
                  </a:lnTo>
                  <a:lnTo>
                    <a:pt x="616076" y="696213"/>
                  </a:lnTo>
                  <a:lnTo>
                    <a:pt x="67627" y="56502"/>
                  </a:lnTo>
                  <a:close/>
                </a:path>
                <a:path w="616585" h="715010">
                  <a:moveTo>
                    <a:pt x="0" y="0"/>
                  </a:moveTo>
                  <a:lnTo>
                    <a:pt x="23622" y="94234"/>
                  </a:lnTo>
                  <a:lnTo>
                    <a:pt x="45543" y="75438"/>
                  </a:lnTo>
                  <a:lnTo>
                    <a:pt x="36067" y="64388"/>
                  </a:lnTo>
                  <a:lnTo>
                    <a:pt x="58165" y="45465"/>
                  </a:lnTo>
                  <a:lnTo>
                    <a:pt x="80499" y="45465"/>
                  </a:lnTo>
                  <a:lnTo>
                    <a:pt x="89535" y="37719"/>
                  </a:lnTo>
                  <a:lnTo>
                    <a:pt x="0" y="0"/>
                  </a:lnTo>
                  <a:close/>
                </a:path>
                <a:path w="616585" h="715010">
                  <a:moveTo>
                    <a:pt x="58165" y="45465"/>
                  </a:moveTo>
                  <a:lnTo>
                    <a:pt x="36067" y="64388"/>
                  </a:lnTo>
                  <a:lnTo>
                    <a:pt x="45543" y="75438"/>
                  </a:lnTo>
                  <a:lnTo>
                    <a:pt x="67627" y="56502"/>
                  </a:lnTo>
                  <a:lnTo>
                    <a:pt x="58165" y="45465"/>
                  </a:lnTo>
                  <a:close/>
                </a:path>
                <a:path w="616585" h="715010">
                  <a:moveTo>
                    <a:pt x="80499" y="45465"/>
                  </a:moveTo>
                  <a:lnTo>
                    <a:pt x="58165" y="45465"/>
                  </a:lnTo>
                  <a:lnTo>
                    <a:pt x="67627" y="56502"/>
                  </a:lnTo>
                  <a:lnTo>
                    <a:pt x="80499" y="45465"/>
                  </a:lnTo>
                  <a:close/>
                </a:path>
              </a:pathLst>
            </a:custGeom>
            <a:solidFill>
              <a:srgbClr val="33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51686" y="1813051"/>
              <a:ext cx="4592320" cy="2418080"/>
            </a:xfrm>
            <a:custGeom>
              <a:avLst/>
              <a:gdLst/>
              <a:ahLst/>
              <a:cxnLst/>
              <a:rect l="l" t="t" r="r" b="b"/>
              <a:pathLst>
                <a:path w="4592320" h="2418079">
                  <a:moveTo>
                    <a:pt x="387477" y="1663319"/>
                  </a:moveTo>
                  <a:lnTo>
                    <a:pt x="359003" y="1668919"/>
                  </a:lnTo>
                  <a:lnTo>
                    <a:pt x="28448" y="0"/>
                  </a:lnTo>
                  <a:lnTo>
                    <a:pt x="0" y="5588"/>
                  </a:lnTo>
                  <a:lnTo>
                    <a:pt x="330555" y="1674520"/>
                  </a:lnTo>
                  <a:lnTo>
                    <a:pt x="302260" y="1680095"/>
                  </a:lnTo>
                  <a:lnTo>
                    <a:pt x="361696" y="1756918"/>
                  </a:lnTo>
                  <a:lnTo>
                    <a:pt x="380479" y="1688719"/>
                  </a:lnTo>
                  <a:lnTo>
                    <a:pt x="387477" y="1663319"/>
                  </a:lnTo>
                  <a:close/>
                </a:path>
                <a:path w="4592320" h="2418079">
                  <a:moveTo>
                    <a:pt x="4592320" y="2374138"/>
                  </a:moveTo>
                  <a:lnTo>
                    <a:pt x="4563364" y="2359660"/>
                  </a:lnTo>
                  <a:lnTo>
                    <a:pt x="4505452" y="2330704"/>
                  </a:lnTo>
                  <a:lnTo>
                    <a:pt x="4505452" y="2359660"/>
                  </a:lnTo>
                  <a:lnTo>
                    <a:pt x="3982720" y="2359660"/>
                  </a:lnTo>
                  <a:lnTo>
                    <a:pt x="3982720" y="2388616"/>
                  </a:lnTo>
                  <a:lnTo>
                    <a:pt x="4505452" y="2388616"/>
                  </a:lnTo>
                  <a:lnTo>
                    <a:pt x="4505452" y="2417572"/>
                  </a:lnTo>
                  <a:lnTo>
                    <a:pt x="4563364" y="2388616"/>
                  </a:lnTo>
                  <a:lnTo>
                    <a:pt x="4592320" y="23741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7683" y="2096283"/>
            <a:ext cx="363220" cy="1309370"/>
          </a:xfrm>
          <a:prstGeom prst="rect">
            <a:avLst/>
          </a:prstGeom>
        </p:spPr>
        <p:txBody>
          <a:bodyPr vert="vert270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900" b="1" dirty="0">
                <a:latin typeface="Comic Sans MS"/>
                <a:cs typeface="Comic Sans MS"/>
              </a:rPr>
              <a:t>T</a:t>
            </a:r>
            <a:r>
              <a:rPr sz="1900" b="1" spc="-5" dirty="0">
                <a:latin typeface="Comic Sans MS"/>
                <a:cs typeface="Comic Sans MS"/>
              </a:rPr>
              <a:t>e</a:t>
            </a:r>
            <a:r>
              <a:rPr sz="1900" b="1" spc="5" dirty="0">
                <a:latin typeface="Comic Sans MS"/>
                <a:cs typeface="Comic Sans MS"/>
              </a:rPr>
              <a:t>c</a:t>
            </a:r>
            <a:r>
              <a:rPr sz="1900" b="1" dirty="0">
                <a:latin typeface="Comic Sans MS"/>
                <a:cs typeface="Comic Sans MS"/>
              </a:rPr>
              <a:t>hn</a:t>
            </a:r>
            <a:r>
              <a:rPr sz="1900" b="1" spc="10" dirty="0">
                <a:latin typeface="Comic Sans MS"/>
                <a:cs typeface="Comic Sans MS"/>
              </a:rPr>
              <a:t>o</a:t>
            </a:r>
            <a:r>
              <a:rPr sz="1900" b="1" spc="5" dirty="0">
                <a:latin typeface="Comic Sans MS"/>
                <a:cs typeface="Comic Sans MS"/>
              </a:rPr>
              <a:t>lo</a:t>
            </a:r>
            <a:r>
              <a:rPr sz="1900" b="1" dirty="0">
                <a:latin typeface="Comic Sans MS"/>
                <a:cs typeface="Comic Sans MS"/>
              </a:rPr>
              <a:t>gy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9029" y="3990543"/>
            <a:ext cx="505459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15" dirty="0">
                <a:latin typeface="Comic Sans MS"/>
                <a:cs typeface="Comic Sans MS"/>
              </a:rPr>
              <a:t>Ti</a:t>
            </a:r>
            <a:r>
              <a:rPr sz="1600" b="1" spc="25" dirty="0">
                <a:latin typeface="Comic Sans MS"/>
                <a:cs typeface="Comic Sans MS"/>
              </a:rPr>
              <a:t>m</a:t>
            </a:r>
            <a:r>
              <a:rPr sz="1600" b="1" spc="15" dirty="0">
                <a:latin typeface="Comic Sans MS"/>
                <a:cs typeface="Comic Sans MS"/>
              </a:rPr>
              <a:t>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11708" y="898397"/>
            <a:ext cx="86995" cy="528955"/>
          </a:xfrm>
          <a:custGeom>
            <a:avLst/>
            <a:gdLst/>
            <a:ahLst/>
            <a:cxnLst/>
            <a:rect l="l" t="t" r="r" b="b"/>
            <a:pathLst>
              <a:path w="86995" h="528955">
                <a:moveTo>
                  <a:pt x="57912" y="72389"/>
                </a:moveTo>
                <a:lnTo>
                  <a:pt x="28956" y="72389"/>
                </a:lnTo>
                <a:lnTo>
                  <a:pt x="28956" y="528827"/>
                </a:lnTo>
                <a:lnTo>
                  <a:pt x="57912" y="528827"/>
                </a:lnTo>
                <a:lnTo>
                  <a:pt x="57912" y="72389"/>
                </a:lnTo>
                <a:close/>
              </a:path>
              <a:path w="86995" h="528955">
                <a:moveTo>
                  <a:pt x="43434" y="0"/>
                </a:moveTo>
                <a:lnTo>
                  <a:pt x="0" y="86867"/>
                </a:lnTo>
                <a:lnTo>
                  <a:pt x="28956" y="86867"/>
                </a:lnTo>
                <a:lnTo>
                  <a:pt x="28956" y="72389"/>
                </a:lnTo>
                <a:lnTo>
                  <a:pt x="79629" y="72389"/>
                </a:lnTo>
                <a:lnTo>
                  <a:pt x="43434" y="0"/>
                </a:lnTo>
                <a:close/>
              </a:path>
              <a:path w="86995" h="528955">
                <a:moveTo>
                  <a:pt x="79629" y="72389"/>
                </a:moveTo>
                <a:lnTo>
                  <a:pt x="57912" y="72389"/>
                </a:lnTo>
                <a:lnTo>
                  <a:pt x="57912" y="86867"/>
                </a:lnTo>
                <a:lnTo>
                  <a:pt x="86868" y="86867"/>
                </a:lnTo>
                <a:lnTo>
                  <a:pt x="79629" y="72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01544" y="3400171"/>
            <a:ext cx="2002155" cy="522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 marR="5080" indent="-90170">
              <a:lnSpc>
                <a:spcPct val="101899"/>
              </a:lnSpc>
              <a:spcBef>
                <a:spcPts val="95"/>
              </a:spcBef>
            </a:pPr>
            <a:r>
              <a:rPr sz="1600" b="1" spc="15" dirty="0">
                <a:latin typeface="Comic Sans MS"/>
                <a:cs typeface="Comic Sans MS"/>
              </a:rPr>
              <a:t>Unorganized</a:t>
            </a:r>
            <a:r>
              <a:rPr sz="1600" b="1" spc="-20" dirty="0">
                <a:latin typeface="Comic Sans MS"/>
                <a:cs typeface="Comic Sans MS"/>
              </a:rPr>
              <a:t> </a:t>
            </a:r>
            <a:r>
              <a:rPr sz="1600" b="1" spc="15" dirty="0">
                <a:latin typeface="Comic Sans MS"/>
                <a:cs typeface="Comic Sans MS"/>
              </a:rPr>
              <a:t>Use</a:t>
            </a:r>
            <a:r>
              <a:rPr sz="1600" b="1" spc="-15" dirty="0">
                <a:latin typeface="Comic Sans MS"/>
                <a:cs typeface="Comic Sans MS"/>
              </a:rPr>
              <a:t> </a:t>
            </a:r>
            <a:r>
              <a:rPr sz="1600" b="1" spc="15" dirty="0">
                <a:latin typeface="Comic Sans MS"/>
                <a:cs typeface="Comic Sans MS"/>
              </a:rPr>
              <a:t>of </a:t>
            </a:r>
            <a:r>
              <a:rPr sz="1600" b="1" spc="-680" dirty="0">
                <a:latin typeface="Comic Sans MS"/>
                <a:cs typeface="Comic Sans MS"/>
              </a:rPr>
              <a:t> </a:t>
            </a:r>
            <a:r>
              <a:rPr sz="1600" b="1" spc="10" dirty="0">
                <a:latin typeface="Comic Sans MS"/>
                <a:cs typeface="Comic Sans MS"/>
              </a:rPr>
              <a:t>Past</a:t>
            </a:r>
            <a:r>
              <a:rPr sz="1600" b="1" spc="30" dirty="0">
                <a:latin typeface="Comic Sans MS"/>
                <a:cs typeface="Comic Sans MS"/>
              </a:rPr>
              <a:t> </a:t>
            </a:r>
            <a:r>
              <a:rPr sz="1600" b="1" spc="15" dirty="0">
                <a:latin typeface="Comic Sans MS"/>
                <a:cs typeface="Comic Sans MS"/>
              </a:rPr>
              <a:t>Experience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75154" y="2949701"/>
            <a:ext cx="697865" cy="516255"/>
          </a:xfrm>
          <a:custGeom>
            <a:avLst/>
            <a:gdLst/>
            <a:ahLst/>
            <a:cxnLst/>
            <a:rect l="l" t="t" r="r" b="b"/>
            <a:pathLst>
              <a:path w="697864" h="516254">
                <a:moveTo>
                  <a:pt x="78618" y="39674"/>
                </a:moveTo>
                <a:lnTo>
                  <a:pt x="61545" y="63002"/>
                </a:lnTo>
                <a:lnTo>
                  <a:pt x="680338" y="516128"/>
                </a:lnTo>
                <a:lnTo>
                  <a:pt x="697357" y="492760"/>
                </a:lnTo>
                <a:lnTo>
                  <a:pt x="78618" y="39674"/>
                </a:lnTo>
                <a:close/>
              </a:path>
              <a:path w="697864" h="516254">
                <a:moveTo>
                  <a:pt x="0" y="0"/>
                </a:moveTo>
                <a:lnTo>
                  <a:pt x="44450" y="86360"/>
                </a:lnTo>
                <a:lnTo>
                  <a:pt x="61545" y="63002"/>
                </a:lnTo>
                <a:lnTo>
                  <a:pt x="49910" y="54483"/>
                </a:lnTo>
                <a:lnTo>
                  <a:pt x="66928" y="31115"/>
                </a:lnTo>
                <a:lnTo>
                  <a:pt x="84882" y="31115"/>
                </a:lnTo>
                <a:lnTo>
                  <a:pt x="95757" y="16256"/>
                </a:lnTo>
                <a:lnTo>
                  <a:pt x="0" y="0"/>
                </a:lnTo>
                <a:close/>
              </a:path>
              <a:path w="697864" h="516254">
                <a:moveTo>
                  <a:pt x="66928" y="31115"/>
                </a:moveTo>
                <a:lnTo>
                  <a:pt x="49910" y="54483"/>
                </a:lnTo>
                <a:lnTo>
                  <a:pt x="61545" y="63002"/>
                </a:lnTo>
                <a:lnTo>
                  <a:pt x="78618" y="39674"/>
                </a:lnTo>
                <a:lnTo>
                  <a:pt x="66928" y="31115"/>
                </a:lnTo>
                <a:close/>
              </a:path>
              <a:path w="697864" h="516254">
                <a:moveTo>
                  <a:pt x="84882" y="31115"/>
                </a:moveTo>
                <a:lnTo>
                  <a:pt x="66928" y="31115"/>
                </a:lnTo>
                <a:lnTo>
                  <a:pt x="78618" y="39674"/>
                </a:lnTo>
                <a:lnTo>
                  <a:pt x="84882" y="31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69253" y="1171778"/>
            <a:ext cx="3076575" cy="82486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723900">
              <a:lnSpc>
                <a:spcPts val="3050"/>
              </a:lnSpc>
              <a:spcBef>
                <a:spcPts val="360"/>
              </a:spcBef>
            </a:pPr>
            <a:r>
              <a:rPr sz="2700" b="1" spc="-30" dirty="0">
                <a:solidFill>
                  <a:srgbClr val="0000CC"/>
                </a:solidFill>
                <a:latin typeface="Calibri"/>
                <a:cs typeface="Calibri"/>
              </a:rPr>
              <a:t>Technology </a:t>
            </a:r>
            <a:r>
              <a:rPr sz="27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Development</a:t>
            </a:r>
            <a:r>
              <a:rPr sz="2700" b="1" spc="-25" dirty="0">
                <a:solidFill>
                  <a:srgbClr val="0000CC"/>
                </a:solidFill>
                <a:latin typeface="Calibri"/>
                <a:cs typeface="Calibri"/>
              </a:rPr>
              <a:t> Pattern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9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222247" y="156971"/>
            <a:ext cx="3529965" cy="853440"/>
          </a:xfrm>
          <a:prstGeom prst="rect">
            <a:avLst/>
          </a:prstGeom>
          <a:solidFill>
            <a:srgbClr val="FFFFCC"/>
          </a:solidFill>
          <a:ln w="9144">
            <a:solidFill>
              <a:srgbClr val="FF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836294" marR="62865" indent="-767080">
              <a:lnSpc>
                <a:spcPts val="3070"/>
              </a:lnSpc>
              <a:spcBef>
                <a:spcPts val="185"/>
              </a:spcBef>
            </a:pPr>
            <a:r>
              <a:rPr sz="2700" spc="5" dirty="0">
                <a:solidFill>
                  <a:srgbClr val="0000CC"/>
                </a:solidFill>
              </a:rPr>
              <a:t>Programming:</a:t>
            </a:r>
            <a:r>
              <a:rPr sz="2700" spc="-40" dirty="0">
                <a:solidFill>
                  <a:srgbClr val="0000CC"/>
                </a:solidFill>
              </a:rPr>
              <a:t> </a:t>
            </a:r>
            <a:r>
              <a:rPr sz="2700" spc="10" dirty="0">
                <a:solidFill>
                  <a:srgbClr val="0000CC"/>
                </a:solidFill>
              </a:rPr>
              <a:t>an</a:t>
            </a:r>
            <a:r>
              <a:rPr sz="2700" spc="-30" dirty="0">
                <a:solidFill>
                  <a:srgbClr val="0000CC"/>
                </a:solidFill>
              </a:rPr>
              <a:t> </a:t>
            </a:r>
            <a:r>
              <a:rPr sz="2700" spc="10" dirty="0">
                <a:solidFill>
                  <a:srgbClr val="0000CC"/>
                </a:solidFill>
              </a:rPr>
              <a:t>Art</a:t>
            </a:r>
            <a:r>
              <a:rPr sz="2700" spc="-40" dirty="0">
                <a:solidFill>
                  <a:srgbClr val="0000CC"/>
                </a:solidFill>
              </a:rPr>
              <a:t> </a:t>
            </a:r>
            <a:r>
              <a:rPr sz="2700" spc="10" dirty="0">
                <a:solidFill>
                  <a:srgbClr val="0000CC"/>
                </a:solidFill>
              </a:rPr>
              <a:t>or </a:t>
            </a:r>
            <a:r>
              <a:rPr sz="2700" spc="-595" dirty="0">
                <a:solidFill>
                  <a:srgbClr val="0000CC"/>
                </a:solidFill>
              </a:rPr>
              <a:t> </a:t>
            </a:r>
            <a:r>
              <a:rPr sz="2700" spc="10" dirty="0">
                <a:solidFill>
                  <a:srgbClr val="0000CC"/>
                </a:solidFill>
              </a:rPr>
              <a:t>Engineering?</a:t>
            </a:r>
            <a:endParaRPr sz="2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1800" y="291084"/>
            <a:ext cx="2239010" cy="12192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2940"/>
              </a:lnSpc>
            </a:pPr>
            <a:r>
              <a:rPr sz="2800" b="1" spc="-15" dirty="0">
                <a:solidFill>
                  <a:srgbClr val="0000CC"/>
                </a:solidFill>
                <a:latin typeface="Calibri"/>
                <a:cs typeface="Calibri"/>
              </a:rPr>
              <a:t>Programming</a:t>
            </a:r>
            <a:endParaRPr sz="2800">
              <a:latin typeface="Calibri"/>
              <a:cs typeface="Calibri"/>
            </a:endParaRPr>
          </a:p>
          <a:p>
            <a:pPr marL="168275" marR="160655" indent="1905" algn="ctr">
              <a:lnSpc>
                <a:spcPts val="3160"/>
              </a:lnSpc>
              <a:spcBef>
                <a:spcPts val="170"/>
              </a:spcBef>
            </a:pP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an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Art</a:t>
            </a:r>
            <a:r>
              <a:rPr sz="28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or </a:t>
            </a:r>
            <a:r>
              <a:rPr sz="28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Eng</a:t>
            </a:r>
            <a:r>
              <a:rPr sz="2800" b="1" spc="-20" dirty="0">
                <a:solidFill>
                  <a:srgbClr val="0000CC"/>
                </a:solidFill>
                <a:latin typeface="Calibri"/>
                <a:cs typeface="Calibri"/>
              </a:rPr>
              <a:t>i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ne</a:t>
            </a:r>
            <a:r>
              <a:rPr sz="2800" b="1" spc="-20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rin</a:t>
            </a:r>
            <a:r>
              <a:rPr sz="2800" b="1" spc="-20" dirty="0">
                <a:solidFill>
                  <a:srgbClr val="0000CC"/>
                </a:solidFill>
                <a:latin typeface="Calibri"/>
                <a:cs typeface="Calibri"/>
              </a:rPr>
              <a:t>g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4416" y="306848"/>
            <a:ext cx="5887720" cy="112268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dirty="0">
                <a:latin typeface="Calibri"/>
                <a:cs typeface="Calibri"/>
              </a:rPr>
              <a:t>Heavy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use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5" dirty="0">
                <a:latin typeface="Calibri"/>
                <a:cs typeface="Calibri"/>
              </a:rPr>
              <a:t> past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experience: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155"/>
              </a:spcBef>
            </a:pPr>
            <a:r>
              <a:rPr sz="2450" spc="15" dirty="0">
                <a:latin typeface="Arial MT"/>
                <a:cs typeface="Arial MT"/>
              </a:rPr>
              <a:t>–</a:t>
            </a:r>
            <a:r>
              <a:rPr sz="2450" spc="15" dirty="0">
                <a:latin typeface="Calibri"/>
                <a:cs typeface="Calibri"/>
              </a:rPr>
              <a:t>Past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experience</a:t>
            </a:r>
            <a:r>
              <a:rPr sz="2450" spc="-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is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systematically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arranged.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416" y="1488247"/>
            <a:ext cx="6598920" cy="2695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5080" indent="-233679">
              <a:lnSpc>
                <a:spcPct val="114900"/>
              </a:lnSpc>
              <a:spcBef>
                <a:spcPts val="9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dirty="0">
                <a:latin typeface="Calibri"/>
                <a:cs typeface="Calibri"/>
              </a:rPr>
              <a:t>Theoretical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basis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quantitative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techniques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provided.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28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Many</a:t>
            </a:r>
            <a:r>
              <a:rPr sz="27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are</a:t>
            </a:r>
            <a:r>
              <a:rPr sz="27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just 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thumb</a:t>
            </a:r>
            <a:r>
              <a:rPr sz="270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rules.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28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-25" dirty="0">
                <a:latin typeface="Calibri"/>
                <a:cs typeface="Calibri"/>
              </a:rPr>
              <a:t>Tradeoff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between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alternatives.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28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dirty="0">
                <a:latin typeface="Calibri"/>
                <a:cs typeface="Calibri"/>
              </a:rPr>
              <a:t>Pragmatic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approach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 cost-effectiveness.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2759" y="515112"/>
            <a:ext cx="2301240" cy="1676400"/>
          </a:xfrm>
          <a:custGeom>
            <a:avLst/>
            <a:gdLst/>
            <a:ahLst/>
            <a:cxnLst/>
            <a:rect l="l" t="t" r="r" b="b"/>
            <a:pathLst>
              <a:path w="2301240" h="1676400">
                <a:moveTo>
                  <a:pt x="2301240" y="0"/>
                </a:moveTo>
                <a:lnTo>
                  <a:pt x="0" y="0"/>
                </a:lnTo>
                <a:lnTo>
                  <a:pt x="0" y="1676400"/>
                </a:lnTo>
                <a:lnTo>
                  <a:pt x="2301240" y="1676400"/>
                </a:lnTo>
                <a:lnTo>
                  <a:pt x="230124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41057" y="518871"/>
            <a:ext cx="2106930" cy="15989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-1270" algn="ctr">
              <a:lnSpc>
                <a:spcPct val="94100"/>
              </a:lnSpc>
              <a:spcBef>
                <a:spcPts val="290"/>
              </a:spcBef>
            </a:pPr>
            <a:r>
              <a:rPr sz="2700" b="1" spc="-10" dirty="0">
                <a:latin typeface="Calibri"/>
                <a:cs typeface="Calibri"/>
              </a:rPr>
              <a:t>What</a:t>
            </a:r>
            <a:r>
              <a:rPr sz="2700" b="1" dirty="0">
                <a:latin typeface="Calibri"/>
                <a:cs typeface="Calibri"/>
              </a:rPr>
              <a:t> is 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Exploratory 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Software </a:t>
            </a:r>
            <a:r>
              <a:rPr sz="2700" b="1" spc="-5" dirty="0">
                <a:latin typeface="Calibri"/>
                <a:cs typeface="Calibri"/>
              </a:rPr>
              <a:t> D</a:t>
            </a:r>
            <a:r>
              <a:rPr sz="2700" b="1" spc="-15" dirty="0">
                <a:latin typeface="Calibri"/>
                <a:cs typeface="Calibri"/>
              </a:rPr>
              <a:t>e</a:t>
            </a:r>
            <a:r>
              <a:rPr sz="2700" b="1" spc="-35" dirty="0">
                <a:latin typeface="Calibri"/>
                <a:cs typeface="Calibri"/>
              </a:rPr>
              <a:t>v</a:t>
            </a:r>
            <a:r>
              <a:rPr sz="2700" b="1" spc="-5" dirty="0">
                <a:latin typeface="Calibri"/>
                <a:cs typeface="Calibri"/>
              </a:rPr>
              <a:t>el</a:t>
            </a:r>
            <a:r>
              <a:rPr sz="2700" b="1" spc="-15" dirty="0">
                <a:latin typeface="Calibri"/>
                <a:cs typeface="Calibri"/>
              </a:rPr>
              <a:t>o</a:t>
            </a:r>
            <a:r>
              <a:rPr sz="2700" b="1" dirty="0">
                <a:latin typeface="Calibri"/>
                <a:cs typeface="Calibri"/>
              </a:rPr>
              <a:t>pme</a:t>
            </a:r>
            <a:r>
              <a:rPr sz="2700" b="1" spc="-30" dirty="0">
                <a:latin typeface="Calibri"/>
                <a:cs typeface="Calibri"/>
              </a:rPr>
              <a:t>n</a:t>
            </a:r>
            <a:r>
              <a:rPr sz="2700" b="1" dirty="0">
                <a:latin typeface="Calibri"/>
                <a:cs typeface="Calibri"/>
              </a:rPr>
              <a:t>t?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59740" y="264881"/>
            <a:ext cx="6388100" cy="3894454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Early </a:t>
            </a:r>
            <a:r>
              <a:rPr sz="3000" spc="-20" dirty="0">
                <a:latin typeface="Calibri"/>
                <a:cs typeface="Calibri"/>
              </a:rPr>
              <a:t>programmers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used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exploratory</a:t>
            </a:r>
            <a:endParaRPr sz="3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495"/>
              </a:spcBef>
            </a:pPr>
            <a:r>
              <a:rPr sz="3000" dirty="0">
                <a:latin typeface="Calibri"/>
                <a:cs typeface="Calibri"/>
              </a:rPr>
              <a:t>(also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called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33399"/>
                </a:solidFill>
                <a:latin typeface="Calibri"/>
                <a:cs typeface="Calibri"/>
              </a:rPr>
              <a:t>build </a:t>
            </a:r>
            <a:r>
              <a:rPr sz="3000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sz="30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33399"/>
                </a:solidFill>
                <a:latin typeface="Calibri"/>
                <a:cs typeface="Calibri"/>
              </a:rPr>
              <a:t>fix</a:t>
            </a:r>
            <a:r>
              <a:rPr sz="3000" spc="-5" dirty="0">
                <a:latin typeface="Calibri"/>
                <a:cs typeface="Calibri"/>
              </a:rPr>
              <a:t>)</a:t>
            </a:r>
            <a:r>
              <a:rPr sz="3000" spc="-10" dirty="0">
                <a:latin typeface="Calibri"/>
                <a:cs typeface="Calibri"/>
              </a:rPr>
              <a:t> style.</a:t>
            </a:r>
            <a:endParaRPr sz="3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714"/>
              </a:spcBef>
              <a:buFont typeface="Arial MT"/>
              <a:buChar char="–"/>
              <a:tabLst>
                <a:tab pos="756920" algn="l"/>
              </a:tabLst>
            </a:pPr>
            <a:r>
              <a:rPr sz="2700" spc="15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`dirty' </a:t>
            </a:r>
            <a:r>
              <a:rPr sz="2700" spc="-10" dirty="0">
                <a:latin typeface="Calibri"/>
                <a:cs typeface="Calibri"/>
              </a:rPr>
              <a:t>program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quickly </a:t>
            </a:r>
            <a:r>
              <a:rPr sz="2700" dirty="0">
                <a:latin typeface="Calibri"/>
                <a:cs typeface="Calibri"/>
              </a:rPr>
              <a:t>developed.</a:t>
            </a:r>
            <a:endParaRPr sz="2700">
              <a:latin typeface="Calibri"/>
              <a:cs typeface="Calibri"/>
            </a:endParaRPr>
          </a:p>
          <a:p>
            <a:pPr marL="756285" marR="5080" lvl="1" indent="-287020">
              <a:lnSpc>
                <a:spcPct val="114799"/>
              </a:lnSpc>
              <a:spcBef>
                <a:spcPts val="1215"/>
              </a:spcBef>
              <a:buFont typeface="Arial MT"/>
              <a:buChar char="–"/>
              <a:tabLst>
                <a:tab pos="756920" algn="l"/>
              </a:tabLst>
            </a:pP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bugs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are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fixed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when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they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are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noticed.</a:t>
            </a:r>
            <a:endParaRPr sz="2700">
              <a:latin typeface="Calibri"/>
              <a:cs typeface="Calibri"/>
            </a:endParaRPr>
          </a:p>
          <a:p>
            <a:pPr marL="756285" marR="1571625" lvl="1" indent="-287020">
              <a:lnSpc>
                <a:spcPct val="115199"/>
              </a:lnSpc>
              <a:spcBef>
                <a:spcPts val="1190"/>
              </a:spcBef>
              <a:buFont typeface="Arial MT"/>
              <a:buChar char="–"/>
              <a:tabLst>
                <a:tab pos="756920" algn="l"/>
              </a:tabLst>
            </a:pPr>
            <a:r>
              <a:rPr sz="2700" spc="5" dirty="0">
                <a:latin typeface="Calibri"/>
                <a:cs typeface="Calibri"/>
              </a:rPr>
              <a:t>Similar </a:t>
            </a:r>
            <a:r>
              <a:rPr sz="2700" spc="-10" dirty="0">
                <a:latin typeface="Calibri"/>
                <a:cs typeface="Calibri"/>
              </a:rPr>
              <a:t>to </a:t>
            </a:r>
            <a:r>
              <a:rPr sz="2700" spc="5" dirty="0">
                <a:latin typeface="Calibri"/>
                <a:cs typeface="Calibri"/>
              </a:rPr>
              <a:t>how </a:t>
            </a:r>
            <a:r>
              <a:rPr sz="2700" spc="10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junior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student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develops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programs…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149" y="344246"/>
            <a:ext cx="32543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Exploratory</a:t>
            </a:r>
            <a:r>
              <a:rPr sz="3600" spc="-75" dirty="0"/>
              <a:t> </a:t>
            </a:r>
            <a:r>
              <a:rPr sz="3600" dirty="0"/>
              <a:t>Style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2371153" y="2183701"/>
            <a:ext cx="1041400" cy="1085850"/>
            <a:chOff x="2371153" y="2183701"/>
            <a:chExt cx="1041400" cy="1085850"/>
          </a:xfrm>
        </p:grpSpPr>
        <p:sp>
          <p:nvSpPr>
            <p:cNvPr id="4" name="object 4"/>
            <p:cNvSpPr/>
            <p:nvPr/>
          </p:nvSpPr>
          <p:spPr>
            <a:xfrm>
              <a:off x="2375916" y="2188464"/>
              <a:ext cx="1031875" cy="1076325"/>
            </a:xfrm>
            <a:custGeom>
              <a:avLst/>
              <a:gdLst/>
              <a:ahLst/>
              <a:cxnLst/>
              <a:rect l="l" t="t" r="r" b="b"/>
              <a:pathLst>
                <a:path w="1031875" h="1076325">
                  <a:moveTo>
                    <a:pt x="1031747" y="0"/>
                  </a:moveTo>
                  <a:lnTo>
                    <a:pt x="0" y="0"/>
                  </a:lnTo>
                  <a:lnTo>
                    <a:pt x="0" y="1075944"/>
                  </a:lnTo>
                  <a:lnTo>
                    <a:pt x="1031747" y="1075944"/>
                  </a:lnTo>
                  <a:lnTo>
                    <a:pt x="1031747" y="0"/>
                  </a:lnTo>
                  <a:close/>
                </a:path>
              </a:pathLst>
            </a:custGeom>
            <a:solidFill>
              <a:srgbClr val="EBF8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75916" y="2188464"/>
              <a:ext cx="1031875" cy="1076325"/>
            </a:xfrm>
            <a:custGeom>
              <a:avLst/>
              <a:gdLst/>
              <a:ahLst/>
              <a:cxnLst/>
              <a:rect l="l" t="t" r="r" b="b"/>
              <a:pathLst>
                <a:path w="1031875" h="1076325">
                  <a:moveTo>
                    <a:pt x="0" y="1075944"/>
                  </a:moveTo>
                  <a:lnTo>
                    <a:pt x="1031747" y="1075944"/>
                  </a:lnTo>
                  <a:lnTo>
                    <a:pt x="1031747" y="0"/>
                  </a:lnTo>
                  <a:lnTo>
                    <a:pt x="0" y="0"/>
                  </a:lnTo>
                  <a:lnTo>
                    <a:pt x="0" y="10759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75916" y="2188464"/>
            <a:ext cx="1031875" cy="107632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98425">
              <a:lnSpc>
                <a:spcPts val="2695"/>
              </a:lnSpc>
              <a:spcBef>
                <a:spcPts val="1430"/>
              </a:spcBef>
            </a:pPr>
            <a:r>
              <a:rPr sz="2250" b="1" spc="-10" dirty="0">
                <a:latin typeface="Comic Sans MS"/>
                <a:cs typeface="Comic Sans MS"/>
              </a:rPr>
              <a:t>Initial</a:t>
            </a:r>
            <a:endParaRPr sz="2250">
              <a:latin typeface="Comic Sans MS"/>
              <a:cs typeface="Comic Sans MS"/>
            </a:endParaRPr>
          </a:p>
          <a:p>
            <a:pPr marL="78740">
              <a:lnSpc>
                <a:spcPts val="2695"/>
              </a:lnSpc>
            </a:pPr>
            <a:r>
              <a:rPr sz="2250" b="1" spc="-10" dirty="0">
                <a:latin typeface="Comic Sans MS"/>
                <a:cs typeface="Comic Sans MS"/>
              </a:rPr>
              <a:t>Coding</a:t>
            </a:r>
            <a:endParaRPr sz="225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93358" y="2681173"/>
            <a:ext cx="1223010" cy="7512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350" b="1" spc="15" dirty="0">
                <a:solidFill>
                  <a:srgbClr val="C70429"/>
                </a:solidFill>
                <a:latin typeface="Comic Sans MS"/>
                <a:cs typeface="Comic Sans MS"/>
              </a:rPr>
              <a:t>Do</a:t>
            </a:r>
            <a:r>
              <a:rPr sz="2350" b="1" spc="-70" dirty="0">
                <a:solidFill>
                  <a:srgbClr val="C70429"/>
                </a:solidFill>
                <a:latin typeface="Comic Sans MS"/>
                <a:cs typeface="Comic Sans MS"/>
              </a:rPr>
              <a:t> </a:t>
            </a:r>
            <a:r>
              <a:rPr sz="2350" b="1" spc="10" dirty="0">
                <a:solidFill>
                  <a:srgbClr val="C70429"/>
                </a:solidFill>
                <a:latin typeface="Comic Sans MS"/>
                <a:cs typeface="Comic Sans MS"/>
              </a:rPr>
              <a:t>Until</a:t>
            </a:r>
            <a:endParaRPr sz="235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350" b="1" spc="15" dirty="0">
                <a:solidFill>
                  <a:srgbClr val="C70429"/>
                </a:solidFill>
                <a:latin typeface="Comic Sans MS"/>
                <a:cs typeface="Comic Sans MS"/>
              </a:rPr>
              <a:t>Done</a:t>
            </a:r>
            <a:endParaRPr sz="235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53832" y="2183701"/>
            <a:ext cx="6564630" cy="1009650"/>
            <a:chOff x="1253832" y="2183701"/>
            <a:chExt cx="6564630" cy="1009650"/>
          </a:xfrm>
        </p:grpSpPr>
        <p:sp>
          <p:nvSpPr>
            <p:cNvPr id="9" name="object 9"/>
            <p:cNvSpPr/>
            <p:nvPr/>
          </p:nvSpPr>
          <p:spPr>
            <a:xfrm>
              <a:off x="1253832" y="2560319"/>
              <a:ext cx="6564630" cy="238760"/>
            </a:xfrm>
            <a:custGeom>
              <a:avLst/>
              <a:gdLst/>
              <a:ahLst/>
              <a:cxnLst/>
              <a:rect l="l" t="t" r="r" b="b"/>
              <a:pathLst>
                <a:path w="6564630" h="238760">
                  <a:moveTo>
                    <a:pt x="1032916" y="162433"/>
                  </a:moveTo>
                  <a:lnTo>
                    <a:pt x="915962" y="162433"/>
                  </a:lnTo>
                  <a:lnTo>
                    <a:pt x="877811" y="162433"/>
                  </a:lnTo>
                  <a:lnTo>
                    <a:pt x="876973" y="238252"/>
                  </a:lnTo>
                  <a:lnTo>
                    <a:pt x="1032916" y="162433"/>
                  </a:lnTo>
                  <a:close/>
                </a:path>
                <a:path w="6564630" h="238760">
                  <a:moveTo>
                    <a:pt x="1106843" y="126492"/>
                  </a:moveTo>
                  <a:lnTo>
                    <a:pt x="879513" y="9652"/>
                  </a:lnTo>
                  <a:lnTo>
                    <a:pt x="878662" y="85826"/>
                  </a:lnTo>
                  <a:lnTo>
                    <a:pt x="838" y="76200"/>
                  </a:lnTo>
                  <a:lnTo>
                    <a:pt x="0" y="152400"/>
                  </a:lnTo>
                  <a:lnTo>
                    <a:pt x="877811" y="162026"/>
                  </a:lnTo>
                  <a:lnTo>
                    <a:pt x="915962" y="162026"/>
                  </a:lnTo>
                  <a:lnTo>
                    <a:pt x="1033767" y="162026"/>
                  </a:lnTo>
                  <a:lnTo>
                    <a:pt x="1106843" y="126492"/>
                  </a:lnTo>
                  <a:close/>
                </a:path>
                <a:path w="6564630" h="238760">
                  <a:moveTo>
                    <a:pt x="6564287" y="114300"/>
                  </a:moveTo>
                  <a:lnTo>
                    <a:pt x="6488087" y="76200"/>
                  </a:lnTo>
                  <a:lnTo>
                    <a:pt x="6335687" y="0"/>
                  </a:lnTo>
                  <a:lnTo>
                    <a:pt x="6335687" y="76200"/>
                  </a:lnTo>
                  <a:lnTo>
                    <a:pt x="4432211" y="76200"/>
                  </a:lnTo>
                  <a:lnTo>
                    <a:pt x="4432211" y="152400"/>
                  </a:lnTo>
                  <a:lnTo>
                    <a:pt x="6335687" y="152400"/>
                  </a:lnTo>
                  <a:lnTo>
                    <a:pt x="6335687" y="228600"/>
                  </a:lnTo>
                  <a:lnTo>
                    <a:pt x="6488087" y="152400"/>
                  </a:lnTo>
                  <a:lnTo>
                    <a:pt x="6564287" y="114300"/>
                  </a:lnTo>
                  <a:close/>
                </a:path>
              </a:pathLst>
            </a:custGeom>
            <a:solidFill>
              <a:srgbClr val="C70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75632" y="2188464"/>
              <a:ext cx="993775" cy="1000125"/>
            </a:xfrm>
            <a:custGeom>
              <a:avLst/>
              <a:gdLst/>
              <a:ahLst/>
              <a:cxnLst/>
              <a:rect l="l" t="t" r="r" b="b"/>
              <a:pathLst>
                <a:path w="993775" h="1000125">
                  <a:moveTo>
                    <a:pt x="993648" y="0"/>
                  </a:moveTo>
                  <a:lnTo>
                    <a:pt x="0" y="0"/>
                  </a:lnTo>
                  <a:lnTo>
                    <a:pt x="0" y="999744"/>
                  </a:lnTo>
                  <a:lnTo>
                    <a:pt x="993648" y="999744"/>
                  </a:lnTo>
                  <a:lnTo>
                    <a:pt x="993648" y="0"/>
                  </a:lnTo>
                  <a:close/>
                </a:path>
              </a:pathLst>
            </a:custGeom>
            <a:solidFill>
              <a:srgbClr val="EBF8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75632" y="2188464"/>
              <a:ext cx="993775" cy="1000125"/>
            </a:xfrm>
            <a:custGeom>
              <a:avLst/>
              <a:gdLst/>
              <a:ahLst/>
              <a:cxnLst/>
              <a:rect l="l" t="t" r="r" b="b"/>
              <a:pathLst>
                <a:path w="993775" h="1000125">
                  <a:moveTo>
                    <a:pt x="0" y="999744"/>
                  </a:moveTo>
                  <a:lnTo>
                    <a:pt x="993648" y="999744"/>
                  </a:lnTo>
                  <a:lnTo>
                    <a:pt x="993648" y="0"/>
                  </a:lnTo>
                  <a:lnTo>
                    <a:pt x="0" y="0"/>
                  </a:lnTo>
                  <a:lnTo>
                    <a:pt x="0" y="9997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69865" y="2446096"/>
            <a:ext cx="80899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50" b="1" spc="20" dirty="0">
                <a:latin typeface="Comic Sans MS"/>
                <a:cs typeface="Comic Sans MS"/>
              </a:rPr>
              <a:t>Test</a:t>
            </a:r>
            <a:endParaRPr sz="275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42715" y="804481"/>
            <a:ext cx="2066925" cy="1985010"/>
            <a:chOff x="3442715" y="804481"/>
            <a:chExt cx="2066925" cy="1985010"/>
          </a:xfrm>
        </p:grpSpPr>
        <p:sp>
          <p:nvSpPr>
            <p:cNvPr id="14" name="object 14"/>
            <p:cNvSpPr/>
            <p:nvPr/>
          </p:nvSpPr>
          <p:spPr>
            <a:xfrm>
              <a:off x="3442715" y="2560320"/>
              <a:ext cx="1234440" cy="228600"/>
            </a:xfrm>
            <a:custGeom>
              <a:avLst/>
              <a:gdLst/>
              <a:ahLst/>
              <a:cxnLst/>
              <a:rect l="l" t="t" r="r" b="b"/>
              <a:pathLst>
                <a:path w="1234439" h="228600">
                  <a:moveTo>
                    <a:pt x="1005839" y="0"/>
                  </a:moveTo>
                  <a:lnTo>
                    <a:pt x="1005839" y="228600"/>
                  </a:lnTo>
                  <a:lnTo>
                    <a:pt x="1158239" y="152400"/>
                  </a:lnTo>
                  <a:lnTo>
                    <a:pt x="1043939" y="152400"/>
                  </a:lnTo>
                  <a:lnTo>
                    <a:pt x="1043939" y="76200"/>
                  </a:lnTo>
                  <a:lnTo>
                    <a:pt x="1158239" y="76200"/>
                  </a:lnTo>
                  <a:lnTo>
                    <a:pt x="1005839" y="0"/>
                  </a:lnTo>
                  <a:close/>
                </a:path>
                <a:path w="1234439" h="228600">
                  <a:moveTo>
                    <a:pt x="1005839" y="76200"/>
                  </a:moveTo>
                  <a:lnTo>
                    <a:pt x="0" y="76200"/>
                  </a:lnTo>
                  <a:lnTo>
                    <a:pt x="0" y="152400"/>
                  </a:lnTo>
                  <a:lnTo>
                    <a:pt x="1005839" y="152400"/>
                  </a:lnTo>
                  <a:lnTo>
                    <a:pt x="1005839" y="76200"/>
                  </a:lnTo>
                  <a:close/>
                </a:path>
                <a:path w="1234439" h="228600">
                  <a:moveTo>
                    <a:pt x="1158239" y="76200"/>
                  </a:moveTo>
                  <a:lnTo>
                    <a:pt x="1043939" y="76200"/>
                  </a:lnTo>
                  <a:lnTo>
                    <a:pt x="1043939" y="152400"/>
                  </a:lnTo>
                  <a:lnTo>
                    <a:pt x="1158239" y="152400"/>
                  </a:lnTo>
                  <a:lnTo>
                    <a:pt x="1234439" y="114300"/>
                  </a:lnTo>
                  <a:lnTo>
                    <a:pt x="1158239" y="76200"/>
                  </a:lnTo>
                  <a:close/>
                </a:path>
              </a:pathLst>
            </a:custGeom>
            <a:solidFill>
              <a:srgbClr val="C70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12563" y="809244"/>
              <a:ext cx="992505" cy="1000125"/>
            </a:xfrm>
            <a:custGeom>
              <a:avLst/>
              <a:gdLst/>
              <a:ahLst/>
              <a:cxnLst/>
              <a:rect l="l" t="t" r="r" b="b"/>
              <a:pathLst>
                <a:path w="992504" h="1000125">
                  <a:moveTo>
                    <a:pt x="992124" y="0"/>
                  </a:moveTo>
                  <a:lnTo>
                    <a:pt x="0" y="0"/>
                  </a:lnTo>
                  <a:lnTo>
                    <a:pt x="0" y="999743"/>
                  </a:lnTo>
                  <a:lnTo>
                    <a:pt x="992124" y="999743"/>
                  </a:lnTo>
                  <a:lnTo>
                    <a:pt x="992124" y="0"/>
                  </a:lnTo>
                  <a:close/>
                </a:path>
              </a:pathLst>
            </a:custGeom>
            <a:solidFill>
              <a:srgbClr val="EBF8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12563" y="809244"/>
              <a:ext cx="992505" cy="1000125"/>
            </a:xfrm>
            <a:custGeom>
              <a:avLst/>
              <a:gdLst/>
              <a:ahLst/>
              <a:cxnLst/>
              <a:rect l="l" t="t" r="r" b="b"/>
              <a:pathLst>
                <a:path w="992504" h="1000125">
                  <a:moveTo>
                    <a:pt x="0" y="999743"/>
                  </a:moveTo>
                  <a:lnTo>
                    <a:pt x="992124" y="999743"/>
                  </a:lnTo>
                  <a:lnTo>
                    <a:pt x="992124" y="0"/>
                  </a:lnTo>
                  <a:lnTo>
                    <a:pt x="0" y="0"/>
                  </a:lnTo>
                  <a:lnTo>
                    <a:pt x="0" y="9997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12564" y="809244"/>
            <a:ext cx="992505" cy="1000125"/>
          </a:xfrm>
          <a:prstGeom prst="rect">
            <a:avLst/>
          </a:prstGeom>
        </p:spPr>
        <p:txBody>
          <a:bodyPr vert="horz" wrap="square" lIns="0" tIns="248285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1955"/>
              </a:spcBef>
            </a:pPr>
            <a:r>
              <a:rPr sz="3050" b="1" spc="5" dirty="0">
                <a:latin typeface="Comic Sans MS"/>
                <a:cs typeface="Comic Sans MS"/>
              </a:rPr>
              <a:t>Fix</a:t>
            </a:r>
            <a:endParaRPr sz="305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49572" y="1246124"/>
            <a:ext cx="2167890" cy="1433195"/>
            <a:chOff x="3949572" y="1246124"/>
            <a:chExt cx="2167890" cy="1433195"/>
          </a:xfrm>
        </p:grpSpPr>
        <p:sp>
          <p:nvSpPr>
            <p:cNvPr id="19" name="object 19"/>
            <p:cNvSpPr/>
            <p:nvPr/>
          </p:nvSpPr>
          <p:spPr>
            <a:xfrm>
              <a:off x="6079235" y="1377696"/>
              <a:ext cx="0" cy="1301750"/>
            </a:xfrm>
            <a:custGeom>
              <a:avLst/>
              <a:gdLst/>
              <a:ahLst/>
              <a:cxnLst/>
              <a:rect l="l" t="t" r="r" b="b"/>
              <a:pathLst>
                <a:path h="1301750">
                  <a:moveTo>
                    <a:pt x="0" y="0"/>
                  </a:moveTo>
                  <a:lnTo>
                    <a:pt x="0" y="1301495"/>
                  </a:lnTo>
                </a:path>
              </a:pathLst>
            </a:custGeom>
            <a:ln w="76200">
              <a:solidFill>
                <a:srgbClr val="C704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49573" y="1246123"/>
              <a:ext cx="2131695" cy="1433195"/>
            </a:xfrm>
            <a:custGeom>
              <a:avLst/>
              <a:gdLst/>
              <a:ahLst/>
              <a:cxnLst/>
              <a:rect l="l" t="t" r="r" b="b"/>
              <a:pathLst>
                <a:path w="2131695" h="1433195">
                  <a:moveTo>
                    <a:pt x="228600" y="1206500"/>
                  </a:moveTo>
                  <a:lnTo>
                    <a:pt x="152412" y="1205191"/>
                  </a:lnTo>
                  <a:lnTo>
                    <a:pt x="171323" y="103251"/>
                  </a:lnTo>
                  <a:lnTo>
                    <a:pt x="95123" y="101981"/>
                  </a:lnTo>
                  <a:lnTo>
                    <a:pt x="76212" y="1203883"/>
                  </a:lnTo>
                  <a:lnTo>
                    <a:pt x="0" y="1202563"/>
                  </a:lnTo>
                  <a:lnTo>
                    <a:pt x="110363" y="1433068"/>
                  </a:lnTo>
                  <a:lnTo>
                    <a:pt x="209435" y="1243203"/>
                  </a:lnTo>
                  <a:lnTo>
                    <a:pt x="228600" y="1206500"/>
                  </a:lnTo>
                  <a:close/>
                </a:path>
                <a:path w="2131695" h="1433195">
                  <a:moveTo>
                    <a:pt x="2131568" y="93472"/>
                  </a:moveTo>
                  <a:lnTo>
                    <a:pt x="1788363" y="76098"/>
                  </a:lnTo>
                  <a:lnTo>
                    <a:pt x="1788464" y="74168"/>
                  </a:lnTo>
                  <a:lnTo>
                    <a:pt x="1792224" y="0"/>
                  </a:lnTo>
                  <a:lnTo>
                    <a:pt x="1558163" y="102616"/>
                  </a:lnTo>
                  <a:lnTo>
                    <a:pt x="1780667" y="228346"/>
                  </a:lnTo>
                  <a:lnTo>
                    <a:pt x="1784515" y="152298"/>
                  </a:lnTo>
                  <a:lnTo>
                    <a:pt x="2127758" y="169672"/>
                  </a:lnTo>
                  <a:lnTo>
                    <a:pt x="2131568" y="93472"/>
                  </a:lnTo>
                  <a:close/>
                </a:path>
              </a:pathLst>
            </a:custGeom>
            <a:solidFill>
              <a:srgbClr val="C70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82795" y="1348740"/>
              <a:ext cx="429895" cy="0"/>
            </a:xfrm>
            <a:custGeom>
              <a:avLst/>
              <a:gdLst/>
              <a:ahLst/>
              <a:cxnLst/>
              <a:rect l="l" t="t" r="r" b="b"/>
              <a:pathLst>
                <a:path w="429895">
                  <a:moveTo>
                    <a:pt x="0" y="0"/>
                  </a:moveTo>
                  <a:lnTo>
                    <a:pt x="429767" y="0"/>
                  </a:lnTo>
                </a:path>
              </a:pathLst>
            </a:custGeom>
            <a:ln w="76200">
              <a:solidFill>
                <a:srgbClr val="C704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2800" y="3566871"/>
            <a:ext cx="8366125" cy="440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960234" algn="l"/>
              </a:tabLst>
            </a:pPr>
            <a:r>
              <a:rPr sz="2700" b="1" spc="10" dirty="0">
                <a:solidFill>
                  <a:srgbClr val="0000FF"/>
                </a:solidFill>
                <a:latin typeface="Comic Sans MS"/>
                <a:cs typeface="Comic Sans MS"/>
              </a:rPr>
              <a:t>Does </a:t>
            </a:r>
            <a:r>
              <a:rPr sz="2700" b="1" spc="5" dirty="0">
                <a:solidFill>
                  <a:srgbClr val="0000FF"/>
                </a:solidFill>
                <a:latin typeface="Comic Sans MS"/>
                <a:cs typeface="Comic Sans MS"/>
              </a:rPr>
              <a:t>no</a:t>
            </a:r>
            <a:r>
              <a:rPr sz="2700" b="1" spc="10" dirty="0">
                <a:solidFill>
                  <a:srgbClr val="0000FF"/>
                </a:solidFill>
                <a:latin typeface="Comic Sans MS"/>
                <a:cs typeface="Comic Sans MS"/>
              </a:rPr>
              <a:t>t</a:t>
            </a:r>
            <a:r>
              <a:rPr sz="2700" b="1" spc="5" dirty="0">
                <a:solidFill>
                  <a:srgbClr val="0000FF"/>
                </a:solidFill>
                <a:latin typeface="Comic Sans MS"/>
                <a:cs typeface="Comic Sans MS"/>
              </a:rPr>
              <a:t> wor</a:t>
            </a:r>
            <a:r>
              <a:rPr sz="2700" b="1" spc="10" dirty="0">
                <a:solidFill>
                  <a:srgbClr val="0000FF"/>
                </a:solidFill>
                <a:latin typeface="Comic Sans MS"/>
                <a:cs typeface="Comic Sans MS"/>
              </a:rPr>
              <a:t>k </a:t>
            </a:r>
            <a:r>
              <a:rPr sz="2700" b="1" spc="5" dirty="0">
                <a:solidFill>
                  <a:srgbClr val="0000FF"/>
                </a:solidFill>
                <a:latin typeface="Comic Sans MS"/>
                <a:cs typeface="Comic Sans MS"/>
              </a:rPr>
              <a:t>fo</a:t>
            </a:r>
            <a:r>
              <a:rPr sz="2700" b="1" spc="10" dirty="0">
                <a:solidFill>
                  <a:srgbClr val="0000FF"/>
                </a:solidFill>
                <a:latin typeface="Comic Sans MS"/>
                <a:cs typeface="Comic Sans MS"/>
              </a:rPr>
              <a:t>r</a:t>
            </a:r>
            <a:r>
              <a:rPr sz="2700" b="1" spc="5" dirty="0">
                <a:solidFill>
                  <a:srgbClr val="0000FF"/>
                </a:solidFill>
                <a:latin typeface="Comic Sans MS"/>
                <a:cs typeface="Comic Sans MS"/>
              </a:rPr>
              <a:t> nontr</a:t>
            </a:r>
            <a:r>
              <a:rPr sz="2700" b="1" spc="10" dirty="0">
                <a:solidFill>
                  <a:srgbClr val="0000FF"/>
                </a:solidFill>
                <a:latin typeface="Comic Sans MS"/>
                <a:cs typeface="Comic Sans MS"/>
              </a:rPr>
              <a:t>i</a:t>
            </a:r>
            <a:r>
              <a:rPr sz="2700" b="1" spc="5" dirty="0">
                <a:solidFill>
                  <a:srgbClr val="0000FF"/>
                </a:solidFill>
                <a:latin typeface="Comic Sans MS"/>
                <a:cs typeface="Comic Sans MS"/>
              </a:rPr>
              <a:t>vial</a:t>
            </a:r>
            <a:r>
              <a:rPr sz="2700" b="1" spc="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2700" b="1" spc="10" dirty="0">
                <a:solidFill>
                  <a:srgbClr val="0000FF"/>
                </a:solidFill>
                <a:latin typeface="Comic Sans MS"/>
                <a:cs typeface="Comic Sans MS"/>
              </a:rPr>
              <a:t>pr</a:t>
            </a:r>
            <a:r>
              <a:rPr sz="2700" b="1" dirty="0">
                <a:solidFill>
                  <a:srgbClr val="0000FF"/>
                </a:solidFill>
                <a:latin typeface="Comic Sans MS"/>
                <a:cs typeface="Comic Sans MS"/>
              </a:rPr>
              <a:t>o</a:t>
            </a:r>
            <a:r>
              <a:rPr sz="2700" b="1" spc="5" dirty="0">
                <a:solidFill>
                  <a:srgbClr val="0000FF"/>
                </a:solidFill>
                <a:latin typeface="Comic Sans MS"/>
                <a:cs typeface="Comic Sans MS"/>
              </a:rPr>
              <a:t>je</a:t>
            </a:r>
            <a:r>
              <a:rPr sz="2700" b="1" spc="15" dirty="0">
                <a:solidFill>
                  <a:srgbClr val="0000FF"/>
                </a:solidFill>
                <a:latin typeface="Comic Sans MS"/>
                <a:cs typeface="Comic Sans MS"/>
              </a:rPr>
              <a:t>c</a:t>
            </a:r>
            <a:r>
              <a:rPr sz="2700" b="1" spc="5" dirty="0">
                <a:solidFill>
                  <a:srgbClr val="0000FF"/>
                </a:solidFill>
                <a:latin typeface="Comic Sans MS"/>
                <a:cs typeface="Comic Sans MS"/>
              </a:rPr>
              <a:t>t</a:t>
            </a:r>
            <a:r>
              <a:rPr sz="2700" b="1" spc="20" dirty="0">
                <a:solidFill>
                  <a:srgbClr val="0000FF"/>
                </a:solidFill>
                <a:latin typeface="Comic Sans MS"/>
                <a:cs typeface="Comic Sans MS"/>
              </a:rPr>
              <a:t>s</a:t>
            </a:r>
            <a:r>
              <a:rPr sz="2700" b="1" i="1" spc="15" dirty="0">
                <a:solidFill>
                  <a:srgbClr val="0000FF"/>
                </a:solidFill>
                <a:latin typeface="Comic Sans MS"/>
                <a:cs typeface="Comic Sans MS"/>
              </a:rPr>
              <a:t>…</a:t>
            </a:r>
            <a:r>
              <a:rPr sz="2700" b="1" i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2700" b="1" spc="15" dirty="0">
                <a:solidFill>
                  <a:srgbClr val="0000FF"/>
                </a:solidFill>
                <a:latin typeface="Comic Sans MS"/>
                <a:cs typeface="Comic Sans MS"/>
              </a:rPr>
              <a:t>Wh</a:t>
            </a:r>
            <a:r>
              <a:rPr sz="2700" b="1" dirty="0">
                <a:solidFill>
                  <a:srgbClr val="0000FF"/>
                </a:solidFill>
                <a:latin typeface="Comic Sans MS"/>
                <a:cs typeface="Comic Sans MS"/>
              </a:rPr>
              <a:t>y?...</a:t>
            </a:r>
            <a:endParaRPr sz="27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27211" y="4792776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1119" y="239725"/>
            <a:ext cx="550418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0" dirty="0"/>
              <a:t>What</a:t>
            </a:r>
            <a:r>
              <a:rPr sz="2450" spc="-5" dirty="0"/>
              <a:t> </a:t>
            </a:r>
            <a:r>
              <a:rPr sz="2450" dirty="0"/>
              <a:t>is</a:t>
            </a:r>
            <a:r>
              <a:rPr sz="2450" spc="-20" dirty="0"/>
              <a:t> Wrong</a:t>
            </a:r>
            <a:r>
              <a:rPr sz="2450" spc="-30" dirty="0"/>
              <a:t> </a:t>
            </a:r>
            <a:r>
              <a:rPr sz="2450" spc="-5" dirty="0"/>
              <a:t>with</a:t>
            </a:r>
            <a:r>
              <a:rPr sz="2450" spc="-15" dirty="0"/>
              <a:t> </a:t>
            </a:r>
            <a:r>
              <a:rPr sz="2450" dirty="0"/>
              <a:t>the</a:t>
            </a:r>
            <a:r>
              <a:rPr sz="2450" spc="-10" dirty="0"/>
              <a:t> Exploratory</a:t>
            </a:r>
            <a:r>
              <a:rPr sz="2450" spc="-35" dirty="0"/>
              <a:t> </a:t>
            </a:r>
            <a:r>
              <a:rPr sz="2450" dirty="0"/>
              <a:t>Style?</a:t>
            </a:r>
            <a:endParaRPr sz="245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664591"/>
            <a:ext cx="880872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5" dirty="0">
                <a:latin typeface="Calibri"/>
                <a:cs typeface="Calibri"/>
              </a:rPr>
              <a:t>Can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successfully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be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used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for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developing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only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very small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(toy)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640" y="1080642"/>
            <a:ext cx="144399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spc="5" dirty="0">
                <a:latin typeface="Calibri"/>
                <a:cs typeface="Calibri"/>
              </a:rPr>
              <a:t>p</a:t>
            </a:r>
            <a:r>
              <a:rPr sz="2700" spc="-50" dirty="0">
                <a:latin typeface="Calibri"/>
                <a:cs typeface="Calibri"/>
              </a:rPr>
              <a:t>r</a:t>
            </a:r>
            <a:r>
              <a:rPr sz="2700" spc="5" dirty="0">
                <a:latin typeface="Calibri"/>
                <a:cs typeface="Calibri"/>
              </a:rPr>
              <a:t>og</a:t>
            </a:r>
            <a:r>
              <a:rPr sz="2700" spc="-55" dirty="0">
                <a:latin typeface="Calibri"/>
                <a:cs typeface="Calibri"/>
              </a:rPr>
              <a:t>r</a:t>
            </a:r>
            <a:r>
              <a:rPr sz="2700" spc="10" dirty="0">
                <a:latin typeface="Calibri"/>
                <a:cs typeface="Calibri"/>
              </a:rPr>
              <a:t>ams.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18525" y="1212913"/>
            <a:ext cx="6773545" cy="3193415"/>
            <a:chOff x="1918525" y="1212913"/>
            <a:chExt cx="6773545" cy="3193415"/>
          </a:xfrm>
        </p:grpSpPr>
        <p:sp>
          <p:nvSpPr>
            <p:cNvPr id="6" name="object 6"/>
            <p:cNvSpPr/>
            <p:nvPr/>
          </p:nvSpPr>
          <p:spPr>
            <a:xfrm>
              <a:off x="1923288" y="1217675"/>
              <a:ext cx="6764020" cy="3183890"/>
            </a:xfrm>
            <a:custGeom>
              <a:avLst/>
              <a:gdLst/>
              <a:ahLst/>
              <a:cxnLst/>
              <a:rect l="l" t="t" r="r" b="b"/>
              <a:pathLst>
                <a:path w="6764020" h="3183890">
                  <a:moveTo>
                    <a:pt x="6763511" y="0"/>
                  </a:moveTo>
                  <a:lnTo>
                    <a:pt x="0" y="0"/>
                  </a:lnTo>
                  <a:lnTo>
                    <a:pt x="0" y="3183636"/>
                  </a:lnTo>
                  <a:lnTo>
                    <a:pt x="6763511" y="3183636"/>
                  </a:lnTo>
                  <a:lnTo>
                    <a:pt x="6763511" y="0"/>
                  </a:lnTo>
                  <a:close/>
                </a:path>
              </a:pathLst>
            </a:custGeom>
            <a:solidFill>
              <a:srgbClr val="EBF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3288" y="1217675"/>
              <a:ext cx="6764020" cy="3183890"/>
            </a:xfrm>
            <a:custGeom>
              <a:avLst/>
              <a:gdLst/>
              <a:ahLst/>
              <a:cxnLst/>
              <a:rect l="l" t="t" r="r" b="b"/>
              <a:pathLst>
                <a:path w="6764020" h="3183890">
                  <a:moveTo>
                    <a:pt x="0" y="3183636"/>
                  </a:moveTo>
                  <a:lnTo>
                    <a:pt x="6763511" y="3183636"/>
                  </a:lnTo>
                  <a:lnTo>
                    <a:pt x="6763511" y="0"/>
                  </a:lnTo>
                  <a:lnTo>
                    <a:pt x="0" y="0"/>
                  </a:lnTo>
                  <a:lnTo>
                    <a:pt x="0" y="3183636"/>
                  </a:lnTo>
                  <a:close/>
                </a:path>
              </a:pathLst>
            </a:custGeom>
            <a:ln w="9143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76678" y="1347977"/>
              <a:ext cx="5293360" cy="2767965"/>
            </a:xfrm>
            <a:custGeom>
              <a:avLst/>
              <a:gdLst/>
              <a:ahLst/>
              <a:cxnLst/>
              <a:rect l="l" t="t" r="r" b="b"/>
              <a:pathLst>
                <a:path w="5293359" h="2767965">
                  <a:moveTo>
                    <a:pt x="0" y="0"/>
                  </a:moveTo>
                  <a:lnTo>
                    <a:pt x="1524" y="2766060"/>
                  </a:lnTo>
                </a:path>
                <a:path w="5293359" h="2767965">
                  <a:moveTo>
                    <a:pt x="0" y="2766060"/>
                  </a:moveTo>
                  <a:lnTo>
                    <a:pt x="5292852" y="2767584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91156" y="1318259"/>
              <a:ext cx="6114415" cy="2796540"/>
            </a:xfrm>
            <a:custGeom>
              <a:avLst/>
              <a:gdLst/>
              <a:ahLst/>
              <a:cxnLst/>
              <a:rect l="l" t="t" r="r" b="b"/>
              <a:pathLst>
                <a:path w="6114415" h="2796540">
                  <a:moveTo>
                    <a:pt x="0" y="2796540"/>
                  </a:moveTo>
                  <a:lnTo>
                    <a:pt x="6114288" y="0"/>
                  </a:lnTo>
                </a:path>
              </a:pathLst>
            </a:custGeom>
            <a:ln w="5791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75916" y="1318259"/>
              <a:ext cx="2075814" cy="2783205"/>
            </a:xfrm>
            <a:custGeom>
              <a:avLst/>
              <a:gdLst/>
              <a:ahLst/>
              <a:cxnLst/>
              <a:rect l="l" t="t" r="r" b="b"/>
              <a:pathLst>
                <a:path w="2075814" h="2783204">
                  <a:moveTo>
                    <a:pt x="0" y="2782824"/>
                  </a:moveTo>
                  <a:lnTo>
                    <a:pt x="42015" y="2746931"/>
                  </a:lnTo>
                  <a:lnTo>
                    <a:pt x="84001" y="2711061"/>
                  </a:lnTo>
                  <a:lnTo>
                    <a:pt x="125927" y="2675222"/>
                  </a:lnTo>
                  <a:lnTo>
                    <a:pt x="167763" y="2639424"/>
                  </a:lnTo>
                  <a:lnTo>
                    <a:pt x="209480" y="2603675"/>
                  </a:lnTo>
                  <a:lnTo>
                    <a:pt x="251048" y="2567985"/>
                  </a:lnTo>
                  <a:lnTo>
                    <a:pt x="292436" y="2532363"/>
                  </a:lnTo>
                  <a:lnTo>
                    <a:pt x="333615" y="2496819"/>
                  </a:lnTo>
                  <a:lnTo>
                    <a:pt x="374555" y="2461362"/>
                  </a:lnTo>
                  <a:lnTo>
                    <a:pt x="415226" y="2426001"/>
                  </a:lnTo>
                  <a:lnTo>
                    <a:pt x="455599" y="2390745"/>
                  </a:lnTo>
                  <a:lnTo>
                    <a:pt x="495643" y="2355603"/>
                  </a:lnTo>
                  <a:lnTo>
                    <a:pt x="535328" y="2320586"/>
                  </a:lnTo>
                  <a:lnTo>
                    <a:pt x="574625" y="2285701"/>
                  </a:lnTo>
                  <a:lnTo>
                    <a:pt x="613504" y="2250959"/>
                  </a:lnTo>
                  <a:lnTo>
                    <a:pt x="651934" y="2216368"/>
                  </a:lnTo>
                  <a:lnTo>
                    <a:pt x="689887" y="2181938"/>
                  </a:lnTo>
                  <a:lnTo>
                    <a:pt x="727332" y="2147678"/>
                  </a:lnTo>
                  <a:lnTo>
                    <a:pt x="764239" y="2113598"/>
                  </a:lnTo>
                  <a:lnTo>
                    <a:pt x="800578" y="2079706"/>
                  </a:lnTo>
                  <a:lnTo>
                    <a:pt x="836320" y="2046012"/>
                  </a:lnTo>
                  <a:lnTo>
                    <a:pt x="871434" y="2012525"/>
                  </a:lnTo>
                  <a:lnTo>
                    <a:pt x="905891" y="1979255"/>
                  </a:lnTo>
                  <a:lnTo>
                    <a:pt x="939661" y="1946210"/>
                  </a:lnTo>
                  <a:lnTo>
                    <a:pt x="972714" y="1913400"/>
                  </a:lnTo>
                  <a:lnTo>
                    <a:pt x="1005021" y="1880834"/>
                  </a:lnTo>
                  <a:lnTo>
                    <a:pt x="1036550" y="1848522"/>
                  </a:lnTo>
                  <a:lnTo>
                    <a:pt x="1067273" y="1816473"/>
                  </a:lnTo>
                  <a:lnTo>
                    <a:pt x="1097159" y="1784695"/>
                  </a:lnTo>
                  <a:lnTo>
                    <a:pt x="1126179" y="1753198"/>
                  </a:lnTo>
                  <a:lnTo>
                    <a:pt x="1154303" y="1721992"/>
                  </a:lnTo>
                  <a:lnTo>
                    <a:pt x="1195996" y="1674345"/>
                  </a:lnTo>
                  <a:lnTo>
                    <a:pt x="1235373" y="1627629"/>
                  </a:lnTo>
                  <a:lnTo>
                    <a:pt x="1272581" y="1581772"/>
                  </a:lnTo>
                  <a:lnTo>
                    <a:pt x="1307767" y="1536698"/>
                  </a:lnTo>
                  <a:lnTo>
                    <a:pt x="1341078" y="1492333"/>
                  </a:lnTo>
                  <a:lnTo>
                    <a:pt x="1372660" y="1448601"/>
                  </a:lnTo>
                  <a:lnTo>
                    <a:pt x="1402661" y="1405427"/>
                  </a:lnTo>
                  <a:lnTo>
                    <a:pt x="1431228" y="1362737"/>
                  </a:lnTo>
                  <a:lnTo>
                    <a:pt x="1458507" y="1320456"/>
                  </a:lnTo>
                  <a:lnTo>
                    <a:pt x="1484645" y="1278509"/>
                  </a:lnTo>
                  <a:lnTo>
                    <a:pt x="1509791" y="1236820"/>
                  </a:lnTo>
                  <a:lnTo>
                    <a:pt x="1534089" y="1195316"/>
                  </a:lnTo>
                  <a:lnTo>
                    <a:pt x="1557689" y="1153922"/>
                  </a:lnTo>
                  <a:lnTo>
                    <a:pt x="1580735" y="1112562"/>
                  </a:lnTo>
                  <a:lnTo>
                    <a:pt x="1603376" y="1071161"/>
                  </a:lnTo>
                  <a:lnTo>
                    <a:pt x="1625759" y="1029645"/>
                  </a:lnTo>
                  <a:lnTo>
                    <a:pt x="1648030" y="987940"/>
                  </a:lnTo>
                  <a:lnTo>
                    <a:pt x="1670336" y="945969"/>
                  </a:lnTo>
                  <a:lnTo>
                    <a:pt x="1692825" y="903658"/>
                  </a:lnTo>
                  <a:lnTo>
                    <a:pt x="1715643" y="860932"/>
                  </a:lnTo>
                  <a:lnTo>
                    <a:pt x="1740776" y="813205"/>
                  </a:lnTo>
                  <a:lnTo>
                    <a:pt x="1765030" y="765443"/>
                  </a:lnTo>
                  <a:lnTo>
                    <a:pt x="1788456" y="717652"/>
                  </a:lnTo>
                  <a:lnTo>
                    <a:pt x="1811106" y="669836"/>
                  </a:lnTo>
                  <a:lnTo>
                    <a:pt x="1833031" y="621998"/>
                  </a:lnTo>
                  <a:lnTo>
                    <a:pt x="1854284" y="574143"/>
                  </a:lnTo>
                  <a:lnTo>
                    <a:pt x="1874916" y="526274"/>
                  </a:lnTo>
                  <a:lnTo>
                    <a:pt x="1894979" y="478397"/>
                  </a:lnTo>
                  <a:lnTo>
                    <a:pt x="1914524" y="430514"/>
                  </a:lnTo>
                  <a:lnTo>
                    <a:pt x="1933604" y="382629"/>
                  </a:lnTo>
                  <a:lnTo>
                    <a:pt x="1952270" y="334748"/>
                  </a:lnTo>
                  <a:lnTo>
                    <a:pt x="1970574" y="286874"/>
                  </a:lnTo>
                  <a:lnTo>
                    <a:pt x="1988567" y="239010"/>
                  </a:lnTo>
                  <a:lnTo>
                    <a:pt x="2006302" y="191162"/>
                  </a:lnTo>
                  <a:lnTo>
                    <a:pt x="2023829" y="143333"/>
                  </a:lnTo>
                  <a:lnTo>
                    <a:pt x="2041202" y="95526"/>
                  </a:lnTo>
                  <a:lnTo>
                    <a:pt x="2058470" y="47747"/>
                  </a:lnTo>
                  <a:lnTo>
                    <a:pt x="2075687" y="0"/>
                  </a:lnTo>
                </a:path>
              </a:pathLst>
            </a:custGeom>
            <a:ln w="57912">
              <a:solidFill>
                <a:srgbClr val="FF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75916" y="1383791"/>
              <a:ext cx="5163820" cy="2717800"/>
            </a:xfrm>
            <a:custGeom>
              <a:avLst/>
              <a:gdLst/>
              <a:ahLst/>
              <a:cxnLst/>
              <a:rect l="l" t="t" r="r" b="b"/>
              <a:pathLst>
                <a:path w="5163820" h="2717800">
                  <a:moveTo>
                    <a:pt x="0" y="2717292"/>
                  </a:moveTo>
                  <a:lnTo>
                    <a:pt x="48781" y="2694527"/>
                  </a:lnTo>
                  <a:lnTo>
                    <a:pt x="97557" y="2671768"/>
                  </a:lnTo>
                  <a:lnTo>
                    <a:pt x="146322" y="2649015"/>
                  </a:lnTo>
                  <a:lnTo>
                    <a:pt x="195070" y="2626271"/>
                  </a:lnTo>
                  <a:lnTo>
                    <a:pt x="243795" y="2603536"/>
                  </a:lnTo>
                  <a:lnTo>
                    <a:pt x="292493" y="2580811"/>
                  </a:lnTo>
                  <a:lnTo>
                    <a:pt x="341158" y="2558099"/>
                  </a:lnTo>
                  <a:lnTo>
                    <a:pt x="389783" y="2535401"/>
                  </a:lnTo>
                  <a:lnTo>
                    <a:pt x="438364" y="2512717"/>
                  </a:lnTo>
                  <a:lnTo>
                    <a:pt x="486895" y="2490051"/>
                  </a:lnTo>
                  <a:lnTo>
                    <a:pt x="535370" y="2467401"/>
                  </a:lnTo>
                  <a:lnTo>
                    <a:pt x="583784" y="2444772"/>
                  </a:lnTo>
                  <a:lnTo>
                    <a:pt x="632131" y="2422163"/>
                  </a:lnTo>
                  <a:lnTo>
                    <a:pt x="680406" y="2399576"/>
                  </a:lnTo>
                  <a:lnTo>
                    <a:pt x="728603" y="2377012"/>
                  </a:lnTo>
                  <a:lnTo>
                    <a:pt x="776716" y="2354474"/>
                  </a:lnTo>
                  <a:lnTo>
                    <a:pt x="824740" y="2331962"/>
                  </a:lnTo>
                  <a:lnTo>
                    <a:pt x="872669" y="2309477"/>
                  </a:lnTo>
                  <a:lnTo>
                    <a:pt x="920499" y="2287022"/>
                  </a:lnTo>
                  <a:lnTo>
                    <a:pt x="968222" y="2264597"/>
                  </a:lnTo>
                  <a:lnTo>
                    <a:pt x="1015834" y="2242204"/>
                  </a:lnTo>
                  <a:lnTo>
                    <a:pt x="1063329" y="2219844"/>
                  </a:lnTo>
                  <a:lnTo>
                    <a:pt x="1110702" y="2197520"/>
                  </a:lnTo>
                  <a:lnTo>
                    <a:pt x="1157946" y="2175231"/>
                  </a:lnTo>
                  <a:lnTo>
                    <a:pt x="1205057" y="2152980"/>
                  </a:lnTo>
                  <a:lnTo>
                    <a:pt x="1252029" y="2130768"/>
                  </a:lnTo>
                  <a:lnTo>
                    <a:pt x="1298855" y="2108596"/>
                  </a:lnTo>
                  <a:lnTo>
                    <a:pt x="1345532" y="2086467"/>
                  </a:lnTo>
                  <a:lnTo>
                    <a:pt x="1392052" y="2064380"/>
                  </a:lnTo>
                  <a:lnTo>
                    <a:pt x="1438412" y="2042338"/>
                  </a:lnTo>
                  <a:lnTo>
                    <a:pt x="1484604" y="2020342"/>
                  </a:lnTo>
                  <a:lnTo>
                    <a:pt x="1530623" y="1998393"/>
                  </a:lnTo>
                  <a:lnTo>
                    <a:pt x="1576464" y="1976494"/>
                  </a:lnTo>
                  <a:lnTo>
                    <a:pt x="1622121" y="1954644"/>
                  </a:lnTo>
                  <a:lnTo>
                    <a:pt x="1667589" y="1932847"/>
                  </a:lnTo>
                  <a:lnTo>
                    <a:pt x="1712863" y="1911102"/>
                  </a:lnTo>
                  <a:lnTo>
                    <a:pt x="1757935" y="1889412"/>
                  </a:lnTo>
                  <a:lnTo>
                    <a:pt x="1802802" y="1867777"/>
                  </a:lnTo>
                  <a:lnTo>
                    <a:pt x="1847457" y="1846200"/>
                  </a:lnTo>
                  <a:lnTo>
                    <a:pt x="1891895" y="1824682"/>
                  </a:lnTo>
                  <a:lnTo>
                    <a:pt x="1936110" y="1803223"/>
                  </a:lnTo>
                  <a:lnTo>
                    <a:pt x="1980097" y="1781826"/>
                  </a:lnTo>
                  <a:lnTo>
                    <a:pt x="2023850" y="1760493"/>
                  </a:lnTo>
                  <a:lnTo>
                    <a:pt x="2067363" y="1739223"/>
                  </a:lnTo>
                  <a:lnTo>
                    <a:pt x="2110631" y="1718019"/>
                  </a:lnTo>
                  <a:lnTo>
                    <a:pt x="2153649" y="1696882"/>
                  </a:lnTo>
                  <a:lnTo>
                    <a:pt x="2196411" y="1675814"/>
                  </a:lnTo>
                  <a:lnTo>
                    <a:pt x="2238911" y="1654816"/>
                  </a:lnTo>
                  <a:lnTo>
                    <a:pt x="2281143" y="1633889"/>
                  </a:lnTo>
                  <a:lnTo>
                    <a:pt x="2323103" y="1613035"/>
                  </a:lnTo>
                  <a:lnTo>
                    <a:pt x="2364784" y="1592255"/>
                  </a:lnTo>
                  <a:lnTo>
                    <a:pt x="2406182" y="1571551"/>
                  </a:lnTo>
                  <a:lnTo>
                    <a:pt x="2447289" y="1550924"/>
                  </a:lnTo>
                  <a:lnTo>
                    <a:pt x="2498975" y="1524899"/>
                  </a:lnTo>
                  <a:lnTo>
                    <a:pt x="2550620" y="1498795"/>
                  </a:lnTo>
                  <a:lnTo>
                    <a:pt x="2602204" y="1472624"/>
                  </a:lnTo>
                  <a:lnTo>
                    <a:pt x="2653706" y="1446400"/>
                  </a:lnTo>
                  <a:lnTo>
                    <a:pt x="2705105" y="1420135"/>
                  </a:lnTo>
                  <a:lnTo>
                    <a:pt x="2756380" y="1393843"/>
                  </a:lnTo>
                  <a:lnTo>
                    <a:pt x="2807510" y="1367536"/>
                  </a:lnTo>
                  <a:lnTo>
                    <a:pt x="2858474" y="1341228"/>
                  </a:lnTo>
                  <a:lnTo>
                    <a:pt x="2909251" y="1314930"/>
                  </a:lnTo>
                  <a:lnTo>
                    <a:pt x="2959820" y="1288657"/>
                  </a:lnTo>
                  <a:lnTo>
                    <a:pt x="3010159" y="1262422"/>
                  </a:lnTo>
                  <a:lnTo>
                    <a:pt x="3060249" y="1236236"/>
                  </a:lnTo>
                  <a:lnTo>
                    <a:pt x="3110068" y="1210114"/>
                  </a:lnTo>
                  <a:lnTo>
                    <a:pt x="3159595" y="1184068"/>
                  </a:lnTo>
                  <a:lnTo>
                    <a:pt x="3208809" y="1158111"/>
                  </a:lnTo>
                  <a:lnTo>
                    <a:pt x="3257688" y="1132256"/>
                  </a:lnTo>
                  <a:lnTo>
                    <a:pt x="3306213" y="1106516"/>
                  </a:lnTo>
                  <a:lnTo>
                    <a:pt x="3354362" y="1080904"/>
                  </a:lnTo>
                  <a:lnTo>
                    <a:pt x="3402113" y="1055433"/>
                  </a:lnTo>
                  <a:lnTo>
                    <a:pt x="3449447" y="1030116"/>
                  </a:lnTo>
                  <a:lnTo>
                    <a:pt x="3496341" y="1004966"/>
                  </a:lnTo>
                  <a:lnTo>
                    <a:pt x="3542776" y="979996"/>
                  </a:lnTo>
                  <a:lnTo>
                    <a:pt x="3588729" y="955219"/>
                  </a:lnTo>
                  <a:lnTo>
                    <a:pt x="3634180" y="930648"/>
                  </a:lnTo>
                  <a:lnTo>
                    <a:pt x="3679109" y="906296"/>
                  </a:lnTo>
                  <a:lnTo>
                    <a:pt x="3723493" y="882175"/>
                  </a:lnTo>
                  <a:lnTo>
                    <a:pt x="3767312" y="858299"/>
                  </a:lnTo>
                  <a:lnTo>
                    <a:pt x="3810545" y="834681"/>
                  </a:lnTo>
                  <a:lnTo>
                    <a:pt x="3853171" y="811334"/>
                  </a:lnTo>
                  <a:lnTo>
                    <a:pt x="3895169" y="788270"/>
                  </a:lnTo>
                  <a:lnTo>
                    <a:pt x="3936518" y="765503"/>
                  </a:lnTo>
                  <a:lnTo>
                    <a:pt x="3977197" y="743045"/>
                  </a:lnTo>
                  <a:lnTo>
                    <a:pt x="4017185" y="720911"/>
                  </a:lnTo>
                  <a:lnTo>
                    <a:pt x="4056460" y="699111"/>
                  </a:lnTo>
                  <a:lnTo>
                    <a:pt x="4095003" y="677660"/>
                  </a:lnTo>
                  <a:lnTo>
                    <a:pt x="4132791" y="656571"/>
                  </a:lnTo>
                  <a:lnTo>
                    <a:pt x="4169805" y="635856"/>
                  </a:lnTo>
                  <a:lnTo>
                    <a:pt x="4206022" y="615529"/>
                  </a:lnTo>
                  <a:lnTo>
                    <a:pt x="4241422" y="595602"/>
                  </a:lnTo>
                  <a:lnTo>
                    <a:pt x="4275984" y="576088"/>
                  </a:lnTo>
                  <a:lnTo>
                    <a:pt x="4309688" y="557001"/>
                  </a:lnTo>
                  <a:lnTo>
                    <a:pt x="4411871" y="498581"/>
                  </a:lnTo>
                  <a:lnTo>
                    <a:pt x="4476976" y="460652"/>
                  </a:lnTo>
                  <a:lnTo>
                    <a:pt x="4538063" y="424466"/>
                  </a:lnTo>
                  <a:lnTo>
                    <a:pt x="4595370" y="389920"/>
                  </a:lnTo>
                  <a:lnTo>
                    <a:pt x="4649136" y="356915"/>
                  </a:lnTo>
                  <a:lnTo>
                    <a:pt x="4699598" y="325349"/>
                  </a:lnTo>
                  <a:lnTo>
                    <a:pt x="4746995" y="295120"/>
                  </a:lnTo>
                  <a:lnTo>
                    <a:pt x="4791564" y="266130"/>
                  </a:lnTo>
                  <a:lnTo>
                    <a:pt x="4833544" y="238275"/>
                  </a:lnTo>
                  <a:lnTo>
                    <a:pt x="4873173" y="211455"/>
                  </a:lnTo>
                  <a:lnTo>
                    <a:pt x="4910689" y="185570"/>
                  </a:lnTo>
                  <a:lnTo>
                    <a:pt x="4946330" y="160518"/>
                  </a:lnTo>
                  <a:lnTo>
                    <a:pt x="4980334" y="136198"/>
                  </a:lnTo>
                  <a:lnTo>
                    <a:pt x="5012938" y="112509"/>
                  </a:lnTo>
                  <a:lnTo>
                    <a:pt x="5044382" y="89350"/>
                  </a:lnTo>
                  <a:lnTo>
                    <a:pt x="5104740" y="44220"/>
                  </a:lnTo>
                  <a:lnTo>
                    <a:pt x="5134130" y="22047"/>
                  </a:lnTo>
                  <a:lnTo>
                    <a:pt x="5163311" y="0"/>
                  </a:lnTo>
                </a:path>
              </a:pathLst>
            </a:custGeom>
            <a:ln w="5791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56430" y="3704335"/>
            <a:ext cx="201104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5" dirty="0">
                <a:latin typeface="Comic Sans MS"/>
                <a:cs typeface="Comic Sans MS"/>
              </a:rPr>
              <a:t>Program</a:t>
            </a:r>
            <a:r>
              <a:rPr sz="2450" b="1" spc="-60" dirty="0">
                <a:latin typeface="Comic Sans MS"/>
                <a:cs typeface="Comic Sans MS"/>
              </a:rPr>
              <a:t> </a:t>
            </a:r>
            <a:r>
              <a:rPr sz="2450" b="1" spc="-10" dirty="0">
                <a:latin typeface="Comic Sans MS"/>
                <a:cs typeface="Comic Sans MS"/>
              </a:rPr>
              <a:t>Size</a:t>
            </a:r>
            <a:endParaRPr sz="245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7491" y="1855285"/>
            <a:ext cx="832485" cy="2050414"/>
          </a:xfrm>
          <a:prstGeom prst="rect">
            <a:avLst/>
          </a:prstGeom>
        </p:spPr>
        <p:txBody>
          <a:bodyPr vert="vert270" wrap="square" lIns="0" tIns="4381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345"/>
              </a:spcBef>
            </a:pPr>
            <a:r>
              <a:rPr sz="2450" b="1" spc="-5" dirty="0">
                <a:latin typeface="Comic Sans MS"/>
                <a:cs typeface="Comic Sans MS"/>
              </a:rPr>
              <a:t>Effort,</a:t>
            </a:r>
            <a:r>
              <a:rPr sz="2450" b="1" spc="-50" dirty="0">
                <a:latin typeface="Comic Sans MS"/>
                <a:cs typeface="Comic Sans MS"/>
              </a:rPr>
              <a:t> </a:t>
            </a:r>
            <a:r>
              <a:rPr sz="2450" b="1" spc="-10" dirty="0">
                <a:latin typeface="Comic Sans MS"/>
                <a:cs typeface="Comic Sans MS"/>
              </a:rPr>
              <a:t>time, </a:t>
            </a:r>
            <a:r>
              <a:rPr sz="2450" b="1" spc="-1050" dirty="0">
                <a:latin typeface="Comic Sans MS"/>
                <a:cs typeface="Comic Sans MS"/>
              </a:rPr>
              <a:t> </a:t>
            </a:r>
            <a:r>
              <a:rPr sz="2450" b="1" spc="-5" dirty="0">
                <a:latin typeface="Comic Sans MS"/>
                <a:cs typeface="Comic Sans MS"/>
              </a:rPr>
              <a:t>cost</a:t>
            </a:r>
            <a:endParaRPr sz="2450">
              <a:latin typeface="Comic Sans MS"/>
              <a:cs typeface="Comic Sans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89632" y="1595627"/>
            <a:ext cx="4410710" cy="2392680"/>
          </a:xfrm>
          <a:custGeom>
            <a:avLst/>
            <a:gdLst/>
            <a:ahLst/>
            <a:cxnLst/>
            <a:rect l="l" t="t" r="r" b="b"/>
            <a:pathLst>
              <a:path w="4410709" h="2392679">
                <a:moveTo>
                  <a:pt x="173736" y="173736"/>
                </a:moveTo>
                <a:lnTo>
                  <a:pt x="159258" y="144780"/>
                </a:lnTo>
                <a:lnTo>
                  <a:pt x="86868" y="0"/>
                </a:lnTo>
                <a:lnTo>
                  <a:pt x="0" y="173736"/>
                </a:lnTo>
                <a:lnTo>
                  <a:pt x="57912" y="173736"/>
                </a:lnTo>
                <a:lnTo>
                  <a:pt x="57912" y="443484"/>
                </a:lnTo>
                <a:lnTo>
                  <a:pt x="115824" y="443484"/>
                </a:lnTo>
                <a:lnTo>
                  <a:pt x="115824" y="173736"/>
                </a:lnTo>
                <a:lnTo>
                  <a:pt x="173736" y="173736"/>
                </a:lnTo>
                <a:close/>
              </a:path>
              <a:path w="4410709" h="2392679">
                <a:moveTo>
                  <a:pt x="4410456" y="2305812"/>
                </a:moveTo>
                <a:lnTo>
                  <a:pt x="4352544" y="2276856"/>
                </a:lnTo>
                <a:lnTo>
                  <a:pt x="4236720" y="2218944"/>
                </a:lnTo>
                <a:lnTo>
                  <a:pt x="4236720" y="2276856"/>
                </a:lnTo>
                <a:lnTo>
                  <a:pt x="3761232" y="2276856"/>
                </a:lnTo>
                <a:lnTo>
                  <a:pt x="3761232" y="2334768"/>
                </a:lnTo>
                <a:lnTo>
                  <a:pt x="4236720" y="2334768"/>
                </a:lnTo>
                <a:lnTo>
                  <a:pt x="4236720" y="2392680"/>
                </a:lnTo>
                <a:lnTo>
                  <a:pt x="4352544" y="2334768"/>
                </a:lnTo>
                <a:lnTo>
                  <a:pt x="4410456" y="2305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64866" y="1605737"/>
            <a:ext cx="157797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10" dirty="0">
                <a:solidFill>
                  <a:srgbClr val="FF0066"/>
                </a:solidFill>
                <a:latin typeface="Comic Sans MS"/>
                <a:cs typeface="Comic Sans MS"/>
              </a:rPr>
              <a:t>Exploratory</a:t>
            </a:r>
            <a:endParaRPr sz="215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41797" y="1279397"/>
            <a:ext cx="2299970" cy="13462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784860">
              <a:lnSpc>
                <a:spcPct val="101400"/>
              </a:lnSpc>
              <a:spcBef>
                <a:spcPts val="85"/>
              </a:spcBef>
            </a:pPr>
            <a:r>
              <a:rPr sz="2150" b="1" spc="5" dirty="0">
                <a:solidFill>
                  <a:srgbClr val="0000FF"/>
                </a:solidFill>
                <a:latin typeface="Comic Sans MS"/>
                <a:cs typeface="Comic Sans MS"/>
              </a:rPr>
              <a:t>Software </a:t>
            </a:r>
            <a:r>
              <a:rPr sz="2150" b="1" spc="10" dirty="0">
                <a:solidFill>
                  <a:srgbClr val="0000FF"/>
                </a:solidFill>
                <a:latin typeface="Comic Sans MS"/>
                <a:cs typeface="Comic Sans MS"/>
              </a:rPr>
              <a:t> Engi</a:t>
            </a:r>
            <a:r>
              <a:rPr sz="2150" b="1" spc="15" dirty="0">
                <a:solidFill>
                  <a:srgbClr val="0000FF"/>
                </a:solidFill>
                <a:latin typeface="Comic Sans MS"/>
                <a:cs typeface="Comic Sans MS"/>
              </a:rPr>
              <a:t>n</a:t>
            </a:r>
            <a:r>
              <a:rPr sz="2150" b="1" spc="5" dirty="0">
                <a:solidFill>
                  <a:srgbClr val="0000FF"/>
                </a:solidFill>
                <a:latin typeface="Comic Sans MS"/>
                <a:cs typeface="Comic Sans MS"/>
              </a:rPr>
              <a:t>eering</a:t>
            </a:r>
            <a:endParaRPr sz="2150">
              <a:latin typeface="Comic Sans MS"/>
              <a:cs typeface="Comic Sans MS"/>
            </a:endParaRPr>
          </a:p>
          <a:p>
            <a:pPr marL="1076325">
              <a:lnSpc>
                <a:spcPct val="100000"/>
              </a:lnSpc>
              <a:spcBef>
                <a:spcPts val="2240"/>
              </a:spcBef>
            </a:pPr>
            <a:r>
              <a:rPr sz="2450" b="1" spc="-5" dirty="0">
                <a:solidFill>
                  <a:srgbClr val="003300"/>
                </a:solidFill>
                <a:latin typeface="Comic Sans MS"/>
                <a:cs typeface="Comic Sans MS"/>
              </a:rPr>
              <a:t>Machine</a:t>
            </a:r>
            <a:endParaRPr sz="24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7274" y="363473"/>
            <a:ext cx="6286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/>
              <a:t>What</a:t>
            </a:r>
            <a:r>
              <a:rPr sz="2800" spc="10" dirty="0"/>
              <a:t> </a:t>
            </a:r>
            <a:r>
              <a:rPr sz="2800" spc="-5" dirty="0"/>
              <a:t>is</a:t>
            </a:r>
            <a:r>
              <a:rPr sz="2800" dirty="0"/>
              <a:t> </a:t>
            </a:r>
            <a:r>
              <a:rPr sz="2800" spc="-25" dirty="0"/>
              <a:t>Wrong</a:t>
            </a:r>
            <a:r>
              <a:rPr sz="2800" spc="10" dirty="0"/>
              <a:t> </a:t>
            </a:r>
            <a:r>
              <a:rPr sz="2800" spc="-10" dirty="0"/>
              <a:t>with</a:t>
            </a:r>
            <a:r>
              <a:rPr sz="2800" dirty="0"/>
              <a:t> </a:t>
            </a:r>
            <a:r>
              <a:rPr sz="2800" spc="-5" dirty="0"/>
              <a:t>the</a:t>
            </a:r>
            <a:r>
              <a:rPr sz="2800" spc="15" dirty="0"/>
              <a:t> </a:t>
            </a:r>
            <a:r>
              <a:rPr sz="2800" spc="-15" dirty="0"/>
              <a:t>Exploratory</a:t>
            </a:r>
            <a:r>
              <a:rPr sz="2800" spc="20" dirty="0"/>
              <a:t> </a:t>
            </a:r>
            <a:r>
              <a:rPr sz="2800" spc="-10" dirty="0"/>
              <a:t>Style?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794766"/>
            <a:ext cx="7858759" cy="3032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76884" algn="r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solidFill>
                  <a:srgbClr val="0000FF"/>
                </a:solidFill>
                <a:latin typeface="Calibri"/>
                <a:cs typeface="Calibri"/>
              </a:rPr>
              <a:t>Cont…</a:t>
            </a:r>
            <a:endParaRPr sz="1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10" dirty="0">
                <a:latin typeface="Calibri"/>
                <a:cs typeface="Calibri"/>
              </a:rPr>
              <a:t>Besides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exponential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growth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effort,</a:t>
            </a:r>
            <a:r>
              <a:rPr sz="2700" spc="-5" dirty="0">
                <a:latin typeface="Calibri"/>
                <a:cs typeface="Calibri"/>
              </a:rPr>
              <a:t> cost,</a:t>
            </a:r>
            <a:r>
              <a:rPr sz="2700" spc="10" dirty="0">
                <a:latin typeface="Calibri"/>
                <a:cs typeface="Calibri"/>
              </a:rPr>
              <a:t> and</a:t>
            </a:r>
            <a:endParaRPr sz="27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844"/>
              </a:spcBef>
            </a:pPr>
            <a:r>
              <a:rPr sz="2700" spc="10" dirty="0">
                <a:latin typeface="Calibri"/>
                <a:cs typeface="Calibri"/>
              </a:rPr>
              <a:t>time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with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problem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size: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15" dirty="0">
                <a:latin typeface="Calibri"/>
                <a:cs typeface="Calibri"/>
              </a:rPr>
              <a:t>Exploratory</a:t>
            </a:r>
            <a:r>
              <a:rPr sz="2450" spc="-10" dirty="0">
                <a:latin typeface="Calibri"/>
                <a:cs typeface="Calibri"/>
              </a:rPr>
              <a:t> style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usually results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unmaintainable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code.</a:t>
            </a:r>
            <a:endParaRPr sz="2450">
              <a:latin typeface="Calibri"/>
              <a:cs typeface="Calibri"/>
            </a:endParaRPr>
          </a:p>
          <a:p>
            <a:pPr marL="756285" marR="65405" lvl="1" indent="-287020">
              <a:lnSpc>
                <a:spcPct val="124900"/>
              </a:lnSpc>
              <a:spcBef>
                <a:spcPts val="200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becomes</a:t>
            </a: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very</a:t>
            </a:r>
            <a:r>
              <a:rPr sz="245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difficult</a:t>
            </a: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FF0000"/>
                </a:solidFill>
                <a:latin typeface="Calibri"/>
                <a:cs typeface="Calibri"/>
              </a:rPr>
              <a:t>use</a:t>
            </a: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 the</a:t>
            </a:r>
            <a:r>
              <a:rPr sz="245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FF0000"/>
                </a:solidFill>
                <a:latin typeface="Calibri"/>
                <a:cs typeface="Calibri"/>
              </a:rPr>
              <a:t>exploratory</a:t>
            </a:r>
            <a:r>
              <a:rPr sz="245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FF0000"/>
                </a:solidFill>
                <a:latin typeface="Calibri"/>
                <a:cs typeface="Calibri"/>
              </a:rPr>
              <a:t>style</a:t>
            </a:r>
            <a:r>
              <a:rPr sz="245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in </a:t>
            </a:r>
            <a:r>
              <a:rPr sz="2450" b="1" spc="-5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FF0000"/>
                </a:solidFill>
                <a:latin typeface="Calibri"/>
                <a:cs typeface="Calibri"/>
              </a:rPr>
              <a:t>team</a:t>
            </a:r>
            <a:r>
              <a:rPr sz="245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FF0000"/>
                </a:solidFill>
                <a:latin typeface="Calibri"/>
                <a:cs typeface="Calibri"/>
              </a:rPr>
              <a:t>development</a:t>
            </a:r>
            <a:r>
              <a:rPr sz="245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FF0000"/>
                </a:solidFill>
                <a:latin typeface="Calibri"/>
                <a:cs typeface="Calibri"/>
              </a:rPr>
              <a:t>environments…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92" y="144908"/>
            <a:ext cx="7573645" cy="155448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693545">
              <a:lnSpc>
                <a:spcPct val="100000"/>
              </a:lnSpc>
              <a:spcBef>
                <a:spcPts val="740"/>
              </a:spcBef>
            </a:pPr>
            <a:r>
              <a:rPr sz="2450" b="1" spc="-15" dirty="0">
                <a:latin typeface="Calibri"/>
                <a:cs typeface="Calibri"/>
              </a:rPr>
              <a:t>What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is </a:t>
            </a:r>
            <a:r>
              <a:rPr sz="2450" b="1" spc="-25" dirty="0">
                <a:latin typeface="Calibri"/>
                <a:cs typeface="Calibri"/>
              </a:rPr>
              <a:t>Wrong</a:t>
            </a:r>
            <a:r>
              <a:rPr sz="2450" b="1" spc="-15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with</a:t>
            </a:r>
            <a:r>
              <a:rPr sz="2450" b="1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the</a:t>
            </a:r>
            <a:r>
              <a:rPr sz="2450" b="1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Exploratory</a:t>
            </a:r>
            <a:r>
              <a:rPr sz="2450" b="1" spc="-20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Style?</a:t>
            </a:r>
            <a:r>
              <a:rPr sz="2450" b="1" spc="25" dirty="0"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0000FF"/>
                </a:solidFill>
                <a:latin typeface="Calibri"/>
                <a:cs typeface="Calibri"/>
              </a:rPr>
              <a:t>Cont…</a:t>
            </a:r>
            <a:endParaRPr sz="950">
              <a:latin typeface="Calibri"/>
              <a:cs typeface="Calibri"/>
            </a:endParaRPr>
          </a:p>
          <a:p>
            <a:pPr marL="355600" marR="1196975" indent="-342900">
              <a:lnSpc>
                <a:spcPts val="437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b="1" spc="-25" dirty="0">
                <a:solidFill>
                  <a:srgbClr val="0000FF"/>
                </a:solidFill>
                <a:latin typeface="Calibri"/>
                <a:cs typeface="Calibri"/>
              </a:rPr>
              <a:t>Why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 does the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effort</a:t>
            </a:r>
            <a:r>
              <a:rPr sz="2800" b="1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required</a:t>
            </a:r>
            <a:r>
              <a:rPr sz="28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develop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8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grow</a:t>
            </a:r>
            <a:r>
              <a:rPr sz="28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exponentially</a:t>
            </a:r>
            <a:r>
              <a:rPr sz="2800" b="1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8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FF"/>
                </a:solidFill>
                <a:latin typeface="Calibri"/>
                <a:cs typeface="Calibri"/>
              </a:rPr>
              <a:t>size?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6392" y="1823779"/>
            <a:ext cx="4072254" cy="224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3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5" dirty="0">
                <a:latin typeface="Calibri"/>
                <a:cs typeface="Calibri"/>
              </a:rPr>
              <a:t>Why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does</a:t>
            </a:r>
            <a:r>
              <a:rPr sz="2800" spc="-5" dirty="0">
                <a:latin typeface="Calibri"/>
                <a:cs typeface="Calibri"/>
              </a:rPr>
              <a:t> the </a:t>
            </a:r>
            <a:r>
              <a:rPr sz="2800" spc="-10" dirty="0">
                <a:latin typeface="Calibri"/>
                <a:cs typeface="Calibri"/>
              </a:rPr>
              <a:t>approach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completely breaks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down </a:t>
            </a:r>
            <a:r>
              <a:rPr sz="2800" spc="-5" dirty="0">
                <a:latin typeface="Calibri"/>
                <a:cs typeface="Calibri"/>
              </a:rPr>
              <a:t> when the </a:t>
            </a:r>
            <a:r>
              <a:rPr sz="2800" spc="-25" dirty="0">
                <a:latin typeface="Calibri"/>
                <a:cs typeface="Calibri"/>
              </a:rPr>
              <a:t>size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software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becomes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large?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61141" y="1729549"/>
            <a:ext cx="4206875" cy="2599055"/>
            <a:chOff x="4561141" y="1729549"/>
            <a:chExt cx="4206875" cy="2599055"/>
          </a:xfrm>
        </p:grpSpPr>
        <p:sp>
          <p:nvSpPr>
            <p:cNvPr id="5" name="object 5"/>
            <p:cNvSpPr/>
            <p:nvPr/>
          </p:nvSpPr>
          <p:spPr>
            <a:xfrm>
              <a:off x="4565903" y="1734311"/>
              <a:ext cx="4197350" cy="2589530"/>
            </a:xfrm>
            <a:custGeom>
              <a:avLst/>
              <a:gdLst/>
              <a:ahLst/>
              <a:cxnLst/>
              <a:rect l="l" t="t" r="r" b="b"/>
              <a:pathLst>
                <a:path w="4197350" h="2589529">
                  <a:moveTo>
                    <a:pt x="4197096" y="0"/>
                  </a:moveTo>
                  <a:lnTo>
                    <a:pt x="0" y="0"/>
                  </a:lnTo>
                  <a:lnTo>
                    <a:pt x="0" y="2589276"/>
                  </a:lnTo>
                  <a:lnTo>
                    <a:pt x="4197096" y="2589276"/>
                  </a:lnTo>
                  <a:lnTo>
                    <a:pt x="4197096" y="0"/>
                  </a:lnTo>
                  <a:close/>
                </a:path>
              </a:pathLst>
            </a:custGeom>
            <a:solidFill>
              <a:srgbClr val="EBF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65903" y="1734311"/>
              <a:ext cx="4197350" cy="2589530"/>
            </a:xfrm>
            <a:custGeom>
              <a:avLst/>
              <a:gdLst/>
              <a:ahLst/>
              <a:cxnLst/>
              <a:rect l="l" t="t" r="r" b="b"/>
              <a:pathLst>
                <a:path w="4197350" h="2589529">
                  <a:moveTo>
                    <a:pt x="0" y="2589276"/>
                  </a:moveTo>
                  <a:lnTo>
                    <a:pt x="4197096" y="2589276"/>
                  </a:lnTo>
                  <a:lnTo>
                    <a:pt x="4197096" y="0"/>
                  </a:lnTo>
                  <a:lnTo>
                    <a:pt x="0" y="0"/>
                  </a:lnTo>
                  <a:lnTo>
                    <a:pt x="0" y="258927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48605" y="1838705"/>
              <a:ext cx="3282950" cy="2254250"/>
            </a:xfrm>
            <a:custGeom>
              <a:avLst/>
              <a:gdLst/>
              <a:ahLst/>
              <a:cxnLst/>
              <a:rect l="l" t="t" r="r" b="b"/>
              <a:pathLst>
                <a:path w="3282950" h="2254250">
                  <a:moveTo>
                    <a:pt x="0" y="0"/>
                  </a:moveTo>
                  <a:lnTo>
                    <a:pt x="0" y="2253996"/>
                  </a:lnTo>
                </a:path>
                <a:path w="3282950" h="2254250">
                  <a:moveTo>
                    <a:pt x="0" y="2253996"/>
                  </a:moveTo>
                  <a:lnTo>
                    <a:pt x="3282696" y="2253996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56987" y="1816607"/>
              <a:ext cx="3793490" cy="2273935"/>
            </a:xfrm>
            <a:custGeom>
              <a:avLst/>
              <a:gdLst/>
              <a:ahLst/>
              <a:cxnLst/>
              <a:rect l="l" t="t" r="r" b="b"/>
              <a:pathLst>
                <a:path w="3793490" h="2273935">
                  <a:moveTo>
                    <a:pt x="0" y="2273807"/>
                  </a:moveTo>
                  <a:lnTo>
                    <a:pt x="3793236" y="0"/>
                  </a:lnTo>
                </a:path>
              </a:pathLst>
            </a:custGeom>
            <a:ln w="57912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47843" y="1816607"/>
              <a:ext cx="1287780" cy="2263140"/>
            </a:xfrm>
            <a:custGeom>
              <a:avLst/>
              <a:gdLst/>
              <a:ahLst/>
              <a:cxnLst/>
              <a:rect l="l" t="t" r="r" b="b"/>
              <a:pathLst>
                <a:path w="1287779" h="2263140">
                  <a:moveTo>
                    <a:pt x="0" y="2263140"/>
                  </a:moveTo>
                  <a:lnTo>
                    <a:pt x="36723" y="2222022"/>
                  </a:lnTo>
                  <a:lnTo>
                    <a:pt x="73394" y="2180944"/>
                  </a:lnTo>
                  <a:lnTo>
                    <a:pt x="109962" y="2139928"/>
                  </a:lnTo>
                  <a:lnTo>
                    <a:pt x="146374" y="2098994"/>
                  </a:lnTo>
                  <a:lnTo>
                    <a:pt x="182579" y="2058164"/>
                  </a:lnTo>
                  <a:lnTo>
                    <a:pt x="218525" y="2017458"/>
                  </a:lnTo>
                  <a:lnTo>
                    <a:pt x="254161" y="1976899"/>
                  </a:lnTo>
                  <a:lnTo>
                    <a:pt x="289433" y="1936506"/>
                  </a:lnTo>
                  <a:lnTo>
                    <a:pt x="324291" y="1896302"/>
                  </a:lnTo>
                  <a:lnTo>
                    <a:pt x="358683" y="1856308"/>
                  </a:lnTo>
                  <a:lnTo>
                    <a:pt x="392556" y="1816544"/>
                  </a:lnTo>
                  <a:lnTo>
                    <a:pt x="425860" y="1777032"/>
                  </a:lnTo>
                  <a:lnTo>
                    <a:pt x="458542" y="1737793"/>
                  </a:lnTo>
                  <a:lnTo>
                    <a:pt x="490551" y="1698849"/>
                  </a:lnTo>
                  <a:lnTo>
                    <a:pt x="521834" y="1660220"/>
                  </a:lnTo>
                  <a:lnTo>
                    <a:pt x="552339" y="1621927"/>
                  </a:lnTo>
                  <a:lnTo>
                    <a:pt x="582016" y="1583993"/>
                  </a:lnTo>
                  <a:lnTo>
                    <a:pt x="610812" y="1546437"/>
                  </a:lnTo>
                  <a:lnTo>
                    <a:pt x="638676" y="1509282"/>
                  </a:lnTo>
                  <a:lnTo>
                    <a:pt x="665555" y="1472548"/>
                  </a:lnTo>
                  <a:lnTo>
                    <a:pt x="691398" y="1436256"/>
                  </a:lnTo>
                  <a:lnTo>
                    <a:pt x="716152" y="1400428"/>
                  </a:lnTo>
                  <a:lnTo>
                    <a:pt x="750314" y="1348936"/>
                  </a:lnTo>
                  <a:lnTo>
                    <a:pt x="781976" y="1298755"/>
                  </a:lnTo>
                  <a:lnTo>
                    <a:pt x="811354" y="1249741"/>
                  </a:lnTo>
                  <a:lnTo>
                    <a:pt x="838664" y="1201752"/>
                  </a:lnTo>
                  <a:lnTo>
                    <a:pt x="864122" y="1154641"/>
                  </a:lnTo>
                  <a:lnTo>
                    <a:pt x="887944" y="1108266"/>
                  </a:lnTo>
                  <a:lnTo>
                    <a:pt x="910346" y="1062480"/>
                  </a:lnTo>
                  <a:lnTo>
                    <a:pt x="931545" y="1017142"/>
                  </a:lnTo>
                  <a:lnTo>
                    <a:pt x="951757" y="972105"/>
                  </a:lnTo>
                  <a:lnTo>
                    <a:pt x="971197" y="927226"/>
                  </a:lnTo>
                  <a:lnTo>
                    <a:pt x="990081" y="882361"/>
                  </a:lnTo>
                  <a:lnTo>
                    <a:pt x="1008626" y="837365"/>
                  </a:lnTo>
                  <a:lnTo>
                    <a:pt x="1027048" y="792094"/>
                  </a:lnTo>
                  <a:lnTo>
                    <a:pt x="1045563" y="746404"/>
                  </a:lnTo>
                  <a:lnTo>
                    <a:pt x="1064386" y="700150"/>
                  </a:lnTo>
                  <a:lnTo>
                    <a:pt x="1084332" y="650243"/>
                  </a:lnTo>
                  <a:lnTo>
                    <a:pt x="1103393" y="600291"/>
                  </a:lnTo>
                  <a:lnTo>
                    <a:pt x="1121637" y="550303"/>
                  </a:lnTo>
                  <a:lnTo>
                    <a:pt x="1139132" y="500285"/>
                  </a:lnTo>
                  <a:lnTo>
                    <a:pt x="1155945" y="450244"/>
                  </a:lnTo>
                  <a:lnTo>
                    <a:pt x="1172145" y="400188"/>
                  </a:lnTo>
                  <a:lnTo>
                    <a:pt x="1187799" y="350123"/>
                  </a:lnTo>
                  <a:lnTo>
                    <a:pt x="1202974" y="300055"/>
                  </a:lnTo>
                  <a:lnTo>
                    <a:pt x="1217739" y="249993"/>
                  </a:lnTo>
                  <a:lnTo>
                    <a:pt x="1232162" y="199943"/>
                  </a:lnTo>
                  <a:lnTo>
                    <a:pt x="1246309" y="149911"/>
                  </a:lnTo>
                  <a:lnTo>
                    <a:pt x="1260249" y="99906"/>
                  </a:lnTo>
                  <a:lnTo>
                    <a:pt x="1274050" y="49933"/>
                  </a:lnTo>
                  <a:lnTo>
                    <a:pt x="1287779" y="0"/>
                  </a:lnTo>
                </a:path>
              </a:pathLst>
            </a:custGeom>
            <a:ln w="57912">
              <a:solidFill>
                <a:srgbClr val="FF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47843" y="1869947"/>
              <a:ext cx="3203575" cy="2209800"/>
            </a:xfrm>
            <a:custGeom>
              <a:avLst/>
              <a:gdLst/>
              <a:ahLst/>
              <a:cxnLst/>
              <a:rect l="l" t="t" r="r" b="b"/>
              <a:pathLst>
                <a:path w="3203575" h="2209800">
                  <a:moveTo>
                    <a:pt x="0" y="2209800"/>
                  </a:moveTo>
                  <a:lnTo>
                    <a:pt x="45826" y="2181773"/>
                  </a:lnTo>
                  <a:lnTo>
                    <a:pt x="91641" y="2153756"/>
                  </a:lnTo>
                  <a:lnTo>
                    <a:pt x="137432" y="2125753"/>
                  </a:lnTo>
                  <a:lnTo>
                    <a:pt x="183187" y="2097769"/>
                  </a:lnTo>
                  <a:lnTo>
                    <a:pt x="228894" y="2069807"/>
                  </a:lnTo>
                  <a:lnTo>
                    <a:pt x="274541" y="2041872"/>
                  </a:lnTo>
                  <a:lnTo>
                    <a:pt x="320117" y="2013967"/>
                  </a:lnTo>
                  <a:lnTo>
                    <a:pt x="365608" y="1986096"/>
                  </a:lnTo>
                  <a:lnTo>
                    <a:pt x="411004" y="1958263"/>
                  </a:lnTo>
                  <a:lnTo>
                    <a:pt x="456292" y="1930473"/>
                  </a:lnTo>
                  <a:lnTo>
                    <a:pt x="501460" y="1902729"/>
                  </a:lnTo>
                  <a:lnTo>
                    <a:pt x="546496" y="1875036"/>
                  </a:lnTo>
                  <a:lnTo>
                    <a:pt x="591388" y="1847397"/>
                  </a:lnTo>
                  <a:lnTo>
                    <a:pt x="636125" y="1819816"/>
                  </a:lnTo>
                  <a:lnTo>
                    <a:pt x="680694" y="1792298"/>
                  </a:lnTo>
                  <a:lnTo>
                    <a:pt x="725084" y="1764846"/>
                  </a:lnTo>
                  <a:lnTo>
                    <a:pt x="769281" y="1737465"/>
                  </a:lnTo>
                  <a:lnTo>
                    <a:pt x="813276" y="1710158"/>
                  </a:lnTo>
                  <a:lnTo>
                    <a:pt x="857054" y="1682930"/>
                  </a:lnTo>
                  <a:lnTo>
                    <a:pt x="900605" y="1655785"/>
                  </a:lnTo>
                  <a:lnTo>
                    <a:pt x="943916" y="1628726"/>
                  </a:lnTo>
                  <a:lnTo>
                    <a:pt x="986976" y="1601757"/>
                  </a:lnTo>
                  <a:lnTo>
                    <a:pt x="1029772" y="1574883"/>
                  </a:lnTo>
                  <a:lnTo>
                    <a:pt x="1072293" y="1548108"/>
                  </a:lnTo>
                  <a:lnTo>
                    <a:pt x="1114526" y="1521435"/>
                  </a:lnTo>
                  <a:lnTo>
                    <a:pt x="1156460" y="1494869"/>
                  </a:lnTo>
                  <a:lnTo>
                    <a:pt x="1198082" y="1468414"/>
                  </a:lnTo>
                  <a:lnTo>
                    <a:pt x="1239381" y="1442073"/>
                  </a:lnTo>
                  <a:lnTo>
                    <a:pt x="1280345" y="1415851"/>
                  </a:lnTo>
                  <a:lnTo>
                    <a:pt x="1320961" y="1389752"/>
                  </a:lnTo>
                  <a:lnTo>
                    <a:pt x="1361218" y="1363779"/>
                  </a:lnTo>
                  <a:lnTo>
                    <a:pt x="1401103" y="1337938"/>
                  </a:lnTo>
                  <a:lnTo>
                    <a:pt x="1440605" y="1312230"/>
                  </a:lnTo>
                  <a:lnTo>
                    <a:pt x="1479712" y="1286662"/>
                  </a:lnTo>
                  <a:lnTo>
                    <a:pt x="1518411" y="1261237"/>
                  </a:lnTo>
                  <a:lnTo>
                    <a:pt x="1566505" y="1229467"/>
                  </a:lnTo>
                  <a:lnTo>
                    <a:pt x="1614528" y="1197564"/>
                  </a:lnTo>
                  <a:lnTo>
                    <a:pt x="1662436" y="1165562"/>
                  </a:lnTo>
                  <a:lnTo>
                    <a:pt x="1710184" y="1133499"/>
                  </a:lnTo>
                  <a:lnTo>
                    <a:pt x="1757730" y="1101409"/>
                  </a:lnTo>
                  <a:lnTo>
                    <a:pt x="1805029" y="1069327"/>
                  </a:lnTo>
                  <a:lnTo>
                    <a:pt x="1852037" y="1037290"/>
                  </a:lnTo>
                  <a:lnTo>
                    <a:pt x="1898709" y="1005333"/>
                  </a:lnTo>
                  <a:lnTo>
                    <a:pt x="1945004" y="973491"/>
                  </a:lnTo>
                  <a:lnTo>
                    <a:pt x="1990875" y="941800"/>
                  </a:lnTo>
                  <a:lnTo>
                    <a:pt x="2036280" y="910296"/>
                  </a:lnTo>
                  <a:lnTo>
                    <a:pt x="2081174" y="879015"/>
                  </a:lnTo>
                  <a:lnTo>
                    <a:pt x="2125514" y="847991"/>
                  </a:lnTo>
                  <a:lnTo>
                    <a:pt x="2169255" y="817260"/>
                  </a:lnTo>
                  <a:lnTo>
                    <a:pt x="2212353" y="786859"/>
                  </a:lnTo>
                  <a:lnTo>
                    <a:pt x="2254766" y="756822"/>
                  </a:lnTo>
                  <a:lnTo>
                    <a:pt x="2296448" y="727185"/>
                  </a:lnTo>
                  <a:lnTo>
                    <a:pt x="2337355" y="697985"/>
                  </a:lnTo>
                  <a:lnTo>
                    <a:pt x="2377445" y="669255"/>
                  </a:lnTo>
                  <a:lnTo>
                    <a:pt x="2416672" y="641032"/>
                  </a:lnTo>
                  <a:lnTo>
                    <a:pt x="2454993" y="613352"/>
                  </a:lnTo>
                  <a:lnTo>
                    <a:pt x="2492364" y="586250"/>
                  </a:lnTo>
                  <a:lnTo>
                    <a:pt x="2528741" y="559761"/>
                  </a:lnTo>
                  <a:lnTo>
                    <a:pt x="2564080" y="533922"/>
                  </a:lnTo>
                  <a:lnTo>
                    <a:pt x="2598337" y="508767"/>
                  </a:lnTo>
                  <a:lnTo>
                    <a:pt x="2631468" y="484333"/>
                  </a:lnTo>
                  <a:lnTo>
                    <a:pt x="2663430" y="460655"/>
                  </a:lnTo>
                  <a:lnTo>
                    <a:pt x="2694178" y="437769"/>
                  </a:lnTo>
                  <a:lnTo>
                    <a:pt x="2756191" y="391000"/>
                  </a:lnTo>
                  <a:lnTo>
                    <a:pt x="2812705" y="347357"/>
                  </a:lnTo>
                  <a:lnTo>
                    <a:pt x="2864181" y="306581"/>
                  </a:lnTo>
                  <a:lnTo>
                    <a:pt x="2911082" y="268415"/>
                  </a:lnTo>
                  <a:lnTo>
                    <a:pt x="2953869" y="232603"/>
                  </a:lnTo>
                  <a:lnTo>
                    <a:pt x="2993003" y="198888"/>
                  </a:lnTo>
                  <a:lnTo>
                    <a:pt x="3028946" y="167013"/>
                  </a:lnTo>
                  <a:lnTo>
                    <a:pt x="3062160" y="136720"/>
                  </a:lnTo>
                  <a:lnTo>
                    <a:pt x="3093106" y="107753"/>
                  </a:lnTo>
                  <a:lnTo>
                    <a:pt x="3122246" y="79854"/>
                  </a:lnTo>
                  <a:lnTo>
                    <a:pt x="3150042" y="52767"/>
                  </a:lnTo>
                  <a:lnTo>
                    <a:pt x="3176955" y="26234"/>
                  </a:lnTo>
                  <a:lnTo>
                    <a:pt x="3203448" y="0"/>
                  </a:lnTo>
                </a:path>
              </a:pathLst>
            </a:custGeom>
            <a:ln w="5791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800597" y="4070096"/>
            <a:ext cx="111633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Comic Sans MS"/>
                <a:cs typeface="Comic Sans MS"/>
              </a:rPr>
              <a:t>Program</a:t>
            </a:r>
            <a:r>
              <a:rPr sz="1350" b="1" spc="-35" dirty="0">
                <a:latin typeface="Comic Sans MS"/>
                <a:cs typeface="Comic Sans MS"/>
              </a:rPr>
              <a:t> </a:t>
            </a:r>
            <a:r>
              <a:rPr sz="1350" b="1" spc="-5" dirty="0">
                <a:latin typeface="Comic Sans MS"/>
                <a:cs typeface="Comic Sans MS"/>
              </a:rPr>
              <a:t>Size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3127" y="2260145"/>
            <a:ext cx="265430" cy="1564640"/>
          </a:xfrm>
          <a:prstGeom prst="rect">
            <a:avLst/>
          </a:prstGeom>
        </p:spPr>
        <p:txBody>
          <a:bodyPr vert="vert270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350" b="1" spc="-5" dirty="0">
                <a:latin typeface="Comic Sans MS"/>
                <a:cs typeface="Comic Sans MS"/>
              </a:rPr>
              <a:t>Effort,</a:t>
            </a:r>
            <a:r>
              <a:rPr sz="1350" b="1" spc="-20" dirty="0">
                <a:latin typeface="Comic Sans MS"/>
                <a:cs typeface="Comic Sans MS"/>
              </a:rPr>
              <a:t> </a:t>
            </a:r>
            <a:r>
              <a:rPr sz="1350" b="1" spc="-5" dirty="0">
                <a:latin typeface="Comic Sans MS"/>
                <a:cs typeface="Comic Sans MS"/>
              </a:rPr>
              <a:t>time,</a:t>
            </a:r>
            <a:r>
              <a:rPr sz="1350" b="1" spc="-20" dirty="0">
                <a:latin typeface="Comic Sans MS"/>
                <a:cs typeface="Comic Sans MS"/>
              </a:rPr>
              <a:t> </a:t>
            </a:r>
            <a:r>
              <a:rPr sz="1350" b="1" dirty="0">
                <a:latin typeface="Comic Sans MS"/>
                <a:cs typeface="Comic Sans MS"/>
              </a:rPr>
              <a:t>cost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24221" y="1883664"/>
            <a:ext cx="2867660" cy="2397760"/>
            <a:chOff x="4824221" y="1883664"/>
            <a:chExt cx="2867660" cy="2397760"/>
          </a:xfrm>
        </p:grpSpPr>
        <p:sp>
          <p:nvSpPr>
            <p:cNvPr id="14" name="object 14"/>
            <p:cNvSpPr/>
            <p:nvPr/>
          </p:nvSpPr>
          <p:spPr>
            <a:xfrm>
              <a:off x="4824222" y="2040635"/>
              <a:ext cx="2867660" cy="2240280"/>
            </a:xfrm>
            <a:custGeom>
              <a:avLst/>
              <a:gdLst/>
              <a:ahLst/>
              <a:cxnLst/>
              <a:rect l="l" t="t" r="r" b="b"/>
              <a:pathLst>
                <a:path w="2867659" h="2240279">
                  <a:moveTo>
                    <a:pt x="173736" y="174117"/>
                  </a:moveTo>
                  <a:lnTo>
                    <a:pt x="159156" y="144653"/>
                  </a:lnTo>
                  <a:lnTo>
                    <a:pt x="87630" y="0"/>
                  </a:lnTo>
                  <a:lnTo>
                    <a:pt x="0" y="173355"/>
                  </a:lnTo>
                  <a:lnTo>
                    <a:pt x="57912" y="173621"/>
                  </a:lnTo>
                  <a:lnTo>
                    <a:pt x="57150" y="362585"/>
                  </a:lnTo>
                  <a:lnTo>
                    <a:pt x="115062" y="362839"/>
                  </a:lnTo>
                  <a:lnTo>
                    <a:pt x="115824" y="173875"/>
                  </a:lnTo>
                  <a:lnTo>
                    <a:pt x="173736" y="174117"/>
                  </a:lnTo>
                  <a:close/>
                </a:path>
                <a:path w="2867659" h="2240279">
                  <a:moveTo>
                    <a:pt x="2867406" y="2153412"/>
                  </a:moveTo>
                  <a:lnTo>
                    <a:pt x="2809494" y="2124456"/>
                  </a:lnTo>
                  <a:lnTo>
                    <a:pt x="2693670" y="2066544"/>
                  </a:lnTo>
                  <a:lnTo>
                    <a:pt x="2693670" y="2124456"/>
                  </a:lnTo>
                  <a:lnTo>
                    <a:pt x="2465070" y="2124456"/>
                  </a:lnTo>
                  <a:lnTo>
                    <a:pt x="2465070" y="2182368"/>
                  </a:lnTo>
                  <a:lnTo>
                    <a:pt x="2693670" y="2182368"/>
                  </a:lnTo>
                  <a:lnTo>
                    <a:pt x="2693670" y="2240280"/>
                  </a:lnTo>
                  <a:lnTo>
                    <a:pt x="2809494" y="2182368"/>
                  </a:lnTo>
                  <a:lnTo>
                    <a:pt x="2867406" y="2153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44005" y="1902714"/>
              <a:ext cx="50800" cy="2125980"/>
            </a:xfrm>
            <a:custGeom>
              <a:avLst/>
              <a:gdLst/>
              <a:ahLst/>
              <a:cxnLst/>
              <a:rect l="l" t="t" r="r" b="b"/>
              <a:pathLst>
                <a:path w="50800" h="2125979">
                  <a:moveTo>
                    <a:pt x="0" y="0"/>
                  </a:moveTo>
                  <a:lnTo>
                    <a:pt x="50800" y="2125662"/>
                  </a:lnTo>
                </a:path>
              </a:pathLst>
            </a:custGeom>
            <a:ln w="38100">
              <a:solidFill>
                <a:srgbClr val="4F81BC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83123" y="2057145"/>
            <a:ext cx="887730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200" b="1" spc="10" dirty="0">
                <a:solidFill>
                  <a:srgbClr val="FF0066"/>
                </a:solidFill>
                <a:latin typeface="Comic Sans MS"/>
                <a:cs typeface="Comic Sans MS"/>
              </a:rPr>
              <a:t>Ex</a:t>
            </a:r>
            <a:r>
              <a:rPr sz="1200" b="1" spc="15" dirty="0">
                <a:solidFill>
                  <a:srgbClr val="FF0066"/>
                </a:solidFill>
                <a:latin typeface="Comic Sans MS"/>
                <a:cs typeface="Comic Sans MS"/>
              </a:rPr>
              <a:t>p</a:t>
            </a:r>
            <a:r>
              <a:rPr sz="1200" b="1" spc="5" dirty="0">
                <a:solidFill>
                  <a:srgbClr val="FF0066"/>
                </a:solidFill>
                <a:latin typeface="Comic Sans MS"/>
                <a:cs typeface="Comic Sans MS"/>
              </a:rPr>
              <a:t>lor</a:t>
            </a:r>
            <a:r>
              <a:rPr sz="1200" b="1" spc="10" dirty="0">
                <a:solidFill>
                  <a:srgbClr val="FF0066"/>
                </a:solidFill>
                <a:latin typeface="Comic Sans MS"/>
                <a:cs typeface="Comic Sans MS"/>
              </a:rPr>
              <a:t>a</a:t>
            </a:r>
            <a:r>
              <a:rPr sz="1200" b="1" spc="5" dirty="0">
                <a:solidFill>
                  <a:srgbClr val="FF0066"/>
                </a:solidFill>
                <a:latin typeface="Comic Sans MS"/>
                <a:cs typeface="Comic Sans MS"/>
              </a:rPr>
              <a:t>t</a:t>
            </a:r>
            <a:r>
              <a:rPr sz="1200" b="1" spc="10" dirty="0">
                <a:solidFill>
                  <a:srgbClr val="FF0066"/>
                </a:solidFill>
                <a:latin typeface="Comic Sans MS"/>
                <a:cs typeface="Comic Sans MS"/>
              </a:rPr>
              <a:t>o</a:t>
            </a:r>
            <a:r>
              <a:rPr sz="1200" b="1" spc="5" dirty="0">
                <a:solidFill>
                  <a:srgbClr val="FF0066"/>
                </a:solidFill>
                <a:latin typeface="Comic Sans MS"/>
                <a:cs typeface="Comic Sans MS"/>
              </a:rPr>
              <a:t>ry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6660133" y="1792985"/>
            <a:ext cx="855980" cy="39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1699"/>
              </a:lnSpc>
              <a:spcBef>
                <a:spcPts val="100"/>
              </a:spcBef>
            </a:pPr>
            <a:r>
              <a:rPr sz="1200" b="1" spc="10" dirty="0">
                <a:solidFill>
                  <a:srgbClr val="0000FF"/>
                </a:solidFill>
                <a:latin typeface="Comic Sans MS"/>
                <a:cs typeface="Comic Sans MS"/>
              </a:rPr>
              <a:t>Software </a:t>
            </a:r>
            <a:r>
              <a:rPr sz="1200" b="1" spc="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200" b="1" spc="10" dirty="0">
                <a:solidFill>
                  <a:srgbClr val="0000FF"/>
                </a:solidFill>
                <a:latin typeface="Comic Sans MS"/>
                <a:cs typeface="Comic Sans MS"/>
              </a:rPr>
              <a:t>Engineering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18502" y="2561285"/>
            <a:ext cx="683895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b="1" spc="5" dirty="0">
                <a:solidFill>
                  <a:srgbClr val="003300"/>
                </a:solidFill>
                <a:latin typeface="Comic Sans MS"/>
                <a:cs typeface="Comic Sans MS"/>
              </a:rPr>
              <a:t>Mac</a:t>
            </a:r>
            <a:r>
              <a:rPr sz="1350" b="1" spc="-10" dirty="0">
                <a:solidFill>
                  <a:srgbClr val="003300"/>
                </a:solidFill>
                <a:latin typeface="Comic Sans MS"/>
                <a:cs typeface="Comic Sans MS"/>
              </a:rPr>
              <a:t>h</a:t>
            </a:r>
            <a:r>
              <a:rPr sz="1350" b="1" spc="-5" dirty="0">
                <a:solidFill>
                  <a:srgbClr val="003300"/>
                </a:solidFill>
                <a:latin typeface="Comic Sans MS"/>
                <a:cs typeface="Comic Sans MS"/>
              </a:rPr>
              <a:t>ine</a:t>
            </a:r>
            <a:endParaRPr sz="1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41" y="152135"/>
            <a:ext cx="8395970" cy="414655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32080" algn="ctr">
              <a:lnSpc>
                <a:spcPct val="100000"/>
              </a:lnSpc>
              <a:spcBef>
                <a:spcPts val="685"/>
              </a:spcBef>
            </a:pPr>
            <a:r>
              <a:rPr sz="2450" b="1" spc="-15" dirty="0">
                <a:latin typeface="Calibri"/>
                <a:cs typeface="Calibri"/>
              </a:rPr>
              <a:t>What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is</a:t>
            </a:r>
            <a:r>
              <a:rPr sz="2450" b="1" spc="-10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the</a:t>
            </a:r>
            <a:r>
              <a:rPr sz="2450" b="1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Implication</a:t>
            </a:r>
            <a:r>
              <a:rPr sz="2450" b="1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in</a:t>
            </a:r>
            <a:r>
              <a:rPr sz="2450" b="1" spc="-15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Program</a:t>
            </a:r>
            <a:r>
              <a:rPr sz="2450" b="1" spc="-35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Development?</a:t>
            </a:r>
            <a:endParaRPr sz="24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small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program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having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just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few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variables: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23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within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easy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grasp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individual.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20000"/>
              </a:lnSpc>
              <a:spcBef>
                <a:spcPts val="15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independent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variables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program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increases:</a:t>
            </a:r>
            <a:endParaRPr sz="2800">
              <a:latin typeface="Calibri"/>
              <a:cs typeface="Calibri"/>
            </a:endParaRPr>
          </a:p>
          <a:p>
            <a:pPr marL="824865" lvl="1" indent="-355600">
              <a:lnSpc>
                <a:spcPct val="100000"/>
              </a:lnSpc>
              <a:spcBef>
                <a:spcPts val="2240"/>
              </a:spcBef>
              <a:buClr>
                <a:srgbClr val="000000"/>
              </a:buClr>
              <a:buFont typeface="Arial MT"/>
              <a:buChar char="–"/>
              <a:tabLst>
                <a:tab pos="824865" algn="l"/>
                <a:tab pos="825500" algn="l"/>
              </a:tabLst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It</a:t>
            </a:r>
            <a:r>
              <a:rPr sz="24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quickly </a:t>
            </a:r>
            <a:r>
              <a:rPr sz="2400" b="1" spc="-15" dirty="0">
                <a:solidFill>
                  <a:srgbClr val="0000FF"/>
                </a:solidFill>
                <a:latin typeface="Calibri"/>
                <a:cs typeface="Calibri"/>
              </a:rPr>
              <a:t>exceeds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grasping power</a:t>
            </a:r>
            <a:r>
              <a:rPr sz="24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of an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individual…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1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b="1" spc="-15" dirty="0">
                <a:solidFill>
                  <a:srgbClr val="0000FF"/>
                </a:solidFill>
                <a:latin typeface="Calibri"/>
                <a:cs typeface="Calibri"/>
              </a:rPr>
              <a:t>Requires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an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unduly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large</a:t>
            </a:r>
            <a:r>
              <a:rPr sz="24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effort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master</a:t>
            </a:r>
            <a:r>
              <a:rPr sz="24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problem</a:t>
            </a:r>
            <a:r>
              <a:rPr sz="2400" b="1" spc="-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4025" y="295402"/>
            <a:ext cx="5454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Implication</a:t>
            </a:r>
            <a:r>
              <a:rPr sz="2800" spc="-15" dirty="0"/>
              <a:t> </a:t>
            </a:r>
            <a:r>
              <a:rPr sz="2800" spc="-5" dirty="0"/>
              <a:t>in</a:t>
            </a:r>
            <a:r>
              <a:rPr sz="2800" spc="5" dirty="0"/>
              <a:t> </a:t>
            </a:r>
            <a:r>
              <a:rPr sz="2800" spc="-20" dirty="0"/>
              <a:t>Program</a:t>
            </a:r>
            <a:r>
              <a:rPr sz="2800" spc="10" dirty="0"/>
              <a:t> </a:t>
            </a:r>
            <a:r>
              <a:rPr sz="2800" spc="-15" dirty="0"/>
              <a:t>Development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7391" y="725881"/>
            <a:ext cx="8422640" cy="354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255" indent="-342900">
              <a:lnSpc>
                <a:spcPct val="12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spc="-10" dirty="0">
                <a:latin typeface="Calibri"/>
                <a:cs typeface="Calibri"/>
              </a:rPr>
              <a:t>Instead</a:t>
            </a:r>
            <a:r>
              <a:rPr sz="2450" spc="-5" dirty="0">
                <a:latin typeface="Calibri"/>
                <a:cs typeface="Calibri"/>
              </a:rPr>
              <a:t> of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spc="-10" dirty="0">
                <a:latin typeface="Calibri"/>
                <a:cs typeface="Calibri"/>
              </a:rPr>
              <a:t>human,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if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machine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could</a:t>
            </a:r>
            <a:r>
              <a:rPr sz="2450" spc="-5" dirty="0">
                <a:latin typeface="Calibri"/>
                <a:cs typeface="Calibri"/>
              </a:rPr>
              <a:t> be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writing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(generating)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program,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slope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of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the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curve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would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be </a:t>
            </a:r>
            <a:r>
              <a:rPr sz="2150" spc="-25" dirty="0">
                <a:latin typeface="Calibri"/>
                <a:cs typeface="Calibri"/>
              </a:rPr>
              <a:t>linear.</a:t>
            </a:r>
            <a:endParaRPr sz="2150">
              <a:latin typeface="Calibri"/>
              <a:cs typeface="Calibri"/>
            </a:endParaRPr>
          </a:p>
          <a:p>
            <a:pPr marL="355600" marR="5080" indent="-342900">
              <a:lnSpc>
                <a:spcPct val="120000"/>
              </a:lnSpc>
              <a:spcBef>
                <a:spcPts val="1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50" spc="-5" dirty="0">
                <a:latin typeface="Calibri"/>
                <a:cs typeface="Calibri"/>
              </a:rPr>
              <a:t>But,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how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does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use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software</a:t>
            </a:r>
            <a:r>
              <a:rPr sz="2450" spc="-5" dirty="0">
                <a:latin typeface="Calibri"/>
                <a:cs typeface="Calibri"/>
              </a:rPr>
              <a:t> engineering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principles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helps hold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down the </a:t>
            </a:r>
            <a:r>
              <a:rPr sz="2450" spc="-20" dirty="0">
                <a:latin typeface="Calibri"/>
                <a:cs typeface="Calibri"/>
              </a:rPr>
              <a:t>effort-size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curve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to </a:t>
            </a:r>
            <a:r>
              <a:rPr sz="2450" spc="-5" dirty="0">
                <a:latin typeface="Calibri"/>
                <a:cs typeface="Calibri"/>
              </a:rPr>
              <a:t>be almost linear?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8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150" b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engineering</a:t>
            </a:r>
            <a:r>
              <a:rPr sz="2150" b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principles</a:t>
            </a:r>
            <a:r>
              <a:rPr sz="215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extensively</a:t>
            </a:r>
            <a:r>
              <a:rPr sz="215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use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techniques</a:t>
            </a:r>
            <a:endParaRPr sz="21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50"/>
              </a:spcBef>
            </a:pP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specifically</a:t>
            </a:r>
            <a:r>
              <a:rPr sz="2150" b="1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0000FF"/>
                </a:solidFill>
                <a:latin typeface="Calibri"/>
                <a:cs typeface="Calibri"/>
              </a:rPr>
              <a:t>targeted</a:t>
            </a:r>
            <a:r>
              <a:rPr sz="215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overcome</a:t>
            </a:r>
            <a:r>
              <a:rPr sz="2150" b="1" spc="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the human</a:t>
            </a: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 cognitive</a:t>
            </a:r>
            <a:r>
              <a:rPr sz="2150" b="1" spc="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limitations.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990"/>
            <a:ext cx="7428865" cy="369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 marR="5080" indent="-20320">
              <a:lnSpc>
                <a:spcPct val="108600"/>
              </a:lnSpc>
              <a:spcBef>
                <a:spcPts val="100"/>
              </a:spcBef>
            </a:pPr>
            <a:r>
              <a:rPr sz="2450" b="1" spc="-10" dirty="0">
                <a:latin typeface="Calibri"/>
                <a:cs typeface="Calibri"/>
              </a:rPr>
              <a:t>Which</a:t>
            </a:r>
            <a:r>
              <a:rPr sz="2450" b="1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Principles</a:t>
            </a:r>
            <a:r>
              <a:rPr sz="2450" b="1" spc="20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are</a:t>
            </a:r>
            <a:r>
              <a:rPr sz="2450" b="1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Deployed </a:t>
            </a:r>
            <a:r>
              <a:rPr sz="2450" b="1" spc="-15" dirty="0">
                <a:latin typeface="Calibri"/>
                <a:cs typeface="Calibri"/>
              </a:rPr>
              <a:t>by</a:t>
            </a:r>
            <a:r>
              <a:rPr sz="2450" b="1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Software</a:t>
            </a:r>
            <a:r>
              <a:rPr sz="2450" b="1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Engineering </a:t>
            </a:r>
            <a:r>
              <a:rPr sz="2450" b="1" spc="-540" dirty="0">
                <a:latin typeface="Calibri"/>
                <a:cs typeface="Calibri"/>
              </a:rPr>
              <a:t> </a:t>
            </a:r>
            <a:r>
              <a:rPr sz="2450" b="1" spc="-30" dirty="0">
                <a:latin typeface="Calibri"/>
                <a:cs typeface="Calibri"/>
              </a:rPr>
              <a:t>Techniques</a:t>
            </a:r>
            <a:r>
              <a:rPr sz="2450" b="1" spc="35" dirty="0">
                <a:latin typeface="Calibri"/>
                <a:cs typeface="Calibri"/>
              </a:rPr>
              <a:t> </a:t>
            </a:r>
            <a:r>
              <a:rPr sz="2450" b="1" spc="-15" dirty="0">
                <a:latin typeface="Calibri"/>
                <a:cs typeface="Calibri"/>
              </a:rPr>
              <a:t>to</a:t>
            </a:r>
            <a:r>
              <a:rPr sz="2450" b="1" dirty="0">
                <a:latin typeface="Calibri"/>
                <a:cs typeface="Calibri"/>
              </a:rPr>
              <a:t> </a:t>
            </a:r>
            <a:r>
              <a:rPr sz="2450" b="1" spc="-15" dirty="0">
                <a:latin typeface="Calibri"/>
                <a:cs typeface="Calibri"/>
              </a:rPr>
              <a:t>Overcome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Human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Cognitive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Limitations?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Calibri"/>
              <a:cs typeface="Calibri"/>
            </a:endParaRPr>
          </a:p>
          <a:p>
            <a:pPr marL="355600" marR="563880" indent="-343535">
              <a:lnSpc>
                <a:spcPct val="115399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50" spc="-50" dirty="0">
                <a:latin typeface="Calibri"/>
                <a:cs typeface="Calibri"/>
              </a:rPr>
              <a:t>Two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important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principles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are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profusely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used:</a:t>
            </a:r>
            <a:endParaRPr sz="32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70"/>
              </a:spcBef>
              <a:buFont typeface="Arial MT"/>
              <a:buChar char="–"/>
              <a:tabLst>
                <a:tab pos="756920" algn="l"/>
              </a:tabLst>
            </a:pP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Abstraction</a:t>
            </a:r>
            <a:endParaRPr sz="3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850"/>
              </a:spcBef>
              <a:buFont typeface="Arial MT"/>
              <a:buChar char="–"/>
              <a:tabLst>
                <a:tab pos="756920" algn="l"/>
              </a:tabLst>
            </a:pP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Decomposition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1200911"/>
            <a:ext cx="5334000" cy="21520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24154" rIns="0" bIns="0" rtlCol="0">
            <a:spAutoFit/>
          </a:bodyPr>
          <a:lstStyle/>
          <a:p>
            <a:pPr marL="630555" marR="626110" indent="2540" algn="ctr">
              <a:lnSpc>
                <a:spcPct val="100000"/>
              </a:lnSpc>
              <a:spcBef>
                <a:spcPts val="1764"/>
              </a:spcBef>
            </a:pPr>
            <a:r>
              <a:rPr sz="3600" spc="-45" dirty="0"/>
              <a:t>Two</a:t>
            </a:r>
            <a:r>
              <a:rPr sz="3600" spc="-10" dirty="0"/>
              <a:t> Fundamental </a:t>
            </a:r>
            <a:r>
              <a:rPr sz="3600" spc="-5" dirty="0"/>
              <a:t> </a:t>
            </a:r>
            <a:r>
              <a:rPr sz="3600" spc="-35" dirty="0"/>
              <a:t>Techniques </a:t>
            </a:r>
            <a:r>
              <a:rPr sz="3600" spc="-20" dirty="0"/>
              <a:t>to </a:t>
            </a:r>
            <a:r>
              <a:rPr sz="3600" dirty="0"/>
              <a:t>Handle </a:t>
            </a:r>
            <a:r>
              <a:rPr sz="3600" spc="-800" dirty="0"/>
              <a:t> </a:t>
            </a:r>
            <a:r>
              <a:rPr sz="3600" spc="-15" dirty="0"/>
              <a:t>Complexity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7805" y="247649"/>
            <a:ext cx="4401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What</a:t>
            </a:r>
            <a:r>
              <a:rPr spc="-25" dirty="0"/>
              <a:t> </a:t>
            </a:r>
            <a:r>
              <a:rPr spc="-5" dirty="0"/>
              <a:t>is</a:t>
            </a:r>
            <a:r>
              <a:rPr spc="-15" dirty="0"/>
              <a:t> </a:t>
            </a:r>
            <a:r>
              <a:rPr spc="-20" dirty="0"/>
              <a:t>Abstraction?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3616" y="925233"/>
            <a:ext cx="8732520" cy="3164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014730" indent="-342900">
              <a:lnSpc>
                <a:spcPct val="1207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50" dirty="0">
                <a:latin typeface="Calibri"/>
                <a:cs typeface="Calibri"/>
              </a:rPr>
              <a:t>Simplify </a:t>
            </a:r>
            <a:r>
              <a:rPr sz="3250" spc="5" dirty="0">
                <a:latin typeface="Calibri"/>
                <a:cs typeface="Calibri"/>
              </a:rPr>
              <a:t>a </a:t>
            </a:r>
            <a:r>
              <a:rPr sz="3250" spc="-5" dirty="0">
                <a:latin typeface="Calibri"/>
                <a:cs typeface="Calibri"/>
              </a:rPr>
              <a:t>problem </a:t>
            </a:r>
            <a:r>
              <a:rPr sz="3250" spc="5" dirty="0">
                <a:latin typeface="Calibri"/>
                <a:cs typeface="Calibri"/>
              </a:rPr>
              <a:t>by </a:t>
            </a:r>
            <a:r>
              <a:rPr sz="3250" spc="-5" dirty="0">
                <a:latin typeface="Calibri"/>
                <a:cs typeface="Calibri"/>
              </a:rPr>
              <a:t>omitting </a:t>
            </a:r>
            <a:r>
              <a:rPr sz="3250" dirty="0">
                <a:latin typeface="Calibri"/>
                <a:cs typeface="Calibri"/>
              </a:rPr>
              <a:t>unnecessary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details.</a:t>
            </a:r>
            <a:endParaRPr sz="3250">
              <a:latin typeface="Calibri"/>
              <a:cs typeface="Calibri"/>
            </a:endParaRPr>
          </a:p>
          <a:p>
            <a:pPr marL="756285" marR="5080" lvl="1" indent="-287020">
              <a:lnSpc>
                <a:spcPct val="119800"/>
              </a:lnSpc>
              <a:spcBef>
                <a:spcPts val="1205"/>
              </a:spcBef>
              <a:buFont typeface="Arial MT"/>
              <a:buChar char="–"/>
              <a:tabLst>
                <a:tab pos="756920" algn="l"/>
              </a:tabLst>
            </a:pP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Focus </a:t>
            </a:r>
            <a:r>
              <a:rPr sz="3000" b="1" spc="-20" dirty="0">
                <a:solidFill>
                  <a:srgbClr val="0000FF"/>
                </a:solidFill>
                <a:latin typeface="Calibri"/>
                <a:cs typeface="Calibri"/>
              </a:rPr>
              <a:t>attention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on 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only one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aspect of the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problem </a:t>
            </a:r>
            <a:r>
              <a:rPr sz="3000" b="1" spc="-6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ignore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other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aspects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irrelevant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details.</a:t>
            </a:r>
            <a:endParaRPr sz="3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875"/>
              </a:spcBef>
              <a:buFont typeface="Arial MT"/>
              <a:buChar char="–"/>
              <a:tabLst>
                <a:tab pos="756920" algn="l"/>
              </a:tabLst>
            </a:pPr>
            <a:r>
              <a:rPr sz="3000" dirty="0">
                <a:solidFill>
                  <a:srgbClr val="003300"/>
                </a:solidFill>
                <a:latin typeface="Calibri"/>
                <a:cs typeface="Calibri"/>
              </a:rPr>
              <a:t>Also</a:t>
            </a:r>
            <a:r>
              <a:rPr sz="3000" spc="-30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3300"/>
                </a:solidFill>
                <a:latin typeface="Calibri"/>
                <a:cs typeface="Calibri"/>
              </a:rPr>
              <a:t>called</a:t>
            </a:r>
            <a:r>
              <a:rPr sz="3000" spc="-25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3300"/>
                </a:solidFill>
                <a:latin typeface="Calibri"/>
                <a:cs typeface="Calibri"/>
              </a:rPr>
              <a:t>model</a:t>
            </a:r>
            <a:r>
              <a:rPr sz="3000" spc="-35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3300"/>
                </a:solidFill>
                <a:latin typeface="Calibri"/>
                <a:cs typeface="Calibri"/>
              </a:rPr>
              <a:t>building.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0300" y="1124711"/>
            <a:ext cx="2819400" cy="853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5400" rIns="0" bIns="0" rtlCol="0">
            <a:spAutoFit/>
          </a:bodyPr>
          <a:lstStyle/>
          <a:p>
            <a:pPr marL="806450" marR="581660" indent="-216535">
              <a:lnSpc>
                <a:spcPts val="3050"/>
              </a:lnSpc>
              <a:spcBef>
                <a:spcPts val="200"/>
              </a:spcBef>
            </a:pPr>
            <a:r>
              <a:rPr sz="2700" b="1" dirty="0">
                <a:latin typeface="Calibri"/>
                <a:cs typeface="Calibri"/>
              </a:rPr>
              <a:t>A</a:t>
            </a:r>
            <a:r>
              <a:rPr sz="2700" b="1" spc="-15" dirty="0">
                <a:latin typeface="Calibri"/>
                <a:cs typeface="Calibri"/>
              </a:rPr>
              <a:t>b</a:t>
            </a:r>
            <a:r>
              <a:rPr sz="2700" b="1" spc="-35" dirty="0">
                <a:latin typeface="Calibri"/>
                <a:cs typeface="Calibri"/>
              </a:rPr>
              <a:t>s</a:t>
            </a:r>
            <a:r>
              <a:rPr sz="2700" b="1" dirty="0">
                <a:latin typeface="Calibri"/>
                <a:cs typeface="Calibri"/>
              </a:rPr>
              <a:t>t</a:t>
            </a:r>
            <a:r>
              <a:rPr sz="2700" b="1" spc="-60" dirty="0">
                <a:latin typeface="Calibri"/>
                <a:cs typeface="Calibri"/>
              </a:rPr>
              <a:t>r</a:t>
            </a:r>
            <a:r>
              <a:rPr sz="2700" b="1" dirty="0">
                <a:latin typeface="Calibri"/>
                <a:cs typeface="Calibri"/>
              </a:rPr>
              <a:t>acti</a:t>
            </a:r>
            <a:r>
              <a:rPr sz="2700" b="1" spc="-10" dirty="0">
                <a:latin typeface="Calibri"/>
                <a:cs typeface="Calibri"/>
              </a:rPr>
              <a:t>o</a:t>
            </a:r>
            <a:r>
              <a:rPr sz="2700" b="1" dirty="0">
                <a:latin typeface="Calibri"/>
                <a:cs typeface="Calibri"/>
              </a:rPr>
              <a:t>n  </a:t>
            </a:r>
            <a:r>
              <a:rPr sz="2700" b="1" spc="-5" dirty="0">
                <a:latin typeface="Calibri"/>
                <a:cs typeface="Calibri"/>
              </a:rPr>
              <a:t>Example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668" y="480136"/>
            <a:ext cx="72053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Suppose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you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are </a:t>
            </a:r>
            <a:r>
              <a:rPr sz="3000" spc="-20" dirty="0">
                <a:latin typeface="Calibri"/>
                <a:cs typeface="Calibri"/>
              </a:rPr>
              <a:t>asked</a:t>
            </a:r>
            <a:r>
              <a:rPr sz="3000" spc="-15" dirty="0">
                <a:latin typeface="Calibri"/>
                <a:cs typeface="Calibri"/>
              </a:rPr>
              <a:t> to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develop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overall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568" y="764393"/>
            <a:ext cx="4932680" cy="1349375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sz="3000" spc="-15" dirty="0">
                <a:latin typeface="Calibri"/>
                <a:cs typeface="Calibri"/>
              </a:rPr>
              <a:t>understanding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some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country.</a:t>
            </a:r>
            <a:endParaRPr sz="3000">
              <a:latin typeface="Calibri"/>
              <a:cs typeface="Calibri"/>
            </a:endParaRPr>
          </a:p>
          <a:p>
            <a:pPr marL="127000">
              <a:lnSpc>
                <a:spcPct val="100000"/>
              </a:lnSpc>
              <a:spcBef>
                <a:spcPts val="1714"/>
              </a:spcBef>
            </a:pPr>
            <a:r>
              <a:rPr sz="2700" spc="10" dirty="0">
                <a:latin typeface="Arial MT"/>
                <a:cs typeface="Arial MT"/>
              </a:rPr>
              <a:t>–</a:t>
            </a:r>
            <a:r>
              <a:rPr sz="2700" spc="-40" dirty="0">
                <a:latin typeface="Arial MT"/>
                <a:cs typeface="Arial MT"/>
              </a:rPr>
              <a:t> </a:t>
            </a:r>
            <a:r>
              <a:rPr sz="2700" spc="-15" dirty="0">
                <a:latin typeface="Calibri"/>
                <a:cs typeface="Calibri"/>
              </a:rPr>
              <a:t>Would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you: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1868" y="2244396"/>
            <a:ext cx="8250555" cy="1929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0" marR="286385" indent="-228600">
              <a:lnSpc>
                <a:spcPct val="114300"/>
              </a:lnSpc>
              <a:spcBef>
                <a:spcPts val="95"/>
              </a:spcBef>
              <a:buFont typeface="Arial MT"/>
              <a:buChar char="•"/>
              <a:tabLst>
                <a:tab pos="698500" algn="l"/>
              </a:tabLst>
            </a:pP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Meet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all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citizens</a:t>
            </a:r>
            <a:r>
              <a:rPr sz="245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0000FF"/>
                </a:solidFill>
                <a:latin typeface="Calibri"/>
                <a:cs typeface="Calibri"/>
              </a:rPr>
              <a:t>country,</a:t>
            </a:r>
            <a:r>
              <a:rPr sz="245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visit</a:t>
            </a:r>
            <a:r>
              <a:rPr sz="245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every</a:t>
            </a:r>
            <a:r>
              <a:rPr sz="245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house,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sz="2450" spc="-5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00FF"/>
                </a:solidFill>
                <a:latin typeface="Calibri"/>
                <a:cs typeface="Calibri"/>
              </a:rPr>
              <a:t>examine</a:t>
            </a:r>
            <a:r>
              <a:rPr sz="245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every</a:t>
            </a:r>
            <a:r>
              <a:rPr sz="245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00FF"/>
                </a:solidFill>
                <a:latin typeface="Calibri"/>
                <a:cs typeface="Calibri"/>
              </a:rPr>
              <a:t>tree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of the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country?</a:t>
            </a:r>
            <a:endParaRPr sz="2450">
              <a:latin typeface="Calibri"/>
              <a:cs typeface="Calibri"/>
            </a:endParaRPr>
          </a:p>
          <a:p>
            <a:pPr marL="299085" marR="5080" indent="-287020">
              <a:lnSpc>
                <a:spcPct val="113999"/>
              </a:lnSpc>
              <a:spcBef>
                <a:spcPts val="1185"/>
              </a:spcBef>
            </a:pPr>
            <a:r>
              <a:rPr sz="2700" spc="10" dirty="0">
                <a:solidFill>
                  <a:srgbClr val="0000FF"/>
                </a:solidFill>
                <a:latin typeface="Arial MT"/>
                <a:cs typeface="Arial MT"/>
              </a:rPr>
              <a:t>– </a:t>
            </a:r>
            <a:r>
              <a:rPr sz="2700" spc="-60" dirty="0">
                <a:solidFill>
                  <a:srgbClr val="0000FF"/>
                </a:solidFill>
                <a:latin typeface="Calibri"/>
                <a:cs typeface="Calibri"/>
              </a:rPr>
              <a:t>You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would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possibly </a:t>
            </a:r>
            <a:r>
              <a:rPr sz="2700" spc="-20" dirty="0">
                <a:solidFill>
                  <a:srgbClr val="0000FF"/>
                </a:solidFill>
                <a:latin typeface="Calibri"/>
                <a:cs typeface="Calibri"/>
              </a:rPr>
              <a:t>refer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various 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types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of maps </a:t>
            </a:r>
            <a:r>
              <a:rPr sz="2450" spc="-25" dirty="0">
                <a:solidFill>
                  <a:srgbClr val="0000FF"/>
                </a:solidFill>
                <a:latin typeface="Calibri"/>
                <a:cs typeface="Calibri"/>
              </a:rPr>
              <a:t>for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that </a:t>
            </a:r>
            <a:r>
              <a:rPr sz="2450" spc="-5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country</a:t>
            </a:r>
            <a:r>
              <a:rPr sz="245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0000FF"/>
                </a:solidFill>
                <a:latin typeface="Calibri"/>
                <a:cs typeface="Calibri"/>
              </a:rPr>
              <a:t>only.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726" y="207340"/>
            <a:ext cx="528701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80" dirty="0"/>
              <a:t>You</a:t>
            </a:r>
            <a:r>
              <a:rPr sz="3000" spc="-25" dirty="0"/>
              <a:t> </a:t>
            </a:r>
            <a:r>
              <a:rPr sz="3000" spc="-10" dirty="0"/>
              <a:t>would</a:t>
            </a:r>
            <a:r>
              <a:rPr sz="3000" spc="-25" dirty="0"/>
              <a:t> </a:t>
            </a:r>
            <a:r>
              <a:rPr sz="3000" spc="-5" dirty="0"/>
              <a:t>study</a:t>
            </a:r>
            <a:r>
              <a:rPr sz="3000" spc="-25" dirty="0"/>
              <a:t> </a:t>
            </a:r>
            <a:r>
              <a:rPr sz="3000" dirty="0"/>
              <a:t>an</a:t>
            </a:r>
            <a:r>
              <a:rPr sz="3000" spc="-20" dirty="0"/>
              <a:t> </a:t>
            </a:r>
            <a:r>
              <a:rPr sz="3000" spc="-15" dirty="0"/>
              <a:t>Abstraction…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13740" y="676957"/>
            <a:ext cx="2724150" cy="329692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map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is:</a:t>
            </a:r>
            <a:endParaRPr sz="3000">
              <a:latin typeface="Calibri"/>
              <a:cs typeface="Calibri"/>
            </a:endParaRPr>
          </a:p>
          <a:p>
            <a:pPr marL="756285" marR="5080" lvl="1" indent="-287020">
              <a:lnSpc>
                <a:spcPct val="105400"/>
              </a:lnSpc>
              <a:spcBef>
                <a:spcPts val="6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10" dirty="0">
                <a:latin typeface="Calibri"/>
                <a:cs typeface="Calibri"/>
              </a:rPr>
              <a:t>An </a:t>
            </a:r>
            <a:r>
              <a:rPr sz="2150" spc="-5" dirty="0">
                <a:latin typeface="Calibri"/>
                <a:cs typeface="Calibri"/>
              </a:rPr>
              <a:t>abstract </a:t>
            </a:r>
            <a:r>
              <a:rPr sz="2150" dirty="0">
                <a:latin typeface="Calibri"/>
                <a:cs typeface="Calibri"/>
              </a:rPr>
              <a:t> representation</a:t>
            </a:r>
            <a:r>
              <a:rPr sz="2150" spc="-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 </a:t>
            </a:r>
            <a:r>
              <a:rPr sz="2150" spc="-47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country.</a:t>
            </a:r>
            <a:endParaRPr sz="2800">
              <a:latin typeface="Calibri"/>
              <a:cs typeface="Calibri"/>
            </a:endParaRPr>
          </a:p>
          <a:p>
            <a:pPr marL="756285" marR="164465" lvl="1" indent="-287020">
              <a:lnSpc>
                <a:spcPct val="106400"/>
              </a:lnSpc>
              <a:spcBef>
                <a:spcPts val="5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-10" dirty="0">
                <a:latin typeface="Calibri"/>
                <a:cs typeface="Calibri"/>
              </a:rPr>
              <a:t>Various </a:t>
            </a:r>
            <a:r>
              <a:rPr sz="2150" spc="5" dirty="0">
                <a:latin typeface="Calibri"/>
                <a:cs typeface="Calibri"/>
              </a:rPr>
              <a:t>types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 </a:t>
            </a:r>
            <a:r>
              <a:rPr sz="2150" spc="-47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maps 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(abstractions) </a:t>
            </a:r>
            <a:r>
              <a:rPr sz="2150" spc="5" dirty="0">
                <a:latin typeface="Calibri"/>
                <a:cs typeface="Calibri"/>
              </a:rPr>
              <a:t> possible.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938783"/>
            <a:ext cx="2851404" cy="32171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938783"/>
            <a:ext cx="2705100" cy="32293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22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2" y="278866"/>
            <a:ext cx="8501380" cy="388239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80975" algn="ctr">
              <a:lnSpc>
                <a:spcPct val="100000"/>
              </a:lnSpc>
              <a:spcBef>
                <a:spcPts val="1205"/>
              </a:spcBef>
            </a:pPr>
            <a:r>
              <a:rPr sz="2500" b="1" spc="-10" dirty="0">
                <a:latin typeface="Calibri"/>
                <a:cs typeface="Calibri"/>
              </a:rPr>
              <a:t>Does</a:t>
            </a:r>
            <a:r>
              <a:rPr sz="2500" b="1" spc="1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every</a:t>
            </a:r>
            <a:r>
              <a:rPr sz="2500" b="1" spc="1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Problem</a:t>
            </a:r>
            <a:r>
              <a:rPr sz="2500" b="1" spc="15" dirty="0">
                <a:latin typeface="Calibri"/>
                <a:cs typeface="Calibri"/>
              </a:rPr>
              <a:t> </a:t>
            </a:r>
            <a:r>
              <a:rPr sz="2500" b="1" spc="-20" dirty="0">
                <a:latin typeface="Calibri"/>
                <a:cs typeface="Calibri"/>
              </a:rPr>
              <a:t>have</a:t>
            </a:r>
            <a:r>
              <a:rPr sz="2500" b="1" spc="5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a</a:t>
            </a:r>
            <a:r>
              <a:rPr sz="2500" b="1" dirty="0">
                <a:latin typeface="Calibri"/>
                <a:cs typeface="Calibri"/>
              </a:rPr>
              <a:t> </a:t>
            </a:r>
            <a:r>
              <a:rPr sz="2500" b="1" spc="-5" dirty="0">
                <a:latin typeface="Calibri"/>
                <a:cs typeface="Calibri"/>
              </a:rPr>
              <a:t>single</a:t>
            </a:r>
            <a:r>
              <a:rPr sz="2500" b="1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Abstraction?</a:t>
            </a:r>
            <a:endParaRPr sz="2500">
              <a:latin typeface="Calibri"/>
              <a:cs typeface="Calibri"/>
            </a:endParaRPr>
          </a:p>
          <a:p>
            <a:pPr marL="355600" marR="2691765" indent="-342900">
              <a:lnSpc>
                <a:spcPct val="120600"/>
              </a:lnSpc>
              <a:spcBef>
                <a:spcPts val="6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50" spc="-15" dirty="0">
                <a:latin typeface="Calibri"/>
                <a:cs typeface="Calibri"/>
              </a:rPr>
              <a:t>Several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abstractions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of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the </a:t>
            </a:r>
            <a:r>
              <a:rPr sz="3250" dirty="0">
                <a:latin typeface="Calibri"/>
                <a:cs typeface="Calibri"/>
              </a:rPr>
              <a:t>same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problem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can</a:t>
            </a:r>
            <a:r>
              <a:rPr sz="3250" spc="-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created:</a:t>
            </a:r>
            <a:endParaRPr sz="32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365"/>
              </a:spcBef>
              <a:buFont typeface="Arial MT"/>
              <a:buChar char="–"/>
              <a:tabLst>
                <a:tab pos="756920" algn="l"/>
              </a:tabLst>
            </a:pP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Focus</a:t>
            </a:r>
            <a:r>
              <a:rPr sz="3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on some</a:t>
            </a:r>
            <a:r>
              <a:rPr sz="3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specific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 aspect</a:t>
            </a:r>
            <a:r>
              <a:rPr sz="3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 ignore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rest.</a:t>
            </a:r>
            <a:endParaRPr sz="3000">
              <a:latin typeface="Calibri"/>
              <a:cs typeface="Calibri"/>
            </a:endParaRPr>
          </a:p>
          <a:p>
            <a:pPr marL="756285" marR="1216660" lvl="1" indent="-287020">
              <a:lnSpc>
                <a:spcPct val="120000"/>
              </a:lnSpc>
              <a:spcBef>
                <a:spcPts val="1585"/>
              </a:spcBef>
              <a:buFont typeface="Arial MT"/>
              <a:buChar char="–"/>
              <a:tabLst>
                <a:tab pos="756920" algn="l"/>
              </a:tabLst>
            </a:pPr>
            <a:r>
              <a:rPr sz="3000" spc="-25" dirty="0">
                <a:solidFill>
                  <a:srgbClr val="0000FF"/>
                </a:solidFill>
                <a:latin typeface="Calibri"/>
                <a:cs typeface="Calibri"/>
              </a:rPr>
              <a:t>Different</a:t>
            </a:r>
            <a:r>
              <a:rPr sz="30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types</a:t>
            </a:r>
            <a:r>
              <a:rPr sz="3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models</a:t>
            </a:r>
            <a:r>
              <a:rPr sz="3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help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understand </a:t>
            </a:r>
            <a:r>
              <a:rPr sz="3000" spc="-6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0000FF"/>
                </a:solidFill>
                <a:latin typeface="Calibri"/>
                <a:cs typeface="Calibri"/>
              </a:rPr>
              <a:t>different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 aspects</a:t>
            </a:r>
            <a:r>
              <a:rPr sz="3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of the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problem</a:t>
            </a:r>
            <a:r>
              <a:rPr sz="3000" spc="-10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8768" y="917447"/>
            <a:ext cx="1371600" cy="15483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2200" y="917447"/>
            <a:ext cx="1295400" cy="15483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23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8400" y="362711"/>
            <a:ext cx="2895600" cy="871855"/>
          </a:xfrm>
          <a:custGeom>
            <a:avLst/>
            <a:gdLst/>
            <a:ahLst/>
            <a:cxnLst/>
            <a:rect l="l" t="t" r="r" b="b"/>
            <a:pathLst>
              <a:path w="2895600" h="871855">
                <a:moveTo>
                  <a:pt x="0" y="871727"/>
                </a:moveTo>
                <a:lnTo>
                  <a:pt x="2895600" y="871727"/>
                </a:lnTo>
                <a:lnTo>
                  <a:pt x="2895600" y="0"/>
                </a:lnTo>
                <a:lnTo>
                  <a:pt x="0" y="0"/>
                </a:lnTo>
                <a:lnTo>
                  <a:pt x="0" y="87172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94093" y="399999"/>
            <a:ext cx="23869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Abstractions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Calibri"/>
                <a:cs typeface="Calibri"/>
              </a:rPr>
              <a:t>Complex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939" y="264706"/>
            <a:ext cx="6064885" cy="1148080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For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complex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problems:</a:t>
            </a:r>
            <a:endParaRPr sz="27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250"/>
              </a:spcBef>
            </a:pPr>
            <a:r>
              <a:rPr sz="2450" spc="-5" dirty="0">
                <a:latin typeface="Arial MT"/>
                <a:cs typeface="Arial MT"/>
              </a:rPr>
              <a:t>–</a:t>
            </a:r>
            <a:r>
              <a:rPr sz="2450" spc="210" dirty="0">
                <a:latin typeface="Arial MT"/>
                <a:cs typeface="Arial MT"/>
              </a:rPr>
              <a:t> </a:t>
            </a:r>
            <a:r>
              <a:rPr sz="2450" spc="-5" dirty="0">
                <a:latin typeface="Calibri"/>
                <a:cs typeface="Calibri"/>
              </a:rPr>
              <a:t>A single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level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abstraction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is </a:t>
            </a:r>
            <a:r>
              <a:rPr sz="2450" spc="-10" dirty="0">
                <a:latin typeface="Calibri"/>
                <a:cs typeface="Calibri"/>
              </a:rPr>
              <a:t>inadequate.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939" y="1401325"/>
            <a:ext cx="7774305" cy="259397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450" spc="-5" dirty="0">
                <a:latin typeface="Arial MT"/>
                <a:cs typeface="Arial MT"/>
              </a:rPr>
              <a:t>–</a:t>
            </a:r>
            <a:r>
              <a:rPr sz="2450" spc="210" dirty="0">
                <a:latin typeface="Arial MT"/>
                <a:cs typeface="Arial MT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spc="-20" dirty="0">
                <a:latin typeface="Calibri"/>
                <a:cs typeface="Calibri"/>
              </a:rPr>
              <a:t>hierarchy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abstractions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may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have to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be</a:t>
            </a:r>
            <a:r>
              <a:rPr sz="2450" spc="-10" dirty="0">
                <a:latin typeface="Calibri"/>
                <a:cs typeface="Calibri"/>
              </a:rPr>
              <a:t> constructed.</a:t>
            </a:r>
            <a:endParaRPr sz="24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Hierarchy</a:t>
            </a:r>
            <a:r>
              <a:rPr sz="27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7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models:</a:t>
            </a:r>
            <a:endParaRPr sz="2700">
              <a:latin typeface="Calibri"/>
              <a:cs typeface="Calibri"/>
            </a:endParaRPr>
          </a:p>
          <a:p>
            <a:pPr marL="756285" marR="2282190" lvl="1" indent="-287020">
              <a:lnSpc>
                <a:spcPct val="113900"/>
              </a:lnSpc>
              <a:spcBef>
                <a:spcPts val="840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A model in one </a:t>
            </a:r>
            <a:r>
              <a:rPr sz="2450" spc="-20" dirty="0">
                <a:solidFill>
                  <a:srgbClr val="0000FF"/>
                </a:solidFill>
                <a:latin typeface="Calibri"/>
                <a:cs typeface="Calibri"/>
              </a:rPr>
              <a:t>layer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is an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abstraction </a:t>
            </a:r>
            <a:r>
              <a:rPr sz="2450" spc="-5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lower</a:t>
            </a:r>
            <a:r>
              <a:rPr sz="245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0000FF"/>
                </a:solidFill>
                <a:latin typeface="Calibri"/>
                <a:cs typeface="Calibri"/>
              </a:rPr>
              <a:t>layer</a:t>
            </a:r>
            <a:r>
              <a:rPr sz="245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model.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21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An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implementation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 of</a:t>
            </a:r>
            <a:r>
              <a:rPr sz="245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sz="2450" spc="-15" dirty="0">
                <a:solidFill>
                  <a:srgbClr val="0000FF"/>
                </a:solidFill>
                <a:latin typeface="Calibri"/>
                <a:cs typeface="Calibri"/>
              </a:rPr>
              <a:t> at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 the higher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0000FF"/>
                </a:solidFill>
                <a:latin typeface="Calibri"/>
                <a:cs typeface="Calibri"/>
              </a:rPr>
              <a:t>layer.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800" y="1935479"/>
            <a:ext cx="1764792" cy="17663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5133" y="245491"/>
            <a:ext cx="6864984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dirty="0"/>
              <a:t>Abstraction</a:t>
            </a:r>
            <a:r>
              <a:rPr sz="2700" spc="-50" dirty="0"/>
              <a:t> </a:t>
            </a:r>
            <a:r>
              <a:rPr sz="2700" spc="10" dirty="0"/>
              <a:t>of</a:t>
            </a:r>
            <a:r>
              <a:rPr sz="2700" spc="-5" dirty="0"/>
              <a:t> </a:t>
            </a:r>
            <a:r>
              <a:rPr sz="2700" dirty="0"/>
              <a:t>Complex</a:t>
            </a:r>
            <a:r>
              <a:rPr sz="2700" spc="-25" dirty="0"/>
              <a:t> </a:t>
            </a:r>
            <a:r>
              <a:rPr sz="2700" spc="5" dirty="0"/>
              <a:t>Problems</a:t>
            </a:r>
            <a:r>
              <a:rPr sz="2700" spc="-25" dirty="0"/>
              <a:t> </a:t>
            </a:r>
            <a:r>
              <a:rPr sz="2700" spc="5" dirty="0"/>
              <a:t>--</a:t>
            </a:r>
            <a:r>
              <a:rPr sz="2700" dirty="0"/>
              <a:t> </a:t>
            </a:r>
            <a:r>
              <a:rPr sz="2700" spc="10" dirty="0"/>
              <a:t>An</a:t>
            </a:r>
            <a:r>
              <a:rPr sz="2700" spc="-15" dirty="0"/>
              <a:t> </a:t>
            </a:r>
            <a:r>
              <a:rPr sz="2700" spc="5" dirty="0"/>
              <a:t>Example</a:t>
            </a:r>
            <a:endParaRPr sz="2700"/>
          </a:p>
        </p:txBody>
      </p:sp>
      <p:sp>
        <p:nvSpPr>
          <p:cNvPr id="4" name="object 4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3039" y="801090"/>
            <a:ext cx="8056880" cy="3484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107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5" dirty="0">
                <a:latin typeface="Calibri"/>
                <a:cs typeface="Calibri"/>
              </a:rPr>
              <a:t>Suppose </a:t>
            </a:r>
            <a:r>
              <a:rPr sz="2700" spc="-5" dirty="0">
                <a:latin typeface="Calibri"/>
                <a:cs typeface="Calibri"/>
              </a:rPr>
              <a:t>you are </a:t>
            </a:r>
            <a:r>
              <a:rPr sz="2700" spc="-10" dirty="0">
                <a:latin typeface="Calibri"/>
                <a:cs typeface="Calibri"/>
              </a:rPr>
              <a:t>asked </a:t>
            </a:r>
            <a:r>
              <a:rPr sz="2700" spc="-5" dirty="0">
                <a:latin typeface="Calibri"/>
                <a:cs typeface="Calibri"/>
              </a:rPr>
              <a:t>to understand </a:t>
            </a:r>
            <a:r>
              <a:rPr sz="2700" spc="5" dirty="0">
                <a:latin typeface="Calibri"/>
                <a:cs typeface="Calibri"/>
              </a:rPr>
              <a:t>all </a:t>
            </a:r>
            <a:r>
              <a:rPr sz="2700" spc="-15" dirty="0">
                <a:latin typeface="Calibri"/>
                <a:cs typeface="Calibri"/>
              </a:rPr>
              <a:t>life </a:t>
            </a:r>
            <a:r>
              <a:rPr sz="2700" spc="-10" dirty="0">
                <a:latin typeface="Calibri"/>
                <a:cs typeface="Calibri"/>
              </a:rPr>
              <a:t>forms </a:t>
            </a:r>
            <a:r>
              <a:rPr sz="2700" dirty="0">
                <a:latin typeface="Calibri"/>
                <a:cs typeface="Calibri"/>
              </a:rPr>
              <a:t>that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inhabit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earth.</a:t>
            </a:r>
            <a:endParaRPr sz="27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9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Would</a:t>
            </a:r>
            <a:r>
              <a:rPr sz="2700" spc="-5" dirty="0">
                <a:latin typeface="Calibri"/>
                <a:cs typeface="Calibri"/>
              </a:rPr>
              <a:t> you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start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examining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each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living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organism?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30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65" dirty="0">
                <a:latin typeface="Calibri"/>
                <a:cs typeface="Calibri"/>
              </a:rPr>
              <a:t>You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will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almost</a:t>
            </a:r>
            <a:r>
              <a:rPr sz="2450" spc="-10" dirty="0">
                <a:latin typeface="Calibri"/>
                <a:cs typeface="Calibri"/>
              </a:rPr>
              <a:t> never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complete </a:t>
            </a:r>
            <a:r>
              <a:rPr sz="2450" spc="-5" dirty="0">
                <a:latin typeface="Calibri"/>
                <a:cs typeface="Calibri"/>
              </a:rPr>
              <a:t>it.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89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10" dirty="0">
                <a:latin typeface="Calibri"/>
                <a:cs typeface="Calibri"/>
              </a:rPr>
              <a:t>Also,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get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thoroughly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confused.</a:t>
            </a:r>
            <a:endParaRPr sz="24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9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Solution:</a:t>
            </a:r>
            <a:r>
              <a:rPr sz="27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40" dirty="0">
                <a:solidFill>
                  <a:srgbClr val="0000FF"/>
                </a:solidFill>
                <a:latin typeface="Calibri"/>
                <a:cs typeface="Calibri"/>
              </a:rPr>
              <a:t>Try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build</a:t>
            </a:r>
            <a:r>
              <a:rPr sz="27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an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abstraction</a:t>
            </a:r>
            <a:r>
              <a:rPr sz="27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25" dirty="0">
                <a:solidFill>
                  <a:srgbClr val="0000FF"/>
                </a:solidFill>
                <a:latin typeface="Calibri"/>
                <a:cs typeface="Calibri"/>
              </a:rPr>
              <a:t>hierarchy.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00900" y="745236"/>
            <a:ext cx="1943100" cy="1039494"/>
          </a:xfrm>
          <a:custGeom>
            <a:avLst/>
            <a:gdLst/>
            <a:ahLst/>
            <a:cxnLst/>
            <a:rect l="l" t="t" r="r" b="b"/>
            <a:pathLst>
              <a:path w="1943100" h="1039494">
                <a:moveTo>
                  <a:pt x="0" y="1039368"/>
                </a:moveTo>
                <a:lnTo>
                  <a:pt x="1943099" y="1039368"/>
                </a:lnTo>
                <a:lnTo>
                  <a:pt x="1943099" y="0"/>
                </a:lnTo>
                <a:lnTo>
                  <a:pt x="0" y="0"/>
                </a:lnTo>
                <a:lnTo>
                  <a:pt x="0" y="103936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07326" y="738632"/>
            <a:ext cx="180340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9878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Living </a:t>
            </a:r>
            <a:r>
              <a:rPr sz="3200" b="1" spc="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O</a:t>
            </a:r>
            <a:r>
              <a:rPr sz="3200" b="1" spc="-30" dirty="0">
                <a:latin typeface="Calibri"/>
                <a:cs typeface="Calibri"/>
              </a:rPr>
              <a:t>r</a:t>
            </a:r>
            <a:r>
              <a:rPr sz="3200" b="1" spc="-55" dirty="0">
                <a:latin typeface="Calibri"/>
                <a:cs typeface="Calibri"/>
              </a:rPr>
              <a:t>g</a:t>
            </a:r>
            <a:r>
              <a:rPr sz="3200" b="1" dirty="0">
                <a:latin typeface="Calibri"/>
                <a:cs typeface="Calibri"/>
              </a:rPr>
              <a:t>anisms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5828" y="585977"/>
            <a:ext cx="95440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0000FF"/>
                </a:solidFill>
                <a:latin typeface="Comic Sans MS"/>
                <a:cs typeface="Comic Sans MS"/>
              </a:rPr>
              <a:t>King</a:t>
            </a:r>
            <a:r>
              <a:rPr sz="1900" b="1" spc="-10" dirty="0">
                <a:solidFill>
                  <a:srgbClr val="0000FF"/>
                </a:solidFill>
                <a:latin typeface="Comic Sans MS"/>
                <a:cs typeface="Comic Sans MS"/>
              </a:rPr>
              <a:t>d</a:t>
            </a:r>
            <a:r>
              <a:rPr sz="1900" b="1" spc="5" dirty="0">
                <a:solidFill>
                  <a:srgbClr val="0000FF"/>
                </a:solidFill>
                <a:latin typeface="Comic Sans MS"/>
                <a:cs typeface="Comic Sans MS"/>
              </a:rPr>
              <a:t>om</a:t>
            </a:r>
            <a:endParaRPr sz="1900">
              <a:latin typeface="Comic Sans MS"/>
              <a:cs typeface="Comic Sans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60741" y="510349"/>
            <a:ext cx="1079500" cy="424180"/>
            <a:chOff x="1360741" y="510349"/>
            <a:chExt cx="1079500" cy="424180"/>
          </a:xfrm>
        </p:grpSpPr>
        <p:sp>
          <p:nvSpPr>
            <p:cNvPr id="6" name="object 6"/>
            <p:cNvSpPr/>
            <p:nvPr/>
          </p:nvSpPr>
          <p:spPr>
            <a:xfrm>
              <a:off x="1365503" y="516890"/>
              <a:ext cx="1069975" cy="412750"/>
            </a:xfrm>
            <a:custGeom>
              <a:avLst/>
              <a:gdLst/>
              <a:ahLst/>
              <a:cxnLst/>
              <a:rect l="l" t="t" r="r" b="b"/>
              <a:pathLst>
                <a:path w="1069975" h="412750">
                  <a:moveTo>
                    <a:pt x="0" y="412750"/>
                  </a:moveTo>
                  <a:lnTo>
                    <a:pt x="1069848" y="412750"/>
                  </a:lnTo>
                  <a:lnTo>
                    <a:pt x="1069848" y="0"/>
                  </a:lnTo>
                  <a:lnTo>
                    <a:pt x="0" y="0"/>
                  </a:lnTo>
                  <a:lnTo>
                    <a:pt x="0" y="41275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65503" y="515112"/>
              <a:ext cx="1069975" cy="414655"/>
            </a:xfrm>
            <a:custGeom>
              <a:avLst/>
              <a:gdLst/>
              <a:ahLst/>
              <a:cxnLst/>
              <a:rect l="l" t="t" r="r" b="b"/>
              <a:pathLst>
                <a:path w="1069975" h="414655">
                  <a:moveTo>
                    <a:pt x="0" y="1397"/>
                  </a:moveTo>
                  <a:lnTo>
                    <a:pt x="0" y="635"/>
                  </a:lnTo>
                  <a:lnTo>
                    <a:pt x="634" y="0"/>
                  </a:lnTo>
                  <a:lnTo>
                    <a:pt x="1396" y="0"/>
                  </a:lnTo>
                  <a:lnTo>
                    <a:pt x="1068451" y="0"/>
                  </a:lnTo>
                  <a:lnTo>
                    <a:pt x="1069213" y="0"/>
                  </a:lnTo>
                  <a:lnTo>
                    <a:pt x="1069848" y="635"/>
                  </a:lnTo>
                  <a:lnTo>
                    <a:pt x="1069848" y="1397"/>
                  </a:lnTo>
                  <a:lnTo>
                    <a:pt x="1069848" y="413130"/>
                  </a:lnTo>
                  <a:lnTo>
                    <a:pt x="1069848" y="413892"/>
                  </a:lnTo>
                  <a:lnTo>
                    <a:pt x="1069213" y="414527"/>
                  </a:lnTo>
                  <a:lnTo>
                    <a:pt x="1068451" y="414527"/>
                  </a:lnTo>
                  <a:lnTo>
                    <a:pt x="1396" y="414527"/>
                  </a:lnTo>
                  <a:lnTo>
                    <a:pt x="634" y="414527"/>
                  </a:lnTo>
                  <a:lnTo>
                    <a:pt x="0" y="413892"/>
                  </a:lnTo>
                  <a:lnTo>
                    <a:pt x="0" y="413130"/>
                  </a:lnTo>
                  <a:lnTo>
                    <a:pt x="0" y="139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65503" y="515619"/>
            <a:ext cx="1069975" cy="41402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595"/>
              </a:spcBef>
            </a:pPr>
            <a:r>
              <a:rPr sz="1600" b="1" spc="10" dirty="0">
                <a:latin typeface="Comic Sans MS"/>
                <a:cs typeface="Comic Sans MS"/>
              </a:rPr>
              <a:t>Animalia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08385" y="510349"/>
            <a:ext cx="1064260" cy="424180"/>
            <a:chOff x="4608385" y="510349"/>
            <a:chExt cx="1064260" cy="424180"/>
          </a:xfrm>
        </p:grpSpPr>
        <p:sp>
          <p:nvSpPr>
            <p:cNvPr id="10" name="object 10"/>
            <p:cNvSpPr/>
            <p:nvPr/>
          </p:nvSpPr>
          <p:spPr>
            <a:xfrm>
              <a:off x="4613148" y="515619"/>
              <a:ext cx="1054735" cy="414020"/>
            </a:xfrm>
            <a:custGeom>
              <a:avLst/>
              <a:gdLst/>
              <a:ahLst/>
              <a:cxnLst/>
              <a:rect l="l" t="t" r="r" b="b"/>
              <a:pathLst>
                <a:path w="1054735" h="414019">
                  <a:moveTo>
                    <a:pt x="1054608" y="0"/>
                  </a:moveTo>
                  <a:lnTo>
                    <a:pt x="0" y="0"/>
                  </a:lnTo>
                  <a:lnTo>
                    <a:pt x="0" y="1270"/>
                  </a:lnTo>
                  <a:lnTo>
                    <a:pt x="0" y="414020"/>
                  </a:lnTo>
                  <a:lnTo>
                    <a:pt x="1054608" y="414020"/>
                  </a:lnTo>
                  <a:lnTo>
                    <a:pt x="1054608" y="1270"/>
                  </a:lnTo>
                  <a:lnTo>
                    <a:pt x="1054608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13147" y="515112"/>
              <a:ext cx="1054735" cy="414655"/>
            </a:xfrm>
            <a:custGeom>
              <a:avLst/>
              <a:gdLst/>
              <a:ahLst/>
              <a:cxnLst/>
              <a:rect l="l" t="t" r="r" b="b"/>
              <a:pathLst>
                <a:path w="1054735" h="414655">
                  <a:moveTo>
                    <a:pt x="0" y="1397"/>
                  </a:moveTo>
                  <a:lnTo>
                    <a:pt x="0" y="635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1053211" y="0"/>
                  </a:lnTo>
                  <a:lnTo>
                    <a:pt x="1053973" y="0"/>
                  </a:lnTo>
                  <a:lnTo>
                    <a:pt x="1054607" y="635"/>
                  </a:lnTo>
                  <a:lnTo>
                    <a:pt x="1054607" y="1397"/>
                  </a:lnTo>
                  <a:lnTo>
                    <a:pt x="1054607" y="413130"/>
                  </a:lnTo>
                  <a:lnTo>
                    <a:pt x="1054607" y="413892"/>
                  </a:lnTo>
                  <a:lnTo>
                    <a:pt x="1053973" y="414527"/>
                  </a:lnTo>
                  <a:lnTo>
                    <a:pt x="1053211" y="414527"/>
                  </a:lnTo>
                  <a:lnTo>
                    <a:pt x="1397" y="414527"/>
                  </a:lnTo>
                  <a:lnTo>
                    <a:pt x="635" y="414527"/>
                  </a:lnTo>
                  <a:lnTo>
                    <a:pt x="0" y="413892"/>
                  </a:lnTo>
                  <a:lnTo>
                    <a:pt x="0" y="413130"/>
                  </a:lnTo>
                  <a:lnTo>
                    <a:pt x="0" y="139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87010" y="574370"/>
            <a:ext cx="709930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b="1" spc="20" dirty="0">
                <a:latin typeface="Comic Sans MS"/>
                <a:cs typeface="Comic Sans MS"/>
              </a:rPr>
              <a:t>Fu</a:t>
            </a:r>
            <a:r>
              <a:rPr sz="1600" b="1" spc="10" dirty="0">
                <a:latin typeface="Comic Sans MS"/>
                <a:cs typeface="Comic Sans MS"/>
              </a:rPr>
              <a:t>n</a:t>
            </a:r>
            <a:r>
              <a:rPr sz="1600" b="1" spc="5" dirty="0">
                <a:latin typeface="Comic Sans MS"/>
                <a:cs typeface="Comic Sans MS"/>
              </a:rPr>
              <a:t>g</a:t>
            </a:r>
            <a:r>
              <a:rPr sz="1600" b="1" spc="15" dirty="0">
                <a:latin typeface="Comic Sans MS"/>
                <a:cs typeface="Comic Sans MS"/>
              </a:rPr>
              <a:t>ae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55035" y="510540"/>
            <a:ext cx="965200" cy="424180"/>
            <a:chOff x="2955035" y="510540"/>
            <a:chExt cx="965200" cy="424180"/>
          </a:xfrm>
        </p:grpSpPr>
        <p:sp>
          <p:nvSpPr>
            <p:cNvPr id="14" name="object 14"/>
            <p:cNvSpPr/>
            <p:nvPr/>
          </p:nvSpPr>
          <p:spPr>
            <a:xfrm>
              <a:off x="2959607" y="516890"/>
              <a:ext cx="955675" cy="412750"/>
            </a:xfrm>
            <a:custGeom>
              <a:avLst/>
              <a:gdLst/>
              <a:ahLst/>
              <a:cxnLst/>
              <a:rect l="l" t="t" r="r" b="b"/>
              <a:pathLst>
                <a:path w="955675" h="412750">
                  <a:moveTo>
                    <a:pt x="0" y="412750"/>
                  </a:moveTo>
                  <a:lnTo>
                    <a:pt x="955547" y="412750"/>
                  </a:lnTo>
                  <a:lnTo>
                    <a:pt x="955547" y="0"/>
                  </a:lnTo>
                  <a:lnTo>
                    <a:pt x="0" y="0"/>
                  </a:lnTo>
                  <a:lnTo>
                    <a:pt x="0" y="41275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59607" y="515112"/>
              <a:ext cx="955675" cy="414655"/>
            </a:xfrm>
            <a:custGeom>
              <a:avLst/>
              <a:gdLst/>
              <a:ahLst/>
              <a:cxnLst/>
              <a:rect l="l" t="t" r="r" b="b"/>
              <a:pathLst>
                <a:path w="955675" h="414655">
                  <a:moveTo>
                    <a:pt x="0" y="1397"/>
                  </a:moveTo>
                  <a:lnTo>
                    <a:pt x="0" y="635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954151" y="0"/>
                  </a:lnTo>
                  <a:lnTo>
                    <a:pt x="954913" y="0"/>
                  </a:lnTo>
                  <a:lnTo>
                    <a:pt x="955547" y="635"/>
                  </a:lnTo>
                  <a:lnTo>
                    <a:pt x="955547" y="1397"/>
                  </a:lnTo>
                  <a:lnTo>
                    <a:pt x="955547" y="413130"/>
                  </a:lnTo>
                  <a:lnTo>
                    <a:pt x="955547" y="413892"/>
                  </a:lnTo>
                  <a:lnTo>
                    <a:pt x="954913" y="414527"/>
                  </a:lnTo>
                  <a:lnTo>
                    <a:pt x="954151" y="414527"/>
                  </a:lnTo>
                  <a:lnTo>
                    <a:pt x="1397" y="414527"/>
                  </a:lnTo>
                  <a:lnTo>
                    <a:pt x="635" y="414527"/>
                  </a:lnTo>
                  <a:lnTo>
                    <a:pt x="0" y="413892"/>
                  </a:lnTo>
                  <a:lnTo>
                    <a:pt x="0" y="413130"/>
                  </a:lnTo>
                  <a:lnTo>
                    <a:pt x="0" y="139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59607" y="515619"/>
            <a:ext cx="955675" cy="41402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595"/>
              </a:spcBef>
            </a:pPr>
            <a:r>
              <a:rPr sz="1600" b="1" spc="10" dirty="0">
                <a:latin typeface="Comic Sans MS"/>
                <a:cs typeface="Comic Sans MS"/>
              </a:rPr>
              <a:t>Plantae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4629" y="1590865"/>
            <a:ext cx="1033780" cy="426084"/>
            <a:chOff x="464629" y="1590865"/>
            <a:chExt cx="1033780" cy="426084"/>
          </a:xfrm>
        </p:grpSpPr>
        <p:sp>
          <p:nvSpPr>
            <p:cNvPr id="18" name="object 18"/>
            <p:cNvSpPr/>
            <p:nvPr/>
          </p:nvSpPr>
          <p:spPr>
            <a:xfrm>
              <a:off x="469391" y="1597659"/>
              <a:ext cx="1024255" cy="414020"/>
            </a:xfrm>
            <a:custGeom>
              <a:avLst/>
              <a:gdLst/>
              <a:ahLst/>
              <a:cxnLst/>
              <a:rect l="l" t="t" r="r" b="b"/>
              <a:pathLst>
                <a:path w="1024255" h="414019">
                  <a:moveTo>
                    <a:pt x="0" y="414019"/>
                  </a:moveTo>
                  <a:lnTo>
                    <a:pt x="1024127" y="414019"/>
                  </a:lnTo>
                  <a:lnTo>
                    <a:pt x="1024127" y="0"/>
                  </a:lnTo>
                  <a:lnTo>
                    <a:pt x="0" y="0"/>
                  </a:lnTo>
                  <a:lnTo>
                    <a:pt x="0" y="414019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9391" y="1595627"/>
              <a:ext cx="1024255" cy="416559"/>
            </a:xfrm>
            <a:custGeom>
              <a:avLst/>
              <a:gdLst/>
              <a:ahLst/>
              <a:cxnLst/>
              <a:rect l="l" t="t" r="r" b="b"/>
              <a:pathLst>
                <a:path w="1024255" h="416560">
                  <a:moveTo>
                    <a:pt x="0" y="1397"/>
                  </a:moveTo>
                  <a:lnTo>
                    <a:pt x="0" y="635"/>
                  </a:lnTo>
                  <a:lnTo>
                    <a:pt x="647" y="0"/>
                  </a:lnTo>
                  <a:lnTo>
                    <a:pt x="1447" y="0"/>
                  </a:lnTo>
                  <a:lnTo>
                    <a:pt x="1022731" y="0"/>
                  </a:lnTo>
                  <a:lnTo>
                    <a:pt x="1023493" y="0"/>
                  </a:lnTo>
                  <a:lnTo>
                    <a:pt x="1024127" y="635"/>
                  </a:lnTo>
                  <a:lnTo>
                    <a:pt x="1024127" y="1397"/>
                  </a:lnTo>
                  <a:lnTo>
                    <a:pt x="1024127" y="414655"/>
                  </a:lnTo>
                  <a:lnTo>
                    <a:pt x="1024127" y="415417"/>
                  </a:lnTo>
                  <a:lnTo>
                    <a:pt x="1023493" y="416052"/>
                  </a:lnTo>
                  <a:lnTo>
                    <a:pt x="1022731" y="416052"/>
                  </a:lnTo>
                  <a:lnTo>
                    <a:pt x="1447" y="416052"/>
                  </a:lnTo>
                  <a:lnTo>
                    <a:pt x="647" y="416052"/>
                  </a:lnTo>
                  <a:lnTo>
                    <a:pt x="0" y="415417"/>
                  </a:lnTo>
                  <a:lnTo>
                    <a:pt x="0" y="414655"/>
                  </a:lnTo>
                  <a:lnTo>
                    <a:pt x="0" y="139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9391" y="1595119"/>
            <a:ext cx="1024255" cy="416559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610"/>
              </a:spcBef>
            </a:pPr>
            <a:r>
              <a:rPr sz="1600" b="1" spc="15" dirty="0">
                <a:latin typeface="Comic Sans MS"/>
                <a:cs typeface="Comic Sans MS"/>
              </a:rPr>
              <a:t>Mollusca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00237" y="1592389"/>
            <a:ext cx="1071880" cy="426084"/>
            <a:chOff x="1900237" y="1592389"/>
            <a:chExt cx="1071880" cy="426084"/>
          </a:xfrm>
        </p:grpSpPr>
        <p:sp>
          <p:nvSpPr>
            <p:cNvPr id="22" name="object 22"/>
            <p:cNvSpPr/>
            <p:nvPr/>
          </p:nvSpPr>
          <p:spPr>
            <a:xfrm>
              <a:off x="1905000" y="1598930"/>
              <a:ext cx="1062355" cy="414020"/>
            </a:xfrm>
            <a:custGeom>
              <a:avLst/>
              <a:gdLst/>
              <a:ahLst/>
              <a:cxnLst/>
              <a:rect l="l" t="t" r="r" b="b"/>
              <a:pathLst>
                <a:path w="1062355" h="414019">
                  <a:moveTo>
                    <a:pt x="0" y="414020"/>
                  </a:moveTo>
                  <a:lnTo>
                    <a:pt x="1062227" y="414020"/>
                  </a:lnTo>
                  <a:lnTo>
                    <a:pt x="1062227" y="0"/>
                  </a:lnTo>
                  <a:lnTo>
                    <a:pt x="0" y="0"/>
                  </a:lnTo>
                  <a:lnTo>
                    <a:pt x="0" y="41402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05000" y="1597152"/>
              <a:ext cx="1062355" cy="416559"/>
            </a:xfrm>
            <a:custGeom>
              <a:avLst/>
              <a:gdLst/>
              <a:ahLst/>
              <a:cxnLst/>
              <a:rect l="l" t="t" r="r" b="b"/>
              <a:pathLst>
                <a:path w="1062355" h="416560">
                  <a:moveTo>
                    <a:pt x="0" y="1397"/>
                  </a:moveTo>
                  <a:lnTo>
                    <a:pt x="0" y="635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1060831" y="0"/>
                  </a:lnTo>
                  <a:lnTo>
                    <a:pt x="1061593" y="0"/>
                  </a:lnTo>
                  <a:lnTo>
                    <a:pt x="1062227" y="635"/>
                  </a:lnTo>
                  <a:lnTo>
                    <a:pt x="1062227" y="1397"/>
                  </a:lnTo>
                  <a:lnTo>
                    <a:pt x="1062227" y="414655"/>
                  </a:lnTo>
                  <a:lnTo>
                    <a:pt x="1062227" y="415417"/>
                  </a:lnTo>
                  <a:lnTo>
                    <a:pt x="1061593" y="416052"/>
                  </a:lnTo>
                  <a:lnTo>
                    <a:pt x="1060831" y="416052"/>
                  </a:lnTo>
                  <a:lnTo>
                    <a:pt x="1397" y="416052"/>
                  </a:lnTo>
                  <a:lnTo>
                    <a:pt x="635" y="416052"/>
                  </a:lnTo>
                  <a:lnTo>
                    <a:pt x="0" y="415417"/>
                  </a:lnTo>
                  <a:lnTo>
                    <a:pt x="0" y="414655"/>
                  </a:lnTo>
                  <a:lnTo>
                    <a:pt x="0" y="139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905000" y="1597660"/>
            <a:ext cx="1062355" cy="4152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600"/>
              </a:spcBef>
            </a:pPr>
            <a:r>
              <a:rPr sz="1600" b="1" spc="15" dirty="0">
                <a:latin typeface="Comic Sans MS"/>
                <a:cs typeface="Comic Sans MS"/>
              </a:rPr>
              <a:t>Chordata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46157" y="1590865"/>
            <a:ext cx="1443990" cy="386080"/>
            <a:chOff x="3546157" y="1590865"/>
            <a:chExt cx="1443990" cy="386080"/>
          </a:xfrm>
        </p:grpSpPr>
        <p:sp>
          <p:nvSpPr>
            <p:cNvPr id="26" name="object 26"/>
            <p:cNvSpPr/>
            <p:nvPr/>
          </p:nvSpPr>
          <p:spPr>
            <a:xfrm>
              <a:off x="3550920" y="1597659"/>
              <a:ext cx="1434465" cy="373380"/>
            </a:xfrm>
            <a:custGeom>
              <a:avLst/>
              <a:gdLst/>
              <a:ahLst/>
              <a:cxnLst/>
              <a:rect l="l" t="t" r="r" b="b"/>
              <a:pathLst>
                <a:path w="1434464" h="373380">
                  <a:moveTo>
                    <a:pt x="0" y="373379"/>
                  </a:moveTo>
                  <a:lnTo>
                    <a:pt x="1434083" y="373379"/>
                  </a:lnTo>
                  <a:lnTo>
                    <a:pt x="1434083" y="0"/>
                  </a:lnTo>
                  <a:lnTo>
                    <a:pt x="0" y="0"/>
                  </a:lnTo>
                  <a:lnTo>
                    <a:pt x="0" y="373379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50920" y="1595627"/>
              <a:ext cx="1434465" cy="376555"/>
            </a:xfrm>
            <a:custGeom>
              <a:avLst/>
              <a:gdLst/>
              <a:ahLst/>
              <a:cxnLst/>
              <a:rect l="l" t="t" r="r" b="b"/>
              <a:pathLst>
                <a:path w="1434464" h="376555">
                  <a:moveTo>
                    <a:pt x="0" y="1397"/>
                  </a:moveTo>
                  <a:lnTo>
                    <a:pt x="0" y="635"/>
                  </a:lnTo>
                  <a:lnTo>
                    <a:pt x="634" y="0"/>
                  </a:lnTo>
                  <a:lnTo>
                    <a:pt x="1396" y="0"/>
                  </a:lnTo>
                  <a:lnTo>
                    <a:pt x="1432687" y="0"/>
                  </a:lnTo>
                  <a:lnTo>
                    <a:pt x="1433449" y="0"/>
                  </a:lnTo>
                  <a:lnTo>
                    <a:pt x="1434083" y="635"/>
                  </a:lnTo>
                  <a:lnTo>
                    <a:pt x="1434083" y="1397"/>
                  </a:lnTo>
                  <a:lnTo>
                    <a:pt x="1434083" y="375031"/>
                  </a:lnTo>
                  <a:lnTo>
                    <a:pt x="1434083" y="375793"/>
                  </a:lnTo>
                  <a:lnTo>
                    <a:pt x="1433449" y="376428"/>
                  </a:lnTo>
                  <a:lnTo>
                    <a:pt x="1432687" y="376428"/>
                  </a:lnTo>
                  <a:lnTo>
                    <a:pt x="1396" y="376428"/>
                  </a:lnTo>
                  <a:lnTo>
                    <a:pt x="634" y="376428"/>
                  </a:lnTo>
                  <a:lnTo>
                    <a:pt x="0" y="375793"/>
                  </a:lnTo>
                  <a:lnTo>
                    <a:pt x="0" y="375031"/>
                  </a:lnTo>
                  <a:lnTo>
                    <a:pt x="0" y="139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50920" y="1595119"/>
            <a:ext cx="1434465" cy="37719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455"/>
              </a:spcBef>
            </a:pPr>
            <a:r>
              <a:rPr sz="1600" b="1" spc="15" dirty="0">
                <a:latin typeface="Comic Sans MS"/>
                <a:cs typeface="Comic Sans MS"/>
              </a:rPr>
              <a:t>Ascomycota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02973" y="1592389"/>
            <a:ext cx="1399540" cy="386080"/>
            <a:chOff x="5502973" y="1592389"/>
            <a:chExt cx="1399540" cy="386080"/>
          </a:xfrm>
        </p:grpSpPr>
        <p:sp>
          <p:nvSpPr>
            <p:cNvPr id="30" name="object 30"/>
            <p:cNvSpPr/>
            <p:nvPr/>
          </p:nvSpPr>
          <p:spPr>
            <a:xfrm>
              <a:off x="5507735" y="1598930"/>
              <a:ext cx="1390015" cy="374650"/>
            </a:xfrm>
            <a:custGeom>
              <a:avLst/>
              <a:gdLst/>
              <a:ahLst/>
              <a:cxnLst/>
              <a:rect l="l" t="t" r="r" b="b"/>
              <a:pathLst>
                <a:path w="1390015" h="374650">
                  <a:moveTo>
                    <a:pt x="0" y="374650"/>
                  </a:moveTo>
                  <a:lnTo>
                    <a:pt x="1389888" y="374650"/>
                  </a:lnTo>
                  <a:lnTo>
                    <a:pt x="1389888" y="0"/>
                  </a:lnTo>
                  <a:lnTo>
                    <a:pt x="0" y="0"/>
                  </a:lnTo>
                  <a:lnTo>
                    <a:pt x="0" y="37465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07735" y="1597152"/>
              <a:ext cx="1390015" cy="376555"/>
            </a:xfrm>
            <a:custGeom>
              <a:avLst/>
              <a:gdLst/>
              <a:ahLst/>
              <a:cxnLst/>
              <a:rect l="l" t="t" r="r" b="b"/>
              <a:pathLst>
                <a:path w="1390015" h="376555">
                  <a:moveTo>
                    <a:pt x="0" y="1397"/>
                  </a:moveTo>
                  <a:lnTo>
                    <a:pt x="0" y="635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1388490" y="0"/>
                  </a:lnTo>
                  <a:lnTo>
                    <a:pt x="1389253" y="0"/>
                  </a:lnTo>
                  <a:lnTo>
                    <a:pt x="1389888" y="635"/>
                  </a:lnTo>
                  <a:lnTo>
                    <a:pt x="1389888" y="1397"/>
                  </a:lnTo>
                  <a:lnTo>
                    <a:pt x="1389888" y="375031"/>
                  </a:lnTo>
                  <a:lnTo>
                    <a:pt x="1389888" y="375793"/>
                  </a:lnTo>
                  <a:lnTo>
                    <a:pt x="1389253" y="376428"/>
                  </a:lnTo>
                  <a:lnTo>
                    <a:pt x="1388490" y="376428"/>
                  </a:lnTo>
                  <a:lnTo>
                    <a:pt x="1397" y="376428"/>
                  </a:lnTo>
                  <a:lnTo>
                    <a:pt x="635" y="376428"/>
                  </a:lnTo>
                  <a:lnTo>
                    <a:pt x="0" y="375793"/>
                  </a:lnTo>
                  <a:lnTo>
                    <a:pt x="0" y="375031"/>
                  </a:lnTo>
                  <a:lnTo>
                    <a:pt x="0" y="1397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507735" y="1597660"/>
            <a:ext cx="1390015" cy="3759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445"/>
              </a:spcBef>
            </a:pPr>
            <a:r>
              <a:rPr sz="1600" b="1" spc="15" dirty="0">
                <a:latin typeface="Comic Sans MS"/>
                <a:cs typeface="Comic Sans MS"/>
              </a:rPr>
              <a:t>Zygomycota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1227" y="3636264"/>
            <a:ext cx="1274445" cy="622300"/>
          </a:xfrm>
          <a:prstGeom prst="rect">
            <a:avLst/>
          </a:prstGeom>
          <a:solidFill>
            <a:srgbClr val="FF9900"/>
          </a:solidFill>
          <a:ln w="10160">
            <a:solidFill>
              <a:srgbClr val="FF33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309880" marR="304165">
              <a:lnSpc>
                <a:spcPct val="101899"/>
              </a:lnSpc>
              <a:spcBef>
                <a:spcPts val="409"/>
              </a:spcBef>
            </a:pPr>
            <a:r>
              <a:rPr sz="1600" b="1" spc="15" dirty="0">
                <a:latin typeface="Comic Sans MS"/>
                <a:cs typeface="Comic Sans MS"/>
              </a:rPr>
              <a:t>Homo </a:t>
            </a:r>
            <a:r>
              <a:rPr sz="1600" b="1" spc="20" dirty="0">
                <a:latin typeface="Comic Sans MS"/>
                <a:cs typeface="Comic Sans MS"/>
              </a:rPr>
              <a:t> </a:t>
            </a:r>
            <a:r>
              <a:rPr sz="1600" b="1" spc="10" dirty="0">
                <a:latin typeface="Comic Sans MS"/>
                <a:cs typeface="Comic Sans MS"/>
              </a:rPr>
              <a:t>Sapien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59607" y="3614928"/>
            <a:ext cx="1912620" cy="619125"/>
          </a:xfrm>
          <a:prstGeom prst="rect">
            <a:avLst/>
          </a:prstGeom>
          <a:solidFill>
            <a:srgbClr val="FF9900"/>
          </a:solidFill>
          <a:ln w="10160">
            <a:solidFill>
              <a:srgbClr val="FF33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420370">
              <a:lnSpc>
                <a:spcPct val="100000"/>
              </a:lnSpc>
              <a:spcBef>
                <a:spcPts val="430"/>
              </a:spcBef>
            </a:pPr>
            <a:r>
              <a:rPr sz="1600" b="1" spc="10" dirty="0">
                <a:latin typeface="Comic Sans MS"/>
                <a:cs typeface="Comic Sans MS"/>
              </a:rPr>
              <a:t>Solanum</a:t>
            </a:r>
            <a:endParaRPr sz="1600">
              <a:latin typeface="Comic Sans MS"/>
              <a:cs typeface="Comic Sans MS"/>
            </a:endParaRPr>
          </a:p>
          <a:p>
            <a:pPr marL="420370">
              <a:lnSpc>
                <a:spcPct val="100000"/>
              </a:lnSpc>
              <a:spcBef>
                <a:spcPts val="35"/>
              </a:spcBef>
            </a:pPr>
            <a:r>
              <a:rPr sz="1600" b="1" spc="15" dirty="0">
                <a:latin typeface="Comic Sans MS"/>
                <a:cs typeface="Comic Sans MS"/>
              </a:rPr>
              <a:t>Tuberosum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25896" y="3633215"/>
            <a:ext cx="1434465" cy="624840"/>
          </a:xfrm>
          <a:prstGeom prst="rect">
            <a:avLst/>
          </a:prstGeom>
          <a:solidFill>
            <a:srgbClr val="FF9900"/>
          </a:solidFill>
          <a:ln w="10287">
            <a:solidFill>
              <a:srgbClr val="FF330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455"/>
              </a:spcBef>
            </a:pPr>
            <a:r>
              <a:rPr sz="1600" b="1" spc="15" dirty="0">
                <a:latin typeface="Comic Sans MS"/>
                <a:cs typeface="Comic Sans MS"/>
              </a:rPr>
              <a:t>Coprinus</a:t>
            </a:r>
            <a:endParaRPr sz="1600">
              <a:latin typeface="Comic Sans MS"/>
              <a:cs typeface="Comic Sans MS"/>
            </a:endParaRPr>
          </a:p>
          <a:p>
            <a:pPr marL="304800">
              <a:lnSpc>
                <a:spcPct val="100000"/>
              </a:lnSpc>
              <a:spcBef>
                <a:spcPts val="40"/>
              </a:spcBef>
            </a:pPr>
            <a:r>
              <a:rPr sz="1600" b="1" spc="15" dirty="0">
                <a:latin typeface="Comic Sans MS"/>
                <a:cs typeface="Comic Sans MS"/>
              </a:rPr>
              <a:t>Comatus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01268" y="906906"/>
            <a:ext cx="1487805" cy="690245"/>
          </a:xfrm>
          <a:custGeom>
            <a:avLst/>
            <a:gdLst/>
            <a:ahLst/>
            <a:cxnLst/>
            <a:rect l="l" t="t" r="r" b="b"/>
            <a:pathLst>
              <a:path w="1487805" h="690244">
                <a:moveTo>
                  <a:pt x="1487424" y="690245"/>
                </a:moveTo>
                <a:lnTo>
                  <a:pt x="1434833" y="522859"/>
                </a:lnTo>
                <a:lnTo>
                  <a:pt x="1390396" y="381381"/>
                </a:lnTo>
                <a:lnTo>
                  <a:pt x="1307033" y="461899"/>
                </a:lnTo>
                <a:lnTo>
                  <a:pt x="862076" y="1143"/>
                </a:lnTo>
                <a:lnTo>
                  <a:pt x="841425" y="21043"/>
                </a:lnTo>
                <a:lnTo>
                  <a:pt x="824738" y="0"/>
                </a:lnTo>
                <a:lnTo>
                  <a:pt x="208978" y="487756"/>
                </a:lnTo>
                <a:lnTo>
                  <a:pt x="137096" y="397002"/>
                </a:lnTo>
                <a:lnTo>
                  <a:pt x="0" y="690245"/>
                </a:lnTo>
                <a:lnTo>
                  <a:pt x="316865" y="623951"/>
                </a:lnTo>
                <a:lnTo>
                  <a:pt x="259219" y="551180"/>
                </a:lnTo>
                <a:lnTo>
                  <a:pt x="244970" y="533196"/>
                </a:lnTo>
                <a:lnTo>
                  <a:pt x="840206" y="61785"/>
                </a:lnTo>
                <a:lnTo>
                  <a:pt x="1265428" y="502081"/>
                </a:lnTo>
                <a:lnTo>
                  <a:pt x="1182116" y="582549"/>
                </a:lnTo>
                <a:lnTo>
                  <a:pt x="1487424" y="690245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5132832" y="1731264"/>
            <a:ext cx="281940" cy="119380"/>
            <a:chOff x="5132832" y="1731264"/>
            <a:chExt cx="281940" cy="11938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2832" y="1731264"/>
              <a:ext cx="123444" cy="11887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1328" y="1731264"/>
              <a:ext cx="123444" cy="118872"/>
            </a:xfrm>
            <a:prstGeom prst="rect">
              <a:avLst/>
            </a:prstGeom>
          </p:spPr>
        </p:pic>
      </p:grpSp>
      <p:sp>
        <p:nvSpPr>
          <p:cNvPr id="40" name="object 40"/>
          <p:cNvSpPr/>
          <p:nvPr/>
        </p:nvSpPr>
        <p:spPr>
          <a:xfrm>
            <a:off x="4187952" y="879474"/>
            <a:ext cx="1965960" cy="718185"/>
          </a:xfrm>
          <a:custGeom>
            <a:avLst/>
            <a:gdLst/>
            <a:ahLst/>
            <a:cxnLst/>
            <a:rect l="l" t="t" r="r" b="b"/>
            <a:pathLst>
              <a:path w="1965960" h="718185">
                <a:moveTo>
                  <a:pt x="1965960" y="717677"/>
                </a:moveTo>
                <a:lnTo>
                  <a:pt x="1896757" y="600329"/>
                </a:lnTo>
                <a:lnTo>
                  <a:pt x="1801495" y="438785"/>
                </a:lnTo>
                <a:lnTo>
                  <a:pt x="1738566" y="536079"/>
                </a:lnTo>
                <a:lnTo>
                  <a:pt x="910336" y="0"/>
                </a:lnTo>
                <a:lnTo>
                  <a:pt x="894740" y="24015"/>
                </a:lnTo>
                <a:lnTo>
                  <a:pt x="878459" y="2921"/>
                </a:lnTo>
                <a:lnTo>
                  <a:pt x="211467" y="517779"/>
                </a:lnTo>
                <a:lnTo>
                  <a:pt x="140716" y="426085"/>
                </a:lnTo>
                <a:lnTo>
                  <a:pt x="0" y="717677"/>
                </a:lnTo>
                <a:lnTo>
                  <a:pt x="317627" y="655320"/>
                </a:lnTo>
                <a:lnTo>
                  <a:pt x="260477" y="581279"/>
                </a:lnTo>
                <a:lnTo>
                  <a:pt x="246862" y="563638"/>
                </a:lnTo>
                <a:lnTo>
                  <a:pt x="897928" y="60871"/>
                </a:lnTo>
                <a:lnTo>
                  <a:pt x="1707146" y="584644"/>
                </a:lnTo>
                <a:lnTo>
                  <a:pt x="1644269" y="681863"/>
                </a:lnTo>
                <a:lnTo>
                  <a:pt x="1965960" y="717677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626363" y="2296667"/>
            <a:ext cx="593090" cy="120650"/>
            <a:chOff x="626363" y="2296667"/>
            <a:chExt cx="593090" cy="120650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63" y="2296667"/>
              <a:ext cx="123443" cy="12039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859" y="2296667"/>
              <a:ext cx="123443" cy="12039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259" y="2296667"/>
              <a:ext cx="121920" cy="12039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755" y="2296667"/>
              <a:ext cx="123443" cy="120396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1581911" y="2296667"/>
            <a:ext cx="593090" cy="120650"/>
            <a:chOff x="1581911" y="2296667"/>
            <a:chExt cx="593090" cy="120650"/>
          </a:xfrm>
        </p:grpSpPr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1911" y="2296667"/>
              <a:ext cx="123443" cy="12039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40407" y="2296667"/>
              <a:ext cx="123444" cy="12039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2807" y="2296667"/>
              <a:ext cx="123444" cy="12039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1303" y="2296667"/>
              <a:ext cx="123444" cy="120396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2590800" y="2269235"/>
            <a:ext cx="593090" cy="120650"/>
            <a:chOff x="2590800" y="2269235"/>
            <a:chExt cx="593090" cy="120650"/>
          </a:xfrm>
        </p:grpSpPr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800" y="2269235"/>
              <a:ext cx="123444" cy="12039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9295" y="2269235"/>
              <a:ext cx="123444" cy="12039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1695" y="2269235"/>
              <a:ext cx="121920" cy="12039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0191" y="2269235"/>
              <a:ext cx="123444" cy="120396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3653028" y="2269235"/>
            <a:ext cx="593090" cy="120650"/>
            <a:chOff x="3653028" y="2269235"/>
            <a:chExt cx="593090" cy="120650"/>
          </a:xfrm>
        </p:grpSpPr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3028" y="2269235"/>
              <a:ext cx="123444" cy="12039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1524" y="2269235"/>
              <a:ext cx="123444" cy="12039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63924" y="2269235"/>
              <a:ext cx="123444" cy="12039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22420" y="2269235"/>
              <a:ext cx="123444" cy="120396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4608576" y="2269235"/>
            <a:ext cx="593090" cy="120650"/>
            <a:chOff x="4608576" y="2269235"/>
            <a:chExt cx="593090" cy="120650"/>
          </a:xfrm>
        </p:grpSpPr>
        <p:pic>
          <p:nvPicPr>
            <p:cNvPr id="62" name="object 6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8576" y="2269235"/>
              <a:ext cx="123444" cy="12039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68596" y="2269235"/>
              <a:ext cx="121920" cy="12039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9472" y="2269235"/>
              <a:ext cx="123444" cy="12039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77968" y="2269235"/>
              <a:ext cx="123444" cy="120396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5618988" y="2269235"/>
            <a:ext cx="593090" cy="120650"/>
            <a:chOff x="5618988" y="2269235"/>
            <a:chExt cx="593090" cy="120650"/>
          </a:xfrm>
        </p:grpSpPr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18988" y="2269235"/>
              <a:ext cx="123444" cy="12039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77484" y="2269235"/>
              <a:ext cx="123444" cy="12039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9884" y="2269235"/>
              <a:ext cx="123444" cy="12039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8380" y="2269235"/>
              <a:ext cx="123444" cy="120396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5140452" y="2851404"/>
            <a:ext cx="593090" cy="120650"/>
            <a:chOff x="5140452" y="2851404"/>
            <a:chExt cx="593090" cy="120650"/>
          </a:xfrm>
        </p:grpSpPr>
        <p:pic>
          <p:nvPicPr>
            <p:cNvPr id="72" name="object 7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40452" y="2851404"/>
              <a:ext cx="123444" cy="12039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8948" y="2851404"/>
              <a:ext cx="123444" cy="12039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51348" y="2851404"/>
              <a:ext cx="121920" cy="12039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09844" y="2851404"/>
              <a:ext cx="123444" cy="120396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4078223" y="2851404"/>
            <a:ext cx="594360" cy="120650"/>
            <a:chOff x="4078223" y="2851404"/>
            <a:chExt cx="594360" cy="120650"/>
          </a:xfrm>
        </p:grpSpPr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78223" y="2851404"/>
              <a:ext cx="121920" cy="12039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36719" y="2851404"/>
              <a:ext cx="123444" cy="12039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87595" y="2851404"/>
              <a:ext cx="123444" cy="12039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49139" y="2851404"/>
              <a:ext cx="123444" cy="120396"/>
            </a:xfrm>
            <a:prstGeom prst="rect">
              <a:avLst/>
            </a:prstGeom>
          </p:spPr>
        </p:pic>
      </p:grpSp>
      <p:grpSp>
        <p:nvGrpSpPr>
          <p:cNvPr id="81" name="object 81"/>
          <p:cNvGrpSpPr/>
          <p:nvPr/>
        </p:nvGrpSpPr>
        <p:grpSpPr>
          <a:xfrm>
            <a:off x="3014472" y="2894076"/>
            <a:ext cx="594360" cy="120650"/>
            <a:chOff x="3014472" y="2894076"/>
            <a:chExt cx="594360" cy="120650"/>
          </a:xfrm>
        </p:grpSpPr>
        <p:pic>
          <p:nvPicPr>
            <p:cNvPr id="82" name="object 8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14472" y="2894076"/>
              <a:ext cx="123444" cy="120396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74492" y="2894076"/>
              <a:ext cx="123444" cy="120396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5368" y="2894076"/>
              <a:ext cx="123444" cy="12039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86912" y="2894076"/>
              <a:ext cx="121920" cy="120396"/>
            </a:xfrm>
            <a:prstGeom prst="rect">
              <a:avLst/>
            </a:prstGeom>
          </p:spPr>
        </p:pic>
      </p:grpSp>
      <p:grpSp>
        <p:nvGrpSpPr>
          <p:cNvPr id="86" name="object 86"/>
          <p:cNvGrpSpPr/>
          <p:nvPr/>
        </p:nvGrpSpPr>
        <p:grpSpPr>
          <a:xfrm>
            <a:off x="2058923" y="2894076"/>
            <a:ext cx="594360" cy="120650"/>
            <a:chOff x="2058923" y="2894076"/>
            <a:chExt cx="594360" cy="120650"/>
          </a:xfrm>
        </p:grpSpPr>
        <p:pic>
          <p:nvPicPr>
            <p:cNvPr id="87" name="object 8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8923" y="2894076"/>
              <a:ext cx="123444" cy="12039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18943" y="2894076"/>
              <a:ext cx="121920" cy="120396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9819" y="2894076"/>
              <a:ext cx="123444" cy="12039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29839" y="2894076"/>
              <a:ext cx="123444" cy="120396"/>
            </a:xfrm>
            <a:prstGeom prst="rect">
              <a:avLst/>
            </a:prstGeom>
          </p:spPr>
        </p:pic>
      </p:grpSp>
      <p:grpSp>
        <p:nvGrpSpPr>
          <p:cNvPr id="91" name="object 91"/>
          <p:cNvGrpSpPr/>
          <p:nvPr/>
        </p:nvGrpSpPr>
        <p:grpSpPr>
          <a:xfrm>
            <a:off x="1103375" y="2894076"/>
            <a:ext cx="593090" cy="120650"/>
            <a:chOff x="1103375" y="2894076"/>
            <a:chExt cx="593090" cy="120650"/>
          </a:xfrm>
        </p:grpSpPr>
        <p:pic>
          <p:nvPicPr>
            <p:cNvPr id="92" name="object 9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03375" y="2894076"/>
              <a:ext cx="123443" cy="12039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1871" y="2894076"/>
              <a:ext cx="123443" cy="120396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4271" y="2894076"/>
              <a:ext cx="123443" cy="120396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2767" y="2894076"/>
              <a:ext cx="123443" cy="120396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147828" y="2894076"/>
            <a:ext cx="593090" cy="120650"/>
            <a:chOff x="147828" y="2894076"/>
            <a:chExt cx="593090" cy="120650"/>
          </a:xfrm>
        </p:grpSpPr>
        <p:pic>
          <p:nvPicPr>
            <p:cNvPr id="97" name="object 9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7828" y="2894076"/>
              <a:ext cx="121919" cy="12039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6323" y="2894076"/>
              <a:ext cx="123443" cy="120396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8723" y="2894076"/>
              <a:ext cx="121920" cy="12039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7219" y="2894076"/>
              <a:ext cx="123443" cy="120396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6361176" y="2851404"/>
            <a:ext cx="593090" cy="120650"/>
            <a:chOff x="6361176" y="2851404"/>
            <a:chExt cx="593090" cy="120650"/>
          </a:xfrm>
        </p:grpSpPr>
        <p:pic>
          <p:nvPicPr>
            <p:cNvPr id="102" name="object 10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61176" y="2851404"/>
              <a:ext cx="123444" cy="120396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21196" y="2851404"/>
              <a:ext cx="121920" cy="120396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72072" y="2851404"/>
              <a:ext cx="123444" cy="120396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32092" y="2851404"/>
              <a:ext cx="121920" cy="120396"/>
            </a:xfrm>
            <a:prstGeom prst="rect">
              <a:avLst/>
            </a:prstGeom>
          </p:spPr>
        </p:pic>
      </p:grpSp>
      <p:sp>
        <p:nvSpPr>
          <p:cNvPr id="106" name="object 106"/>
          <p:cNvSpPr txBox="1"/>
          <p:nvPr/>
        </p:nvSpPr>
        <p:spPr>
          <a:xfrm>
            <a:off x="6142990" y="2016963"/>
            <a:ext cx="87820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b="1" spc="5" dirty="0">
                <a:solidFill>
                  <a:srgbClr val="0000FF"/>
                </a:solidFill>
                <a:latin typeface="Comic Sans MS"/>
                <a:cs typeface="Comic Sans MS"/>
              </a:rPr>
              <a:t>Phyllum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576819" y="3539490"/>
            <a:ext cx="90487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spc="-5" dirty="0">
                <a:solidFill>
                  <a:srgbClr val="0000FF"/>
                </a:solidFill>
                <a:latin typeface="Comic Sans MS"/>
                <a:cs typeface="Comic Sans MS"/>
              </a:rPr>
              <a:t>Spec</a:t>
            </a:r>
            <a:r>
              <a:rPr sz="1900" b="1" spc="5" dirty="0">
                <a:solidFill>
                  <a:srgbClr val="0000FF"/>
                </a:solidFill>
                <a:latin typeface="Comic Sans MS"/>
                <a:cs typeface="Comic Sans MS"/>
              </a:rPr>
              <a:t>i</a:t>
            </a:r>
            <a:r>
              <a:rPr sz="1900" b="1" spc="-5" dirty="0">
                <a:solidFill>
                  <a:srgbClr val="0000FF"/>
                </a:solidFill>
                <a:latin typeface="Comic Sans MS"/>
                <a:cs typeface="Comic Sans MS"/>
              </a:rPr>
              <a:t>es</a:t>
            </a:r>
            <a:endParaRPr sz="1900">
              <a:latin typeface="Comic Sans MS"/>
              <a:cs typeface="Comic Sans MS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45719" y="3352800"/>
            <a:ext cx="594360" cy="120650"/>
            <a:chOff x="45719" y="3352800"/>
            <a:chExt cx="594360" cy="120650"/>
          </a:xfrm>
        </p:grpSpPr>
        <p:pic>
          <p:nvPicPr>
            <p:cNvPr id="109" name="object 10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719" y="3352800"/>
              <a:ext cx="123444" cy="120396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5740" y="3352800"/>
              <a:ext cx="123443" cy="120396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8140" y="3352800"/>
              <a:ext cx="120396" cy="120396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6636" y="3352800"/>
              <a:ext cx="123443" cy="120396"/>
            </a:xfrm>
            <a:prstGeom prst="rect">
              <a:avLst/>
            </a:prstGeom>
          </p:spPr>
        </p:pic>
      </p:grpSp>
      <p:grpSp>
        <p:nvGrpSpPr>
          <p:cNvPr id="113" name="object 113"/>
          <p:cNvGrpSpPr/>
          <p:nvPr/>
        </p:nvGrpSpPr>
        <p:grpSpPr>
          <a:xfrm>
            <a:off x="986027" y="3352800"/>
            <a:ext cx="593090" cy="120650"/>
            <a:chOff x="986027" y="3352800"/>
            <a:chExt cx="593090" cy="120650"/>
          </a:xfrm>
        </p:grpSpPr>
        <p:pic>
          <p:nvPicPr>
            <p:cNvPr id="114" name="object 1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6027" y="3352800"/>
              <a:ext cx="123443" cy="12039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44523" y="3352800"/>
              <a:ext cx="123443" cy="12039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6923" y="3352800"/>
              <a:ext cx="121919" cy="120396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5419" y="3352800"/>
              <a:ext cx="123443" cy="120396"/>
            </a:xfrm>
            <a:prstGeom prst="rect">
              <a:avLst/>
            </a:prstGeom>
          </p:spPr>
        </p:pic>
      </p:grpSp>
      <p:grpSp>
        <p:nvGrpSpPr>
          <p:cNvPr id="118" name="object 118"/>
          <p:cNvGrpSpPr/>
          <p:nvPr/>
        </p:nvGrpSpPr>
        <p:grpSpPr>
          <a:xfrm>
            <a:off x="1950720" y="3352800"/>
            <a:ext cx="594360" cy="120650"/>
            <a:chOff x="1950720" y="3352800"/>
            <a:chExt cx="594360" cy="120650"/>
          </a:xfrm>
        </p:grpSpPr>
        <p:pic>
          <p:nvPicPr>
            <p:cNvPr id="119" name="object 1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50720" y="3352800"/>
              <a:ext cx="123444" cy="120396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0740" y="3352800"/>
              <a:ext cx="123444" cy="120396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63140" y="3352800"/>
              <a:ext cx="123444" cy="120396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21636" y="3352800"/>
              <a:ext cx="123444" cy="120396"/>
            </a:xfrm>
            <a:prstGeom prst="rect">
              <a:avLst/>
            </a:prstGeom>
          </p:spPr>
        </p:pic>
      </p:grpSp>
      <p:grpSp>
        <p:nvGrpSpPr>
          <p:cNvPr id="123" name="object 123"/>
          <p:cNvGrpSpPr/>
          <p:nvPr/>
        </p:nvGrpSpPr>
        <p:grpSpPr>
          <a:xfrm>
            <a:off x="2967227" y="3352800"/>
            <a:ext cx="593090" cy="120650"/>
            <a:chOff x="2967227" y="3352800"/>
            <a:chExt cx="593090" cy="120650"/>
          </a:xfrm>
        </p:grpSpPr>
        <p:pic>
          <p:nvPicPr>
            <p:cNvPr id="124" name="object 1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7227" y="3352800"/>
              <a:ext cx="123444" cy="120396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25723" y="3352800"/>
              <a:ext cx="123444" cy="120396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78123" y="3352800"/>
              <a:ext cx="123444" cy="120396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36619" y="3352800"/>
              <a:ext cx="123444" cy="120396"/>
            </a:xfrm>
            <a:prstGeom prst="rect">
              <a:avLst/>
            </a:prstGeom>
          </p:spPr>
        </p:pic>
      </p:grpSp>
      <p:grpSp>
        <p:nvGrpSpPr>
          <p:cNvPr id="128" name="object 128"/>
          <p:cNvGrpSpPr/>
          <p:nvPr/>
        </p:nvGrpSpPr>
        <p:grpSpPr>
          <a:xfrm>
            <a:off x="4034028" y="3352800"/>
            <a:ext cx="593090" cy="120650"/>
            <a:chOff x="4034028" y="3352800"/>
            <a:chExt cx="593090" cy="120650"/>
          </a:xfrm>
        </p:grpSpPr>
        <p:pic>
          <p:nvPicPr>
            <p:cNvPr id="129" name="object 1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34028" y="3352800"/>
              <a:ext cx="123444" cy="120396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92524" y="3352800"/>
              <a:ext cx="123444" cy="120396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44924" y="3352800"/>
              <a:ext cx="123444" cy="120396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3420" y="3352800"/>
              <a:ext cx="123444" cy="120396"/>
            </a:xfrm>
            <a:prstGeom prst="rect">
              <a:avLst/>
            </a:prstGeom>
          </p:spPr>
        </p:pic>
      </p:grpSp>
      <p:grpSp>
        <p:nvGrpSpPr>
          <p:cNvPr id="133" name="object 133"/>
          <p:cNvGrpSpPr/>
          <p:nvPr/>
        </p:nvGrpSpPr>
        <p:grpSpPr>
          <a:xfrm>
            <a:off x="4948428" y="3311652"/>
            <a:ext cx="593090" cy="120650"/>
            <a:chOff x="4948428" y="3311652"/>
            <a:chExt cx="593090" cy="120650"/>
          </a:xfrm>
        </p:grpSpPr>
        <p:pic>
          <p:nvPicPr>
            <p:cNvPr id="134" name="object 1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8428" y="3311652"/>
              <a:ext cx="123444" cy="120396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6924" y="3311652"/>
              <a:ext cx="123444" cy="120396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9324" y="3311652"/>
              <a:ext cx="123444" cy="120396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7820" y="3311652"/>
              <a:ext cx="123444" cy="120396"/>
            </a:xfrm>
            <a:prstGeom prst="rect">
              <a:avLst/>
            </a:prstGeom>
          </p:spPr>
        </p:pic>
      </p:grpSp>
      <p:grpSp>
        <p:nvGrpSpPr>
          <p:cNvPr id="138" name="object 138"/>
          <p:cNvGrpSpPr/>
          <p:nvPr/>
        </p:nvGrpSpPr>
        <p:grpSpPr>
          <a:xfrm>
            <a:off x="2225039" y="3893820"/>
            <a:ext cx="593090" cy="120650"/>
            <a:chOff x="2225039" y="3893820"/>
            <a:chExt cx="593090" cy="120650"/>
          </a:xfrm>
        </p:grpSpPr>
        <p:pic>
          <p:nvPicPr>
            <p:cNvPr id="139" name="object 1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25039" y="3893820"/>
              <a:ext cx="123444" cy="120396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83535" y="3893820"/>
              <a:ext cx="123444" cy="120396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35935" y="3893820"/>
              <a:ext cx="123444" cy="120396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94431" y="3893820"/>
              <a:ext cx="123444" cy="120396"/>
            </a:xfrm>
            <a:prstGeom prst="rect">
              <a:avLst/>
            </a:prstGeom>
          </p:spPr>
        </p:pic>
      </p:grpSp>
      <p:grpSp>
        <p:nvGrpSpPr>
          <p:cNvPr id="143" name="object 143"/>
          <p:cNvGrpSpPr/>
          <p:nvPr/>
        </p:nvGrpSpPr>
        <p:grpSpPr>
          <a:xfrm>
            <a:off x="5082540" y="3893820"/>
            <a:ext cx="593090" cy="120650"/>
            <a:chOff x="5082540" y="3893820"/>
            <a:chExt cx="593090" cy="120650"/>
          </a:xfrm>
        </p:grpSpPr>
        <p:pic>
          <p:nvPicPr>
            <p:cNvPr id="144" name="object 1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82540" y="3893820"/>
              <a:ext cx="120396" cy="120396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41036" y="3893820"/>
              <a:ext cx="123444" cy="120396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91912" y="3893820"/>
              <a:ext cx="123444" cy="120396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51932" y="3893820"/>
              <a:ext cx="123444" cy="120396"/>
            </a:xfrm>
            <a:prstGeom prst="rect">
              <a:avLst/>
            </a:prstGeom>
          </p:spPr>
        </p:pic>
      </p:grpSp>
      <p:grpSp>
        <p:nvGrpSpPr>
          <p:cNvPr id="148" name="object 148"/>
          <p:cNvGrpSpPr/>
          <p:nvPr/>
        </p:nvGrpSpPr>
        <p:grpSpPr>
          <a:xfrm>
            <a:off x="7906511" y="3922776"/>
            <a:ext cx="593090" cy="120650"/>
            <a:chOff x="7906511" y="3922776"/>
            <a:chExt cx="593090" cy="120650"/>
          </a:xfrm>
        </p:grpSpPr>
        <p:pic>
          <p:nvPicPr>
            <p:cNvPr id="149" name="object 1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06511" y="3922776"/>
              <a:ext cx="123444" cy="120396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65007" y="3922776"/>
              <a:ext cx="123444" cy="120396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17407" y="3922776"/>
              <a:ext cx="123444" cy="120396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75903" y="3922776"/>
              <a:ext cx="123444" cy="120396"/>
            </a:xfrm>
            <a:prstGeom prst="rect">
              <a:avLst/>
            </a:prstGeom>
          </p:spPr>
        </p:pic>
      </p:grpSp>
      <p:grpSp>
        <p:nvGrpSpPr>
          <p:cNvPr id="153" name="object 153"/>
          <p:cNvGrpSpPr/>
          <p:nvPr/>
        </p:nvGrpSpPr>
        <p:grpSpPr>
          <a:xfrm>
            <a:off x="28955" y="3906011"/>
            <a:ext cx="593090" cy="120650"/>
            <a:chOff x="28955" y="3906011"/>
            <a:chExt cx="593090" cy="120650"/>
          </a:xfrm>
        </p:grpSpPr>
        <p:pic>
          <p:nvPicPr>
            <p:cNvPr id="154" name="object 1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955" y="3906011"/>
              <a:ext cx="123443" cy="120396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7451" y="3906011"/>
              <a:ext cx="123444" cy="120396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9851" y="3906011"/>
              <a:ext cx="123443" cy="120396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8347" y="3906011"/>
              <a:ext cx="123443" cy="120396"/>
            </a:xfrm>
            <a:prstGeom prst="rect">
              <a:avLst/>
            </a:prstGeom>
          </p:spPr>
        </p:pic>
      </p:grpSp>
      <p:grpSp>
        <p:nvGrpSpPr>
          <p:cNvPr id="158" name="object 158"/>
          <p:cNvGrpSpPr/>
          <p:nvPr/>
        </p:nvGrpSpPr>
        <p:grpSpPr>
          <a:xfrm>
            <a:off x="6243828" y="3276600"/>
            <a:ext cx="593090" cy="120650"/>
            <a:chOff x="6243828" y="3276600"/>
            <a:chExt cx="593090" cy="120650"/>
          </a:xfrm>
        </p:grpSpPr>
        <p:pic>
          <p:nvPicPr>
            <p:cNvPr id="159" name="object 1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43828" y="3276600"/>
              <a:ext cx="123444" cy="120396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3848" y="3276600"/>
              <a:ext cx="121920" cy="120396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54724" y="3276600"/>
              <a:ext cx="123444" cy="120396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13220" y="3276600"/>
              <a:ext cx="123444" cy="120396"/>
            </a:xfrm>
            <a:prstGeom prst="rect">
              <a:avLst/>
            </a:prstGeom>
          </p:spPr>
        </p:pic>
      </p:grpSp>
      <p:sp>
        <p:nvSpPr>
          <p:cNvPr id="163" name="object 163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26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0217" y="228422"/>
            <a:ext cx="993140" cy="647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50" spc="10" dirty="0"/>
              <a:t>Quiz</a:t>
            </a:r>
            <a:endParaRPr sz="4050"/>
          </a:p>
        </p:txBody>
      </p:sp>
      <p:sp>
        <p:nvSpPr>
          <p:cNvPr id="4" name="object 4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987932"/>
            <a:ext cx="7247890" cy="30689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50" dirty="0">
                <a:latin typeface="Calibri"/>
                <a:cs typeface="Calibri"/>
              </a:rPr>
              <a:t>What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model?</a:t>
            </a:r>
            <a:endParaRPr sz="3250">
              <a:latin typeface="Calibri"/>
              <a:cs typeface="Calibri"/>
            </a:endParaRPr>
          </a:p>
          <a:p>
            <a:pPr marL="355600" marR="5080" indent="-342900">
              <a:lnSpc>
                <a:spcPct val="1508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50" spc="-10" dirty="0">
                <a:latin typeface="Calibri"/>
                <a:cs typeface="Calibri"/>
              </a:rPr>
              <a:t>Why</a:t>
            </a:r>
            <a:r>
              <a:rPr sz="3250" spc="-5" dirty="0">
                <a:latin typeface="Calibri"/>
                <a:cs typeface="Calibri"/>
              </a:rPr>
              <a:t> develop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model?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That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is, how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does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constructing </a:t>
            </a:r>
            <a:r>
              <a:rPr sz="3250" spc="5" dirty="0">
                <a:latin typeface="Calibri"/>
                <a:cs typeface="Calibri"/>
              </a:rPr>
              <a:t>a model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help?</a:t>
            </a:r>
            <a:endParaRPr sz="3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50" spc="-5" dirty="0">
                <a:latin typeface="Calibri"/>
                <a:cs typeface="Calibri"/>
              </a:rPr>
              <a:t>Give</a:t>
            </a:r>
            <a:r>
              <a:rPr sz="3250" dirty="0">
                <a:latin typeface="Calibri"/>
                <a:cs typeface="Calibri"/>
              </a:rPr>
              <a:t> some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examples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of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models.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161" y="222250"/>
            <a:ext cx="2955925" cy="585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650" spc="5" dirty="0"/>
              <a:t>Decomposition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78739" y="990422"/>
            <a:ext cx="8578215" cy="3070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5" dirty="0">
                <a:latin typeface="Calibri"/>
                <a:cs typeface="Calibri"/>
              </a:rPr>
              <a:t>Decompose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problem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into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many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small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independent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parts.</a:t>
            </a:r>
            <a:endParaRPr sz="2700">
              <a:latin typeface="Calibri"/>
              <a:cs typeface="Calibri"/>
            </a:endParaRPr>
          </a:p>
          <a:p>
            <a:pPr marL="756285" marR="680720" lvl="1" indent="-287020">
              <a:lnSpc>
                <a:spcPct val="109800"/>
              </a:lnSpc>
              <a:spcBef>
                <a:spcPts val="1550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5" dirty="0">
                <a:latin typeface="Calibri"/>
                <a:cs typeface="Calibri"/>
              </a:rPr>
              <a:t>The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small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parts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are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then </a:t>
            </a:r>
            <a:r>
              <a:rPr sz="2450" spc="-20" dirty="0">
                <a:latin typeface="Calibri"/>
                <a:cs typeface="Calibri"/>
              </a:rPr>
              <a:t>taken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up one</a:t>
            </a:r>
            <a:r>
              <a:rPr sz="2450" spc="-10" dirty="0">
                <a:latin typeface="Calibri"/>
                <a:cs typeface="Calibri"/>
              </a:rPr>
              <a:t> by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one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and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solved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separately.</a:t>
            </a:r>
            <a:endParaRPr sz="2450">
              <a:latin typeface="Calibri"/>
              <a:cs typeface="Calibri"/>
            </a:endParaRPr>
          </a:p>
          <a:p>
            <a:pPr marL="756285" marR="127635" lvl="1" indent="-287020">
              <a:lnSpc>
                <a:spcPct val="110200"/>
              </a:lnSpc>
              <a:spcBef>
                <a:spcPts val="1490"/>
              </a:spcBef>
              <a:buFont typeface="Arial MT"/>
              <a:buChar char="–"/>
              <a:tabLst>
                <a:tab pos="756920" algn="l"/>
                <a:tab pos="3556000" algn="l"/>
              </a:tabLst>
            </a:pP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 idea</a:t>
            </a:r>
            <a:r>
              <a:rPr sz="2450" b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45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that</a:t>
            </a:r>
            <a:r>
              <a:rPr sz="245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each	small part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would be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easy to grasp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sz="2450" b="1" spc="-5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therefore</a:t>
            </a:r>
            <a:r>
              <a:rPr sz="245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can</a:t>
            </a:r>
            <a:r>
              <a:rPr sz="245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be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 easily</a:t>
            </a:r>
            <a:r>
              <a:rPr sz="245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solved.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789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full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problem is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solved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when</a:t>
            </a:r>
            <a:r>
              <a:rPr sz="245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FF"/>
                </a:solidFill>
                <a:latin typeface="Calibri"/>
                <a:cs typeface="Calibri"/>
              </a:rPr>
              <a:t>all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 the parts</a:t>
            </a:r>
            <a:r>
              <a:rPr sz="245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are</a:t>
            </a:r>
            <a:r>
              <a:rPr sz="245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solved.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8995" y="3029711"/>
            <a:ext cx="1168907" cy="7528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3029711"/>
            <a:ext cx="2156459" cy="133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7738" y="138176"/>
            <a:ext cx="2955925" cy="585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650" spc="5" dirty="0"/>
              <a:t>Decomposition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78739" y="771601"/>
            <a:ext cx="8244840" cy="3423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15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popular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example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decomposition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principle: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3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55" dirty="0">
                <a:latin typeface="Calibri"/>
                <a:cs typeface="Calibri"/>
              </a:rPr>
              <a:t>Try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to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break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bunch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sticks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tied</a:t>
            </a:r>
            <a:endParaRPr sz="245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590"/>
              </a:spcBef>
            </a:pPr>
            <a:r>
              <a:rPr sz="2450" spc="-10" dirty="0">
                <a:latin typeface="Calibri"/>
                <a:cs typeface="Calibri"/>
              </a:rPr>
              <a:t>together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versus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breaking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them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individually.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9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Any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arbitrary</a:t>
            </a:r>
            <a:r>
              <a:rPr sz="27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decomposition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7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problem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may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not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help.</a:t>
            </a:r>
            <a:endParaRPr sz="2700">
              <a:latin typeface="Calibri"/>
              <a:cs typeface="Calibri"/>
            </a:endParaRPr>
          </a:p>
          <a:p>
            <a:pPr marL="756285" marR="2758440" lvl="1" indent="-287020">
              <a:lnSpc>
                <a:spcPct val="120000"/>
              </a:lnSpc>
              <a:spcBef>
                <a:spcPts val="1850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The decomposed parts must be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more </a:t>
            </a:r>
            <a:r>
              <a:rPr sz="2450" spc="-5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sz="245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less</a:t>
            </a:r>
            <a:r>
              <a:rPr sz="245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independent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45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0000FF"/>
                </a:solidFill>
                <a:latin typeface="Calibri"/>
                <a:cs typeface="Calibri"/>
              </a:rPr>
              <a:t>each</a:t>
            </a:r>
            <a:r>
              <a:rPr sz="245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0000FF"/>
                </a:solidFill>
                <a:latin typeface="Calibri"/>
                <a:cs typeface="Calibri"/>
              </a:rPr>
              <a:t>other.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3200" y="1277111"/>
            <a:ext cx="1944624" cy="8290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29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1560" y="261873"/>
            <a:ext cx="588391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/>
              <a:t>Decomposition:</a:t>
            </a:r>
            <a:r>
              <a:rPr sz="3300" spc="-35" dirty="0"/>
              <a:t> </a:t>
            </a:r>
            <a:r>
              <a:rPr sz="3300" dirty="0"/>
              <a:t>Another</a:t>
            </a:r>
            <a:r>
              <a:rPr sz="3300" spc="30" dirty="0"/>
              <a:t> </a:t>
            </a:r>
            <a:r>
              <a:rPr sz="3300" spc="-10" dirty="0"/>
              <a:t>Example</a:t>
            </a:r>
            <a:endParaRPr sz="3300"/>
          </a:p>
        </p:txBody>
      </p:sp>
      <p:sp>
        <p:nvSpPr>
          <p:cNvPr id="4" name="object 4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30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39" y="991616"/>
            <a:ext cx="8902700" cy="25895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50" spc="-5" dirty="0">
                <a:latin typeface="Calibri"/>
                <a:cs typeface="Calibri"/>
              </a:rPr>
              <a:t>Example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use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of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decomposition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principle:</a:t>
            </a:r>
            <a:endParaRPr sz="3250">
              <a:latin typeface="Calibri"/>
              <a:cs typeface="Calibri"/>
            </a:endParaRPr>
          </a:p>
          <a:p>
            <a:pPr marL="756285" marR="5080" lvl="1" indent="-287020">
              <a:lnSpc>
                <a:spcPct val="114700"/>
              </a:lnSpc>
              <a:spcBef>
                <a:spcPts val="1970"/>
              </a:spcBef>
              <a:buFont typeface="Arial MT"/>
              <a:buChar char="–"/>
              <a:tabLst>
                <a:tab pos="756920" algn="l"/>
              </a:tabLst>
            </a:pPr>
            <a:r>
              <a:rPr sz="3000" spc="-80" dirty="0">
                <a:solidFill>
                  <a:srgbClr val="0000FF"/>
                </a:solidFill>
                <a:latin typeface="Calibri"/>
                <a:cs typeface="Calibri"/>
              </a:rPr>
              <a:t>You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understand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 book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better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when</a:t>
            </a:r>
            <a:r>
              <a:rPr sz="3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contents</a:t>
            </a:r>
            <a:r>
              <a:rPr sz="3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are </a:t>
            </a:r>
            <a:r>
              <a:rPr sz="3000" spc="-6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organized 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into</a:t>
            </a:r>
            <a:r>
              <a:rPr sz="3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independent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chapters.</a:t>
            </a:r>
            <a:endParaRPr sz="3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450"/>
              </a:spcBef>
              <a:buFont typeface="Arial MT"/>
              <a:buChar char="–"/>
              <a:tabLst>
                <a:tab pos="756920" algn="l"/>
              </a:tabLst>
            </a:pP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Compared</a:t>
            </a:r>
            <a:r>
              <a:rPr sz="3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3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when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everything</a:t>
            </a:r>
            <a:r>
              <a:rPr sz="3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 mixed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up.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11" y="92343"/>
            <a:ext cx="8336280" cy="307594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882775">
              <a:lnSpc>
                <a:spcPct val="100000"/>
              </a:lnSpc>
              <a:spcBef>
                <a:spcPts val="1500"/>
              </a:spcBef>
            </a:pPr>
            <a:r>
              <a:rPr sz="2700" b="1" spc="-20" dirty="0">
                <a:solidFill>
                  <a:srgbClr val="0000CC"/>
                </a:solidFill>
                <a:latin typeface="Calibri"/>
                <a:cs typeface="Calibri"/>
              </a:rPr>
              <a:t>Why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Study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Engineering?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30" dirty="0">
                <a:solidFill>
                  <a:srgbClr val="0000CC"/>
                </a:solidFill>
                <a:latin typeface="Calibri"/>
                <a:cs typeface="Calibri"/>
              </a:rPr>
              <a:t>(1)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705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140" dirty="0">
                <a:latin typeface="Calibri"/>
                <a:cs typeface="Calibri"/>
              </a:rPr>
              <a:t>To</a:t>
            </a:r>
            <a:r>
              <a:rPr sz="3250" spc="-5" dirty="0">
                <a:latin typeface="Calibri"/>
                <a:cs typeface="Calibri"/>
              </a:rPr>
              <a:t> acquire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skills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to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develop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large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programs.</a:t>
            </a:r>
            <a:endParaRPr sz="325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870"/>
              </a:spcBef>
            </a:pPr>
            <a:r>
              <a:rPr sz="2700" spc="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Handling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exponential</a:t>
            </a:r>
            <a:r>
              <a:rPr sz="27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growth</a:t>
            </a:r>
            <a:r>
              <a:rPr sz="27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in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complexity</a:t>
            </a:r>
            <a:r>
              <a:rPr sz="27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with</a:t>
            </a:r>
            <a:r>
              <a:rPr sz="27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size.</a:t>
            </a:r>
            <a:endParaRPr sz="2700">
              <a:latin typeface="Calibri"/>
              <a:cs typeface="Calibri"/>
            </a:endParaRPr>
          </a:p>
          <a:p>
            <a:pPr marL="516890" marR="5080" indent="-194310">
              <a:lnSpc>
                <a:spcPct val="115900"/>
              </a:lnSpc>
              <a:spcBef>
                <a:spcPts val="1145"/>
              </a:spcBef>
            </a:pPr>
            <a:r>
              <a:rPr sz="2700" spc="-5" dirty="0">
                <a:latin typeface="Arial MT"/>
                <a:cs typeface="Arial MT"/>
              </a:rPr>
              <a:t>–</a:t>
            </a:r>
            <a:r>
              <a:rPr sz="2700" spc="-5" dirty="0">
                <a:latin typeface="Calibri"/>
                <a:cs typeface="Calibri"/>
              </a:rPr>
              <a:t>Systematic </a:t>
            </a:r>
            <a:r>
              <a:rPr sz="2700" spc="5" dirty="0">
                <a:latin typeface="Calibri"/>
                <a:cs typeface="Calibri"/>
              </a:rPr>
              <a:t>techniques based </a:t>
            </a:r>
            <a:r>
              <a:rPr sz="2700" spc="10" dirty="0">
                <a:latin typeface="Calibri"/>
                <a:cs typeface="Calibri"/>
              </a:rPr>
              <a:t>on </a:t>
            </a:r>
            <a:r>
              <a:rPr sz="2700" spc="-5" dirty="0">
                <a:latin typeface="Calibri"/>
                <a:cs typeface="Calibri"/>
              </a:rPr>
              <a:t>abstraction </a:t>
            </a:r>
            <a:r>
              <a:rPr sz="2700" spc="5" dirty="0">
                <a:latin typeface="Calibri"/>
                <a:cs typeface="Calibri"/>
              </a:rPr>
              <a:t>(modelling)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decomposition.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9153" y="3034281"/>
            <a:ext cx="1602037" cy="11359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6872" y="421081"/>
            <a:ext cx="5349875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dirty="0">
                <a:solidFill>
                  <a:srgbClr val="0000CC"/>
                </a:solidFill>
              </a:rPr>
              <a:t>Why</a:t>
            </a:r>
            <a:r>
              <a:rPr sz="2700" spc="-25" dirty="0">
                <a:solidFill>
                  <a:srgbClr val="0000CC"/>
                </a:solidFill>
              </a:rPr>
              <a:t> </a:t>
            </a:r>
            <a:r>
              <a:rPr sz="2700" spc="10" dirty="0">
                <a:solidFill>
                  <a:srgbClr val="0000CC"/>
                </a:solidFill>
              </a:rPr>
              <a:t>Study</a:t>
            </a:r>
            <a:r>
              <a:rPr sz="2700" spc="-10" dirty="0">
                <a:solidFill>
                  <a:srgbClr val="0000CC"/>
                </a:solidFill>
              </a:rPr>
              <a:t> </a:t>
            </a:r>
            <a:r>
              <a:rPr sz="2700" dirty="0">
                <a:solidFill>
                  <a:srgbClr val="0000CC"/>
                </a:solidFill>
              </a:rPr>
              <a:t>Software</a:t>
            </a:r>
            <a:r>
              <a:rPr sz="2700" spc="-35" dirty="0">
                <a:solidFill>
                  <a:srgbClr val="0000CC"/>
                </a:solidFill>
              </a:rPr>
              <a:t> </a:t>
            </a:r>
            <a:r>
              <a:rPr sz="2700" spc="10" dirty="0">
                <a:solidFill>
                  <a:srgbClr val="0000CC"/>
                </a:solidFill>
              </a:rPr>
              <a:t>Engineering?</a:t>
            </a:r>
            <a:r>
              <a:rPr sz="2700" spc="-35" dirty="0">
                <a:solidFill>
                  <a:srgbClr val="0000CC"/>
                </a:solidFill>
              </a:rPr>
              <a:t> </a:t>
            </a:r>
            <a:r>
              <a:rPr sz="2700" spc="-5" dirty="0">
                <a:solidFill>
                  <a:srgbClr val="0000CC"/>
                </a:solidFill>
              </a:rPr>
              <a:t>(2)</a:t>
            </a:r>
            <a:endParaRPr sz="27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97586" y="1002537"/>
            <a:ext cx="7671434" cy="27184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6379" algn="l"/>
                <a:tab pos="1373505" algn="l"/>
              </a:tabLst>
            </a:pPr>
            <a:r>
              <a:rPr sz="3250" dirty="0">
                <a:latin typeface="Calibri"/>
                <a:cs typeface="Calibri"/>
              </a:rPr>
              <a:t>Learn	</a:t>
            </a:r>
            <a:r>
              <a:rPr sz="3250" spc="-20" dirty="0">
                <a:latin typeface="Calibri"/>
                <a:cs typeface="Calibri"/>
              </a:rPr>
              <a:t>systematic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techniques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of:</a:t>
            </a:r>
            <a:endParaRPr sz="3250">
              <a:latin typeface="Calibri"/>
              <a:cs typeface="Calibri"/>
            </a:endParaRPr>
          </a:p>
          <a:p>
            <a:pPr marL="516890" marR="5080" indent="-193675">
              <a:lnSpc>
                <a:spcPct val="131200"/>
              </a:lnSpc>
              <a:spcBef>
                <a:spcPts val="2325"/>
              </a:spcBef>
            </a:pPr>
            <a:r>
              <a:rPr sz="2700" spc="5" dirty="0">
                <a:solidFill>
                  <a:srgbClr val="6600CC"/>
                </a:solidFill>
                <a:latin typeface="Arial MT"/>
                <a:cs typeface="Arial MT"/>
              </a:rPr>
              <a:t>–</a:t>
            </a:r>
            <a:r>
              <a:rPr sz="2700" b="1" spc="5" dirty="0">
                <a:solidFill>
                  <a:srgbClr val="6600CC"/>
                </a:solidFill>
                <a:latin typeface="Calibri"/>
                <a:cs typeface="Calibri"/>
              </a:rPr>
              <a:t>Specification,</a:t>
            </a:r>
            <a:r>
              <a:rPr sz="2700" b="1" spc="-5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6600CC"/>
                </a:solidFill>
                <a:latin typeface="Calibri"/>
                <a:cs typeface="Calibri"/>
              </a:rPr>
              <a:t>design,</a:t>
            </a:r>
            <a:r>
              <a:rPr sz="2700" b="1" spc="-2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6600CC"/>
                </a:solidFill>
                <a:latin typeface="Calibri"/>
                <a:cs typeface="Calibri"/>
              </a:rPr>
              <a:t>user</a:t>
            </a:r>
            <a:r>
              <a:rPr sz="2700" b="1" spc="-5" dirty="0">
                <a:solidFill>
                  <a:srgbClr val="6600CC"/>
                </a:solidFill>
                <a:latin typeface="Calibri"/>
                <a:cs typeface="Calibri"/>
              </a:rPr>
              <a:t> interface</a:t>
            </a:r>
            <a:r>
              <a:rPr sz="2700" b="1" spc="-3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6600CC"/>
                </a:solidFill>
                <a:latin typeface="Calibri"/>
                <a:cs typeface="Calibri"/>
              </a:rPr>
              <a:t>development, </a:t>
            </a:r>
            <a:r>
              <a:rPr sz="2700" b="1" spc="-59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6600CC"/>
                </a:solidFill>
                <a:latin typeface="Calibri"/>
                <a:cs typeface="Calibri"/>
              </a:rPr>
              <a:t>testing,</a:t>
            </a:r>
            <a:r>
              <a:rPr sz="2700" b="1" spc="-4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6600CC"/>
                </a:solidFill>
                <a:latin typeface="Calibri"/>
                <a:cs typeface="Calibri"/>
              </a:rPr>
              <a:t>project</a:t>
            </a:r>
            <a:r>
              <a:rPr sz="2700" b="1" spc="-1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6600CC"/>
                </a:solidFill>
                <a:latin typeface="Calibri"/>
                <a:cs typeface="Calibri"/>
              </a:rPr>
              <a:t>management,</a:t>
            </a:r>
            <a:r>
              <a:rPr sz="2700" b="1" spc="-4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6600CC"/>
                </a:solidFill>
                <a:latin typeface="Calibri"/>
                <a:cs typeface="Calibri"/>
              </a:rPr>
              <a:t>maintenance,</a:t>
            </a:r>
            <a:r>
              <a:rPr sz="2700" b="1" spc="-4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6600CC"/>
                </a:solidFill>
                <a:latin typeface="Calibri"/>
                <a:cs typeface="Calibri"/>
              </a:rPr>
              <a:t>etc.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Appreciate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issues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arise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team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development.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9311" y="213784"/>
            <a:ext cx="8609330" cy="3268345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marL="227329" algn="ctr">
              <a:lnSpc>
                <a:spcPct val="100000"/>
              </a:lnSpc>
              <a:spcBef>
                <a:spcPts val="1745"/>
              </a:spcBef>
            </a:pP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Why</a:t>
            </a:r>
            <a:r>
              <a:rPr sz="27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Study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700" b="1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Engineering?</a:t>
            </a:r>
            <a:r>
              <a:rPr sz="2700" b="1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(3)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246379" algn="l"/>
                <a:tab pos="888365" algn="l"/>
              </a:tabLst>
            </a:pPr>
            <a:r>
              <a:rPr sz="3650" spc="-155" dirty="0">
                <a:latin typeface="Calibri"/>
                <a:cs typeface="Calibri"/>
              </a:rPr>
              <a:t>To	</a:t>
            </a:r>
            <a:r>
              <a:rPr sz="3650" dirty="0">
                <a:latin typeface="Calibri"/>
                <a:cs typeface="Calibri"/>
              </a:rPr>
              <a:t>acquire</a:t>
            </a:r>
            <a:r>
              <a:rPr sz="3650" spc="-35" dirty="0">
                <a:latin typeface="Calibri"/>
                <a:cs typeface="Calibri"/>
              </a:rPr>
              <a:t> </a:t>
            </a:r>
            <a:r>
              <a:rPr sz="3650" dirty="0">
                <a:latin typeface="Calibri"/>
                <a:cs typeface="Calibri"/>
              </a:rPr>
              <a:t>skills </a:t>
            </a:r>
            <a:r>
              <a:rPr sz="3650" spc="-5" dirty="0">
                <a:latin typeface="Calibri"/>
                <a:cs typeface="Calibri"/>
              </a:rPr>
              <a:t>to</a:t>
            </a:r>
            <a:r>
              <a:rPr sz="3650" spc="-15" dirty="0">
                <a:latin typeface="Calibri"/>
                <a:cs typeface="Calibri"/>
              </a:rPr>
              <a:t> </a:t>
            </a:r>
            <a:r>
              <a:rPr sz="3650" spc="10" dirty="0">
                <a:latin typeface="Calibri"/>
                <a:cs typeface="Calibri"/>
              </a:rPr>
              <a:t>be</a:t>
            </a:r>
            <a:r>
              <a:rPr sz="3650" spc="5" dirty="0">
                <a:latin typeface="Calibri"/>
                <a:cs typeface="Calibri"/>
              </a:rPr>
              <a:t> </a:t>
            </a:r>
            <a:r>
              <a:rPr sz="3650" spc="10" dirty="0">
                <a:latin typeface="Calibri"/>
                <a:cs typeface="Calibri"/>
              </a:rPr>
              <a:t>a</a:t>
            </a:r>
            <a:r>
              <a:rPr sz="3650" spc="5" dirty="0">
                <a:latin typeface="Calibri"/>
                <a:cs typeface="Calibri"/>
              </a:rPr>
              <a:t> </a:t>
            </a:r>
            <a:r>
              <a:rPr sz="3650" spc="-10" dirty="0">
                <a:latin typeface="Calibri"/>
                <a:cs typeface="Calibri"/>
              </a:rPr>
              <a:t>better</a:t>
            </a:r>
            <a:r>
              <a:rPr sz="3650" spc="-40" dirty="0">
                <a:latin typeface="Calibri"/>
                <a:cs typeface="Calibri"/>
              </a:rPr>
              <a:t> </a:t>
            </a:r>
            <a:r>
              <a:rPr sz="3650" spc="-5" dirty="0">
                <a:latin typeface="Calibri"/>
                <a:cs typeface="Calibri"/>
              </a:rPr>
              <a:t>programmer:</a:t>
            </a:r>
            <a:endParaRPr sz="365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3615"/>
              </a:spcBef>
              <a:buFont typeface="Arial MT"/>
              <a:buChar char="•"/>
              <a:tabLst>
                <a:tab pos="790575" algn="l"/>
              </a:tabLst>
            </a:pP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Higher</a:t>
            </a:r>
            <a:r>
              <a:rPr sz="30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Productivity</a:t>
            </a:r>
            <a:endParaRPr sz="3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C00000"/>
              </a:buClr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buFont typeface="Arial MT"/>
              <a:buChar char="•"/>
              <a:tabLst>
                <a:tab pos="790575" algn="l"/>
              </a:tabLst>
            </a:pPr>
            <a:r>
              <a:rPr sz="3000" spc="-20" dirty="0">
                <a:solidFill>
                  <a:srgbClr val="C00000"/>
                </a:solidFill>
                <a:latin typeface="Calibri"/>
                <a:cs typeface="Calibri"/>
              </a:rPr>
              <a:t>Better</a:t>
            </a:r>
            <a:r>
              <a:rPr sz="30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Quality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C00000"/>
                </a:solidFill>
                <a:latin typeface="Calibri"/>
                <a:cs typeface="Calibri"/>
              </a:rPr>
              <a:t>Programs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91400" y="836675"/>
            <a:ext cx="1655445" cy="1050290"/>
          </a:xfrm>
          <a:custGeom>
            <a:avLst/>
            <a:gdLst/>
            <a:ahLst/>
            <a:cxnLst/>
            <a:rect l="l" t="t" r="r" b="b"/>
            <a:pathLst>
              <a:path w="1655445" h="1050289">
                <a:moveTo>
                  <a:pt x="1655063" y="0"/>
                </a:moveTo>
                <a:lnTo>
                  <a:pt x="0" y="0"/>
                </a:lnTo>
                <a:lnTo>
                  <a:pt x="0" y="1050036"/>
                </a:lnTo>
                <a:lnTo>
                  <a:pt x="1655063" y="1050036"/>
                </a:lnTo>
                <a:lnTo>
                  <a:pt x="165506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494778" y="962990"/>
            <a:ext cx="14509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Jobs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versus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Calibri"/>
                <a:cs typeface="Calibri"/>
              </a:rPr>
              <a:t>Projects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363" y="2879216"/>
            <a:ext cx="8437880" cy="13906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5745" marR="62865" indent="-233679">
              <a:lnSpc>
                <a:spcPts val="2380"/>
              </a:lnSpc>
              <a:spcBef>
                <a:spcPts val="390"/>
              </a:spcBef>
            </a:pPr>
            <a:r>
              <a:rPr sz="2200" b="1" spc="-10" dirty="0">
                <a:solidFill>
                  <a:srgbClr val="000099"/>
                </a:solidFill>
                <a:latin typeface="Calibri"/>
                <a:cs typeface="Calibri"/>
              </a:rPr>
              <a:t>Jobs</a:t>
            </a:r>
            <a:r>
              <a:rPr sz="2200" b="1" spc="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–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repetition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well-defined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well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understood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tasks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 </a:t>
            </a:r>
            <a:r>
              <a:rPr sz="2200" spc="-10" dirty="0">
                <a:latin typeface="Calibri"/>
                <a:cs typeface="Calibri"/>
              </a:rPr>
              <a:t>very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little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uncertainty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200" b="1" spc="-15" dirty="0">
                <a:solidFill>
                  <a:srgbClr val="000099"/>
                </a:solidFill>
                <a:latin typeface="Calibri"/>
                <a:cs typeface="Calibri"/>
              </a:rPr>
              <a:t>Exploration</a:t>
            </a:r>
            <a:r>
              <a:rPr sz="2200" b="1" spc="5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–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outcome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uncertain,</a:t>
            </a:r>
            <a:r>
              <a:rPr sz="2200" dirty="0">
                <a:latin typeface="Calibri"/>
                <a:cs typeface="Calibri"/>
              </a:rPr>
              <a:t> e.g.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finding</a:t>
            </a:r>
            <a:r>
              <a:rPr sz="2200" spc="-5" dirty="0">
                <a:latin typeface="Calibri"/>
                <a:cs typeface="Calibri"/>
              </a:rPr>
              <a:t> 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cure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cancer.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  <a:tabLst>
                <a:tab pos="2929890" algn="l"/>
              </a:tabLst>
            </a:pPr>
            <a:r>
              <a:rPr sz="2200" b="1" spc="-10" dirty="0">
                <a:solidFill>
                  <a:srgbClr val="000099"/>
                </a:solidFill>
                <a:latin typeface="Calibri"/>
                <a:cs typeface="Calibri"/>
              </a:rPr>
              <a:t>Projects</a:t>
            </a:r>
            <a:r>
              <a:rPr sz="2200" b="1" spc="4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–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middle!	</a:t>
            </a:r>
            <a:r>
              <a:rPr sz="2200" spc="-10" dirty="0">
                <a:latin typeface="Calibri"/>
                <a:cs typeface="Calibri"/>
              </a:rPr>
              <a:t>Has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challenge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well</a:t>
            </a:r>
            <a:r>
              <a:rPr sz="2200" dirty="0">
                <a:latin typeface="Calibri"/>
                <a:cs typeface="Calibri"/>
              </a:rPr>
              <a:t> as</a:t>
            </a:r>
            <a:r>
              <a:rPr sz="2200" spc="-10" dirty="0">
                <a:latin typeface="Calibri"/>
                <a:cs typeface="Calibri"/>
              </a:rPr>
              <a:t> routine…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7368" y="438912"/>
            <a:ext cx="6858000" cy="2333625"/>
          </a:xfrm>
          <a:custGeom>
            <a:avLst/>
            <a:gdLst/>
            <a:ahLst/>
            <a:cxnLst/>
            <a:rect l="l" t="t" r="r" b="b"/>
            <a:pathLst>
              <a:path w="6858000" h="2333625">
                <a:moveTo>
                  <a:pt x="6858000" y="0"/>
                </a:moveTo>
                <a:lnTo>
                  <a:pt x="0" y="0"/>
                </a:lnTo>
                <a:lnTo>
                  <a:pt x="0" y="2333244"/>
                </a:lnTo>
                <a:lnTo>
                  <a:pt x="6858000" y="2333244"/>
                </a:lnTo>
                <a:lnTo>
                  <a:pt x="6858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8303" y="797051"/>
            <a:ext cx="1450975" cy="426720"/>
          </a:xfrm>
          <a:prstGeom prst="rect">
            <a:avLst/>
          </a:prstGeom>
          <a:solidFill>
            <a:srgbClr val="FFFF00"/>
          </a:solidFill>
          <a:ln w="9144">
            <a:solidFill>
              <a:srgbClr val="CC33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275"/>
              </a:spcBef>
            </a:pPr>
            <a:r>
              <a:rPr sz="2150" b="1" spc="5" dirty="0">
                <a:latin typeface="Comic Sans MS"/>
                <a:cs typeface="Comic Sans MS"/>
              </a:rPr>
              <a:t>Routine</a:t>
            </a:r>
            <a:endParaRPr sz="215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686109" y="585025"/>
            <a:ext cx="1978660" cy="773430"/>
            <a:chOff x="4686109" y="585025"/>
            <a:chExt cx="1978660" cy="773430"/>
          </a:xfrm>
        </p:grpSpPr>
        <p:sp>
          <p:nvSpPr>
            <p:cNvPr id="8" name="object 8"/>
            <p:cNvSpPr/>
            <p:nvPr/>
          </p:nvSpPr>
          <p:spPr>
            <a:xfrm>
              <a:off x="4690871" y="589787"/>
              <a:ext cx="1969135" cy="763905"/>
            </a:xfrm>
            <a:custGeom>
              <a:avLst/>
              <a:gdLst/>
              <a:ahLst/>
              <a:cxnLst/>
              <a:rect l="l" t="t" r="r" b="b"/>
              <a:pathLst>
                <a:path w="1969134" h="763905">
                  <a:moveTo>
                    <a:pt x="1969007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1969007" y="763524"/>
                  </a:lnTo>
                  <a:lnTo>
                    <a:pt x="196900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90871" y="589787"/>
              <a:ext cx="1969135" cy="763905"/>
            </a:xfrm>
            <a:custGeom>
              <a:avLst/>
              <a:gdLst/>
              <a:ahLst/>
              <a:cxnLst/>
              <a:rect l="l" t="t" r="r" b="b"/>
              <a:pathLst>
                <a:path w="1969134" h="763905">
                  <a:moveTo>
                    <a:pt x="0" y="763524"/>
                  </a:moveTo>
                  <a:lnTo>
                    <a:pt x="1969007" y="763524"/>
                  </a:lnTo>
                  <a:lnTo>
                    <a:pt x="1969007" y="0"/>
                  </a:lnTo>
                  <a:lnTo>
                    <a:pt x="0" y="0"/>
                  </a:lnTo>
                  <a:lnTo>
                    <a:pt x="0" y="763524"/>
                  </a:lnTo>
                  <a:close/>
                </a:path>
              </a:pathLst>
            </a:custGeom>
            <a:ln w="9144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7368" y="438912"/>
            <a:ext cx="6858000" cy="2333625"/>
          </a:xfrm>
          <a:prstGeom prst="rect">
            <a:avLst/>
          </a:prstGeom>
          <a:ln w="9144">
            <a:solidFill>
              <a:srgbClr val="FF33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4658360" marR="668020" indent="-41275" algn="r">
              <a:lnSpc>
                <a:spcPct val="101400"/>
              </a:lnSpc>
              <a:spcBef>
                <a:spcPts val="1425"/>
              </a:spcBef>
            </a:pPr>
            <a:r>
              <a:rPr sz="2150" b="1" spc="10" dirty="0">
                <a:latin typeface="Comic Sans MS"/>
                <a:cs typeface="Comic Sans MS"/>
              </a:rPr>
              <a:t>Uncertain</a:t>
            </a:r>
            <a:r>
              <a:rPr sz="2150" b="1" spc="5" dirty="0">
                <a:latin typeface="Comic Sans MS"/>
                <a:cs typeface="Comic Sans MS"/>
              </a:rPr>
              <a:t>ty  </a:t>
            </a:r>
            <a:r>
              <a:rPr sz="2150" b="1" spc="10" dirty="0">
                <a:latin typeface="Comic Sans MS"/>
                <a:cs typeface="Comic Sans MS"/>
              </a:rPr>
              <a:t>of</a:t>
            </a:r>
            <a:r>
              <a:rPr sz="2150" b="1" spc="-35" dirty="0">
                <a:latin typeface="Comic Sans MS"/>
                <a:cs typeface="Comic Sans MS"/>
              </a:rPr>
              <a:t> </a:t>
            </a:r>
            <a:r>
              <a:rPr sz="2150" b="1" spc="10" dirty="0">
                <a:latin typeface="Comic Sans MS"/>
                <a:cs typeface="Comic Sans MS"/>
              </a:rPr>
              <a:t>outcome</a:t>
            </a:r>
            <a:endParaRPr sz="215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8283" y="1565147"/>
            <a:ext cx="5712460" cy="273050"/>
            <a:chOff x="748283" y="1565147"/>
            <a:chExt cx="5712460" cy="273050"/>
          </a:xfrm>
        </p:grpSpPr>
        <p:sp>
          <p:nvSpPr>
            <p:cNvPr id="12" name="object 12"/>
            <p:cNvSpPr/>
            <p:nvPr/>
          </p:nvSpPr>
          <p:spPr>
            <a:xfrm>
              <a:off x="3654551" y="1569719"/>
              <a:ext cx="881380" cy="264160"/>
            </a:xfrm>
            <a:custGeom>
              <a:avLst/>
              <a:gdLst/>
              <a:ahLst/>
              <a:cxnLst/>
              <a:rect l="l" t="t" r="r" b="b"/>
              <a:pathLst>
                <a:path w="881379" h="264160">
                  <a:moveTo>
                    <a:pt x="661288" y="0"/>
                  </a:moveTo>
                  <a:lnTo>
                    <a:pt x="0" y="0"/>
                  </a:lnTo>
                  <a:lnTo>
                    <a:pt x="219583" y="131825"/>
                  </a:lnTo>
                  <a:lnTo>
                    <a:pt x="0" y="263651"/>
                  </a:lnTo>
                  <a:lnTo>
                    <a:pt x="661288" y="263651"/>
                  </a:lnTo>
                  <a:lnTo>
                    <a:pt x="880872" y="131825"/>
                  </a:lnTo>
                  <a:lnTo>
                    <a:pt x="66128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4551" y="1569719"/>
              <a:ext cx="881380" cy="264160"/>
            </a:xfrm>
            <a:custGeom>
              <a:avLst/>
              <a:gdLst/>
              <a:ahLst/>
              <a:cxnLst/>
              <a:rect l="l" t="t" r="r" b="b"/>
              <a:pathLst>
                <a:path w="881379" h="264160">
                  <a:moveTo>
                    <a:pt x="0" y="0"/>
                  </a:moveTo>
                  <a:lnTo>
                    <a:pt x="661288" y="0"/>
                  </a:lnTo>
                  <a:lnTo>
                    <a:pt x="880872" y="131825"/>
                  </a:lnTo>
                  <a:lnTo>
                    <a:pt x="661288" y="263651"/>
                  </a:lnTo>
                  <a:lnTo>
                    <a:pt x="0" y="263651"/>
                  </a:lnTo>
                  <a:lnTo>
                    <a:pt x="219583" y="131825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40580" y="1569719"/>
              <a:ext cx="881380" cy="264160"/>
            </a:xfrm>
            <a:custGeom>
              <a:avLst/>
              <a:gdLst/>
              <a:ahLst/>
              <a:cxnLst/>
              <a:rect l="l" t="t" r="r" b="b"/>
              <a:pathLst>
                <a:path w="881379" h="264160">
                  <a:moveTo>
                    <a:pt x="661289" y="0"/>
                  </a:moveTo>
                  <a:lnTo>
                    <a:pt x="0" y="0"/>
                  </a:lnTo>
                  <a:lnTo>
                    <a:pt x="219583" y="131825"/>
                  </a:lnTo>
                  <a:lnTo>
                    <a:pt x="0" y="263651"/>
                  </a:lnTo>
                  <a:lnTo>
                    <a:pt x="661289" y="263651"/>
                  </a:lnTo>
                  <a:lnTo>
                    <a:pt x="880872" y="131825"/>
                  </a:lnTo>
                  <a:lnTo>
                    <a:pt x="66128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40580" y="1569719"/>
              <a:ext cx="881380" cy="264160"/>
            </a:xfrm>
            <a:custGeom>
              <a:avLst/>
              <a:gdLst/>
              <a:ahLst/>
              <a:cxnLst/>
              <a:rect l="l" t="t" r="r" b="b"/>
              <a:pathLst>
                <a:path w="881379" h="264160">
                  <a:moveTo>
                    <a:pt x="0" y="0"/>
                  </a:moveTo>
                  <a:lnTo>
                    <a:pt x="661289" y="0"/>
                  </a:lnTo>
                  <a:lnTo>
                    <a:pt x="880872" y="131825"/>
                  </a:lnTo>
                  <a:lnTo>
                    <a:pt x="661289" y="263651"/>
                  </a:lnTo>
                  <a:lnTo>
                    <a:pt x="0" y="263651"/>
                  </a:lnTo>
                  <a:lnTo>
                    <a:pt x="219583" y="131825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74792" y="1569719"/>
              <a:ext cx="881380" cy="264160"/>
            </a:xfrm>
            <a:custGeom>
              <a:avLst/>
              <a:gdLst/>
              <a:ahLst/>
              <a:cxnLst/>
              <a:rect l="l" t="t" r="r" b="b"/>
              <a:pathLst>
                <a:path w="881379" h="264160">
                  <a:moveTo>
                    <a:pt x="661288" y="0"/>
                  </a:moveTo>
                  <a:lnTo>
                    <a:pt x="0" y="0"/>
                  </a:lnTo>
                  <a:lnTo>
                    <a:pt x="219583" y="131825"/>
                  </a:lnTo>
                  <a:lnTo>
                    <a:pt x="0" y="263651"/>
                  </a:lnTo>
                  <a:lnTo>
                    <a:pt x="661288" y="263651"/>
                  </a:lnTo>
                  <a:lnTo>
                    <a:pt x="880872" y="131825"/>
                  </a:lnTo>
                  <a:lnTo>
                    <a:pt x="66128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74792" y="1569719"/>
              <a:ext cx="881380" cy="264160"/>
            </a:xfrm>
            <a:custGeom>
              <a:avLst/>
              <a:gdLst/>
              <a:ahLst/>
              <a:cxnLst/>
              <a:rect l="l" t="t" r="r" b="b"/>
              <a:pathLst>
                <a:path w="881379" h="264160">
                  <a:moveTo>
                    <a:pt x="0" y="0"/>
                  </a:moveTo>
                  <a:lnTo>
                    <a:pt x="661288" y="0"/>
                  </a:lnTo>
                  <a:lnTo>
                    <a:pt x="880872" y="131825"/>
                  </a:lnTo>
                  <a:lnTo>
                    <a:pt x="661288" y="263651"/>
                  </a:lnTo>
                  <a:lnTo>
                    <a:pt x="0" y="263651"/>
                  </a:lnTo>
                  <a:lnTo>
                    <a:pt x="219583" y="131825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62783" y="1569719"/>
              <a:ext cx="830580" cy="264160"/>
            </a:xfrm>
            <a:custGeom>
              <a:avLst/>
              <a:gdLst/>
              <a:ahLst/>
              <a:cxnLst/>
              <a:rect l="l" t="t" r="r" b="b"/>
              <a:pathLst>
                <a:path w="830579" h="264160">
                  <a:moveTo>
                    <a:pt x="830580" y="0"/>
                  </a:moveTo>
                  <a:lnTo>
                    <a:pt x="206629" y="0"/>
                  </a:lnTo>
                  <a:lnTo>
                    <a:pt x="0" y="131825"/>
                  </a:lnTo>
                  <a:lnTo>
                    <a:pt x="206629" y="263651"/>
                  </a:lnTo>
                  <a:lnTo>
                    <a:pt x="830580" y="263651"/>
                  </a:lnTo>
                  <a:lnTo>
                    <a:pt x="623951" y="131825"/>
                  </a:lnTo>
                  <a:lnTo>
                    <a:pt x="83058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62783" y="1569719"/>
              <a:ext cx="830580" cy="264160"/>
            </a:xfrm>
            <a:custGeom>
              <a:avLst/>
              <a:gdLst/>
              <a:ahLst/>
              <a:cxnLst/>
              <a:rect l="l" t="t" r="r" b="b"/>
              <a:pathLst>
                <a:path w="830579" h="264160">
                  <a:moveTo>
                    <a:pt x="830580" y="0"/>
                  </a:moveTo>
                  <a:lnTo>
                    <a:pt x="206629" y="0"/>
                  </a:lnTo>
                  <a:lnTo>
                    <a:pt x="0" y="131825"/>
                  </a:lnTo>
                  <a:lnTo>
                    <a:pt x="206629" y="263651"/>
                  </a:lnTo>
                  <a:lnTo>
                    <a:pt x="830580" y="263651"/>
                  </a:lnTo>
                  <a:lnTo>
                    <a:pt x="623951" y="131825"/>
                  </a:lnTo>
                  <a:lnTo>
                    <a:pt x="83058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33727" y="1569719"/>
              <a:ext cx="828040" cy="264160"/>
            </a:xfrm>
            <a:custGeom>
              <a:avLst/>
              <a:gdLst/>
              <a:ahLst/>
              <a:cxnLst/>
              <a:rect l="l" t="t" r="r" b="b"/>
              <a:pathLst>
                <a:path w="828039" h="264160">
                  <a:moveTo>
                    <a:pt x="827532" y="0"/>
                  </a:moveTo>
                  <a:lnTo>
                    <a:pt x="206629" y="0"/>
                  </a:lnTo>
                  <a:lnTo>
                    <a:pt x="0" y="131825"/>
                  </a:lnTo>
                  <a:lnTo>
                    <a:pt x="206629" y="263651"/>
                  </a:lnTo>
                  <a:lnTo>
                    <a:pt x="827532" y="263651"/>
                  </a:lnTo>
                  <a:lnTo>
                    <a:pt x="620903" y="131825"/>
                  </a:lnTo>
                  <a:lnTo>
                    <a:pt x="8275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33727" y="1569719"/>
              <a:ext cx="828040" cy="264160"/>
            </a:xfrm>
            <a:custGeom>
              <a:avLst/>
              <a:gdLst/>
              <a:ahLst/>
              <a:cxnLst/>
              <a:rect l="l" t="t" r="r" b="b"/>
              <a:pathLst>
                <a:path w="828039" h="264160">
                  <a:moveTo>
                    <a:pt x="827532" y="0"/>
                  </a:moveTo>
                  <a:lnTo>
                    <a:pt x="206629" y="0"/>
                  </a:lnTo>
                  <a:lnTo>
                    <a:pt x="0" y="131825"/>
                  </a:lnTo>
                  <a:lnTo>
                    <a:pt x="206629" y="263651"/>
                  </a:lnTo>
                  <a:lnTo>
                    <a:pt x="827532" y="263651"/>
                  </a:lnTo>
                  <a:lnTo>
                    <a:pt x="620903" y="131825"/>
                  </a:lnTo>
                  <a:lnTo>
                    <a:pt x="827532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2855" y="1569719"/>
              <a:ext cx="829310" cy="264160"/>
            </a:xfrm>
            <a:custGeom>
              <a:avLst/>
              <a:gdLst/>
              <a:ahLst/>
              <a:cxnLst/>
              <a:rect l="l" t="t" r="r" b="b"/>
              <a:pathLst>
                <a:path w="829310" h="264160">
                  <a:moveTo>
                    <a:pt x="829056" y="0"/>
                  </a:moveTo>
                  <a:lnTo>
                    <a:pt x="206616" y="0"/>
                  </a:lnTo>
                  <a:lnTo>
                    <a:pt x="0" y="131825"/>
                  </a:lnTo>
                  <a:lnTo>
                    <a:pt x="206616" y="263651"/>
                  </a:lnTo>
                  <a:lnTo>
                    <a:pt x="829056" y="263651"/>
                  </a:lnTo>
                  <a:lnTo>
                    <a:pt x="622427" y="131825"/>
                  </a:lnTo>
                  <a:lnTo>
                    <a:pt x="82905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2855" y="1569719"/>
              <a:ext cx="829310" cy="264160"/>
            </a:xfrm>
            <a:custGeom>
              <a:avLst/>
              <a:gdLst/>
              <a:ahLst/>
              <a:cxnLst/>
              <a:rect l="l" t="t" r="r" b="b"/>
              <a:pathLst>
                <a:path w="829310" h="264160">
                  <a:moveTo>
                    <a:pt x="829056" y="0"/>
                  </a:moveTo>
                  <a:lnTo>
                    <a:pt x="206616" y="0"/>
                  </a:lnTo>
                  <a:lnTo>
                    <a:pt x="0" y="131825"/>
                  </a:lnTo>
                  <a:lnTo>
                    <a:pt x="206616" y="263651"/>
                  </a:lnTo>
                  <a:lnTo>
                    <a:pt x="829056" y="263651"/>
                  </a:lnTo>
                  <a:lnTo>
                    <a:pt x="622427" y="131825"/>
                  </a:lnTo>
                  <a:lnTo>
                    <a:pt x="829056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54963" y="2060448"/>
            <a:ext cx="1450975" cy="426720"/>
          </a:xfrm>
          <a:prstGeom prst="rect">
            <a:avLst/>
          </a:prstGeom>
          <a:solidFill>
            <a:srgbClr val="FFFF00"/>
          </a:solidFill>
          <a:ln w="9144">
            <a:solidFill>
              <a:srgbClr val="CC33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412115">
              <a:lnSpc>
                <a:spcPct val="100000"/>
              </a:lnSpc>
              <a:spcBef>
                <a:spcPts val="284"/>
              </a:spcBef>
            </a:pPr>
            <a:r>
              <a:rPr sz="2150" b="1" spc="5" dirty="0">
                <a:latin typeface="Comic Sans MS"/>
                <a:cs typeface="Comic Sans MS"/>
              </a:rPr>
              <a:t>Jobs</a:t>
            </a:r>
            <a:endParaRPr sz="215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73679" y="2060448"/>
            <a:ext cx="1452880" cy="426720"/>
          </a:xfrm>
          <a:prstGeom prst="rect">
            <a:avLst/>
          </a:prstGeom>
          <a:solidFill>
            <a:srgbClr val="FFFF00"/>
          </a:solidFill>
          <a:ln w="9144">
            <a:solidFill>
              <a:srgbClr val="CC33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284"/>
              </a:spcBef>
            </a:pPr>
            <a:r>
              <a:rPr sz="2150" b="1" spc="5" dirty="0">
                <a:latin typeface="Comic Sans MS"/>
                <a:cs typeface="Comic Sans MS"/>
              </a:rPr>
              <a:t>Projects</a:t>
            </a:r>
            <a:endParaRPr sz="215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40579" y="2058923"/>
            <a:ext cx="1813560" cy="426720"/>
          </a:xfrm>
          <a:prstGeom prst="rect">
            <a:avLst/>
          </a:prstGeom>
          <a:solidFill>
            <a:srgbClr val="FFFF00"/>
          </a:solidFill>
          <a:ln w="9144">
            <a:solidFill>
              <a:srgbClr val="CC33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280"/>
              </a:spcBef>
            </a:pPr>
            <a:r>
              <a:rPr sz="2150" b="1" spc="5" dirty="0">
                <a:latin typeface="Comic Sans MS"/>
                <a:cs typeface="Comic Sans MS"/>
              </a:rPr>
              <a:t>Exploration</a:t>
            </a:r>
            <a:endParaRPr sz="215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27211" y="4792776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115" y="972311"/>
            <a:ext cx="2798445" cy="10502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23825" rIns="0" bIns="0" rtlCol="0">
            <a:spAutoFit/>
          </a:bodyPr>
          <a:lstStyle/>
          <a:p>
            <a:pPr marL="828040" marR="114300" indent="-701675">
              <a:lnSpc>
                <a:spcPts val="3050"/>
              </a:lnSpc>
              <a:spcBef>
                <a:spcPts val="975"/>
              </a:spcBef>
            </a:pPr>
            <a:r>
              <a:rPr sz="2700" b="1" spc="-20" dirty="0">
                <a:latin typeface="Calibri"/>
                <a:cs typeface="Calibri"/>
              </a:rPr>
              <a:t>Types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of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Software </a:t>
            </a:r>
            <a:r>
              <a:rPr sz="2700" b="1" spc="-59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Projects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664" y="362534"/>
            <a:ext cx="5097780" cy="182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50" dirty="0">
                <a:latin typeface="Calibri"/>
                <a:cs typeface="Calibri"/>
              </a:rPr>
              <a:t>Two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types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software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projects: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080"/>
              </a:spcBef>
            </a:pPr>
            <a:r>
              <a:rPr sz="2700" spc="5" dirty="0">
                <a:solidFill>
                  <a:srgbClr val="000099"/>
                </a:solidFill>
                <a:latin typeface="Arial MT"/>
                <a:cs typeface="Arial MT"/>
              </a:rPr>
              <a:t>–</a:t>
            </a:r>
            <a:r>
              <a:rPr sz="2700" b="1" spc="5" dirty="0">
                <a:solidFill>
                  <a:srgbClr val="000099"/>
                </a:solidFill>
                <a:latin typeface="Calibri"/>
                <a:cs typeface="Calibri"/>
              </a:rPr>
              <a:t>Products</a:t>
            </a:r>
            <a:r>
              <a:rPr sz="2700" b="1" spc="-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99"/>
                </a:solidFill>
                <a:latin typeface="Calibri"/>
                <a:cs typeface="Calibri"/>
              </a:rPr>
              <a:t>(Generic</a:t>
            </a:r>
            <a:r>
              <a:rPr sz="2700" b="1" spc="-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99"/>
                </a:solidFill>
                <a:latin typeface="Calibri"/>
                <a:cs typeface="Calibri"/>
              </a:rPr>
              <a:t>software)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970"/>
              </a:spcBef>
            </a:pPr>
            <a:r>
              <a:rPr sz="2700" spc="10" dirty="0">
                <a:solidFill>
                  <a:srgbClr val="000099"/>
                </a:solidFill>
                <a:latin typeface="Arial MT"/>
                <a:cs typeface="Arial MT"/>
              </a:rPr>
              <a:t>–</a:t>
            </a:r>
            <a:r>
              <a:rPr sz="2700" b="1" spc="10" dirty="0">
                <a:solidFill>
                  <a:srgbClr val="000099"/>
                </a:solidFill>
                <a:latin typeface="Calibri"/>
                <a:cs typeface="Calibri"/>
              </a:rPr>
              <a:t>Services</a:t>
            </a:r>
            <a:r>
              <a:rPr sz="2700" b="1" spc="-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99"/>
                </a:solidFill>
                <a:latin typeface="Calibri"/>
                <a:cs typeface="Calibri"/>
              </a:rPr>
              <a:t>(custom</a:t>
            </a:r>
            <a:r>
              <a:rPr sz="2700" b="1" spc="-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99"/>
                </a:solidFill>
                <a:latin typeface="Calibri"/>
                <a:cs typeface="Calibri"/>
              </a:rPr>
              <a:t>software)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64" y="2403805"/>
            <a:ext cx="6353175" cy="1820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60" dirty="0">
                <a:latin typeface="Calibri"/>
                <a:cs typeface="Calibri"/>
              </a:rPr>
              <a:t>Total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business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–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Several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Trillions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$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080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Half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products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half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services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964"/>
              </a:spcBef>
            </a:pPr>
            <a:r>
              <a:rPr sz="2700" spc="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Services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segment</a:t>
            </a:r>
            <a:r>
              <a:rPr sz="27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growing</a:t>
            </a:r>
            <a:r>
              <a:rPr sz="27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fast!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4557" y="4690668"/>
            <a:ext cx="333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888888"/>
                </a:solidFill>
                <a:latin typeface="Calibri"/>
                <a:cs typeface="Calibri"/>
              </a:rPr>
              <a:t>44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41567" y="3426409"/>
            <a:ext cx="28536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5" dirty="0">
                <a:latin typeface="Calibri"/>
                <a:cs typeface="Calibri"/>
              </a:rPr>
              <a:t>Types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Software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6341" y="1306067"/>
            <a:ext cx="4175125" cy="1144270"/>
            <a:chOff x="696341" y="1306067"/>
            <a:chExt cx="4175125" cy="1144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144" y="1408175"/>
              <a:ext cx="4014978" cy="9288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1306067"/>
              <a:ext cx="4089654" cy="11437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0946" y="1347977"/>
              <a:ext cx="3985260" cy="899160"/>
            </a:xfrm>
            <a:custGeom>
              <a:avLst/>
              <a:gdLst/>
              <a:ahLst/>
              <a:cxnLst/>
              <a:rect l="l" t="t" r="r" b="b"/>
              <a:pathLst>
                <a:path w="3985260" h="899160">
                  <a:moveTo>
                    <a:pt x="3835400" y="0"/>
                  </a:moveTo>
                  <a:lnTo>
                    <a:pt x="149860" y="0"/>
                  </a:lnTo>
                  <a:lnTo>
                    <a:pt x="102492" y="7636"/>
                  </a:lnTo>
                  <a:lnTo>
                    <a:pt x="61354" y="28903"/>
                  </a:lnTo>
                  <a:lnTo>
                    <a:pt x="28914" y="61337"/>
                  </a:lnTo>
                  <a:lnTo>
                    <a:pt x="7639" y="102477"/>
                  </a:lnTo>
                  <a:lnTo>
                    <a:pt x="0" y="149860"/>
                  </a:lnTo>
                  <a:lnTo>
                    <a:pt x="0" y="749300"/>
                  </a:lnTo>
                  <a:lnTo>
                    <a:pt x="7639" y="796682"/>
                  </a:lnTo>
                  <a:lnTo>
                    <a:pt x="28914" y="837822"/>
                  </a:lnTo>
                  <a:lnTo>
                    <a:pt x="61354" y="870256"/>
                  </a:lnTo>
                  <a:lnTo>
                    <a:pt x="102492" y="891523"/>
                  </a:lnTo>
                  <a:lnTo>
                    <a:pt x="149860" y="899160"/>
                  </a:lnTo>
                  <a:lnTo>
                    <a:pt x="3835400" y="899160"/>
                  </a:lnTo>
                  <a:lnTo>
                    <a:pt x="3882782" y="891523"/>
                  </a:lnTo>
                  <a:lnTo>
                    <a:pt x="3923922" y="870256"/>
                  </a:lnTo>
                  <a:lnTo>
                    <a:pt x="3956356" y="837822"/>
                  </a:lnTo>
                  <a:lnTo>
                    <a:pt x="3977623" y="796682"/>
                  </a:lnTo>
                  <a:lnTo>
                    <a:pt x="3985259" y="749300"/>
                  </a:lnTo>
                  <a:lnTo>
                    <a:pt x="3985259" y="149860"/>
                  </a:lnTo>
                  <a:lnTo>
                    <a:pt x="3977623" y="102477"/>
                  </a:lnTo>
                  <a:lnTo>
                    <a:pt x="3956356" y="61337"/>
                  </a:lnTo>
                  <a:lnTo>
                    <a:pt x="3923922" y="28903"/>
                  </a:lnTo>
                  <a:lnTo>
                    <a:pt x="3882782" y="7636"/>
                  </a:lnTo>
                  <a:lnTo>
                    <a:pt x="38354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0946" y="1347977"/>
              <a:ext cx="3985260" cy="899160"/>
            </a:xfrm>
            <a:custGeom>
              <a:avLst/>
              <a:gdLst/>
              <a:ahLst/>
              <a:cxnLst/>
              <a:rect l="l" t="t" r="r" b="b"/>
              <a:pathLst>
                <a:path w="3985260" h="899160">
                  <a:moveTo>
                    <a:pt x="0" y="149860"/>
                  </a:moveTo>
                  <a:lnTo>
                    <a:pt x="7639" y="102477"/>
                  </a:lnTo>
                  <a:lnTo>
                    <a:pt x="28914" y="61337"/>
                  </a:lnTo>
                  <a:lnTo>
                    <a:pt x="61354" y="28903"/>
                  </a:lnTo>
                  <a:lnTo>
                    <a:pt x="102492" y="7636"/>
                  </a:lnTo>
                  <a:lnTo>
                    <a:pt x="149860" y="0"/>
                  </a:lnTo>
                  <a:lnTo>
                    <a:pt x="3835400" y="0"/>
                  </a:lnTo>
                  <a:lnTo>
                    <a:pt x="3882782" y="7636"/>
                  </a:lnTo>
                  <a:lnTo>
                    <a:pt x="3923922" y="28903"/>
                  </a:lnTo>
                  <a:lnTo>
                    <a:pt x="3956356" y="61337"/>
                  </a:lnTo>
                  <a:lnTo>
                    <a:pt x="3977623" y="102477"/>
                  </a:lnTo>
                  <a:lnTo>
                    <a:pt x="3985259" y="149860"/>
                  </a:lnTo>
                  <a:lnTo>
                    <a:pt x="3985259" y="749300"/>
                  </a:lnTo>
                  <a:lnTo>
                    <a:pt x="3977623" y="796682"/>
                  </a:lnTo>
                  <a:lnTo>
                    <a:pt x="3956356" y="837822"/>
                  </a:lnTo>
                  <a:lnTo>
                    <a:pt x="3923922" y="870256"/>
                  </a:lnTo>
                  <a:lnTo>
                    <a:pt x="3882782" y="891523"/>
                  </a:lnTo>
                  <a:lnTo>
                    <a:pt x="3835400" y="899160"/>
                  </a:lnTo>
                  <a:lnTo>
                    <a:pt x="149860" y="899160"/>
                  </a:lnTo>
                  <a:lnTo>
                    <a:pt x="102492" y="891523"/>
                  </a:lnTo>
                  <a:lnTo>
                    <a:pt x="61354" y="870256"/>
                  </a:lnTo>
                  <a:lnTo>
                    <a:pt x="28914" y="837822"/>
                  </a:lnTo>
                  <a:lnTo>
                    <a:pt x="7639" y="796682"/>
                  </a:lnTo>
                  <a:lnTo>
                    <a:pt x="0" y="749300"/>
                  </a:lnTo>
                  <a:lnTo>
                    <a:pt x="0" y="149860"/>
                  </a:lnTo>
                  <a:close/>
                </a:path>
              </a:pathLst>
            </a:custGeom>
            <a:ln w="28956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1291" y="1294587"/>
            <a:ext cx="3740785" cy="9436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905" algn="ctr">
              <a:lnSpc>
                <a:spcPct val="100499"/>
              </a:lnSpc>
              <a:spcBef>
                <a:spcPts val="85"/>
              </a:spcBef>
            </a:pPr>
            <a:r>
              <a:rPr sz="2400" spc="-5" dirty="0">
                <a:solidFill>
                  <a:srgbClr val="FF0000"/>
                </a:solidFill>
                <a:latin typeface="Comic Sans MS"/>
                <a:cs typeface="Comic Sans MS"/>
              </a:rPr>
              <a:t>Packaged software </a:t>
            </a:r>
            <a:r>
              <a:rPr sz="1800" i="1" dirty="0">
                <a:solidFill>
                  <a:srgbClr val="0000FF"/>
                </a:solidFill>
                <a:latin typeface="Comic Sans MS"/>
                <a:cs typeface="Comic Sans MS"/>
              </a:rPr>
              <a:t>— </a:t>
            </a:r>
            <a:r>
              <a:rPr sz="1800" i="1" spc="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prewritten</a:t>
            </a:r>
            <a:r>
              <a:rPr sz="1800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00FF"/>
                </a:solidFill>
                <a:latin typeface="Comic Sans MS"/>
                <a:cs typeface="Comic Sans MS"/>
              </a:rPr>
              <a:t>software</a:t>
            </a:r>
            <a:r>
              <a:rPr sz="1800" spc="-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omic Sans MS"/>
                <a:cs typeface="Comic Sans MS"/>
              </a:rPr>
              <a:t>available</a:t>
            </a:r>
            <a:r>
              <a:rPr sz="1800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0000FF"/>
                </a:solidFill>
                <a:latin typeface="Comic Sans MS"/>
                <a:cs typeface="Comic Sans MS"/>
              </a:rPr>
              <a:t>for </a:t>
            </a:r>
            <a:r>
              <a:rPr sz="1800" spc="-76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0000FF"/>
                </a:solidFill>
                <a:latin typeface="Comic Sans MS"/>
                <a:cs typeface="Comic Sans MS"/>
              </a:rPr>
              <a:t>purchase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91895" y="2602992"/>
            <a:ext cx="4185920" cy="1430655"/>
            <a:chOff x="691895" y="2602992"/>
            <a:chExt cx="4185920" cy="143065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6571" y="2677668"/>
              <a:ext cx="4024122" cy="128549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8763" y="2615184"/>
              <a:ext cx="4098798" cy="141808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10945" y="2622042"/>
              <a:ext cx="3985260" cy="1247140"/>
            </a:xfrm>
            <a:custGeom>
              <a:avLst/>
              <a:gdLst/>
              <a:ahLst/>
              <a:cxnLst/>
              <a:rect l="l" t="t" r="r" b="b"/>
              <a:pathLst>
                <a:path w="3985260" h="1247139">
                  <a:moveTo>
                    <a:pt x="3777488" y="0"/>
                  </a:moveTo>
                  <a:lnTo>
                    <a:pt x="207772" y="0"/>
                  </a:lnTo>
                  <a:lnTo>
                    <a:pt x="160133" y="5484"/>
                  </a:lnTo>
                  <a:lnTo>
                    <a:pt x="116401" y="21107"/>
                  </a:lnTo>
                  <a:lnTo>
                    <a:pt x="77823" y="45626"/>
                  </a:lnTo>
                  <a:lnTo>
                    <a:pt x="45646" y="77796"/>
                  </a:lnTo>
                  <a:lnTo>
                    <a:pt x="21119" y="116373"/>
                  </a:lnTo>
                  <a:lnTo>
                    <a:pt x="5487" y="160113"/>
                  </a:lnTo>
                  <a:lnTo>
                    <a:pt x="0" y="207771"/>
                  </a:lnTo>
                  <a:lnTo>
                    <a:pt x="0" y="1038860"/>
                  </a:lnTo>
                  <a:lnTo>
                    <a:pt x="5487" y="1086518"/>
                  </a:lnTo>
                  <a:lnTo>
                    <a:pt x="21119" y="1130258"/>
                  </a:lnTo>
                  <a:lnTo>
                    <a:pt x="45646" y="1168835"/>
                  </a:lnTo>
                  <a:lnTo>
                    <a:pt x="77823" y="1201005"/>
                  </a:lnTo>
                  <a:lnTo>
                    <a:pt x="116401" y="1225524"/>
                  </a:lnTo>
                  <a:lnTo>
                    <a:pt x="160133" y="1241147"/>
                  </a:lnTo>
                  <a:lnTo>
                    <a:pt x="207772" y="1246632"/>
                  </a:lnTo>
                  <a:lnTo>
                    <a:pt x="3777488" y="1246632"/>
                  </a:lnTo>
                  <a:lnTo>
                    <a:pt x="3825146" y="1241147"/>
                  </a:lnTo>
                  <a:lnTo>
                    <a:pt x="3868886" y="1225524"/>
                  </a:lnTo>
                  <a:lnTo>
                    <a:pt x="3907463" y="1201005"/>
                  </a:lnTo>
                  <a:lnTo>
                    <a:pt x="3939633" y="1168835"/>
                  </a:lnTo>
                  <a:lnTo>
                    <a:pt x="3964152" y="1130258"/>
                  </a:lnTo>
                  <a:lnTo>
                    <a:pt x="3979775" y="1086518"/>
                  </a:lnTo>
                  <a:lnTo>
                    <a:pt x="3985259" y="1038860"/>
                  </a:lnTo>
                  <a:lnTo>
                    <a:pt x="3985259" y="207771"/>
                  </a:lnTo>
                  <a:lnTo>
                    <a:pt x="3979775" y="160113"/>
                  </a:lnTo>
                  <a:lnTo>
                    <a:pt x="3964152" y="116373"/>
                  </a:lnTo>
                  <a:lnTo>
                    <a:pt x="3939633" y="77796"/>
                  </a:lnTo>
                  <a:lnTo>
                    <a:pt x="3907463" y="45626"/>
                  </a:lnTo>
                  <a:lnTo>
                    <a:pt x="3868886" y="21107"/>
                  </a:lnTo>
                  <a:lnTo>
                    <a:pt x="3825146" y="5484"/>
                  </a:lnTo>
                  <a:lnTo>
                    <a:pt x="377748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0945" y="2622042"/>
              <a:ext cx="3985260" cy="1247140"/>
            </a:xfrm>
            <a:custGeom>
              <a:avLst/>
              <a:gdLst/>
              <a:ahLst/>
              <a:cxnLst/>
              <a:rect l="l" t="t" r="r" b="b"/>
              <a:pathLst>
                <a:path w="3985260" h="1247139">
                  <a:moveTo>
                    <a:pt x="0" y="207771"/>
                  </a:moveTo>
                  <a:lnTo>
                    <a:pt x="5487" y="160113"/>
                  </a:lnTo>
                  <a:lnTo>
                    <a:pt x="21119" y="116373"/>
                  </a:lnTo>
                  <a:lnTo>
                    <a:pt x="45646" y="77796"/>
                  </a:lnTo>
                  <a:lnTo>
                    <a:pt x="77823" y="45626"/>
                  </a:lnTo>
                  <a:lnTo>
                    <a:pt x="116401" y="21107"/>
                  </a:lnTo>
                  <a:lnTo>
                    <a:pt x="160133" y="5484"/>
                  </a:lnTo>
                  <a:lnTo>
                    <a:pt x="207772" y="0"/>
                  </a:lnTo>
                  <a:lnTo>
                    <a:pt x="3777488" y="0"/>
                  </a:lnTo>
                  <a:lnTo>
                    <a:pt x="3825146" y="5484"/>
                  </a:lnTo>
                  <a:lnTo>
                    <a:pt x="3868886" y="21107"/>
                  </a:lnTo>
                  <a:lnTo>
                    <a:pt x="3907463" y="45626"/>
                  </a:lnTo>
                  <a:lnTo>
                    <a:pt x="3939633" y="77796"/>
                  </a:lnTo>
                  <a:lnTo>
                    <a:pt x="3964152" y="116373"/>
                  </a:lnTo>
                  <a:lnTo>
                    <a:pt x="3979775" y="160113"/>
                  </a:lnTo>
                  <a:lnTo>
                    <a:pt x="3985259" y="207771"/>
                  </a:lnTo>
                  <a:lnTo>
                    <a:pt x="3985259" y="1038860"/>
                  </a:lnTo>
                  <a:lnTo>
                    <a:pt x="3979775" y="1086518"/>
                  </a:lnTo>
                  <a:lnTo>
                    <a:pt x="3964152" y="1130258"/>
                  </a:lnTo>
                  <a:lnTo>
                    <a:pt x="3939633" y="1168835"/>
                  </a:lnTo>
                  <a:lnTo>
                    <a:pt x="3907463" y="1201005"/>
                  </a:lnTo>
                  <a:lnTo>
                    <a:pt x="3868886" y="1225524"/>
                  </a:lnTo>
                  <a:lnTo>
                    <a:pt x="3825146" y="1241147"/>
                  </a:lnTo>
                  <a:lnTo>
                    <a:pt x="3777488" y="1246632"/>
                  </a:lnTo>
                  <a:lnTo>
                    <a:pt x="207772" y="1246632"/>
                  </a:lnTo>
                  <a:lnTo>
                    <a:pt x="160133" y="1241147"/>
                  </a:lnTo>
                  <a:lnTo>
                    <a:pt x="116401" y="1225524"/>
                  </a:lnTo>
                  <a:lnTo>
                    <a:pt x="77823" y="1201005"/>
                  </a:lnTo>
                  <a:lnTo>
                    <a:pt x="45646" y="1168835"/>
                  </a:lnTo>
                  <a:lnTo>
                    <a:pt x="21119" y="1130258"/>
                  </a:lnTo>
                  <a:lnTo>
                    <a:pt x="5487" y="1086518"/>
                  </a:lnTo>
                  <a:lnTo>
                    <a:pt x="0" y="1038860"/>
                  </a:lnTo>
                  <a:lnTo>
                    <a:pt x="0" y="207771"/>
                  </a:lnTo>
                  <a:close/>
                </a:path>
              </a:pathLst>
            </a:custGeom>
            <a:ln w="3810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28243" y="2605532"/>
            <a:ext cx="3749040" cy="1217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35" algn="ctr">
              <a:lnSpc>
                <a:spcPct val="100299"/>
              </a:lnSpc>
              <a:spcBef>
                <a:spcPts val="90"/>
              </a:spcBef>
            </a:pPr>
            <a:r>
              <a:rPr sz="2400" b="1" spc="-5" dirty="0">
                <a:solidFill>
                  <a:srgbClr val="FF0000"/>
                </a:solidFill>
                <a:latin typeface="Comic Sans MS"/>
                <a:cs typeface="Comic Sans MS"/>
              </a:rPr>
              <a:t>Custom software </a:t>
            </a:r>
            <a:r>
              <a:rPr sz="1800" b="1" i="1" dirty="0">
                <a:solidFill>
                  <a:srgbClr val="0000FF"/>
                </a:solidFill>
                <a:latin typeface="Comic Sans MS"/>
                <a:cs typeface="Comic Sans MS"/>
              </a:rPr>
              <a:t>— </a:t>
            </a:r>
            <a:r>
              <a:rPr sz="1800" b="1" i="1" spc="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mic Sans MS"/>
                <a:cs typeface="Comic Sans MS"/>
              </a:rPr>
              <a:t>software</a:t>
            </a:r>
            <a:r>
              <a:rPr sz="1800" b="1" spc="-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mic Sans MS"/>
                <a:cs typeface="Comic Sans MS"/>
              </a:rPr>
              <a:t>developed</a:t>
            </a:r>
            <a:r>
              <a:rPr sz="1800" b="1" spc="1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mic Sans MS"/>
                <a:cs typeface="Comic Sans MS"/>
              </a:rPr>
              <a:t>at some </a:t>
            </a:r>
            <a:r>
              <a:rPr sz="1800" b="1" spc="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mic Sans MS"/>
                <a:cs typeface="Comic Sans MS"/>
              </a:rPr>
              <a:t>user</a:t>
            </a:r>
            <a:r>
              <a:rPr sz="1800" b="1" i="1" dirty="0">
                <a:solidFill>
                  <a:srgbClr val="0000FF"/>
                </a:solidFill>
                <a:latin typeface="Comic Sans MS"/>
                <a:cs typeface="Comic Sans MS"/>
              </a:rPr>
              <a:t>’</a:t>
            </a:r>
            <a:r>
              <a:rPr sz="1800" b="1" dirty="0">
                <a:solidFill>
                  <a:srgbClr val="0000FF"/>
                </a:solidFill>
                <a:latin typeface="Comic Sans MS"/>
                <a:cs typeface="Comic Sans MS"/>
              </a:rPr>
              <a:t>s </a:t>
            </a:r>
            <a:r>
              <a:rPr sz="1800" b="1" spc="-5" dirty="0">
                <a:solidFill>
                  <a:srgbClr val="0000FF"/>
                </a:solidFill>
                <a:latin typeface="Comic Sans MS"/>
                <a:cs typeface="Comic Sans MS"/>
              </a:rPr>
              <a:t>requests-Usually developer </a:t>
            </a:r>
            <a:r>
              <a:rPr sz="1800" b="1" spc="-77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mic Sans MS"/>
                <a:cs typeface="Comic Sans MS"/>
              </a:rPr>
              <a:t>tailors</a:t>
            </a:r>
            <a:r>
              <a:rPr sz="1800" b="1" spc="-2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mic Sans MS"/>
                <a:cs typeface="Comic Sans MS"/>
              </a:rPr>
              <a:t>some</a:t>
            </a:r>
            <a:r>
              <a:rPr sz="1800" b="1" spc="-1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0000FF"/>
                </a:solidFill>
                <a:latin typeface="Comic Sans MS"/>
                <a:cs typeface="Comic Sans MS"/>
              </a:rPr>
              <a:t>generic</a:t>
            </a:r>
            <a:r>
              <a:rPr sz="1800" b="1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omic Sans MS"/>
                <a:cs typeface="Comic Sans MS"/>
              </a:rPr>
              <a:t>solution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77155" y="1554480"/>
            <a:ext cx="2569210" cy="1668145"/>
            <a:chOff x="4677155" y="1554480"/>
            <a:chExt cx="2569210" cy="1668145"/>
          </a:xfrm>
        </p:grpSpPr>
        <p:sp>
          <p:nvSpPr>
            <p:cNvPr id="16" name="object 16"/>
            <p:cNvSpPr/>
            <p:nvPr/>
          </p:nvSpPr>
          <p:spPr>
            <a:xfrm>
              <a:off x="4696205" y="1573530"/>
              <a:ext cx="597535" cy="599440"/>
            </a:xfrm>
            <a:custGeom>
              <a:avLst/>
              <a:gdLst/>
              <a:ahLst/>
              <a:cxnLst/>
              <a:rect l="l" t="t" r="r" b="b"/>
              <a:pathLst>
                <a:path w="597535" h="599439">
                  <a:moveTo>
                    <a:pt x="0" y="298704"/>
                  </a:moveTo>
                  <a:lnTo>
                    <a:pt x="597408" y="0"/>
                  </a:lnTo>
                </a:path>
                <a:path w="597535" h="599439">
                  <a:moveTo>
                    <a:pt x="597408" y="598932"/>
                  </a:moveTo>
                  <a:lnTo>
                    <a:pt x="0" y="298704"/>
                  </a:lnTo>
                </a:path>
              </a:pathLst>
            </a:custGeom>
            <a:ln w="38100">
              <a:solidFill>
                <a:srgbClr val="0000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67527" y="2020824"/>
              <a:ext cx="1794510" cy="12016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2475" y="2124456"/>
              <a:ext cx="1913381" cy="101422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292852" y="1946148"/>
            <a:ext cx="1793875" cy="1201420"/>
          </a:xfrm>
          <a:prstGeom prst="rect">
            <a:avLst/>
          </a:prstGeom>
          <a:solidFill>
            <a:srgbClr val="808000"/>
          </a:solidFill>
        </p:spPr>
        <p:txBody>
          <a:bodyPr vert="horz" wrap="square" lIns="0" tIns="148590" rIns="0" bIns="0" rtlCol="0">
            <a:spAutoFit/>
          </a:bodyPr>
          <a:lstStyle/>
          <a:p>
            <a:pPr marL="72390" marR="65405" indent="1270" algn="ctr">
              <a:lnSpc>
                <a:spcPct val="100000"/>
              </a:lnSpc>
              <a:spcBef>
                <a:spcPts val="1170"/>
              </a:spcBef>
            </a:pP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Vertical </a:t>
            </a:r>
            <a:r>
              <a:rPr sz="1400" b="1" dirty="0">
                <a:solidFill>
                  <a:srgbClr val="FFFF00"/>
                </a:solidFill>
                <a:latin typeface="Comic Sans MS"/>
                <a:cs typeface="Comic Sans MS"/>
              </a:rPr>
              <a:t>market </a:t>
            </a:r>
            <a:r>
              <a:rPr sz="1400" b="1" spc="5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software</a:t>
            </a:r>
            <a:r>
              <a:rPr sz="1400" spc="-5" dirty="0">
                <a:solidFill>
                  <a:srgbClr val="FFFF00"/>
                </a:solidFill>
                <a:latin typeface="Comic Sans MS"/>
                <a:cs typeface="Comic Sans MS"/>
              </a:rPr>
              <a:t>—designed </a:t>
            </a:r>
            <a:r>
              <a:rPr sz="1400" spc="-405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spc="-5" dirty="0">
                <a:solidFill>
                  <a:srgbClr val="FFFF00"/>
                </a:solidFill>
                <a:latin typeface="Comic Sans MS"/>
                <a:cs typeface="Comic Sans MS"/>
              </a:rPr>
              <a:t>for </a:t>
            </a:r>
            <a:r>
              <a:rPr sz="1400" dirty="0">
                <a:solidFill>
                  <a:srgbClr val="FFFF00"/>
                </a:solidFill>
                <a:latin typeface="Comic Sans MS"/>
                <a:cs typeface="Comic Sans MS"/>
              </a:rPr>
              <a:t>particular </a:t>
            </a:r>
            <a:r>
              <a:rPr sz="1400" spc="5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dirty="0">
                <a:solidFill>
                  <a:srgbClr val="FFFF00"/>
                </a:solidFill>
                <a:latin typeface="Comic Sans MS"/>
                <a:cs typeface="Comic Sans MS"/>
              </a:rPr>
              <a:t>industry</a:t>
            </a:r>
            <a:endParaRPr sz="1400">
              <a:latin typeface="Comic Sans MS"/>
              <a:cs typeface="Comic Sans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367528" y="672083"/>
            <a:ext cx="1860550" cy="1200150"/>
            <a:chOff x="5367528" y="672083"/>
            <a:chExt cx="1860550" cy="120015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67528" y="672083"/>
              <a:ext cx="1794510" cy="12001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76672" y="774191"/>
              <a:ext cx="1850898" cy="101422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292852" y="597408"/>
            <a:ext cx="1793875" cy="1199515"/>
          </a:xfrm>
          <a:prstGeom prst="rect">
            <a:avLst/>
          </a:prstGeom>
          <a:solidFill>
            <a:srgbClr val="808000"/>
          </a:solidFill>
        </p:spPr>
        <p:txBody>
          <a:bodyPr vert="horz" wrap="square" lIns="0" tIns="146685" rIns="0" bIns="0" rtlCol="0">
            <a:spAutoFit/>
          </a:bodyPr>
          <a:lstStyle/>
          <a:p>
            <a:pPr marL="116839" marR="109855" algn="ctr">
              <a:lnSpc>
                <a:spcPct val="100000"/>
              </a:lnSpc>
              <a:spcBef>
                <a:spcPts val="1155"/>
              </a:spcBef>
            </a:pP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Horizontal</a:t>
            </a:r>
            <a:r>
              <a:rPr sz="1400" b="1" spc="-75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b="1" dirty="0">
                <a:solidFill>
                  <a:srgbClr val="FFFF00"/>
                </a:solidFill>
                <a:latin typeface="Comic Sans MS"/>
                <a:cs typeface="Comic Sans MS"/>
              </a:rPr>
              <a:t>market </a:t>
            </a:r>
            <a:r>
              <a:rPr sz="1400" b="1" spc="-590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software</a:t>
            </a:r>
            <a:r>
              <a:rPr sz="1400" spc="-5" dirty="0">
                <a:solidFill>
                  <a:srgbClr val="FFFF00"/>
                </a:solidFill>
                <a:latin typeface="Comic Sans MS"/>
                <a:cs typeface="Comic Sans MS"/>
              </a:rPr>
              <a:t>—meets </a:t>
            </a:r>
            <a:r>
              <a:rPr sz="1400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spc="-5" dirty="0">
                <a:solidFill>
                  <a:srgbClr val="FFFF00"/>
                </a:solidFill>
                <a:latin typeface="Comic Sans MS"/>
                <a:cs typeface="Comic Sans MS"/>
              </a:rPr>
              <a:t>needs </a:t>
            </a:r>
            <a:r>
              <a:rPr sz="1400" dirty="0">
                <a:solidFill>
                  <a:srgbClr val="FFFF00"/>
                </a:solidFill>
                <a:latin typeface="Comic Sans MS"/>
                <a:cs typeface="Comic Sans MS"/>
              </a:rPr>
              <a:t>of many </a:t>
            </a:r>
            <a:r>
              <a:rPr sz="1400" spc="5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dirty="0">
                <a:solidFill>
                  <a:srgbClr val="FFFF00"/>
                </a:solidFill>
                <a:latin typeface="Comic Sans MS"/>
                <a:cs typeface="Comic Sans MS"/>
              </a:rPr>
              <a:t>companies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36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5692" y="474726"/>
            <a:ext cx="42125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/>
              <a:t>Types</a:t>
            </a:r>
            <a:r>
              <a:rPr sz="3000" spc="-15" dirty="0"/>
              <a:t> </a:t>
            </a:r>
            <a:r>
              <a:rPr sz="3000" dirty="0"/>
              <a:t>of</a:t>
            </a:r>
            <a:r>
              <a:rPr sz="3000" spc="-25" dirty="0"/>
              <a:t> </a:t>
            </a:r>
            <a:r>
              <a:rPr sz="3000" spc="-15" dirty="0"/>
              <a:t>Software</a:t>
            </a:r>
            <a:r>
              <a:rPr sz="3000" spc="-20" dirty="0"/>
              <a:t> </a:t>
            </a:r>
            <a:r>
              <a:rPr sz="3000" spc="-5" dirty="0"/>
              <a:t>Projects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13789"/>
            <a:ext cx="7073900" cy="15024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50" spc="-10" dirty="0">
                <a:latin typeface="Calibri"/>
                <a:cs typeface="Calibri"/>
              </a:rPr>
              <a:t>Software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product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development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projects</a:t>
            </a:r>
            <a:endParaRPr sz="3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31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50" spc="-10" dirty="0">
                <a:latin typeface="Calibri"/>
                <a:cs typeface="Calibri"/>
              </a:rPr>
              <a:t>Software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services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projects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2654" y="274065"/>
            <a:ext cx="3390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Software</a:t>
            </a:r>
            <a:r>
              <a:rPr sz="3600" spc="-85" dirty="0"/>
              <a:t> </a:t>
            </a:r>
            <a:r>
              <a:rPr sz="3600" dirty="0"/>
              <a:t>Services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0923" y="1353311"/>
            <a:ext cx="1978152" cy="14310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140" y="588439"/>
            <a:ext cx="8380730" cy="3597275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Software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service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umbrella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term,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includes:</a:t>
            </a:r>
            <a:endParaRPr sz="3000">
              <a:latin typeface="Calibri"/>
              <a:cs typeface="Calibri"/>
            </a:endParaRPr>
          </a:p>
          <a:p>
            <a:pPr marL="756285" lvl="1" indent="-287020">
              <a:lnSpc>
                <a:spcPts val="3229"/>
              </a:lnSpc>
              <a:spcBef>
                <a:spcPts val="1585"/>
              </a:spcBef>
              <a:buFont typeface="Arial MT"/>
              <a:buChar char="–"/>
              <a:tabLst>
                <a:tab pos="756920" algn="l"/>
              </a:tabLst>
            </a:pPr>
            <a:r>
              <a:rPr sz="2700" spc="-5" dirty="0">
                <a:solidFill>
                  <a:srgbClr val="006600"/>
                </a:solidFill>
                <a:latin typeface="Calibri"/>
                <a:cs typeface="Calibri"/>
              </a:rPr>
              <a:t>Software</a:t>
            </a:r>
            <a:r>
              <a:rPr sz="2700" spc="-1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6600"/>
                </a:solidFill>
                <a:latin typeface="Calibri"/>
                <a:cs typeface="Calibri"/>
              </a:rPr>
              <a:t>customization</a:t>
            </a:r>
            <a:endParaRPr sz="2700">
              <a:latin typeface="Calibri"/>
              <a:cs typeface="Calibri"/>
            </a:endParaRPr>
          </a:p>
          <a:p>
            <a:pPr marR="1470025" algn="r">
              <a:lnSpc>
                <a:spcPts val="1710"/>
              </a:lnSpc>
            </a:pPr>
            <a:r>
              <a:rPr sz="1600" b="1" spc="50" dirty="0">
                <a:solidFill>
                  <a:srgbClr val="0000FF"/>
                </a:solidFill>
                <a:latin typeface="Cambria"/>
                <a:cs typeface="Cambria"/>
              </a:rPr>
              <a:t>CP</a:t>
            </a:r>
            <a:endParaRPr sz="1600">
              <a:latin typeface="Cambria"/>
              <a:cs typeface="Cambria"/>
            </a:endParaRPr>
          </a:p>
          <a:p>
            <a:pPr marL="756285" lvl="1" indent="-287020">
              <a:lnSpc>
                <a:spcPts val="3040"/>
              </a:lnSpc>
              <a:buFont typeface="Arial MT"/>
              <a:buChar char="–"/>
              <a:tabLst>
                <a:tab pos="756920" algn="l"/>
              </a:tabLst>
            </a:pPr>
            <a:r>
              <a:rPr sz="2700" spc="-5" dirty="0">
                <a:solidFill>
                  <a:srgbClr val="006600"/>
                </a:solidFill>
                <a:latin typeface="Calibri"/>
                <a:cs typeface="Calibri"/>
              </a:rPr>
              <a:t>Software</a:t>
            </a:r>
            <a:r>
              <a:rPr sz="2700" spc="-2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6600"/>
                </a:solidFill>
                <a:latin typeface="Calibri"/>
                <a:cs typeface="Calibri"/>
              </a:rPr>
              <a:t>maintenance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490"/>
              </a:spcBef>
              <a:buFont typeface="Arial MT"/>
              <a:buChar char="–"/>
              <a:tabLst>
                <a:tab pos="756920" algn="l"/>
              </a:tabLst>
            </a:pPr>
            <a:r>
              <a:rPr sz="2700" spc="-5" dirty="0">
                <a:solidFill>
                  <a:srgbClr val="006600"/>
                </a:solidFill>
                <a:latin typeface="Calibri"/>
                <a:cs typeface="Calibri"/>
              </a:rPr>
              <a:t>Software</a:t>
            </a:r>
            <a:r>
              <a:rPr sz="2700" spc="-3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6600"/>
                </a:solidFill>
                <a:latin typeface="Calibri"/>
                <a:cs typeface="Calibri"/>
              </a:rPr>
              <a:t>testing</a:t>
            </a:r>
            <a:endParaRPr sz="2700">
              <a:latin typeface="Calibri"/>
              <a:cs typeface="Calibri"/>
            </a:endParaRPr>
          </a:p>
          <a:p>
            <a:pPr marL="756285" marR="5080" lvl="1" indent="-287020">
              <a:lnSpc>
                <a:spcPct val="115999"/>
              </a:lnSpc>
              <a:spcBef>
                <a:spcPts val="980"/>
              </a:spcBef>
              <a:buFont typeface="Arial MT"/>
              <a:buChar char="–"/>
              <a:tabLst>
                <a:tab pos="756920" algn="l"/>
                <a:tab pos="1408430" algn="l"/>
              </a:tabLst>
            </a:pPr>
            <a:r>
              <a:rPr sz="2700" spc="5" dirty="0">
                <a:solidFill>
                  <a:srgbClr val="006600"/>
                </a:solidFill>
                <a:latin typeface="Calibri"/>
                <a:cs typeface="Calibri"/>
              </a:rPr>
              <a:t>Also </a:t>
            </a:r>
            <a:r>
              <a:rPr sz="2700" spc="-5" dirty="0">
                <a:solidFill>
                  <a:srgbClr val="006600"/>
                </a:solidFill>
                <a:latin typeface="Calibri"/>
                <a:cs typeface="Calibri"/>
              </a:rPr>
              <a:t>contract </a:t>
            </a:r>
            <a:r>
              <a:rPr sz="2700" spc="-10" dirty="0">
                <a:solidFill>
                  <a:srgbClr val="006600"/>
                </a:solidFill>
                <a:latin typeface="Calibri"/>
                <a:cs typeface="Calibri"/>
              </a:rPr>
              <a:t>programmers </a:t>
            </a:r>
            <a:r>
              <a:rPr sz="2700" spc="5" dirty="0">
                <a:solidFill>
                  <a:srgbClr val="006600"/>
                </a:solidFill>
                <a:latin typeface="Calibri"/>
                <a:cs typeface="Calibri"/>
              </a:rPr>
              <a:t>(CP) carrying out </a:t>
            </a:r>
            <a:r>
              <a:rPr sz="2700" dirty="0">
                <a:solidFill>
                  <a:srgbClr val="006600"/>
                </a:solidFill>
                <a:latin typeface="Calibri"/>
                <a:cs typeface="Calibri"/>
              </a:rPr>
              <a:t>coding </a:t>
            </a:r>
            <a:r>
              <a:rPr sz="2700" spc="5" dirty="0">
                <a:solidFill>
                  <a:srgbClr val="006600"/>
                </a:solidFill>
                <a:latin typeface="Calibri"/>
                <a:cs typeface="Calibri"/>
              </a:rPr>
              <a:t>or </a:t>
            </a:r>
            <a:r>
              <a:rPr sz="2700" spc="-60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6600"/>
                </a:solidFill>
                <a:latin typeface="Calibri"/>
                <a:cs typeface="Calibri"/>
              </a:rPr>
              <a:t>any	</a:t>
            </a:r>
            <a:r>
              <a:rPr sz="2700" spc="5" dirty="0">
                <a:solidFill>
                  <a:srgbClr val="006600"/>
                </a:solidFill>
                <a:latin typeface="Calibri"/>
                <a:cs typeface="Calibri"/>
              </a:rPr>
              <a:t>other</a:t>
            </a:r>
            <a:r>
              <a:rPr sz="2700" spc="-2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6600"/>
                </a:solidFill>
                <a:latin typeface="Calibri"/>
                <a:cs typeface="Calibri"/>
              </a:rPr>
              <a:t>assigned</a:t>
            </a:r>
            <a:r>
              <a:rPr sz="2700" spc="-2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6600"/>
                </a:solidFill>
                <a:latin typeface="Calibri"/>
                <a:cs typeface="Calibri"/>
              </a:rPr>
              <a:t>activities.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077" y="355854"/>
            <a:ext cx="8024495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619875" algn="l"/>
              </a:tabLst>
            </a:pPr>
            <a:r>
              <a:rPr sz="2700" spc="-10" dirty="0"/>
              <a:t>Factors</a:t>
            </a:r>
            <a:r>
              <a:rPr sz="2700" spc="-20" dirty="0"/>
              <a:t> </a:t>
            </a:r>
            <a:r>
              <a:rPr sz="2700" spc="5" dirty="0"/>
              <a:t>responsible</a:t>
            </a:r>
            <a:r>
              <a:rPr sz="2700" spc="-10" dirty="0"/>
              <a:t> </a:t>
            </a:r>
            <a:r>
              <a:rPr sz="2700" spc="-5" dirty="0"/>
              <a:t>for</a:t>
            </a:r>
            <a:r>
              <a:rPr sz="2700" spc="10" dirty="0"/>
              <a:t> </a:t>
            </a:r>
            <a:r>
              <a:rPr sz="2700" spc="-5" dirty="0"/>
              <a:t>accelerated</a:t>
            </a:r>
            <a:r>
              <a:rPr sz="2700" spc="-30" dirty="0"/>
              <a:t> </a:t>
            </a:r>
            <a:r>
              <a:rPr sz="2700" spc="5" dirty="0"/>
              <a:t>growth</a:t>
            </a:r>
            <a:r>
              <a:rPr sz="2700" spc="-25" dirty="0"/>
              <a:t> </a:t>
            </a:r>
            <a:r>
              <a:rPr sz="2700" spc="10" dirty="0"/>
              <a:t>of	services…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154939" y="707663"/>
            <a:ext cx="8735695" cy="2320290"/>
          </a:xfrm>
          <a:prstGeom prst="rect">
            <a:avLst/>
          </a:prstGeom>
        </p:spPr>
        <p:txBody>
          <a:bodyPr vert="horz" wrap="square" lIns="0" tIns="24002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88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15" dirty="0">
                <a:solidFill>
                  <a:srgbClr val="0000FF"/>
                </a:solidFill>
                <a:latin typeface="Calibri"/>
                <a:cs typeface="Calibri"/>
              </a:rPr>
              <a:t>Now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lots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7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r>
              <a:rPr sz="27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 available</a:t>
            </a:r>
            <a:r>
              <a:rPr sz="27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company: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4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50" spc="5" dirty="0">
                <a:latin typeface="Calibri"/>
                <a:cs typeface="Calibri"/>
              </a:rPr>
              <a:t>New</a:t>
            </a:r>
            <a:r>
              <a:rPr sz="2150" dirty="0">
                <a:latin typeface="Calibri"/>
                <a:cs typeface="Calibri"/>
              </a:rPr>
              <a:t> software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can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be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developed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by</a:t>
            </a:r>
            <a:r>
              <a:rPr sz="2150" spc="10" dirty="0">
                <a:latin typeface="Calibri"/>
                <a:cs typeface="Calibri"/>
              </a:rPr>
              <a:t> modifying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the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closest.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354965" algn="l"/>
                <a:tab pos="355600" algn="l"/>
                <a:tab pos="6679565" algn="l"/>
              </a:tabLst>
            </a:pP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Speed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Conducting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Business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has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FF"/>
                </a:solidFill>
                <a:latin typeface="Calibri"/>
                <a:cs typeface="Calibri"/>
              </a:rPr>
              <a:t>increased	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tremendously: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440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spc="-15" dirty="0">
                <a:latin typeface="Calibri"/>
                <a:cs typeface="Calibri"/>
              </a:rPr>
              <a:t>Requires </a:t>
            </a:r>
            <a:r>
              <a:rPr sz="2450" spc="-5" dirty="0">
                <a:latin typeface="Calibri"/>
                <a:cs typeface="Calibri"/>
              </a:rPr>
              <a:t>shortening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 </a:t>
            </a:r>
            <a:r>
              <a:rPr sz="2450" spc="-10" dirty="0">
                <a:latin typeface="Calibri"/>
                <a:cs typeface="Calibri"/>
              </a:rPr>
              <a:t>project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duration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4557" y="4690668"/>
            <a:ext cx="333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888888"/>
                </a:solidFill>
                <a:latin typeface="Calibri"/>
                <a:cs typeface="Calibri"/>
              </a:rPr>
              <a:t>48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967" y="286511"/>
            <a:ext cx="6352031" cy="41711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200" y="1074419"/>
            <a:ext cx="2715895" cy="2308860"/>
          </a:xfrm>
          <a:prstGeom prst="rect">
            <a:avLst/>
          </a:prstGeom>
          <a:solidFill>
            <a:srgbClr val="FFFFCC"/>
          </a:solidFill>
          <a:ln w="9144">
            <a:solidFill>
              <a:srgbClr val="FF0000"/>
            </a:solidFill>
          </a:ln>
        </p:spPr>
        <p:txBody>
          <a:bodyPr vert="horz" wrap="square" lIns="0" tIns="26669" rIns="0" bIns="0" rtlCol="0">
            <a:spAutoFit/>
          </a:bodyPr>
          <a:lstStyle/>
          <a:p>
            <a:pPr marL="90805" marR="112395">
              <a:lnSpc>
                <a:spcPct val="100000"/>
              </a:lnSpc>
              <a:spcBef>
                <a:spcPts val="209"/>
              </a:spcBef>
            </a:pP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Contribution 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 IT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sector </a:t>
            </a:r>
            <a:r>
              <a:rPr sz="2400" b="1" spc="-15" dirty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sz="2400" b="1" spc="-25" dirty="0">
                <a:solidFill>
                  <a:srgbClr val="0000FF"/>
                </a:solidFill>
                <a:latin typeface="Calibri"/>
                <a:cs typeface="Calibri"/>
              </a:rPr>
              <a:t>India’s </a:t>
            </a:r>
            <a:r>
              <a:rPr sz="24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GDP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rose </a:t>
            </a:r>
            <a:r>
              <a:rPr sz="2400" b="1" spc="-15" dirty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0000FF"/>
                </a:solidFill>
                <a:latin typeface="Calibri"/>
                <a:cs typeface="Calibri"/>
              </a:rPr>
              <a:t>approximately</a:t>
            </a:r>
            <a:r>
              <a:rPr sz="24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9.5%</a:t>
            </a:r>
            <a:endParaRPr sz="2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2015</a:t>
            </a:r>
            <a:r>
              <a:rPr sz="24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24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1.2%</a:t>
            </a:r>
            <a:endParaRPr sz="2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4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98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40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4652" y="500253"/>
            <a:ext cx="56140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/>
              <a:t>Scenario </a:t>
            </a:r>
            <a:r>
              <a:rPr sz="2700" dirty="0"/>
              <a:t>of</a:t>
            </a:r>
            <a:r>
              <a:rPr sz="2700" spc="-15" dirty="0"/>
              <a:t> </a:t>
            </a:r>
            <a:r>
              <a:rPr sz="2700" dirty="0"/>
              <a:t>Indian</a:t>
            </a:r>
            <a:r>
              <a:rPr sz="2700" spc="-10" dirty="0"/>
              <a:t> Software</a:t>
            </a:r>
            <a:r>
              <a:rPr sz="2700" dirty="0"/>
              <a:t> </a:t>
            </a:r>
            <a:r>
              <a:rPr sz="2700" spc="-5" dirty="0"/>
              <a:t>Companies</a:t>
            </a:r>
            <a:endParaRPr sz="2700"/>
          </a:p>
        </p:txBody>
      </p:sp>
      <p:sp>
        <p:nvSpPr>
          <p:cNvPr id="4" name="object 4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44" y="1389146"/>
            <a:ext cx="6305550" cy="1893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256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50" b="1" spc="5" dirty="0">
                <a:solidFill>
                  <a:srgbClr val="0000FF"/>
                </a:solidFill>
                <a:latin typeface="Calibri"/>
                <a:cs typeface="Calibri"/>
              </a:rPr>
              <a:t>Indian</a:t>
            </a:r>
            <a:r>
              <a:rPr sz="325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50" b="1" dirty="0">
                <a:solidFill>
                  <a:srgbClr val="0000FF"/>
                </a:solidFill>
                <a:latin typeface="Calibri"/>
                <a:cs typeface="Calibri"/>
              </a:rPr>
              <a:t>companies</a:t>
            </a:r>
            <a:r>
              <a:rPr sz="325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50" b="1" spc="-20" dirty="0">
                <a:solidFill>
                  <a:srgbClr val="0000FF"/>
                </a:solidFill>
                <a:latin typeface="Calibri"/>
                <a:cs typeface="Calibri"/>
              </a:rPr>
              <a:t>have</a:t>
            </a:r>
            <a:r>
              <a:rPr sz="325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50" b="1" spc="-10" dirty="0">
                <a:solidFill>
                  <a:srgbClr val="0000FF"/>
                </a:solidFill>
                <a:latin typeface="Calibri"/>
                <a:cs typeface="Calibri"/>
              </a:rPr>
              <a:t>largely </a:t>
            </a:r>
            <a:r>
              <a:rPr sz="3250" b="1" spc="-5" dirty="0">
                <a:solidFill>
                  <a:srgbClr val="0000FF"/>
                </a:solidFill>
                <a:latin typeface="Calibri"/>
                <a:cs typeface="Calibri"/>
              </a:rPr>
              <a:t> focused</a:t>
            </a:r>
            <a:r>
              <a:rPr sz="325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50" b="1" spc="5" dirty="0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r>
              <a:rPr sz="3250" b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50" b="1" spc="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325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50" b="1" spc="10" dirty="0">
                <a:solidFill>
                  <a:srgbClr val="0000FF"/>
                </a:solidFill>
                <a:latin typeface="Calibri"/>
                <a:cs typeface="Calibri"/>
              </a:rPr>
              <a:t>services</a:t>
            </a:r>
            <a:r>
              <a:rPr sz="325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50" b="1" dirty="0">
                <a:solidFill>
                  <a:srgbClr val="0000FF"/>
                </a:solidFill>
                <a:latin typeface="Calibri"/>
                <a:cs typeface="Calibri"/>
              </a:rPr>
              <a:t>segment</a:t>
            </a:r>
            <a:r>
              <a:rPr sz="3250" b="1" spc="-5" dirty="0">
                <a:solidFill>
                  <a:srgbClr val="0000FF"/>
                </a:solidFill>
                <a:latin typeface="Calibri"/>
                <a:cs typeface="Calibri"/>
              </a:rPr>
              <a:t> --</a:t>
            </a:r>
            <a:endParaRPr sz="325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1005"/>
              </a:spcBef>
            </a:pPr>
            <a:r>
              <a:rPr sz="3250" b="1" spc="5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325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50" b="1" spc="-10" dirty="0">
                <a:solidFill>
                  <a:srgbClr val="0000FF"/>
                </a:solidFill>
                <a:latin typeface="Calibri"/>
                <a:cs typeface="Calibri"/>
              </a:rPr>
              <a:t>Why?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217" y="421639"/>
            <a:ext cx="88112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5" dirty="0"/>
              <a:t>A</a:t>
            </a:r>
            <a:r>
              <a:rPr sz="2450" spc="-10" dirty="0"/>
              <a:t> </a:t>
            </a:r>
            <a:r>
              <a:rPr sz="2450" spc="-15" dirty="0"/>
              <a:t>Few</a:t>
            </a:r>
            <a:r>
              <a:rPr sz="2450" spc="-5" dirty="0"/>
              <a:t> </a:t>
            </a:r>
            <a:r>
              <a:rPr sz="2450" spc="-10" dirty="0"/>
              <a:t>Changes</a:t>
            </a:r>
            <a:r>
              <a:rPr sz="2450" dirty="0"/>
              <a:t> </a:t>
            </a:r>
            <a:r>
              <a:rPr sz="2450" spc="-5" dirty="0"/>
              <a:t>in</a:t>
            </a:r>
            <a:r>
              <a:rPr sz="2450" spc="-10" dirty="0"/>
              <a:t> Software</a:t>
            </a:r>
            <a:r>
              <a:rPr sz="2450" spc="-15" dirty="0"/>
              <a:t> </a:t>
            </a:r>
            <a:r>
              <a:rPr sz="2450" spc="-5" dirty="0"/>
              <a:t>Project</a:t>
            </a:r>
            <a:r>
              <a:rPr sz="2450" spc="-30" dirty="0"/>
              <a:t> </a:t>
            </a:r>
            <a:r>
              <a:rPr sz="2450" spc="-10" dirty="0"/>
              <a:t>Characteristics</a:t>
            </a:r>
            <a:r>
              <a:rPr sz="2450" dirty="0"/>
              <a:t> </a:t>
            </a:r>
            <a:r>
              <a:rPr sz="2450" spc="-10" dirty="0"/>
              <a:t>over</a:t>
            </a:r>
            <a:r>
              <a:rPr sz="2450" spc="-5" dirty="0"/>
              <a:t> </a:t>
            </a:r>
            <a:r>
              <a:rPr sz="2450" spc="-10" dirty="0"/>
              <a:t>Last</a:t>
            </a:r>
            <a:r>
              <a:rPr sz="2450" spc="25" dirty="0"/>
              <a:t> </a:t>
            </a:r>
            <a:r>
              <a:rPr sz="2450" spc="-5" dirty="0"/>
              <a:t>40</a:t>
            </a:r>
            <a:r>
              <a:rPr sz="2450" spc="5" dirty="0"/>
              <a:t> </a:t>
            </a:r>
            <a:r>
              <a:rPr sz="2450" spc="-45" dirty="0"/>
              <a:t>Years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231140" y="738559"/>
            <a:ext cx="8376920" cy="4343400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spc="-5" dirty="0">
                <a:latin typeface="Calibri"/>
                <a:cs typeface="Calibri"/>
              </a:rPr>
              <a:t>40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years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back,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very </a:t>
            </a:r>
            <a:r>
              <a:rPr sz="2300" spc="-25" dirty="0">
                <a:latin typeface="Calibri"/>
                <a:cs typeface="Calibri"/>
              </a:rPr>
              <a:t>few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software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existed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b="1" spc="-15" dirty="0">
                <a:solidFill>
                  <a:srgbClr val="0000FF"/>
                </a:solidFill>
                <a:latin typeface="Calibri"/>
                <a:cs typeface="Calibri"/>
              </a:rPr>
              <a:t>Every</a:t>
            </a:r>
            <a:r>
              <a:rPr sz="20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alibri"/>
                <a:cs typeface="Calibri"/>
              </a:rPr>
              <a:t>project</a:t>
            </a:r>
            <a:r>
              <a:rPr sz="20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00FF"/>
                </a:solidFill>
                <a:latin typeface="Calibri"/>
                <a:cs typeface="Calibri"/>
              </a:rPr>
              <a:t>started </a:t>
            </a:r>
            <a:r>
              <a:rPr sz="2000" b="1" spc="-10" dirty="0">
                <a:solidFill>
                  <a:srgbClr val="0000FF"/>
                </a:solidFill>
                <a:latin typeface="Calibri"/>
                <a:cs typeface="Calibri"/>
              </a:rPr>
              <a:t>from </a:t>
            </a:r>
            <a:r>
              <a:rPr sz="2000" b="1" spc="-15" dirty="0">
                <a:solidFill>
                  <a:srgbClr val="0000FF"/>
                </a:solidFill>
                <a:latin typeface="Calibri"/>
                <a:cs typeface="Calibri"/>
              </a:rPr>
              <a:t>scratch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b="1" spc="-5" dirty="0">
                <a:solidFill>
                  <a:srgbClr val="0000FF"/>
                </a:solidFill>
                <a:latin typeface="Calibri"/>
                <a:cs typeface="Calibri"/>
              </a:rPr>
              <a:t>Projects</a:t>
            </a:r>
            <a:r>
              <a:rPr sz="20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0000FF"/>
                </a:solidFill>
                <a:latin typeface="Calibri"/>
                <a:cs typeface="Calibri"/>
              </a:rPr>
              <a:t>were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multi</a:t>
            </a:r>
            <a:r>
              <a:rPr sz="20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Calibri"/>
                <a:cs typeface="Calibri"/>
              </a:rPr>
              <a:t>year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long</a:t>
            </a:r>
            <a:endParaRPr sz="2000">
              <a:latin typeface="Calibri"/>
              <a:cs typeface="Calibri"/>
            </a:endParaRPr>
          </a:p>
          <a:p>
            <a:pPr marL="355600" marR="22225" indent="-342900">
              <a:lnSpc>
                <a:spcPct val="104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programming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languages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that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were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used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earlier </a:t>
            </a:r>
            <a:r>
              <a:rPr sz="2300" spc="-10" dirty="0">
                <a:latin typeface="Calibri"/>
                <a:cs typeface="Calibri"/>
              </a:rPr>
              <a:t>hardly provided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any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scope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for </a:t>
            </a:r>
            <a:r>
              <a:rPr sz="2300" spc="-10" dirty="0">
                <a:latin typeface="Calibri"/>
                <a:cs typeface="Calibri"/>
              </a:rPr>
              <a:t>reuse: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19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FORTRAN,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PASCAL,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COBOL,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BASIC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No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application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was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GUI-based: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Mostly command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selection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from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displayed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text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menu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items.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1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2400" b="1" spc="-5" dirty="0">
                <a:solidFill>
                  <a:srgbClr val="888888"/>
                </a:solidFill>
                <a:latin typeface="Calibri"/>
                <a:cs typeface="Calibri"/>
              </a:rPr>
              <a:t>51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6041" y="241249"/>
            <a:ext cx="59061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/>
              <a:t>Traditional</a:t>
            </a:r>
            <a:r>
              <a:rPr sz="3200" spc="-45" dirty="0"/>
              <a:t> </a:t>
            </a:r>
            <a:r>
              <a:rPr sz="3200" spc="-10" dirty="0"/>
              <a:t>versus</a:t>
            </a:r>
            <a:r>
              <a:rPr sz="3200" spc="-30" dirty="0"/>
              <a:t> </a:t>
            </a:r>
            <a:r>
              <a:rPr sz="3200" spc="-5" dirty="0"/>
              <a:t>Modern</a:t>
            </a:r>
            <a:r>
              <a:rPr sz="3200" spc="-10" dirty="0"/>
              <a:t> </a:t>
            </a:r>
            <a:r>
              <a:rPr sz="3200" spc="-5" dirty="0"/>
              <a:t>Projects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587" y="603743"/>
            <a:ext cx="8837295" cy="374650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8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-15" dirty="0">
                <a:latin typeface="Calibri"/>
                <a:cs typeface="Calibri"/>
              </a:rPr>
              <a:t>Projects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are </a:t>
            </a:r>
            <a:r>
              <a:rPr sz="2700" spc="-5" dirty="0">
                <a:latin typeface="Calibri"/>
                <a:cs typeface="Calibri"/>
              </a:rPr>
              <a:t>increasingly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becoming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services:</a:t>
            </a:r>
            <a:endParaRPr sz="2700">
              <a:latin typeface="Calibri"/>
              <a:cs typeface="Calibri"/>
            </a:endParaRPr>
          </a:p>
          <a:p>
            <a:pPr marL="231775">
              <a:lnSpc>
                <a:spcPct val="100000"/>
              </a:lnSpc>
              <a:spcBef>
                <a:spcPts val="1055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spc="-5" dirty="0">
                <a:latin typeface="Calibri"/>
                <a:cs typeface="Calibri"/>
              </a:rPr>
              <a:t>Either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tailor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software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reuse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pre-built libraries.</a:t>
            </a:r>
            <a:endParaRPr sz="24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070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-20" dirty="0">
                <a:latin typeface="Calibri"/>
                <a:cs typeface="Calibri"/>
              </a:rPr>
              <a:t>Facilitate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accommodate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client</a:t>
            </a:r>
            <a:r>
              <a:rPr sz="2700" spc="-15" dirty="0">
                <a:latin typeface="Calibri"/>
                <a:cs typeface="Calibri"/>
              </a:rPr>
              <a:t> feedbacks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11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-20" dirty="0">
                <a:latin typeface="Calibri"/>
                <a:cs typeface="Calibri"/>
              </a:rPr>
              <a:t>Facilitate</a:t>
            </a:r>
            <a:r>
              <a:rPr sz="2700" spc="-15" dirty="0">
                <a:latin typeface="Calibri"/>
                <a:cs typeface="Calibri"/>
              </a:rPr>
              <a:t> customer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participation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project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development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work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-15" dirty="0">
                <a:latin typeface="Calibri"/>
                <a:cs typeface="Calibri"/>
              </a:rPr>
              <a:t>Incremental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software </a:t>
            </a:r>
            <a:r>
              <a:rPr sz="2700" spc="-5" dirty="0">
                <a:latin typeface="Calibri"/>
                <a:cs typeface="Calibri"/>
              </a:rPr>
              <a:t>delivery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evolving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functionalities.</a:t>
            </a:r>
            <a:endParaRPr sz="2700">
              <a:latin typeface="Calibri"/>
              <a:cs typeface="Calibri"/>
            </a:endParaRPr>
          </a:p>
          <a:p>
            <a:pPr marL="245745" marR="297815" indent="-233679">
              <a:lnSpc>
                <a:spcPct val="110100"/>
              </a:lnSpc>
              <a:spcBef>
                <a:spcPts val="790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No 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being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developed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27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20" dirty="0">
                <a:solidFill>
                  <a:srgbClr val="0000FF"/>
                </a:solidFill>
                <a:latin typeface="Calibri"/>
                <a:cs typeface="Calibri"/>
              </a:rPr>
              <a:t>scratch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--- 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Significant </a:t>
            </a:r>
            <a:r>
              <a:rPr sz="2700" b="1" spc="-5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0000FF"/>
                </a:solidFill>
                <a:latin typeface="Calibri"/>
                <a:cs typeface="Calibri"/>
              </a:rPr>
              <a:t>reuse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 is being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made…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7211" y="4792776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52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6722" y="247269"/>
            <a:ext cx="52597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00CC"/>
                </a:solidFill>
              </a:rPr>
              <a:t>Computer </a:t>
            </a:r>
            <a:r>
              <a:rPr sz="3200" spc="-25" dirty="0">
                <a:solidFill>
                  <a:srgbClr val="0000CC"/>
                </a:solidFill>
              </a:rPr>
              <a:t>Systems</a:t>
            </a:r>
            <a:r>
              <a:rPr sz="3200" spc="-20" dirty="0">
                <a:solidFill>
                  <a:srgbClr val="0000CC"/>
                </a:solidFill>
              </a:rPr>
              <a:t> </a:t>
            </a:r>
            <a:r>
              <a:rPr sz="3200" dirty="0">
                <a:solidFill>
                  <a:srgbClr val="0000CC"/>
                </a:solidFill>
              </a:rPr>
              <a:t>Engineering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75361" y="750417"/>
            <a:ext cx="8684895" cy="3644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5080" indent="-233679">
              <a:lnSpc>
                <a:spcPct val="115999"/>
              </a:lnSpc>
              <a:spcBef>
                <a:spcPts val="9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Many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products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require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development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of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software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as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well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as </a:t>
            </a:r>
            <a:r>
              <a:rPr sz="2700" b="1" spc="-6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specific</a:t>
            </a:r>
            <a:r>
              <a:rPr sz="27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hardware</a:t>
            </a:r>
            <a:r>
              <a:rPr sz="27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run</a:t>
            </a: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it: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005"/>
              </a:spcBef>
            </a:pPr>
            <a:r>
              <a:rPr sz="2700" spc="10" dirty="0">
                <a:latin typeface="Arial MT"/>
                <a:cs typeface="Arial MT"/>
              </a:rPr>
              <a:t>–</a:t>
            </a:r>
            <a:r>
              <a:rPr sz="2700" spc="-135" dirty="0">
                <a:latin typeface="Arial MT"/>
                <a:cs typeface="Arial MT"/>
              </a:rPr>
              <a:t> </a:t>
            </a:r>
            <a:r>
              <a:rPr sz="2700" spc="10" dirty="0">
                <a:latin typeface="Calibri"/>
                <a:cs typeface="Calibri"/>
              </a:rPr>
              <a:t>a</a:t>
            </a:r>
            <a:r>
              <a:rPr sz="2700" spc="-15" dirty="0">
                <a:latin typeface="Calibri"/>
                <a:cs typeface="Calibri"/>
              </a:rPr>
              <a:t> coffee </a:t>
            </a:r>
            <a:r>
              <a:rPr sz="2700" spc="5" dirty="0">
                <a:latin typeface="Calibri"/>
                <a:cs typeface="Calibri"/>
              </a:rPr>
              <a:t>vending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machine,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010"/>
              </a:spcBef>
            </a:pPr>
            <a:r>
              <a:rPr sz="2700" spc="15" dirty="0">
                <a:latin typeface="Arial MT"/>
                <a:cs typeface="Arial MT"/>
              </a:rPr>
              <a:t>–</a:t>
            </a:r>
            <a:r>
              <a:rPr sz="2700" spc="15" dirty="0">
                <a:latin typeface="Calibri"/>
                <a:cs typeface="Calibri"/>
              </a:rPr>
              <a:t>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robotic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toy,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000"/>
              </a:spcBef>
            </a:pPr>
            <a:r>
              <a:rPr sz="2700" spc="15" dirty="0">
                <a:latin typeface="Arial MT"/>
                <a:cs typeface="Arial MT"/>
              </a:rPr>
              <a:t>–</a:t>
            </a:r>
            <a:r>
              <a:rPr sz="2700" spc="15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new health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band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product,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etc.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Computer</a:t>
            </a:r>
            <a:r>
              <a:rPr sz="2700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CC"/>
                </a:solidFill>
                <a:latin typeface="Calibri"/>
                <a:cs typeface="Calibri"/>
              </a:rPr>
              <a:t>systems</a:t>
            </a:r>
            <a:r>
              <a:rPr sz="2700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engineering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:</a:t>
            </a:r>
            <a:endParaRPr sz="245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940"/>
              </a:spcBef>
            </a:pPr>
            <a:r>
              <a:rPr sz="2450" spc="5" dirty="0">
                <a:latin typeface="Arial MT"/>
                <a:cs typeface="Arial MT"/>
              </a:rPr>
              <a:t>–</a:t>
            </a:r>
            <a:r>
              <a:rPr sz="2450" spc="5" dirty="0">
                <a:latin typeface="Calibri"/>
                <a:cs typeface="Calibri"/>
              </a:rPr>
              <a:t>encompasses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software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engineering</a:t>
            </a:r>
            <a:r>
              <a:rPr sz="2150" dirty="0">
                <a:solidFill>
                  <a:srgbClr val="0000CC"/>
                </a:solidFill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503935"/>
            <a:ext cx="5904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0000CC"/>
                </a:solidFill>
              </a:rPr>
              <a:t>Computer</a:t>
            </a:r>
            <a:r>
              <a:rPr sz="3600" spc="-30" dirty="0">
                <a:solidFill>
                  <a:srgbClr val="0000CC"/>
                </a:solidFill>
              </a:rPr>
              <a:t> </a:t>
            </a:r>
            <a:r>
              <a:rPr sz="3600" spc="-25" dirty="0">
                <a:solidFill>
                  <a:srgbClr val="0000CC"/>
                </a:solidFill>
              </a:rPr>
              <a:t>Systems</a:t>
            </a:r>
            <a:r>
              <a:rPr sz="3600" spc="-40" dirty="0">
                <a:solidFill>
                  <a:srgbClr val="0000CC"/>
                </a:solidFill>
              </a:rPr>
              <a:t> </a:t>
            </a:r>
            <a:r>
              <a:rPr sz="3600" dirty="0">
                <a:solidFill>
                  <a:srgbClr val="0000CC"/>
                </a:solidFill>
              </a:rPr>
              <a:t>Engineering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4416" y="1408633"/>
            <a:ext cx="7561580" cy="191071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high-level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problem:</a:t>
            </a:r>
            <a:endParaRPr sz="325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350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Deciding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which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tasks are to </a:t>
            </a:r>
            <a:r>
              <a:rPr sz="2700" spc="5" dirty="0">
                <a:latin typeface="Calibri"/>
                <a:cs typeface="Calibri"/>
              </a:rPr>
              <a:t>be </a:t>
            </a:r>
            <a:r>
              <a:rPr sz="2700" dirty="0">
                <a:latin typeface="Calibri"/>
                <a:cs typeface="Calibri"/>
              </a:rPr>
              <a:t>solved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software.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090"/>
              </a:spcBef>
            </a:pPr>
            <a:r>
              <a:rPr sz="2700" spc="10" dirty="0">
                <a:latin typeface="Arial MT"/>
                <a:cs typeface="Arial MT"/>
              </a:rPr>
              <a:t>–</a:t>
            </a:r>
            <a:r>
              <a:rPr sz="2700" spc="10" dirty="0">
                <a:latin typeface="Calibri"/>
                <a:cs typeface="Calibri"/>
              </a:rPr>
              <a:t>Which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ones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5" dirty="0">
                <a:latin typeface="Calibri"/>
                <a:cs typeface="Calibri"/>
              </a:rPr>
              <a:t> hardware.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8802" y="394461"/>
            <a:ext cx="55035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CC"/>
                </a:solidFill>
              </a:rPr>
              <a:t>Computer</a:t>
            </a:r>
            <a:r>
              <a:rPr sz="3000" spc="-15" dirty="0">
                <a:solidFill>
                  <a:srgbClr val="0000CC"/>
                </a:solidFill>
              </a:rPr>
              <a:t> </a:t>
            </a:r>
            <a:r>
              <a:rPr sz="3000" spc="-25" dirty="0">
                <a:solidFill>
                  <a:srgbClr val="0000CC"/>
                </a:solidFill>
              </a:rPr>
              <a:t>Systems</a:t>
            </a:r>
            <a:r>
              <a:rPr sz="3000" spc="-20" dirty="0">
                <a:solidFill>
                  <a:srgbClr val="0000CC"/>
                </a:solidFill>
              </a:rPr>
              <a:t> </a:t>
            </a:r>
            <a:r>
              <a:rPr sz="3000" dirty="0">
                <a:solidFill>
                  <a:srgbClr val="0000CC"/>
                </a:solidFill>
              </a:rPr>
              <a:t>Engineering</a:t>
            </a:r>
            <a:r>
              <a:rPr sz="3000" spc="-15" dirty="0">
                <a:solidFill>
                  <a:srgbClr val="0000CC"/>
                </a:solidFill>
              </a:rPr>
              <a:t> </a:t>
            </a:r>
            <a:r>
              <a:rPr sz="1200" spc="-10" dirty="0">
                <a:solidFill>
                  <a:srgbClr val="0000CC"/>
                </a:solidFill>
              </a:rPr>
              <a:t>(CONT.)</a:t>
            </a:r>
            <a:endParaRPr sz="1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5511" y="1183893"/>
            <a:ext cx="8313420" cy="266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-30" dirty="0">
                <a:latin typeface="Calibri"/>
                <a:cs typeface="Calibri"/>
              </a:rPr>
              <a:t>Typically,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hardware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software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are </a:t>
            </a:r>
            <a:r>
              <a:rPr sz="2700" spc="5" dirty="0">
                <a:latin typeface="Calibri"/>
                <a:cs typeface="Calibri"/>
              </a:rPr>
              <a:t>developed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together: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665"/>
              </a:spcBef>
            </a:pPr>
            <a:r>
              <a:rPr sz="245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Hardware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simulator</a:t>
            </a:r>
            <a:r>
              <a:rPr sz="245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is</a:t>
            </a:r>
            <a:r>
              <a:rPr sz="245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used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during</a:t>
            </a:r>
            <a:r>
              <a:rPr sz="245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development</a:t>
            </a:r>
            <a:r>
              <a:rPr sz="2450" spc="-10" dirty="0">
                <a:latin typeface="Calibri"/>
                <a:cs typeface="Calibri"/>
              </a:rPr>
              <a:t>.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buFont typeface="Arial MT"/>
              <a:buChar char="•"/>
              <a:tabLst>
                <a:tab pos="246379" algn="l"/>
                <a:tab pos="2313305" algn="l"/>
              </a:tabLst>
            </a:pPr>
            <a:r>
              <a:rPr sz="2700" spc="-5" dirty="0">
                <a:latin typeface="Calibri"/>
                <a:cs typeface="Calibri"/>
              </a:rPr>
              <a:t>Integration </a:t>
            </a:r>
            <a:r>
              <a:rPr sz="2700" spc="5" dirty="0">
                <a:latin typeface="Calibri"/>
                <a:cs typeface="Calibri"/>
              </a:rPr>
              <a:t>of	</a:t>
            </a:r>
            <a:r>
              <a:rPr sz="2700" spc="-10" dirty="0">
                <a:latin typeface="Calibri"/>
                <a:cs typeface="Calibri"/>
              </a:rPr>
              <a:t>hardware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software.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3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buFont typeface="Arial MT"/>
              <a:buChar char="•"/>
              <a:tabLst>
                <a:tab pos="246379" algn="l"/>
              </a:tabLst>
            </a:pPr>
            <a:r>
              <a:rPr sz="2700" spc="5" dirty="0">
                <a:latin typeface="Calibri"/>
                <a:cs typeface="Calibri"/>
              </a:rPr>
              <a:t>Final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system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testing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08932" y="2855976"/>
            <a:ext cx="1150620" cy="582295"/>
            <a:chOff x="4408932" y="2855976"/>
            <a:chExt cx="1150620" cy="582295"/>
          </a:xfrm>
        </p:grpSpPr>
        <p:sp>
          <p:nvSpPr>
            <p:cNvPr id="3" name="object 3"/>
            <p:cNvSpPr/>
            <p:nvPr/>
          </p:nvSpPr>
          <p:spPr>
            <a:xfrm>
              <a:off x="4418838" y="2867660"/>
              <a:ext cx="1130935" cy="560070"/>
            </a:xfrm>
            <a:custGeom>
              <a:avLst/>
              <a:gdLst/>
              <a:ahLst/>
              <a:cxnLst/>
              <a:rect l="l" t="t" r="r" b="b"/>
              <a:pathLst>
                <a:path w="1130935" h="560070">
                  <a:moveTo>
                    <a:pt x="0" y="560070"/>
                  </a:moveTo>
                  <a:lnTo>
                    <a:pt x="1130808" y="560070"/>
                  </a:lnTo>
                  <a:lnTo>
                    <a:pt x="1130808" y="0"/>
                  </a:lnTo>
                  <a:lnTo>
                    <a:pt x="0" y="0"/>
                  </a:lnTo>
                  <a:lnTo>
                    <a:pt x="0" y="56007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18838" y="2865882"/>
              <a:ext cx="1130935" cy="562610"/>
            </a:xfrm>
            <a:custGeom>
              <a:avLst/>
              <a:gdLst/>
              <a:ahLst/>
              <a:cxnLst/>
              <a:rect l="l" t="t" r="r" b="b"/>
              <a:pathLst>
                <a:path w="1130935" h="562610">
                  <a:moveTo>
                    <a:pt x="0" y="1397"/>
                  </a:moveTo>
                  <a:lnTo>
                    <a:pt x="0" y="635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1129411" y="0"/>
                  </a:lnTo>
                  <a:lnTo>
                    <a:pt x="1130173" y="0"/>
                  </a:lnTo>
                  <a:lnTo>
                    <a:pt x="1130808" y="635"/>
                  </a:lnTo>
                  <a:lnTo>
                    <a:pt x="1130808" y="1397"/>
                  </a:lnTo>
                  <a:lnTo>
                    <a:pt x="1130808" y="560959"/>
                  </a:lnTo>
                  <a:lnTo>
                    <a:pt x="1130808" y="561720"/>
                  </a:lnTo>
                  <a:lnTo>
                    <a:pt x="1130173" y="562356"/>
                  </a:lnTo>
                  <a:lnTo>
                    <a:pt x="1129411" y="562356"/>
                  </a:lnTo>
                  <a:lnTo>
                    <a:pt x="1397" y="562356"/>
                  </a:lnTo>
                  <a:lnTo>
                    <a:pt x="635" y="562356"/>
                  </a:lnTo>
                  <a:lnTo>
                    <a:pt x="0" y="561720"/>
                  </a:lnTo>
                  <a:lnTo>
                    <a:pt x="0" y="560959"/>
                  </a:lnTo>
                  <a:lnTo>
                    <a:pt x="0" y="1397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343400" y="1984248"/>
            <a:ext cx="1150620" cy="577850"/>
            <a:chOff x="4343400" y="1984248"/>
            <a:chExt cx="1150620" cy="577850"/>
          </a:xfrm>
        </p:grpSpPr>
        <p:sp>
          <p:nvSpPr>
            <p:cNvPr id="6" name="object 6"/>
            <p:cNvSpPr/>
            <p:nvPr/>
          </p:nvSpPr>
          <p:spPr>
            <a:xfrm>
              <a:off x="4353305" y="1995170"/>
              <a:ext cx="1130935" cy="556260"/>
            </a:xfrm>
            <a:custGeom>
              <a:avLst/>
              <a:gdLst/>
              <a:ahLst/>
              <a:cxnLst/>
              <a:rect l="l" t="t" r="r" b="b"/>
              <a:pathLst>
                <a:path w="1130935" h="556260">
                  <a:moveTo>
                    <a:pt x="0" y="556259"/>
                  </a:moveTo>
                  <a:lnTo>
                    <a:pt x="1130808" y="556259"/>
                  </a:lnTo>
                  <a:lnTo>
                    <a:pt x="1130808" y="0"/>
                  </a:lnTo>
                  <a:lnTo>
                    <a:pt x="0" y="0"/>
                  </a:lnTo>
                  <a:lnTo>
                    <a:pt x="0" y="556259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53305" y="1994154"/>
              <a:ext cx="1130935" cy="558165"/>
            </a:xfrm>
            <a:custGeom>
              <a:avLst/>
              <a:gdLst/>
              <a:ahLst/>
              <a:cxnLst/>
              <a:rect l="l" t="t" r="r" b="b"/>
              <a:pathLst>
                <a:path w="1130935" h="558164">
                  <a:moveTo>
                    <a:pt x="0" y="1396"/>
                  </a:moveTo>
                  <a:lnTo>
                    <a:pt x="0" y="634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1129411" y="0"/>
                  </a:lnTo>
                  <a:lnTo>
                    <a:pt x="1130173" y="0"/>
                  </a:lnTo>
                  <a:lnTo>
                    <a:pt x="1130808" y="634"/>
                  </a:lnTo>
                  <a:lnTo>
                    <a:pt x="1130808" y="1396"/>
                  </a:lnTo>
                  <a:lnTo>
                    <a:pt x="1130808" y="556387"/>
                  </a:lnTo>
                  <a:lnTo>
                    <a:pt x="1130808" y="557148"/>
                  </a:lnTo>
                  <a:lnTo>
                    <a:pt x="1130173" y="557783"/>
                  </a:lnTo>
                  <a:lnTo>
                    <a:pt x="1129411" y="557783"/>
                  </a:lnTo>
                  <a:lnTo>
                    <a:pt x="1397" y="557783"/>
                  </a:lnTo>
                  <a:lnTo>
                    <a:pt x="635" y="557783"/>
                  </a:lnTo>
                  <a:lnTo>
                    <a:pt x="0" y="557148"/>
                  </a:lnTo>
                  <a:lnTo>
                    <a:pt x="0" y="556387"/>
                  </a:lnTo>
                  <a:lnTo>
                    <a:pt x="0" y="1396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493264" y="2488692"/>
            <a:ext cx="1463040" cy="611505"/>
            <a:chOff x="2493264" y="2488692"/>
            <a:chExt cx="1463040" cy="611505"/>
          </a:xfrm>
        </p:grpSpPr>
        <p:sp>
          <p:nvSpPr>
            <p:cNvPr id="9" name="object 9"/>
            <p:cNvSpPr/>
            <p:nvPr/>
          </p:nvSpPr>
          <p:spPr>
            <a:xfrm>
              <a:off x="2503170" y="2498089"/>
              <a:ext cx="1443355" cy="591820"/>
            </a:xfrm>
            <a:custGeom>
              <a:avLst/>
              <a:gdLst/>
              <a:ahLst/>
              <a:cxnLst/>
              <a:rect l="l" t="t" r="r" b="b"/>
              <a:pathLst>
                <a:path w="1443354" h="591819">
                  <a:moveTo>
                    <a:pt x="1443228" y="1270"/>
                  </a:moveTo>
                  <a:lnTo>
                    <a:pt x="1442847" y="1270"/>
                  </a:lnTo>
                  <a:lnTo>
                    <a:pt x="1442847" y="0"/>
                  </a:lnTo>
                  <a:lnTo>
                    <a:pt x="381" y="0"/>
                  </a:lnTo>
                  <a:lnTo>
                    <a:pt x="381" y="1270"/>
                  </a:lnTo>
                  <a:lnTo>
                    <a:pt x="0" y="1270"/>
                  </a:lnTo>
                  <a:lnTo>
                    <a:pt x="0" y="591820"/>
                  </a:lnTo>
                  <a:lnTo>
                    <a:pt x="1443228" y="591820"/>
                  </a:lnTo>
                  <a:lnTo>
                    <a:pt x="1443228" y="127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03170" y="2498598"/>
              <a:ext cx="1443355" cy="591820"/>
            </a:xfrm>
            <a:custGeom>
              <a:avLst/>
              <a:gdLst/>
              <a:ahLst/>
              <a:cxnLst/>
              <a:rect l="l" t="t" r="r" b="b"/>
              <a:pathLst>
                <a:path w="1443354" h="591819">
                  <a:moveTo>
                    <a:pt x="0" y="1269"/>
                  </a:moveTo>
                  <a:lnTo>
                    <a:pt x="0" y="507"/>
                  </a:lnTo>
                  <a:lnTo>
                    <a:pt x="507" y="0"/>
                  </a:lnTo>
                  <a:lnTo>
                    <a:pt x="1269" y="0"/>
                  </a:lnTo>
                  <a:lnTo>
                    <a:pt x="1441958" y="0"/>
                  </a:lnTo>
                  <a:lnTo>
                    <a:pt x="1442720" y="0"/>
                  </a:lnTo>
                  <a:lnTo>
                    <a:pt x="1443228" y="507"/>
                  </a:lnTo>
                  <a:lnTo>
                    <a:pt x="1443228" y="1269"/>
                  </a:lnTo>
                  <a:lnTo>
                    <a:pt x="1443228" y="590041"/>
                  </a:lnTo>
                  <a:lnTo>
                    <a:pt x="1443228" y="590803"/>
                  </a:lnTo>
                  <a:lnTo>
                    <a:pt x="1442720" y="591312"/>
                  </a:lnTo>
                  <a:lnTo>
                    <a:pt x="1441958" y="591312"/>
                  </a:lnTo>
                  <a:lnTo>
                    <a:pt x="1269" y="591312"/>
                  </a:lnTo>
                  <a:lnTo>
                    <a:pt x="507" y="591312"/>
                  </a:lnTo>
                  <a:lnTo>
                    <a:pt x="0" y="590803"/>
                  </a:lnTo>
                  <a:lnTo>
                    <a:pt x="0" y="590041"/>
                  </a:lnTo>
                  <a:lnTo>
                    <a:pt x="0" y="1269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098803" y="3797808"/>
            <a:ext cx="6449695" cy="283845"/>
            <a:chOff x="1098803" y="3797808"/>
            <a:chExt cx="6449695" cy="283845"/>
          </a:xfrm>
        </p:grpSpPr>
        <p:sp>
          <p:nvSpPr>
            <p:cNvPr id="12" name="object 12"/>
            <p:cNvSpPr/>
            <p:nvPr/>
          </p:nvSpPr>
          <p:spPr>
            <a:xfrm>
              <a:off x="1108710" y="3807460"/>
              <a:ext cx="6430010" cy="264160"/>
            </a:xfrm>
            <a:custGeom>
              <a:avLst/>
              <a:gdLst/>
              <a:ahLst/>
              <a:cxnLst/>
              <a:rect l="l" t="t" r="r" b="b"/>
              <a:pathLst>
                <a:path w="6430009" h="264160">
                  <a:moveTo>
                    <a:pt x="6429756" y="1270"/>
                  </a:moveTo>
                  <a:lnTo>
                    <a:pt x="6429502" y="1270"/>
                  </a:lnTo>
                  <a:lnTo>
                    <a:pt x="6429502" y="0"/>
                  </a:lnTo>
                  <a:lnTo>
                    <a:pt x="254" y="0"/>
                  </a:lnTo>
                  <a:lnTo>
                    <a:pt x="254" y="1270"/>
                  </a:lnTo>
                  <a:lnTo>
                    <a:pt x="0" y="1270"/>
                  </a:lnTo>
                  <a:lnTo>
                    <a:pt x="0" y="262890"/>
                  </a:lnTo>
                  <a:lnTo>
                    <a:pt x="254" y="262890"/>
                  </a:lnTo>
                  <a:lnTo>
                    <a:pt x="254" y="264160"/>
                  </a:lnTo>
                  <a:lnTo>
                    <a:pt x="6429502" y="264160"/>
                  </a:lnTo>
                  <a:lnTo>
                    <a:pt x="6429502" y="262890"/>
                  </a:lnTo>
                  <a:lnTo>
                    <a:pt x="6429756" y="262890"/>
                  </a:lnTo>
                  <a:lnTo>
                    <a:pt x="6429756" y="127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08709" y="3807714"/>
              <a:ext cx="6430010" cy="264160"/>
            </a:xfrm>
            <a:custGeom>
              <a:avLst/>
              <a:gdLst/>
              <a:ahLst/>
              <a:cxnLst/>
              <a:rect l="l" t="t" r="r" b="b"/>
              <a:pathLst>
                <a:path w="6430009" h="264160">
                  <a:moveTo>
                    <a:pt x="0" y="1397"/>
                  </a:moveTo>
                  <a:lnTo>
                    <a:pt x="0" y="635"/>
                  </a:lnTo>
                  <a:lnTo>
                    <a:pt x="634" y="0"/>
                  </a:lnTo>
                  <a:lnTo>
                    <a:pt x="1409" y="0"/>
                  </a:lnTo>
                  <a:lnTo>
                    <a:pt x="6428359" y="0"/>
                  </a:lnTo>
                  <a:lnTo>
                    <a:pt x="6429120" y="0"/>
                  </a:lnTo>
                  <a:lnTo>
                    <a:pt x="6429756" y="635"/>
                  </a:lnTo>
                  <a:lnTo>
                    <a:pt x="6429756" y="1397"/>
                  </a:lnTo>
                  <a:lnTo>
                    <a:pt x="6429756" y="262242"/>
                  </a:lnTo>
                  <a:lnTo>
                    <a:pt x="6429756" y="263017"/>
                  </a:lnTo>
                  <a:lnTo>
                    <a:pt x="6429120" y="263652"/>
                  </a:lnTo>
                  <a:lnTo>
                    <a:pt x="6428359" y="263652"/>
                  </a:lnTo>
                  <a:lnTo>
                    <a:pt x="1409" y="263652"/>
                  </a:lnTo>
                  <a:lnTo>
                    <a:pt x="634" y="263652"/>
                  </a:lnTo>
                  <a:lnTo>
                    <a:pt x="0" y="263017"/>
                  </a:lnTo>
                  <a:lnTo>
                    <a:pt x="0" y="262242"/>
                  </a:lnTo>
                  <a:lnTo>
                    <a:pt x="0" y="1397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304353" y="969073"/>
            <a:ext cx="1172845" cy="509905"/>
            <a:chOff x="1304353" y="969073"/>
            <a:chExt cx="1172845" cy="509905"/>
          </a:xfrm>
        </p:grpSpPr>
        <p:sp>
          <p:nvSpPr>
            <p:cNvPr id="15" name="object 15"/>
            <p:cNvSpPr/>
            <p:nvPr/>
          </p:nvSpPr>
          <p:spPr>
            <a:xfrm>
              <a:off x="1309116" y="973836"/>
              <a:ext cx="1163320" cy="500380"/>
            </a:xfrm>
            <a:custGeom>
              <a:avLst/>
              <a:gdLst/>
              <a:ahLst/>
              <a:cxnLst/>
              <a:rect l="l" t="t" r="r" b="b"/>
              <a:pathLst>
                <a:path w="1163320" h="500380">
                  <a:moveTo>
                    <a:pt x="1162811" y="0"/>
                  </a:moveTo>
                  <a:lnTo>
                    <a:pt x="0" y="0"/>
                  </a:lnTo>
                  <a:lnTo>
                    <a:pt x="0" y="499872"/>
                  </a:lnTo>
                  <a:lnTo>
                    <a:pt x="1162811" y="499872"/>
                  </a:lnTo>
                  <a:lnTo>
                    <a:pt x="1162811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09116" y="973836"/>
              <a:ext cx="1163320" cy="500380"/>
            </a:xfrm>
            <a:custGeom>
              <a:avLst/>
              <a:gdLst/>
              <a:ahLst/>
              <a:cxnLst/>
              <a:rect l="l" t="t" r="r" b="b"/>
              <a:pathLst>
                <a:path w="1163320" h="500380">
                  <a:moveTo>
                    <a:pt x="0" y="499872"/>
                  </a:moveTo>
                  <a:lnTo>
                    <a:pt x="1162811" y="499872"/>
                  </a:lnTo>
                  <a:lnTo>
                    <a:pt x="1162811" y="0"/>
                  </a:lnTo>
                  <a:lnTo>
                    <a:pt x="0" y="0"/>
                  </a:lnTo>
                  <a:lnTo>
                    <a:pt x="0" y="49987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52499" y="963320"/>
            <a:ext cx="878205" cy="488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marR="5080" indent="-182880">
              <a:lnSpc>
                <a:spcPct val="112599"/>
              </a:lnSpc>
              <a:spcBef>
                <a:spcPts val="95"/>
              </a:spcBef>
            </a:pPr>
            <a:r>
              <a:rPr sz="1350" b="1" dirty="0">
                <a:latin typeface="Comic Sans MS"/>
                <a:cs typeface="Comic Sans MS"/>
              </a:rPr>
              <a:t>F</a:t>
            </a:r>
            <a:r>
              <a:rPr sz="1350" b="1" spc="-5" dirty="0">
                <a:latin typeface="Comic Sans MS"/>
                <a:cs typeface="Comic Sans MS"/>
              </a:rPr>
              <a:t>easib</a:t>
            </a:r>
            <a:r>
              <a:rPr sz="1350" b="1" spc="5" dirty="0">
                <a:latin typeface="Comic Sans MS"/>
                <a:cs typeface="Comic Sans MS"/>
              </a:rPr>
              <a:t>i</a:t>
            </a:r>
            <a:r>
              <a:rPr sz="1350" b="1" dirty="0">
                <a:latin typeface="Comic Sans MS"/>
                <a:cs typeface="Comic Sans MS"/>
              </a:rPr>
              <a:t>li</a:t>
            </a:r>
            <a:r>
              <a:rPr sz="1350" b="1" spc="-5" dirty="0">
                <a:latin typeface="Comic Sans MS"/>
                <a:cs typeface="Comic Sans MS"/>
              </a:rPr>
              <a:t>ty  </a:t>
            </a:r>
            <a:r>
              <a:rPr sz="1350" b="1" dirty="0">
                <a:latin typeface="Comic Sans MS"/>
                <a:cs typeface="Comic Sans MS"/>
              </a:rPr>
              <a:t>Study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633537" y="1700593"/>
            <a:ext cx="1556385" cy="671195"/>
            <a:chOff x="1633537" y="1700593"/>
            <a:chExt cx="1556385" cy="671195"/>
          </a:xfrm>
        </p:grpSpPr>
        <p:sp>
          <p:nvSpPr>
            <p:cNvPr id="19" name="object 19"/>
            <p:cNvSpPr/>
            <p:nvPr/>
          </p:nvSpPr>
          <p:spPr>
            <a:xfrm>
              <a:off x="1638300" y="1705355"/>
              <a:ext cx="1546860" cy="661670"/>
            </a:xfrm>
            <a:custGeom>
              <a:avLst/>
              <a:gdLst/>
              <a:ahLst/>
              <a:cxnLst/>
              <a:rect l="l" t="t" r="r" b="b"/>
              <a:pathLst>
                <a:path w="1546860" h="661669">
                  <a:moveTo>
                    <a:pt x="1546860" y="0"/>
                  </a:moveTo>
                  <a:lnTo>
                    <a:pt x="0" y="0"/>
                  </a:lnTo>
                  <a:lnTo>
                    <a:pt x="0" y="661415"/>
                  </a:lnTo>
                  <a:lnTo>
                    <a:pt x="1546860" y="661415"/>
                  </a:lnTo>
                  <a:lnTo>
                    <a:pt x="154686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38300" y="1705355"/>
              <a:ext cx="1546860" cy="661670"/>
            </a:xfrm>
            <a:custGeom>
              <a:avLst/>
              <a:gdLst/>
              <a:ahLst/>
              <a:cxnLst/>
              <a:rect l="l" t="t" r="r" b="b"/>
              <a:pathLst>
                <a:path w="1546860" h="661669">
                  <a:moveTo>
                    <a:pt x="0" y="661415"/>
                  </a:moveTo>
                  <a:lnTo>
                    <a:pt x="1546860" y="661415"/>
                  </a:lnTo>
                  <a:lnTo>
                    <a:pt x="1546860" y="0"/>
                  </a:lnTo>
                  <a:lnTo>
                    <a:pt x="0" y="0"/>
                  </a:lnTo>
                  <a:lnTo>
                    <a:pt x="0" y="661415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638300" y="1705355"/>
            <a:ext cx="1546860" cy="6616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88290" marR="271145" indent="-10795" algn="just">
              <a:lnSpc>
                <a:spcPct val="102200"/>
              </a:lnSpc>
              <a:spcBef>
                <a:spcPts val="215"/>
              </a:spcBef>
            </a:pPr>
            <a:r>
              <a:rPr sz="1200" b="1" spc="5" dirty="0">
                <a:latin typeface="Comic Sans MS"/>
                <a:cs typeface="Comic Sans MS"/>
              </a:rPr>
              <a:t>Requireme</a:t>
            </a:r>
            <a:r>
              <a:rPr sz="1200" b="1" dirty="0">
                <a:latin typeface="Comic Sans MS"/>
                <a:cs typeface="Comic Sans MS"/>
              </a:rPr>
              <a:t>n</a:t>
            </a:r>
            <a:r>
              <a:rPr sz="1200" b="1" spc="5" dirty="0">
                <a:latin typeface="Comic Sans MS"/>
                <a:cs typeface="Comic Sans MS"/>
              </a:rPr>
              <a:t>ts  </a:t>
            </a:r>
            <a:r>
              <a:rPr sz="1200" b="1" spc="10" dirty="0">
                <a:latin typeface="Comic Sans MS"/>
                <a:cs typeface="Comic Sans MS"/>
              </a:rPr>
              <a:t>Analysis and </a:t>
            </a:r>
            <a:r>
              <a:rPr sz="1200" b="1" spc="-509" dirty="0">
                <a:latin typeface="Comic Sans MS"/>
                <a:cs typeface="Comic Sans MS"/>
              </a:rPr>
              <a:t> </a:t>
            </a:r>
            <a:r>
              <a:rPr sz="1200" b="1" spc="10" dirty="0">
                <a:latin typeface="Comic Sans MS"/>
                <a:cs typeface="Comic Sans MS"/>
              </a:rPr>
              <a:t>Sp</a:t>
            </a:r>
            <a:r>
              <a:rPr sz="1200" b="1" spc="5" dirty="0">
                <a:latin typeface="Comic Sans MS"/>
                <a:cs typeface="Comic Sans MS"/>
              </a:rPr>
              <a:t>ecif</a:t>
            </a:r>
            <a:r>
              <a:rPr sz="1200" b="1" spc="10" dirty="0">
                <a:latin typeface="Comic Sans MS"/>
                <a:cs typeface="Comic Sans MS"/>
              </a:rPr>
              <a:t>i</a:t>
            </a:r>
            <a:r>
              <a:rPr sz="1200" b="1" spc="5" dirty="0">
                <a:latin typeface="Comic Sans MS"/>
                <a:cs typeface="Comic Sans MS"/>
              </a:rPr>
              <a:t>c</a:t>
            </a:r>
            <a:r>
              <a:rPr sz="1200" b="1" spc="10" dirty="0">
                <a:latin typeface="Comic Sans MS"/>
                <a:cs typeface="Comic Sans MS"/>
              </a:rPr>
              <a:t>at</a:t>
            </a:r>
            <a:r>
              <a:rPr sz="1200" b="1" dirty="0">
                <a:latin typeface="Comic Sans MS"/>
                <a:cs typeface="Comic Sans MS"/>
              </a:rPr>
              <a:t>i</a:t>
            </a:r>
            <a:r>
              <a:rPr sz="1200" b="1" spc="10" dirty="0">
                <a:latin typeface="Comic Sans MS"/>
                <a:cs typeface="Comic Sans MS"/>
              </a:rPr>
              <a:t>on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78911" y="2444953"/>
            <a:ext cx="75311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spc="10" dirty="0">
                <a:latin typeface="Comic Sans MS"/>
                <a:cs typeface="Comic Sans MS"/>
              </a:rPr>
              <a:t>Hardware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17951" y="2631439"/>
            <a:ext cx="874394" cy="3994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74295">
              <a:lnSpc>
                <a:spcPct val="102499"/>
              </a:lnSpc>
              <a:spcBef>
                <a:spcPts val="85"/>
              </a:spcBef>
            </a:pPr>
            <a:r>
              <a:rPr sz="1200" b="1" spc="10" dirty="0">
                <a:latin typeface="Comic Sans MS"/>
                <a:cs typeface="Comic Sans MS"/>
              </a:rPr>
              <a:t>Software </a:t>
            </a:r>
            <a:r>
              <a:rPr sz="1200" b="1" spc="15" dirty="0">
                <a:latin typeface="Comic Sans MS"/>
                <a:cs typeface="Comic Sans MS"/>
              </a:rPr>
              <a:t> </a:t>
            </a:r>
            <a:r>
              <a:rPr sz="1200" b="1" spc="5" dirty="0">
                <a:latin typeface="Comic Sans MS"/>
                <a:cs typeface="Comic Sans MS"/>
              </a:rPr>
              <a:t>P</a:t>
            </a:r>
            <a:r>
              <a:rPr sz="1200" b="1" spc="10" dirty="0">
                <a:latin typeface="Comic Sans MS"/>
                <a:cs typeface="Comic Sans MS"/>
              </a:rPr>
              <a:t>ar</a:t>
            </a:r>
            <a:r>
              <a:rPr sz="1200" b="1" spc="5" dirty="0">
                <a:latin typeface="Comic Sans MS"/>
                <a:cs typeface="Comic Sans MS"/>
              </a:rPr>
              <a:t>titionin</a:t>
            </a:r>
            <a:r>
              <a:rPr sz="1200" b="1" spc="10" dirty="0">
                <a:latin typeface="Comic Sans MS"/>
                <a:cs typeface="Comic Sans MS"/>
              </a:rPr>
              <a:t>g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53305" y="1993900"/>
            <a:ext cx="1130935" cy="5575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">
              <a:lnSpc>
                <a:spcPct val="100000"/>
              </a:lnSpc>
              <a:spcBef>
                <a:spcPts val="215"/>
              </a:spcBef>
            </a:pPr>
            <a:r>
              <a:rPr sz="1350" b="1" spc="-5" dirty="0">
                <a:latin typeface="Comic Sans MS"/>
                <a:cs typeface="Comic Sans MS"/>
              </a:rPr>
              <a:t>Hardware</a:t>
            </a:r>
            <a:endParaRPr sz="1350">
              <a:latin typeface="Comic Sans MS"/>
              <a:cs typeface="Comic Sans MS"/>
            </a:endParaRPr>
          </a:p>
          <a:p>
            <a:pPr marL="3810">
              <a:lnSpc>
                <a:spcPct val="100000"/>
              </a:lnSpc>
              <a:spcBef>
                <a:spcPts val="15"/>
              </a:spcBef>
            </a:pPr>
            <a:r>
              <a:rPr sz="1350" b="1" dirty="0">
                <a:latin typeface="Comic Sans MS"/>
                <a:cs typeface="Comic Sans MS"/>
              </a:rPr>
              <a:t>Development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385881" y="2811589"/>
            <a:ext cx="1299210" cy="586105"/>
            <a:chOff x="4385881" y="2811589"/>
            <a:chExt cx="1299210" cy="586105"/>
          </a:xfrm>
        </p:grpSpPr>
        <p:sp>
          <p:nvSpPr>
            <p:cNvPr id="26" name="object 26"/>
            <p:cNvSpPr/>
            <p:nvPr/>
          </p:nvSpPr>
          <p:spPr>
            <a:xfrm>
              <a:off x="4390644" y="2816351"/>
              <a:ext cx="1289685" cy="576580"/>
            </a:xfrm>
            <a:custGeom>
              <a:avLst/>
              <a:gdLst/>
              <a:ahLst/>
              <a:cxnLst/>
              <a:rect l="l" t="t" r="r" b="b"/>
              <a:pathLst>
                <a:path w="1289685" h="576579">
                  <a:moveTo>
                    <a:pt x="1289303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1289303" y="576072"/>
                  </a:lnTo>
                  <a:lnTo>
                    <a:pt x="1289303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90644" y="2816351"/>
              <a:ext cx="1289685" cy="576580"/>
            </a:xfrm>
            <a:custGeom>
              <a:avLst/>
              <a:gdLst/>
              <a:ahLst/>
              <a:cxnLst/>
              <a:rect l="l" t="t" r="r" b="b"/>
              <a:pathLst>
                <a:path w="1289685" h="576579">
                  <a:moveTo>
                    <a:pt x="0" y="576072"/>
                  </a:moveTo>
                  <a:lnTo>
                    <a:pt x="1289303" y="576072"/>
                  </a:lnTo>
                  <a:lnTo>
                    <a:pt x="1289303" y="0"/>
                  </a:lnTo>
                  <a:lnTo>
                    <a:pt x="0" y="0"/>
                  </a:lnTo>
                  <a:lnTo>
                    <a:pt x="0" y="57607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390644" y="2816351"/>
            <a:ext cx="1289685" cy="6115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30175" marR="120650" indent="130810">
              <a:lnSpc>
                <a:spcPct val="100699"/>
              </a:lnSpc>
              <a:spcBef>
                <a:spcPts val="215"/>
              </a:spcBef>
            </a:pPr>
            <a:r>
              <a:rPr sz="1350" b="1" spc="-5" dirty="0">
                <a:latin typeface="Comic Sans MS"/>
                <a:cs typeface="Comic Sans MS"/>
              </a:rPr>
              <a:t>Software </a:t>
            </a:r>
            <a:r>
              <a:rPr sz="1350" b="1" dirty="0">
                <a:latin typeface="Comic Sans MS"/>
                <a:cs typeface="Comic Sans MS"/>
              </a:rPr>
              <a:t> D</a:t>
            </a:r>
            <a:r>
              <a:rPr sz="1350" b="1" spc="-5" dirty="0">
                <a:latin typeface="Comic Sans MS"/>
                <a:cs typeface="Comic Sans MS"/>
              </a:rPr>
              <a:t>evel</a:t>
            </a:r>
            <a:r>
              <a:rPr sz="1350" b="1" spc="-10" dirty="0">
                <a:latin typeface="Comic Sans MS"/>
                <a:cs typeface="Comic Sans MS"/>
              </a:rPr>
              <a:t>o</a:t>
            </a:r>
            <a:r>
              <a:rPr sz="1350" b="1" spc="-5" dirty="0">
                <a:latin typeface="Comic Sans MS"/>
                <a:cs typeface="Comic Sans MS"/>
              </a:rPr>
              <a:t>p</a:t>
            </a:r>
            <a:r>
              <a:rPr sz="1350" b="1" dirty="0">
                <a:latin typeface="Comic Sans MS"/>
                <a:cs typeface="Comic Sans MS"/>
              </a:rPr>
              <a:t>ment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91237" y="3120961"/>
            <a:ext cx="1533525" cy="586105"/>
            <a:chOff x="6091237" y="3120961"/>
            <a:chExt cx="1533525" cy="586105"/>
          </a:xfrm>
        </p:grpSpPr>
        <p:sp>
          <p:nvSpPr>
            <p:cNvPr id="30" name="object 30"/>
            <p:cNvSpPr/>
            <p:nvPr/>
          </p:nvSpPr>
          <p:spPr>
            <a:xfrm>
              <a:off x="6096000" y="3125723"/>
              <a:ext cx="1524000" cy="576580"/>
            </a:xfrm>
            <a:custGeom>
              <a:avLst/>
              <a:gdLst/>
              <a:ahLst/>
              <a:cxnLst/>
              <a:rect l="l" t="t" r="r" b="b"/>
              <a:pathLst>
                <a:path w="1524000" h="576579">
                  <a:moveTo>
                    <a:pt x="1524000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1524000" y="576072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96000" y="3125723"/>
              <a:ext cx="1524000" cy="576580"/>
            </a:xfrm>
            <a:custGeom>
              <a:avLst/>
              <a:gdLst/>
              <a:ahLst/>
              <a:cxnLst/>
              <a:rect l="l" t="t" r="r" b="b"/>
              <a:pathLst>
                <a:path w="1524000" h="576579">
                  <a:moveTo>
                    <a:pt x="0" y="576072"/>
                  </a:moveTo>
                  <a:lnTo>
                    <a:pt x="1524000" y="576072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576072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096000" y="3125723"/>
            <a:ext cx="1524000" cy="5765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229"/>
              </a:spcBef>
            </a:pPr>
            <a:r>
              <a:rPr sz="1350" b="1" dirty="0">
                <a:latin typeface="Comic Sans MS"/>
                <a:cs typeface="Comic Sans MS"/>
              </a:rPr>
              <a:t>Integration</a:t>
            </a:r>
            <a:endParaRPr sz="1350">
              <a:latin typeface="Comic Sans MS"/>
              <a:cs typeface="Comic Sans MS"/>
            </a:endParaRPr>
          </a:p>
          <a:p>
            <a:pPr marL="274320">
              <a:lnSpc>
                <a:spcPct val="100000"/>
              </a:lnSpc>
              <a:spcBef>
                <a:spcPts val="15"/>
              </a:spcBef>
            </a:pPr>
            <a:r>
              <a:rPr sz="1350" b="1" dirty="0">
                <a:latin typeface="Comic Sans MS"/>
                <a:cs typeface="Comic Sans MS"/>
              </a:rPr>
              <a:t>and</a:t>
            </a:r>
            <a:r>
              <a:rPr sz="1350" b="1" spc="-45" dirty="0">
                <a:latin typeface="Comic Sans MS"/>
                <a:cs typeface="Comic Sans MS"/>
              </a:rPr>
              <a:t> </a:t>
            </a:r>
            <a:r>
              <a:rPr sz="1350" b="1" spc="-5" dirty="0">
                <a:latin typeface="Comic Sans MS"/>
                <a:cs typeface="Comic Sans MS"/>
              </a:rPr>
              <a:t>Testing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435986" y="1250696"/>
            <a:ext cx="1038860" cy="1191895"/>
            <a:chOff x="2435986" y="1250696"/>
            <a:chExt cx="1038860" cy="1191895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5986" y="1250696"/>
              <a:ext cx="234823" cy="8686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7892" y="2067306"/>
              <a:ext cx="221869" cy="8674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33091" y="1293113"/>
              <a:ext cx="841375" cy="1149350"/>
            </a:xfrm>
            <a:custGeom>
              <a:avLst/>
              <a:gdLst/>
              <a:ahLst/>
              <a:cxnLst/>
              <a:rect l="l" t="t" r="r" b="b"/>
              <a:pathLst>
                <a:path w="841375" h="1149350">
                  <a:moveTo>
                    <a:pt x="86868" y="322961"/>
                  </a:moveTo>
                  <a:lnTo>
                    <a:pt x="57975" y="323049"/>
                  </a:lnTo>
                  <a:lnTo>
                    <a:pt x="56769" y="0"/>
                  </a:lnTo>
                  <a:lnTo>
                    <a:pt x="27813" y="0"/>
                  </a:lnTo>
                  <a:lnTo>
                    <a:pt x="29019" y="323138"/>
                  </a:lnTo>
                  <a:lnTo>
                    <a:pt x="0" y="323215"/>
                  </a:lnTo>
                  <a:lnTo>
                    <a:pt x="43815" y="409956"/>
                  </a:lnTo>
                  <a:lnTo>
                    <a:pt x="79629" y="337566"/>
                  </a:lnTo>
                  <a:lnTo>
                    <a:pt x="86868" y="322961"/>
                  </a:lnTo>
                  <a:close/>
                </a:path>
                <a:path w="841375" h="1149350">
                  <a:moveTo>
                    <a:pt x="841248" y="1061974"/>
                  </a:moveTo>
                  <a:lnTo>
                    <a:pt x="812215" y="1062151"/>
                  </a:lnTo>
                  <a:lnTo>
                    <a:pt x="811149" y="822833"/>
                  </a:lnTo>
                  <a:lnTo>
                    <a:pt x="782193" y="823087"/>
                  </a:lnTo>
                  <a:lnTo>
                    <a:pt x="783259" y="1062316"/>
                  </a:lnTo>
                  <a:lnTo>
                    <a:pt x="754380" y="1062482"/>
                  </a:lnTo>
                  <a:lnTo>
                    <a:pt x="798195" y="1149096"/>
                  </a:lnTo>
                  <a:lnTo>
                    <a:pt x="833894" y="1076833"/>
                  </a:lnTo>
                  <a:lnTo>
                    <a:pt x="841248" y="10619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964559" y="2200148"/>
            <a:ext cx="3006725" cy="1021715"/>
            <a:chOff x="3964559" y="2200148"/>
            <a:chExt cx="3006725" cy="1021715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4559" y="2679700"/>
              <a:ext cx="129666" cy="8686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086606" y="2222754"/>
              <a:ext cx="1905" cy="937260"/>
            </a:xfrm>
            <a:custGeom>
              <a:avLst/>
              <a:gdLst/>
              <a:ahLst/>
              <a:cxnLst/>
              <a:rect l="l" t="t" r="r" b="b"/>
              <a:pathLst>
                <a:path w="1904" h="937260">
                  <a:moveTo>
                    <a:pt x="0" y="0"/>
                  </a:moveTo>
                  <a:lnTo>
                    <a:pt x="1524" y="937259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97147" y="2200147"/>
              <a:ext cx="1784985" cy="1021715"/>
            </a:xfrm>
            <a:custGeom>
              <a:avLst/>
              <a:gdLst/>
              <a:ahLst/>
              <a:cxnLst/>
              <a:rect l="l" t="t" r="r" b="b"/>
              <a:pathLst>
                <a:path w="1784985" h="1021714">
                  <a:moveTo>
                    <a:pt x="232117" y="58039"/>
                  </a:moveTo>
                  <a:lnTo>
                    <a:pt x="188214" y="58039"/>
                  </a:lnTo>
                  <a:lnTo>
                    <a:pt x="173774" y="58039"/>
                  </a:lnTo>
                  <a:lnTo>
                    <a:pt x="173609" y="86868"/>
                  </a:lnTo>
                  <a:lnTo>
                    <a:pt x="232117" y="58039"/>
                  </a:lnTo>
                  <a:close/>
                </a:path>
                <a:path w="1784985" h="1021714">
                  <a:moveTo>
                    <a:pt x="260731" y="43942"/>
                  </a:moveTo>
                  <a:lnTo>
                    <a:pt x="174117" y="0"/>
                  </a:lnTo>
                  <a:lnTo>
                    <a:pt x="173939" y="29006"/>
                  </a:lnTo>
                  <a:lnTo>
                    <a:pt x="254" y="27940"/>
                  </a:lnTo>
                  <a:lnTo>
                    <a:pt x="0" y="56896"/>
                  </a:lnTo>
                  <a:lnTo>
                    <a:pt x="173774" y="57962"/>
                  </a:lnTo>
                  <a:lnTo>
                    <a:pt x="188214" y="58039"/>
                  </a:lnTo>
                  <a:lnTo>
                    <a:pt x="232295" y="57962"/>
                  </a:lnTo>
                  <a:lnTo>
                    <a:pt x="260731" y="43942"/>
                  </a:lnTo>
                  <a:close/>
                </a:path>
                <a:path w="1784985" h="1021714">
                  <a:moveTo>
                    <a:pt x="324739" y="978154"/>
                  </a:moveTo>
                  <a:lnTo>
                    <a:pt x="295783" y="963676"/>
                  </a:lnTo>
                  <a:lnTo>
                    <a:pt x="237871" y="934720"/>
                  </a:lnTo>
                  <a:lnTo>
                    <a:pt x="237871" y="963676"/>
                  </a:lnTo>
                  <a:lnTo>
                    <a:pt x="127" y="963676"/>
                  </a:lnTo>
                  <a:lnTo>
                    <a:pt x="127" y="992632"/>
                  </a:lnTo>
                  <a:lnTo>
                    <a:pt x="237871" y="992632"/>
                  </a:lnTo>
                  <a:lnTo>
                    <a:pt x="237871" y="1021588"/>
                  </a:lnTo>
                  <a:lnTo>
                    <a:pt x="295783" y="992632"/>
                  </a:lnTo>
                  <a:lnTo>
                    <a:pt x="324739" y="978154"/>
                  </a:lnTo>
                  <a:close/>
                </a:path>
                <a:path w="1784985" h="1021714">
                  <a:moveTo>
                    <a:pt x="1757286" y="73787"/>
                  </a:moveTo>
                  <a:lnTo>
                    <a:pt x="1712087" y="73787"/>
                  </a:lnTo>
                  <a:lnTo>
                    <a:pt x="1697634" y="73787"/>
                  </a:lnTo>
                  <a:lnTo>
                    <a:pt x="1697101" y="102489"/>
                  </a:lnTo>
                  <a:lnTo>
                    <a:pt x="1757286" y="73787"/>
                  </a:lnTo>
                  <a:close/>
                </a:path>
                <a:path w="1784985" h="1021714">
                  <a:moveTo>
                    <a:pt x="1784731" y="60706"/>
                  </a:moveTo>
                  <a:lnTo>
                    <a:pt x="1698752" y="15621"/>
                  </a:lnTo>
                  <a:lnTo>
                    <a:pt x="1698193" y="44564"/>
                  </a:lnTo>
                  <a:lnTo>
                    <a:pt x="1388745" y="38608"/>
                  </a:lnTo>
                  <a:lnTo>
                    <a:pt x="1388237" y="67564"/>
                  </a:lnTo>
                  <a:lnTo>
                    <a:pt x="1697647" y="73520"/>
                  </a:lnTo>
                  <a:lnTo>
                    <a:pt x="1712087" y="73520"/>
                  </a:lnTo>
                  <a:lnTo>
                    <a:pt x="1757870" y="73520"/>
                  </a:lnTo>
                  <a:lnTo>
                    <a:pt x="1784731" y="607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66638" y="2253234"/>
              <a:ext cx="0" cy="821690"/>
            </a:xfrm>
            <a:custGeom>
              <a:avLst/>
              <a:gdLst/>
              <a:ahLst/>
              <a:cxnLst/>
              <a:rect l="l" t="t" r="r" b="b"/>
              <a:pathLst>
                <a:path h="821689">
                  <a:moveTo>
                    <a:pt x="0" y="0"/>
                  </a:moveTo>
                  <a:lnTo>
                    <a:pt x="0" y="821436"/>
                  </a:lnTo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28411" y="2629789"/>
              <a:ext cx="1106805" cy="86995"/>
            </a:xfrm>
            <a:custGeom>
              <a:avLst/>
              <a:gdLst/>
              <a:ahLst/>
              <a:cxnLst/>
              <a:rect l="l" t="t" r="r" b="b"/>
              <a:pathLst>
                <a:path w="1106804" h="86994">
                  <a:moveTo>
                    <a:pt x="1019937" y="0"/>
                  </a:moveTo>
                  <a:lnTo>
                    <a:pt x="1019767" y="28983"/>
                  </a:lnTo>
                  <a:lnTo>
                    <a:pt x="1034288" y="29083"/>
                  </a:lnTo>
                  <a:lnTo>
                    <a:pt x="1034034" y="58038"/>
                  </a:lnTo>
                  <a:lnTo>
                    <a:pt x="1019597" y="58038"/>
                  </a:lnTo>
                  <a:lnTo>
                    <a:pt x="1019429" y="86868"/>
                  </a:lnTo>
                  <a:lnTo>
                    <a:pt x="1078113" y="58038"/>
                  </a:lnTo>
                  <a:lnTo>
                    <a:pt x="1034034" y="58038"/>
                  </a:lnTo>
                  <a:lnTo>
                    <a:pt x="1078315" y="57939"/>
                  </a:lnTo>
                  <a:lnTo>
                    <a:pt x="1106550" y="44068"/>
                  </a:lnTo>
                  <a:lnTo>
                    <a:pt x="1019937" y="0"/>
                  </a:lnTo>
                  <a:close/>
                </a:path>
                <a:path w="1106804" h="86994">
                  <a:moveTo>
                    <a:pt x="1019767" y="28983"/>
                  </a:moveTo>
                  <a:lnTo>
                    <a:pt x="1019598" y="57939"/>
                  </a:lnTo>
                  <a:lnTo>
                    <a:pt x="1034034" y="58038"/>
                  </a:lnTo>
                  <a:lnTo>
                    <a:pt x="1034288" y="29083"/>
                  </a:lnTo>
                  <a:lnTo>
                    <a:pt x="1019767" y="28983"/>
                  </a:lnTo>
                  <a:close/>
                </a:path>
                <a:path w="1106804" h="86994">
                  <a:moveTo>
                    <a:pt x="253" y="21971"/>
                  </a:moveTo>
                  <a:lnTo>
                    <a:pt x="0" y="50927"/>
                  </a:lnTo>
                  <a:lnTo>
                    <a:pt x="1019598" y="57939"/>
                  </a:lnTo>
                  <a:lnTo>
                    <a:pt x="1019767" y="28983"/>
                  </a:lnTo>
                  <a:lnTo>
                    <a:pt x="253" y="219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86425" y="3033776"/>
              <a:ext cx="196976" cy="8686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884162" y="2681224"/>
              <a:ext cx="86995" cy="442595"/>
            </a:xfrm>
            <a:custGeom>
              <a:avLst/>
              <a:gdLst/>
              <a:ahLst/>
              <a:cxnLst/>
              <a:rect l="l" t="t" r="r" b="b"/>
              <a:pathLst>
                <a:path w="86995" h="442594">
                  <a:moveTo>
                    <a:pt x="0" y="354456"/>
                  </a:moveTo>
                  <a:lnTo>
                    <a:pt x="41656" y="442213"/>
                  </a:lnTo>
                  <a:lnTo>
                    <a:pt x="79588" y="370077"/>
                  </a:lnTo>
                  <a:lnTo>
                    <a:pt x="57658" y="370077"/>
                  </a:lnTo>
                  <a:lnTo>
                    <a:pt x="28702" y="369569"/>
                  </a:lnTo>
                  <a:lnTo>
                    <a:pt x="29001" y="355050"/>
                  </a:lnTo>
                  <a:lnTo>
                    <a:pt x="0" y="354456"/>
                  </a:lnTo>
                  <a:close/>
                </a:path>
                <a:path w="86995" h="442594">
                  <a:moveTo>
                    <a:pt x="29001" y="355050"/>
                  </a:moveTo>
                  <a:lnTo>
                    <a:pt x="28702" y="369569"/>
                  </a:lnTo>
                  <a:lnTo>
                    <a:pt x="57658" y="370077"/>
                  </a:lnTo>
                  <a:lnTo>
                    <a:pt x="57955" y="355643"/>
                  </a:lnTo>
                  <a:lnTo>
                    <a:pt x="29001" y="355050"/>
                  </a:lnTo>
                  <a:close/>
                </a:path>
                <a:path w="86995" h="442594">
                  <a:moveTo>
                    <a:pt x="57955" y="355643"/>
                  </a:moveTo>
                  <a:lnTo>
                    <a:pt x="57658" y="370077"/>
                  </a:lnTo>
                  <a:lnTo>
                    <a:pt x="79588" y="370077"/>
                  </a:lnTo>
                  <a:lnTo>
                    <a:pt x="86868" y="356234"/>
                  </a:lnTo>
                  <a:lnTo>
                    <a:pt x="57955" y="355643"/>
                  </a:lnTo>
                  <a:close/>
                </a:path>
                <a:path w="86995" h="442594">
                  <a:moveTo>
                    <a:pt x="36322" y="0"/>
                  </a:moveTo>
                  <a:lnTo>
                    <a:pt x="29001" y="355050"/>
                  </a:lnTo>
                  <a:lnTo>
                    <a:pt x="57955" y="355643"/>
                  </a:lnTo>
                  <a:lnTo>
                    <a:pt x="65278" y="507"/>
                  </a:lnTo>
                  <a:lnTo>
                    <a:pt x="363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381250" y="3762552"/>
            <a:ext cx="80581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dirty="0">
                <a:latin typeface="Comic Sans MS"/>
                <a:cs typeface="Comic Sans MS"/>
              </a:rPr>
              <a:t>Project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54020" y="3762552"/>
            <a:ext cx="135763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b="1" spc="5" dirty="0">
                <a:latin typeface="Comic Sans MS"/>
                <a:cs typeface="Comic Sans MS"/>
              </a:rPr>
              <a:t>Management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2055114" y="264921"/>
            <a:ext cx="55016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CC"/>
                </a:solidFill>
              </a:rPr>
              <a:t>Computer</a:t>
            </a:r>
            <a:r>
              <a:rPr sz="3000" spc="-15" dirty="0">
                <a:solidFill>
                  <a:srgbClr val="0000CC"/>
                </a:solidFill>
              </a:rPr>
              <a:t> </a:t>
            </a:r>
            <a:r>
              <a:rPr sz="3000" spc="-25" dirty="0">
                <a:solidFill>
                  <a:srgbClr val="0000CC"/>
                </a:solidFill>
              </a:rPr>
              <a:t>Systems </a:t>
            </a:r>
            <a:r>
              <a:rPr sz="3000" dirty="0">
                <a:solidFill>
                  <a:srgbClr val="0000CC"/>
                </a:solidFill>
              </a:rPr>
              <a:t>Engineering</a:t>
            </a:r>
            <a:r>
              <a:rPr sz="3000" spc="-15" dirty="0">
                <a:solidFill>
                  <a:srgbClr val="0000CC"/>
                </a:solidFill>
              </a:rPr>
              <a:t> </a:t>
            </a:r>
            <a:r>
              <a:rPr sz="1200" spc="-10" dirty="0">
                <a:solidFill>
                  <a:srgbClr val="0000CC"/>
                </a:solidFill>
              </a:rPr>
              <a:t>(CONT.)</a:t>
            </a:r>
            <a:endParaRPr sz="12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1955" y="1658111"/>
            <a:ext cx="6430010" cy="12954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12395" rIns="0" bIns="0" rtlCol="0">
            <a:spAutoFit/>
          </a:bodyPr>
          <a:lstStyle/>
          <a:p>
            <a:pPr marL="982344" marR="977265" indent="28575">
              <a:lnSpc>
                <a:spcPts val="4070"/>
              </a:lnSpc>
              <a:spcBef>
                <a:spcPts val="885"/>
              </a:spcBef>
            </a:pPr>
            <a:r>
              <a:rPr sz="3600" spc="-10" dirty="0">
                <a:solidFill>
                  <a:srgbClr val="0000CC"/>
                </a:solidFill>
              </a:rPr>
              <a:t>Emergence </a:t>
            </a:r>
            <a:r>
              <a:rPr sz="3600" spc="-5" dirty="0">
                <a:solidFill>
                  <a:srgbClr val="0000CC"/>
                </a:solidFill>
              </a:rPr>
              <a:t>of </a:t>
            </a:r>
            <a:r>
              <a:rPr sz="3600" spc="-10" dirty="0">
                <a:solidFill>
                  <a:srgbClr val="0000CC"/>
                </a:solidFill>
              </a:rPr>
              <a:t>Software </a:t>
            </a:r>
            <a:r>
              <a:rPr sz="3600" spc="-800" dirty="0">
                <a:solidFill>
                  <a:srgbClr val="0000CC"/>
                </a:solidFill>
              </a:rPr>
              <a:t> </a:t>
            </a:r>
            <a:r>
              <a:rPr sz="3600" dirty="0">
                <a:solidFill>
                  <a:srgbClr val="0000CC"/>
                </a:solidFill>
              </a:rPr>
              <a:t>Engineering</a:t>
            </a:r>
            <a:r>
              <a:rPr sz="3600" spc="-35" dirty="0">
                <a:solidFill>
                  <a:srgbClr val="0000CC"/>
                </a:solidFill>
              </a:rPr>
              <a:t> </a:t>
            </a:r>
            <a:r>
              <a:rPr sz="3600" spc="-40" dirty="0">
                <a:solidFill>
                  <a:srgbClr val="0000CC"/>
                </a:solidFill>
              </a:rPr>
              <a:t>Techniques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401811" y="4830876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736" y="384175"/>
            <a:ext cx="8015605" cy="3732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360" algn="ctr">
              <a:lnSpc>
                <a:spcPct val="100000"/>
              </a:lnSpc>
              <a:spcBef>
                <a:spcPts val="100"/>
              </a:spcBef>
              <a:tabLst>
                <a:tab pos="4850130" algn="l"/>
              </a:tabLst>
            </a:pPr>
            <a:r>
              <a:rPr sz="2400" b="1" spc="-10" dirty="0">
                <a:solidFill>
                  <a:srgbClr val="0000CC"/>
                </a:solidFill>
                <a:latin typeface="Calibri"/>
                <a:cs typeface="Calibri"/>
              </a:rPr>
              <a:t>Emergence</a:t>
            </a:r>
            <a:r>
              <a:rPr sz="24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sz="2400" b="1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4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00CC"/>
                </a:solidFill>
                <a:latin typeface="Calibri"/>
                <a:cs typeface="Calibri"/>
              </a:rPr>
              <a:t>Engineering	</a:t>
            </a:r>
            <a:r>
              <a:rPr sz="2400" b="1" spc="-25" dirty="0">
                <a:solidFill>
                  <a:srgbClr val="0000CC"/>
                </a:solidFill>
                <a:latin typeface="Calibri"/>
                <a:cs typeface="Calibri"/>
              </a:rPr>
              <a:t>Techniques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buFont typeface="Arial MT"/>
              <a:buChar char="•"/>
              <a:tabLst>
                <a:tab pos="246379" algn="l"/>
              </a:tabLst>
            </a:pPr>
            <a:r>
              <a:rPr sz="3250" spc="-5" dirty="0">
                <a:latin typeface="Calibri"/>
                <a:cs typeface="Calibri"/>
              </a:rPr>
              <a:t>Early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Computer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Programming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(1950s):</a:t>
            </a:r>
            <a:endParaRPr sz="3250">
              <a:latin typeface="Calibri"/>
              <a:cs typeface="Calibri"/>
            </a:endParaRPr>
          </a:p>
          <a:p>
            <a:pPr marL="516890" marR="1101090" indent="-194310">
              <a:lnSpc>
                <a:spcPct val="119700"/>
              </a:lnSpc>
              <a:spcBef>
                <a:spcPts val="1440"/>
              </a:spcBef>
            </a:pPr>
            <a:r>
              <a:rPr sz="3000" spc="-15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3000" spc="-15" dirty="0">
                <a:solidFill>
                  <a:srgbClr val="C00000"/>
                </a:solidFill>
                <a:latin typeface="Calibri"/>
                <a:cs typeface="Calibri"/>
              </a:rPr>
              <a:t>Programs </a:t>
            </a:r>
            <a:r>
              <a:rPr sz="3000" spc="-20" dirty="0">
                <a:solidFill>
                  <a:srgbClr val="C00000"/>
                </a:solidFill>
                <a:latin typeface="Calibri"/>
                <a:cs typeface="Calibri"/>
              </a:rPr>
              <a:t>were</a:t>
            </a:r>
            <a:r>
              <a:rPr sz="30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being</a:t>
            </a:r>
            <a:r>
              <a:rPr sz="30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C00000"/>
                </a:solidFill>
                <a:latin typeface="Calibri"/>
                <a:cs typeface="Calibri"/>
              </a:rPr>
              <a:t>written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 in</a:t>
            </a: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 assembly </a:t>
            </a:r>
            <a:r>
              <a:rPr sz="3000" spc="-6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language…</a:t>
            </a:r>
            <a:endParaRPr sz="3000">
              <a:latin typeface="Calibri"/>
              <a:cs typeface="Calibri"/>
            </a:endParaRPr>
          </a:p>
          <a:p>
            <a:pPr marL="516890" marR="5080" indent="-194310">
              <a:lnSpc>
                <a:spcPct val="120000"/>
              </a:lnSpc>
              <a:spcBef>
                <a:spcPts val="1310"/>
              </a:spcBef>
              <a:tabLst>
                <a:tab pos="3021965" algn="l"/>
              </a:tabLst>
            </a:pPr>
            <a:r>
              <a:rPr sz="3000" spc="-15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3000" spc="-15" dirty="0">
                <a:solidFill>
                  <a:srgbClr val="C00000"/>
                </a:solidFill>
                <a:latin typeface="Calibri"/>
                <a:cs typeface="Calibri"/>
              </a:rPr>
              <a:t>Sizes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 limited</a:t>
            </a: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C00000"/>
                </a:solidFill>
                <a:latin typeface="Calibri"/>
                <a:cs typeface="Calibri"/>
              </a:rPr>
              <a:t>to	</a:t>
            </a: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about </a:t>
            </a:r>
            <a:r>
              <a:rPr sz="3000" dirty="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sz="3000" spc="-35" dirty="0">
                <a:solidFill>
                  <a:srgbClr val="C00000"/>
                </a:solidFill>
                <a:latin typeface="Calibri"/>
                <a:cs typeface="Calibri"/>
              </a:rPr>
              <a:t>few 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hundreds </a:t>
            </a: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lines </a:t>
            </a: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sz="3000" spc="-6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C00000"/>
                </a:solidFill>
                <a:latin typeface="Calibri"/>
                <a:cs typeface="Calibri"/>
              </a:rPr>
              <a:t>assembly</a:t>
            </a:r>
            <a:r>
              <a:rPr sz="30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C00000"/>
                </a:solidFill>
                <a:latin typeface="Calibri"/>
                <a:cs typeface="Calibri"/>
              </a:rPr>
              <a:t>code…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440" y="87657"/>
            <a:ext cx="7459980" cy="3630295"/>
          </a:xfrm>
          <a:prstGeom prst="rect">
            <a:avLst/>
          </a:prstGeom>
        </p:spPr>
        <p:txBody>
          <a:bodyPr vert="horz" wrap="square" lIns="0" tIns="273685" rIns="0" bIns="0" rtlCol="0">
            <a:spAutoFit/>
          </a:bodyPr>
          <a:lstStyle/>
          <a:p>
            <a:pPr marL="1009015">
              <a:lnSpc>
                <a:spcPct val="100000"/>
              </a:lnSpc>
              <a:spcBef>
                <a:spcPts val="2155"/>
              </a:spcBef>
            </a:pPr>
            <a:r>
              <a:rPr sz="3000" b="1" spc="-10" dirty="0">
                <a:solidFill>
                  <a:srgbClr val="0000CC"/>
                </a:solidFill>
                <a:latin typeface="Calibri"/>
                <a:cs typeface="Calibri"/>
              </a:rPr>
              <a:t>Early</a:t>
            </a:r>
            <a:r>
              <a:rPr sz="3000" b="1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00CC"/>
                </a:solidFill>
                <a:latin typeface="Calibri"/>
                <a:cs typeface="Calibri"/>
              </a:rPr>
              <a:t>Computer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Programming</a:t>
            </a:r>
            <a:r>
              <a:rPr sz="30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(50s)</a:t>
            </a:r>
            <a:endParaRPr sz="3000">
              <a:latin typeface="Calibri"/>
              <a:cs typeface="Calibri"/>
            </a:endParaRPr>
          </a:p>
          <a:p>
            <a:pPr marL="245745" marR="95250" indent="-233679">
              <a:lnSpc>
                <a:spcPct val="130800"/>
              </a:lnSpc>
              <a:spcBef>
                <a:spcPts val="1060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15" dirty="0">
                <a:latin typeface="Calibri"/>
                <a:cs typeface="Calibri"/>
              </a:rPr>
              <a:t>Every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programmer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developed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his/her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own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style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of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writing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programs:</a:t>
            </a:r>
            <a:endParaRPr sz="3250">
              <a:latin typeface="Calibri"/>
              <a:cs typeface="Calibri"/>
            </a:endParaRPr>
          </a:p>
          <a:p>
            <a:pPr marL="516890" marR="5080" indent="-193675">
              <a:lnSpc>
                <a:spcPct val="129700"/>
              </a:lnSpc>
              <a:spcBef>
                <a:spcPts val="2125"/>
              </a:spcBef>
              <a:tabLst>
                <a:tab pos="4571365" algn="l"/>
              </a:tabLst>
            </a:pPr>
            <a:r>
              <a:rPr sz="3000" spc="-10" dirty="0">
                <a:latin typeface="Arial MT"/>
                <a:cs typeface="Arial MT"/>
              </a:rPr>
              <a:t>–</a:t>
            </a:r>
            <a:r>
              <a:rPr sz="3000" spc="-10" dirty="0">
                <a:latin typeface="Calibri"/>
                <a:cs typeface="Calibri"/>
              </a:rPr>
              <a:t>According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10" dirty="0">
                <a:latin typeface="Calibri"/>
                <a:cs typeface="Calibri"/>
              </a:rPr>
              <a:t> his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intuition	</a:t>
            </a:r>
            <a:r>
              <a:rPr sz="3000" spc="-5" dirty="0">
                <a:latin typeface="Calibri"/>
                <a:cs typeface="Calibri"/>
              </a:rPr>
              <a:t>(called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0000CC"/>
                </a:solidFill>
                <a:latin typeface="Calibri"/>
                <a:cs typeface="Calibri"/>
              </a:rPr>
              <a:t>exploratory </a:t>
            </a:r>
            <a:r>
              <a:rPr sz="3000" spc="-66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CC"/>
                </a:solidFill>
                <a:latin typeface="Calibri"/>
                <a:cs typeface="Calibri"/>
              </a:rPr>
              <a:t>or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CC"/>
                </a:solidFill>
                <a:latin typeface="Calibri"/>
                <a:cs typeface="Calibri"/>
              </a:rPr>
              <a:t>build-and-fix </a:t>
            </a:r>
            <a:r>
              <a:rPr sz="3000" spc="-15" dirty="0">
                <a:solidFill>
                  <a:srgbClr val="0000CC"/>
                </a:solidFill>
                <a:latin typeface="Calibri"/>
                <a:cs typeface="Calibri"/>
              </a:rPr>
              <a:t>programming</a:t>
            </a:r>
            <a:r>
              <a:rPr sz="3000" spc="-15" dirty="0">
                <a:latin typeface="Calibri"/>
                <a:cs typeface="Calibri"/>
              </a:rPr>
              <a:t>)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511" y="879453"/>
            <a:ext cx="8409305" cy="2698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4">
              <a:lnSpc>
                <a:spcPct val="114999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3000" spc="-10" dirty="0">
                <a:latin typeface="Calibri"/>
                <a:cs typeface="Calibri"/>
              </a:rPr>
              <a:t>High-level </a:t>
            </a:r>
            <a:r>
              <a:rPr sz="3000" spc="-5" dirty="0">
                <a:latin typeface="Calibri"/>
                <a:cs typeface="Calibri"/>
              </a:rPr>
              <a:t>languages such </a:t>
            </a:r>
            <a:r>
              <a:rPr sz="3000" dirty="0">
                <a:latin typeface="Calibri"/>
                <a:cs typeface="Calibri"/>
              </a:rPr>
              <a:t>as </a:t>
            </a:r>
            <a:r>
              <a:rPr sz="3000" spc="-10" dirty="0">
                <a:latin typeface="Calibri"/>
                <a:cs typeface="Calibri"/>
              </a:rPr>
              <a:t>FORTRAN, ALGOL,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COBOL</a:t>
            </a:r>
            <a:r>
              <a:rPr sz="3000" spc="-20" dirty="0">
                <a:latin typeface="Calibri"/>
                <a:cs typeface="Calibri"/>
              </a:rPr>
              <a:t> were</a:t>
            </a:r>
            <a:r>
              <a:rPr sz="3000" spc="-15" dirty="0">
                <a:latin typeface="Calibri"/>
                <a:cs typeface="Calibri"/>
              </a:rPr>
              <a:t> introduced: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550">
              <a:latin typeface="Calibri"/>
              <a:cs typeface="Calibri"/>
            </a:endParaRPr>
          </a:p>
          <a:p>
            <a:pPr marL="516890" lvl="1" indent="-193675">
              <a:lnSpc>
                <a:spcPct val="100000"/>
              </a:lnSpc>
              <a:buSzPct val="75000"/>
              <a:buFont typeface="Symbol"/>
              <a:buChar char=""/>
              <a:tabLst>
                <a:tab pos="517525" algn="l"/>
              </a:tabLst>
            </a:pP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This</a:t>
            </a: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reduced</a:t>
            </a:r>
            <a:r>
              <a:rPr sz="2800" spc="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software development</a:t>
            </a:r>
            <a:r>
              <a:rPr sz="2800" spc="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efforts</a:t>
            </a: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greatly.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har char=""/>
            </a:pPr>
            <a:endParaRPr sz="2450">
              <a:latin typeface="Calibri"/>
              <a:cs typeface="Calibri"/>
            </a:endParaRPr>
          </a:p>
          <a:p>
            <a:pPr marL="516890" lvl="1" indent="-193675">
              <a:lnSpc>
                <a:spcPct val="100000"/>
              </a:lnSpc>
              <a:spcBef>
                <a:spcPts val="5"/>
              </a:spcBef>
              <a:buSzPct val="75925"/>
              <a:buFont typeface="Symbol"/>
              <a:buChar char=""/>
              <a:tabLst>
                <a:tab pos="517525" algn="l"/>
              </a:tabLst>
            </a:pPr>
            <a:r>
              <a:rPr sz="2700" spc="10" dirty="0">
                <a:solidFill>
                  <a:srgbClr val="244060"/>
                </a:solidFill>
                <a:latin typeface="Calibri"/>
                <a:cs typeface="Calibri"/>
              </a:rPr>
              <a:t>Why</a:t>
            </a:r>
            <a:r>
              <a:rPr sz="27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244060"/>
                </a:solidFill>
                <a:latin typeface="Calibri"/>
                <a:cs typeface="Calibri"/>
              </a:rPr>
              <a:t>reduces?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9203" y="253110"/>
            <a:ext cx="6593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0000CC"/>
                </a:solidFill>
              </a:rPr>
              <a:t>High-Level</a:t>
            </a:r>
            <a:r>
              <a:rPr sz="3000" spc="-5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Language</a:t>
            </a:r>
            <a:r>
              <a:rPr sz="3000" spc="-10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Programming</a:t>
            </a:r>
            <a:r>
              <a:rPr sz="3000" spc="-25" dirty="0">
                <a:solidFill>
                  <a:srgbClr val="0000CC"/>
                </a:solidFill>
              </a:rPr>
              <a:t> </a:t>
            </a:r>
            <a:r>
              <a:rPr sz="1900" spc="-5" dirty="0">
                <a:solidFill>
                  <a:srgbClr val="0000CC"/>
                </a:solidFill>
              </a:rPr>
              <a:t>(Early</a:t>
            </a:r>
            <a:r>
              <a:rPr sz="1900" spc="-55" dirty="0">
                <a:solidFill>
                  <a:srgbClr val="0000CC"/>
                </a:solidFill>
              </a:rPr>
              <a:t> </a:t>
            </a:r>
            <a:r>
              <a:rPr sz="1900" dirty="0">
                <a:solidFill>
                  <a:srgbClr val="0000CC"/>
                </a:solidFill>
              </a:rPr>
              <a:t>60s)</a:t>
            </a:r>
            <a:endParaRPr sz="19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111" y="1587245"/>
            <a:ext cx="8498840" cy="182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3000" b="1" spc="-15" dirty="0">
                <a:latin typeface="Calibri"/>
                <a:cs typeface="Calibri"/>
              </a:rPr>
              <a:t>Software development</a:t>
            </a:r>
            <a:r>
              <a:rPr sz="3000" b="1" spc="1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style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was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still</a:t>
            </a:r>
            <a:r>
              <a:rPr sz="3000" b="1" spc="10" dirty="0">
                <a:latin typeface="Calibri"/>
                <a:cs typeface="Calibri"/>
              </a:rPr>
              <a:t> </a:t>
            </a:r>
            <a:r>
              <a:rPr sz="3000" b="1" spc="-35" dirty="0">
                <a:latin typeface="Calibri"/>
                <a:cs typeface="Calibri"/>
              </a:rPr>
              <a:t>exploratory.</a:t>
            </a:r>
            <a:endParaRPr sz="3000">
              <a:latin typeface="Calibri"/>
              <a:cs typeface="Calibri"/>
            </a:endParaRPr>
          </a:p>
          <a:p>
            <a:pPr marL="516890" marR="5080" lvl="1" indent="-194310">
              <a:lnSpc>
                <a:spcPct val="131200"/>
              </a:lnSpc>
              <a:spcBef>
                <a:spcPts val="2095"/>
              </a:spcBef>
              <a:buSzPct val="75925"/>
              <a:buFont typeface="Symbol"/>
              <a:buChar char=""/>
              <a:tabLst>
                <a:tab pos="517525" algn="l"/>
              </a:tabLst>
            </a:pPr>
            <a:r>
              <a:rPr sz="2700" spc="5" dirty="0">
                <a:latin typeface="Calibri"/>
                <a:cs typeface="Calibri"/>
              </a:rPr>
              <a:t>Typical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program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sizes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were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limited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to 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few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thousands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lines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source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code.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33830" y="393572"/>
            <a:ext cx="6593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0000CC"/>
                </a:solidFill>
              </a:rPr>
              <a:t>High-Level</a:t>
            </a:r>
            <a:r>
              <a:rPr sz="3000" spc="-4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Language</a:t>
            </a:r>
            <a:r>
              <a:rPr sz="3000" spc="-10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Programming </a:t>
            </a:r>
            <a:r>
              <a:rPr sz="1900" spc="-5" dirty="0">
                <a:solidFill>
                  <a:srgbClr val="0000CC"/>
                </a:solidFill>
              </a:rPr>
              <a:t>(Early</a:t>
            </a:r>
            <a:r>
              <a:rPr sz="1900" spc="-55" dirty="0">
                <a:solidFill>
                  <a:srgbClr val="0000CC"/>
                </a:solidFill>
              </a:rPr>
              <a:t> </a:t>
            </a:r>
            <a:r>
              <a:rPr sz="1900" spc="-5" dirty="0">
                <a:solidFill>
                  <a:srgbClr val="0000CC"/>
                </a:solidFill>
              </a:rPr>
              <a:t>60s)</a:t>
            </a:r>
            <a:endParaRPr sz="19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9232" y="319785"/>
            <a:ext cx="52616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Control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3000" dirty="0">
                <a:solidFill>
                  <a:srgbClr val="0000CC"/>
                </a:solidFill>
              </a:rPr>
              <a:t>Flow-Based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3000" dirty="0">
                <a:solidFill>
                  <a:srgbClr val="0000CC"/>
                </a:solidFill>
              </a:rPr>
              <a:t>Design</a:t>
            </a:r>
            <a:r>
              <a:rPr sz="3000" spc="-45" dirty="0">
                <a:solidFill>
                  <a:srgbClr val="0000CC"/>
                </a:solidFill>
              </a:rPr>
              <a:t> </a:t>
            </a:r>
            <a:r>
              <a:rPr sz="1900" spc="-10" dirty="0">
                <a:solidFill>
                  <a:srgbClr val="0000CC"/>
                </a:solidFill>
              </a:rPr>
              <a:t>(late</a:t>
            </a:r>
            <a:r>
              <a:rPr sz="1900" spc="-15" dirty="0">
                <a:solidFill>
                  <a:srgbClr val="0000CC"/>
                </a:solidFill>
              </a:rPr>
              <a:t> </a:t>
            </a:r>
            <a:r>
              <a:rPr sz="1900" dirty="0">
                <a:solidFill>
                  <a:srgbClr val="0000CC"/>
                </a:solidFill>
              </a:rPr>
              <a:t>60s)</a:t>
            </a:r>
            <a:endParaRPr sz="19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5511" y="872490"/>
            <a:ext cx="8432800" cy="324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25" dirty="0">
                <a:latin typeface="Calibri"/>
                <a:cs typeface="Calibri"/>
              </a:rPr>
              <a:t>Size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15" dirty="0">
                <a:latin typeface="Calibri"/>
                <a:cs typeface="Calibri"/>
              </a:rPr>
              <a:t>complexity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20" dirty="0">
                <a:latin typeface="Calibri"/>
                <a:cs typeface="Calibri"/>
              </a:rPr>
              <a:t> programs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increased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further: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600"/>
              </a:spcBef>
            </a:pPr>
            <a:r>
              <a:rPr sz="2700" spc="-5" dirty="0">
                <a:latin typeface="Arial MT"/>
                <a:cs typeface="Arial MT"/>
              </a:rPr>
              <a:t>–</a:t>
            </a:r>
            <a:r>
              <a:rPr sz="2700" spc="-5" dirty="0">
                <a:latin typeface="Calibri"/>
                <a:cs typeface="Calibri"/>
              </a:rPr>
              <a:t>Exploratory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programming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style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proved to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be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insufficient.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56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20" dirty="0">
                <a:latin typeface="Calibri"/>
                <a:cs typeface="Calibri"/>
              </a:rPr>
              <a:t>Programmers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found:</a:t>
            </a:r>
            <a:endParaRPr sz="3000">
              <a:latin typeface="Calibri"/>
              <a:cs typeface="Calibri"/>
            </a:endParaRPr>
          </a:p>
          <a:p>
            <a:pPr marL="516890" marR="1308100" indent="-193675">
              <a:lnSpc>
                <a:spcPct val="120800"/>
              </a:lnSpc>
              <a:spcBef>
                <a:spcPts val="1945"/>
              </a:spcBef>
            </a:pPr>
            <a:r>
              <a:rPr sz="2700" spc="-15" dirty="0">
                <a:latin typeface="Arial MT"/>
                <a:cs typeface="Arial MT"/>
              </a:rPr>
              <a:t>–</a:t>
            </a:r>
            <a:r>
              <a:rPr sz="2700" spc="-15" dirty="0">
                <a:latin typeface="Calibri"/>
                <a:cs typeface="Calibri"/>
              </a:rPr>
              <a:t>Very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difficult to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write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cost-effective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correct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programs.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9335" y="280796"/>
            <a:ext cx="53930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Control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3000" dirty="0">
                <a:solidFill>
                  <a:srgbClr val="0000CC"/>
                </a:solidFill>
              </a:rPr>
              <a:t>Flow-Based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3000" dirty="0">
                <a:solidFill>
                  <a:srgbClr val="0000CC"/>
                </a:solidFill>
              </a:rPr>
              <a:t>Design</a:t>
            </a:r>
            <a:r>
              <a:rPr sz="3000" spc="-35" dirty="0">
                <a:solidFill>
                  <a:srgbClr val="0000CC"/>
                </a:solidFill>
              </a:rPr>
              <a:t> </a:t>
            </a:r>
            <a:r>
              <a:rPr sz="2150" spc="-10" dirty="0">
                <a:solidFill>
                  <a:srgbClr val="0000CC"/>
                </a:solidFill>
              </a:rPr>
              <a:t>(late</a:t>
            </a:r>
            <a:r>
              <a:rPr sz="2150" spc="15" dirty="0">
                <a:solidFill>
                  <a:srgbClr val="0000CC"/>
                </a:solidFill>
              </a:rPr>
              <a:t> </a:t>
            </a:r>
            <a:r>
              <a:rPr sz="2150" spc="5" dirty="0">
                <a:solidFill>
                  <a:srgbClr val="0000CC"/>
                </a:solidFill>
              </a:rPr>
              <a:t>60s)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7911" y="691241"/>
            <a:ext cx="7962900" cy="3481070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96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20" dirty="0">
                <a:latin typeface="Calibri"/>
                <a:cs typeface="Calibri"/>
              </a:rPr>
              <a:t>Programmers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found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10" dirty="0">
                <a:latin typeface="Calibri"/>
                <a:cs typeface="Calibri"/>
              </a:rPr>
              <a:t> very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difficult:</a:t>
            </a:r>
            <a:endParaRPr sz="3000">
              <a:latin typeface="Calibri"/>
              <a:cs typeface="Calibri"/>
            </a:endParaRPr>
          </a:p>
          <a:p>
            <a:pPr marL="516890" marR="597535" indent="-193675">
              <a:lnSpc>
                <a:spcPct val="114900"/>
              </a:lnSpc>
              <a:spcBef>
                <a:spcPts val="1230"/>
              </a:spcBef>
            </a:pPr>
            <a:r>
              <a:rPr sz="2700" spc="-65" dirty="0">
                <a:latin typeface="Arial MT"/>
                <a:cs typeface="Arial MT"/>
              </a:rPr>
              <a:t>–</a:t>
            </a:r>
            <a:r>
              <a:rPr sz="2700" spc="-65" dirty="0">
                <a:latin typeface="Calibri"/>
                <a:cs typeface="Calibri"/>
              </a:rPr>
              <a:t>To </a:t>
            </a:r>
            <a:r>
              <a:rPr sz="2700" spc="-5" dirty="0">
                <a:latin typeface="Calibri"/>
                <a:cs typeface="Calibri"/>
              </a:rPr>
              <a:t>understand </a:t>
            </a:r>
            <a:r>
              <a:rPr sz="2700" spc="10" dirty="0">
                <a:latin typeface="Calibri"/>
                <a:cs typeface="Calibri"/>
              </a:rPr>
              <a:t>and </a:t>
            </a:r>
            <a:r>
              <a:rPr sz="2700" dirty="0">
                <a:latin typeface="Calibri"/>
                <a:cs typeface="Calibri"/>
              </a:rPr>
              <a:t>maintain </a:t>
            </a:r>
            <a:r>
              <a:rPr sz="2700" spc="-5" dirty="0">
                <a:latin typeface="Calibri"/>
                <a:cs typeface="Calibri"/>
              </a:rPr>
              <a:t>programs written </a:t>
            </a:r>
            <a:r>
              <a:rPr sz="2700" dirty="0">
                <a:latin typeface="Calibri"/>
                <a:cs typeface="Calibri"/>
              </a:rPr>
              <a:t>by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others.</a:t>
            </a:r>
            <a:endParaRPr sz="2700">
              <a:latin typeface="Calibri"/>
              <a:cs typeface="Calibri"/>
            </a:endParaRPr>
          </a:p>
          <a:p>
            <a:pPr marL="245745" marR="5080" indent="-233679">
              <a:lnSpc>
                <a:spcPct val="117500"/>
              </a:lnSpc>
              <a:spcBef>
                <a:spcPts val="1040"/>
              </a:spcBef>
              <a:buFont typeface="Arial MT"/>
              <a:buChar char="•"/>
              <a:tabLst>
                <a:tab pos="246379" algn="l"/>
                <a:tab pos="3427729" algn="l"/>
              </a:tabLst>
            </a:pPr>
            <a:r>
              <a:rPr sz="3000" spc="-135" dirty="0">
                <a:latin typeface="Calibri"/>
                <a:cs typeface="Calibri"/>
              </a:rPr>
              <a:t>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cope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up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this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problem,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experienced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programmers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advised-</a:t>
            </a:r>
            <a:r>
              <a:rPr sz="3000" b="1" spc="-10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-”Pay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particular</a:t>
            </a:r>
            <a:r>
              <a:rPr sz="245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attention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 the </a:t>
            </a:r>
            <a:r>
              <a:rPr sz="2450" b="1" spc="-5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design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program's	control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structure.'’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7539" y="317119"/>
            <a:ext cx="52616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Control</a:t>
            </a:r>
            <a:r>
              <a:rPr sz="3000" spc="-5" dirty="0">
                <a:solidFill>
                  <a:srgbClr val="0000CC"/>
                </a:solidFill>
              </a:rPr>
              <a:t> Flow-Based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spc="-15" dirty="0">
                <a:solidFill>
                  <a:srgbClr val="0000CC"/>
                </a:solidFill>
              </a:rPr>
              <a:t> </a:t>
            </a:r>
            <a:r>
              <a:rPr sz="1900" spc="-10" dirty="0">
                <a:solidFill>
                  <a:srgbClr val="0000CC"/>
                </a:solidFill>
              </a:rPr>
              <a:t>(late</a:t>
            </a:r>
            <a:r>
              <a:rPr sz="1900" spc="-5" dirty="0">
                <a:solidFill>
                  <a:srgbClr val="0000CC"/>
                </a:solidFill>
              </a:rPr>
              <a:t> </a:t>
            </a:r>
            <a:r>
              <a:rPr sz="1900" dirty="0">
                <a:solidFill>
                  <a:srgbClr val="0000CC"/>
                </a:solidFill>
              </a:rPr>
              <a:t>60s)</a:t>
            </a:r>
            <a:endParaRPr sz="19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7911" y="630299"/>
            <a:ext cx="6188075" cy="367284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What</a:t>
            </a:r>
            <a:r>
              <a:rPr sz="30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CC"/>
                </a:solidFill>
                <a:latin typeface="Calibri"/>
                <a:cs typeface="Calibri"/>
              </a:rPr>
              <a:t>is</a:t>
            </a:r>
            <a:r>
              <a:rPr sz="3000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0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0000CC"/>
                </a:solidFill>
                <a:latin typeface="Calibri"/>
                <a:cs typeface="Calibri"/>
              </a:rPr>
              <a:t>program's</a:t>
            </a:r>
            <a:r>
              <a:rPr sz="3000" spc="-20" dirty="0">
                <a:solidFill>
                  <a:srgbClr val="0000CC"/>
                </a:solidFill>
                <a:latin typeface="Calibri"/>
                <a:cs typeface="Calibri"/>
              </a:rPr>
              <a:t> control</a:t>
            </a:r>
            <a:r>
              <a:rPr sz="3000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structure?</a:t>
            </a:r>
            <a:endParaRPr sz="3000">
              <a:latin typeface="Calibri"/>
              <a:cs typeface="Calibri"/>
            </a:endParaRPr>
          </a:p>
          <a:p>
            <a:pPr marL="516890" marR="251460" indent="-193675">
              <a:lnSpc>
                <a:spcPct val="115900"/>
              </a:lnSpc>
              <a:spcBef>
                <a:spcPts val="1255"/>
              </a:spcBef>
            </a:pPr>
            <a:r>
              <a:rPr sz="2700" spc="1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700" spc="-14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sequence</a:t>
            </a: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in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which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7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program's </a:t>
            </a:r>
            <a:r>
              <a:rPr sz="2700" b="1" spc="-59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instructions</a:t>
            </a:r>
            <a:r>
              <a:rPr sz="2700" b="1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are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executed</a:t>
            </a:r>
            <a:r>
              <a:rPr sz="2700" b="1" spc="-10" dirty="0">
                <a:solidFill>
                  <a:srgbClr val="6600CC"/>
                </a:solidFill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  <a:p>
            <a:pPr marL="245745" marR="213995" indent="-233679">
              <a:lnSpc>
                <a:spcPct val="114700"/>
              </a:lnSpc>
              <a:spcBef>
                <a:spcPts val="1165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135" dirty="0">
                <a:latin typeface="Calibri"/>
                <a:cs typeface="Calibri"/>
              </a:rPr>
              <a:t>To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help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design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programs </a:t>
            </a:r>
            <a:r>
              <a:rPr sz="3000" spc="-15" dirty="0">
                <a:latin typeface="Calibri"/>
                <a:cs typeface="Calibri"/>
              </a:rPr>
              <a:t>having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good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control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structure: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764"/>
              </a:spcBef>
            </a:pPr>
            <a:r>
              <a:rPr sz="2700" spc="5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Flow</a:t>
            </a:r>
            <a:r>
              <a:rPr sz="27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charting</a:t>
            </a:r>
            <a:r>
              <a:rPr sz="2700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technique</a:t>
            </a:r>
            <a:r>
              <a:rPr sz="2700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was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developed.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438912"/>
            <a:ext cx="1904999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5892" y="322275"/>
            <a:ext cx="526161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Control</a:t>
            </a:r>
            <a:r>
              <a:rPr sz="3000" spc="-2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Flow-Based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dirty="0">
                <a:solidFill>
                  <a:srgbClr val="0000CC"/>
                </a:solidFill>
              </a:rPr>
              <a:t> </a:t>
            </a:r>
            <a:r>
              <a:rPr sz="1900" spc="-5" dirty="0">
                <a:solidFill>
                  <a:srgbClr val="0000CC"/>
                </a:solidFill>
              </a:rPr>
              <a:t>(late</a:t>
            </a:r>
            <a:r>
              <a:rPr sz="1900" spc="-20" dirty="0">
                <a:solidFill>
                  <a:srgbClr val="0000CC"/>
                </a:solidFill>
              </a:rPr>
              <a:t> </a:t>
            </a:r>
            <a:r>
              <a:rPr sz="1900" spc="-5" dirty="0">
                <a:solidFill>
                  <a:srgbClr val="0000CC"/>
                </a:solidFill>
              </a:rPr>
              <a:t>60s)</a:t>
            </a:r>
            <a:endParaRPr sz="19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56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5511" y="684275"/>
            <a:ext cx="6525895" cy="353314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775"/>
              </a:spcBef>
              <a:buFont typeface="Arial MT"/>
              <a:buChar char="•"/>
              <a:tabLst>
                <a:tab pos="246379" algn="l"/>
                <a:tab pos="1370965" algn="l"/>
              </a:tabLst>
            </a:pPr>
            <a:r>
              <a:rPr sz="3250" spc="5" dirty="0">
                <a:latin typeface="Calibri"/>
                <a:cs typeface="Calibri"/>
              </a:rPr>
              <a:t>Using	</a:t>
            </a:r>
            <a:r>
              <a:rPr sz="3250" spc="-5" dirty="0">
                <a:latin typeface="Calibri"/>
                <a:cs typeface="Calibri"/>
              </a:rPr>
              <a:t>flow</a:t>
            </a:r>
            <a:r>
              <a:rPr sz="3250" spc="5" dirty="0">
                <a:latin typeface="Calibri"/>
                <a:cs typeface="Calibri"/>
              </a:rPr>
              <a:t> charting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technique:</a:t>
            </a:r>
            <a:endParaRPr sz="3250">
              <a:latin typeface="Calibri"/>
              <a:cs typeface="Calibri"/>
            </a:endParaRPr>
          </a:p>
          <a:p>
            <a:pPr marL="516890" marR="1104900" indent="-193675">
              <a:lnSpc>
                <a:spcPct val="104700"/>
              </a:lnSpc>
              <a:spcBef>
                <a:spcPts val="1365"/>
              </a:spcBef>
            </a:pPr>
            <a:r>
              <a:rPr sz="3000" spc="-5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3000" spc="-5" dirty="0">
                <a:solidFill>
                  <a:srgbClr val="0000CC"/>
                </a:solidFill>
                <a:latin typeface="Calibri"/>
                <a:cs typeface="Calibri"/>
              </a:rPr>
              <a:t>One</a:t>
            </a:r>
            <a:r>
              <a:rPr sz="3000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can</a:t>
            </a:r>
            <a:r>
              <a:rPr sz="3000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0000CC"/>
                </a:solidFill>
                <a:latin typeface="Calibri"/>
                <a:cs typeface="Calibri"/>
              </a:rPr>
              <a:t>represent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300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CC"/>
                </a:solidFill>
                <a:latin typeface="Calibri"/>
                <a:cs typeface="Calibri"/>
              </a:rPr>
              <a:t>design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3000" spc="-66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0000CC"/>
                </a:solidFill>
                <a:latin typeface="Calibri"/>
                <a:cs typeface="Calibri"/>
              </a:rPr>
              <a:t>program's </a:t>
            </a:r>
            <a:r>
              <a:rPr sz="3000" spc="-20" dirty="0">
                <a:solidFill>
                  <a:srgbClr val="0000CC"/>
                </a:solidFill>
                <a:latin typeface="Calibri"/>
                <a:cs typeface="Calibri"/>
              </a:rPr>
              <a:t>control</a:t>
            </a:r>
            <a:r>
              <a:rPr sz="3000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CC"/>
                </a:solidFill>
                <a:latin typeface="Calibri"/>
                <a:cs typeface="Calibri"/>
              </a:rPr>
              <a:t>structure.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440"/>
              </a:spcBef>
            </a:pPr>
            <a:r>
              <a:rPr sz="3000" spc="-5" dirty="0">
                <a:latin typeface="Arial MT"/>
                <a:cs typeface="Arial MT"/>
              </a:rPr>
              <a:t>–</a:t>
            </a:r>
            <a:r>
              <a:rPr sz="3000" spc="-5" dirty="0">
                <a:latin typeface="Calibri"/>
                <a:cs typeface="Calibri"/>
              </a:rPr>
              <a:t>When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asked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understand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program:</a:t>
            </a:r>
            <a:endParaRPr sz="3000">
              <a:latin typeface="Calibri"/>
              <a:cs typeface="Calibri"/>
            </a:endParaRPr>
          </a:p>
          <a:p>
            <a:pPr marL="789940" marR="5080" lvl="1" indent="-155575">
              <a:lnSpc>
                <a:spcPct val="105900"/>
              </a:lnSpc>
              <a:spcBef>
                <a:spcPts val="1225"/>
              </a:spcBef>
              <a:buFont typeface="Arial MT"/>
              <a:buChar char="•"/>
              <a:tabLst>
                <a:tab pos="790575" algn="l"/>
                <a:tab pos="2471420" algn="l"/>
              </a:tabLst>
            </a:pPr>
            <a:r>
              <a:rPr sz="2700" spc="10" dirty="0">
                <a:latin typeface="Calibri"/>
                <a:cs typeface="Calibri"/>
              </a:rPr>
              <a:t>One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would	mentally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trace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program's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execution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sequence.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9543" y="1088136"/>
            <a:ext cx="1988820" cy="30708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1923" y="478662"/>
            <a:ext cx="56616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00CC"/>
                </a:solidFill>
              </a:rPr>
              <a:t>Control</a:t>
            </a:r>
            <a:r>
              <a:rPr spc="-10" dirty="0">
                <a:solidFill>
                  <a:srgbClr val="0000CC"/>
                </a:solidFill>
              </a:rPr>
              <a:t> </a:t>
            </a:r>
            <a:r>
              <a:rPr spc="-5" dirty="0">
                <a:solidFill>
                  <a:srgbClr val="0000CC"/>
                </a:solidFill>
              </a:rPr>
              <a:t>Flow-Based</a:t>
            </a:r>
            <a:r>
              <a:rPr spc="-10" dirty="0">
                <a:solidFill>
                  <a:srgbClr val="0000CC"/>
                </a:solidFill>
              </a:rPr>
              <a:t> </a:t>
            </a:r>
            <a:r>
              <a:rPr spc="-5" dirty="0">
                <a:solidFill>
                  <a:srgbClr val="0000CC"/>
                </a:solidFill>
              </a:rPr>
              <a:t>Design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57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1711" y="1302277"/>
            <a:ext cx="6452870" cy="208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marR="5080" indent="-233679">
              <a:lnSpc>
                <a:spcPct val="125600"/>
              </a:lnSpc>
              <a:spcBef>
                <a:spcPts val="100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5" dirty="0">
                <a:latin typeface="Calibri"/>
                <a:cs typeface="Calibri"/>
              </a:rPr>
              <a:t>A </a:t>
            </a:r>
            <a:r>
              <a:rPr sz="3250" spc="-15" dirty="0">
                <a:latin typeface="Calibri"/>
                <a:cs typeface="Calibri"/>
              </a:rPr>
              <a:t>program </a:t>
            </a:r>
            <a:r>
              <a:rPr sz="3250" spc="-5" dirty="0">
                <a:latin typeface="Calibri"/>
                <a:cs typeface="Calibri"/>
              </a:rPr>
              <a:t>having </a:t>
            </a:r>
            <a:r>
              <a:rPr sz="3250" spc="5" dirty="0">
                <a:latin typeface="Calibri"/>
                <a:cs typeface="Calibri"/>
              </a:rPr>
              <a:t>a </a:t>
            </a:r>
            <a:r>
              <a:rPr sz="3250" spc="-10" dirty="0">
                <a:latin typeface="Calibri"/>
                <a:cs typeface="Calibri"/>
              </a:rPr>
              <a:t>messy </a:t>
            </a:r>
            <a:r>
              <a:rPr sz="3250" spc="-5" dirty="0">
                <a:latin typeface="Calibri"/>
                <a:cs typeface="Calibri"/>
              </a:rPr>
              <a:t>flow </a:t>
            </a:r>
            <a:r>
              <a:rPr sz="3250" spc="5" dirty="0">
                <a:latin typeface="Calibri"/>
                <a:cs typeface="Calibri"/>
              </a:rPr>
              <a:t>chart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representation:</a:t>
            </a:r>
            <a:endParaRPr sz="3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</a:pPr>
            <a:r>
              <a:rPr sz="2700" spc="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Difficult</a:t>
            </a:r>
            <a:r>
              <a:rPr sz="27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7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understand</a:t>
            </a:r>
            <a:r>
              <a:rPr sz="27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7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debug.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3604" y="0"/>
            <a:ext cx="48012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FFFF00"/>
                </a:solidFill>
                <a:latin typeface="Comic Sans MS"/>
                <a:cs typeface="Comic Sans MS"/>
              </a:rPr>
              <a:t>Spaghetti</a:t>
            </a:r>
            <a:r>
              <a:rPr sz="3000" spc="-70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3000" dirty="0">
                <a:solidFill>
                  <a:srgbClr val="FFFF00"/>
                </a:solidFill>
                <a:latin typeface="Comic Sans MS"/>
                <a:cs typeface="Comic Sans MS"/>
              </a:rPr>
              <a:t>Code</a:t>
            </a:r>
            <a:r>
              <a:rPr sz="3000" spc="-40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3000" spc="-5" dirty="0">
                <a:solidFill>
                  <a:srgbClr val="FFFF00"/>
                </a:solidFill>
                <a:latin typeface="Comic Sans MS"/>
                <a:cs typeface="Comic Sans MS"/>
              </a:rPr>
              <a:t>Structure</a:t>
            </a:r>
            <a:endParaRPr sz="3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58</a:t>
            </a:fld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1738" y="271398"/>
            <a:ext cx="50285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Control</a:t>
            </a:r>
            <a:r>
              <a:rPr sz="3000" spc="-25" dirty="0">
                <a:solidFill>
                  <a:srgbClr val="0000CC"/>
                </a:solidFill>
              </a:rPr>
              <a:t> </a:t>
            </a:r>
            <a:r>
              <a:rPr sz="3000" dirty="0">
                <a:solidFill>
                  <a:srgbClr val="0000CC"/>
                </a:solidFill>
              </a:rPr>
              <a:t>Flow-Based</a:t>
            </a:r>
            <a:r>
              <a:rPr sz="3000" spc="-4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1350" spc="-5" dirty="0">
                <a:solidFill>
                  <a:srgbClr val="0000CC"/>
                </a:solidFill>
              </a:rPr>
              <a:t>(Late</a:t>
            </a:r>
            <a:r>
              <a:rPr sz="1350" spc="25" dirty="0">
                <a:solidFill>
                  <a:srgbClr val="0000CC"/>
                </a:solidFill>
              </a:rPr>
              <a:t> </a:t>
            </a:r>
            <a:r>
              <a:rPr sz="1350" spc="-5" dirty="0">
                <a:solidFill>
                  <a:srgbClr val="0000CC"/>
                </a:solidFill>
              </a:rPr>
              <a:t>60s)</a:t>
            </a:r>
            <a:endParaRPr sz="13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53111" y="736168"/>
            <a:ext cx="8005445" cy="363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10" dirty="0">
                <a:latin typeface="Calibri"/>
                <a:cs typeface="Calibri"/>
              </a:rPr>
              <a:t>What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causes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program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complexity?</a:t>
            </a:r>
            <a:endParaRPr sz="3000">
              <a:latin typeface="Calibri"/>
              <a:cs typeface="Calibri"/>
            </a:endParaRPr>
          </a:p>
          <a:p>
            <a:pPr marL="516890" marR="2802890" indent="-194310">
              <a:lnSpc>
                <a:spcPct val="126400"/>
              </a:lnSpc>
              <a:spcBef>
                <a:spcPts val="1525"/>
              </a:spcBef>
              <a:tabLst>
                <a:tab pos="3225800" algn="l"/>
              </a:tabLst>
            </a:pPr>
            <a:r>
              <a:rPr sz="2700" spc="15" dirty="0">
                <a:latin typeface="Arial MT"/>
                <a:cs typeface="Arial MT"/>
              </a:rPr>
              <a:t>–</a:t>
            </a:r>
            <a:r>
              <a:rPr sz="2700" spc="15" dirty="0">
                <a:latin typeface="Calibri"/>
                <a:cs typeface="Calibri"/>
              </a:rPr>
              <a:t>GO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statements	</a:t>
            </a:r>
            <a:r>
              <a:rPr sz="2700" spc="-10" dirty="0">
                <a:latin typeface="Calibri"/>
                <a:cs typeface="Calibri"/>
              </a:rPr>
              <a:t>makes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control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structure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program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messy.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255"/>
              </a:spcBef>
            </a:pPr>
            <a:r>
              <a:rPr sz="2700" spc="15" dirty="0">
                <a:latin typeface="Arial MT"/>
                <a:cs typeface="Arial MT"/>
              </a:rPr>
              <a:t>–</a:t>
            </a:r>
            <a:r>
              <a:rPr sz="2700" spc="15" dirty="0">
                <a:latin typeface="Calibri"/>
                <a:cs typeface="Calibri"/>
              </a:rPr>
              <a:t>GO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statements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alter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flow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10" dirty="0">
                <a:latin typeface="Calibri"/>
                <a:cs typeface="Calibri"/>
              </a:rPr>
              <a:t> control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arbitrarily.</a:t>
            </a:r>
            <a:endParaRPr sz="2700">
              <a:latin typeface="Calibri"/>
              <a:cs typeface="Calibri"/>
            </a:endParaRPr>
          </a:p>
          <a:p>
            <a:pPr marL="516890" marR="549275" indent="-194310">
              <a:lnSpc>
                <a:spcPct val="125899"/>
              </a:lnSpc>
              <a:spcBef>
                <a:spcPts val="1420"/>
              </a:spcBef>
            </a:pPr>
            <a:r>
              <a:rPr sz="2700" spc="10" dirty="0">
                <a:latin typeface="Arial MT"/>
                <a:cs typeface="Arial MT"/>
              </a:rPr>
              <a:t>–</a:t>
            </a:r>
            <a:r>
              <a:rPr sz="2700" spc="10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need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restrict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use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5" dirty="0">
                <a:latin typeface="Calibri"/>
                <a:cs typeface="Calibri"/>
              </a:rPr>
              <a:t>GO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statements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was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recognized.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914400"/>
            <a:ext cx="3098292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8416" y="235077"/>
            <a:ext cx="50292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Control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3000" dirty="0">
                <a:solidFill>
                  <a:srgbClr val="0000CC"/>
                </a:solidFill>
              </a:rPr>
              <a:t>Flow-Based</a:t>
            </a:r>
            <a:r>
              <a:rPr sz="3000" spc="-4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1350" spc="-5" dirty="0">
                <a:solidFill>
                  <a:srgbClr val="0000CC"/>
                </a:solidFill>
              </a:rPr>
              <a:t>(Late</a:t>
            </a:r>
            <a:r>
              <a:rPr sz="1350" spc="25" dirty="0">
                <a:solidFill>
                  <a:srgbClr val="0000CC"/>
                </a:solidFill>
              </a:rPr>
              <a:t> </a:t>
            </a:r>
            <a:r>
              <a:rPr sz="1350" dirty="0">
                <a:solidFill>
                  <a:srgbClr val="0000CC"/>
                </a:solidFill>
              </a:rPr>
              <a:t>60s)</a:t>
            </a:r>
            <a:endParaRPr sz="1350"/>
          </a:p>
        </p:txBody>
      </p:sp>
      <p:sp>
        <p:nvSpPr>
          <p:cNvPr id="3" name="object 3"/>
          <p:cNvSpPr txBox="1"/>
          <p:nvPr/>
        </p:nvSpPr>
        <p:spPr>
          <a:xfrm>
            <a:off x="457911" y="553117"/>
            <a:ext cx="5856605" cy="1210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5080" indent="-233679">
              <a:lnSpc>
                <a:spcPct val="129700"/>
              </a:lnSpc>
              <a:spcBef>
                <a:spcPts val="95"/>
              </a:spcBef>
              <a:buFont typeface="Arial MT"/>
              <a:buChar char="•"/>
              <a:tabLst>
                <a:tab pos="246379" algn="l"/>
                <a:tab pos="3461385" algn="l"/>
              </a:tabLst>
            </a:pPr>
            <a:r>
              <a:rPr sz="3000" spc="-15" dirty="0">
                <a:latin typeface="Calibri"/>
                <a:cs typeface="Calibri"/>
              </a:rPr>
              <a:t>Many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programmers	</a:t>
            </a:r>
            <a:r>
              <a:rPr sz="3000" spc="-5" dirty="0">
                <a:latin typeface="Calibri"/>
                <a:cs typeface="Calibri"/>
              </a:rPr>
              <a:t>had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extensively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used</a:t>
            </a:r>
            <a:r>
              <a:rPr sz="3000" spc="-5" dirty="0">
                <a:latin typeface="Calibri"/>
                <a:cs typeface="Calibri"/>
              </a:rPr>
              <a:t> assembly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languages.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9112" y="1985746"/>
            <a:ext cx="6177915" cy="1105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740" marR="5080" indent="-193675">
              <a:lnSpc>
                <a:spcPct val="131200"/>
              </a:lnSpc>
              <a:spcBef>
                <a:spcPts val="95"/>
              </a:spcBef>
            </a:pPr>
            <a:r>
              <a:rPr sz="2700" spc="10" dirty="0">
                <a:latin typeface="Arial MT"/>
                <a:cs typeface="Arial MT"/>
              </a:rPr>
              <a:t>–</a:t>
            </a:r>
            <a:r>
              <a:rPr sz="2700" spc="10" dirty="0">
                <a:latin typeface="Calibri"/>
                <a:cs typeface="Calibri"/>
              </a:rPr>
              <a:t>JUMP </a:t>
            </a:r>
            <a:r>
              <a:rPr sz="2700" dirty="0">
                <a:latin typeface="Calibri"/>
                <a:cs typeface="Calibri"/>
              </a:rPr>
              <a:t>instructions </a:t>
            </a:r>
            <a:r>
              <a:rPr sz="2700" spc="-5" dirty="0">
                <a:latin typeface="Calibri"/>
                <a:cs typeface="Calibri"/>
              </a:rPr>
              <a:t>are </a:t>
            </a:r>
            <a:r>
              <a:rPr sz="2700" dirty="0">
                <a:latin typeface="Calibri"/>
                <a:cs typeface="Calibri"/>
              </a:rPr>
              <a:t>frequently </a:t>
            </a:r>
            <a:r>
              <a:rPr sz="2700" spc="5" dirty="0">
                <a:latin typeface="Calibri"/>
                <a:cs typeface="Calibri"/>
              </a:rPr>
              <a:t>used </a:t>
            </a:r>
            <a:r>
              <a:rPr sz="2700" spc="-20" dirty="0">
                <a:latin typeface="Calibri"/>
                <a:cs typeface="Calibri"/>
              </a:rPr>
              <a:t>for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program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branching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assembly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languages.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9112" y="3291943"/>
            <a:ext cx="5649595" cy="1105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740" marR="5080" indent="-193675">
              <a:lnSpc>
                <a:spcPct val="131200"/>
              </a:lnSpc>
              <a:spcBef>
                <a:spcPts val="95"/>
              </a:spcBef>
            </a:pPr>
            <a:r>
              <a:rPr sz="2700" spc="-5" dirty="0">
                <a:latin typeface="Arial MT"/>
                <a:cs typeface="Arial MT"/>
              </a:rPr>
              <a:t>–</a:t>
            </a:r>
            <a:r>
              <a:rPr sz="2700" spc="-5" dirty="0">
                <a:latin typeface="Calibri"/>
                <a:cs typeface="Calibri"/>
              </a:rPr>
              <a:t>Programmers </a:t>
            </a:r>
            <a:r>
              <a:rPr sz="2700" dirty="0">
                <a:latin typeface="Calibri"/>
                <a:cs typeface="Calibri"/>
              </a:rPr>
              <a:t>considered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use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15" dirty="0">
                <a:latin typeface="Calibri"/>
                <a:cs typeface="Calibri"/>
              </a:rPr>
              <a:t>GO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TO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statements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inevitable.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87257" y="4779568"/>
            <a:ext cx="3079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b="1" spc="-5" dirty="0">
                <a:solidFill>
                  <a:srgbClr val="888888"/>
                </a:solidFill>
                <a:latin typeface="Calibri"/>
                <a:cs typeface="Calibri"/>
              </a:rPr>
              <a:t>69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62800" y="134112"/>
            <a:ext cx="1981200" cy="4800600"/>
          </a:xfrm>
          <a:custGeom>
            <a:avLst/>
            <a:gdLst/>
            <a:ahLst/>
            <a:cxnLst/>
            <a:rect l="l" t="t" r="r" b="b"/>
            <a:pathLst>
              <a:path w="1981200" h="4800600">
                <a:moveTo>
                  <a:pt x="1981200" y="0"/>
                </a:moveTo>
                <a:lnTo>
                  <a:pt x="0" y="0"/>
                </a:lnTo>
                <a:lnTo>
                  <a:pt x="0" y="4800600"/>
                </a:lnTo>
                <a:lnTo>
                  <a:pt x="1981200" y="4800600"/>
                </a:lnTo>
                <a:lnTo>
                  <a:pt x="19812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242809" y="151257"/>
            <a:ext cx="1691639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146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addi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$a0,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$0,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 </a:t>
            </a:r>
            <a:r>
              <a:rPr sz="1800" b="1" spc="-39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next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next: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skip1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add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$a0,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$a0,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$a0 </a:t>
            </a:r>
            <a:r>
              <a:rPr sz="1800" b="1" spc="-3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skip1: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skip2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libri"/>
                <a:cs typeface="Calibri"/>
              </a:rPr>
              <a:t>add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$a0,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$a0,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$a0 </a:t>
            </a:r>
            <a:r>
              <a:rPr sz="1800" b="1" spc="-3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$a0,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$a0,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$a0 </a:t>
            </a:r>
            <a:r>
              <a:rPr sz="1800" b="1" spc="-3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skip2: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skip3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loop: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add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$a0,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$a0,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$a0 </a:t>
            </a:r>
            <a:r>
              <a:rPr sz="1800" b="1" spc="-3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$a0,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$a0,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$a0 </a:t>
            </a:r>
            <a:r>
              <a:rPr sz="1800" b="1" spc="-3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$a0,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$a0,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$a0 </a:t>
            </a:r>
            <a:r>
              <a:rPr sz="1800" b="1" spc="-3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skip3:</a:t>
            </a: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j</a:t>
            </a: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loop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111" y="247650"/>
            <a:ext cx="8215630" cy="381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935" algn="ctr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solidFill>
                  <a:srgbClr val="0000CC"/>
                </a:solidFill>
                <a:latin typeface="Calibri"/>
                <a:cs typeface="Calibri"/>
              </a:rPr>
              <a:t>Control-flow</a:t>
            </a: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Based</a:t>
            </a: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Design</a:t>
            </a: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350" b="1" spc="-5" dirty="0">
                <a:solidFill>
                  <a:srgbClr val="0000CC"/>
                </a:solidFill>
                <a:latin typeface="Calibri"/>
                <a:cs typeface="Calibri"/>
              </a:rPr>
              <a:t>(Late</a:t>
            </a:r>
            <a:r>
              <a:rPr sz="1350" b="1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350" b="1" spc="-5" dirty="0">
                <a:solidFill>
                  <a:srgbClr val="0000CC"/>
                </a:solidFill>
                <a:latin typeface="Calibri"/>
                <a:cs typeface="Calibri"/>
              </a:rPr>
              <a:t>60s)</a:t>
            </a:r>
            <a:endParaRPr sz="13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405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40" dirty="0">
                <a:latin typeface="Calibri"/>
                <a:cs typeface="Calibri"/>
              </a:rPr>
              <a:t>At</a:t>
            </a:r>
            <a:r>
              <a:rPr sz="3250" spc="-5" dirty="0">
                <a:latin typeface="Calibri"/>
                <a:cs typeface="Calibri"/>
              </a:rPr>
              <a:t> that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time,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Dijkstra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published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his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article:</a:t>
            </a:r>
            <a:endParaRPr sz="3250">
              <a:latin typeface="Calibri"/>
              <a:cs typeface="Calibri"/>
            </a:endParaRPr>
          </a:p>
          <a:p>
            <a:pPr marL="516890" marR="5080" indent="-194310">
              <a:lnSpc>
                <a:spcPct val="121100"/>
              </a:lnSpc>
              <a:spcBef>
                <a:spcPts val="1465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“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Goto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Statement 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Considered Harmful</a:t>
            </a:r>
            <a:r>
              <a:rPr sz="2700" dirty="0">
                <a:latin typeface="Calibri"/>
                <a:cs typeface="Calibri"/>
              </a:rPr>
              <a:t>” </a:t>
            </a:r>
            <a:r>
              <a:rPr sz="2700" spc="10" dirty="0">
                <a:latin typeface="Calibri"/>
                <a:cs typeface="Calibri"/>
              </a:rPr>
              <a:t>Comm. </a:t>
            </a:r>
            <a:r>
              <a:rPr sz="2700" spc="15" dirty="0">
                <a:latin typeface="Calibri"/>
                <a:cs typeface="Calibri"/>
              </a:rPr>
              <a:t>of </a:t>
            </a:r>
            <a:r>
              <a:rPr sz="2700" dirty="0">
                <a:latin typeface="Calibri"/>
                <a:cs typeface="Calibri"/>
              </a:rPr>
              <a:t>ACM,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1969.</a:t>
            </a:r>
            <a:endParaRPr sz="2700">
              <a:latin typeface="Calibri"/>
              <a:cs typeface="Calibri"/>
            </a:endParaRPr>
          </a:p>
          <a:p>
            <a:pPr marL="245745" marR="258445" indent="-233679">
              <a:lnSpc>
                <a:spcPct val="120700"/>
              </a:lnSpc>
              <a:spcBef>
                <a:spcPts val="1165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5" dirty="0">
                <a:latin typeface="Calibri"/>
                <a:cs typeface="Calibri"/>
              </a:rPr>
              <a:t>Many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programmers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were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unhappy</a:t>
            </a:r>
            <a:r>
              <a:rPr sz="3250" spc="-3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to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read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his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article.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61</a:t>
            </a:fld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2695" y="271653"/>
            <a:ext cx="50285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CC"/>
                </a:solidFill>
              </a:rPr>
              <a:t>Control </a:t>
            </a:r>
            <a:r>
              <a:rPr sz="3000" spc="-5" dirty="0">
                <a:solidFill>
                  <a:srgbClr val="0000CC"/>
                </a:solidFill>
              </a:rPr>
              <a:t>Flow-Based</a:t>
            </a:r>
            <a:r>
              <a:rPr sz="3000" spc="-4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1350" spc="-5" dirty="0">
                <a:solidFill>
                  <a:srgbClr val="0000CC"/>
                </a:solidFill>
              </a:rPr>
              <a:t>(Late</a:t>
            </a:r>
            <a:r>
              <a:rPr sz="1350" spc="25" dirty="0">
                <a:solidFill>
                  <a:srgbClr val="0000CC"/>
                </a:solidFill>
              </a:rPr>
              <a:t> </a:t>
            </a:r>
            <a:r>
              <a:rPr sz="1350" spc="-5" dirty="0">
                <a:solidFill>
                  <a:srgbClr val="0000CC"/>
                </a:solidFill>
              </a:rPr>
              <a:t>60s)</a:t>
            </a:r>
            <a:endParaRPr sz="13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62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5511" y="922263"/>
            <a:ext cx="8015605" cy="259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29209" indent="-233679">
              <a:lnSpc>
                <a:spcPct val="125499"/>
              </a:lnSpc>
              <a:spcBef>
                <a:spcPts val="95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dirty="0">
                <a:latin typeface="Calibri"/>
                <a:cs typeface="Calibri"/>
              </a:rPr>
              <a:t>Some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programmers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published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several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counter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articles:</a:t>
            </a:r>
            <a:endParaRPr sz="3250">
              <a:latin typeface="Calibri"/>
              <a:cs typeface="Calibri"/>
            </a:endParaRPr>
          </a:p>
          <a:p>
            <a:pPr marL="516890" marR="5080" indent="-193675">
              <a:lnSpc>
                <a:spcPct val="126000"/>
              </a:lnSpc>
              <a:spcBef>
                <a:spcPts val="2290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Highlighted </a:t>
            </a:r>
            <a:r>
              <a:rPr sz="2700" spc="5" dirty="0">
                <a:latin typeface="Calibri"/>
                <a:cs typeface="Calibri"/>
              </a:rPr>
              <a:t>the </a:t>
            </a:r>
            <a:r>
              <a:rPr sz="2700" spc="-5" dirty="0">
                <a:latin typeface="Calibri"/>
                <a:cs typeface="Calibri"/>
              </a:rPr>
              <a:t>advantages </a:t>
            </a:r>
            <a:r>
              <a:rPr sz="2700" spc="10" dirty="0">
                <a:latin typeface="Calibri"/>
                <a:cs typeface="Calibri"/>
              </a:rPr>
              <a:t>and </a:t>
            </a:r>
            <a:r>
              <a:rPr sz="2700" dirty="0">
                <a:latin typeface="Calibri"/>
                <a:cs typeface="Calibri"/>
              </a:rPr>
              <a:t>inevitability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spc="15" dirty="0">
                <a:latin typeface="Calibri"/>
                <a:cs typeface="Calibri"/>
              </a:rPr>
              <a:t>GO </a:t>
            </a:r>
            <a:r>
              <a:rPr sz="2700" spc="-25" dirty="0">
                <a:latin typeface="Calibri"/>
                <a:cs typeface="Calibri"/>
              </a:rPr>
              <a:t>TO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statements.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4051" y="193040"/>
            <a:ext cx="49599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CC"/>
                </a:solidFill>
              </a:rPr>
              <a:t>Control </a:t>
            </a:r>
            <a:r>
              <a:rPr sz="3000" spc="-5" dirty="0">
                <a:solidFill>
                  <a:srgbClr val="0000CC"/>
                </a:solidFill>
              </a:rPr>
              <a:t>Flow-Based</a:t>
            </a:r>
            <a:r>
              <a:rPr sz="3000" spc="-4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1200" dirty="0">
                <a:solidFill>
                  <a:srgbClr val="0000CC"/>
                </a:solidFill>
              </a:rPr>
              <a:t>(Late</a:t>
            </a:r>
            <a:r>
              <a:rPr sz="1200" spc="5" dirty="0">
                <a:solidFill>
                  <a:srgbClr val="0000CC"/>
                </a:solidFill>
              </a:rPr>
              <a:t> </a:t>
            </a:r>
            <a:r>
              <a:rPr sz="1200" spc="10" dirty="0">
                <a:solidFill>
                  <a:srgbClr val="0000CC"/>
                </a:solidFill>
              </a:rPr>
              <a:t>60s)</a:t>
            </a:r>
            <a:endParaRPr sz="1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63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4416" y="453650"/>
            <a:ext cx="7787005" cy="3876040"/>
          </a:xfrm>
          <a:prstGeom prst="rect">
            <a:avLst/>
          </a:prstGeom>
        </p:spPr>
        <p:txBody>
          <a:bodyPr vert="horz" wrap="square" lIns="0" tIns="27876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2195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dirty="0">
                <a:latin typeface="Calibri"/>
                <a:cs typeface="Calibri"/>
              </a:rPr>
              <a:t>It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soon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was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conclusively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proved:</a:t>
            </a:r>
            <a:endParaRPr sz="3000">
              <a:latin typeface="Calibri"/>
              <a:cs typeface="Calibri"/>
            </a:endParaRPr>
          </a:p>
          <a:p>
            <a:pPr marL="516890" marR="5080" indent="-193675">
              <a:lnSpc>
                <a:spcPct val="121200"/>
              </a:lnSpc>
              <a:spcBef>
                <a:spcPts val="1235"/>
              </a:spcBef>
            </a:pPr>
            <a:r>
              <a:rPr sz="2700" spc="5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Only 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three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programming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constructs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 are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sufficient</a:t>
            </a:r>
            <a:r>
              <a:rPr sz="2700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to </a:t>
            </a:r>
            <a:r>
              <a:rPr sz="2700" spc="-59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express</a:t>
            </a:r>
            <a:r>
              <a:rPr sz="27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any</a:t>
            </a:r>
            <a:r>
              <a:rPr sz="27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programming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logic:</a:t>
            </a:r>
            <a:endParaRPr sz="2700">
              <a:latin typeface="Calibri"/>
              <a:cs typeface="Calibri"/>
            </a:endParaRPr>
          </a:p>
          <a:p>
            <a:pPr marL="789940" lvl="1" indent="-155575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789940" algn="l"/>
                <a:tab pos="2309495" algn="l"/>
              </a:tabLst>
            </a:pP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sequence	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(a=0;b=5;)</a:t>
            </a:r>
            <a:endParaRPr sz="2700">
              <a:latin typeface="Calibri"/>
              <a:cs typeface="Calibri"/>
            </a:endParaRPr>
          </a:p>
          <a:p>
            <a:pPr marL="789940" lvl="1" indent="-155575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789940" algn="l"/>
              </a:tabLst>
            </a:pP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selection</a:t>
            </a:r>
            <a:r>
              <a:rPr sz="27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(if(c==true)</a:t>
            </a:r>
            <a:r>
              <a:rPr sz="2700" b="1" spc="-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20" dirty="0">
                <a:solidFill>
                  <a:srgbClr val="0000CC"/>
                </a:solidFill>
                <a:latin typeface="Calibri"/>
                <a:cs typeface="Calibri"/>
              </a:rPr>
              <a:t>k=5</a:t>
            </a: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else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m=5;)</a:t>
            </a:r>
            <a:endParaRPr sz="2700">
              <a:latin typeface="Calibri"/>
              <a:cs typeface="Calibri"/>
            </a:endParaRPr>
          </a:p>
          <a:p>
            <a:pPr marL="789940" lvl="1" indent="-15557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89940" algn="l"/>
                <a:tab pos="2277110" algn="l"/>
              </a:tabLst>
            </a:pP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iteration	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(while(k&gt;0)</a:t>
            </a:r>
            <a:r>
              <a:rPr sz="2700" b="1" spc="-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k=j-k;)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0407" y="357885"/>
            <a:ext cx="49047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CC"/>
                </a:solidFill>
              </a:rPr>
              <a:t>Control-flow</a:t>
            </a:r>
            <a:r>
              <a:rPr sz="3000" spc="-2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Based</a:t>
            </a:r>
            <a:r>
              <a:rPr sz="3000" spc="-2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spc="-20" dirty="0">
                <a:solidFill>
                  <a:srgbClr val="0000CC"/>
                </a:solidFill>
              </a:rPr>
              <a:t> </a:t>
            </a:r>
            <a:r>
              <a:rPr sz="1200" dirty="0">
                <a:solidFill>
                  <a:srgbClr val="0000CC"/>
                </a:solidFill>
              </a:rPr>
              <a:t>(Late</a:t>
            </a:r>
            <a:r>
              <a:rPr sz="1200" spc="-5" dirty="0">
                <a:solidFill>
                  <a:srgbClr val="0000CC"/>
                </a:solidFill>
              </a:rPr>
              <a:t> </a:t>
            </a:r>
            <a:r>
              <a:rPr sz="1200" spc="10" dirty="0">
                <a:solidFill>
                  <a:srgbClr val="0000CC"/>
                </a:solidFill>
              </a:rPr>
              <a:t>60s)</a:t>
            </a:r>
            <a:endParaRPr sz="1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64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29311" y="934974"/>
            <a:ext cx="8408670" cy="291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15" dirty="0">
                <a:latin typeface="Calibri"/>
                <a:cs typeface="Calibri"/>
              </a:rPr>
              <a:t>Everyone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accepted:</a:t>
            </a:r>
            <a:endParaRPr sz="3250">
              <a:latin typeface="Calibri"/>
              <a:cs typeface="Calibri"/>
            </a:endParaRPr>
          </a:p>
          <a:p>
            <a:pPr marL="516890" marR="5080" indent="-193675">
              <a:lnSpc>
                <a:spcPct val="125899"/>
              </a:lnSpc>
              <a:spcBef>
                <a:spcPts val="1385"/>
              </a:spcBef>
            </a:pPr>
            <a:r>
              <a:rPr sz="2700" spc="10" dirty="0">
                <a:latin typeface="Arial MT"/>
                <a:cs typeface="Arial MT"/>
              </a:rPr>
              <a:t>–</a:t>
            </a:r>
            <a:r>
              <a:rPr sz="2700" spc="10" dirty="0">
                <a:latin typeface="Calibri"/>
                <a:cs typeface="Calibri"/>
              </a:rPr>
              <a:t>It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5" dirty="0">
                <a:latin typeface="Calibri"/>
                <a:cs typeface="Calibri"/>
              </a:rPr>
              <a:t>possible </a:t>
            </a:r>
            <a:r>
              <a:rPr sz="2700" spc="-5" dirty="0">
                <a:latin typeface="Calibri"/>
                <a:cs typeface="Calibri"/>
              </a:rPr>
              <a:t>to </a:t>
            </a:r>
            <a:r>
              <a:rPr sz="2700" spc="5" dirty="0">
                <a:latin typeface="Calibri"/>
                <a:cs typeface="Calibri"/>
              </a:rPr>
              <a:t>solve </a:t>
            </a:r>
            <a:r>
              <a:rPr sz="2700" spc="-5" dirty="0">
                <a:latin typeface="Calibri"/>
                <a:cs typeface="Calibri"/>
              </a:rPr>
              <a:t>any programming </a:t>
            </a:r>
            <a:r>
              <a:rPr sz="2700" dirty="0">
                <a:latin typeface="Calibri"/>
                <a:cs typeface="Calibri"/>
              </a:rPr>
              <a:t>problem </a:t>
            </a:r>
            <a:r>
              <a:rPr sz="2700" spc="5" dirty="0">
                <a:latin typeface="Calibri"/>
                <a:cs typeface="Calibri"/>
              </a:rPr>
              <a:t>without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using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15" dirty="0">
                <a:latin typeface="Calibri"/>
                <a:cs typeface="Calibri"/>
              </a:rPr>
              <a:t>GO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TO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statements.</a:t>
            </a:r>
            <a:endParaRPr sz="2700">
              <a:latin typeface="Calibri"/>
              <a:cs typeface="Calibri"/>
            </a:endParaRPr>
          </a:p>
          <a:p>
            <a:pPr marL="516890" marR="832485" indent="-193675">
              <a:lnSpc>
                <a:spcPct val="126299"/>
              </a:lnSpc>
              <a:spcBef>
                <a:spcPts val="1130"/>
              </a:spcBef>
              <a:tabLst>
                <a:tab pos="4028440" algn="l"/>
              </a:tabLst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This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formed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the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basis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	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Structured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Programming </a:t>
            </a:r>
            <a:r>
              <a:rPr sz="2700" b="1" spc="-6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methodology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4354" y="214071"/>
            <a:ext cx="5740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00CC"/>
                </a:solidFill>
              </a:rPr>
              <a:t>Structured</a:t>
            </a:r>
            <a:r>
              <a:rPr sz="4400" spc="-50" dirty="0">
                <a:solidFill>
                  <a:srgbClr val="0000CC"/>
                </a:solidFill>
              </a:rPr>
              <a:t> </a:t>
            </a:r>
            <a:r>
              <a:rPr sz="4400" spc="-15" dirty="0">
                <a:solidFill>
                  <a:srgbClr val="0000CC"/>
                </a:solidFill>
              </a:rPr>
              <a:t>Programming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65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29311" y="819298"/>
            <a:ext cx="7980045" cy="339407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46379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program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called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Calibri"/>
                <a:cs typeface="Calibri"/>
              </a:rPr>
              <a:t>structured:</a:t>
            </a:r>
            <a:endParaRPr sz="32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99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following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constructs:</a:t>
            </a:r>
            <a:endParaRPr sz="28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sequence,</a:t>
            </a:r>
            <a:endParaRPr sz="28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selection,</a:t>
            </a:r>
            <a:endParaRPr sz="28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b="1" spc="-20" dirty="0">
                <a:solidFill>
                  <a:srgbClr val="C00000"/>
                </a:solidFill>
                <a:latin typeface="Calibri"/>
                <a:cs typeface="Calibri"/>
              </a:rPr>
              <a:t>iteration</a:t>
            </a:r>
            <a:endParaRPr sz="2800">
              <a:latin typeface="Calibri"/>
              <a:cs typeface="Calibri"/>
            </a:endParaRPr>
          </a:p>
          <a:p>
            <a:pPr marL="234950">
              <a:lnSpc>
                <a:spcPct val="100000"/>
              </a:lnSpc>
              <a:spcBef>
                <a:spcPts val="940"/>
              </a:spcBef>
            </a:pPr>
            <a:r>
              <a:rPr sz="2800" spc="-10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Calibri"/>
                <a:cs typeface="Calibri"/>
              </a:rPr>
              <a:t>Consists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modules.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11" y="921635"/>
            <a:ext cx="8598535" cy="2840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200" marR="1398270" indent="-572135">
              <a:lnSpc>
                <a:spcPct val="120000"/>
              </a:lnSpc>
              <a:spcBef>
                <a:spcPts val="95"/>
              </a:spcBef>
              <a:buFont typeface="Arial MT"/>
              <a:buChar char="•"/>
              <a:tabLst>
                <a:tab pos="584200" algn="l"/>
                <a:tab pos="584835" algn="l"/>
              </a:tabLst>
            </a:pPr>
            <a:r>
              <a:rPr sz="3600" spc="-10" dirty="0">
                <a:latin typeface="Calibri"/>
                <a:cs typeface="Calibri"/>
              </a:rPr>
              <a:t>Sometimes, </a:t>
            </a:r>
            <a:r>
              <a:rPr sz="3600" spc="-5" dirty="0">
                <a:latin typeface="Calibri"/>
                <a:cs typeface="Calibri"/>
              </a:rPr>
              <a:t>violations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structured </a:t>
            </a:r>
            <a:r>
              <a:rPr sz="3600" spc="-8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programming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are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permitted:</a:t>
            </a:r>
            <a:endParaRPr sz="3600">
              <a:latin typeface="Calibri"/>
              <a:cs typeface="Calibri"/>
            </a:endParaRPr>
          </a:p>
          <a:p>
            <a:pPr marL="666750" lvl="1" indent="-344170">
              <a:lnSpc>
                <a:spcPct val="100000"/>
              </a:lnSpc>
              <a:spcBef>
                <a:spcPts val="2725"/>
              </a:spcBef>
              <a:buSzPct val="75000"/>
              <a:buFont typeface="Courier New"/>
              <a:buChar char="o"/>
              <a:tabLst>
                <a:tab pos="667385" algn="l"/>
              </a:tabLst>
            </a:pPr>
            <a:r>
              <a:rPr sz="2800" spc="-10" dirty="0">
                <a:latin typeface="Calibri"/>
                <a:cs typeface="Calibri"/>
              </a:rPr>
              <a:t>Due</a:t>
            </a:r>
            <a:r>
              <a:rPr sz="2800" spc="-5" dirty="0">
                <a:latin typeface="Calibri"/>
                <a:cs typeface="Calibri"/>
              </a:rPr>
              <a:t> to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practical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considerations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such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as:</a:t>
            </a:r>
            <a:endParaRPr sz="2800">
              <a:latin typeface="Calibri"/>
              <a:cs typeface="Calibri"/>
            </a:endParaRPr>
          </a:p>
          <a:p>
            <a:pPr marL="781050" lvl="1" indent="-458470">
              <a:lnSpc>
                <a:spcPct val="100000"/>
              </a:lnSpc>
              <a:spcBef>
                <a:spcPts val="2350"/>
              </a:spcBef>
              <a:buSzPct val="75000"/>
              <a:buFont typeface="Courier New"/>
              <a:buChar char="o"/>
              <a:tabLst>
                <a:tab pos="780415" algn="l"/>
                <a:tab pos="781685" algn="l"/>
              </a:tabLst>
            </a:pPr>
            <a:r>
              <a:rPr sz="2800" spc="-5" dirty="0">
                <a:latin typeface="Calibri"/>
                <a:cs typeface="Calibri"/>
              </a:rPr>
              <a:t>Premature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loop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exit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(break)</a:t>
            </a:r>
            <a:r>
              <a:rPr sz="2800" dirty="0">
                <a:latin typeface="Calibri"/>
                <a:cs typeface="Calibri"/>
              </a:rPr>
              <a:t> or </a:t>
            </a:r>
            <a:r>
              <a:rPr sz="2800" spc="-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exception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handling.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8566" y="251586"/>
            <a:ext cx="4594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89530" algn="l"/>
              </a:tabLst>
            </a:pPr>
            <a:r>
              <a:rPr spc="-15" dirty="0">
                <a:solidFill>
                  <a:srgbClr val="0000CC"/>
                </a:solidFill>
              </a:rPr>
              <a:t>Structured	</a:t>
            </a:r>
            <a:r>
              <a:rPr spc="-25" dirty="0">
                <a:solidFill>
                  <a:srgbClr val="0000CC"/>
                </a:solidFill>
              </a:rPr>
              <a:t>Programs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66</a:t>
            </a:fld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651" y="210439"/>
            <a:ext cx="7651750" cy="585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650" spc="-10" dirty="0">
                <a:solidFill>
                  <a:srgbClr val="0000CC"/>
                </a:solidFill>
              </a:rPr>
              <a:t>Advantages</a:t>
            </a:r>
            <a:r>
              <a:rPr sz="3650" spc="5" dirty="0">
                <a:solidFill>
                  <a:srgbClr val="0000CC"/>
                </a:solidFill>
              </a:rPr>
              <a:t> </a:t>
            </a:r>
            <a:r>
              <a:rPr sz="3650" spc="10" dirty="0">
                <a:solidFill>
                  <a:srgbClr val="0000CC"/>
                </a:solidFill>
              </a:rPr>
              <a:t>of </a:t>
            </a:r>
            <a:r>
              <a:rPr sz="3650" dirty="0">
                <a:solidFill>
                  <a:srgbClr val="0000CC"/>
                </a:solidFill>
              </a:rPr>
              <a:t>Structured</a:t>
            </a:r>
            <a:r>
              <a:rPr sz="3650" spc="10" dirty="0">
                <a:solidFill>
                  <a:srgbClr val="0000CC"/>
                </a:solidFill>
              </a:rPr>
              <a:t> </a:t>
            </a:r>
            <a:r>
              <a:rPr sz="3650" spc="-5" dirty="0">
                <a:solidFill>
                  <a:srgbClr val="0000CC"/>
                </a:solidFill>
              </a:rPr>
              <a:t>programming</a:t>
            </a:r>
            <a:endParaRPr sz="36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67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1711" y="820399"/>
            <a:ext cx="7752080" cy="3302000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770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5" dirty="0">
                <a:latin typeface="Calibri"/>
                <a:cs typeface="Calibri"/>
              </a:rPr>
              <a:t>Structured </a:t>
            </a:r>
            <a:r>
              <a:rPr sz="3250" spc="-15" dirty="0">
                <a:latin typeface="Calibri"/>
                <a:cs typeface="Calibri"/>
              </a:rPr>
              <a:t>programs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are:</a:t>
            </a:r>
            <a:endParaRPr sz="32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525"/>
              </a:spcBef>
            </a:pPr>
            <a:r>
              <a:rPr sz="3000" spc="-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Easier</a:t>
            </a:r>
            <a:r>
              <a:rPr sz="30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30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read</a:t>
            </a:r>
            <a:r>
              <a:rPr sz="30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30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understand,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430"/>
              </a:spcBef>
            </a:pPr>
            <a:r>
              <a:rPr sz="3000" spc="-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Easier</a:t>
            </a:r>
            <a:r>
              <a:rPr sz="30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30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maintain,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440"/>
              </a:spcBef>
            </a:pPr>
            <a:r>
              <a:rPr sz="3000" spc="-1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Require</a:t>
            </a:r>
            <a:r>
              <a:rPr sz="30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less </a:t>
            </a:r>
            <a:r>
              <a:rPr sz="3000" b="1" spc="-15" dirty="0">
                <a:solidFill>
                  <a:srgbClr val="0000FF"/>
                </a:solidFill>
                <a:latin typeface="Calibri"/>
                <a:cs typeface="Calibri"/>
              </a:rPr>
              <a:t>effort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time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0000FF"/>
                </a:solidFill>
                <a:latin typeface="Calibri"/>
                <a:cs typeface="Calibri"/>
              </a:rPr>
              <a:t>for </a:t>
            </a:r>
            <a:r>
              <a:rPr sz="3000" b="1" spc="-10" dirty="0">
                <a:solidFill>
                  <a:srgbClr val="0000FF"/>
                </a:solidFill>
                <a:latin typeface="Calibri"/>
                <a:cs typeface="Calibri"/>
              </a:rPr>
              <a:t>development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430"/>
              </a:spcBef>
            </a:pPr>
            <a:r>
              <a:rPr sz="3000" spc="-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3000" b="1" spc="-5" dirty="0">
                <a:solidFill>
                  <a:srgbClr val="0000FF"/>
                </a:solidFill>
                <a:latin typeface="Calibri"/>
                <a:cs typeface="Calibri"/>
              </a:rPr>
              <a:t>Less</a:t>
            </a:r>
            <a:r>
              <a:rPr sz="30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buggy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6244" y="297256"/>
            <a:ext cx="4801235" cy="585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50" spc="5" dirty="0">
                <a:solidFill>
                  <a:srgbClr val="0000CC"/>
                </a:solidFill>
              </a:rPr>
              <a:t>Structured</a:t>
            </a:r>
            <a:r>
              <a:rPr sz="3650" spc="-55" dirty="0">
                <a:solidFill>
                  <a:srgbClr val="0000CC"/>
                </a:solidFill>
              </a:rPr>
              <a:t> </a:t>
            </a:r>
            <a:r>
              <a:rPr sz="3650" dirty="0">
                <a:solidFill>
                  <a:srgbClr val="0000CC"/>
                </a:solidFill>
              </a:rPr>
              <a:t>Programming</a:t>
            </a:r>
            <a:endParaRPr sz="36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68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1711" y="958722"/>
            <a:ext cx="7758430" cy="31464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351790" algn="l"/>
              </a:tabLst>
            </a:pPr>
            <a:r>
              <a:rPr sz="3650" spc="-5" dirty="0">
                <a:latin typeface="Calibri"/>
                <a:cs typeface="Calibri"/>
              </a:rPr>
              <a:t>Research</a:t>
            </a:r>
            <a:r>
              <a:rPr sz="3650" spc="-30" dirty="0">
                <a:latin typeface="Calibri"/>
                <a:cs typeface="Calibri"/>
              </a:rPr>
              <a:t> </a:t>
            </a:r>
            <a:r>
              <a:rPr sz="3650" spc="-5" dirty="0">
                <a:latin typeface="Calibri"/>
                <a:cs typeface="Calibri"/>
              </a:rPr>
              <a:t>experience</a:t>
            </a:r>
            <a:r>
              <a:rPr sz="3650" spc="-35" dirty="0">
                <a:latin typeface="Calibri"/>
                <a:cs typeface="Calibri"/>
              </a:rPr>
              <a:t> </a:t>
            </a:r>
            <a:r>
              <a:rPr sz="3650" spc="-5" dirty="0">
                <a:latin typeface="Calibri"/>
                <a:cs typeface="Calibri"/>
              </a:rPr>
              <a:t>shows:</a:t>
            </a:r>
            <a:endParaRPr sz="36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345"/>
              </a:spcBef>
            </a:pPr>
            <a:r>
              <a:rPr sz="3000" spc="-15" dirty="0">
                <a:latin typeface="Arial MT"/>
                <a:cs typeface="Arial MT"/>
              </a:rPr>
              <a:t>–</a:t>
            </a:r>
            <a:r>
              <a:rPr sz="3000" spc="-15" dirty="0">
                <a:latin typeface="Calibri"/>
                <a:cs typeface="Calibri"/>
              </a:rPr>
              <a:t>Programmers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commit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less </a:t>
            </a:r>
            <a:r>
              <a:rPr sz="3000" spc="-10" dirty="0">
                <a:latin typeface="Calibri"/>
                <a:cs typeface="Calibri"/>
              </a:rPr>
              <a:t>number</a:t>
            </a:r>
            <a:r>
              <a:rPr sz="3000" spc="-5" dirty="0">
                <a:latin typeface="Calibri"/>
                <a:cs typeface="Calibri"/>
              </a:rPr>
              <a:t> of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errors:</a:t>
            </a:r>
            <a:endParaRPr sz="3000">
              <a:latin typeface="Calibri"/>
              <a:cs typeface="Calibri"/>
            </a:endParaRPr>
          </a:p>
          <a:p>
            <a:pPr marL="789940" marR="112395" lvl="1" indent="-155575">
              <a:lnSpc>
                <a:spcPct val="115999"/>
              </a:lnSpc>
              <a:spcBef>
                <a:spcPts val="1520"/>
              </a:spcBef>
              <a:buFont typeface="Arial MT"/>
              <a:buChar char="•"/>
              <a:tabLst>
                <a:tab pos="790575" algn="l"/>
                <a:tab pos="6406515" algn="l"/>
              </a:tabLst>
            </a:pPr>
            <a:r>
              <a:rPr sz="2700" spc="15" dirty="0">
                <a:latin typeface="Calibri"/>
                <a:cs typeface="Calibri"/>
              </a:rPr>
              <a:t>Wh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spc="5" dirty="0">
                <a:latin typeface="Calibri"/>
                <a:cs typeface="Calibri"/>
              </a:rPr>
              <a:t>le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usin</a:t>
            </a:r>
            <a:r>
              <a:rPr sz="2700" spc="10" dirty="0">
                <a:latin typeface="Calibri"/>
                <a:cs typeface="Calibri"/>
              </a:rPr>
              <a:t>g</a:t>
            </a:r>
            <a:r>
              <a:rPr sz="2700" spc="-25" dirty="0">
                <a:latin typeface="Calibri"/>
                <a:cs typeface="Calibri"/>
              </a:rPr>
              <a:t> s</a:t>
            </a:r>
            <a:r>
              <a:rPr sz="2700" spc="5" dirty="0">
                <a:latin typeface="Calibri"/>
                <a:cs typeface="Calibri"/>
              </a:rPr>
              <a:t>tr</a:t>
            </a:r>
            <a:r>
              <a:rPr sz="2700" dirty="0">
                <a:latin typeface="Calibri"/>
                <a:cs typeface="Calibri"/>
              </a:rPr>
              <a:t>u</a:t>
            </a:r>
            <a:r>
              <a:rPr sz="2700" spc="10" dirty="0">
                <a:latin typeface="Calibri"/>
                <a:cs typeface="Calibri"/>
              </a:rPr>
              <a:t>ctu</a:t>
            </a:r>
            <a:r>
              <a:rPr sz="2700" spc="-45" dirty="0">
                <a:latin typeface="Calibri"/>
                <a:cs typeface="Calibri"/>
              </a:rPr>
              <a:t>r</a:t>
            </a:r>
            <a:r>
              <a:rPr sz="2700" spc="10" dirty="0">
                <a:latin typeface="Calibri"/>
                <a:cs typeface="Calibri"/>
              </a:rPr>
              <a:t>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if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-the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-else</a:t>
            </a:r>
            <a:r>
              <a:rPr sz="2700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d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o-</a:t>
            </a:r>
            <a:r>
              <a:rPr sz="2700" spc="15" dirty="0">
                <a:solidFill>
                  <a:srgbClr val="0000CC"/>
                </a:solidFill>
                <a:latin typeface="Calibri"/>
                <a:cs typeface="Calibri"/>
              </a:rPr>
              <a:t>w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h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ile  </a:t>
            </a:r>
            <a:r>
              <a:rPr sz="2700" spc="-5" dirty="0">
                <a:latin typeface="Calibri"/>
                <a:cs typeface="Calibri"/>
              </a:rPr>
              <a:t>statements.</a:t>
            </a:r>
            <a:endParaRPr sz="27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790575" algn="l"/>
                <a:tab pos="2775585" algn="l"/>
              </a:tabLst>
            </a:pPr>
            <a:r>
              <a:rPr sz="2700" dirty="0">
                <a:latin typeface="Calibri"/>
                <a:cs typeface="Calibri"/>
              </a:rPr>
              <a:t>Compared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	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test-and-branch</a:t>
            </a:r>
            <a:r>
              <a:rPr sz="2700" spc="-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(GOTO)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constructs.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0004" y="355803"/>
            <a:ext cx="596582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Data</a:t>
            </a:r>
            <a:r>
              <a:rPr sz="3000" spc="-35" dirty="0">
                <a:solidFill>
                  <a:srgbClr val="0000CC"/>
                </a:solidFill>
              </a:rPr>
              <a:t> </a:t>
            </a:r>
            <a:r>
              <a:rPr sz="3000" spc="-10" dirty="0">
                <a:solidFill>
                  <a:srgbClr val="0000CC"/>
                </a:solidFill>
              </a:rPr>
              <a:t>Structure-Oriented</a:t>
            </a:r>
            <a:r>
              <a:rPr sz="3000" spc="-25" dirty="0">
                <a:solidFill>
                  <a:srgbClr val="0000CC"/>
                </a:solidFill>
              </a:rPr>
              <a:t> </a:t>
            </a:r>
            <a:r>
              <a:rPr sz="3000" dirty="0">
                <a:solidFill>
                  <a:srgbClr val="0000CC"/>
                </a:solidFill>
              </a:rPr>
              <a:t>Design</a:t>
            </a:r>
            <a:r>
              <a:rPr sz="3000" spc="-15" dirty="0">
                <a:solidFill>
                  <a:srgbClr val="0000CC"/>
                </a:solidFill>
              </a:rPr>
              <a:t> </a:t>
            </a:r>
            <a:r>
              <a:rPr sz="1600" dirty="0">
                <a:solidFill>
                  <a:srgbClr val="0000CC"/>
                </a:solidFill>
              </a:rPr>
              <a:t>(Early</a:t>
            </a:r>
            <a:r>
              <a:rPr sz="1600" spc="25" dirty="0">
                <a:solidFill>
                  <a:srgbClr val="0000CC"/>
                </a:solidFill>
              </a:rPr>
              <a:t> </a:t>
            </a:r>
            <a:r>
              <a:rPr sz="1600" spc="5" dirty="0">
                <a:solidFill>
                  <a:srgbClr val="0000CC"/>
                </a:solidFill>
              </a:rPr>
              <a:t>70s)</a:t>
            </a:r>
            <a:endParaRPr sz="1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69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53111" y="1087750"/>
            <a:ext cx="8820150" cy="308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1349375" indent="-233679">
              <a:lnSpc>
                <a:spcPct val="119700"/>
              </a:lnSpc>
              <a:spcBef>
                <a:spcPts val="95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dirty="0">
                <a:latin typeface="Calibri"/>
                <a:cs typeface="Calibri"/>
              </a:rPr>
              <a:t>As </a:t>
            </a:r>
            <a:r>
              <a:rPr sz="3000" spc="-20" dirty="0">
                <a:latin typeface="Calibri"/>
                <a:cs typeface="Calibri"/>
              </a:rPr>
              <a:t>program sizes </a:t>
            </a:r>
            <a:r>
              <a:rPr sz="3000" spc="-5" dirty="0">
                <a:latin typeface="Calibri"/>
                <a:cs typeface="Calibri"/>
              </a:rPr>
              <a:t>increased </a:t>
            </a:r>
            <a:r>
              <a:rPr sz="3000" spc="-40" dirty="0">
                <a:latin typeface="Calibri"/>
                <a:cs typeface="Calibri"/>
              </a:rPr>
              <a:t>further, </a:t>
            </a:r>
            <a:r>
              <a:rPr sz="3000" dirty="0">
                <a:latin typeface="Calibri"/>
                <a:cs typeface="Calibri"/>
              </a:rPr>
              <a:t>soon it </a:t>
            </a:r>
            <a:r>
              <a:rPr sz="3000" spc="-15" dirty="0">
                <a:latin typeface="Calibri"/>
                <a:cs typeface="Calibri"/>
              </a:rPr>
              <a:t>was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discovered:</a:t>
            </a:r>
            <a:endParaRPr sz="3000">
              <a:latin typeface="Calibri"/>
              <a:cs typeface="Calibri"/>
            </a:endParaRPr>
          </a:p>
          <a:p>
            <a:pPr marL="516890" marR="5080" indent="-194310">
              <a:lnSpc>
                <a:spcPct val="121200"/>
              </a:lnSpc>
              <a:spcBef>
                <a:spcPts val="2025"/>
              </a:spcBef>
            </a:pPr>
            <a:r>
              <a:rPr sz="2700" spc="1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It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is</a:t>
            </a:r>
            <a:r>
              <a:rPr sz="27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important</a:t>
            </a:r>
            <a:r>
              <a:rPr sz="2700" b="1" spc="-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pay</a:t>
            </a: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more</a:t>
            </a:r>
            <a:r>
              <a:rPr sz="27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attention</a:t>
            </a:r>
            <a:r>
              <a:rPr sz="2700" b="1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design</a:t>
            </a:r>
            <a:r>
              <a:rPr sz="270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data </a:t>
            </a:r>
            <a:r>
              <a:rPr sz="2700" b="1" spc="-59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structures</a:t>
            </a:r>
            <a:r>
              <a:rPr sz="2700" b="1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program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buFont typeface="Arial MT"/>
              <a:buChar char="•"/>
              <a:tabLst>
                <a:tab pos="790575" algn="l"/>
              </a:tabLst>
            </a:pPr>
            <a:r>
              <a:rPr sz="2450" spc="-5" dirty="0">
                <a:latin typeface="Calibri"/>
                <a:cs typeface="Calibri"/>
              </a:rPr>
              <a:t>Than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to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5" dirty="0">
                <a:latin typeface="Calibri"/>
                <a:cs typeface="Calibri"/>
              </a:rPr>
              <a:t> design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its </a:t>
            </a:r>
            <a:r>
              <a:rPr sz="2450" spc="-15" dirty="0">
                <a:latin typeface="Calibri"/>
                <a:cs typeface="Calibri"/>
              </a:rPr>
              <a:t>control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structure.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2864" y="393903"/>
            <a:ext cx="581787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Data</a:t>
            </a:r>
            <a:r>
              <a:rPr sz="3000" spc="-45" dirty="0">
                <a:solidFill>
                  <a:srgbClr val="0000CC"/>
                </a:solidFill>
              </a:rPr>
              <a:t> </a:t>
            </a:r>
            <a:r>
              <a:rPr sz="3000" spc="-10" dirty="0">
                <a:solidFill>
                  <a:srgbClr val="0000CC"/>
                </a:solidFill>
              </a:rPr>
              <a:t>Structure-Oriented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3000" dirty="0">
                <a:solidFill>
                  <a:srgbClr val="0000CC"/>
                </a:solidFill>
              </a:rPr>
              <a:t>Design</a:t>
            </a:r>
            <a:r>
              <a:rPr sz="3000" spc="-20" dirty="0">
                <a:solidFill>
                  <a:srgbClr val="0000CC"/>
                </a:solidFill>
              </a:rPr>
              <a:t> </a:t>
            </a:r>
            <a:r>
              <a:rPr sz="1350" dirty="0">
                <a:solidFill>
                  <a:srgbClr val="0000CC"/>
                </a:solidFill>
              </a:rPr>
              <a:t>(Early</a:t>
            </a:r>
            <a:r>
              <a:rPr sz="1350" spc="20" dirty="0">
                <a:solidFill>
                  <a:srgbClr val="0000CC"/>
                </a:solidFill>
              </a:rPr>
              <a:t> </a:t>
            </a:r>
            <a:r>
              <a:rPr sz="1350" spc="-5" dirty="0">
                <a:solidFill>
                  <a:srgbClr val="0000CC"/>
                </a:solidFill>
              </a:rPr>
              <a:t>70s)</a:t>
            </a:r>
            <a:endParaRPr sz="135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70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2039111" y="3244595"/>
            <a:ext cx="6560184" cy="765810"/>
            <a:chOff x="2039111" y="3244595"/>
            <a:chExt cx="6560184" cy="765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9111" y="3244595"/>
              <a:ext cx="2477262" cy="765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1460" y="3244595"/>
              <a:ext cx="561593" cy="765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68139" y="3244595"/>
              <a:ext cx="4431029" cy="76580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1" y="915009"/>
            <a:ext cx="8369934" cy="284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64769" indent="-233679">
              <a:lnSpc>
                <a:spcPct val="125600"/>
              </a:lnSpc>
              <a:spcBef>
                <a:spcPts val="95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25" dirty="0">
                <a:latin typeface="Calibri"/>
                <a:cs typeface="Calibri"/>
              </a:rPr>
              <a:t>Techniques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which </a:t>
            </a:r>
            <a:r>
              <a:rPr sz="3250" spc="-10" dirty="0">
                <a:latin typeface="Calibri"/>
                <a:cs typeface="Calibri"/>
              </a:rPr>
              <a:t>emphasize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designing </a:t>
            </a:r>
            <a:r>
              <a:rPr sz="3250" spc="5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data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structure:</a:t>
            </a:r>
            <a:endParaRPr sz="3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255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Derive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program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structure</a:t>
            </a:r>
            <a:r>
              <a:rPr sz="2700" spc="-5" dirty="0">
                <a:latin typeface="Calibri"/>
                <a:cs typeface="Calibri"/>
              </a:rPr>
              <a:t> from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buFont typeface="Arial MT"/>
              <a:buChar char="•"/>
              <a:tabLst>
                <a:tab pos="790575" algn="l"/>
              </a:tabLst>
            </a:pPr>
            <a:r>
              <a:rPr sz="2700" spc="-5" dirty="0">
                <a:latin typeface="Calibri"/>
                <a:cs typeface="Calibri"/>
              </a:rPr>
              <a:t>Are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called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data</a:t>
            </a:r>
            <a:r>
              <a:rPr sz="27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structure-oriented</a:t>
            </a:r>
            <a:r>
              <a:rPr sz="27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design</a:t>
            </a:r>
            <a:r>
              <a:rPr sz="27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techniques.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4511" y="343661"/>
            <a:ext cx="59366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Data</a:t>
            </a:r>
            <a:r>
              <a:rPr sz="3000" spc="-4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Structure</a:t>
            </a:r>
            <a:r>
              <a:rPr sz="3000" spc="-40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Oriented</a:t>
            </a:r>
            <a:r>
              <a:rPr sz="3000" spc="-1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spc="10" dirty="0">
                <a:solidFill>
                  <a:srgbClr val="0000CC"/>
                </a:solidFill>
              </a:rPr>
              <a:t> </a:t>
            </a:r>
            <a:r>
              <a:rPr sz="1600" spc="5" dirty="0">
                <a:solidFill>
                  <a:srgbClr val="0000CC"/>
                </a:solidFill>
              </a:rPr>
              <a:t>(Early</a:t>
            </a:r>
            <a:r>
              <a:rPr sz="1600" spc="30" dirty="0">
                <a:solidFill>
                  <a:srgbClr val="0000CC"/>
                </a:solidFill>
              </a:rPr>
              <a:t> </a:t>
            </a:r>
            <a:r>
              <a:rPr sz="1600" spc="10" dirty="0">
                <a:solidFill>
                  <a:srgbClr val="0000CC"/>
                </a:solidFill>
              </a:rPr>
              <a:t>70s)</a:t>
            </a:r>
            <a:endParaRPr sz="1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71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7911" y="753882"/>
            <a:ext cx="7954645" cy="2873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marR="698500" indent="-233679">
              <a:lnSpc>
                <a:spcPct val="134700"/>
              </a:lnSpc>
              <a:spcBef>
                <a:spcPts val="10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dirty="0">
                <a:latin typeface="Calibri"/>
                <a:cs typeface="Calibri"/>
              </a:rPr>
              <a:t>An </a:t>
            </a:r>
            <a:r>
              <a:rPr sz="3000" spc="-15" dirty="0">
                <a:latin typeface="Calibri"/>
                <a:cs typeface="Calibri"/>
              </a:rPr>
              <a:t>example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spc="-20" dirty="0">
                <a:latin typeface="Calibri"/>
                <a:cs typeface="Calibri"/>
              </a:rPr>
              <a:t>data </a:t>
            </a:r>
            <a:r>
              <a:rPr sz="3000" spc="-10" dirty="0">
                <a:latin typeface="Calibri"/>
                <a:cs typeface="Calibri"/>
              </a:rPr>
              <a:t>structure-oriented design </a:t>
            </a:r>
            <a:r>
              <a:rPr sz="3000" spc="-6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technique: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</a:pPr>
            <a:r>
              <a:rPr sz="2700" spc="5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Jackson's</a:t>
            </a:r>
            <a:r>
              <a:rPr sz="2700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Structured</a:t>
            </a:r>
            <a:r>
              <a:rPr sz="2700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Programming(JSP)</a:t>
            </a:r>
            <a:r>
              <a:rPr sz="27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methodology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buFont typeface="Arial MT"/>
              <a:buChar char="•"/>
              <a:tabLst>
                <a:tab pos="790575" algn="l"/>
              </a:tabLst>
            </a:pPr>
            <a:r>
              <a:rPr sz="2450" spc="-10" dirty="0">
                <a:latin typeface="Calibri"/>
                <a:cs typeface="Calibri"/>
              </a:rPr>
              <a:t>Developed</a:t>
            </a:r>
            <a:r>
              <a:rPr sz="2450" spc="-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by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Michael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Jackson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in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1970s.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911" y="1416253"/>
            <a:ext cx="6712584" cy="18916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84200" indent="-57213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584200" algn="l"/>
                <a:tab pos="584835" algn="l"/>
              </a:tabLst>
            </a:pPr>
            <a:r>
              <a:rPr sz="3650" b="1" spc="5" dirty="0">
                <a:latin typeface="Calibri"/>
                <a:cs typeface="Calibri"/>
              </a:rPr>
              <a:t>JSP</a:t>
            </a:r>
            <a:r>
              <a:rPr sz="3650" b="1" spc="-45" dirty="0">
                <a:latin typeface="Calibri"/>
                <a:cs typeface="Calibri"/>
              </a:rPr>
              <a:t> </a:t>
            </a:r>
            <a:r>
              <a:rPr sz="3650" b="1" dirty="0">
                <a:latin typeface="Calibri"/>
                <a:cs typeface="Calibri"/>
              </a:rPr>
              <a:t>technique:</a:t>
            </a:r>
            <a:endParaRPr sz="3650">
              <a:latin typeface="Calibri"/>
              <a:cs typeface="Calibri"/>
            </a:endParaRPr>
          </a:p>
          <a:p>
            <a:pPr marL="516890" marR="5080" lvl="1" indent="-193675">
              <a:lnSpc>
                <a:spcPct val="130000"/>
              </a:lnSpc>
              <a:spcBef>
                <a:spcPts val="2800"/>
              </a:spcBef>
              <a:buSzPct val="56250"/>
              <a:buFont typeface="Symbol"/>
              <a:buChar char=""/>
              <a:tabLst>
                <a:tab pos="568960" algn="l"/>
                <a:tab pos="569595" algn="l"/>
              </a:tabLst>
            </a:pPr>
            <a:r>
              <a:rPr dirty="0"/>
              <a:t>	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Program </a:t>
            </a:r>
            <a:r>
              <a:rPr sz="2400" dirty="0">
                <a:solidFill>
                  <a:srgbClr val="0000CC"/>
                </a:solidFill>
                <a:latin typeface="Calibri"/>
                <a:cs typeface="Calibri"/>
              </a:rPr>
              <a:t>code 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structure should correspond </a:t>
            </a:r>
            <a:r>
              <a:rPr sz="2400" dirty="0">
                <a:solidFill>
                  <a:srgbClr val="0000CC"/>
                </a:solidFill>
                <a:latin typeface="Calibri"/>
                <a:cs typeface="Calibri"/>
              </a:rPr>
              <a:t>to the </a:t>
            </a:r>
            <a:r>
              <a:rPr sz="2400" spc="-5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data</a:t>
            </a:r>
            <a:r>
              <a:rPr sz="2400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Calibri"/>
                <a:cs typeface="Calibri"/>
              </a:rPr>
              <a:t>structure.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7719" y="398145"/>
            <a:ext cx="62528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00CC"/>
                </a:solidFill>
              </a:rPr>
              <a:t>Data</a:t>
            </a:r>
            <a:r>
              <a:rPr sz="3200" spc="-25" dirty="0">
                <a:solidFill>
                  <a:srgbClr val="0000CC"/>
                </a:solidFill>
              </a:rPr>
              <a:t> </a:t>
            </a:r>
            <a:r>
              <a:rPr sz="3200" spc="-5" dirty="0">
                <a:solidFill>
                  <a:srgbClr val="0000CC"/>
                </a:solidFill>
              </a:rPr>
              <a:t>Structure</a:t>
            </a:r>
            <a:r>
              <a:rPr sz="3200" spc="-25" dirty="0">
                <a:solidFill>
                  <a:srgbClr val="0000CC"/>
                </a:solidFill>
              </a:rPr>
              <a:t> </a:t>
            </a:r>
            <a:r>
              <a:rPr sz="3200" spc="-10" dirty="0">
                <a:solidFill>
                  <a:srgbClr val="0000CC"/>
                </a:solidFill>
              </a:rPr>
              <a:t>Oriented</a:t>
            </a:r>
            <a:r>
              <a:rPr sz="3200" spc="-40" dirty="0">
                <a:solidFill>
                  <a:srgbClr val="0000CC"/>
                </a:solidFill>
              </a:rPr>
              <a:t> </a:t>
            </a:r>
            <a:r>
              <a:rPr sz="3200" spc="-5" dirty="0">
                <a:solidFill>
                  <a:srgbClr val="0000CC"/>
                </a:solidFill>
              </a:rPr>
              <a:t>Design </a:t>
            </a:r>
            <a:r>
              <a:rPr sz="1600" spc="-10" dirty="0">
                <a:solidFill>
                  <a:srgbClr val="0000CC"/>
                </a:solidFill>
              </a:rPr>
              <a:t>(Early</a:t>
            </a:r>
            <a:r>
              <a:rPr sz="1600" spc="10" dirty="0">
                <a:solidFill>
                  <a:srgbClr val="0000CC"/>
                </a:solidFill>
              </a:rPr>
              <a:t> </a:t>
            </a:r>
            <a:r>
              <a:rPr sz="1600" spc="-10" dirty="0">
                <a:solidFill>
                  <a:srgbClr val="0000CC"/>
                </a:solidFill>
              </a:rPr>
              <a:t>70s)</a:t>
            </a:r>
            <a:endParaRPr sz="1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72</a:t>
            </a:fld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" y="442341"/>
            <a:ext cx="283845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1780" indent="-259079">
              <a:lnSpc>
                <a:spcPct val="100000"/>
              </a:lnSpc>
              <a:spcBef>
                <a:spcPts val="125"/>
              </a:spcBef>
              <a:buSzPct val="96296"/>
              <a:buFont typeface="Wingdings"/>
              <a:buChar char=""/>
              <a:tabLst>
                <a:tab pos="271780" algn="l"/>
              </a:tabLst>
            </a:pPr>
            <a:r>
              <a:rPr sz="2700" b="1" spc="5" dirty="0">
                <a:latin typeface="Calibri"/>
                <a:cs typeface="Calibri"/>
              </a:rPr>
              <a:t>JSP</a:t>
            </a:r>
            <a:r>
              <a:rPr sz="2700" b="1" spc="-80" dirty="0">
                <a:latin typeface="Calibri"/>
                <a:cs typeface="Calibri"/>
              </a:rPr>
              <a:t> </a:t>
            </a:r>
            <a:r>
              <a:rPr sz="2700" b="1" spc="10" dirty="0">
                <a:latin typeface="Calibri"/>
                <a:cs typeface="Calibri"/>
              </a:rPr>
              <a:t>methodology: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1607" y="1241297"/>
            <a:ext cx="8439150" cy="2522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6375" indent="-194310">
              <a:lnSpc>
                <a:spcPct val="100000"/>
              </a:lnSpc>
              <a:spcBef>
                <a:spcPts val="95"/>
              </a:spcBef>
              <a:buSzPct val="73469"/>
              <a:buFont typeface="Symbol"/>
              <a:buChar char=""/>
              <a:tabLst>
                <a:tab pos="207010" algn="l"/>
              </a:tabLst>
            </a:pPr>
            <a:r>
              <a:rPr sz="2450" spc="-5" dirty="0">
                <a:latin typeface="Calibri"/>
                <a:cs typeface="Calibri"/>
              </a:rPr>
              <a:t>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program's </a:t>
            </a:r>
            <a:r>
              <a:rPr sz="2450" spc="-5" dirty="0">
                <a:latin typeface="Calibri"/>
                <a:cs typeface="Calibri"/>
              </a:rPr>
              <a:t>data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structures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are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first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designed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using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notations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for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"/>
            </a:pPr>
            <a:endParaRPr sz="2300">
              <a:latin typeface="Calibri"/>
              <a:cs typeface="Calibri"/>
            </a:endParaRPr>
          </a:p>
          <a:p>
            <a:pPr marL="530860" lvl="1" indent="-207645">
              <a:lnSpc>
                <a:spcPct val="100000"/>
              </a:lnSpc>
              <a:buSzPct val="95348"/>
              <a:buFont typeface="Wingdings"/>
              <a:buChar char=""/>
              <a:tabLst>
                <a:tab pos="531495" algn="l"/>
              </a:tabLst>
            </a:pPr>
            <a:r>
              <a:rPr sz="2150" b="1" spc="5" dirty="0">
                <a:solidFill>
                  <a:srgbClr val="333399"/>
                </a:solidFill>
                <a:latin typeface="Calibri"/>
                <a:cs typeface="Calibri"/>
              </a:rPr>
              <a:t>sequence, </a:t>
            </a:r>
            <a:r>
              <a:rPr sz="2150" b="1" dirty="0">
                <a:solidFill>
                  <a:srgbClr val="333399"/>
                </a:solidFill>
                <a:latin typeface="Calibri"/>
                <a:cs typeface="Calibri"/>
              </a:rPr>
              <a:t>selection,</a:t>
            </a:r>
            <a:r>
              <a:rPr sz="2150" b="1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sz="2150" b="1" spc="-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333399"/>
                </a:solidFill>
                <a:latin typeface="Calibri"/>
                <a:cs typeface="Calibri"/>
              </a:rPr>
              <a:t>iteration.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har char=""/>
            </a:pPr>
            <a:endParaRPr sz="2350">
              <a:latin typeface="Calibri"/>
              <a:cs typeface="Calibri"/>
            </a:endParaRPr>
          </a:p>
          <a:p>
            <a:pPr marL="206375" indent="-194310">
              <a:lnSpc>
                <a:spcPct val="100000"/>
              </a:lnSpc>
              <a:buSzPct val="73469"/>
              <a:buFont typeface="Symbol"/>
              <a:buChar char=""/>
              <a:tabLst>
                <a:tab pos="207010" algn="l"/>
              </a:tabLst>
            </a:pPr>
            <a:r>
              <a:rPr sz="2450" spc="-5" dirty="0">
                <a:latin typeface="Calibri"/>
                <a:cs typeface="Calibri"/>
              </a:rPr>
              <a:t>The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data </a:t>
            </a:r>
            <a:r>
              <a:rPr sz="2450" spc="-10" dirty="0">
                <a:latin typeface="Calibri"/>
                <a:cs typeface="Calibri"/>
              </a:rPr>
              <a:t>structure</a:t>
            </a:r>
            <a:r>
              <a:rPr sz="2450" spc="-5" dirty="0">
                <a:latin typeface="Calibri"/>
                <a:cs typeface="Calibri"/>
              </a:rPr>
              <a:t> design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is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then</a:t>
            </a:r>
            <a:r>
              <a:rPr sz="2450" spc="-5" dirty="0">
                <a:latin typeface="Calibri"/>
                <a:cs typeface="Calibri"/>
              </a:rPr>
              <a:t> used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: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"/>
            </a:pPr>
            <a:endParaRPr sz="2300">
              <a:latin typeface="Calibri"/>
              <a:cs typeface="Calibri"/>
            </a:endParaRPr>
          </a:p>
          <a:p>
            <a:pPr marL="530860" lvl="1" indent="-207645">
              <a:lnSpc>
                <a:spcPct val="100000"/>
              </a:lnSpc>
              <a:spcBef>
                <a:spcPts val="5"/>
              </a:spcBef>
              <a:buSzPct val="95348"/>
              <a:buFont typeface="Wingdings"/>
              <a:buChar char=""/>
              <a:tabLst>
                <a:tab pos="531495" algn="l"/>
              </a:tabLst>
            </a:pPr>
            <a:r>
              <a:rPr sz="2150" spc="5" dirty="0">
                <a:latin typeface="Calibri"/>
                <a:cs typeface="Calibri"/>
              </a:rPr>
              <a:t>To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derive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the</a:t>
            </a:r>
            <a:r>
              <a:rPr sz="2150" spc="5" dirty="0">
                <a:latin typeface="Calibri"/>
                <a:cs typeface="Calibri"/>
              </a:rPr>
              <a:t> program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structure.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2800" y="339852"/>
            <a:ext cx="5791200" cy="925194"/>
          </a:xfrm>
          <a:custGeom>
            <a:avLst/>
            <a:gdLst/>
            <a:ahLst/>
            <a:cxnLst/>
            <a:rect l="l" t="t" r="r" b="b"/>
            <a:pathLst>
              <a:path w="5791200" h="925194">
                <a:moveTo>
                  <a:pt x="5791200" y="0"/>
                </a:moveTo>
                <a:lnTo>
                  <a:pt x="0" y="0"/>
                </a:lnTo>
                <a:lnTo>
                  <a:pt x="0" y="925068"/>
                </a:lnTo>
                <a:lnTo>
                  <a:pt x="5791200" y="925068"/>
                </a:lnTo>
                <a:lnTo>
                  <a:pt x="57912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68928" y="406349"/>
            <a:ext cx="52705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000CC"/>
                </a:solidFill>
              </a:rPr>
              <a:t>A</a:t>
            </a:r>
            <a:r>
              <a:rPr sz="3000" spc="-25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Data</a:t>
            </a:r>
            <a:r>
              <a:rPr sz="3000" spc="-4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Structure</a:t>
            </a:r>
            <a:r>
              <a:rPr sz="3000" spc="-30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Oriented</a:t>
            </a:r>
            <a:r>
              <a:rPr sz="3000" spc="-3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endParaRPr sz="3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73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8225408" y="860501"/>
            <a:ext cx="917575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b="1" dirty="0">
                <a:solidFill>
                  <a:srgbClr val="0000CC"/>
                </a:solidFill>
                <a:latin typeface="Calibri"/>
                <a:cs typeface="Calibri"/>
              </a:rPr>
              <a:t>(Early</a:t>
            </a:r>
            <a:r>
              <a:rPr sz="16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b="1" spc="5" dirty="0">
                <a:solidFill>
                  <a:srgbClr val="0000CC"/>
                </a:solidFill>
                <a:latin typeface="Calibri"/>
                <a:cs typeface="Calibri"/>
              </a:rPr>
              <a:t>70s)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9311" y="1071019"/>
            <a:ext cx="8653145" cy="2063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834">
              <a:lnSpc>
                <a:spcPct val="129700"/>
              </a:lnSpc>
              <a:spcBef>
                <a:spcPts val="10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3000" spc="-20" dirty="0">
                <a:latin typeface="Calibri"/>
                <a:cs typeface="Calibri"/>
              </a:rPr>
              <a:t>Several </a:t>
            </a:r>
            <a:r>
              <a:rPr sz="3000" spc="-5" dirty="0">
                <a:latin typeface="Calibri"/>
                <a:cs typeface="Calibri"/>
              </a:rPr>
              <a:t>other </a:t>
            </a:r>
            <a:r>
              <a:rPr sz="3000" spc="-20" dirty="0">
                <a:latin typeface="Calibri"/>
                <a:cs typeface="Calibri"/>
              </a:rPr>
              <a:t>data </a:t>
            </a:r>
            <a:r>
              <a:rPr sz="3000" spc="-10" dirty="0">
                <a:latin typeface="Calibri"/>
                <a:cs typeface="Calibri"/>
              </a:rPr>
              <a:t>structure-oriented </a:t>
            </a:r>
            <a:r>
              <a:rPr sz="3000" spc="-5" dirty="0">
                <a:latin typeface="Calibri"/>
                <a:cs typeface="Calibri"/>
              </a:rPr>
              <a:t>Methodologies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also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exist: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594995" lvl="1" indent="-271780">
              <a:lnSpc>
                <a:spcPct val="100000"/>
              </a:lnSpc>
              <a:spcBef>
                <a:spcPts val="5"/>
              </a:spcBef>
              <a:buSzPct val="75925"/>
              <a:buFont typeface="Symbol"/>
              <a:buChar char=""/>
              <a:tabLst>
                <a:tab pos="594995" algn="l"/>
                <a:tab pos="595630" algn="l"/>
              </a:tabLst>
            </a:pPr>
            <a:r>
              <a:rPr sz="2700" spc="5" dirty="0">
                <a:latin typeface="Calibri"/>
                <a:cs typeface="Calibri"/>
              </a:rPr>
              <a:t>e.g.,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Warnier-Orr</a:t>
            </a:r>
            <a:r>
              <a:rPr sz="2700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Methodology.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1189" y="409447"/>
            <a:ext cx="59366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Data</a:t>
            </a:r>
            <a:r>
              <a:rPr sz="3000" spc="-4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Structure</a:t>
            </a:r>
            <a:r>
              <a:rPr sz="3000" spc="-40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Oriented</a:t>
            </a:r>
            <a:r>
              <a:rPr sz="3000" spc="-1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spc="10" dirty="0">
                <a:solidFill>
                  <a:srgbClr val="0000CC"/>
                </a:solidFill>
              </a:rPr>
              <a:t> </a:t>
            </a:r>
            <a:r>
              <a:rPr sz="1600" spc="5" dirty="0">
                <a:solidFill>
                  <a:srgbClr val="0000CC"/>
                </a:solidFill>
              </a:rPr>
              <a:t>(Early</a:t>
            </a:r>
            <a:r>
              <a:rPr sz="1600" spc="30" dirty="0">
                <a:solidFill>
                  <a:srgbClr val="0000CC"/>
                </a:solidFill>
              </a:rPr>
              <a:t> </a:t>
            </a:r>
            <a:r>
              <a:rPr sz="1600" spc="10" dirty="0">
                <a:solidFill>
                  <a:srgbClr val="0000CC"/>
                </a:solidFill>
              </a:rPr>
              <a:t>70s)</a:t>
            </a:r>
            <a:endParaRPr sz="1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74</a:t>
            </a:fld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5451" y="381761"/>
            <a:ext cx="42729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Data</a:t>
            </a:r>
            <a:r>
              <a:rPr sz="3000" spc="-55" dirty="0">
                <a:solidFill>
                  <a:srgbClr val="0000CC"/>
                </a:solidFill>
              </a:rPr>
              <a:t> </a:t>
            </a:r>
            <a:r>
              <a:rPr sz="3000" spc="-10" dirty="0">
                <a:solidFill>
                  <a:srgbClr val="0000CC"/>
                </a:solidFill>
              </a:rPr>
              <a:t>Flow-Oriented</a:t>
            </a:r>
            <a:r>
              <a:rPr sz="3000" spc="-5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endParaRPr sz="3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75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385940" y="555497"/>
            <a:ext cx="854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dirty="0">
                <a:solidFill>
                  <a:srgbClr val="0000CC"/>
                </a:solidFill>
                <a:latin typeface="Calibri"/>
                <a:cs typeface="Calibri"/>
              </a:rPr>
              <a:t>(Late</a:t>
            </a:r>
            <a:r>
              <a:rPr sz="1600" b="1" spc="-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b="1" spc="10" dirty="0">
                <a:solidFill>
                  <a:srgbClr val="0000CC"/>
                </a:solidFill>
                <a:latin typeface="Calibri"/>
                <a:cs typeface="Calibri"/>
              </a:rPr>
              <a:t>70s)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311" y="1183385"/>
            <a:ext cx="8669020" cy="2633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3200" spc="-15" dirty="0">
                <a:latin typeface="Calibri"/>
                <a:cs typeface="Calibri"/>
              </a:rPr>
              <a:t>Data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flow-oriented</a:t>
            </a:r>
            <a:r>
              <a:rPr sz="3200" spc="-5" dirty="0">
                <a:latin typeface="Calibri"/>
                <a:cs typeface="Calibri"/>
              </a:rPr>
              <a:t> techniques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advocate</a:t>
            </a:r>
            <a:r>
              <a:rPr sz="3600" spc="-20" dirty="0">
                <a:latin typeface="Calibri"/>
                <a:cs typeface="Calibri"/>
              </a:rPr>
              <a:t>:</a:t>
            </a:r>
            <a:endParaRPr sz="36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935"/>
              </a:spcBef>
            </a:pPr>
            <a:r>
              <a:rPr sz="2800" spc="-5" dirty="0">
                <a:solidFill>
                  <a:srgbClr val="6600CC"/>
                </a:solidFill>
                <a:latin typeface="Arial MT"/>
                <a:cs typeface="Arial MT"/>
              </a:rPr>
              <a:t>–</a:t>
            </a:r>
            <a:r>
              <a:rPr sz="2800" spc="-5" dirty="0">
                <a:solidFill>
                  <a:srgbClr val="6600CC"/>
                </a:solidFill>
                <a:latin typeface="Calibri"/>
                <a:cs typeface="Calibri"/>
              </a:rPr>
              <a:t>The </a:t>
            </a:r>
            <a:r>
              <a:rPr sz="2800" spc="-20" dirty="0">
                <a:solidFill>
                  <a:srgbClr val="6600CC"/>
                </a:solidFill>
                <a:latin typeface="Calibri"/>
                <a:cs typeface="Calibri"/>
              </a:rPr>
              <a:t>data</a:t>
            </a:r>
            <a:r>
              <a:rPr sz="280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CC"/>
                </a:solidFill>
                <a:latin typeface="Calibri"/>
                <a:cs typeface="Calibri"/>
              </a:rPr>
              <a:t>items</a:t>
            </a:r>
            <a:r>
              <a:rPr sz="2800" spc="1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CC"/>
                </a:solidFill>
                <a:latin typeface="Calibri"/>
                <a:cs typeface="Calibri"/>
              </a:rPr>
              <a:t>input</a:t>
            </a:r>
            <a:r>
              <a:rPr sz="2800" spc="2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6600CC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600CC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6600CC"/>
                </a:solidFill>
                <a:latin typeface="Calibri"/>
                <a:cs typeface="Calibri"/>
              </a:rPr>
              <a:t>system</a:t>
            </a:r>
            <a:r>
              <a:rPr sz="2800" spc="1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CC"/>
                </a:solidFill>
                <a:latin typeface="Calibri"/>
                <a:cs typeface="Calibri"/>
              </a:rPr>
              <a:t>must</a:t>
            </a:r>
            <a:r>
              <a:rPr sz="2800" spc="3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6600CC"/>
                </a:solidFill>
                <a:latin typeface="Calibri"/>
                <a:cs typeface="Calibri"/>
              </a:rPr>
              <a:t>first</a:t>
            </a:r>
            <a:r>
              <a:rPr sz="2800" spc="1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600CC"/>
                </a:solidFill>
                <a:latin typeface="Calibri"/>
                <a:cs typeface="Calibri"/>
              </a:rPr>
              <a:t>be</a:t>
            </a:r>
            <a:r>
              <a:rPr sz="2800" spc="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CC"/>
                </a:solidFill>
                <a:latin typeface="Calibri"/>
                <a:cs typeface="Calibri"/>
              </a:rPr>
              <a:t>identified,</a:t>
            </a:r>
            <a:endParaRPr sz="2800">
              <a:latin typeface="Calibri"/>
              <a:cs typeface="Calibri"/>
            </a:endParaRPr>
          </a:p>
          <a:p>
            <a:pPr marL="515620" marR="372745" indent="-192405">
              <a:lnSpc>
                <a:spcPct val="120100"/>
              </a:lnSpc>
              <a:spcBef>
                <a:spcPts val="1845"/>
              </a:spcBef>
              <a:tabLst>
                <a:tab pos="2212975" algn="l"/>
              </a:tabLst>
            </a:pPr>
            <a:r>
              <a:rPr sz="2800" spc="-15" dirty="0">
                <a:solidFill>
                  <a:srgbClr val="6600CC"/>
                </a:solidFill>
                <a:latin typeface="Arial MT"/>
                <a:cs typeface="Arial MT"/>
              </a:rPr>
              <a:t>–</a:t>
            </a:r>
            <a:r>
              <a:rPr sz="2800" spc="-15" dirty="0">
                <a:solidFill>
                  <a:srgbClr val="6600CC"/>
                </a:solidFill>
                <a:latin typeface="Calibri"/>
                <a:cs typeface="Calibri"/>
              </a:rPr>
              <a:t>Processing	required</a:t>
            </a:r>
            <a:r>
              <a:rPr sz="2800" spc="1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600CC"/>
                </a:solidFill>
                <a:latin typeface="Calibri"/>
                <a:cs typeface="Calibri"/>
              </a:rPr>
              <a:t>on</a:t>
            </a:r>
            <a:r>
              <a:rPr sz="2800" spc="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600CC"/>
                </a:solidFill>
                <a:latin typeface="Calibri"/>
                <a:cs typeface="Calibri"/>
              </a:rPr>
              <a:t>the </a:t>
            </a:r>
            <a:r>
              <a:rPr sz="2800" spc="-20" dirty="0">
                <a:solidFill>
                  <a:srgbClr val="6600CC"/>
                </a:solidFill>
                <a:latin typeface="Calibri"/>
                <a:cs typeface="Calibri"/>
              </a:rPr>
              <a:t>data</a:t>
            </a:r>
            <a:r>
              <a:rPr sz="2800" spc="-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CC"/>
                </a:solidFill>
                <a:latin typeface="Calibri"/>
                <a:cs typeface="Calibri"/>
              </a:rPr>
              <a:t>items</a:t>
            </a:r>
            <a:r>
              <a:rPr sz="280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CC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CC"/>
                </a:solidFill>
                <a:latin typeface="Calibri"/>
                <a:cs typeface="Calibri"/>
              </a:rPr>
              <a:t>produce</a:t>
            </a:r>
            <a:r>
              <a:rPr sz="2800" spc="3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600CC"/>
                </a:solidFill>
                <a:latin typeface="Calibri"/>
                <a:cs typeface="Calibri"/>
              </a:rPr>
              <a:t>the </a:t>
            </a:r>
            <a:r>
              <a:rPr sz="2800" spc="-62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CC"/>
                </a:solidFill>
                <a:latin typeface="Calibri"/>
                <a:cs typeface="Calibri"/>
              </a:rPr>
              <a:t>required</a:t>
            </a:r>
            <a:r>
              <a:rPr sz="2800" spc="2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CC"/>
                </a:solidFill>
                <a:latin typeface="Calibri"/>
                <a:cs typeface="Calibri"/>
              </a:rPr>
              <a:t>outputs</a:t>
            </a:r>
            <a:r>
              <a:rPr sz="2800" spc="3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CC"/>
                </a:solidFill>
                <a:latin typeface="Calibri"/>
                <a:cs typeface="Calibri"/>
              </a:rPr>
              <a:t>should</a:t>
            </a:r>
            <a:r>
              <a:rPr sz="2800" spc="3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600CC"/>
                </a:solidFill>
                <a:latin typeface="Calibri"/>
                <a:cs typeface="Calibri"/>
              </a:rPr>
              <a:t>be</a:t>
            </a:r>
            <a:r>
              <a:rPr sz="2800" spc="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CC"/>
                </a:solidFill>
                <a:latin typeface="Calibri"/>
                <a:cs typeface="Calibri"/>
              </a:rPr>
              <a:t>determined.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111" y="418338"/>
            <a:ext cx="8593455" cy="3449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455" algn="ctr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D</a:t>
            </a:r>
            <a:r>
              <a:rPr sz="3000" b="1" spc="-20" dirty="0">
                <a:solidFill>
                  <a:srgbClr val="0000CC"/>
                </a:solidFill>
                <a:latin typeface="Calibri"/>
                <a:cs typeface="Calibri"/>
              </a:rPr>
              <a:t>at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3000" b="1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Flo</a:t>
            </a:r>
            <a:r>
              <a:rPr sz="3000" b="1" spc="-20" dirty="0">
                <a:solidFill>
                  <a:srgbClr val="0000CC"/>
                </a:solidFill>
                <a:latin typeface="Calibri"/>
                <a:cs typeface="Calibri"/>
              </a:rPr>
              <a:t>w</a:t>
            </a:r>
            <a:r>
              <a:rPr sz="3000" b="1" spc="5" dirty="0">
                <a:solidFill>
                  <a:srgbClr val="0000CC"/>
                </a:solidFill>
                <a:latin typeface="Calibri"/>
                <a:cs typeface="Calibri"/>
              </a:rPr>
              <a:t>-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Orie</a:t>
            </a:r>
            <a:r>
              <a:rPr sz="3000" b="1" spc="-30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3000" b="1" spc="-35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d</a:t>
            </a:r>
            <a:r>
              <a:rPr sz="3000" b="1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De</a:t>
            </a:r>
            <a:r>
              <a:rPr sz="3000" b="1" spc="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ign</a:t>
            </a:r>
            <a:r>
              <a:rPr sz="3000" b="1" spc="-39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600" b="1" spc="5" dirty="0">
                <a:solidFill>
                  <a:srgbClr val="0000CC"/>
                </a:solidFill>
                <a:latin typeface="Calibri"/>
                <a:cs typeface="Calibri"/>
              </a:rPr>
              <a:t>(</a:t>
            </a:r>
            <a:r>
              <a:rPr sz="1600" b="1" spc="10" dirty="0">
                <a:solidFill>
                  <a:srgbClr val="0000CC"/>
                </a:solidFill>
                <a:latin typeface="Calibri"/>
                <a:cs typeface="Calibri"/>
              </a:rPr>
              <a:t>L</a:t>
            </a:r>
            <a:r>
              <a:rPr sz="1600" b="1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1600" b="1" spc="-20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1600" b="1" spc="15" dirty="0">
                <a:solidFill>
                  <a:srgbClr val="0000CC"/>
                </a:solidFill>
                <a:latin typeface="Calibri"/>
                <a:cs typeface="Calibri"/>
              </a:rPr>
              <a:t>e 70</a:t>
            </a:r>
            <a:r>
              <a:rPr sz="1600" b="1" spc="5" dirty="0">
                <a:solidFill>
                  <a:srgbClr val="0000CC"/>
                </a:solidFill>
                <a:latin typeface="Calibri"/>
                <a:cs typeface="Calibri"/>
              </a:rPr>
              <a:t>s)</a:t>
            </a:r>
            <a:endParaRPr sz="16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410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15" dirty="0">
                <a:latin typeface="Calibri"/>
                <a:cs typeface="Calibri"/>
              </a:rPr>
              <a:t>Data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flow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technique identifies:</a:t>
            </a:r>
            <a:endParaRPr sz="325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835"/>
              </a:spcBef>
            </a:pPr>
            <a:r>
              <a:rPr sz="3000" spc="-25" dirty="0">
                <a:latin typeface="Arial MT"/>
                <a:cs typeface="Arial MT"/>
              </a:rPr>
              <a:t>–</a:t>
            </a:r>
            <a:r>
              <a:rPr sz="3000" spc="-25" dirty="0">
                <a:latin typeface="Calibri"/>
                <a:cs typeface="Calibri"/>
              </a:rPr>
              <a:t>Different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processing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stations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(functions)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system.</a:t>
            </a:r>
            <a:endParaRPr sz="3000">
              <a:latin typeface="Calibri"/>
              <a:cs typeface="Calibri"/>
            </a:endParaRPr>
          </a:p>
          <a:p>
            <a:pPr marL="516890" marR="884555" indent="-194310">
              <a:lnSpc>
                <a:spcPct val="120100"/>
              </a:lnSpc>
              <a:spcBef>
                <a:spcPts val="1964"/>
              </a:spcBef>
            </a:pPr>
            <a:r>
              <a:rPr sz="3000" spc="-5" dirty="0">
                <a:latin typeface="Arial MT"/>
                <a:cs typeface="Arial MT"/>
              </a:rPr>
              <a:t>–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items </a:t>
            </a:r>
            <a:r>
              <a:rPr sz="3000" spc="-15" dirty="0">
                <a:latin typeface="Calibri"/>
                <a:cs typeface="Calibri"/>
              </a:rPr>
              <a:t>(data) </a:t>
            </a:r>
            <a:r>
              <a:rPr sz="3000" spc="-10" dirty="0">
                <a:latin typeface="Calibri"/>
                <a:cs typeface="Calibri"/>
              </a:rPr>
              <a:t>that flow between processing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stations.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76</a:t>
            </a:fld>
            <a:endParaRPr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4595" y="384505"/>
            <a:ext cx="51898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Data</a:t>
            </a:r>
            <a:r>
              <a:rPr sz="3000" spc="-45" dirty="0">
                <a:solidFill>
                  <a:srgbClr val="0000CC"/>
                </a:solidFill>
              </a:rPr>
              <a:t> </a:t>
            </a:r>
            <a:r>
              <a:rPr sz="3000" spc="-10" dirty="0">
                <a:solidFill>
                  <a:srgbClr val="0000CC"/>
                </a:solidFill>
              </a:rPr>
              <a:t>Flow-Oriented</a:t>
            </a:r>
            <a:r>
              <a:rPr sz="3000" spc="-5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spc="20" dirty="0">
                <a:solidFill>
                  <a:srgbClr val="0000CC"/>
                </a:solidFill>
              </a:rPr>
              <a:t> </a:t>
            </a:r>
            <a:r>
              <a:rPr sz="1600" dirty="0">
                <a:solidFill>
                  <a:srgbClr val="0000CC"/>
                </a:solidFill>
              </a:rPr>
              <a:t>(Late </a:t>
            </a:r>
            <a:r>
              <a:rPr sz="1600" spc="10" dirty="0">
                <a:solidFill>
                  <a:srgbClr val="0000CC"/>
                </a:solidFill>
              </a:rPr>
              <a:t>70s)</a:t>
            </a:r>
            <a:endParaRPr sz="1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77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7911" y="1077214"/>
            <a:ext cx="8097520" cy="294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15" dirty="0">
                <a:latin typeface="Calibri"/>
                <a:cs typeface="Calibri"/>
              </a:rPr>
              <a:t>Data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flow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technique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generic technique: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170"/>
              </a:spcBef>
            </a:pPr>
            <a:r>
              <a:rPr sz="2450" spc="35" dirty="0">
                <a:latin typeface="Arial MT"/>
                <a:cs typeface="Arial MT"/>
              </a:rPr>
              <a:t>–</a:t>
            </a:r>
            <a:r>
              <a:rPr sz="2450" spc="35" dirty="0">
                <a:latin typeface="Calibri"/>
                <a:cs typeface="Calibri"/>
              </a:rPr>
              <a:t>Can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be used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to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model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the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working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any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system.</a:t>
            </a:r>
            <a:endParaRPr sz="245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790575" algn="l"/>
              </a:tabLst>
            </a:pPr>
            <a:r>
              <a:rPr sz="2150" spc="5" dirty="0">
                <a:latin typeface="Calibri"/>
                <a:cs typeface="Calibri"/>
              </a:rPr>
              <a:t>not</a:t>
            </a:r>
            <a:r>
              <a:rPr sz="2150" spc="-5" dirty="0">
                <a:latin typeface="Calibri"/>
                <a:cs typeface="Calibri"/>
              </a:rPr>
              <a:t> just </a:t>
            </a:r>
            <a:r>
              <a:rPr sz="2150" dirty="0">
                <a:latin typeface="Calibri"/>
                <a:cs typeface="Calibri"/>
              </a:rPr>
              <a:t>software</a:t>
            </a:r>
            <a:r>
              <a:rPr sz="2150" spc="-5" dirty="0">
                <a:latin typeface="Calibri"/>
                <a:cs typeface="Calibri"/>
              </a:rPr>
              <a:t> systems.</a:t>
            </a:r>
            <a:endParaRPr sz="2150">
              <a:latin typeface="Calibri"/>
              <a:cs typeface="Calibri"/>
            </a:endParaRPr>
          </a:p>
          <a:p>
            <a:pPr marL="245745" marR="5080" indent="-233679">
              <a:lnSpc>
                <a:spcPct val="119700"/>
              </a:lnSpc>
              <a:spcBef>
                <a:spcPts val="114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major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advantage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data </a:t>
            </a:r>
            <a:r>
              <a:rPr sz="3000" spc="-10" dirty="0">
                <a:latin typeface="Calibri"/>
                <a:cs typeface="Calibri"/>
              </a:rPr>
              <a:t>flow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technique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its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0000CC"/>
                </a:solidFill>
                <a:latin typeface="Calibri"/>
                <a:cs typeface="Calibri"/>
              </a:rPr>
              <a:t>simplicity.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56881" y="2361133"/>
            <a:ext cx="311150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Comic Sans MS"/>
                <a:cs typeface="Comic Sans MS"/>
              </a:rPr>
              <a:t>Car</a:t>
            </a:r>
            <a:endParaRPr sz="135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6538" y="1743455"/>
            <a:ext cx="6595633" cy="17297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17954" y="2454020"/>
            <a:ext cx="525780" cy="41529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71120">
              <a:lnSpc>
                <a:spcPts val="1510"/>
              </a:lnSpc>
              <a:spcBef>
                <a:spcPts val="185"/>
              </a:spcBef>
            </a:pPr>
            <a:r>
              <a:rPr sz="1300" b="1" spc="-5" dirty="0">
                <a:latin typeface="Comic Sans MS"/>
                <a:cs typeface="Comic Sans MS"/>
              </a:rPr>
              <a:t>Fit </a:t>
            </a:r>
            <a:r>
              <a:rPr sz="1300" b="1" dirty="0">
                <a:latin typeface="Comic Sans MS"/>
                <a:cs typeface="Comic Sans MS"/>
              </a:rPr>
              <a:t> </a:t>
            </a:r>
            <a:r>
              <a:rPr sz="1300" b="1" spc="-15" dirty="0">
                <a:latin typeface="Comic Sans MS"/>
                <a:cs typeface="Comic Sans MS"/>
              </a:rPr>
              <a:t>E</a:t>
            </a:r>
            <a:r>
              <a:rPr sz="1300" b="1" spc="-5" dirty="0">
                <a:latin typeface="Comic Sans MS"/>
                <a:cs typeface="Comic Sans MS"/>
              </a:rPr>
              <a:t>n</a:t>
            </a:r>
            <a:r>
              <a:rPr sz="1300" b="1" spc="-10" dirty="0">
                <a:latin typeface="Comic Sans MS"/>
                <a:cs typeface="Comic Sans MS"/>
              </a:rPr>
              <a:t>gine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76569" y="2420492"/>
            <a:ext cx="759460" cy="41529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27329" marR="5080" indent="-215265">
              <a:lnSpc>
                <a:spcPts val="1510"/>
              </a:lnSpc>
              <a:spcBef>
                <a:spcPts val="185"/>
              </a:spcBef>
            </a:pPr>
            <a:r>
              <a:rPr sz="1300" b="1" spc="-5" dirty="0">
                <a:latin typeface="Comic Sans MS"/>
                <a:cs typeface="Comic Sans MS"/>
              </a:rPr>
              <a:t>Paint</a:t>
            </a:r>
            <a:r>
              <a:rPr sz="1300" b="1" spc="-100" dirty="0">
                <a:latin typeface="Comic Sans MS"/>
                <a:cs typeface="Comic Sans MS"/>
              </a:rPr>
              <a:t> </a:t>
            </a:r>
            <a:r>
              <a:rPr sz="1300" b="1" spc="-5" dirty="0">
                <a:latin typeface="Comic Sans MS"/>
                <a:cs typeface="Comic Sans MS"/>
              </a:rPr>
              <a:t>and </a:t>
            </a:r>
            <a:r>
              <a:rPr sz="1300" b="1" spc="-550" dirty="0">
                <a:latin typeface="Comic Sans MS"/>
                <a:cs typeface="Comic Sans MS"/>
              </a:rPr>
              <a:t> </a:t>
            </a:r>
            <a:r>
              <a:rPr sz="1300" b="1" spc="-5" dirty="0">
                <a:latin typeface="Comic Sans MS"/>
                <a:cs typeface="Comic Sans MS"/>
              </a:rPr>
              <a:t>Test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83100" y="2420492"/>
            <a:ext cx="599440" cy="41529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214629">
              <a:lnSpc>
                <a:spcPts val="1510"/>
              </a:lnSpc>
              <a:spcBef>
                <a:spcPts val="185"/>
              </a:spcBef>
            </a:pPr>
            <a:r>
              <a:rPr sz="1300" b="1" spc="-10" dirty="0">
                <a:latin typeface="Comic Sans MS"/>
                <a:cs typeface="Comic Sans MS"/>
              </a:rPr>
              <a:t>Fit </a:t>
            </a:r>
            <a:r>
              <a:rPr sz="1300" b="1" spc="-5" dirty="0">
                <a:latin typeface="Comic Sans MS"/>
                <a:cs typeface="Comic Sans MS"/>
              </a:rPr>
              <a:t> W</a:t>
            </a:r>
            <a:r>
              <a:rPr sz="1300" b="1" spc="-15" dirty="0">
                <a:latin typeface="Comic Sans MS"/>
                <a:cs typeface="Comic Sans MS"/>
              </a:rPr>
              <a:t>h</a:t>
            </a:r>
            <a:r>
              <a:rPr sz="1300" b="1" spc="-10" dirty="0">
                <a:latin typeface="Comic Sans MS"/>
                <a:cs typeface="Comic Sans MS"/>
              </a:rPr>
              <a:t>ee</a:t>
            </a:r>
            <a:r>
              <a:rPr sz="1300" b="1" spc="-5" dirty="0">
                <a:latin typeface="Comic Sans MS"/>
                <a:cs typeface="Comic Sans MS"/>
              </a:rPr>
              <a:t>ls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4911" y="3435222"/>
            <a:ext cx="62801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Comic Sans MS"/>
                <a:cs typeface="Comic Sans MS"/>
              </a:rPr>
              <a:t>Chassis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9810" y="3435222"/>
            <a:ext cx="49403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5" dirty="0">
                <a:latin typeface="Comic Sans MS"/>
                <a:cs typeface="Comic Sans MS"/>
              </a:rPr>
              <a:t>St</a:t>
            </a:r>
            <a:r>
              <a:rPr sz="1350" b="1" spc="-10" dirty="0">
                <a:latin typeface="Comic Sans MS"/>
                <a:cs typeface="Comic Sans MS"/>
              </a:rPr>
              <a:t>o</a:t>
            </a:r>
            <a:r>
              <a:rPr sz="1350" b="1" spc="-5" dirty="0">
                <a:latin typeface="Comic Sans MS"/>
                <a:cs typeface="Comic Sans MS"/>
              </a:rPr>
              <a:t>re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83738" y="1385442"/>
            <a:ext cx="41402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5" dirty="0">
                <a:latin typeface="Comic Sans MS"/>
                <a:cs typeface="Comic Sans MS"/>
              </a:rPr>
              <a:t>D</a:t>
            </a:r>
            <a:r>
              <a:rPr sz="1350" b="1" dirty="0">
                <a:latin typeface="Comic Sans MS"/>
                <a:cs typeface="Comic Sans MS"/>
              </a:rPr>
              <a:t>o</a:t>
            </a:r>
            <a:r>
              <a:rPr sz="1350" b="1" spc="-10" dirty="0">
                <a:latin typeface="Comic Sans MS"/>
                <a:cs typeface="Comic Sans MS"/>
              </a:rPr>
              <a:t>o</a:t>
            </a:r>
            <a:r>
              <a:rPr sz="1350" b="1" dirty="0">
                <a:latin typeface="Comic Sans MS"/>
                <a:cs typeface="Comic Sans MS"/>
              </a:rPr>
              <a:t>r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97593" y="1385442"/>
            <a:ext cx="49530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5" dirty="0">
                <a:latin typeface="Comic Sans MS"/>
                <a:cs typeface="Comic Sans MS"/>
              </a:rPr>
              <a:t>Store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2298" y="3435222"/>
            <a:ext cx="116268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81355" algn="l"/>
              </a:tabLst>
            </a:pPr>
            <a:r>
              <a:rPr sz="1350" b="1" spc="-5" dirty="0">
                <a:latin typeface="Comic Sans MS"/>
                <a:cs typeface="Comic Sans MS"/>
              </a:rPr>
              <a:t>W</a:t>
            </a:r>
            <a:r>
              <a:rPr sz="1350" b="1" dirty="0">
                <a:latin typeface="Comic Sans MS"/>
                <a:cs typeface="Comic Sans MS"/>
              </a:rPr>
              <a:t>h</a:t>
            </a:r>
            <a:r>
              <a:rPr sz="1350" b="1" spc="-5" dirty="0">
                <a:latin typeface="Comic Sans MS"/>
                <a:cs typeface="Comic Sans MS"/>
              </a:rPr>
              <a:t>ee</a:t>
            </a:r>
            <a:r>
              <a:rPr sz="1350" b="1" dirty="0">
                <a:latin typeface="Comic Sans MS"/>
                <a:cs typeface="Comic Sans MS"/>
              </a:rPr>
              <a:t>l	</a:t>
            </a:r>
            <a:r>
              <a:rPr sz="1350" b="1" spc="-5" dirty="0">
                <a:latin typeface="Comic Sans MS"/>
                <a:cs typeface="Comic Sans MS"/>
              </a:rPr>
              <a:t>S</a:t>
            </a:r>
            <a:r>
              <a:rPr sz="1350" b="1" spc="-10" dirty="0">
                <a:latin typeface="Comic Sans MS"/>
                <a:cs typeface="Comic Sans MS"/>
              </a:rPr>
              <a:t>to</a:t>
            </a:r>
            <a:r>
              <a:rPr sz="1350" b="1" spc="-5" dirty="0">
                <a:latin typeface="Comic Sans MS"/>
                <a:cs typeface="Comic Sans MS"/>
              </a:rPr>
              <a:t>re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4963" y="1385442"/>
            <a:ext cx="5505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5" dirty="0">
                <a:latin typeface="Comic Sans MS"/>
                <a:cs typeface="Comic Sans MS"/>
              </a:rPr>
              <a:t>E</a:t>
            </a:r>
            <a:r>
              <a:rPr sz="1350" b="1" spc="-5" dirty="0">
                <a:latin typeface="Comic Sans MS"/>
                <a:cs typeface="Comic Sans MS"/>
              </a:rPr>
              <a:t>ng</a:t>
            </a:r>
            <a:r>
              <a:rPr sz="1350" b="1" spc="5" dirty="0">
                <a:latin typeface="Comic Sans MS"/>
                <a:cs typeface="Comic Sans MS"/>
              </a:rPr>
              <a:t>i</a:t>
            </a:r>
            <a:r>
              <a:rPr sz="1350" b="1" spc="-5" dirty="0">
                <a:latin typeface="Comic Sans MS"/>
                <a:cs typeface="Comic Sans MS"/>
              </a:rPr>
              <a:t>ne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32605" y="1385442"/>
            <a:ext cx="49530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5" dirty="0">
                <a:latin typeface="Comic Sans MS"/>
                <a:cs typeface="Comic Sans MS"/>
              </a:rPr>
              <a:t>Store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32382" y="3757421"/>
            <a:ext cx="1343025" cy="3175"/>
          </a:xfrm>
          <a:custGeom>
            <a:avLst/>
            <a:gdLst/>
            <a:ahLst/>
            <a:cxnLst/>
            <a:rect l="l" t="t" r="r" b="b"/>
            <a:pathLst>
              <a:path w="1343025" h="3175">
                <a:moveTo>
                  <a:pt x="0" y="0"/>
                </a:moveTo>
                <a:lnTo>
                  <a:pt x="1342644" y="304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72561" y="1379982"/>
            <a:ext cx="1344295" cy="1905"/>
          </a:xfrm>
          <a:custGeom>
            <a:avLst/>
            <a:gdLst/>
            <a:ahLst/>
            <a:cxnLst/>
            <a:rect l="l" t="t" r="r" b="b"/>
            <a:pathLst>
              <a:path w="1344295" h="1905">
                <a:moveTo>
                  <a:pt x="0" y="0"/>
                </a:moveTo>
                <a:lnTo>
                  <a:pt x="1344167" y="1523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56538" y="1379982"/>
            <a:ext cx="1344295" cy="1905"/>
          </a:xfrm>
          <a:custGeom>
            <a:avLst/>
            <a:gdLst/>
            <a:ahLst/>
            <a:cxnLst/>
            <a:rect l="l" t="t" r="r" b="b"/>
            <a:pathLst>
              <a:path w="1344295" h="1905">
                <a:moveTo>
                  <a:pt x="0" y="0"/>
                </a:moveTo>
                <a:lnTo>
                  <a:pt x="1344168" y="1523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89782" y="3757421"/>
            <a:ext cx="1346200" cy="3175"/>
          </a:xfrm>
          <a:custGeom>
            <a:avLst/>
            <a:gdLst/>
            <a:ahLst/>
            <a:cxnLst/>
            <a:rect l="l" t="t" r="r" b="b"/>
            <a:pathLst>
              <a:path w="1346200" h="3175">
                <a:moveTo>
                  <a:pt x="0" y="0"/>
                </a:moveTo>
                <a:lnTo>
                  <a:pt x="1345691" y="304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90569" y="2138552"/>
            <a:ext cx="679450" cy="44640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040"/>
              </a:lnSpc>
              <a:spcBef>
                <a:spcPts val="285"/>
              </a:spcBef>
            </a:pPr>
            <a:r>
              <a:rPr sz="1000" b="1" dirty="0">
                <a:latin typeface="Comic Sans MS"/>
                <a:cs typeface="Comic Sans MS"/>
              </a:rPr>
              <a:t>Partly </a:t>
            </a:r>
            <a:r>
              <a:rPr sz="1000" b="1" spc="5" dirty="0">
                <a:latin typeface="Comic Sans MS"/>
                <a:cs typeface="Comic Sans MS"/>
              </a:rPr>
              <a:t> A</a:t>
            </a:r>
            <a:r>
              <a:rPr sz="1000" b="1" spc="-5" dirty="0">
                <a:latin typeface="Comic Sans MS"/>
                <a:cs typeface="Comic Sans MS"/>
              </a:rPr>
              <a:t>s</a:t>
            </a:r>
            <a:r>
              <a:rPr sz="1000" b="1" dirty="0">
                <a:latin typeface="Comic Sans MS"/>
                <a:cs typeface="Comic Sans MS"/>
              </a:rPr>
              <a:t>s</a:t>
            </a:r>
            <a:r>
              <a:rPr sz="1000" b="1" spc="15" dirty="0">
                <a:latin typeface="Comic Sans MS"/>
                <a:cs typeface="Comic Sans MS"/>
              </a:rPr>
              <a:t>em</a:t>
            </a:r>
            <a:r>
              <a:rPr sz="1000" b="1" dirty="0">
                <a:latin typeface="Comic Sans MS"/>
                <a:cs typeface="Comic Sans MS"/>
              </a:rPr>
              <a:t>bl</a:t>
            </a:r>
            <a:r>
              <a:rPr sz="1000" b="1" spc="15" dirty="0">
                <a:latin typeface="Comic Sans MS"/>
                <a:cs typeface="Comic Sans MS"/>
              </a:rPr>
              <a:t>e</a:t>
            </a:r>
            <a:r>
              <a:rPr sz="1000" b="1" spc="5" dirty="0">
                <a:latin typeface="Comic Sans MS"/>
                <a:cs typeface="Comic Sans MS"/>
              </a:rPr>
              <a:t>d  </a:t>
            </a:r>
            <a:r>
              <a:rPr sz="1000" b="1" spc="10" dirty="0">
                <a:latin typeface="Comic Sans MS"/>
                <a:cs typeface="Comic Sans MS"/>
              </a:rPr>
              <a:t>Car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27211" y="4830876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87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16778" y="2677414"/>
            <a:ext cx="679450" cy="313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120"/>
              </a:lnSpc>
              <a:spcBef>
                <a:spcPts val="120"/>
              </a:spcBef>
            </a:pPr>
            <a:r>
              <a:rPr sz="1000" b="1" spc="5" dirty="0">
                <a:latin typeface="Comic Sans MS"/>
                <a:cs typeface="Comic Sans MS"/>
              </a:rPr>
              <a:t>Assembled</a:t>
            </a:r>
            <a:endParaRPr sz="1000">
              <a:latin typeface="Comic Sans MS"/>
              <a:cs typeface="Comic Sans MS"/>
            </a:endParaRPr>
          </a:p>
          <a:p>
            <a:pPr marL="12700">
              <a:lnSpc>
                <a:spcPts val="1120"/>
              </a:lnSpc>
            </a:pPr>
            <a:r>
              <a:rPr sz="1000" b="1" spc="10" dirty="0">
                <a:latin typeface="Comic Sans MS"/>
                <a:cs typeface="Comic Sans MS"/>
              </a:rPr>
              <a:t>Car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84501" y="2203450"/>
            <a:ext cx="1101090" cy="68326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311150">
              <a:lnSpc>
                <a:spcPts val="1040"/>
              </a:lnSpc>
              <a:spcBef>
                <a:spcPts val="285"/>
              </a:spcBef>
            </a:pPr>
            <a:r>
              <a:rPr sz="1000" b="1" spc="5" dirty="0">
                <a:latin typeface="Comic Sans MS"/>
                <a:cs typeface="Comic Sans MS"/>
              </a:rPr>
              <a:t>Chassis</a:t>
            </a:r>
            <a:r>
              <a:rPr sz="1000" b="1" spc="-65" dirty="0">
                <a:latin typeface="Comic Sans MS"/>
                <a:cs typeface="Comic Sans MS"/>
              </a:rPr>
              <a:t> </a:t>
            </a:r>
            <a:r>
              <a:rPr sz="1000" b="1" spc="5" dirty="0">
                <a:latin typeface="Comic Sans MS"/>
                <a:cs typeface="Comic Sans MS"/>
              </a:rPr>
              <a:t>with </a:t>
            </a:r>
            <a:r>
              <a:rPr sz="1000" b="1" spc="-420" dirty="0">
                <a:latin typeface="Comic Sans MS"/>
                <a:cs typeface="Comic Sans MS"/>
              </a:rPr>
              <a:t> </a:t>
            </a:r>
            <a:r>
              <a:rPr sz="1000" b="1" spc="5" dirty="0">
                <a:latin typeface="Comic Sans MS"/>
                <a:cs typeface="Comic Sans MS"/>
              </a:rPr>
              <a:t>Engine</a:t>
            </a:r>
            <a:endParaRPr sz="1000">
              <a:latin typeface="Comic Sans MS"/>
              <a:cs typeface="Comic Sans MS"/>
            </a:endParaRPr>
          </a:p>
          <a:p>
            <a:pPr marL="708025">
              <a:lnSpc>
                <a:spcPts val="1375"/>
              </a:lnSpc>
            </a:pPr>
            <a:r>
              <a:rPr sz="1300" b="1" spc="-5" dirty="0">
                <a:latin typeface="Comic Sans MS"/>
                <a:cs typeface="Comic Sans MS"/>
              </a:rPr>
              <a:t>Fit</a:t>
            </a:r>
            <a:endParaRPr sz="1300">
              <a:latin typeface="Comic Sans MS"/>
              <a:cs typeface="Comic Sans MS"/>
            </a:endParaRPr>
          </a:p>
          <a:p>
            <a:pPr marL="636270">
              <a:lnSpc>
                <a:spcPts val="1535"/>
              </a:lnSpc>
            </a:pPr>
            <a:r>
              <a:rPr sz="1300" b="1" spc="-5" dirty="0">
                <a:latin typeface="Comic Sans MS"/>
                <a:cs typeface="Comic Sans MS"/>
              </a:rPr>
              <a:t>Doo</a:t>
            </a:r>
            <a:r>
              <a:rPr sz="1300" b="1" spc="-10" dirty="0">
                <a:latin typeface="Comic Sans MS"/>
                <a:cs typeface="Comic Sans MS"/>
              </a:rPr>
              <a:t>rs</a:t>
            </a:r>
            <a:endParaRPr sz="13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467738" y="223215"/>
            <a:ext cx="6375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Data</a:t>
            </a:r>
            <a:r>
              <a:rPr sz="3000" spc="-4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Flow</a:t>
            </a:r>
            <a:r>
              <a:rPr sz="3000" spc="-1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Model</a:t>
            </a:r>
            <a:r>
              <a:rPr sz="3000" spc="-20" dirty="0">
                <a:solidFill>
                  <a:srgbClr val="0000CC"/>
                </a:solidFill>
              </a:rPr>
              <a:t> </a:t>
            </a:r>
            <a:r>
              <a:rPr sz="3000" spc="-10" dirty="0">
                <a:solidFill>
                  <a:srgbClr val="0000CC"/>
                </a:solidFill>
              </a:rPr>
              <a:t>of </a:t>
            </a:r>
            <a:r>
              <a:rPr sz="3000" dirty="0">
                <a:solidFill>
                  <a:srgbClr val="0000CC"/>
                </a:solidFill>
              </a:rPr>
              <a:t>a</a:t>
            </a:r>
            <a:r>
              <a:rPr sz="3000" spc="-10" dirty="0">
                <a:solidFill>
                  <a:srgbClr val="0000CC"/>
                </a:solidFill>
              </a:rPr>
              <a:t> Car </a:t>
            </a:r>
            <a:r>
              <a:rPr sz="3000" spc="-5" dirty="0">
                <a:solidFill>
                  <a:srgbClr val="0000CC"/>
                </a:solidFill>
              </a:rPr>
              <a:t>Assembly</a:t>
            </a:r>
            <a:r>
              <a:rPr sz="3000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Unit</a:t>
            </a:r>
            <a:endParaRPr sz="30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7748" y="383285"/>
            <a:ext cx="51111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00CC"/>
                </a:solidFill>
              </a:rPr>
              <a:t>Object-Oriented</a:t>
            </a:r>
            <a:r>
              <a:rPr sz="3600" spc="-20" dirty="0">
                <a:solidFill>
                  <a:srgbClr val="0000CC"/>
                </a:solidFill>
              </a:rPr>
              <a:t> </a:t>
            </a:r>
            <a:r>
              <a:rPr sz="3600" spc="-5" dirty="0">
                <a:solidFill>
                  <a:srgbClr val="0000CC"/>
                </a:solidFill>
              </a:rPr>
              <a:t>Design</a:t>
            </a:r>
            <a:r>
              <a:rPr sz="3600" spc="35" dirty="0">
                <a:solidFill>
                  <a:srgbClr val="0000CC"/>
                </a:solidFill>
              </a:rPr>
              <a:t> </a:t>
            </a:r>
            <a:r>
              <a:rPr sz="2000" dirty="0">
                <a:solidFill>
                  <a:srgbClr val="0000CC"/>
                </a:solidFill>
              </a:rPr>
              <a:t>(80s)</a:t>
            </a:r>
            <a:endParaRPr sz="2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79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5511" y="1235201"/>
            <a:ext cx="7919084" cy="25279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5" dirty="0">
                <a:latin typeface="Calibri"/>
                <a:cs typeface="Calibri"/>
              </a:rPr>
              <a:t>Object-oriented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technique:</a:t>
            </a:r>
            <a:endParaRPr sz="32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735"/>
              </a:spcBef>
            </a:pPr>
            <a:r>
              <a:rPr sz="2700" spc="15" dirty="0">
                <a:latin typeface="Arial MT"/>
                <a:cs typeface="Arial MT"/>
              </a:rPr>
              <a:t>–</a:t>
            </a:r>
            <a:r>
              <a:rPr sz="2700" spc="15" dirty="0">
                <a:latin typeface="Calibri"/>
                <a:cs typeface="Calibri"/>
              </a:rPr>
              <a:t>An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intuitively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appealing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design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approach:</a:t>
            </a:r>
            <a:endParaRPr sz="2700">
              <a:latin typeface="Calibri"/>
              <a:cs typeface="Calibri"/>
            </a:endParaRPr>
          </a:p>
          <a:p>
            <a:pPr marL="516890" marR="5080" indent="-193675">
              <a:lnSpc>
                <a:spcPct val="126000"/>
              </a:lnSpc>
              <a:spcBef>
                <a:spcPts val="1645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Natural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objects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(such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employees,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pay-roll-register,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etc.)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occurring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problem</a:t>
            </a:r>
            <a:r>
              <a:rPr sz="2700" spc="-5" dirty="0">
                <a:latin typeface="Calibri"/>
                <a:cs typeface="Calibri"/>
              </a:rPr>
              <a:t> are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first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identified.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2238" y="299084"/>
            <a:ext cx="43821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CC"/>
                </a:solidFill>
              </a:rPr>
              <a:t>Object-Oriented</a:t>
            </a:r>
            <a:r>
              <a:rPr sz="3000" spc="-5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Design</a:t>
            </a:r>
            <a:r>
              <a:rPr sz="3000" dirty="0">
                <a:solidFill>
                  <a:srgbClr val="0000CC"/>
                </a:solidFill>
              </a:rPr>
              <a:t> </a:t>
            </a:r>
            <a:r>
              <a:rPr sz="2150" spc="5" dirty="0">
                <a:solidFill>
                  <a:srgbClr val="0000CC"/>
                </a:solidFill>
              </a:rPr>
              <a:t>(80s)</a:t>
            </a:r>
            <a:endParaRPr sz="21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80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5511" y="831291"/>
            <a:ext cx="7780655" cy="3398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10" dirty="0">
                <a:latin typeface="Calibri"/>
                <a:cs typeface="Calibri"/>
              </a:rPr>
              <a:t>Relationships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among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objects:</a:t>
            </a:r>
            <a:endParaRPr sz="3250">
              <a:latin typeface="Calibri"/>
              <a:cs typeface="Calibri"/>
            </a:endParaRPr>
          </a:p>
          <a:p>
            <a:pPr marL="516890" marR="5080" indent="-193675">
              <a:lnSpc>
                <a:spcPct val="126000"/>
              </a:lnSpc>
              <a:spcBef>
                <a:spcPts val="1895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Such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composition,</a:t>
            </a:r>
            <a:r>
              <a:rPr sz="2700" spc="-10" dirty="0">
                <a:latin typeface="Calibri"/>
                <a:cs typeface="Calibri"/>
              </a:rPr>
              <a:t> reference,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inheritance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are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determined.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buFont typeface="Arial MT"/>
              <a:buChar char="•"/>
              <a:tabLst>
                <a:tab pos="246379" algn="l"/>
              </a:tabLst>
            </a:pPr>
            <a:r>
              <a:rPr sz="3250" spc="-5" dirty="0">
                <a:latin typeface="Calibri"/>
                <a:cs typeface="Calibri"/>
              </a:rPr>
              <a:t>Each</a:t>
            </a:r>
            <a:r>
              <a:rPr sz="3250" spc="-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object </a:t>
            </a:r>
            <a:r>
              <a:rPr sz="3250" spc="-5" dirty="0">
                <a:latin typeface="Calibri"/>
                <a:cs typeface="Calibri"/>
              </a:rPr>
              <a:t>essentially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acts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as:</a:t>
            </a:r>
            <a:endParaRPr sz="32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735"/>
              </a:spcBef>
            </a:pPr>
            <a:r>
              <a:rPr sz="2700" spc="15" dirty="0">
                <a:latin typeface="Arial MT"/>
                <a:cs typeface="Arial MT"/>
              </a:rPr>
              <a:t>–</a:t>
            </a:r>
            <a:r>
              <a:rPr sz="2700" spc="15" dirty="0">
                <a:latin typeface="Calibri"/>
                <a:cs typeface="Calibri"/>
              </a:rPr>
              <a:t>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data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hiding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(or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data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abstraction)</a:t>
            </a:r>
            <a:r>
              <a:rPr sz="2700" spc="-25" dirty="0">
                <a:latin typeface="Calibri"/>
                <a:cs typeface="Calibri"/>
              </a:rPr>
              <a:t> entity.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0" y="1200911"/>
            <a:ext cx="3810000" cy="927100"/>
          </a:xfrm>
          <a:custGeom>
            <a:avLst/>
            <a:gdLst/>
            <a:ahLst/>
            <a:cxnLst/>
            <a:rect l="l" t="t" r="r" b="b"/>
            <a:pathLst>
              <a:path w="3810000" h="927100">
                <a:moveTo>
                  <a:pt x="3810000" y="0"/>
                </a:moveTo>
                <a:lnTo>
                  <a:pt x="0" y="0"/>
                </a:lnTo>
                <a:lnTo>
                  <a:pt x="0" y="926592"/>
                </a:lnTo>
                <a:lnTo>
                  <a:pt x="3810000" y="926592"/>
                </a:lnTo>
                <a:lnTo>
                  <a:pt x="38100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858383" y="1136650"/>
            <a:ext cx="2761615" cy="97281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535305" marR="5080" indent="-523240">
              <a:lnSpc>
                <a:spcPts val="3610"/>
              </a:lnSpc>
              <a:spcBef>
                <a:spcPts val="415"/>
              </a:spcBef>
            </a:pP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Objec</a:t>
            </a:r>
            <a:r>
              <a:rPr sz="3200" b="1" spc="5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-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Orie</a:t>
            </a:r>
            <a:r>
              <a:rPr sz="3200" b="1" spc="-35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3200" b="1" spc="-45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ed  Design</a:t>
            </a:r>
            <a:r>
              <a:rPr sz="32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00CC"/>
                </a:solidFill>
                <a:latin typeface="Calibri"/>
                <a:cs typeface="Calibri"/>
              </a:rPr>
              <a:t>(80s)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81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53111" y="458469"/>
            <a:ext cx="763397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10" dirty="0">
                <a:latin typeface="Calibri"/>
                <a:cs typeface="Calibri"/>
              </a:rPr>
              <a:t>Object-Oriented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Techniques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have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gained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wide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acceptance: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007" y="1151585"/>
            <a:ext cx="1333500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150" spc="-2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Sim</a:t>
            </a: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li</a:t>
            </a: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city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4007" y="1781682"/>
            <a:ext cx="3478529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150" spc="-28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Inc</a:t>
            </a:r>
            <a:r>
              <a:rPr sz="2150" b="1" spc="-25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ea</a:t>
            </a: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2150" b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eus</a:t>
            </a: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ss</a:t>
            </a:r>
            <a:r>
              <a:rPr sz="2150" b="1" spc="-1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b</a:t>
            </a: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sz="2150" b="1" spc="-1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ties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007" y="2412873"/>
            <a:ext cx="4125595" cy="16173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6375" indent="-194310">
              <a:lnSpc>
                <a:spcPct val="100000"/>
              </a:lnSpc>
              <a:spcBef>
                <a:spcPts val="120"/>
              </a:spcBef>
              <a:buFont typeface="Arial MT"/>
              <a:buChar char="–"/>
              <a:tabLst>
                <a:tab pos="207010" algn="l"/>
              </a:tabLst>
            </a:pP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Lower</a:t>
            </a: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development</a:t>
            </a:r>
            <a:r>
              <a:rPr sz="2150" b="1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0000FF"/>
                </a:solidFill>
                <a:latin typeface="Calibri"/>
                <a:cs typeface="Calibri"/>
              </a:rPr>
              <a:t>time</a:t>
            </a:r>
            <a:r>
              <a:rPr sz="215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 cost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00FF"/>
              </a:buClr>
              <a:buFont typeface="Arial MT"/>
              <a:buChar char="–"/>
            </a:pPr>
            <a:endParaRPr sz="1950">
              <a:latin typeface="Calibri"/>
              <a:cs typeface="Calibri"/>
            </a:endParaRPr>
          </a:p>
          <a:p>
            <a:pPr marL="206375" indent="-19431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207010" algn="l"/>
              </a:tabLst>
            </a:pP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More</a:t>
            </a:r>
            <a:r>
              <a:rPr sz="215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0000FF"/>
                </a:solidFill>
                <a:latin typeface="Calibri"/>
                <a:cs typeface="Calibri"/>
              </a:rPr>
              <a:t>robust</a:t>
            </a:r>
            <a:r>
              <a:rPr sz="215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00FF"/>
              </a:buClr>
              <a:buFont typeface="Arial MT"/>
              <a:buChar char="–"/>
            </a:pPr>
            <a:endParaRPr sz="1900">
              <a:latin typeface="Calibri"/>
              <a:cs typeface="Calibri"/>
            </a:endParaRPr>
          </a:p>
          <a:p>
            <a:pPr marL="206375" indent="-194310">
              <a:lnSpc>
                <a:spcPct val="100000"/>
              </a:lnSpc>
              <a:buFont typeface="Arial MT"/>
              <a:buChar char="–"/>
              <a:tabLst>
                <a:tab pos="207010" algn="l"/>
              </a:tabLst>
            </a:pPr>
            <a:r>
              <a:rPr sz="2150" b="1" spc="-10" dirty="0">
                <a:solidFill>
                  <a:srgbClr val="0000FF"/>
                </a:solidFill>
                <a:latin typeface="Calibri"/>
                <a:cs typeface="Calibri"/>
              </a:rPr>
              <a:t>Easy</a:t>
            </a:r>
            <a:r>
              <a:rPr sz="215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00FF"/>
                </a:solidFill>
                <a:latin typeface="Calibri"/>
                <a:cs typeface="Calibri"/>
              </a:rPr>
              <a:t>maintenance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1764" y="2269235"/>
            <a:ext cx="3048000" cy="121793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66370" rIns="0" bIns="0" rtlCol="0">
            <a:spAutoFit/>
          </a:bodyPr>
          <a:lstStyle/>
          <a:p>
            <a:pPr marL="69850" marR="59055" indent="504190">
              <a:lnSpc>
                <a:spcPts val="3370"/>
              </a:lnSpc>
              <a:spcBef>
                <a:spcPts val="1310"/>
              </a:spcBef>
            </a:pP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Evolution 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of </a:t>
            </a:r>
            <a:r>
              <a:rPr sz="300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Design</a:t>
            </a:r>
            <a:r>
              <a:rPr sz="3000" b="1" spc="-6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30" dirty="0">
                <a:solidFill>
                  <a:srgbClr val="0000CC"/>
                </a:solidFill>
                <a:latin typeface="Calibri"/>
                <a:cs typeface="Calibri"/>
              </a:rPr>
              <a:t>Techniques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56047" y="1221095"/>
            <a:ext cx="1562735" cy="26606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sz="1500" b="1" dirty="0">
                <a:latin typeface="Comic Sans MS"/>
                <a:cs typeface="Comic Sans MS"/>
              </a:rPr>
              <a:t>O</a:t>
            </a:r>
            <a:r>
              <a:rPr sz="1500" b="1" spc="-5" dirty="0">
                <a:latin typeface="Comic Sans MS"/>
                <a:cs typeface="Comic Sans MS"/>
              </a:rPr>
              <a:t>bject-Oriented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5857" y="3971416"/>
            <a:ext cx="1184910" cy="387350"/>
            <a:chOff x="1395857" y="3971416"/>
            <a:chExt cx="1184910" cy="387350"/>
          </a:xfrm>
        </p:grpSpPr>
        <p:sp>
          <p:nvSpPr>
            <p:cNvPr id="5" name="object 5"/>
            <p:cNvSpPr/>
            <p:nvPr/>
          </p:nvSpPr>
          <p:spPr>
            <a:xfrm>
              <a:off x="1410462" y="3986021"/>
              <a:ext cx="1155700" cy="358140"/>
            </a:xfrm>
            <a:custGeom>
              <a:avLst/>
              <a:gdLst/>
              <a:ahLst/>
              <a:cxnLst/>
              <a:rect l="l" t="t" r="r" b="b"/>
              <a:pathLst>
                <a:path w="1155700" h="358139">
                  <a:moveTo>
                    <a:pt x="1155191" y="0"/>
                  </a:moveTo>
                  <a:lnTo>
                    <a:pt x="0" y="0"/>
                  </a:lnTo>
                  <a:lnTo>
                    <a:pt x="0" y="358139"/>
                  </a:lnTo>
                  <a:lnTo>
                    <a:pt x="1155191" y="358139"/>
                  </a:lnTo>
                  <a:lnTo>
                    <a:pt x="1155191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10462" y="3986021"/>
              <a:ext cx="1155700" cy="358140"/>
            </a:xfrm>
            <a:custGeom>
              <a:avLst/>
              <a:gdLst/>
              <a:ahLst/>
              <a:cxnLst/>
              <a:rect l="l" t="t" r="r" b="b"/>
              <a:pathLst>
                <a:path w="1155700" h="358139">
                  <a:moveTo>
                    <a:pt x="0" y="358139"/>
                  </a:moveTo>
                  <a:lnTo>
                    <a:pt x="1155191" y="358139"/>
                  </a:lnTo>
                  <a:lnTo>
                    <a:pt x="1155191" y="0"/>
                  </a:lnTo>
                  <a:lnTo>
                    <a:pt x="0" y="0"/>
                  </a:lnTo>
                  <a:lnTo>
                    <a:pt x="0" y="358139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0461" y="3986021"/>
            <a:ext cx="1155700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0"/>
              </a:lnSpc>
            </a:pPr>
            <a:r>
              <a:rPr sz="1500" b="1" spc="-5" dirty="0">
                <a:latin typeface="Comic Sans MS"/>
                <a:cs typeface="Comic Sans MS"/>
              </a:rPr>
              <a:t>Ad</a:t>
            </a:r>
            <a:r>
              <a:rPr sz="1500" b="1" spc="-5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hoc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75048" y="1750948"/>
            <a:ext cx="1734820" cy="386080"/>
            <a:chOff x="4075048" y="1750948"/>
            <a:chExt cx="1734820" cy="386080"/>
          </a:xfrm>
        </p:grpSpPr>
        <p:sp>
          <p:nvSpPr>
            <p:cNvPr id="9" name="object 9"/>
            <p:cNvSpPr/>
            <p:nvPr/>
          </p:nvSpPr>
          <p:spPr>
            <a:xfrm>
              <a:off x="4089653" y="1765553"/>
              <a:ext cx="1705610" cy="356870"/>
            </a:xfrm>
            <a:custGeom>
              <a:avLst/>
              <a:gdLst/>
              <a:ahLst/>
              <a:cxnLst/>
              <a:rect l="l" t="t" r="r" b="b"/>
              <a:pathLst>
                <a:path w="1705610" h="356869">
                  <a:moveTo>
                    <a:pt x="1705355" y="0"/>
                  </a:moveTo>
                  <a:lnTo>
                    <a:pt x="0" y="0"/>
                  </a:lnTo>
                  <a:lnTo>
                    <a:pt x="0" y="356616"/>
                  </a:lnTo>
                  <a:lnTo>
                    <a:pt x="1705355" y="356616"/>
                  </a:lnTo>
                  <a:lnTo>
                    <a:pt x="1705355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89653" y="1765553"/>
              <a:ext cx="1705610" cy="356870"/>
            </a:xfrm>
            <a:custGeom>
              <a:avLst/>
              <a:gdLst/>
              <a:ahLst/>
              <a:cxnLst/>
              <a:rect l="l" t="t" r="r" b="b"/>
              <a:pathLst>
                <a:path w="1705610" h="356869">
                  <a:moveTo>
                    <a:pt x="0" y="356616"/>
                  </a:moveTo>
                  <a:lnTo>
                    <a:pt x="1705355" y="356616"/>
                  </a:lnTo>
                  <a:lnTo>
                    <a:pt x="1705355" y="0"/>
                  </a:lnTo>
                  <a:lnTo>
                    <a:pt x="0" y="0"/>
                  </a:lnTo>
                  <a:lnTo>
                    <a:pt x="0" y="356616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90542" y="1743582"/>
            <a:ext cx="15728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Comic Sans MS"/>
                <a:cs typeface="Comic Sans MS"/>
              </a:rPr>
              <a:t>Data</a:t>
            </a:r>
            <a:r>
              <a:rPr sz="1500" b="1" spc="-50" dirty="0">
                <a:latin typeface="Comic Sans MS"/>
                <a:cs typeface="Comic Sans MS"/>
              </a:rPr>
              <a:t> </a:t>
            </a:r>
            <a:r>
              <a:rPr sz="1500" b="1" spc="-5" dirty="0">
                <a:latin typeface="Comic Sans MS"/>
                <a:cs typeface="Comic Sans MS"/>
              </a:rPr>
              <a:t>flow-based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96413" y="2267585"/>
            <a:ext cx="1733550" cy="646430"/>
            <a:chOff x="2796413" y="2267585"/>
            <a:chExt cx="1733550" cy="646430"/>
          </a:xfrm>
        </p:grpSpPr>
        <p:sp>
          <p:nvSpPr>
            <p:cNvPr id="13" name="object 13"/>
            <p:cNvSpPr/>
            <p:nvPr/>
          </p:nvSpPr>
          <p:spPr>
            <a:xfrm>
              <a:off x="2811018" y="2282190"/>
              <a:ext cx="1704339" cy="617220"/>
            </a:xfrm>
            <a:custGeom>
              <a:avLst/>
              <a:gdLst/>
              <a:ahLst/>
              <a:cxnLst/>
              <a:rect l="l" t="t" r="r" b="b"/>
              <a:pathLst>
                <a:path w="1704339" h="617219">
                  <a:moveTo>
                    <a:pt x="1703832" y="0"/>
                  </a:moveTo>
                  <a:lnTo>
                    <a:pt x="0" y="0"/>
                  </a:lnTo>
                  <a:lnTo>
                    <a:pt x="0" y="617219"/>
                  </a:lnTo>
                  <a:lnTo>
                    <a:pt x="1703832" y="617219"/>
                  </a:lnTo>
                  <a:lnTo>
                    <a:pt x="1703832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11018" y="2282190"/>
              <a:ext cx="1704339" cy="617220"/>
            </a:xfrm>
            <a:custGeom>
              <a:avLst/>
              <a:gdLst/>
              <a:ahLst/>
              <a:cxnLst/>
              <a:rect l="l" t="t" r="r" b="b"/>
              <a:pathLst>
                <a:path w="1704339" h="617219">
                  <a:moveTo>
                    <a:pt x="0" y="617219"/>
                  </a:moveTo>
                  <a:lnTo>
                    <a:pt x="1703832" y="617219"/>
                  </a:lnTo>
                  <a:lnTo>
                    <a:pt x="1703832" y="0"/>
                  </a:lnTo>
                  <a:lnTo>
                    <a:pt x="0" y="0"/>
                  </a:lnTo>
                  <a:lnTo>
                    <a:pt x="0" y="617219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11526" y="2260473"/>
            <a:ext cx="1521460" cy="44767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 marR="5080">
              <a:lnSpc>
                <a:spcPts val="1520"/>
              </a:lnSpc>
              <a:spcBef>
                <a:spcPts val="384"/>
              </a:spcBef>
            </a:pPr>
            <a:r>
              <a:rPr sz="1500" b="1" spc="-5" dirty="0">
                <a:latin typeface="Comic Sans MS"/>
                <a:cs typeface="Comic Sans MS"/>
              </a:rPr>
              <a:t>Data</a:t>
            </a:r>
            <a:r>
              <a:rPr sz="1500" b="1" spc="-9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structure- </a:t>
            </a:r>
            <a:r>
              <a:rPr sz="1500" b="1" spc="-635" dirty="0">
                <a:latin typeface="Comic Sans MS"/>
                <a:cs typeface="Comic Sans MS"/>
              </a:rPr>
              <a:t> </a:t>
            </a:r>
            <a:r>
              <a:rPr sz="1500" b="1" spc="-5" dirty="0">
                <a:latin typeface="Comic Sans MS"/>
                <a:cs typeface="Comic Sans MS"/>
              </a:rPr>
              <a:t>based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066417" y="3093592"/>
            <a:ext cx="1672589" cy="648335"/>
            <a:chOff x="2066417" y="3093592"/>
            <a:chExt cx="1672589" cy="648335"/>
          </a:xfrm>
        </p:grpSpPr>
        <p:sp>
          <p:nvSpPr>
            <p:cNvPr id="17" name="object 17"/>
            <p:cNvSpPr/>
            <p:nvPr/>
          </p:nvSpPr>
          <p:spPr>
            <a:xfrm>
              <a:off x="2081022" y="3108197"/>
              <a:ext cx="1643380" cy="619125"/>
            </a:xfrm>
            <a:custGeom>
              <a:avLst/>
              <a:gdLst/>
              <a:ahLst/>
              <a:cxnLst/>
              <a:rect l="l" t="t" r="r" b="b"/>
              <a:pathLst>
                <a:path w="1643379" h="619125">
                  <a:moveTo>
                    <a:pt x="1642872" y="0"/>
                  </a:moveTo>
                  <a:lnTo>
                    <a:pt x="0" y="0"/>
                  </a:lnTo>
                  <a:lnTo>
                    <a:pt x="0" y="618743"/>
                  </a:lnTo>
                  <a:lnTo>
                    <a:pt x="1642872" y="618743"/>
                  </a:lnTo>
                  <a:lnTo>
                    <a:pt x="1642872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81022" y="3108197"/>
              <a:ext cx="1643380" cy="619125"/>
            </a:xfrm>
            <a:custGeom>
              <a:avLst/>
              <a:gdLst/>
              <a:ahLst/>
              <a:cxnLst/>
              <a:rect l="l" t="t" r="r" b="b"/>
              <a:pathLst>
                <a:path w="1643379" h="619125">
                  <a:moveTo>
                    <a:pt x="0" y="618743"/>
                  </a:moveTo>
                  <a:lnTo>
                    <a:pt x="1642872" y="618743"/>
                  </a:lnTo>
                  <a:lnTo>
                    <a:pt x="1642872" y="0"/>
                  </a:lnTo>
                  <a:lnTo>
                    <a:pt x="0" y="0"/>
                  </a:lnTo>
                  <a:lnTo>
                    <a:pt x="0" y="618743"/>
                  </a:lnTo>
                  <a:close/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81022" y="3108198"/>
            <a:ext cx="1643380" cy="6191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065" marR="391795">
              <a:lnSpc>
                <a:spcPts val="1520"/>
              </a:lnSpc>
              <a:spcBef>
                <a:spcPts val="215"/>
              </a:spcBef>
            </a:pPr>
            <a:r>
              <a:rPr sz="1500" b="1" spc="-5" dirty="0">
                <a:latin typeface="Comic Sans MS"/>
                <a:cs typeface="Comic Sans MS"/>
              </a:rPr>
              <a:t>Control</a:t>
            </a:r>
            <a:r>
              <a:rPr sz="1500" b="1" spc="-55" dirty="0">
                <a:latin typeface="Comic Sans MS"/>
                <a:cs typeface="Comic Sans MS"/>
              </a:rPr>
              <a:t> </a:t>
            </a:r>
            <a:r>
              <a:rPr sz="1500" b="1" spc="-5" dirty="0">
                <a:latin typeface="Comic Sans MS"/>
                <a:cs typeface="Comic Sans MS"/>
              </a:rPr>
              <a:t>flow- </a:t>
            </a:r>
            <a:r>
              <a:rPr sz="1500" b="1" spc="-635" dirty="0">
                <a:latin typeface="Comic Sans MS"/>
                <a:cs typeface="Comic Sans MS"/>
              </a:rPr>
              <a:t> </a:t>
            </a:r>
            <a:r>
              <a:rPr sz="1500" b="1" spc="-5" dirty="0">
                <a:latin typeface="Comic Sans MS"/>
                <a:cs typeface="Comic Sans MS"/>
              </a:rPr>
              <a:t>based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06569" y="1235836"/>
            <a:ext cx="1853564" cy="351155"/>
            <a:chOff x="4806569" y="1235836"/>
            <a:chExt cx="1853564" cy="351155"/>
          </a:xfrm>
        </p:grpSpPr>
        <p:sp>
          <p:nvSpPr>
            <p:cNvPr id="21" name="object 21"/>
            <p:cNvSpPr/>
            <p:nvPr/>
          </p:nvSpPr>
          <p:spPr>
            <a:xfrm>
              <a:off x="4821174" y="1252219"/>
              <a:ext cx="1824355" cy="318770"/>
            </a:xfrm>
            <a:custGeom>
              <a:avLst/>
              <a:gdLst/>
              <a:ahLst/>
              <a:cxnLst/>
              <a:rect l="l" t="t" r="r" b="b"/>
              <a:pathLst>
                <a:path w="1824354" h="318769">
                  <a:moveTo>
                    <a:pt x="0" y="318770"/>
                  </a:moveTo>
                  <a:lnTo>
                    <a:pt x="1824227" y="318770"/>
                  </a:lnTo>
                  <a:lnTo>
                    <a:pt x="1824227" y="0"/>
                  </a:lnTo>
                  <a:lnTo>
                    <a:pt x="0" y="0"/>
                  </a:lnTo>
                  <a:lnTo>
                    <a:pt x="0" y="31877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21174" y="1250441"/>
              <a:ext cx="1824355" cy="321945"/>
            </a:xfrm>
            <a:custGeom>
              <a:avLst/>
              <a:gdLst/>
              <a:ahLst/>
              <a:cxnLst/>
              <a:rect l="l" t="t" r="r" b="b"/>
              <a:pathLst>
                <a:path w="1824354" h="321944">
                  <a:moveTo>
                    <a:pt x="0" y="1397"/>
                  </a:moveTo>
                  <a:lnTo>
                    <a:pt x="0" y="635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1822830" y="0"/>
                  </a:lnTo>
                  <a:lnTo>
                    <a:pt x="1823593" y="0"/>
                  </a:lnTo>
                  <a:lnTo>
                    <a:pt x="1824227" y="635"/>
                  </a:lnTo>
                  <a:lnTo>
                    <a:pt x="1824227" y="1397"/>
                  </a:lnTo>
                  <a:lnTo>
                    <a:pt x="1824227" y="320167"/>
                  </a:lnTo>
                  <a:lnTo>
                    <a:pt x="1824227" y="320929"/>
                  </a:lnTo>
                  <a:lnTo>
                    <a:pt x="1823593" y="321563"/>
                  </a:lnTo>
                  <a:lnTo>
                    <a:pt x="1822830" y="321563"/>
                  </a:lnTo>
                  <a:lnTo>
                    <a:pt x="1397" y="321563"/>
                  </a:lnTo>
                  <a:lnTo>
                    <a:pt x="635" y="321563"/>
                  </a:lnTo>
                  <a:lnTo>
                    <a:pt x="0" y="320929"/>
                  </a:lnTo>
                  <a:lnTo>
                    <a:pt x="0" y="320167"/>
                  </a:lnTo>
                  <a:lnTo>
                    <a:pt x="0" y="1397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821173" y="1250950"/>
            <a:ext cx="1824355" cy="32131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5"/>
              </a:spcBef>
            </a:pPr>
            <a:r>
              <a:rPr sz="1600" b="1" spc="10" dirty="0">
                <a:latin typeface="Comic Sans MS"/>
                <a:cs typeface="Comic Sans MS"/>
              </a:rPr>
              <a:t>Object-Oriented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74913" y="357949"/>
            <a:ext cx="4200525" cy="3677920"/>
            <a:chOff x="1974913" y="357949"/>
            <a:chExt cx="4200525" cy="3677920"/>
          </a:xfrm>
        </p:grpSpPr>
        <p:sp>
          <p:nvSpPr>
            <p:cNvPr id="25" name="object 25"/>
            <p:cNvSpPr/>
            <p:nvPr/>
          </p:nvSpPr>
          <p:spPr>
            <a:xfrm>
              <a:off x="2567813" y="1572005"/>
              <a:ext cx="3607435" cy="2463800"/>
            </a:xfrm>
            <a:custGeom>
              <a:avLst/>
              <a:gdLst/>
              <a:ahLst/>
              <a:cxnLst/>
              <a:rect l="l" t="t" r="r" b="b"/>
              <a:pathLst>
                <a:path w="3607435" h="2463800">
                  <a:moveTo>
                    <a:pt x="374396" y="2225548"/>
                  </a:moveTo>
                  <a:lnTo>
                    <a:pt x="370560" y="2192147"/>
                  </a:lnTo>
                  <a:lnTo>
                    <a:pt x="363347" y="2129028"/>
                  </a:lnTo>
                  <a:lnTo>
                    <a:pt x="292735" y="2195703"/>
                  </a:lnTo>
                  <a:lnTo>
                    <a:pt x="319963" y="2205659"/>
                  </a:lnTo>
                  <a:lnTo>
                    <a:pt x="318516" y="2209673"/>
                  </a:lnTo>
                  <a:lnTo>
                    <a:pt x="311785" y="2228469"/>
                  </a:lnTo>
                  <a:lnTo>
                    <a:pt x="288798" y="2285746"/>
                  </a:lnTo>
                  <a:lnTo>
                    <a:pt x="271526" y="2321217"/>
                  </a:lnTo>
                  <a:lnTo>
                    <a:pt x="243078" y="2364016"/>
                  </a:lnTo>
                  <a:lnTo>
                    <a:pt x="211455" y="2390267"/>
                  </a:lnTo>
                  <a:lnTo>
                    <a:pt x="173482" y="2408656"/>
                  </a:lnTo>
                  <a:lnTo>
                    <a:pt x="130683" y="2420696"/>
                  </a:lnTo>
                  <a:lnTo>
                    <a:pt x="67310" y="2429687"/>
                  </a:lnTo>
                  <a:lnTo>
                    <a:pt x="0" y="2434323"/>
                  </a:lnTo>
                  <a:lnTo>
                    <a:pt x="1778" y="2463241"/>
                  </a:lnTo>
                  <a:lnTo>
                    <a:pt x="69596" y="2458542"/>
                  </a:lnTo>
                  <a:lnTo>
                    <a:pt x="135509" y="2449245"/>
                  </a:lnTo>
                  <a:lnTo>
                    <a:pt x="182626" y="2436126"/>
                  </a:lnTo>
                  <a:lnTo>
                    <a:pt x="225806" y="2415476"/>
                  </a:lnTo>
                  <a:lnTo>
                    <a:pt x="258191" y="2390229"/>
                  </a:lnTo>
                  <a:lnTo>
                    <a:pt x="286385" y="2353246"/>
                  </a:lnTo>
                  <a:lnTo>
                    <a:pt x="306070" y="2317153"/>
                  </a:lnTo>
                  <a:lnTo>
                    <a:pt x="331343" y="2258441"/>
                  </a:lnTo>
                  <a:lnTo>
                    <a:pt x="345821" y="2219579"/>
                  </a:lnTo>
                  <a:lnTo>
                    <a:pt x="347243" y="2215629"/>
                  </a:lnTo>
                  <a:lnTo>
                    <a:pt x="374396" y="2225548"/>
                  </a:lnTo>
                  <a:close/>
                </a:path>
                <a:path w="3607435" h="2463800">
                  <a:moveTo>
                    <a:pt x="1475232" y="1386586"/>
                  </a:moveTo>
                  <a:lnTo>
                    <a:pt x="1470050" y="1355852"/>
                  </a:lnTo>
                  <a:lnTo>
                    <a:pt x="1459103" y="1290828"/>
                  </a:lnTo>
                  <a:lnTo>
                    <a:pt x="1392174" y="1361186"/>
                  </a:lnTo>
                  <a:lnTo>
                    <a:pt x="1419872" y="1369669"/>
                  </a:lnTo>
                  <a:lnTo>
                    <a:pt x="1413383" y="1391158"/>
                  </a:lnTo>
                  <a:lnTo>
                    <a:pt x="1407541" y="1410081"/>
                  </a:lnTo>
                  <a:lnTo>
                    <a:pt x="1394460" y="1448435"/>
                  </a:lnTo>
                  <a:lnTo>
                    <a:pt x="1379982" y="1483995"/>
                  </a:lnTo>
                  <a:lnTo>
                    <a:pt x="1356360" y="1526794"/>
                  </a:lnTo>
                  <a:lnTo>
                    <a:pt x="1320546" y="1559433"/>
                  </a:lnTo>
                  <a:lnTo>
                    <a:pt x="1276350" y="1579245"/>
                  </a:lnTo>
                  <a:lnTo>
                    <a:pt x="1239139" y="1587881"/>
                  </a:lnTo>
                  <a:lnTo>
                    <a:pt x="1184783" y="1594104"/>
                  </a:lnTo>
                  <a:lnTo>
                    <a:pt x="1156589" y="1596136"/>
                  </a:lnTo>
                  <a:lnTo>
                    <a:pt x="1158621" y="1624965"/>
                  </a:lnTo>
                  <a:lnTo>
                    <a:pt x="1215136" y="1620266"/>
                  </a:lnTo>
                  <a:lnTo>
                    <a:pt x="1270381" y="1610995"/>
                  </a:lnTo>
                  <a:lnTo>
                    <a:pt x="1310259" y="1597660"/>
                  </a:lnTo>
                  <a:lnTo>
                    <a:pt x="1346708" y="1576578"/>
                  </a:lnTo>
                  <a:lnTo>
                    <a:pt x="1379220" y="1544447"/>
                  </a:lnTo>
                  <a:lnTo>
                    <a:pt x="1406144" y="1496568"/>
                  </a:lnTo>
                  <a:lnTo>
                    <a:pt x="1421384" y="1458849"/>
                  </a:lnTo>
                  <a:lnTo>
                    <a:pt x="1434973" y="1419479"/>
                  </a:lnTo>
                  <a:lnTo>
                    <a:pt x="1446784" y="1380617"/>
                  </a:lnTo>
                  <a:lnTo>
                    <a:pt x="1447546" y="1378127"/>
                  </a:lnTo>
                  <a:lnTo>
                    <a:pt x="1475232" y="1386586"/>
                  </a:lnTo>
                  <a:close/>
                </a:path>
                <a:path w="3607435" h="2463800">
                  <a:moveTo>
                    <a:pt x="2323338" y="613156"/>
                  </a:moveTo>
                  <a:lnTo>
                    <a:pt x="2319578" y="579628"/>
                  </a:lnTo>
                  <a:lnTo>
                    <a:pt x="2312543" y="516636"/>
                  </a:lnTo>
                  <a:lnTo>
                    <a:pt x="2241804" y="583184"/>
                  </a:lnTo>
                  <a:lnTo>
                    <a:pt x="2269045" y="593204"/>
                  </a:lnTo>
                  <a:lnTo>
                    <a:pt x="2267585" y="597281"/>
                  </a:lnTo>
                  <a:lnTo>
                    <a:pt x="2260727" y="616077"/>
                  </a:lnTo>
                  <a:lnTo>
                    <a:pt x="2237740" y="673354"/>
                  </a:lnTo>
                  <a:lnTo>
                    <a:pt x="2220468" y="708787"/>
                  </a:lnTo>
                  <a:lnTo>
                    <a:pt x="2191893" y="751586"/>
                  </a:lnTo>
                  <a:lnTo>
                    <a:pt x="2160143" y="777875"/>
                  </a:lnTo>
                  <a:lnTo>
                    <a:pt x="2121916" y="796290"/>
                  </a:lnTo>
                  <a:lnTo>
                    <a:pt x="2078863" y="808355"/>
                  </a:lnTo>
                  <a:lnTo>
                    <a:pt x="2015236" y="817245"/>
                  </a:lnTo>
                  <a:lnTo>
                    <a:pt x="1947672" y="821944"/>
                  </a:lnTo>
                  <a:lnTo>
                    <a:pt x="1949450" y="850900"/>
                  </a:lnTo>
                  <a:lnTo>
                    <a:pt x="2017522" y="846201"/>
                  </a:lnTo>
                  <a:lnTo>
                    <a:pt x="2083816" y="836803"/>
                  </a:lnTo>
                  <a:lnTo>
                    <a:pt x="2131060" y="823722"/>
                  </a:lnTo>
                  <a:lnTo>
                    <a:pt x="2174367" y="803148"/>
                  </a:lnTo>
                  <a:lnTo>
                    <a:pt x="2206879" y="777875"/>
                  </a:lnTo>
                  <a:lnTo>
                    <a:pt x="2235327" y="740918"/>
                  </a:lnTo>
                  <a:lnTo>
                    <a:pt x="2255012" y="704723"/>
                  </a:lnTo>
                  <a:lnTo>
                    <a:pt x="2280412" y="646049"/>
                  </a:lnTo>
                  <a:lnTo>
                    <a:pt x="2294763" y="607187"/>
                  </a:lnTo>
                  <a:lnTo>
                    <a:pt x="2296223" y="603199"/>
                  </a:lnTo>
                  <a:lnTo>
                    <a:pt x="2323338" y="613156"/>
                  </a:lnTo>
                  <a:close/>
                </a:path>
                <a:path w="3607435" h="2463800">
                  <a:moveTo>
                    <a:pt x="3607181" y="95758"/>
                  </a:moveTo>
                  <a:lnTo>
                    <a:pt x="3602037" y="65024"/>
                  </a:lnTo>
                  <a:lnTo>
                    <a:pt x="3591179" y="0"/>
                  </a:lnTo>
                  <a:lnTo>
                    <a:pt x="3524123" y="70358"/>
                  </a:lnTo>
                  <a:lnTo>
                    <a:pt x="3551898" y="78867"/>
                  </a:lnTo>
                  <a:lnTo>
                    <a:pt x="3545967" y="98933"/>
                  </a:lnTo>
                  <a:lnTo>
                    <a:pt x="3539109" y="121666"/>
                  </a:lnTo>
                  <a:lnTo>
                    <a:pt x="3524123" y="168021"/>
                  </a:lnTo>
                  <a:lnTo>
                    <a:pt x="3507359" y="213106"/>
                  </a:lnTo>
                  <a:lnTo>
                    <a:pt x="3489198" y="253492"/>
                  </a:lnTo>
                  <a:lnTo>
                    <a:pt x="3464687" y="292608"/>
                  </a:lnTo>
                  <a:lnTo>
                    <a:pt x="3425698" y="326390"/>
                  </a:lnTo>
                  <a:lnTo>
                    <a:pt x="3385820" y="345694"/>
                  </a:lnTo>
                  <a:lnTo>
                    <a:pt x="3341497" y="358013"/>
                  </a:lnTo>
                  <a:lnTo>
                    <a:pt x="3293618" y="365379"/>
                  </a:lnTo>
                  <a:lnTo>
                    <a:pt x="3226181" y="370840"/>
                  </a:lnTo>
                  <a:lnTo>
                    <a:pt x="3228213" y="399669"/>
                  </a:lnTo>
                  <a:lnTo>
                    <a:pt x="3296412" y="394208"/>
                  </a:lnTo>
                  <a:lnTo>
                    <a:pt x="3346831" y="386461"/>
                  </a:lnTo>
                  <a:lnTo>
                    <a:pt x="3395091" y="373126"/>
                  </a:lnTo>
                  <a:lnTo>
                    <a:pt x="3440049" y="351409"/>
                  </a:lnTo>
                  <a:lnTo>
                    <a:pt x="3480054" y="318897"/>
                  </a:lnTo>
                  <a:lnTo>
                    <a:pt x="3503930" y="286512"/>
                  </a:lnTo>
                  <a:lnTo>
                    <a:pt x="3524631" y="246761"/>
                  </a:lnTo>
                  <a:lnTo>
                    <a:pt x="3543046" y="201295"/>
                  </a:lnTo>
                  <a:lnTo>
                    <a:pt x="3559302" y="153924"/>
                  </a:lnTo>
                  <a:lnTo>
                    <a:pt x="3573653" y="107315"/>
                  </a:lnTo>
                  <a:lnTo>
                    <a:pt x="3579634" y="87337"/>
                  </a:lnTo>
                  <a:lnTo>
                    <a:pt x="3607181" y="957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79676" y="362711"/>
              <a:ext cx="1347470" cy="510540"/>
            </a:xfrm>
            <a:custGeom>
              <a:avLst/>
              <a:gdLst/>
              <a:ahLst/>
              <a:cxnLst/>
              <a:rect l="l" t="t" r="r" b="b"/>
              <a:pathLst>
                <a:path w="1347470" h="510540">
                  <a:moveTo>
                    <a:pt x="1347215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1347215" y="510539"/>
                  </a:lnTo>
                  <a:lnTo>
                    <a:pt x="1347215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79676" y="362711"/>
              <a:ext cx="1347470" cy="510540"/>
            </a:xfrm>
            <a:custGeom>
              <a:avLst/>
              <a:gdLst/>
              <a:ahLst/>
              <a:cxnLst/>
              <a:rect l="l" t="t" r="r" b="b"/>
              <a:pathLst>
                <a:path w="1347470" h="510540">
                  <a:moveTo>
                    <a:pt x="0" y="510539"/>
                  </a:moveTo>
                  <a:lnTo>
                    <a:pt x="1347215" y="510539"/>
                  </a:lnTo>
                  <a:lnTo>
                    <a:pt x="1347215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058670" y="387477"/>
            <a:ext cx="710565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95"/>
              </a:spcBef>
            </a:pPr>
            <a:r>
              <a:rPr sz="1350" b="1" spc="-5" dirty="0">
                <a:latin typeface="Comic Sans MS"/>
                <a:cs typeface="Comic Sans MS"/>
              </a:rPr>
              <a:t>Aspect- </a:t>
            </a:r>
            <a:r>
              <a:rPr sz="1350" b="1" spc="-575" dirty="0">
                <a:latin typeface="Comic Sans MS"/>
                <a:cs typeface="Comic Sans MS"/>
              </a:rPr>
              <a:t> </a:t>
            </a:r>
            <a:r>
              <a:rPr sz="1350" b="1" spc="-10" dirty="0">
                <a:latin typeface="Comic Sans MS"/>
                <a:cs typeface="Comic Sans MS"/>
              </a:rPr>
              <a:t>o</a:t>
            </a:r>
            <a:r>
              <a:rPr sz="1350" b="1" spc="-5" dirty="0">
                <a:latin typeface="Comic Sans MS"/>
                <a:cs typeface="Comic Sans MS"/>
              </a:rPr>
              <a:t>riented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47553" y="357949"/>
            <a:ext cx="1360170" cy="520065"/>
            <a:chOff x="4047553" y="357949"/>
            <a:chExt cx="1360170" cy="520065"/>
          </a:xfrm>
        </p:grpSpPr>
        <p:sp>
          <p:nvSpPr>
            <p:cNvPr id="30" name="object 30"/>
            <p:cNvSpPr/>
            <p:nvPr/>
          </p:nvSpPr>
          <p:spPr>
            <a:xfrm>
              <a:off x="4052315" y="362711"/>
              <a:ext cx="1350645" cy="510540"/>
            </a:xfrm>
            <a:custGeom>
              <a:avLst/>
              <a:gdLst/>
              <a:ahLst/>
              <a:cxnLst/>
              <a:rect l="l" t="t" r="r" b="b"/>
              <a:pathLst>
                <a:path w="1350645" h="510540">
                  <a:moveTo>
                    <a:pt x="1350264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1350264" y="510539"/>
                  </a:lnTo>
                  <a:lnTo>
                    <a:pt x="1350264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52315" y="362711"/>
              <a:ext cx="1350645" cy="510540"/>
            </a:xfrm>
            <a:custGeom>
              <a:avLst/>
              <a:gdLst/>
              <a:ahLst/>
              <a:cxnLst/>
              <a:rect l="l" t="t" r="r" b="b"/>
              <a:pathLst>
                <a:path w="1350645" h="510540">
                  <a:moveTo>
                    <a:pt x="0" y="510539"/>
                  </a:moveTo>
                  <a:lnTo>
                    <a:pt x="1350264" y="510539"/>
                  </a:lnTo>
                  <a:lnTo>
                    <a:pt x="1350264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132326" y="387477"/>
            <a:ext cx="999490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95"/>
              </a:spcBef>
            </a:pPr>
            <a:r>
              <a:rPr sz="1350" b="1" dirty="0">
                <a:latin typeface="Comic Sans MS"/>
                <a:cs typeface="Comic Sans MS"/>
              </a:rPr>
              <a:t>C</a:t>
            </a:r>
            <a:r>
              <a:rPr sz="1350" b="1" spc="-5" dirty="0">
                <a:latin typeface="Comic Sans MS"/>
                <a:cs typeface="Comic Sans MS"/>
              </a:rPr>
              <a:t>o</a:t>
            </a:r>
            <a:r>
              <a:rPr sz="1350" b="1" dirty="0">
                <a:latin typeface="Comic Sans MS"/>
                <a:cs typeface="Comic Sans MS"/>
              </a:rPr>
              <a:t>mp</a:t>
            </a:r>
            <a:r>
              <a:rPr sz="1350" b="1" spc="-10" dirty="0">
                <a:latin typeface="Comic Sans MS"/>
                <a:cs typeface="Comic Sans MS"/>
              </a:rPr>
              <a:t>o</a:t>
            </a:r>
            <a:r>
              <a:rPr sz="1350" b="1" spc="-5" dirty="0">
                <a:latin typeface="Comic Sans MS"/>
                <a:cs typeface="Comic Sans MS"/>
              </a:rPr>
              <a:t>nent</a:t>
            </a:r>
            <a:r>
              <a:rPr sz="1350" b="1" dirty="0">
                <a:latin typeface="Comic Sans MS"/>
                <a:cs typeface="Comic Sans MS"/>
              </a:rPr>
              <a:t>-  </a:t>
            </a:r>
            <a:r>
              <a:rPr sz="1350" b="1" spc="-5" dirty="0">
                <a:latin typeface="Comic Sans MS"/>
                <a:cs typeface="Comic Sans MS"/>
              </a:rPr>
              <a:t>based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84429" y="357949"/>
            <a:ext cx="1358265" cy="520065"/>
            <a:chOff x="6484429" y="357949"/>
            <a:chExt cx="1358265" cy="520065"/>
          </a:xfrm>
        </p:grpSpPr>
        <p:sp>
          <p:nvSpPr>
            <p:cNvPr id="34" name="object 34"/>
            <p:cNvSpPr/>
            <p:nvPr/>
          </p:nvSpPr>
          <p:spPr>
            <a:xfrm>
              <a:off x="6489191" y="362711"/>
              <a:ext cx="1348740" cy="510540"/>
            </a:xfrm>
            <a:custGeom>
              <a:avLst/>
              <a:gdLst/>
              <a:ahLst/>
              <a:cxnLst/>
              <a:rect l="l" t="t" r="r" b="b"/>
              <a:pathLst>
                <a:path w="1348740" h="510540">
                  <a:moveTo>
                    <a:pt x="1348739" y="0"/>
                  </a:moveTo>
                  <a:lnTo>
                    <a:pt x="0" y="0"/>
                  </a:lnTo>
                  <a:lnTo>
                    <a:pt x="0" y="510539"/>
                  </a:lnTo>
                  <a:lnTo>
                    <a:pt x="1348739" y="510539"/>
                  </a:lnTo>
                  <a:lnTo>
                    <a:pt x="1348739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89191" y="362711"/>
              <a:ext cx="1348740" cy="510540"/>
            </a:xfrm>
            <a:custGeom>
              <a:avLst/>
              <a:gdLst/>
              <a:ahLst/>
              <a:cxnLst/>
              <a:rect l="l" t="t" r="r" b="b"/>
              <a:pathLst>
                <a:path w="1348740" h="510540">
                  <a:moveTo>
                    <a:pt x="0" y="510539"/>
                  </a:moveTo>
                  <a:lnTo>
                    <a:pt x="1348739" y="510539"/>
                  </a:lnTo>
                  <a:lnTo>
                    <a:pt x="1348739" y="0"/>
                  </a:lnTo>
                  <a:lnTo>
                    <a:pt x="0" y="0"/>
                  </a:lnTo>
                  <a:lnTo>
                    <a:pt x="0" y="51053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569456" y="387477"/>
            <a:ext cx="745490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95"/>
              </a:spcBef>
            </a:pPr>
            <a:r>
              <a:rPr sz="1350" b="1" spc="-5" dirty="0">
                <a:latin typeface="Comic Sans MS"/>
                <a:cs typeface="Comic Sans MS"/>
              </a:rPr>
              <a:t>S</a:t>
            </a:r>
            <a:r>
              <a:rPr sz="1350" b="1" spc="-10" dirty="0">
                <a:latin typeface="Comic Sans MS"/>
                <a:cs typeface="Comic Sans MS"/>
              </a:rPr>
              <a:t>e</a:t>
            </a:r>
            <a:r>
              <a:rPr sz="1350" b="1" spc="-5" dirty="0">
                <a:latin typeface="Comic Sans MS"/>
                <a:cs typeface="Comic Sans MS"/>
              </a:rPr>
              <a:t>rvic</a:t>
            </a:r>
            <a:r>
              <a:rPr sz="1350" b="1" dirty="0">
                <a:latin typeface="Comic Sans MS"/>
                <a:cs typeface="Comic Sans MS"/>
              </a:rPr>
              <a:t>e-  </a:t>
            </a:r>
            <a:r>
              <a:rPr sz="1350" b="1" spc="-5" dirty="0">
                <a:latin typeface="Comic Sans MS"/>
                <a:cs typeface="Comic Sans MS"/>
              </a:rPr>
              <a:t>oriented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655570" y="790193"/>
            <a:ext cx="4580255" cy="699770"/>
          </a:xfrm>
          <a:custGeom>
            <a:avLst/>
            <a:gdLst/>
            <a:ahLst/>
            <a:cxnLst/>
            <a:rect l="l" t="t" r="r" b="b"/>
            <a:pathLst>
              <a:path w="4580255" h="699769">
                <a:moveTo>
                  <a:pt x="2178050" y="639572"/>
                </a:moveTo>
                <a:lnTo>
                  <a:pt x="2174494" y="601599"/>
                </a:lnTo>
                <a:lnTo>
                  <a:pt x="1873758" y="629666"/>
                </a:lnTo>
                <a:lnTo>
                  <a:pt x="1677035" y="645287"/>
                </a:lnTo>
                <a:lnTo>
                  <a:pt x="1580388" y="651510"/>
                </a:lnTo>
                <a:lnTo>
                  <a:pt x="1485392" y="656336"/>
                </a:lnTo>
                <a:lnTo>
                  <a:pt x="1392174" y="659765"/>
                </a:lnTo>
                <a:lnTo>
                  <a:pt x="1301242" y="661162"/>
                </a:lnTo>
                <a:lnTo>
                  <a:pt x="1256538" y="661162"/>
                </a:lnTo>
                <a:lnTo>
                  <a:pt x="1212596" y="660527"/>
                </a:lnTo>
                <a:lnTo>
                  <a:pt x="1169162" y="659384"/>
                </a:lnTo>
                <a:lnTo>
                  <a:pt x="1126490" y="657733"/>
                </a:lnTo>
                <a:lnTo>
                  <a:pt x="1084453" y="655447"/>
                </a:lnTo>
                <a:lnTo>
                  <a:pt x="1043305" y="652399"/>
                </a:lnTo>
                <a:lnTo>
                  <a:pt x="1002919" y="648716"/>
                </a:lnTo>
                <a:lnTo>
                  <a:pt x="963295" y="644398"/>
                </a:lnTo>
                <a:lnTo>
                  <a:pt x="924560" y="639318"/>
                </a:lnTo>
                <a:lnTo>
                  <a:pt x="886714" y="633603"/>
                </a:lnTo>
                <a:lnTo>
                  <a:pt x="813816" y="619506"/>
                </a:lnTo>
                <a:lnTo>
                  <a:pt x="744982" y="602107"/>
                </a:lnTo>
                <a:lnTo>
                  <a:pt x="680085" y="581406"/>
                </a:lnTo>
                <a:lnTo>
                  <a:pt x="619125" y="557276"/>
                </a:lnTo>
                <a:lnTo>
                  <a:pt x="561721" y="529971"/>
                </a:lnTo>
                <a:lnTo>
                  <a:pt x="507365" y="499872"/>
                </a:lnTo>
                <a:lnTo>
                  <a:pt x="456184" y="466979"/>
                </a:lnTo>
                <a:lnTo>
                  <a:pt x="407670" y="431673"/>
                </a:lnTo>
                <a:lnTo>
                  <a:pt x="361442" y="394081"/>
                </a:lnTo>
                <a:lnTo>
                  <a:pt x="317627" y="354457"/>
                </a:lnTo>
                <a:lnTo>
                  <a:pt x="275590" y="312928"/>
                </a:lnTo>
                <a:lnTo>
                  <a:pt x="235331" y="269748"/>
                </a:lnTo>
                <a:lnTo>
                  <a:pt x="196596" y="225171"/>
                </a:lnTo>
                <a:lnTo>
                  <a:pt x="158877" y="179451"/>
                </a:lnTo>
                <a:lnTo>
                  <a:pt x="122301" y="132588"/>
                </a:lnTo>
                <a:lnTo>
                  <a:pt x="86233" y="85217"/>
                </a:lnTo>
                <a:lnTo>
                  <a:pt x="83045" y="80873"/>
                </a:lnTo>
                <a:lnTo>
                  <a:pt x="104101" y="65405"/>
                </a:lnTo>
                <a:lnTo>
                  <a:pt x="113792" y="58293"/>
                </a:lnTo>
                <a:lnTo>
                  <a:pt x="0" y="0"/>
                </a:lnTo>
                <a:lnTo>
                  <a:pt x="21590" y="125984"/>
                </a:lnTo>
                <a:lnTo>
                  <a:pt x="52336" y="103403"/>
                </a:lnTo>
                <a:lnTo>
                  <a:pt x="55880" y="108204"/>
                </a:lnTo>
                <a:lnTo>
                  <a:pt x="92202" y="156210"/>
                </a:lnTo>
                <a:lnTo>
                  <a:pt x="129540" y="203708"/>
                </a:lnTo>
                <a:lnTo>
                  <a:pt x="167894" y="250190"/>
                </a:lnTo>
                <a:lnTo>
                  <a:pt x="207518" y="295656"/>
                </a:lnTo>
                <a:lnTo>
                  <a:pt x="248793" y="339979"/>
                </a:lnTo>
                <a:lnTo>
                  <a:pt x="291846" y="382397"/>
                </a:lnTo>
                <a:lnTo>
                  <a:pt x="337058" y="423291"/>
                </a:lnTo>
                <a:lnTo>
                  <a:pt x="384810" y="462153"/>
                </a:lnTo>
                <a:lnTo>
                  <a:pt x="435102" y="498856"/>
                </a:lnTo>
                <a:lnTo>
                  <a:pt x="488315" y="532892"/>
                </a:lnTo>
                <a:lnTo>
                  <a:pt x="544703" y="564134"/>
                </a:lnTo>
                <a:lnTo>
                  <a:pt x="604520" y="592455"/>
                </a:lnTo>
                <a:lnTo>
                  <a:pt x="667893" y="617474"/>
                </a:lnTo>
                <a:lnTo>
                  <a:pt x="735076" y="638937"/>
                </a:lnTo>
                <a:lnTo>
                  <a:pt x="806196" y="656844"/>
                </a:lnTo>
                <a:lnTo>
                  <a:pt x="880872" y="671195"/>
                </a:lnTo>
                <a:lnTo>
                  <a:pt x="919734" y="677164"/>
                </a:lnTo>
                <a:lnTo>
                  <a:pt x="959231" y="682244"/>
                </a:lnTo>
                <a:lnTo>
                  <a:pt x="999490" y="686689"/>
                </a:lnTo>
                <a:lnTo>
                  <a:pt x="1040511" y="690372"/>
                </a:lnTo>
                <a:lnTo>
                  <a:pt x="1082421" y="693547"/>
                </a:lnTo>
                <a:lnTo>
                  <a:pt x="1124966" y="695833"/>
                </a:lnTo>
                <a:lnTo>
                  <a:pt x="1168273" y="697484"/>
                </a:lnTo>
                <a:lnTo>
                  <a:pt x="1212088" y="698627"/>
                </a:lnTo>
                <a:lnTo>
                  <a:pt x="1256538" y="699262"/>
                </a:lnTo>
                <a:lnTo>
                  <a:pt x="1301750" y="699262"/>
                </a:lnTo>
                <a:lnTo>
                  <a:pt x="1347343" y="698754"/>
                </a:lnTo>
                <a:lnTo>
                  <a:pt x="1393571" y="697738"/>
                </a:lnTo>
                <a:lnTo>
                  <a:pt x="1487297" y="694436"/>
                </a:lnTo>
                <a:lnTo>
                  <a:pt x="1582801" y="689610"/>
                </a:lnTo>
                <a:lnTo>
                  <a:pt x="1778000" y="675894"/>
                </a:lnTo>
                <a:lnTo>
                  <a:pt x="1948980" y="661162"/>
                </a:lnTo>
                <a:lnTo>
                  <a:pt x="2178050" y="639572"/>
                </a:lnTo>
                <a:close/>
              </a:path>
              <a:path w="4580255" h="699769">
                <a:moveTo>
                  <a:pt x="3062097" y="441833"/>
                </a:moveTo>
                <a:lnTo>
                  <a:pt x="2678684" y="338074"/>
                </a:lnTo>
                <a:lnTo>
                  <a:pt x="2532761" y="296037"/>
                </a:lnTo>
                <a:lnTo>
                  <a:pt x="2478151" y="279654"/>
                </a:lnTo>
                <a:lnTo>
                  <a:pt x="2400935" y="255397"/>
                </a:lnTo>
                <a:lnTo>
                  <a:pt x="2353183" y="239649"/>
                </a:lnTo>
                <a:lnTo>
                  <a:pt x="2287651" y="216535"/>
                </a:lnTo>
                <a:lnTo>
                  <a:pt x="2248662" y="201549"/>
                </a:lnTo>
                <a:lnTo>
                  <a:pt x="2213356" y="186944"/>
                </a:lnTo>
                <a:lnTo>
                  <a:pt x="2168525" y="165989"/>
                </a:lnTo>
                <a:lnTo>
                  <a:pt x="2132711" y="146050"/>
                </a:lnTo>
                <a:lnTo>
                  <a:pt x="2098040" y="121285"/>
                </a:lnTo>
                <a:lnTo>
                  <a:pt x="2085238" y="109347"/>
                </a:lnTo>
                <a:lnTo>
                  <a:pt x="2119376" y="103886"/>
                </a:lnTo>
                <a:lnTo>
                  <a:pt x="2108631" y="88900"/>
                </a:lnTo>
                <a:lnTo>
                  <a:pt x="2044954" y="0"/>
                </a:lnTo>
                <a:lnTo>
                  <a:pt x="2006473" y="121920"/>
                </a:lnTo>
                <a:lnTo>
                  <a:pt x="2046262" y="115570"/>
                </a:lnTo>
                <a:lnTo>
                  <a:pt x="2048129" y="122174"/>
                </a:lnTo>
                <a:lnTo>
                  <a:pt x="2048891" y="125222"/>
                </a:lnTo>
                <a:lnTo>
                  <a:pt x="2050415" y="127889"/>
                </a:lnTo>
                <a:lnTo>
                  <a:pt x="2052574" y="130048"/>
                </a:lnTo>
                <a:lnTo>
                  <a:pt x="2059051" y="137033"/>
                </a:lnTo>
                <a:lnTo>
                  <a:pt x="2092198" y="164846"/>
                </a:lnTo>
                <a:lnTo>
                  <a:pt x="2125218" y="185928"/>
                </a:lnTo>
                <a:lnTo>
                  <a:pt x="2166239" y="207391"/>
                </a:lnTo>
                <a:lnTo>
                  <a:pt x="2216150" y="229489"/>
                </a:lnTo>
                <a:lnTo>
                  <a:pt x="2254250" y="244602"/>
                </a:lnTo>
                <a:lnTo>
                  <a:pt x="2318258" y="267843"/>
                </a:lnTo>
                <a:lnTo>
                  <a:pt x="2364867" y="283718"/>
                </a:lnTo>
                <a:lnTo>
                  <a:pt x="2440432" y="307848"/>
                </a:lnTo>
                <a:lnTo>
                  <a:pt x="2521966" y="332613"/>
                </a:lnTo>
                <a:lnTo>
                  <a:pt x="2668524" y="374777"/>
                </a:lnTo>
                <a:lnTo>
                  <a:pt x="3052191" y="478663"/>
                </a:lnTo>
                <a:lnTo>
                  <a:pt x="3062097" y="441833"/>
                </a:lnTo>
                <a:close/>
              </a:path>
              <a:path w="4580255" h="699769">
                <a:moveTo>
                  <a:pt x="4580001" y="106807"/>
                </a:moveTo>
                <a:lnTo>
                  <a:pt x="4570908" y="92964"/>
                </a:lnTo>
                <a:lnTo>
                  <a:pt x="4509897" y="0"/>
                </a:lnTo>
                <a:lnTo>
                  <a:pt x="4466463" y="120142"/>
                </a:lnTo>
                <a:lnTo>
                  <a:pt x="4503699" y="115773"/>
                </a:lnTo>
                <a:lnTo>
                  <a:pt x="4504817" y="128524"/>
                </a:lnTo>
                <a:lnTo>
                  <a:pt x="4504728" y="150622"/>
                </a:lnTo>
                <a:lnTo>
                  <a:pt x="4498594" y="206883"/>
                </a:lnTo>
                <a:lnTo>
                  <a:pt x="4487672" y="244094"/>
                </a:lnTo>
                <a:lnTo>
                  <a:pt x="4469892" y="280162"/>
                </a:lnTo>
                <a:lnTo>
                  <a:pt x="4443730" y="315722"/>
                </a:lnTo>
                <a:lnTo>
                  <a:pt x="4408805" y="349885"/>
                </a:lnTo>
                <a:lnTo>
                  <a:pt x="4364482" y="383794"/>
                </a:lnTo>
                <a:lnTo>
                  <a:pt x="4312539" y="416814"/>
                </a:lnTo>
                <a:lnTo>
                  <a:pt x="4254246" y="449072"/>
                </a:lnTo>
                <a:lnTo>
                  <a:pt x="4190746" y="480822"/>
                </a:lnTo>
                <a:lnTo>
                  <a:pt x="4088765" y="527558"/>
                </a:lnTo>
                <a:lnTo>
                  <a:pt x="3982199" y="573786"/>
                </a:lnTo>
                <a:lnTo>
                  <a:pt x="3997452" y="608838"/>
                </a:lnTo>
                <a:lnTo>
                  <a:pt x="4104005" y="562483"/>
                </a:lnTo>
                <a:lnTo>
                  <a:pt x="4173347" y="531241"/>
                </a:lnTo>
                <a:lnTo>
                  <a:pt x="4239768" y="499237"/>
                </a:lnTo>
                <a:lnTo>
                  <a:pt x="4302125" y="466598"/>
                </a:lnTo>
                <a:lnTo>
                  <a:pt x="4359275" y="432816"/>
                </a:lnTo>
                <a:lnTo>
                  <a:pt x="4410075" y="397764"/>
                </a:lnTo>
                <a:lnTo>
                  <a:pt x="4453255" y="360934"/>
                </a:lnTo>
                <a:lnTo>
                  <a:pt x="4480306" y="331597"/>
                </a:lnTo>
                <a:lnTo>
                  <a:pt x="4513072" y="280670"/>
                </a:lnTo>
                <a:lnTo>
                  <a:pt x="4529963" y="237998"/>
                </a:lnTo>
                <a:lnTo>
                  <a:pt x="4539361" y="194437"/>
                </a:lnTo>
                <a:lnTo>
                  <a:pt x="4542917" y="150622"/>
                </a:lnTo>
                <a:lnTo>
                  <a:pt x="4542917" y="128524"/>
                </a:lnTo>
                <a:lnTo>
                  <a:pt x="4541494" y="111340"/>
                </a:lnTo>
                <a:lnTo>
                  <a:pt x="4580001" y="1068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427211" y="4792776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91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811" y="328675"/>
            <a:ext cx="9109710" cy="35337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43280">
              <a:lnSpc>
                <a:spcPct val="100000"/>
              </a:lnSpc>
              <a:spcBef>
                <a:spcPts val="125"/>
              </a:spcBef>
            </a:pP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Evolution</a:t>
            </a:r>
            <a:r>
              <a:rPr sz="27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of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Other</a:t>
            </a:r>
            <a:r>
              <a:rPr sz="27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7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Engineering</a:t>
            </a:r>
            <a:r>
              <a:rPr sz="2700" b="1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20" dirty="0">
                <a:solidFill>
                  <a:srgbClr val="0000CC"/>
                </a:solidFill>
                <a:latin typeface="Calibri"/>
                <a:cs typeface="Calibri"/>
              </a:rPr>
              <a:t>Techniques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buFont typeface="Arial MT"/>
              <a:buChar char="•"/>
              <a:tabLst>
                <a:tab pos="246379" algn="l"/>
              </a:tabLst>
            </a:pP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improvements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software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design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methodologies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605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indeed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very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conspicuous.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56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dirty="0">
                <a:latin typeface="Calibri"/>
                <a:cs typeface="Calibri"/>
              </a:rPr>
              <a:t>In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additions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software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design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techniques: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615"/>
              </a:spcBef>
            </a:pPr>
            <a:r>
              <a:rPr sz="2700" spc="-5" dirty="0">
                <a:latin typeface="Arial MT"/>
                <a:cs typeface="Arial MT"/>
              </a:rPr>
              <a:t>–</a:t>
            </a:r>
            <a:r>
              <a:rPr sz="2700" spc="-5" dirty="0">
                <a:latin typeface="Calibri"/>
                <a:cs typeface="Calibri"/>
              </a:rPr>
              <a:t>Several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other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techniques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evolved.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83</a:t>
            </a:fld>
            <a:endParaRPr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67400" y="1277111"/>
            <a:ext cx="3061970" cy="11385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2225" rIns="0" bIns="0" rtlCol="0">
            <a:spAutoFit/>
          </a:bodyPr>
          <a:lstStyle/>
          <a:p>
            <a:pPr marL="151765" marR="140335" indent="-1905" algn="ctr">
              <a:lnSpc>
                <a:spcPct val="94100"/>
              </a:lnSpc>
              <a:spcBef>
                <a:spcPts val="175"/>
              </a:spcBef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Evolution 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of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Other 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450" b="1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Engineering </a:t>
            </a:r>
            <a:r>
              <a:rPr sz="2450" b="1" spc="-5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30" dirty="0">
                <a:solidFill>
                  <a:srgbClr val="0000CC"/>
                </a:solidFill>
                <a:latin typeface="Calibri"/>
                <a:cs typeface="Calibri"/>
              </a:rPr>
              <a:t>Techniques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84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5511" y="143078"/>
            <a:ext cx="4437380" cy="4220845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85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20" dirty="0">
                <a:latin typeface="Calibri"/>
                <a:cs typeface="Calibri"/>
              </a:rPr>
              <a:t>Life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cycle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models,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10" dirty="0">
                <a:latin typeface="Calibri"/>
                <a:cs typeface="Calibri"/>
              </a:rPr>
              <a:t>Specification </a:t>
            </a:r>
            <a:r>
              <a:rPr sz="2450" spc="-5" dirty="0">
                <a:latin typeface="Calibri"/>
                <a:cs typeface="Calibri"/>
              </a:rPr>
              <a:t>techniques,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10" dirty="0">
                <a:latin typeface="Calibri"/>
                <a:cs typeface="Calibri"/>
              </a:rPr>
              <a:t>Project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management </a:t>
            </a:r>
            <a:r>
              <a:rPr sz="2450" spc="-5" dirty="0">
                <a:latin typeface="Calibri"/>
                <a:cs typeface="Calibri"/>
              </a:rPr>
              <a:t>techniques,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40" dirty="0">
                <a:latin typeface="Calibri"/>
                <a:cs typeface="Calibri"/>
              </a:rPr>
              <a:t>Testing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techniques,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185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dirty="0">
                <a:latin typeface="Calibri"/>
                <a:cs typeface="Calibri"/>
              </a:rPr>
              <a:t>Debugging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techniques,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5" dirty="0">
                <a:latin typeface="Calibri"/>
                <a:cs typeface="Calibri"/>
              </a:rPr>
              <a:t>Quality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assurance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techniques,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5" dirty="0">
                <a:latin typeface="Calibri"/>
                <a:cs typeface="Calibri"/>
              </a:rPr>
              <a:t>Metrics,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5" dirty="0">
                <a:latin typeface="Calibri"/>
                <a:cs typeface="Calibri"/>
              </a:rPr>
              <a:t>CASE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tools,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etc.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47544" y="2523744"/>
            <a:ext cx="6696709" cy="1027430"/>
          </a:xfrm>
          <a:custGeom>
            <a:avLst/>
            <a:gdLst/>
            <a:ahLst/>
            <a:cxnLst/>
            <a:rect l="l" t="t" r="r" b="b"/>
            <a:pathLst>
              <a:path w="6696709" h="1027429">
                <a:moveTo>
                  <a:pt x="6696456" y="0"/>
                </a:moveTo>
                <a:lnTo>
                  <a:pt x="0" y="0"/>
                </a:lnTo>
                <a:lnTo>
                  <a:pt x="0" y="1027176"/>
                </a:lnTo>
                <a:lnTo>
                  <a:pt x="6696456" y="1027176"/>
                </a:lnTo>
                <a:lnTo>
                  <a:pt x="669645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96667" y="2632329"/>
            <a:ext cx="5998210" cy="7505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79730" marR="5080" indent="-367665">
              <a:lnSpc>
                <a:spcPts val="2770"/>
              </a:lnSpc>
              <a:spcBef>
                <a:spcPts val="330"/>
              </a:spcBef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Differences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between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exploratory</a:t>
            </a:r>
            <a:r>
              <a:rPr sz="2450" b="1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style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and </a:t>
            </a:r>
            <a:r>
              <a:rPr sz="2450" b="1" spc="-5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modern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development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practices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85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29311" y="502996"/>
            <a:ext cx="8492490" cy="1864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15" dirty="0">
                <a:latin typeface="Calibri"/>
                <a:cs typeface="Calibri"/>
              </a:rPr>
              <a:t>Use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15" dirty="0">
                <a:latin typeface="Calibri"/>
                <a:cs typeface="Calibri"/>
              </a:rPr>
              <a:t> Life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Cycle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Models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3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dirty="0">
                <a:latin typeface="Calibri"/>
                <a:cs typeface="Calibri"/>
              </a:rPr>
              <a:t>Software </a:t>
            </a:r>
            <a:r>
              <a:rPr sz="2700" spc="5" dirty="0">
                <a:latin typeface="Calibri"/>
                <a:cs typeface="Calibri"/>
              </a:rPr>
              <a:t>is developed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through </a:t>
            </a:r>
            <a:r>
              <a:rPr sz="2700" spc="-5" dirty="0">
                <a:latin typeface="Calibri"/>
                <a:cs typeface="Calibri"/>
              </a:rPr>
              <a:t>several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well-defined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stages: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220"/>
              </a:spcBef>
            </a:pPr>
            <a:r>
              <a:rPr sz="2450" dirty="0">
                <a:latin typeface="Arial MT"/>
                <a:cs typeface="Arial MT"/>
              </a:rPr>
              <a:t>–</a:t>
            </a:r>
            <a:r>
              <a:rPr sz="2450" dirty="0">
                <a:latin typeface="Calibri"/>
                <a:cs typeface="Calibri"/>
              </a:rPr>
              <a:t>Requirements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analysis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and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specification,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512" y="2339797"/>
            <a:ext cx="1717039" cy="1652270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2450" spc="15" dirty="0">
                <a:latin typeface="Arial MT"/>
                <a:cs typeface="Arial MT"/>
              </a:rPr>
              <a:t>–</a:t>
            </a:r>
            <a:r>
              <a:rPr sz="2450" spc="15" dirty="0">
                <a:latin typeface="Calibri"/>
                <a:cs typeface="Calibri"/>
              </a:rPr>
              <a:t>Design,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450" spc="15" dirty="0">
                <a:latin typeface="Arial MT"/>
                <a:cs typeface="Arial MT"/>
              </a:rPr>
              <a:t>–</a:t>
            </a:r>
            <a:r>
              <a:rPr sz="2450" spc="15" dirty="0">
                <a:latin typeface="Calibri"/>
                <a:cs typeface="Calibri"/>
              </a:rPr>
              <a:t>Coding,</a:t>
            </a: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450" spc="-10" dirty="0">
                <a:latin typeface="Arial MT"/>
                <a:cs typeface="Arial MT"/>
              </a:rPr>
              <a:t>–</a:t>
            </a:r>
            <a:r>
              <a:rPr sz="2450" spc="-10" dirty="0">
                <a:latin typeface="Calibri"/>
                <a:cs typeface="Calibri"/>
              </a:rPr>
              <a:t>Testing,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etc.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9311" y="276606"/>
            <a:ext cx="7265034" cy="392366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646555" marR="5080" indent="-367665">
              <a:lnSpc>
                <a:spcPts val="2770"/>
              </a:lnSpc>
              <a:spcBef>
                <a:spcPts val="330"/>
              </a:spcBef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Differences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between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exploratory</a:t>
            </a:r>
            <a:r>
              <a:rPr sz="2450" b="1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style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and </a:t>
            </a:r>
            <a:r>
              <a:rPr sz="2450" b="1" spc="-5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modern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45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development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practices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5" dirty="0">
                <a:latin typeface="Calibri"/>
                <a:cs typeface="Calibri"/>
              </a:rPr>
              <a:t>Emphasis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has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shifted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030"/>
              </a:spcBef>
            </a:pPr>
            <a:r>
              <a:rPr sz="2700" spc="10" dirty="0">
                <a:latin typeface="Arial MT"/>
                <a:cs typeface="Arial MT"/>
              </a:rPr>
              <a:t>–</a:t>
            </a:r>
            <a:r>
              <a:rPr sz="2700" spc="-135" dirty="0">
                <a:latin typeface="Arial MT"/>
                <a:cs typeface="Arial MT"/>
              </a:rPr>
              <a:t> </a:t>
            </a:r>
            <a:r>
              <a:rPr sz="2700" spc="-5" dirty="0">
                <a:latin typeface="Calibri"/>
                <a:cs typeface="Calibri"/>
              </a:rPr>
              <a:t>from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error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correction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error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prevention.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93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dirty="0">
                <a:latin typeface="Calibri"/>
                <a:cs typeface="Calibri"/>
              </a:rPr>
              <a:t>Modern</a:t>
            </a:r>
            <a:r>
              <a:rPr sz="3000" spc="-10" dirty="0">
                <a:latin typeface="Calibri"/>
                <a:cs typeface="Calibri"/>
              </a:rPr>
              <a:t> practices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emphasize:</a:t>
            </a:r>
            <a:endParaRPr sz="3000">
              <a:latin typeface="Calibri"/>
              <a:cs typeface="Calibri"/>
            </a:endParaRPr>
          </a:p>
          <a:p>
            <a:pPr marL="516890" marR="649605" indent="-193675">
              <a:lnSpc>
                <a:spcPct val="121100"/>
              </a:lnSpc>
              <a:spcBef>
                <a:spcPts val="1350"/>
              </a:spcBef>
            </a:pPr>
            <a:r>
              <a:rPr sz="2700" spc="5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detection</a:t>
            </a:r>
            <a:r>
              <a:rPr sz="270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sz="2700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CC"/>
                </a:solidFill>
                <a:latin typeface="Calibri"/>
                <a:cs typeface="Calibri"/>
              </a:rPr>
              <a:t>errors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as</a:t>
            </a:r>
            <a:r>
              <a:rPr sz="27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close</a:t>
            </a:r>
            <a:r>
              <a:rPr sz="27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their</a:t>
            </a:r>
            <a:r>
              <a:rPr sz="27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point</a:t>
            </a:r>
            <a:r>
              <a:rPr sz="2700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of </a:t>
            </a:r>
            <a:r>
              <a:rPr sz="2700" spc="-6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introduction</a:t>
            </a:r>
            <a:r>
              <a:rPr sz="27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as</a:t>
            </a:r>
            <a:r>
              <a:rPr sz="27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possible.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86</a:t>
            </a:fld>
            <a:endParaRPr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2027" y="265557"/>
            <a:ext cx="599821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Differences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between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exploratory</a:t>
            </a:r>
            <a:r>
              <a:rPr sz="245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style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87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2320" y="617600"/>
            <a:ext cx="526478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modern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45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development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practices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2929" y="756284"/>
            <a:ext cx="5689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0000CC"/>
                </a:solidFill>
                <a:latin typeface="Calibri"/>
                <a:cs typeface="Calibri"/>
              </a:rPr>
              <a:t>(</a:t>
            </a:r>
            <a:r>
              <a:rPr sz="1350" b="1" spc="-15" dirty="0">
                <a:solidFill>
                  <a:srgbClr val="0000CC"/>
                </a:solidFill>
                <a:latin typeface="Calibri"/>
                <a:cs typeface="Calibri"/>
              </a:rPr>
              <a:t>C</a:t>
            </a:r>
            <a:r>
              <a:rPr sz="1350" b="1" spc="-5" dirty="0">
                <a:solidFill>
                  <a:srgbClr val="0000CC"/>
                </a:solidFill>
                <a:latin typeface="Calibri"/>
                <a:cs typeface="Calibri"/>
              </a:rPr>
              <a:t>ON</a:t>
            </a:r>
            <a:r>
              <a:rPr sz="1350" b="1" spc="-110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1350" b="1" spc="-5" dirty="0">
                <a:solidFill>
                  <a:srgbClr val="0000CC"/>
                </a:solidFill>
                <a:latin typeface="Calibri"/>
                <a:cs typeface="Calibri"/>
              </a:rPr>
              <a:t>.)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511" y="1234567"/>
            <a:ext cx="7719695" cy="27584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5" dirty="0">
                <a:latin typeface="Calibri"/>
                <a:cs typeface="Calibri"/>
              </a:rPr>
              <a:t>In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exploratory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style,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889"/>
              </a:spcBef>
            </a:pPr>
            <a:r>
              <a:rPr sz="2450" spc="10" dirty="0">
                <a:latin typeface="Arial MT"/>
                <a:cs typeface="Arial MT"/>
              </a:rPr>
              <a:t>–</a:t>
            </a:r>
            <a:r>
              <a:rPr sz="2450" spc="10" dirty="0">
                <a:latin typeface="Calibri"/>
                <a:cs typeface="Calibri"/>
              </a:rPr>
              <a:t>errors</a:t>
            </a:r>
            <a:r>
              <a:rPr sz="2450" spc="-4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are </a:t>
            </a:r>
            <a:r>
              <a:rPr sz="2450" spc="-10" dirty="0">
                <a:latin typeface="Calibri"/>
                <a:cs typeface="Calibri"/>
              </a:rPr>
              <a:t>detected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only</a:t>
            </a:r>
            <a:r>
              <a:rPr sz="2450" spc="-10" dirty="0">
                <a:latin typeface="Calibri"/>
                <a:cs typeface="Calibri"/>
              </a:rPr>
              <a:t> during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testing,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814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10" dirty="0">
                <a:latin typeface="Calibri"/>
                <a:cs typeface="Calibri"/>
              </a:rPr>
              <a:t>Now:</a:t>
            </a:r>
            <a:endParaRPr sz="2700">
              <a:latin typeface="Calibri"/>
              <a:cs typeface="Calibri"/>
            </a:endParaRPr>
          </a:p>
          <a:p>
            <a:pPr marL="516890" marR="5080" indent="-193675">
              <a:lnSpc>
                <a:spcPct val="120000"/>
              </a:lnSpc>
              <a:spcBef>
                <a:spcPts val="1310"/>
              </a:spcBef>
            </a:pPr>
            <a:r>
              <a:rPr sz="2450" spc="-5" dirty="0">
                <a:solidFill>
                  <a:srgbClr val="6600CC"/>
                </a:solidFill>
                <a:latin typeface="Arial MT"/>
                <a:cs typeface="Arial MT"/>
              </a:rPr>
              <a:t>–</a:t>
            </a:r>
            <a:r>
              <a:rPr sz="2450" spc="30" dirty="0">
                <a:solidFill>
                  <a:srgbClr val="6600CC"/>
                </a:solidFill>
                <a:latin typeface="Arial MT"/>
                <a:cs typeface="Arial MT"/>
              </a:rPr>
              <a:t> </a:t>
            </a:r>
            <a:r>
              <a:rPr sz="2450" b="1" spc="-5" dirty="0">
                <a:solidFill>
                  <a:srgbClr val="6600CC"/>
                </a:solidFill>
                <a:latin typeface="Calibri"/>
                <a:cs typeface="Calibri"/>
              </a:rPr>
              <a:t>Focus</a:t>
            </a:r>
            <a:r>
              <a:rPr sz="2450" b="1" spc="-2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6600CC"/>
                </a:solidFill>
                <a:latin typeface="Calibri"/>
                <a:cs typeface="Calibri"/>
              </a:rPr>
              <a:t>is</a:t>
            </a:r>
            <a:r>
              <a:rPr sz="2450" b="1" spc="-1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6600CC"/>
                </a:solidFill>
                <a:latin typeface="Calibri"/>
                <a:cs typeface="Calibri"/>
              </a:rPr>
              <a:t>on</a:t>
            </a:r>
            <a:r>
              <a:rPr sz="2450" b="1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6600CC"/>
                </a:solidFill>
                <a:latin typeface="Calibri"/>
                <a:cs typeface="Calibri"/>
              </a:rPr>
              <a:t>detecting</a:t>
            </a:r>
            <a:r>
              <a:rPr sz="2450" b="1" spc="-5" dirty="0">
                <a:solidFill>
                  <a:srgbClr val="6600CC"/>
                </a:solidFill>
                <a:latin typeface="Calibri"/>
                <a:cs typeface="Calibri"/>
              </a:rPr>
              <a:t> as</a:t>
            </a:r>
            <a:r>
              <a:rPr sz="2450" b="1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6600CC"/>
                </a:solidFill>
                <a:latin typeface="Calibri"/>
                <a:cs typeface="Calibri"/>
              </a:rPr>
              <a:t>many</a:t>
            </a:r>
            <a:r>
              <a:rPr sz="2450" b="1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6600CC"/>
                </a:solidFill>
                <a:latin typeface="Calibri"/>
                <a:cs typeface="Calibri"/>
              </a:rPr>
              <a:t>errors</a:t>
            </a:r>
            <a:r>
              <a:rPr sz="2450" b="1" spc="-2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6600CC"/>
                </a:solidFill>
                <a:latin typeface="Calibri"/>
                <a:cs typeface="Calibri"/>
              </a:rPr>
              <a:t>as</a:t>
            </a:r>
            <a:r>
              <a:rPr sz="2450" b="1" spc="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6600CC"/>
                </a:solidFill>
                <a:latin typeface="Calibri"/>
                <a:cs typeface="Calibri"/>
              </a:rPr>
              <a:t>possible</a:t>
            </a:r>
            <a:r>
              <a:rPr sz="2450" b="1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6600CC"/>
                </a:solidFill>
                <a:latin typeface="Calibri"/>
                <a:cs typeface="Calibri"/>
              </a:rPr>
              <a:t>in</a:t>
            </a:r>
            <a:r>
              <a:rPr sz="2450" b="1" spc="-10" dirty="0">
                <a:solidFill>
                  <a:srgbClr val="6600CC"/>
                </a:solidFill>
                <a:latin typeface="Calibri"/>
                <a:cs typeface="Calibri"/>
              </a:rPr>
              <a:t> each </a:t>
            </a:r>
            <a:r>
              <a:rPr sz="2450" b="1" spc="-540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6600CC"/>
                </a:solidFill>
                <a:latin typeface="Calibri"/>
                <a:cs typeface="Calibri"/>
              </a:rPr>
              <a:t>phase</a:t>
            </a:r>
            <a:r>
              <a:rPr sz="2450" b="1" spc="5" dirty="0">
                <a:solidFill>
                  <a:srgbClr val="66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6600CC"/>
                </a:solidFill>
                <a:latin typeface="Calibri"/>
                <a:cs typeface="Calibri"/>
              </a:rPr>
              <a:t>of </a:t>
            </a:r>
            <a:r>
              <a:rPr sz="2450" b="1" spc="-10" dirty="0">
                <a:solidFill>
                  <a:srgbClr val="6600CC"/>
                </a:solidFill>
                <a:latin typeface="Calibri"/>
                <a:cs typeface="Calibri"/>
              </a:rPr>
              <a:t>development.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11" y="252730"/>
            <a:ext cx="7924800" cy="40144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987550" marR="5080" indent="-50800">
              <a:lnSpc>
                <a:spcPts val="2770"/>
              </a:lnSpc>
              <a:spcBef>
                <a:spcPts val="330"/>
              </a:spcBef>
              <a:tabLst>
                <a:tab pos="7368540" algn="l"/>
              </a:tabLst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Differences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between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exploratory</a:t>
            </a:r>
            <a:r>
              <a:rPr sz="245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style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and </a:t>
            </a:r>
            <a:r>
              <a:rPr sz="2450" b="1" spc="-5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moder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o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f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w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r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de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v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elopme</a:t>
            </a:r>
            <a:r>
              <a:rPr sz="2450" b="1" spc="-40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t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p</a:t>
            </a:r>
            <a:r>
              <a:rPr sz="2450" b="1" spc="-45" dirty="0">
                <a:solidFill>
                  <a:srgbClr val="0000CC"/>
                </a:solidFill>
                <a:latin typeface="Calibri"/>
                <a:cs typeface="Calibri"/>
              </a:rPr>
              <a:t>r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acti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c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s	</a:t>
            </a:r>
            <a:r>
              <a:rPr sz="1350" b="1" dirty="0">
                <a:solidFill>
                  <a:srgbClr val="0000CC"/>
                </a:solidFill>
                <a:latin typeface="Calibri"/>
                <a:cs typeface="Calibri"/>
              </a:rPr>
              <a:t>(</a:t>
            </a:r>
            <a:r>
              <a:rPr sz="1350" b="1" spc="-15" dirty="0">
                <a:solidFill>
                  <a:srgbClr val="0000CC"/>
                </a:solidFill>
                <a:latin typeface="Calibri"/>
                <a:cs typeface="Calibri"/>
              </a:rPr>
              <a:t>C</a:t>
            </a:r>
            <a:r>
              <a:rPr sz="1350" b="1" spc="-5" dirty="0">
                <a:solidFill>
                  <a:srgbClr val="0000CC"/>
                </a:solidFill>
                <a:latin typeface="Calibri"/>
                <a:cs typeface="Calibri"/>
              </a:rPr>
              <a:t>ON</a:t>
            </a:r>
            <a:r>
              <a:rPr sz="1350" b="1" spc="-110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1350" b="1" spc="-5" dirty="0">
                <a:solidFill>
                  <a:srgbClr val="0000CC"/>
                </a:solidFill>
                <a:latin typeface="Calibri"/>
                <a:cs typeface="Calibri"/>
              </a:rPr>
              <a:t>.)</a:t>
            </a:r>
            <a:endParaRPr sz="13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51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dirty="0">
                <a:latin typeface="Calibri"/>
                <a:cs typeface="Calibri"/>
              </a:rPr>
              <a:t>In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exploratory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style: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210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coding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synonymous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with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program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development.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085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5" dirty="0">
                <a:latin typeface="Calibri"/>
                <a:cs typeface="Calibri"/>
              </a:rPr>
              <a:t>Now:</a:t>
            </a:r>
            <a:endParaRPr sz="3000">
              <a:latin typeface="Calibri"/>
              <a:cs typeface="Calibri"/>
            </a:endParaRPr>
          </a:p>
          <a:p>
            <a:pPr marL="516890" marR="526415" indent="-194310">
              <a:lnSpc>
                <a:spcPct val="121100"/>
              </a:lnSpc>
              <a:spcBef>
                <a:spcPts val="1540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coding is </a:t>
            </a:r>
            <a:r>
              <a:rPr sz="2700" dirty="0">
                <a:latin typeface="Calibri"/>
                <a:cs typeface="Calibri"/>
              </a:rPr>
              <a:t>considered </a:t>
            </a:r>
            <a:r>
              <a:rPr sz="2700" spc="5" dirty="0">
                <a:latin typeface="Calibri"/>
                <a:cs typeface="Calibri"/>
              </a:rPr>
              <a:t>only </a:t>
            </a:r>
            <a:r>
              <a:rPr sz="2700" spc="10" dirty="0">
                <a:latin typeface="Calibri"/>
                <a:cs typeface="Calibri"/>
              </a:rPr>
              <a:t>a </a:t>
            </a:r>
            <a:r>
              <a:rPr sz="2700" spc="5" dirty="0">
                <a:latin typeface="Calibri"/>
                <a:cs typeface="Calibri"/>
              </a:rPr>
              <a:t>small part of </a:t>
            </a:r>
            <a:r>
              <a:rPr sz="2700" spc="-10" dirty="0">
                <a:latin typeface="Calibri"/>
                <a:cs typeface="Calibri"/>
              </a:rPr>
              <a:t>program </a:t>
            </a:r>
            <a:r>
              <a:rPr sz="2700" spc="-60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development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effort.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88</a:t>
            </a:fld>
            <a:endParaRPr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11" y="386333"/>
            <a:ext cx="7848600" cy="347916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911350" marR="5080" indent="-50800">
              <a:lnSpc>
                <a:spcPts val="2770"/>
              </a:lnSpc>
              <a:spcBef>
                <a:spcPts val="330"/>
              </a:spcBef>
              <a:tabLst>
                <a:tab pos="7292340" algn="l"/>
              </a:tabLst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Differences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between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exploratory</a:t>
            </a:r>
            <a:r>
              <a:rPr sz="245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style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and </a:t>
            </a:r>
            <a:r>
              <a:rPr sz="2450" b="1" spc="-5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mode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r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soft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w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r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d</a:t>
            </a:r>
            <a:r>
              <a:rPr sz="2450" b="1" spc="-20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v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elopme</a:t>
            </a:r>
            <a:r>
              <a:rPr sz="2450" b="1" spc="-35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p</a:t>
            </a:r>
            <a:r>
              <a:rPr sz="2450" b="1" spc="-55" dirty="0">
                <a:solidFill>
                  <a:srgbClr val="0000CC"/>
                </a:solidFill>
                <a:latin typeface="Calibri"/>
                <a:cs typeface="Calibri"/>
              </a:rPr>
              <a:t>r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actices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1350" b="1" dirty="0">
                <a:solidFill>
                  <a:srgbClr val="0000CC"/>
                </a:solidFill>
                <a:latin typeface="Calibri"/>
                <a:cs typeface="Calibri"/>
              </a:rPr>
              <a:t>(</a:t>
            </a:r>
            <a:r>
              <a:rPr sz="1350" b="1" spc="-15" dirty="0">
                <a:solidFill>
                  <a:srgbClr val="0000CC"/>
                </a:solidFill>
                <a:latin typeface="Calibri"/>
                <a:cs typeface="Calibri"/>
              </a:rPr>
              <a:t>C</a:t>
            </a:r>
            <a:r>
              <a:rPr sz="1350" b="1" spc="-5" dirty="0">
                <a:solidFill>
                  <a:srgbClr val="0000CC"/>
                </a:solidFill>
                <a:latin typeface="Calibri"/>
                <a:cs typeface="Calibri"/>
              </a:rPr>
              <a:t>ON</a:t>
            </a:r>
            <a:r>
              <a:rPr sz="1350" b="1" spc="-110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1350" b="1" spc="-5" dirty="0">
                <a:solidFill>
                  <a:srgbClr val="0000CC"/>
                </a:solidFill>
                <a:latin typeface="Calibri"/>
                <a:cs typeface="Calibri"/>
              </a:rPr>
              <a:t>.)</a:t>
            </a:r>
            <a:endParaRPr sz="135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639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effort</a:t>
            </a:r>
            <a:r>
              <a:rPr sz="2800" spc="-5" dirty="0">
                <a:latin typeface="Calibri"/>
                <a:cs typeface="Calibri"/>
              </a:rPr>
              <a:t> 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attention</a:t>
            </a:r>
            <a:r>
              <a:rPr sz="2800" spc="-5" dirty="0">
                <a:latin typeface="Calibri"/>
                <a:cs typeface="Calibri"/>
              </a:rPr>
              <a:t> 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now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paid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to:</a:t>
            </a:r>
            <a:endParaRPr sz="28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115"/>
              </a:spcBef>
            </a:pPr>
            <a:r>
              <a:rPr sz="2800" spc="-15" dirty="0">
                <a:latin typeface="Arial MT"/>
                <a:cs typeface="Arial MT"/>
              </a:rPr>
              <a:t>–</a:t>
            </a:r>
            <a:r>
              <a:rPr sz="2800" spc="-15" dirty="0">
                <a:latin typeface="Calibri"/>
                <a:cs typeface="Calibri"/>
              </a:rPr>
              <a:t>Requirements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specification.</a:t>
            </a:r>
            <a:endParaRPr sz="28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2110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15" dirty="0">
                <a:latin typeface="Calibri"/>
                <a:cs typeface="Calibri"/>
              </a:rPr>
              <a:t>Also,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now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there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distinct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design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phase:</a:t>
            </a:r>
            <a:endParaRPr sz="28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115"/>
              </a:spcBef>
            </a:pPr>
            <a:r>
              <a:rPr sz="2800" spc="-15" dirty="0">
                <a:latin typeface="Arial MT"/>
                <a:cs typeface="Arial MT"/>
              </a:rPr>
              <a:t>–</a:t>
            </a:r>
            <a:r>
              <a:rPr sz="2800" spc="-15" dirty="0">
                <a:latin typeface="Calibri"/>
                <a:cs typeface="Calibri"/>
              </a:rPr>
              <a:t>Standard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design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89</a:t>
            </a:fld>
            <a:endParaRPr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989" y="470738"/>
            <a:ext cx="7640955" cy="354901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773555" marR="5080" indent="-120650">
              <a:lnSpc>
                <a:spcPts val="2770"/>
              </a:lnSpc>
              <a:spcBef>
                <a:spcPts val="334"/>
              </a:spcBef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Differences between 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the 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exploratory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style 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and </a:t>
            </a:r>
            <a:r>
              <a:rPr sz="2450" b="1" spc="-5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modern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development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practices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0000CC"/>
                </a:solidFill>
                <a:latin typeface="Calibri"/>
                <a:cs typeface="Calibri"/>
              </a:rPr>
              <a:t>(CONT.)</a:t>
            </a:r>
            <a:endParaRPr sz="13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265"/>
              </a:spcBef>
              <a:buFont typeface="Arial MT"/>
              <a:buChar char="•"/>
              <a:tabLst>
                <a:tab pos="246379" algn="l"/>
                <a:tab pos="3345815" algn="l"/>
              </a:tabLst>
            </a:pPr>
            <a:r>
              <a:rPr sz="3000" spc="-5" dirty="0">
                <a:latin typeface="Calibri"/>
                <a:cs typeface="Calibri"/>
              </a:rPr>
              <a:t>During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all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stages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	</a:t>
            </a:r>
            <a:r>
              <a:rPr sz="3000" spc="-15" dirty="0">
                <a:latin typeface="Calibri"/>
                <a:cs typeface="Calibri"/>
              </a:rPr>
              <a:t>development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process: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355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Periodic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reviews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are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being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carried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out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305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15" dirty="0">
                <a:latin typeface="Calibri"/>
                <a:cs typeface="Calibri"/>
              </a:rPr>
              <a:t>Software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testing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has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become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systematic: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355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Standard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testing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techniques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are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available.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dirty="0"/>
              <a:t>90</a:t>
            </a:fld>
            <a:endParaRPr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891" y="216154"/>
            <a:ext cx="8307705" cy="75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0160" algn="r">
              <a:lnSpc>
                <a:spcPts val="2855"/>
              </a:lnSpc>
              <a:spcBef>
                <a:spcPts val="95"/>
              </a:spcBef>
            </a:pPr>
            <a:r>
              <a:rPr sz="2450" spc="-10" dirty="0">
                <a:solidFill>
                  <a:srgbClr val="0000CC"/>
                </a:solidFill>
              </a:rPr>
              <a:t>Differences</a:t>
            </a:r>
            <a:r>
              <a:rPr sz="2450" dirty="0">
                <a:solidFill>
                  <a:srgbClr val="0000CC"/>
                </a:solidFill>
              </a:rPr>
              <a:t> </a:t>
            </a:r>
            <a:r>
              <a:rPr sz="2450" spc="-10" dirty="0">
                <a:solidFill>
                  <a:srgbClr val="0000CC"/>
                </a:solidFill>
              </a:rPr>
              <a:t>between</a:t>
            </a:r>
            <a:r>
              <a:rPr sz="2450" spc="10" dirty="0">
                <a:solidFill>
                  <a:srgbClr val="0000CC"/>
                </a:solidFill>
              </a:rPr>
              <a:t> </a:t>
            </a:r>
            <a:r>
              <a:rPr sz="2450" spc="-5" dirty="0">
                <a:solidFill>
                  <a:srgbClr val="0000CC"/>
                </a:solidFill>
              </a:rPr>
              <a:t>the</a:t>
            </a:r>
            <a:r>
              <a:rPr sz="2450" spc="5" dirty="0">
                <a:solidFill>
                  <a:srgbClr val="0000CC"/>
                </a:solidFill>
              </a:rPr>
              <a:t> </a:t>
            </a:r>
            <a:r>
              <a:rPr sz="2450" spc="-15" dirty="0">
                <a:solidFill>
                  <a:srgbClr val="0000CC"/>
                </a:solidFill>
              </a:rPr>
              <a:t>exploratory</a:t>
            </a:r>
            <a:r>
              <a:rPr sz="2450" spc="-25" dirty="0">
                <a:solidFill>
                  <a:srgbClr val="0000CC"/>
                </a:solidFill>
              </a:rPr>
              <a:t> </a:t>
            </a:r>
            <a:r>
              <a:rPr sz="2450" spc="-10" dirty="0">
                <a:solidFill>
                  <a:srgbClr val="0000CC"/>
                </a:solidFill>
              </a:rPr>
              <a:t>style</a:t>
            </a:r>
            <a:r>
              <a:rPr sz="2450" spc="10" dirty="0">
                <a:solidFill>
                  <a:srgbClr val="0000CC"/>
                </a:solidFill>
              </a:rPr>
              <a:t> </a:t>
            </a:r>
            <a:r>
              <a:rPr sz="2450" spc="-5" dirty="0">
                <a:solidFill>
                  <a:srgbClr val="0000CC"/>
                </a:solidFill>
              </a:rPr>
              <a:t>and</a:t>
            </a:r>
            <a:r>
              <a:rPr sz="2450" spc="5" dirty="0">
                <a:solidFill>
                  <a:srgbClr val="0000CC"/>
                </a:solidFill>
              </a:rPr>
              <a:t> </a:t>
            </a:r>
            <a:r>
              <a:rPr sz="2450" spc="-5" dirty="0">
                <a:solidFill>
                  <a:srgbClr val="0000CC"/>
                </a:solidFill>
              </a:rPr>
              <a:t>modern</a:t>
            </a:r>
            <a:r>
              <a:rPr sz="2450" spc="-10" dirty="0">
                <a:solidFill>
                  <a:srgbClr val="0000CC"/>
                </a:solidFill>
              </a:rPr>
              <a:t> software</a:t>
            </a:r>
            <a:endParaRPr sz="2450"/>
          </a:p>
          <a:p>
            <a:pPr marR="5080" algn="r">
              <a:lnSpc>
                <a:spcPts val="2855"/>
              </a:lnSpc>
            </a:pPr>
            <a:r>
              <a:rPr sz="2450" spc="-10" dirty="0">
                <a:solidFill>
                  <a:srgbClr val="0000CC"/>
                </a:solidFill>
              </a:rPr>
              <a:t>development</a:t>
            </a:r>
            <a:r>
              <a:rPr sz="2450" spc="-35" dirty="0">
                <a:solidFill>
                  <a:srgbClr val="0000CC"/>
                </a:solidFill>
              </a:rPr>
              <a:t> </a:t>
            </a:r>
            <a:r>
              <a:rPr sz="2450" spc="-10" dirty="0">
                <a:solidFill>
                  <a:srgbClr val="0000CC"/>
                </a:solidFill>
              </a:rPr>
              <a:t>practices</a:t>
            </a:r>
            <a:r>
              <a:rPr sz="2450" spc="-25" dirty="0">
                <a:solidFill>
                  <a:srgbClr val="0000CC"/>
                </a:solidFill>
              </a:rPr>
              <a:t> </a:t>
            </a:r>
            <a:r>
              <a:rPr sz="1350" spc="-20" dirty="0">
                <a:solidFill>
                  <a:srgbClr val="0000CC"/>
                </a:solidFill>
              </a:rPr>
              <a:t>(CONT.)</a:t>
            </a:r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8095233" y="4766868"/>
            <a:ext cx="5384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z="2400" b="1" dirty="0">
                <a:solidFill>
                  <a:srgbClr val="888888"/>
                </a:solidFill>
                <a:latin typeface="Calibri"/>
                <a:cs typeface="Calibri"/>
              </a:rPr>
              <a:t>91</a:t>
            </a:fld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911" y="881633"/>
            <a:ext cx="8792845" cy="3502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15" dirty="0">
                <a:latin typeface="Calibri"/>
                <a:cs typeface="Calibri"/>
              </a:rPr>
              <a:t>There </a:t>
            </a:r>
            <a:r>
              <a:rPr sz="2450" spc="-5" dirty="0">
                <a:latin typeface="Calibri"/>
                <a:cs typeface="Calibri"/>
              </a:rPr>
              <a:t>is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better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visibility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design </a:t>
            </a:r>
            <a:r>
              <a:rPr sz="2450" spc="-5" dirty="0">
                <a:latin typeface="Calibri"/>
                <a:cs typeface="Calibri"/>
              </a:rPr>
              <a:t>and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code:</a:t>
            </a:r>
            <a:endParaRPr sz="2450">
              <a:latin typeface="Calibri"/>
              <a:cs typeface="Calibri"/>
            </a:endParaRPr>
          </a:p>
          <a:p>
            <a:pPr marL="516890" marR="493395" lvl="1" indent="-194310">
              <a:lnSpc>
                <a:spcPct val="126600"/>
              </a:lnSpc>
              <a:spcBef>
                <a:spcPts val="1645"/>
              </a:spcBef>
              <a:buFont typeface="Arial MT"/>
              <a:buChar char="–"/>
              <a:tabLst>
                <a:tab pos="517525" algn="l"/>
              </a:tabLst>
            </a:pPr>
            <a:r>
              <a:rPr sz="2150" b="1" dirty="0">
                <a:solidFill>
                  <a:srgbClr val="0000CC"/>
                </a:solidFill>
                <a:latin typeface="Calibri"/>
                <a:cs typeface="Calibri"/>
              </a:rPr>
              <a:t>Visibility</a:t>
            </a:r>
            <a:r>
              <a:rPr sz="2150" b="1" spc="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CC"/>
                </a:solidFill>
                <a:latin typeface="Calibri"/>
                <a:cs typeface="Calibri"/>
              </a:rPr>
              <a:t>means</a:t>
            </a:r>
            <a:r>
              <a:rPr sz="2150" b="1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CC"/>
                </a:solidFill>
                <a:latin typeface="Calibri"/>
                <a:cs typeface="Calibri"/>
              </a:rPr>
              <a:t>production</a:t>
            </a:r>
            <a:r>
              <a:rPr sz="2150" b="1" spc="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sz="2150" b="1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00CC"/>
                </a:solidFill>
                <a:latin typeface="Calibri"/>
                <a:cs typeface="Calibri"/>
              </a:rPr>
              <a:t>good</a:t>
            </a:r>
            <a:r>
              <a:rPr sz="2150" b="1" spc="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b="1" spc="-15" dirty="0">
                <a:solidFill>
                  <a:srgbClr val="0000CC"/>
                </a:solidFill>
                <a:latin typeface="Calibri"/>
                <a:cs typeface="Calibri"/>
              </a:rPr>
              <a:t>quality,</a:t>
            </a:r>
            <a:r>
              <a:rPr sz="2150" b="1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0000CC"/>
                </a:solidFill>
                <a:latin typeface="Calibri"/>
                <a:cs typeface="Calibri"/>
              </a:rPr>
              <a:t>consistent</a:t>
            </a:r>
            <a:r>
              <a:rPr sz="2150" b="1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2150" b="1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0000CC"/>
                </a:solidFill>
                <a:latin typeface="Calibri"/>
                <a:cs typeface="Calibri"/>
              </a:rPr>
              <a:t>standard </a:t>
            </a:r>
            <a:r>
              <a:rPr sz="2150" b="1" spc="-47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00CC"/>
                </a:solidFill>
                <a:latin typeface="Calibri"/>
                <a:cs typeface="Calibri"/>
              </a:rPr>
              <a:t>documents.</a:t>
            </a:r>
            <a:endParaRPr sz="21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har char="–"/>
            </a:pPr>
            <a:endParaRPr sz="1850">
              <a:latin typeface="Calibri"/>
              <a:cs typeface="Calibri"/>
            </a:endParaRPr>
          </a:p>
          <a:p>
            <a:pPr marL="516890" lvl="1" indent="-194310">
              <a:lnSpc>
                <a:spcPct val="100000"/>
              </a:lnSpc>
              <a:buFont typeface="Arial MT"/>
              <a:buChar char="–"/>
              <a:tabLst>
                <a:tab pos="517525" algn="l"/>
              </a:tabLst>
            </a:pPr>
            <a:r>
              <a:rPr sz="2150" spc="5" dirty="0">
                <a:latin typeface="Calibri"/>
                <a:cs typeface="Calibri"/>
              </a:rPr>
              <a:t>In </a:t>
            </a:r>
            <a:r>
              <a:rPr sz="2150" spc="10" dirty="0">
                <a:latin typeface="Calibri"/>
                <a:cs typeface="Calibri"/>
              </a:rPr>
              <a:t>the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past,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very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little</a:t>
            </a:r>
            <a:r>
              <a:rPr sz="2150" spc="-5" dirty="0">
                <a:latin typeface="Calibri"/>
                <a:cs typeface="Calibri"/>
              </a:rPr>
              <a:t> attention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was</a:t>
            </a:r>
            <a:r>
              <a:rPr sz="2150" spc="5" dirty="0">
                <a:latin typeface="Calibri"/>
                <a:cs typeface="Calibri"/>
              </a:rPr>
              <a:t> being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given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producing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good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quality</a:t>
            </a:r>
            <a:endParaRPr sz="2150">
              <a:latin typeface="Calibri"/>
              <a:cs typeface="Calibri"/>
            </a:endParaRPr>
          </a:p>
          <a:p>
            <a:pPr marL="516890">
              <a:lnSpc>
                <a:spcPct val="100000"/>
              </a:lnSpc>
              <a:spcBef>
                <a:spcPts val="685"/>
              </a:spcBef>
            </a:pPr>
            <a:r>
              <a:rPr sz="2150" spc="10" dirty="0">
                <a:latin typeface="Calibri"/>
                <a:cs typeface="Calibri"/>
              </a:rPr>
              <a:t>and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consistent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documents.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Calibri"/>
              <a:cs typeface="Calibri"/>
            </a:endParaRPr>
          </a:p>
          <a:p>
            <a:pPr marL="516890" lvl="1" indent="-194310">
              <a:lnSpc>
                <a:spcPct val="100000"/>
              </a:lnSpc>
              <a:buFont typeface="Arial MT"/>
              <a:buChar char="–"/>
              <a:tabLst>
                <a:tab pos="517525" algn="l"/>
              </a:tabLst>
            </a:pPr>
            <a:r>
              <a:rPr sz="2150" spc="-30" dirty="0">
                <a:latin typeface="Calibri"/>
                <a:cs typeface="Calibri"/>
              </a:rPr>
              <a:t>We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will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see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later</a:t>
            </a:r>
            <a:r>
              <a:rPr sz="2150" spc="48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that</a:t>
            </a:r>
            <a:r>
              <a:rPr sz="2150" spc="5" dirty="0">
                <a:latin typeface="Calibri"/>
                <a:cs typeface="Calibri"/>
              </a:rPr>
              <a:t> increased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visibility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makes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software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project</a:t>
            </a:r>
            <a:endParaRPr sz="2150">
              <a:latin typeface="Calibri"/>
              <a:cs typeface="Calibri"/>
            </a:endParaRPr>
          </a:p>
          <a:p>
            <a:pPr marL="516890">
              <a:lnSpc>
                <a:spcPct val="100000"/>
              </a:lnSpc>
              <a:spcBef>
                <a:spcPts val="685"/>
              </a:spcBef>
            </a:pPr>
            <a:r>
              <a:rPr sz="2150" spc="5" dirty="0">
                <a:latin typeface="Calibri"/>
                <a:cs typeface="Calibri"/>
              </a:rPr>
              <a:t>management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easier.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88" y="386333"/>
            <a:ext cx="8486140" cy="388556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019935" marR="603885" indent="-120650">
              <a:lnSpc>
                <a:spcPts val="2770"/>
              </a:lnSpc>
              <a:spcBef>
                <a:spcPts val="330"/>
              </a:spcBef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Differences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between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the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exploratory</a:t>
            </a:r>
            <a:r>
              <a:rPr sz="245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style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and </a:t>
            </a:r>
            <a:r>
              <a:rPr sz="2450" b="1" spc="-5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modern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development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practices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0000CC"/>
                </a:solidFill>
                <a:latin typeface="Calibri"/>
                <a:cs typeface="Calibri"/>
              </a:rPr>
              <a:t>(CONT.)</a:t>
            </a:r>
            <a:endParaRPr sz="13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02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5" dirty="0">
                <a:latin typeface="Calibri"/>
                <a:cs typeface="Calibri"/>
              </a:rPr>
              <a:t>Because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good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documentation: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030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fault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diagnosis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maintenance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smoother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now.</a:t>
            </a:r>
            <a:endParaRPr sz="27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935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20" dirty="0">
                <a:latin typeface="Calibri"/>
                <a:cs typeface="Calibri"/>
              </a:rPr>
              <a:t>Several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metrics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are</a:t>
            </a:r>
            <a:r>
              <a:rPr sz="3000" spc="-10" dirty="0">
                <a:latin typeface="Calibri"/>
                <a:cs typeface="Calibri"/>
              </a:rPr>
              <a:t> being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used:</a:t>
            </a:r>
            <a:endParaRPr sz="3000">
              <a:latin typeface="Calibri"/>
              <a:cs typeface="Calibri"/>
            </a:endParaRPr>
          </a:p>
          <a:p>
            <a:pPr marL="516890" marR="5080" indent="-193675">
              <a:lnSpc>
                <a:spcPct val="121200"/>
              </a:lnSpc>
              <a:spcBef>
                <a:spcPts val="1340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help </a:t>
            </a:r>
            <a:r>
              <a:rPr sz="2700" spc="10" dirty="0">
                <a:latin typeface="Calibri"/>
                <a:cs typeface="Calibri"/>
              </a:rPr>
              <a:t>in </a:t>
            </a:r>
            <a:r>
              <a:rPr sz="2700" spc="-5" dirty="0">
                <a:latin typeface="Calibri"/>
                <a:cs typeface="Calibri"/>
              </a:rPr>
              <a:t>software project </a:t>
            </a:r>
            <a:r>
              <a:rPr sz="2700" spc="5" dirty="0">
                <a:latin typeface="Calibri"/>
                <a:cs typeface="Calibri"/>
              </a:rPr>
              <a:t>management, quality assurance,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etc.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95233" y="4766868"/>
            <a:ext cx="5384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z="2400" b="1" dirty="0">
                <a:solidFill>
                  <a:srgbClr val="888888"/>
                </a:solidFill>
                <a:latin typeface="Calibri"/>
                <a:cs typeface="Calibri"/>
              </a:rPr>
              <a:t>92</a:t>
            </a:fld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911" y="269824"/>
            <a:ext cx="7543800" cy="394652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677035" marR="5080" indent="-120650">
              <a:lnSpc>
                <a:spcPts val="2780"/>
              </a:lnSpc>
              <a:spcBef>
                <a:spcPts val="325"/>
              </a:spcBef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Differences between 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the 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exploratory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style 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and </a:t>
            </a:r>
            <a:r>
              <a:rPr sz="2450" b="1" spc="-5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0000CC"/>
                </a:solidFill>
                <a:latin typeface="Calibri"/>
                <a:cs typeface="Calibri"/>
              </a:rPr>
              <a:t>modern</a:t>
            </a:r>
            <a:r>
              <a:rPr sz="245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development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practices</a:t>
            </a:r>
            <a:r>
              <a:rPr sz="2450" b="1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0000CC"/>
                </a:solidFill>
                <a:latin typeface="Calibri"/>
                <a:cs typeface="Calibri"/>
              </a:rPr>
              <a:t>(CONT.)</a:t>
            </a:r>
            <a:endParaRPr sz="13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246379" algn="l"/>
              </a:tabLst>
            </a:pPr>
            <a:r>
              <a:rPr sz="2800" spc="-15" dirty="0">
                <a:latin typeface="Calibri"/>
                <a:cs typeface="Calibri"/>
              </a:rPr>
              <a:t>Projects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being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properly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planned: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925"/>
              </a:spcBef>
            </a:pPr>
            <a:r>
              <a:rPr sz="2500" spc="5" dirty="0">
                <a:latin typeface="Arial MT"/>
                <a:cs typeface="Arial MT"/>
              </a:rPr>
              <a:t>–</a:t>
            </a:r>
            <a:r>
              <a:rPr sz="2500" spc="5" dirty="0">
                <a:latin typeface="Calibri"/>
                <a:cs typeface="Calibri"/>
              </a:rPr>
              <a:t>estimation,</a:t>
            </a:r>
            <a:endParaRPr sz="25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800"/>
              </a:spcBef>
            </a:pPr>
            <a:r>
              <a:rPr sz="2500" spc="5" dirty="0">
                <a:latin typeface="Arial MT"/>
                <a:cs typeface="Arial MT"/>
              </a:rPr>
              <a:t>–</a:t>
            </a:r>
            <a:r>
              <a:rPr sz="2500" spc="5" dirty="0">
                <a:latin typeface="Calibri"/>
                <a:cs typeface="Calibri"/>
              </a:rPr>
              <a:t>scheduling,</a:t>
            </a:r>
            <a:endParaRPr sz="25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800"/>
              </a:spcBef>
            </a:pPr>
            <a:r>
              <a:rPr sz="2500" spc="5" dirty="0">
                <a:latin typeface="Arial MT"/>
                <a:cs typeface="Arial MT"/>
              </a:rPr>
              <a:t>–</a:t>
            </a:r>
            <a:r>
              <a:rPr sz="2500" spc="5" dirty="0">
                <a:latin typeface="Calibri"/>
                <a:cs typeface="Calibri"/>
              </a:rPr>
              <a:t>monitoring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mechanisms.</a:t>
            </a:r>
            <a:endParaRPr sz="25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246379" algn="l"/>
              </a:tabLst>
            </a:pPr>
            <a:r>
              <a:rPr sz="2800" spc="-5" dirty="0">
                <a:latin typeface="Calibri"/>
                <a:cs typeface="Calibri"/>
              </a:rPr>
              <a:t>Use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CASE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tools.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95233" y="4766868"/>
            <a:ext cx="5384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z="2400" b="1" dirty="0">
                <a:solidFill>
                  <a:srgbClr val="888888"/>
                </a:solidFill>
                <a:latin typeface="Calibri"/>
                <a:cs typeface="Calibri"/>
              </a:rPr>
              <a:t>93</a:t>
            </a:fld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5494" y="321005"/>
            <a:ext cx="37896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0000CC"/>
                </a:solidFill>
              </a:rPr>
              <a:t>Review</a:t>
            </a:r>
            <a:r>
              <a:rPr spc="-50" dirty="0">
                <a:solidFill>
                  <a:srgbClr val="0000CC"/>
                </a:solidFill>
              </a:rPr>
              <a:t> </a:t>
            </a:r>
            <a:r>
              <a:rPr spc="-10" dirty="0">
                <a:solidFill>
                  <a:srgbClr val="0000CC"/>
                </a:solidFill>
              </a:rPr>
              <a:t>Questions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95233" y="4766868"/>
            <a:ext cx="5384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z="2400" b="1" dirty="0">
                <a:solidFill>
                  <a:srgbClr val="888888"/>
                </a:solidFill>
                <a:latin typeface="Calibri"/>
                <a:cs typeface="Calibri"/>
              </a:rPr>
              <a:t>94</a:t>
            </a:fld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7236" y="985731"/>
            <a:ext cx="8352790" cy="2623820"/>
          </a:xfrm>
          <a:prstGeom prst="rect">
            <a:avLst/>
          </a:prstGeom>
        </p:spPr>
        <p:txBody>
          <a:bodyPr vert="horz" wrap="square" lIns="0" tIns="26797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2110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5" dirty="0">
                <a:latin typeface="Calibri"/>
                <a:cs typeface="Calibri"/>
              </a:rPr>
              <a:t>What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-5" dirty="0">
                <a:latin typeface="Calibri"/>
                <a:cs typeface="Calibri"/>
              </a:rPr>
              <a:t>structured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programming?</a:t>
            </a:r>
            <a:endParaRPr sz="3250">
              <a:latin typeface="Calibri"/>
              <a:cs typeface="Calibri"/>
            </a:endParaRPr>
          </a:p>
          <a:p>
            <a:pPr marL="245745" marR="5080" indent="-233679">
              <a:lnSpc>
                <a:spcPct val="110600"/>
              </a:lnSpc>
              <a:spcBef>
                <a:spcPts val="1600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-5" dirty="0">
                <a:latin typeface="Calibri"/>
                <a:cs typeface="Calibri"/>
              </a:rPr>
              <a:t>What problems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may</a:t>
            </a:r>
            <a:r>
              <a:rPr sz="3250" spc="5" dirty="0">
                <a:latin typeface="Calibri"/>
                <a:cs typeface="Calibri"/>
              </a:rPr>
              <a:t> appear</a:t>
            </a:r>
            <a:r>
              <a:rPr sz="3250" dirty="0">
                <a:latin typeface="Calibri"/>
                <a:cs typeface="Calibri"/>
              </a:rPr>
              <a:t> if</a:t>
            </a:r>
            <a:r>
              <a:rPr sz="3250" spc="5" dirty="0">
                <a:latin typeface="Calibri"/>
                <a:cs typeface="Calibri"/>
              </a:rPr>
              <a:t> a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large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program</a:t>
            </a:r>
            <a:r>
              <a:rPr sz="3250" spc="5" dirty="0">
                <a:latin typeface="Calibri"/>
                <a:cs typeface="Calibri"/>
              </a:rPr>
              <a:t> is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developed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without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using </a:t>
            </a:r>
            <a:r>
              <a:rPr sz="3250" spc="-5" dirty="0">
                <a:latin typeface="Calibri"/>
                <a:cs typeface="Calibri"/>
              </a:rPr>
              <a:t>structured 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programming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techniques?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5439" y="1586483"/>
            <a:ext cx="5859780" cy="1659889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460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25"/>
              </a:spcBef>
            </a:pPr>
            <a:r>
              <a:rPr sz="4450" spc="-10" dirty="0">
                <a:solidFill>
                  <a:srgbClr val="0000CC"/>
                </a:solidFill>
              </a:rPr>
              <a:t>Life</a:t>
            </a:r>
            <a:r>
              <a:rPr sz="4450" spc="-5" dirty="0">
                <a:solidFill>
                  <a:srgbClr val="0000CC"/>
                </a:solidFill>
              </a:rPr>
              <a:t> </a:t>
            </a:r>
            <a:r>
              <a:rPr sz="4450" dirty="0">
                <a:solidFill>
                  <a:srgbClr val="0000CC"/>
                </a:solidFill>
              </a:rPr>
              <a:t>Cycle</a:t>
            </a:r>
            <a:r>
              <a:rPr sz="4450" spc="-20" dirty="0">
                <a:solidFill>
                  <a:srgbClr val="0000CC"/>
                </a:solidFill>
              </a:rPr>
              <a:t> </a:t>
            </a:r>
            <a:r>
              <a:rPr sz="4450" spc="10" dirty="0">
                <a:solidFill>
                  <a:srgbClr val="0000CC"/>
                </a:solidFill>
              </a:rPr>
              <a:t>Models</a:t>
            </a:r>
            <a:endParaRPr sz="4450"/>
          </a:p>
        </p:txBody>
      </p:sp>
      <p:sp>
        <p:nvSpPr>
          <p:cNvPr id="3" name="object 3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95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21626" y="514553"/>
            <a:ext cx="1444625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9685">
              <a:lnSpc>
                <a:spcPct val="100000"/>
              </a:lnSpc>
              <a:spcBef>
                <a:spcPts val="105"/>
              </a:spcBef>
            </a:pPr>
            <a:r>
              <a:rPr sz="2900" spc="-15" dirty="0"/>
              <a:t>Software </a:t>
            </a:r>
            <a:r>
              <a:rPr sz="2900" spc="-645" dirty="0"/>
              <a:t> </a:t>
            </a:r>
            <a:r>
              <a:rPr sz="2900" spc="-15" dirty="0"/>
              <a:t>Life</a:t>
            </a:r>
            <a:r>
              <a:rPr sz="2900" spc="-110" dirty="0"/>
              <a:t> </a:t>
            </a:r>
            <a:r>
              <a:rPr sz="2900" spc="-10" dirty="0"/>
              <a:t>Cycle</a:t>
            </a:r>
            <a:endParaRPr sz="2900"/>
          </a:p>
        </p:txBody>
      </p:sp>
      <p:sp>
        <p:nvSpPr>
          <p:cNvPr id="3" name="object 3"/>
          <p:cNvSpPr/>
          <p:nvPr/>
        </p:nvSpPr>
        <p:spPr>
          <a:xfrm>
            <a:off x="2478023" y="615695"/>
            <a:ext cx="4198620" cy="3797935"/>
          </a:xfrm>
          <a:custGeom>
            <a:avLst/>
            <a:gdLst/>
            <a:ahLst/>
            <a:cxnLst/>
            <a:rect l="l" t="t" r="r" b="b"/>
            <a:pathLst>
              <a:path w="4198620" h="3797935">
                <a:moveTo>
                  <a:pt x="0" y="1898903"/>
                </a:moveTo>
                <a:lnTo>
                  <a:pt x="607" y="1852765"/>
                </a:lnTo>
                <a:lnTo>
                  <a:pt x="2420" y="1806897"/>
                </a:lnTo>
                <a:lnTo>
                  <a:pt x="5426" y="1761312"/>
                </a:lnTo>
                <a:lnTo>
                  <a:pt x="9610" y="1716022"/>
                </a:lnTo>
                <a:lnTo>
                  <a:pt x="14958" y="1671039"/>
                </a:lnTo>
                <a:lnTo>
                  <a:pt x="21458" y="1626376"/>
                </a:lnTo>
                <a:lnTo>
                  <a:pt x="29094" y="1582045"/>
                </a:lnTo>
                <a:lnTo>
                  <a:pt x="37854" y="1538059"/>
                </a:lnTo>
                <a:lnTo>
                  <a:pt x="47724" y="1494430"/>
                </a:lnTo>
                <a:lnTo>
                  <a:pt x="58690" y="1451171"/>
                </a:lnTo>
                <a:lnTo>
                  <a:pt x="70737" y="1408294"/>
                </a:lnTo>
                <a:lnTo>
                  <a:pt x="83853" y="1365812"/>
                </a:lnTo>
                <a:lnTo>
                  <a:pt x="98024" y="1323736"/>
                </a:lnTo>
                <a:lnTo>
                  <a:pt x="113236" y="1282080"/>
                </a:lnTo>
                <a:lnTo>
                  <a:pt x="129474" y="1240855"/>
                </a:lnTo>
                <a:lnTo>
                  <a:pt x="146727" y="1200075"/>
                </a:lnTo>
                <a:lnTo>
                  <a:pt x="164978" y="1159752"/>
                </a:lnTo>
                <a:lnTo>
                  <a:pt x="184216" y="1119897"/>
                </a:lnTo>
                <a:lnTo>
                  <a:pt x="204426" y="1080524"/>
                </a:lnTo>
                <a:lnTo>
                  <a:pt x="225594" y="1041645"/>
                </a:lnTo>
                <a:lnTo>
                  <a:pt x="247707" y="1003272"/>
                </a:lnTo>
                <a:lnTo>
                  <a:pt x="270751" y="965418"/>
                </a:lnTo>
                <a:lnTo>
                  <a:pt x="294712" y="928096"/>
                </a:lnTo>
                <a:lnTo>
                  <a:pt x="319577" y="891317"/>
                </a:lnTo>
                <a:lnTo>
                  <a:pt x="345331" y="855094"/>
                </a:lnTo>
                <a:lnTo>
                  <a:pt x="371961" y="819440"/>
                </a:lnTo>
                <a:lnTo>
                  <a:pt x="399454" y="784366"/>
                </a:lnTo>
                <a:lnTo>
                  <a:pt x="427794" y="749886"/>
                </a:lnTo>
                <a:lnTo>
                  <a:pt x="456970" y="716012"/>
                </a:lnTo>
                <a:lnTo>
                  <a:pt x="486966" y="682756"/>
                </a:lnTo>
                <a:lnTo>
                  <a:pt x="517770" y="650131"/>
                </a:lnTo>
                <a:lnTo>
                  <a:pt x="549367" y="618149"/>
                </a:lnTo>
                <a:lnTo>
                  <a:pt x="581743" y="586823"/>
                </a:lnTo>
                <a:lnTo>
                  <a:pt x="614886" y="556164"/>
                </a:lnTo>
                <a:lnTo>
                  <a:pt x="648781" y="526186"/>
                </a:lnTo>
                <a:lnTo>
                  <a:pt x="683414" y="496901"/>
                </a:lnTo>
                <a:lnTo>
                  <a:pt x="718772" y="468321"/>
                </a:lnTo>
                <a:lnTo>
                  <a:pt x="754841" y="440459"/>
                </a:lnTo>
                <a:lnTo>
                  <a:pt x="791607" y="413327"/>
                </a:lnTo>
                <a:lnTo>
                  <a:pt x="829056" y="386938"/>
                </a:lnTo>
                <a:lnTo>
                  <a:pt x="867176" y="361303"/>
                </a:lnTo>
                <a:lnTo>
                  <a:pt x="905951" y="336436"/>
                </a:lnTo>
                <a:lnTo>
                  <a:pt x="945368" y="312349"/>
                </a:lnTo>
                <a:lnTo>
                  <a:pt x="985414" y="289054"/>
                </a:lnTo>
                <a:lnTo>
                  <a:pt x="1026075" y="266565"/>
                </a:lnTo>
                <a:lnTo>
                  <a:pt x="1067336" y="244892"/>
                </a:lnTo>
                <a:lnTo>
                  <a:pt x="1109185" y="224049"/>
                </a:lnTo>
                <a:lnTo>
                  <a:pt x="1151607" y="204047"/>
                </a:lnTo>
                <a:lnTo>
                  <a:pt x="1194589" y="184901"/>
                </a:lnTo>
                <a:lnTo>
                  <a:pt x="1238117" y="166621"/>
                </a:lnTo>
                <a:lnTo>
                  <a:pt x="1282178" y="149221"/>
                </a:lnTo>
                <a:lnTo>
                  <a:pt x="1326756" y="132712"/>
                </a:lnTo>
                <a:lnTo>
                  <a:pt x="1371840" y="117107"/>
                </a:lnTo>
                <a:lnTo>
                  <a:pt x="1417414" y="102420"/>
                </a:lnTo>
                <a:lnTo>
                  <a:pt x="1463466" y="88661"/>
                </a:lnTo>
                <a:lnTo>
                  <a:pt x="1509981" y="75844"/>
                </a:lnTo>
                <a:lnTo>
                  <a:pt x="1556946" y="63980"/>
                </a:lnTo>
                <a:lnTo>
                  <a:pt x="1604346" y="53083"/>
                </a:lnTo>
                <a:lnTo>
                  <a:pt x="1652169" y="43165"/>
                </a:lnTo>
                <a:lnTo>
                  <a:pt x="1700401" y="34238"/>
                </a:lnTo>
                <a:lnTo>
                  <a:pt x="1749027" y="26315"/>
                </a:lnTo>
                <a:lnTo>
                  <a:pt x="1798035" y="19408"/>
                </a:lnTo>
                <a:lnTo>
                  <a:pt x="1847409" y="13530"/>
                </a:lnTo>
                <a:lnTo>
                  <a:pt x="1897137" y="8692"/>
                </a:lnTo>
                <a:lnTo>
                  <a:pt x="1947205" y="4908"/>
                </a:lnTo>
                <a:lnTo>
                  <a:pt x="1997599" y="2189"/>
                </a:lnTo>
                <a:lnTo>
                  <a:pt x="2048305" y="549"/>
                </a:lnTo>
                <a:lnTo>
                  <a:pt x="2099310" y="0"/>
                </a:lnTo>
                <a:lnTo>
                  <a:pt x="2150314" y="549"/>
                </a:lnTo>
                <a:lnTo>
                  <a:pt x="2201020" y="2189"/>
                </a:lnTo>
                <a:lnTo>
                  <a:pt x="2251414" y="4908"/>
                </a:lnTo>
                <a:lnTo>
                  <a:pt x="2301482" y="8692"/>
                </a:lnTo>
                <a:lnTo>
                  <a:pt x="2351210" y="13530"/>
                </a:lnTo>
                <a:lnTo>
                  <a:pt x="2400584" y="19408"/>
                </a:lnTo>
                <a:lnTo>
                  <a:pt x="2449592" y="26315"/>
                </a:lnTo>
                <a:lnTo>
                  <a:pt x="2498218" y="34238"/>
                </a:lnTo>
                <a:lnTo>
                  <a:pt x="2546450" y="43165"/>
                </a:lnTo>
                <a:lnTo>
                  <a:pt x="2594273" y="53083"/>
                </a:lnTo>
                <a:lnTo>
                  <a:pt x="2641673" y="63980"/>
                </a:lnTo>
                <a:lnTo>
                  <a:pt x="2688638" y="75844"/>
                </a:lnTo>
                <a:lnTo>
                  <a:pt x="2735153" y="88661"/>
                </a:lnTo>
                <a:lnTo>
                  <a:pt x="2781205" y="102420"/>
                </a:lnTo>
                <a:lnTo>
                  <a:pt x="2826779" y="117107"/>
                </a:lnTo>
                <a:lnTo>
                  <a:pt x="2871863" y="132712"/>
                </a:lnTo>
                <a:lnTo>
                  <a:pt x="2916441" y="149221"/>
                </a:lnTo>
                <a:lnTo>
                  <a:pt x="2960502" y="166621"/>
                </a:lnTo>
                <a:lnTo>
                  <a:pt x="3004030" y="184901"/>
                </a:lnTo>
                <a:lnTo>
                  <a:pt x="3047012" y="204047"/>
                </a:lnTo>
                <a:lnTo>
                  <a:pt x="3089434" y="224049"/>
                </a:lnTo>
                <a:lnTo>
                  <a:pt x="3131283" y="244892"/>
                </a:lnTo>
                <a:lnTo>
                  <a:pt x="3172544" y="266565"/>
                </a:lnTo>
                <a:lnTo>
                  <a:pt x="3213205" y="289054"/>
                </a:lnTo>
                <a:lnTo>
                  <a:pt x="3253251" y="312349"/>
                </a:lnTo>
                <a:lnTo>
                  <a:pt x="3292668" y="336436"/>
                </a:lnTo>
                <a:lnTo>
                  <a:pt x="3331443" y="361303"/>
                </a:lnTo>
                <a:lnTo>
                  <a:pt x="3369563" y="386938"/>
                </a:lnTo>
                <a:lnTo>
                  <a:pt x="3407012" y="413327"/>
                </a:lnTo>
                <a:lnTo>
                  <a:pt x="3443778" y="440459"/>
                </a:lnTo>
                <a:lnTo>
                  <a:pt x="3479847" y="468321"/>
                </a:lnTo>
                <a:lnTo>
                  <a:pt x="3515205" y="496901"/>
                </a:lnTo>
                <a:lnTo>
                  <a:pt x="3549838" y="526186"/>
                </a:lnTo>
                <a:lnTo>
                  <a:pt x="3583733" y="556164"/>
                </a:lnTo>
                <a:lnTo>
                  <a:pt x="3616876" y="586823"/>
                </a:lnTo>
                <a:lnTo>
                  <a:pt x="3649252" y="618149"/>
                </a:lnTo>
                <a:lnTo>
                  <a:pt x="3680849" y="650131"/>
                </a:lnTo>
                <a:lnTo>
                  <a:pt x="3711653" y="682756"/>
                </a:lnTo>
                <a:lnTo>
                  <a:pt x="3741649" y="716012"/>
                </a:lnTo>
                <a:lnTo>
                  <a:pt x="3770825" y="749886"/>
                </a:lnTo>
                <a:lnTo>
                  <a:pt x="3799165" y="784366"/>
                </a:lnTo>
                <a:lnTo>
                  <a:pt x="3826658" y="819440"/>
                </a:lnTo>
                <a:lnTo>
                  <a:pt x="3853288" y="855094"/>
                </a:lnTo>
                <a:lnTo>
                  <a:pt x="3879042" y="891317"/>
                </a:lnTo>
                <a:lnTo>
                  <a:pt x="3903907" y="928096"/>
                </a:lnTo>
                <a:lnTo>
                  <a:pt x="3927868" y="965418"/>
                </a:lnTo>
                <a:lnTo>
                  <a:pt x="3950912" y="1003272"/>
                </a:lnTo>
                <a:lnTo>
                  <a:pt x="3973025" y="1041645"/>
                </a:lnTo>
                <a:lnTo>
                  <a:pt x="3994193" y="1080524"/>
                </a:lnTo>
                <a:lnTo>
                  <a:pt x="4014403" y="1119897"/>
                </a:lnTo>
                <a:lnTo>
                  <a:pt x="4033641" y="1159752"/>
                </a:lnTo>
                <a:lnTo>
                  <a:pt x="4051892" y="1200075"/>
                </a:lnTo>
                <a:lnTo>
                  <a:pt x="4069145" y="1240855"/>
                </a:lnTo>
                <a:lnTo>
                  <a:pt x="4085383" y="1282080"/>
                </a:lnTo>
                <a:lnTo>
                  <a:pt x="4100595" y="1323736"/>
                </a:lnTo>
                <a:lnTo>
                  <a:pt x="4114766" y="1365812"/>
                </a:lnTo>
                <a:lnTo>
                  <a:pt x="4127882" y="1408294"/>
                </a:lnTo>
                <a:lnTo>
                  <a:pt x="4139929" y="1451171"/>
                </a:lnTo>
                <a:lnTo>
                  <a:pt x="4150895" y="1494430"/>
                </a:lnTo>
                <a:lnTo>
                  <a:pt x="4160765" y="1538059"/>
                </a:lnTo>
                <a:lnTo>
                  <a:pt x="4169525" y="1582045"/>
                </a:lnTo>
                <a:lnTo>
                  <a:pt x="4177161" y="1626376"/>
                </a:lnTo>
                <a:lnTo>
                  <a:pt x="4183661" y="1671039"/>
                </a:lnTo>
                <a:lnTo>
                  <a:pt x="4189009" y="1716022"/>
                </a:lnTo>
                <a:lnTo>
                  <a:pt x="4193193" y="1761312"/>
                </a:lnTo>
                <a:lnTo>
                  <a:pt x="4196199" y="1806897"/>
                </a:lnTo>
                <a:lnTo>
                  <a:pt x="4198012" y="1852765"/>
                </a:lnTo>
                <a:lnTo>
                  <a:pt x="4198620" y="1898903"/>
                </a:lnTo>
                <a:lnTo>
                  <a:pt x="4198012" y="1945042"/>
                </a:lnTo>
                <a:lnTo>
                  <a:pt x="4196199" y="1990910"/>
                </a:lnTo>
                <a:lnTo>
                  <a:pt x="4193193" y="2036495"/>
                </a:lnTo>
                <a:lnTo>
                  <a:pt x="4189009" y="2081785"/>
                </a:lnTo>
                <a:lnTo>
                  <a:pt x="4183661" y="2126768"/>
                </a:lnTo>
                <a:lnTo>
                  <a:pt x="4177161" y="2171431"/>
                </a:lnTo>
                <a:lnTo>
                  <a:pt x="4169525" y="2215762"/>
                </a:lnTo>
                <a:lnTo>
                  <a:pt x="4160765" y="2259748"/>
                </a:lnTo>
                <a:lnTo>
                  <a:pt x="4150895" y="2303377"/>
                </a:lnTo>
                <a:lnTo>
                  <a:pt x="4139929" y="2346636"/>
                </a:lnTo>
                <a:lnTo>
                  <a:pt x="4127882" y="2389513"/>
                </a:lnTo>
                <a:lnTo>
                  <a:pt x="4114766" y="2431995"/>
                </a:lnTo>
                <a:lnTo>
                  <a:pt x="4100595" y="2474071"/>
                </a:lnTo>
                <a:lnTo>
                  <a:pt x="4085383" y="2515727"/>
                </a:lnTo>
                <a:lnTo>
                  <a:pt x="4069145" y="2556952"/>
                </a:lnTo>
                <a:lnTo>
                  <a:pt x="4051892" y="2597732"/>
                </a:lnTo>
                <a:lnTo>
                  <a:pt x="4033641" y="2638055"/>
                </a:lnTo>
                <a:lnTo>
                  <a:pt x="4014403" y="2677910"/>
                </a:lnTo>
                <a:lnTo>
                  <a:pt x="3994193" y="2717283"/>
                </a:lnTo>
                <a:lnTo>
                  <a:pt x="3973025" y="2756162"/>
                </a:lnTo>
                <a:lnTo>
                  <a:pt x="3950912" y="2794535"/>
                </a:lnTo>
                <a:lnTo>
                  <a:pt x="3927868" y="2832389"/>
                </a:lnTo>
                <a:lnTo>
                  <a:pt x="3903907" y="2869711"/>
                </a:lnTo>
                <a:lnTo>
                  <a:pt x="3879042" y="2906490"/>
                </a:lnTo>
                <a:lnTo>
                  <a:pt x="3853288" y="2942713"/>
                </a:lnTo>
                <a:lnTo>
                  <a:pt x="3826658" y="2978367"/>
                </a:lnTo>
                <a:lnTo>
                  <a:pt x="3799165" y="3013441"/>
                </a:lnTo>
                <a:lnTo>
                  <a:pt x="3770825" y="3047921"/>
                </a:lnTo>
                <a:lnTo>
                  <a:pt x="3741649" y="3081795"/>
                </a:lnTo>
                <a:lnTo>
                  <a:pt x="3711653" y="3115051"/>
                </a:lnTo>
                <a:lnTo>
                  <a:pt x="3680849" y="3147676"/>
                </a:lnTo>
                <a:lnTo>
                  <a:pt x="3649252" y="3179658"/>
                </a:lnTo>
                <a:lnTo>
                  <a:pt x="3616876" y="3210984"/>
                </a:lnTo>
                <a:lnTo>
                  <a:pt x="3583733" y="3241643"/>
                </a:lnTo>
                <a:lnTo>
                  <a:pt x="3549838" y="3271621"/>
                </a:lnTo>
                <a:lnTo>
                  <a:pt x="3515205" y="3300906"/>
                </a:lnTo>
                <a:lnTo>
                  <a:pt x="3479847" y="3329486"/>
                </a:lnTo>
                <a:lnTo>
                  <a:pt x="3443778" y="3357348"/>
                </a:lnTo>
                <a:lnTo>
                  <a:pt x="3407012" y="3384480"/>
                </a:lnTo>
                <a:lnTo>
                  <a:pt x="3369563" y="3410869"/>
                </a:lnTo>
                <a:lnTo>
                  <a:pt x="3331443" y="3436504"/>
                </a:lnTo>
                <a:lnTo>
                  <a:pt x="3292668" y="3461371"/>
                </a:lnTo>
                <a:lnTo>
                  <a:pt x="3253251" y="3485458"/>
                </a:lnTo>
                <a:lnTo>
                  <a:pt x="3213205" y="3508753"/>
                </a:lnTo>
                <a:lnTo>
                  <a:pt x="3172544" y="3531242"/>
                </a:lnTo>
                <a:lnTo>
                  <a:pt x="3131283" y="3552915"/>
                </a:lnTo>
                <a:lnTo>
                  <a:pt x="3089434" y="3573758"/>
                </a:lnTo>
                <a:lnTo>
                  <a:pt x="3047012" y="3593760"/>
                </a:lnTo>
                <a:lnTo>
                  <a:pt x="3004030" y="3612906"/>
                </a:lnTo>
                <a:lnTo>
                  <a:pt x="2960502" y="3631186"/>
                </a:lnTo>
                <a:lnTo>
                  <a:pt x="2916441" y="3648586"/>
                </a:lnTo>
                <a:lnTo>
                  <a:pt x="2871863" y="3665095"/>
                </a:lnTo>
                <a:lnTo>
                  <a:pt x="2826779" y="3680700"/>
                </a:lnTo>
                <a:lnTo>
                  <a:pt x="2781205" y="3695387"/>
                </a:lnTo>
                <a:lnTo>
                  <a:pt x="2735153" y="3709146"/>
                </a:lnTo>
                <a:lnTo>
                  <a:pt x="2688638" y="3721963"/>
                </a:lnTo>
                <a:lnTo>
                  <a:pt x="2641673" y="3733827"/>
                </a:lnTo>
                <a:lnTo>
                  <a:pt x="2594273" y="3744724"/>
                </a:lnTo>
                <a:lnTo>
                  <a:pt x="2546450" y="3754642"/>
                </a:lnTo>
                <a:lnTo>
                  <a:pt x="2498218" y="3763569"/>
                </a:lnTo>
                <a:lnTo>
                  <a:pt x="2449592" y="3771492"/>
                </a:lnTo>
                <a:lnTo>
                  <a:pt x="2400584" y="3778399"/>
                </a:lnTo>
                <a:lnTo>
                  <a:pt x="2351210" y="3784277"/>
                </a:lnTo>
                <a:lnTo>
                  <a:pt x="2301482" y="3789115"/>
                </a:lnTo>
                <a:lnTo>
                  <a:pt x="2251414" y="3792899"/>
                </a:lnTo>
                <a:lnTo>
                  <a:pt x="2201020" y="3795618"/>
                </a:lnTo>
                <a:lnTo>
                  <a:pt x="2150314" y="3797258"/>
                </a:lnTo>
                <a:lnTo>
                  <a:pt x="2099310" y="3797807"/>
                </a:lnTo>
                <a:lnTo>
                  <a:pt x="2048305" y="3797258"/>
                </a:lnTo>
                <a:lnTo>
                  <a:pt x="1997599" y="3795618"/>
                </a:lnTo>
                <a:lnTo>
                  <a:pt x="1947205" y="3792899"/>
                </a:lnTo>
                <a:lnTo>
                  <a:pt x="1897137" y="3789115"/>
                </a:lnTo>
                <a:lnTo>
                  <a:pt x="1847409" y="3784277"/>
                </a:lnTo>
                <a:lnTo>
                  <a:pt x="1798035" y="3778399"/>
                </a:lnTo>
                <a:lnTo>
                  <a:pt x="1749027" y="3771492"/>
                </a:lnTo>
                <a:lnTo>
                  <a:pt x="1700401" y="3763569"/>
                </a:lnTo>
                <a:lnTo>
                  <a:pt x="1652169" y="3754642"/>
                </a:lnTo>
                <a:lnTo>
                  <a:pt x="1604346" y="3744724"/>
                </a:lnTo>
                <a:lnTo>
                  <a:pt x="1556946" y="3733827"/>
                </a:lnTo>
                <a:lnTo>
                  <a:pt x="1509981" y="3721963"/>
                </a:lnTo>
                <a:lnTo>
                  <a:pt x="1463466" y="3709146"/>
                </a:lnTo>
                <a:lnTo>
                  <a:pt x="1417414" y="3695387"/>
                </a:lnTo>
                <a:lnTo>
                  <a:pt x="1371840" y="3680700"/>
                </a:lnTo>
                <a:lnTo>
                  <a:pt x="1326756" y="3665095"/>
                </a:lnTo>
                <a:lnTo>
                  <a:pt x="1282178" y="3648586"/>
                </a:lnTo>
                <a:lnTo>
                  <a:pt x="1238117" y="3631186"/>
                </a:lnTo>
                <a:lnTo>
                  <a:pt x="1194589" y="3612906"/>
                </a:lnTo>
                <a:lnTo>
                  <a:pt x="1151607" y="3593760"/>
                </a:lnTo>
                <a:lnTo>
                  <a:pt x="1109185" y="3573758"/>
                </a:lnTo>
                <a:lnTo>
                  <a:pt x="1067336" y="3552915"/>
                </a:lnTo>
                <a:lnTo>
                  <a:pt x="1026075" y="3531242"/>
                </a:lnTo>
                <a:lnTo>
                  <a:pt x="985414" y="3508753"/>
                </a:lnTo>
                <a:lnTo>
                  <a:pt x="945368" y="3485458"/>
                </a:lnTo>
                <a:lnTo>
                  <a:pt x="905951" y="3461371"/>
                </a:lnTo>
                <a:lnTo>
                  <a:pt x="867176" y="3436504"/>
                </a:lnTo>
                <a:lnTo>
                  <a:pt x="829056" y="3410869"/>
                </a:lnTo>
                <a:lnTo>
                  <a:pt x="791607" y="3384480"/>
                </a:lnTo>
                <a:lnTo>
                  <a:pt x="754841" y="3357348"/>
                </a:lnTo>
                <a:lnTo>
                  <a:pt x="718772" y="3329486"/>
                </a:lnTo>
                <a:lnTo>
                  <a:pt x="683414" y="3300906"/>
                </a:lnTo>
                <a:lnTo>
                  <a:pt x="648781" y="3271621"/>
                </a:lnTo>
                <a:lnTo>
                  <a:pt x="614886" y="3241643"/>
                </a:lnTo>
                <a:lnTo>
                  <a:pt x="581743" y="3210984"/>
                </a:lnTo>
                <a:lnTo>
                  <a:pt x="549367" y="3179658"/>
                </a:lnTo>
                <a:lnTo>
                  <a:pt x="517770" y="3147676"/>
                </a:lnTo>
                <a:lnTo>
                  <a:pt x="486966" y="3115051"/>
                </a:lnTo>
                <a:lnTo>
                  <a:pt x="456970" y="3081795"/>
                </a:lnTo>
                <a:lnTo>
                  <a:pt x="427794" y="3047921"/>
                </a:lnTo>
                <a:lnTo>
                  <a:pt x="399454" y="3013441"/>
                </a:lnTo>
                <a:lnTo>
                  <a:pt x="371961" y="2978367"/>
                </a:lnTo>
                <a:lnTo>
                  <a:pt x="345331" y="2942713"/>
                </a:lnTo>
                <a:lnTo>
                  <a:pt x="319577" y="2906490"/>
                </a:lnTo>
                <a:lnTo>
                  <a:pt x="294712" y="2869711"/>
                </a:lnTo>
                <a:lnTo>
                  <a:pt x="270751" y="2832389"/>
                </a:lnTo>
                <a:lnTo>
                  <a:pt x="247707" y="2794535"/>
                </a:lnTo>
                <a:lnTo>
                  <a:pt x="225594" y="2756162"/>
                </a:lnTo>
                <a:lnTo>
                  <a:pt x="204426" y="2717283"/>
                </a:lnTo>
                <a:lnTo>
                  <a:pt x="184216" y="2677910"/>
                </a:lnTo>
                <a:lnTo>
                  <a:pt x="164978" y="2638055"/>
                </a:lnTo>
                <a:lnTo>
                  <a:pt x="146727" y="2597732"/>
                </a:lnTo>
                <a:lnTo>
                  <a:pt x="129474" y="2556952"/>
                </a:lnTo>
                <a:lnTo>
                  <a:pt x="113236" y="2515727"/>
                </a:lnTo>
                <a:lnTo>
                  <a:pt x="98024" y="2474071"/>
                </a:lnTo>
                <a:lnTo>
                  <a:pt x="83853" y="2431995"/>
                </a:lnTo>
                <a:lnTo>
                  <a:pt x="70737" y="2389513"/>
                </a:lnTo>
                <a:lnTo>
                  <a:pt x="58690" y="2346636"/>
                </a:lnTo>
                <a:lnTo>
                  <a:pt x="47724" y="2303377"/>
                </a:lnTo>
                <a:lnTo>
                  <a:pt x="37854" y="2259748"/>
                </a:lnTo>
                <a:lnTo>
                  <a:pt x="29094" y="2215762"/>
                </a:lnTo>
                <a:lnTo>
                  <a:pt x="21458" y="2171431"/>
                </a:lnTo>
                <a:lnTo>
                  <a:pt x="14958" y="2126768"/>
                </a:lnTo>
                <a:lnTo>
                  <a:pt x="9610" y="2081785"/>
                </a:lnTo>
                <a:lnTo>
                  <a:pt x="5426" y="2036495"/>
                </a:lnTo>
                <a:lnTo>
                  <a:pt x="2420" y="1990910"/>
                </a:lnTo>
                <a:lnTo>
                  <a:pt x="607" y="1945042"/>
                </a:lnTo>
                <a:lnTo>
                  <a:pt x="0" y="1898903"/>
                </a:lnTo>
                <a:close/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4165" y="503681"/>
            <a:ext cx="1644650" cy="29591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60"/>
              </a:spcBef>
            </a:pPr>
            <a:r>
              <a:rPr sz="1600" b="1" spc="10" dirty="0">
                <a:latin typeface="Comic Sans MS"/>
                <a:cs typeface="Comic Sans MS"/>
              </a:rPr>
              <a:t>Conceptualize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2861" y="1183386"/>
            <a:ext cx="1644650" cy="29591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444500">
              <a:lnSpc>
                <a:spcPct val="100000"/>
              </a:lnSpc>
              <a:spcBef>
                <a:spcPts val="55"/>
              </a:spcBef>
            </a:pPr>
            <a:r>
              <a:rPr sz="1600" b="1" spc="10" dirty="0">
                <a:latin typeface="Comic Sans MS"/>
                <a:cs typeface="Comic Sans MS"/>
              </a:rPr>
              <a:t>Specify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4926" y="2090166"/>
            <a:ext cx="1644650" cy="29718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60"/>
              </a:spcBef>
            </a:pPr>
            <a:r>
              <a:rPr sz="1600" b="1" spc="10" dirty="0">
                <a:latin typeface="Comic Sans MS"/>
                <a:cs typeface="Comic Sans MS"/>
              </a:rPr>
              <a:t>Design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54802" y="3393185"/>
            <a:ext cx="1647825" cy="29464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600" b="1" spc="15" dirty="0">
                <a:latin typeface="Comic Sans MS"/>
                <a:cs typeface="Comic Sans MS"/>
              </a:rPr>
              <a:t>Code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6378" y="4187190"/>
            <a:ext cx="1643380" cy="29718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1600" b="1" spc="15" dirty="0">
                <a:latin typeface="Comic Sans MS"/>
                <a:cs typeface="Comic Sans MS"/>
              </a:rPr>
              <a:t>Test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4094" y="2317242"/>
            <a:ext cx="1645920" cy="29591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00050">
              <a:lnSpc>
                <a:spcPct val="100000"/>
              </a:lnSpc>
              <a:spcBef>
                <a:spcPts val="60"/>
              </a:spcBef>
            </a:pPr>
            <a:r>
              <a:rPr sz="1600" b="1" spc="15" dirty="0">
                <a:latin typeface="Comic Sans MS"/>
                <a:cs typeface="Comic Sans MS"/>
              </a:rPr>
              <a:t>Maintain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10333" y="1354074"/>
            <a:ext cx="1649095" cy="295910"/>
          </a:xfrm>
          <a:custGeom>
            <a:avLst/>
            <a:gdLst/>
            <a:ahLst/>
            <a:cxnLst/>
            <a:rect l="l" t="t" r="r" b="b"/>
            <a:pathLst>
              <a:path w="1649095" h="295910">
                <a:moveTo>
                  <a:pt x="1648968" y="0"/>
                </a:moveTo>
                <a:lnTo>
                  <a:pt x="0" y="0"/>
                </a:lnTo>
                <a:lnTo>
                  <a:pt x="0" y="295655"/>
                </a:lnTo>
                <a:lnTo>
                  <a:pt x="1648968" y="295655"/>
                </a:lnTo>
                <a:lnTo>
                  <a:pt x="1648968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10333" y="1354074"/>
            <a:ext cx="1649095" cy="295910"/>
          </a:xfrm>
          <a:prstGeom prst="rect">
            <a:avLst/>
          </a:prstGeom>
          <a:ln w="28955">
            <a:solidFill>
              <a:srgbClr val="CC33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513715">
              <a:lnSpc>
                <a:spcPct val="100000"/>
              </a:lnSpc>
              <a:spcBef>
                <a:spcPts val="50"/>
              </a:spcBef>
            </a:pPr>
            <a:r>
              <a:rPr sz="1600" b="1" spc="10" dirty="0">
                <a:latin typeface="Comic Sans MS"/>
                <a:cs typeface="Comic Sans MS"/>
              </a:rPr>
              <a:t>Retire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68245" y="3451097"/>
            <a:ext cx="1645920" cy="29591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60"/>
              </a:spcBef>
            </a:pPr>
            <a:r>
              <a:rPr sz="1600" b="1" spc="10" dirty="0">
                <a:latin typeface="Comic Sans MS"/>
                <a:cs typeface="Comic Sans MS"/>
              </a:rPr>
              <a:t>Deliver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54351" y="362711"/>
            <a:ext cx="4651375" cy="3938270"/>
            <a:chOff x="2054351" y="362711"/>
            <a:chExt cx="4651375" cy="3938270"/>
          </a:xfrm>
        </p:grpSpPr>
        <p:sp>
          <p:nvSpPr>
            <p:cNvPr id="14" name="object 14"/>
            <p:cNvSpPr/>
            <p:nvPr/>
          </p:nvSpPr>
          <p:spPr>
            <a:xfrm>
              <a:off x="2391156" y="902207"/>
              <a:ext cx="4314190" cy="3398520"/>
            </a:xfrm>
            <a:custGeom>
              <a:avLst/>
              <a:gdLst/>
              <a:ahLst/>
              <a:cxnLst/>
              <a:rect l="l" t="t" r="r" b="b"/>
              <a:pathLst>
                <a:path w="4314190" h="3398520">
                  <a:moveTo>
                    <a:pt x="284353" y="2012188"/>
                  </a:moveTo>
                  <a:lnTo>
                    <a:pt x="86868" y="1755648"/>
                  </a:lnTo>
                  <a:lnTo>
                    <a:pt x="0" y="2067560"/>
                  </a:lnTo>
                  <a:lnTo>
                    <a:pt x="284353" y="2012188"/>
                  </a:lnTo>
                  <a:close/>
                </a:path>
                <a:path w="4314190" h="3398520">
                  <a:moveTo>
                    <a:pt x="326263" y="1106932"/>
                  </a:moveTo>
                  <a:lnTo>
                    <a:pt x="256032" y="790956"/>
                  </a:lnTo>
                  <a:lnTo>
                    <a:pt x="45339" y="1036701"/>
                  </a:lnTo>
                  <a:lnTo>
                    <a:pt x="326263" y="1106932"/>
                  </a:lnTo>
                  <a:close/>
                </a:path>
                <a:path w="4314190" h="3398520">
                  <a:moveTo>
                    <a:pt x="912241" y="2956814"/>
                  </a:moveTo>
                  <a:lnTo>
                    <a:pt x="595884" y="2887980"/>
                  </a:lnTo>
                  <a:lnTo>
                    <a:pt x="730631" y="3182366"/>
                  </a:lnTo>
                  <a:lnTo>
                    <a:pt x="803236" y="3092183"/>
                  </a:lnTo>
                  <a:lnTo>
                    <a:pt x="859663" y="3137611"/>
                  </a:lnTo>
                  <a:lnTo>
                    <a:pt x="895972" y="3092500"/>
                  </a:lnTo>
                  <a:lnTo>
                    <a:pt x="839558" y="3047085"/>
                  </a:lnTo>
                  <a:lnTo>
                    <a:pt x="854189" y="3028899"/>
                  </a:lnTo>
                  <a:lnTo>
                    <a:pt x="912241" y="2956814"/>
                  </a:lnTo>
                  <a:close/>
                </a:path>
                <a:path w="4314190" h="3398520">
                  <a:moveTo>
                    <a:pt x="3358642" y="3374453"/>
                  </a:moveTo>
                  <a:lnTo>
                    <a:pt x="3308146" y="3289833"/>
                  </a:lnTo>
                  <a:lnTo>
                    <a:pt x="3299307" y="3274999"/>
                  </a:lnTo>
                  <a:lnTo>
                    <a:pt x="3334131" y="3254222"/>
                  </a:lnTo>
                  <a:lnTo>
                    <a:pt x="3304413" y="3204489"/>
                  </a:lnTo>
                  <a:lnTo>
                    <a:pt x="3269615" y="3225254"/>
                  </a:lnTo>
                  <a:lnTo>
                    <a:pt x="3210306" y="3125813"/>
                  </a:lnTo>
                  <a:lnTo>
                    <a:pt x="3035808" y="3398520"/>
                  </a:lnTo>
                  <a:lnTo>
                    <a:pt x="3358642" y="3374453"/>
                  </a:lnTo>
                  <a:close/>
                </a:path>
                <a:path w="4314190" h="3398520">
                  <a:moveTo>
                    <a:pt x="3718560" y="280416"/>
                  </a:moveTo>
                  <a:lnTo>
                    <a:pt x="3556762" y="0"/>
                  </a:lnTo>
                  <a:lnTo>
                    <a:pt x="3397123" y="241554"/>
                  </a:lnTo>
                  <a:lnTo>
                    <a:pt x="3718560" y="280416"/>
                  </a:lnTo>
                  <a:close/>
                </a:path>
                <a:path w="4314190" h="3398520">
                  <a:moveTo>
                    <a:pt x="4300347" y="2275078"/>
                  </a:moveTo>
                  <a:lnTo>
                    <a:pt x="4259973" y="2258949"/>
                  </a:lnTo>
                  <a:lnTo>
                    <a:pt x="4192867" y="2232139"/>
                  </a:lnTo>
                  <a:lnTo>
                    <a:pt x="4198112" y="2219071"/>
                  </a:lnTo>
                  <a:lnTo>
                    <a:pt x="4144264" y="2197481"/>
                  </a:lnTo>
                  <a:lnTo>
                    <a:pt x="4139006" y="2210612"/>
                  </a:lnTo>
                  <a:lnTo>
                    <a:pt x="4031488" y="2167636"/>
                  </a:lnTo>
                  <a:lnTo>
                    <a:pt x="4058412" y="2490216"/>
                  </a:lnTo>
                  <a:lnTo>
                    <a:pt x="4300347" y="2275078"/>
                  </a:lnTo>
                  <a:close/>
                </a:path>
                <a:path w="4314190" h="3398520">
                  <a:moveTo>
                    <a:pt x="4314063" y="872490"/>
                  </a:moveTo>
                  <a:lnTo>
                    <a:pt x="4030726" y="932180"/>
                  </a:lnTo>
                  <a:lnTo>
                    <a:pt x="4232148" y="1185672"/>
                  </a:lnTo>
                  <a:lnTo>
                    <a:pt x="4314063" y="8724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54351" y="362711"/>
              <a:ext cx="1531620" cy="911860"/>
            </a:xfrm>
            <a:custGeom>
              <a:avLst/>
              <a:gdLst/>
              <a:ahLst/>
              <a:cxnLst/>
              <a:rect l="l" t="t" r="r" b="b"/>
              <a:pathLst>
                <a:path w="1531620" h="911860">
                  <a:moveTo>
                    <a:pt x="1531620" y="0"/>
                  </a:moveTo>
                  <a:lnTo>
                    <a:pt x="0" y="0"/>
                  </a:lnTo>
                  <a:lnTo>
                    <a:pt x="0" y="911351"/>
                  </a:lnTo>
                  <a:lnTo>
                    <a:pt x="1531620" y="911351"/>
                  </a:lnTo>
                  <a:lnTo>
                    <a:pt x="1531620" y="0"/>
                  </a:lnTo>
                  <a:close/>
                </a:path>
              </a:pathLst>
            </a:custGeom>
            <a:solidFill>
              <a:srgbClr val="F7E9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01949" y="826896"/>
              <a:ext cx="709930" cy="528955"/>
            </a:xfrm>
            <a:custGeom>
              <a:avLst/>
              <a:gdLst/>
              <a:ahLst/>
              <a:cxnLst/>
              <a:rect l="l" t="t" r="r" b="b"/>
              <a:pathLst>
                <a:path w="709929" h="528955">
                  <a:moveTo>
                    <a:pt x="0" y="528447"/>
                  </a:moveTo>
                  <a:lnTo>
                    <a:pt x="31506" y="494053"/>
                  </a:lnTo>
                  <a:lnTo>
                    <a:pt x="64036" y="460181"/>
                  </a:lnTo>
                  <a:lnTo>
                    <a:pt x="97573" y="426843"/>
                  </a:lnTo>
                  <a:lnTo>
                    <a:pt x="132100" y="394053"/>
                  </a:lnTo>
                  <a:lnTo>
                    <a:pt x="167598" y="361825"/>
                  </a:lnTo>
                  <a:lnTo>
                    <a:pt x="204051" y="330171"/>
                  </a:lnTo>
                  <a:lnTo>
                    <a:pt x="241440" y="299106"/>
                  </a:lnTo>
                  <a:lnTo>
                    <a:pt x="279749" y="268641"/>
                  </a:lnTo>
                  <a:lnTo>
                    <a:pt x="318960" y="238791"/>
                  </a:lnTo>
                  <a:lnTo>
                    <a:pt x="359055" y="209569"/>
                  </a:lnTo>
                  <a:lnTo>
                    <a:pt x="400017" y="180989"/>
                  </a:lnTo>
                  <a:lnTo>
                    <a:pt x="441828" y="153063"/>
                  </a:lnTo>
                  <a:lnTo>
                    <a:pt x="484471" y="125805"/>
                  </a:lnTo>
                  <a:lnTo>
                    <a:pt x="527928" y="99228"/>
                  </a:lnTo>
                  <a:lnTo>
                    <a:pt x="572182" y="73346"/>
                  </a:lnTo>
                  <a:lnTo>
                    <a:pt x="617215" y="48171"/>
                  </a:lnTo>
                  <a:lnTo>
                    <a:pt x="663009" y="23718"/>
                  </a:lnTo>
                  <a:lnTo>
                    <a:pt x="709549" y="0"/>
                  </a:lnTo>
                </a:path>
              </a:pathLst>
            </a:custGeom>
            <a:ln w="76200">
              <a:solidFill>
                <a:srgbClr val="F5E4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96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129" y="182371"/>
            <a:ext cx="26035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/>
              <a:t>Life</a:t>
            </a:r>
            <a:r>
              <a:rPr sz="3000" spc="-45" dirty="0"/>
              <a:t> </a:t>
            </a:r>
            <a:r>
              <a:rPr sz="3000" spc="-15" dirty="0"/>
              <a:t>Cycle</a:t>
            </a:r>
            <a:r>
              <a:rPr sz="3000" spc="-60" dirty="0"/>
              <a:t> </a:t>
            </a:r>
            <a:r>
              <a:rPr sz="3000" spc="-5" dirty="0"/>
              <a:t>Model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97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111" y="764540"/>
            <a:ext cx="8870950" cy="3513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4475" algn="l"/>
                <a:tab pos="5041265" algn="l"/>
              </a:tabLst>
            </a:pP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800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80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CC"/>
                </a:solidFill>
                <a:latin typeface="Calibri"/>
                <a:cs typeface="Calibri"/>
              </a:rPr>
              <a:t>life</a:t>
            </a:r>
            <a:r>
              <a:rPr sz="280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28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model</a:t>
            </a:r>
            <a:r>
              <a:rPr sz="28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(also	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process</a:t>
            </a:r>
            <a:r>
              <a:rPr sz="280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model</a:t>
            </a:r>
            <a:r>
              <a:rPr sz="28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or</a:t>
            </a:r>
            <a:r>
              <a:rPr sz="28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SDLC):</a:t>
            </a:r>
            <a:endParaRPr sz="2800">
              <a:latin typeface="Calibri"/>
              <a:cs typeface="Calibri"/>
            </a:endParaRPr>
          </a:p>
          <a:p>
            <a:pPr marL="515620" marR="554990" indent="-192405">
              <a:lnSpc>
                <a:spcPct val="120100"/>
              </a:lnSpc>
              <a:spcBef>
                <a:spcPts val="1400"/>
              </a:spcBef>
            </a:pPr>
            <a:r>
              <a:rPr sz="280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800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descriptive</a:t>
            </a:r>
            <a:r>
              <a:rPr sz="2800" spc="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2800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diagrammatic</a:t>
            </a:r>
            <a:r>
              <a:rPr sz="2800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model</a:t>
            </a:r>
            <a:r>
              <a:rPr sz="28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sz="28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8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CC"/>
                </a:solidFill>
                <a:latin typeface="Calibri"/>
                <a:cs typeface="Calibri"/>
              </a:rPr>
              <a:t>life </a:t>
            </a:r>
            <a:r>
              <a:rPr sz="2800" spc="-6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2800" spc="-10" dirty="0">
                <a:solidFill>
                  <a:srgbClr val="FFFF0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030"/>
              </a:spcBef>
            </a:pPr>
            <a:r>
              <a:rPr sz="2400" spc="10" dirty="0">
                <a:latin typeface="Arial MT"/>
                <a:cs typeface="Arial MT"/>
              </a:rPr>
              <a:t>–</a:t>
            </a:r>
            <a:r>
              <a:rPr sz="2400" spc="10" dirty="0">
                <a:latin typeface="Calibri"/>
                <a:cs typeface="Calibri"/>
              </a:rPr>
              <a:t>Identifies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 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undertaken </a:t>
            </a:r>
            <a:r>
              <a:rPr sz="2400" spc="-5" dirty="0">
                <a:latin typeface="Calibri"/>
                <a:cs typeface="Calibri"/>
              </a:rPr>
              <a:t>during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development,</a:t>
            </a:r>
            <a:endParaRPr sz="24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985"/>
              </a:spcBef>
            </a:pPr>
            <a:r>
              <a:rPr sz="2400" spc="10" dirty="0">
                <a:latin typeface="Arial MT"/>
                <a:cs typeface="Arial MT"/>
              </a:rPr>
              <a:t>–</a:t>
            </a:r>
            <a:r>
              <a:rPr sz="2400" spc="10" dirty="0">
                <a:latin typeface="Calibri"/>
                <a:cs typeface="Calibri"/>
              </a:rPr>
              <a:t>Establishes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precedence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ordering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dirty="0">
                <a:latin typeface="Calibri"/>
                <a:cs typeface="Calibri"/>
              </a:rPr>
              <a:t> activities,</a:t>
            </a:r>
            <a:endParaRPr sz="24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980"/>
              </a:spcBef>
            </a:pPr>
            <a:r>
              <a:rPr sz="2400" spc="2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spc="20" dirty="0">
                <a:solidFill>
                  <a:srgbClr val="0000FF"/>
                </a:solidFill>
                <a:latin typeface="Calibri"/>
                <a:cs typeface="Calibri"/>
              </a:rPr>
              <a:t>Divides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life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cycle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into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libri"/>
                <a:cs typeface="Calibri"/>
              </a:rPr>
              <a:t>phases.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086" y="211277"/>
            <a:ext cx="36874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0000CC"/>
                </a:solidFill>
              </a:rPr>
              <a:t>Life</a:t>
            </a:r>
            <a:r>
              <a:rPr sz="3600" spc="-30" dirty="0">
                <a:solidFill>
                  <a:srgbClr val="0000CC"/>
                </a:solidFill>
              </a:rPr>
              <a:t> </a:t>
            </a:r>
            <a:r>
              <a:rPr sz="3600" spc="-15" dirty="0">
                <a:solidFill>
                  <a:srgbClr val="0000CC"/>
                </a:solidFill>
              </a:rPr>
              <a:t>Cycle</a:t>
            </a:r>
            <a:r>
              <a:rPr sz="3600" spc="-25" dirty="0">
                <a:solidFill>
                  <a:srgbClr val="0000CC"/>
                </a:solidFill>
              </a:rPr>
              <a:t> </a:t>
            </a:r>
            <a:r>
              <a:rPr sz="3600" spc="-5" dirty="0">
                <a:solidFill>
                  <a:srgbClr val="0000CC"/>
                </a:solidFill>
              </a:rPr>
              <a:t>Model</a:t>
            </a:r>
            <a:r>
              <a:rPr sz="3600" dirty="0">
                <a:solidFill>
                  <a:srgbClr val="0000CC"/>
                </a:solidFill>
              </a:rPr>
              <a:t> </a:t>
            </a:r>
            <a:r>
              <a:rPr sz="1100" dirty="0">
                <a:solidFill>
                  <a:srgbClr val="0000CC"/>
                </a:solidFill>
              </a:rPr>
              <a:t>(CONT.)</a:t>
            </a:r>
            <a:endParaRPr sz="1100"/>
          </a:p>
        </p:txBody>
      </p:sp>
      <p:sp>
        <p:nvSpPr>
          <p:cNvPr id="4" name="object 4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98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9311" y="606475"/>
            <a:ext cx="8602345" cy="3455035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2230"/>
              </a:spcBef>
              <a:buFont typeface="Arial MT"/>
              <a:buChar char="•"/>
              <a:tabLst>
                <a:tab pos="246379" algn="l"/>
                <a:tab pos="3853179" algn="l"/>
              </a:tabLst>
            </a:pPr>
            <a:r>
              <a:rPr sz="3250" spc="-5" dirty="0">
                <a:latin typeface="Calibri"/>
                <a:cs typeface="Calibri"/>
              </a:rPr>
              <a:t>Each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life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cycle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phase	</a:t>
            </a:r>
            <a:r>
              <a:rPr sz="3250" spc="-10" dirty="0">
                <a:latin typeface="Calibri"/>
                <a:cs typeface="Calibri"/>
              </a:rPr>
              <a:t>consists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of </a:t>
            </a:r>
            <a:r>
              <a:rPr sz="3250" spc="-15" dirty="0">
                <a:latin typeface="Calibri"/>
                <a:cs typeface="Calibri"/>
              </a:rPr>
              <a:t>several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activities.</a:t>
            </a:r>
            <a:endParaRPr sz="32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955"/>
              </a:spcBef>
            </a:pPr>
            <a:r>
              <a:rPr sz="3000" spc="-15" dirty="0">
                <a:latin typeface="Arial MT"/>
                <a:cs typeface="Arial MT"/>
              </a:rPr>
              <a:t>–</a:t>
            </a:r>
            <a:r>
              <a:rPr sz="3000" spc="-15" dirty="0">
                <a:latin typeface="Calibri"/>
                <a:cs typeface="Calibri"/>
              </a:rPr>
              <a:t>For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example,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design </a:t>
            </a:r>
            <a:r>
              <a:rPr sz="3000" spc="-20" dirty="0">
                <a:latin typeface="Calibri"/>
                <a:cs typeface="Calibri"/>
              </a:rPr>
              <a:t>stage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might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consist </a:t>
            </a:r>
            <a:r>
              <a:rPr sz="3000" spc="-5" dirty="0">
                <a:latin typeface="Calibri"/>
                <a:cs typeface="Calibri"/>
              </a:rPr>
              <a:t>of:</a:t>
            </a:r>
            <a:endParaRPr sz="30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790575" algn="l"/>
              </a:tabLst>
            </a:pPr>
            <a:r>
              <a:rPr sz="2700" dirty="0">
                <a:latin typeface="Calibri"/>
                <a:cs typeface="Calibri"/>
              </a:rPr>
              <a:t>structured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analysis</a:t>
            </a:r>
            <a:endParaRPr sz="27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885"/>
              </a:spcBef>
              <a:buFont typeface="Arial MT"/>
              <a:buChar char="•"/>
              <a:tabLst>
                <a:tab pos="790575" algn="l"/>
              </a:tabLst>
            </a:pPr>
            <a:r>
              <a:rPr sz="2700" dirty="0">
                <a:latin typeface="Calibri"/>
                <a:cs typeface="Calibri"/>
              </a:rPr>
              <a:t>structured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design</a:t>
            </a:r>
            <a:endParaRPr sz="27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890"/>
              </a:spcBef>
              <a:buFont typeface="Arial MT"/>
              <a:buChar char="•"/>
              <a:tabLst>
                <a:tab pos="790575" algn="l"/>
              </a:tabLst>
            </a:pPr>
            <a:r>
              <a:rPr sz="2700" spc="5" dirty="0">
                <a:latin typeface="Calibri"/>
                <a:cs typeface="Calibri"/>
              </a:rPr>
              <a:t>Design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review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7600" y="227152"/>
            <a:ext cx="44100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2525" algn="l"/>
              </a:tabLst>
            </a:pPr>
            <a:r>
              <a:rPr sz="3600" spc="-25" dirty="0">
                <a:solidFill>
                  <a:srgbClr val="0000CC"/>
                </a:solidFill>
              </a:rPr>
              <a:t>Why</a:t>
            </a:r>
            <a:r>
              <a:rPr sz="3600" spc="-15" dirty="0">
                <a:solidFill>
                  <a:srgbClr val="0000CC"/>
                </a:solidFill>
              </a:rPr>
              <a:t> </a:t>
            </a:r>
            <a:r>
              <a:rPr sz="3600" spc="-5" dirty="0">
                <a:solidFill>
                  <a:srgbClr val="0000CC"/>
                </a:solidFill>
              </a:rPr>
              <a:t>Model</a:t>
            </a:r>
            <a:r>
              <a:rPr lang="en-US" sz="3600" spc="-5" dirty="0">
                <a:solidFill>
                  <a:srgbClr val="0000CC"/>
                </a:solidFill>
              </a:rPr>
              <a:t> </a:t>
            </a:r>
            <a:r>
              <a:rPr sz="3600" spc="-15" dirty="0">
                <a:solidFill>
                  <a:srgbClr val="0000CC"/>
                </a:solidFill>
              </a:rPr>
              <a:t>Life</a:t>
            </a:r>
            <a:r>
              <a:rPr sz="3600" spc="-75" dirty="0">
                <a:solidFill>
                  <a:srgbClr val="0000CC"/>
                </a:solidFill>
              </a:rPr>
              <a:t> </a:t>
            </a:r>
            <a:r>
              <a:rPr sz="3600" spc="-15" dirty="0">
                <a:solidFill>
                  <a:srgbClr val="0000CC"/>
                </a:solidFill>
              </a:rPr>
              <a:t>Cycle?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99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361" y="802005"/>
            <a:ext cx="8630285" cy="33178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10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 graphical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written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description:</a:t>
            </a:r>
            <a:endParaRPr sz="2700" dirty="0">
              <a:latin typeface="Calibri"/>
              <a:cs typeface="Calibri"/>
            </a:endParaRPr>
          </a:p>
          <a:p>
            <a:pPr marL="516890" marR="5080" indent="-194310">
              <a:lnSpc>
                <a:spcPct val="125000"/>
              </a:lnSpc>
              <a:spcBef>
                <a:spcPts val="1505"/>
              </a:spcBef>
            </a:pPr>
            <a:r>
              <a:rPr sz="2450" spc="20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2450" b="1" spc="20" dirty="0">
                <a:solidFill>
                  <a:srgbClr val="C00000"/>
                </a:solidFill>
                <a:latin typeface="Calibri"/>
                <a:cs typeface="Calibri"/>
              </a:rPr>
              <a:t>Helps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common</a:t>
            </a:r>
            <a:r>
              <a:rPr sz="245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understanding</a:t>
            </a:r>
            <a:r>
              <a:rPr sz="245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activities</a:t>
            </a:r>
            <a:r>
              <a:rPr sz="245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among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5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software </a:t>
            </a:r>
            <a:r>
              <a:rPr sz="2450" b="1" spc="-5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developers.</a:t>
            </a:r>
            <a:endParaRPr sz="2450" dirty="0">
              <a:latin typeface="Calibri"/>
              <a:cs typeface="Calibri"/>
            </a:endParaRPr>
          </a:p>
          <a:p>
            <a:pPr marL="516890" marR="90170" indent="-194310">
              <a:lnSpc>
                <a:spcPct val="125000"/>
              </a:lnSpc>
              <a:spcBef>
                <a:spcPts val="1390"/>
              </a:spcBef>
            </a:pPr>
            <a:r>
              <a:rPr sz="2450" spc="20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2450" b="1" spc="20" dirty="0">
                <a:solidFill>
                  <a:srgbClr val="C00000"/>
                </a:solidFill>
                <a:latin typeface="Calibri"/>
                <a:cs typeface="Calibri"/>
              </a:rPr>
              <a:t>Helps</a:t>
            </a:r>
            <a:r>
              <a:rPr sz="245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identify</a:t>
            </a:r>
            <a:r>
              <a:rPr sz="245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inconsistencies,</a:t>
            </a:r>
            <a:r>
              <a:rPr sz="245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redundancies,</a:t>
            </a:r>
            <a:r>
              <a:rPr sz="245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omissions </a:t>
            </a:r>
            <a:r>
              <a:rPr sz="2450" b="1" spc="-5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development</a:t>
            </a:r>
            <a:r>
              <a:rPr sz="245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process.</a:t>
            </a:r>
            <a:endParaRPr sz="2450" dirty="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120"/>
              </a:spcBef>
            </a:pPr>
            <a:r>
              <a:rPr sz="2450" spc="20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2450" b="1" spc="20" dirty="0">
                <a:solidFill>
                  <a:srgbClr val="C00000"/>
                </a:solidFill>
                <a:latin typeface="Calibri"/>
                <a:cs typeface="Calibri"/>
              </a:rPr>
              <a:t>Helps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tailoring</a:t>
            </a:r>
            <a:r>
              <a:rPr sz="245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process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model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 for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specific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projects.</a:t>
            </a:r>
            <a:endParaRPr sz="24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9986" y="227152"/>
            <a:ext cx="36874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0000CC"/>
                </a:solidFill>
              </a:rPr>
              <a:t>Life</a:t>
            </a:r>
            <a:r>
              <a:rPr sz="3600" spc="-30" dirty="0">
                <a:solidFill>
                  <a:srgbClr val="0000CC"/>
                </a:solidFill>
              </a:rPr>
              <a:t> </a:t>
            </a:r>
            <a:r>
              <a:rPr sz="3600" spc="-15" dirty="0">
                <a:solidFill>
                  <a:srgbClr val="0000CC"/>
                </a:solidFill>
              </a:rPr>
              <a:t>Cycle</a:t>
            </a:r>
            <a:r>
              <a:rPr sz="3600" spc="-25" dirty="0">
                <a:solidFill>
                  <a:srgbClr val="0000CC"/>
                </a:solidFill>
              </a:rPr>
              <a:t> </a:t>
            </a:r>
            <a:r>
              <a:rPr sz="3600" spc="-5" dirty="0">
                <a:solidFill>
                  <a:srgbClr val="0000CC"/>
                </a:solidFill>
              </a:rPr>
              <a:t>Model</a:t>
            </a:r>
            <a:r>
              <a:rPr sz="3600" dirty="0">
                <a:solidFill>
                  <a:srgbClr val="0000CC"/>
                </a:solidFill>
              </a:rPr>
              <a:t> </a:t>
            </a:r>
            <a:r>
              <a:rPr sz="1100" dirty="0">
                <a:solidFill>
                  <a:srgbClr val="0000CC"/>
                </a:solidFill>
              </a:rPr>
              <a:t>(CONT.)</a:t>
            </a:r>
            <a:endParaRPr sz="1100"/>
          </a:p>
        </p:txBody>
      </p:sp>
      <p:sp>
        <p:nvSpPr>
          <p:cNvPr id="4" name="object 4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100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11" y="782574"/>
            <a:ext cx="8960485" cy="3520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5080" indent="-233679">
              <a:lnSpc>
                <a:spcPct val="119700"/>
              </a:lnSpc>
              <a:spcBef>
                <a:spcPts val="95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development team must </a:t>
            </a:r>
            <a:r>
              <a:rPr sz="3000" spc="-5" dirty="0">
                <a:latin typeface="Calibri"/>
                <a:cs typeface="Calibri"/>
              </a:rPr>
              <a:t>identify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suitable </a:t>
            </a:r>
            <a:r>
              <a:rPr sz="3000" spc="-25" dirty="0">
                <a:latin typeface="Calibri"/>
                <a:cs typeface="Calibri"/>
              </a:rPr>
              <a:t>life </a:t>
            </a:r>
            <a:r>
              <a:rPr sz="3000" spc="-10" dirty="0">
                <a:latin typeface="Calibri"/>
                <a:cs typeface="Calibri"/>
              </a:rPr>
              <a:t>cycle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model: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090"/>
              </a:spcBef>
            </a:pPr>
            <a:r>
              <a:rPr sz="2700" spc="15" dirty="0">
                <a:latin typeface="Arial MT"/>
                <a:cs typeface="Arial MT"/>
              </a:rPr>
              <a:t>–</a:t>
            </a:r>
            <a:r>
              <a:rPr sz="2700" spc="15" dirty="0">
                <a:latin typeface="Calibri"/>
                <a:cs typeface="Calibri"/>
              </a:rPr>
              <a:t>and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then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adhere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it.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995"/>
              </a:spcBef>
            </a:pPr>
            <a:r>
              <a:rPr sz="2700" spc="1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Primary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advantage</a:t>
            </a:r>
            <a:r>
              <a:rPr sz="2700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adhering</a:t>
            </a:r>
            <a:r>
              <a:rPr sz="27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to</a:t>
            </a:r>
            <a:r>
              <a:rPr sz="270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0000CC"/>
                </a:solidFill>
                <a:latin typeface="Calibri"/>
                <a:cs typeface="Calibri"/>
              </a:rPr>
              <a:t>life 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model:</a:t>
            </a:r>
            <a:endParaRPr sz="2700">
              <a:latin typeface="Calibri"/>
              <a:cs typeface="Calibri"/>
            </a:endParaRPr>
          </a:p>
          <a:p>
            <a:pPr marL="789940" marR="248920" lvl="1" indent="-155575">
              <a:lnSpc>
                <a:spcPct val="120000"/>
              </a:lnSpc>
              <a:spcBef>
                <a:spcPts val="1285"/>
              </a:spcBef>
              <a:buFont typeface="Arial MT"/>
              <a:buChar char="•"/>
              <a:tabLst>
                <a:tab pos="790575" algn="l"/>
                <a:tab pos="7359015" algn="l"/>
              </a:tabLst>
            </a:pP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Hel</a:t>
            </a:r>
            <a:r>
              <a:rPr sz="2450" spc="-15" dirty="0">
                <a:solidFill>
                  <a:srgbClr val="0000CC"/>
                </a:solidFill>
                <a:latin typeface="Calibri"/>
                <a:cs typeface="Calibri"/>
              </a:rPr>
              <a:t>p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2450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d</a:t>
            </a:r>
            <a:r>
              <a:rPr sz="2450" spc="-15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2450" spc="-35" dirty="0">
                <a:solidFill>
                  <a:srgbClr val="0000CC"/>
                </a:solidFill>
                <a:latin typeface="Calibri"/>
                <a:cs typeface="Calibri"/>
              </a:rPr>
              <a:t>v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el</a:t>
            </a:r>
            <a:r>
              <a:rPr sz="2450" spc="5" dirty="0">
                <a:solidFill>
                  <a:srgbClr val="0000CC"/>
                </a:solidFill>
                <a:latin typeface="Calibri"/>
                <a:cs typeface="Calibri"/>
              </a:rPr>
              <a:t>o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pme</a:t>
            </a:r>
            <a:r>
              <a:rPr sz="2450" spc="-30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245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o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f 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o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ft</a:t>
            </a:r>
            <a:r>
              <a:rPr sz="2450" spc="-35" dirty="0">
                <a:solidFill>
                  <a:srgbClr val="0000CC"/>
                </a:solidFill>
                <a:latin typeface="Calibri"/>
                <a:cs typeface="Calibri"/>
              </a:rPr>
              <a:t>w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450" spc="-40" dirty="0">
                <a:solidFill>
                  <a:srgbClr val="0000CC"/>
                </a:solidFill>
                <a:latin typeface="Calibri"/>
                <a:cs typeface="Calibri"/>
              </a:rPr>
              <a:t>r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in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2450" spc="-50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2450" spc="-35" dirty="0">
                <a:solidFill>
                  <a:srgbClr val="0000CC"/>
                </a:solidFill>
                <a:latin typeface="Calibri"/>
                <a:cs typeface="Calibri"/>
              </a:rPr>
              <a:t>y</a:t>
            </a:r>
            <a:r>
              <a:rPr sz="2450" spc="-30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2450" spc="-35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em</a:t>
            </a:r>
            <a:r>
              <a:rPr sz="2450" spc="-2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tic</a:t>
            </a:r>
            <a:r>
              <a:rPr sz="245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disciplined  </a:t>
            </a:r>
            <a:r>
              <a:rPr sz="2450" spc="-40" dirty="0">
                <a:solidFill>
                  <a:srgbClr val="0000CC"/>
                </a:solidFill>
                <a:latin typeface="Calibri"/>
                <a:cs typeface="Calibri"/>
              </a:rPr>
              <a:t>manner.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6870" y="263397"/>
            <a:ext cx="30829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Life</a:t>
            </a:r>
            <a:r>
              <a:rPr sz="3000" spc="-20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Cycle</a:t>
            </a:r>
            <a:r>
              <a:rPr sz="3000" spc="-3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Model </a:t>
            </a:r>
            <a:r>
              <a:rPr sz="950" spc="-10" dirty="0">
                <a:solidFill>
                  <a:srgbClr val="0000CC"/>
                </a:solidFill>
              </a:rPr>
              <a:t>(CONT.)</a:t>
            </a:r>
            <a:endParaRPr sz="950"/>
          </a:p>
        </p:txBody>
      </p:sp>
      <p:sp>
        <p:nvSpPr>
          <p:cNvPr id="3" name="object 3"/>
          <p:cNvSpPr txBox="1"/>
          <p:nvPr/>
        </p:nvSpPr>
        <p:spPr>
          <a:xfrm>
            <a:off x="-37388" y="665639"/>
            <a:ext cx="8547735" cy="1653539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5" dirty="0">
                <a:latin typeface="Calibri"/>
                <a:cs typeface="Calibri"/>
              </a:rPr>
              <a:t>When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spc="-20" dirty="0">
                <a:latin typeface="Calibri"/>
                <a:cs typeface="Calibri"/>
              </a:rPr>
              <a:t>program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developed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by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single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programmer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---</a:t>
            </a:r>
            <a:endParaRPr sz="2450">
              <a:latin typeface="Calibri"/>
              <a:cs typeface="Calibri"/>
            </a:endParaRPr>
          </a:p>
          <a:p>
            <a:pPr marL="516890" lvl="1" indent="-194310">
              <a:lnSpc>
                <a:spcPct val="100000"/>
              </a:lnSpc>
              <a:spcBef>
                <a:spcPts val="1525"/>
              </a:spcBef>
              <a:buFont typeface="Arial MT"/>
              <a:buChar char="–"/>
              <a:tabLst>
                <a:tab pos="517525" algn="l"/>
              </a:tabLst>
            </a:pP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problem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is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within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the</a:t>
            </a:r>
            <a:r>
              <a:rPr sz="2150" dirty="0">
                <a:latin typeface="Calibri"/>
                <a:cs typeface="Calibri"/>
              </a:rPr>
              <a:t> grasp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of</a:t>
            </a:r>
            <a:r>
              <a:rPr sz="2150" spc="10" dirty="0">
                <a:latin typeface="Calibri"/>
                <a:cs typeface="Calibri"/>
              </a:rPr>
              <a:t> an </a:t>
            </a:r>
            <a:r>
              <a:rPr sz="2150" spc="5" dirty="0">
                <a:latin typeface="Calibri"/>
                <a:cs typeface="Calibri"/>
              </a:rPr>
              <a:t>individual.</a:t>
            </a:r>
            <a:endParaRPr sz="2150">
              <a:latin typeface="Calibri"/>
              <a:cs typeface="Calibri"/>
            </a:endParaRPr>
          </a:p>
          <a:p>
            <a:pPr marL="516890" lvl="1" indent="-194310">
              <a:lnSpc>
                <a:spcPct val="100000"/>
              </a:lnSpc>
              <a:spcBef>
                <a:spcPts val="1500"/>
              </a:spcBef>
              <a:buFont typeface="Arial MT"/>
              <a:buChar char="–"/>
              <a:tabLst>
                <a:tab pos="517525" algn="l"/>
              </a:tabLst>
            </a:pPr>
            <a:r>
              <a:rPr sz="2150" spc="5" dirty="0">
                <a:latin typeface="Calibri"/>
                <a:cs typeface="Calibri"/>
              </a:rPr>
              <a:t>He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has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 freedom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decide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his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exact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steps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and</a:t>
            </a:r>
            <a:r>
              <a:rPr sz="2150" spc="5" dirty="0">
                <a:latin typeface="Calibri"/>
                <a:cs typeface="Calibri"/>
              </a:rPr>
              <a:t> still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succeed</a:t>
            </a:r>
            <a:r>
              <a:rPr sz="2150" spc="450" dirty="0"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---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called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055" y="2326639"/>
            <a:ext cx="5563235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-5" dirty="0">
                <a:solidFill>
                  <a:srgbClr val="0000FF"/>
                </a:solidFill>
                <a:latin typeface="Calibri"/>
                <a:cs typeface="Calibri"/>
              </a:rPr>
              <a:t>Exploratory</a:t>
            </a:r>
            <a:r>
              <a:rPr sz="2150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model---</a:t>
            </a:r>
            <a:r>
              <a:rPr sz="2150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One</a:t>
            </a:r>
            <a:r>
              <a:rPr sz="215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can use</a:t>
            </a:r>
            <a:r>
              <a:rPr sz="215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it</a:t>
            </a:r>
            <a:r>
              <a:rPr sz="21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150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many </a:t>
            </a:r>
            <a:r>
              <a:rPr sz="2150" spc="-15" dirty="0">
                <a:solidFill>
                  <a:srgbClr val="0000FF"/>
                </a:solidFill>
                <a:latin typeface="Calibri"/>
                <a:cs typeface="Calibri"/>
              </a:rPr>
              <a:t>ways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507" y="2659430"/>
            <a:ext cx="4903470" cy="1577340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205740" indent="-193675">
              <a:lnSpc>
                <a:spcPct val="100000"/>
              </a:lnSpc>
              <a:spcBef>
                <a:spcPts val="1580"/>
              </a:spcBef>
              <a:buFont typeface="Arial MT"/>
              <a:buChar char="–"/>
              <a:tabLst>
                <a:tab pos="206375" algn="l"/>
              </a:tabLst>
            </a:pPr>
            <a:r>
              <a:rPr sz="2150" spc="-15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r>
              <a:rPr sz="2150" spc="-1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-15" dirty="0">
                <a:solidFill>
                  <a:srgbClr val="0000FF"/>
                </a:solidFill>
                <a:latin typeface="Calibri"/>
                <a:cs typeface="Calibri"/>
              </a:rPr>
              <a:t>Test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endParaRPr sz="2150">
              <a:latin typeface="Calibri"/>
              <a:cs typeface="Calibri"/>
            </a:endParaRPr>
          </a:p>
          <a:p>
            <a:pPr marL="205740" indent="-193675">
              <a:lnSpc>
                <a:spcPct val="100000"/>
              </a:lnSpc>
              <a:spcBef>
                <a:spcPts val="1490"/>
              </a:spcBef>
              <a:buFont typeface="Arial MT"/>
              <a:buChar char="–"/>
              <a:tabLst>
                <a:tab pos="206375" algn="l"/>
              </a:tabLst>
            </a:pP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r>
              <a:rPr sz="2150" spc="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r>
              <a:rPr sz="2150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-3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-35" dirty="0">
                <a:solidFill>
                  <a:srgbClr val="0000FF"/>
                </a:solidFill>
                <a:latin typeface="Calibri"/>
                <a:cs typeface="Calibri"/>
              </a:rPr>
              <a:t>Test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2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Change</a:t>
            </a:r>
            <a:r>
              <a:rPr sz="215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2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endParaRPr sz="2150">
              <a:latin typeface="Wingdings"/>
              <a:cs typeface="Wingdings"/>
            </a:endParaRPr>
          </a:p>
          <a:p>
            <a:pPr marL="205740" indent="-193675">
              <a:lnSpc>
                <a:spcPct val="100000"/>
              </a:lnSpc>
              <a:spcBef>
                <a:spcPts val="1505"/>
              </a:spcBef>
              <a:buFont typeface="Arial MT"/>
              <a:buChar char="–"/>
              <a:tabLst>
                <a:tab pos="206375" algn="l"/>
              </a:tabLst>
            </a:pP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Specify</a:t>
            </a:r>
            <a:r>
              <a:rPr sz="215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r>
              <a:rPr sz="215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r>
              <a:rPr sz="2150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-3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-35" dirty="0">
                <a:solidFill>
                  <a:srgbClr val="0000FF"/>
                </a:solidFill>
                <a:latin typeface="Calibri"/>
                <a:cs typeface="Calibri"/>
              </a:rPr>
              <a:t>Test</a:t>
            </a:r>
            <a:r>
              <a:rPr sz="215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2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4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50" spc="-5" dirty="0">
                <a:solidFill>
                  <a:srgbClr val="0000FF"/>
                </a:solidFill>
                <a:latin typeface="Calibri"/>
                <a:cs typeface="Calibri"/>
              </a:rPr>
              <a:t>etc</a:t>
            </a:r>
            <a:r>
              <a:rPr sz="2150" spc="-5" dirty="0"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7984" y="3099816"/>
            <a:ext cx="584200" cy="61722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940"/>
              </a:spcBef>
            </a:pPr>
            <a:r>
              <a:rPr sz="1200" b="1" spc="-5" dirty="0">
                <a:latin typeface="Comic Sans MS"/>
                <a:cs typeface="Comic Sans MS"/>
              </a:rPr>
              <a:t>Initial</a:t>
            </a:r>
            <a:endParaRPr sz="1200">
              <a:latin typeface="Comic Sans MS"/>
              <a:cs typeface="Comic Sans MS"/>
            </a:endParaRPr>
          </a:p>
          <a:p>
            <a:pPr marL="59055">
              <a:lnSpc>
                <a:spcPct val="100000"/>
              </a:lnSpc>
            </a:pPr>
            <a:r>
              <a:rPr sz="1200" b="1" spc="-5" dirty="0">
                <a:latin typeface="Comic Sans MS"/>
                <a:cs typeface="Comic Sans MS"/>
              </a:rPr>
              <a:t>Coding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3217" y="3410458"/>
            <a:ext cx="629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C70429"/>
                </a:solidFill>
                <a:latin typeface="Comic Sans MS"/>
                <a:cs typeface="Comic Sans MS"/>
              </a:rPr>
              <a:t>Do</a:t>
            </a:r>
            <a:r>
              <a:rPr sz="1200" b="1" spc="-90" dirty="0">
                <a:solidFill>
                  <a:srgbClr val="C70429"/>
                </a:solidFill>
                <a:latin typeface="Comic Sans MS"/>
                <a:cs typeface="Comic Sans MS"/>
              </a:rPr>
              <a:t> </a:t>
            </a:r>
            <a:r>
              <a:rPr sz="1200" b="1" spc="-5" dirty="0">
                <a:solidFill>
                  <a:srgbClr val="C70429"/>
                </a:solidFill>
                <a:latin typeface="Comic Sans MS"/>
                <a:cs typeface="Comic Sans MS"/>
              </a:rPr>
              <a:t>Until </a:t>
            </a:r>
            <a:r>
              <a:rPr sz="1200" b="1" spc="-505" dirty="0">
                <a:solidFill>
                  <a:srgbClr val="C70429"/>
                </a:solidFill>
                <a:latin typeface="Comic Sans MS"/>
                <a:cs typeface="Comic Sans MS"/>
              </a:rPr>
              <a:t> </a:t>
            </a:r>
            <a:r>
              <a:rPr sz="1200" b="1" dirty="0">
                <a:solidFill>
                  <a:srgbClr val="C70429"/>
                </a:solidFill>
                <a:latin typeface="Comic Sans MS"/>
                <a:cs typeface="Comic Sans MS"/>
              </a:rPr>
              <a:t>Done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33491" y="3269234"/>
            <a:ext cx="627380" cy="228600"/>
          </a:xfrm>
          <a:custGeom>
            <a:avLst/>
            <a:gdLst/>
            <a:ahLst/>
            <a:cxnLst/>
            <a:rect l="l" t="t" r="r" b="b"/>
            <a:pathLst>
              <a:path w="627379" h="228600">
                <a:moveTo>
                  <a:pt x="399669" y="0"/>
                </a:moveTo>
                <a:lnTo>
                  <a:pt x="398737" y="76241"/>
                </a:lnTo>
                <a:lnTo>
                  <a:pt x="436880" y="76708"/>
                </a:lnTo>
                <a:lnTo>
                  <a:pt x="435863" y="152908"/>
                </a:lnTo>
                <a:lnTo>
                  <a:pt x="397800" y="152908"/>
                </a:lnTo>
                <a:lnTo>
                  <a:pt x="396875" y="228600"/>
                </a:lnTo>
                <a:lnTo>
                  <a:pt x="553000" y="152908"/>
                </a:lnTo>
                <a:lnTo>
                  <a:pt x="435863" y="152908"/>
                </a:lnTo>
                <a:lnTo>
                  <a:pt x="397805" y="152442"/>
                </a:lnTo>
                <a:lnTo>
                  <a:pt x="553961" y="152442"/>
                </a:lnTo>
                <a:lnTo>
                  <a:pt x="626872" y="117094"/>
                </a:lnTo>
                <a:lnTo>
                  <a:pt x="399669" y="0"/>
                </a:lnTo>
                <a:close/>
              </a:path>
              <a:path w="627379" h="228600">
                <a:moveTo>
                  <a:pt x="398737" y="76241"/>
                </a:moveTo>
                <a:lnTo>
                  <a:pt x="397805" y="152442"/>
                </a:lnTo>
                <a:lnTo>
                  <a:pt x="435863" y="152908"/>
                </a:lnTo>
                <a:lnTo>
                  <a:pt x="436880" y="76708"/>
                </a:lnTo>
                <a:lnTo>
                  <a:pt x="398737" y="76241"/>
                </a:lnTo>
                <a:close/>
              </a:path>
              <a:path w="627379" h="228600">
                <a:moveTo>
                  <a:pt x="1016" y="71374"/>
                </a:moveTo>
                <a:lnTo>
                  <a:pt x="0" y="147574"/>
                </a:lnTo>
                <a:lnTo>
                  <a:pt x="397805" y="152442"/>
                </a:lnTo>
                <a:lnTo>
                  <a:pt x="398737" y="76241"/>
                </a:lnTo>
                <a:lnTo>
                  <a:pt x="1016" y="71374"/>
                </a:lnTo>
                <a:close/>
              </a:path>
            </a:pathLst>
          </a:custGeom>
          <a:solidFill>
            <a:srgbClr val="C7042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263193" y="3095053"/>
            <a:ext cx="1781810" cy="584200"/>
            <a:chOff x="7263193" y="3095053"/>
            <a:chExt cx="1781810" cy="584200"/>
          </a:xfrm>
        </p:grpSpPr>
        <p:sp>
          <p:nvSpPr>
            <p:cNvPr id="10" name="object 10"/>
            <p:cNvSpPr/>
            <p:nvPr/>
          </p:nvSpPr>
          <p:spPr>
            <a:xfrm>
              <a:off x="7839456" y="3264408"/>
              <a:ext cx="1205865" cy="228600"/>
            </a:xfrm>
            <a:custGeom>
              <a:avLst/>
              <a:gdLst/>
              <a:ahLst/>
              <a:cxnLst/>
              <a:rect l="l" t="t" r="r" b="b"/>
              <a:pathLst>
                <a:path w="1205865" h="228600">
                  <a:moveTo>
                    <a:pt x="976884" y="0"/>
                  </a:moveTo>
                  <a:lnTo>
                    <a:pt x="976884" y="228600"/>
                  </a:lnTo>
                  <a:lnTo>
                    <a:pt x="1129284" y="152400"/>
                  </a:lnTo>
                  <a:lnTo>
                    <a:pt x="1014984" y="152400"/>
                  </a:lnTo>
                  <a:lnTo>
                    <a:pt x="1014984" y="76200"/>
                  </a:lnTo>
                  <a:lnTo>
                    <a:pt x="1129284" y="76200"/>
                  </a:lnTo>
                  <a:lnTo>
                    <a:pt x="976884" y="0"/>
                  </a:lnTo>
                  <a:close/>
                </a:path>
                <a:path w="1205865" h="228600">
                  <a:moveTo>
                    <a:pt x="976884" y="76200"/>
                  </a:moveTo>
                  <a:lnTo>
                    <a:pt x="0" y="76200"/>
                  </a:lnTo>
                  <a:lnTo>
                    <a:pt x="0" y="152400"/>
                  </a:lnTo>
                  <a:lnTo>
                    <a:pt x="976884" y="152400"/>
                  </a:lnTo>
                  <a:lnTo>
                    <a:pt x="976884" y="76200"/>
                  </a:lnTo>
                  <a:close/>
                </a:path>
                <a:path w="1205865" h="228600">
                  <a:moveTo>
                    <a:pt x="1129284" y="76200"/>
                  </a:moveTo>
                  <a:lnTo>
                    <a:pt x="1014984" y="76200"/>
                  </a:lnTo>
                  <a:lnTo>
                    <a:pt x="1014984" y="152400"/>
                  </a:lnTo>
                  <a:lnTo>
                    <a:pt x="1129284" y="152400"/>
                  </a:lnTo>
                  <a:lnTo>
                    <a:pt x="1205484" y="114300"/>
                  </a:lnTo>
                  <a:lnTo>
                    <a:pt x="1129284" y="76200"/>
                  </a:lnTo>
                  <a:close/>
                </a:path>
              </a:pathLst>
            </a:custGeom>
            <a:solidFill>
              <a:srgbClr val="C70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67956" y="3099816"/>
              <a:ext cx="562610" cy="574675"/>
            </a:xfrm>
            <a:custGeom>
              <a:avLst/>
              <a:gdLst/>
              <a:ahLst/>
              <a:cxnLst/>
              <a:rect l="l" t="t" r="r" b="b"/>
              <a:pathLst>
                <a:path w="562609" h="574675">
                  <a:moveTo>
                    <a:pt x="0" y="574548"/>
                  </a:moveTo>
                  <a:lnTo>
                    <a:pt x="562355" y="574548"/>
                  </a:lnTo>
                  <a:lnTo>
                    <a:pt x="562355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312914" y="3244341"/>
            <a:ext cx="474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mic Sans MS"/>
                <a:cs typeface="Comic Sans MS"/>
              </a:rPr>
              <a:t>T</a:t>
            </a:r>
            <a:r>
              <a:rPr sz="1600" b="1" spc="-10" dirty="0">
                <a:latin typeface="Comic Sans MS"/>
                <a:cs typeface="Comic Sans MS"/>
              </a:rPr>
              <a:t>est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71488" y="2304097"/>
            <a:ext cx="1172210" cy="1189355"/>
            <a:chOff x="6571488" y="2304097"/>
            <a:chExt cx="1172210" cy="1189355"/>
          </a:xfrm>
        </p:grpSpPr>
        <p:sp>
          <p:nvSpPr>
            <p:cNvPr id="14" name="object 14"/>
            <p:cNvSpPr/>
            <p:nvPr/>
          </p:nvSpPr>
          <p:spPr>
            <a:xfrm>
              <a:off x="6571488" y="3264408"/>
              <a:ext cx="696595" cy="228600"/>
            </a:xfrm>
            <a:custGeom>
              <a:avLst/>
              <a:gdLst/>
              <a:ahLst/>
              <a:cxnLst/>
              <a:rect l="l" t="t" r="r" b="b"/>
              <a:pathLst>
                <a:path w="696595" h="228600">
                  <a:moveTo>
                    <a:pt x="467867" y="0"/>
                  </a:moveTo>
                  <a:lnTo>
                    <a:pt x="467867" y="228600"/>
                  </a:lnTo>
                  <a:lnTo>
                    <a:pt x="620267" y="152400"/>
                  </a:lnTo>
                  <a:lnTo>
                    <a:pt x="505967" y="152400"/>
                  </a:lnTo>
                  <a:lnTo>
                    <a:pt x="505967" y="76200"/>
                  </a:lnTo>
                  <a:lnTo>
                    <a:pt x="620267" y="76200"/>
                  </a:lnTo>
                  <a:lnTo>
                    <a:pt x="467867" y="0"/>
                  </a:lnTo>
                  <a:close/>
                </a:path>
                <a:path w="696595" h="228600">
                  <a:moveTo>
                    <a:pt x="467867" y="76200"/>
                  </a:moveTo>
                  <a:lnTo>
                    <a:pt x="0" y="76200"/>
                  </a:lnTo>
                  <a:lnTo>
                    <a:pt x="0" y="152400"/>
                  </a:lnTo>
                  <a:lnTo>
                    <a:pt x="467867" y="152400"/>
                  </a:lnTo>
                  <a:lnTo>
                    <a:pt x="467867" y="76200"/>
                  </a:lnTo>
                  <a:close/>
                </a:path>
                <a:path w="696595" h="228600">
                  <a:moveTo>
                    <a:pt x="620267" y="76200"/>
                  </a:moveTo>
                  <a:lnTo>
                    <a:pt x="505967" y="76200"/>
                  </a:lnTo>
                  <a:lnTo>
                    <a:pt x="505967" y="152400"/>
                  </a:lnTo>
                  <a:lnTo>
                    <a:pt x="620267" y="152400"/>
                  </a:lnTo>
                  <a:lnTo>
                    <a:pt x="696467" y="114300"/>
                  </a:lnTo>
                  <a:lnTo>
                    <a:pt x="620267" y="76200"/>
                  </a:lnTo>
                  <a:close/>
                </a:path>
              </a:pathLst>
            </a:custGeom>
            <a:solidFill>
              <a:srgbClr val="C70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76516" y="2308860"/>
              <a:ext cx="562610" cy="574675"/>
            </a:xfrm>
            <a:custGeom>
              <a:avLst/>
              <a:gdLst/>
              <a:ahLst/>
              <a:cxnLst/>
              <a:rect l="l" t="t" r="r" b="b"/>
              <a:pathLst>
                <a:path w="562609" h="574675">
                  <a:moveTo>
                    <a:pt x="0" y="574548"/>
                  </a:moveTo>
                  <a:lnTo>
                    <a:pt x="562355" y="574548"/>
                  </a:lnTo>
                  <a:lnTo>
                    <a:pt x="562355" y="0"/>
                  </a:lnTo>
                  <a:lnTo>
                    <a:pt x="0" y="0"/>
                  </a:lnTo>
                  <a:lnTo>
                    <a:pt x="0" y="57454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275703" y="2434844"/>
            <a:ext cx="364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mic Sans MS"/>
                <a:cs typeface="Comic Sans MS"/>
              </a:rPr>
              <a:t>Fix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809867" y="2515870"/>
            <a:ext cx="1290320" cy="862965"/>
            <a:chOff x="6809867" y="2515870"/>
            <a:chExt cx="1290320" cy="862965"/>
          </a:xfrm>
        </p:grpSpPr>
        <p:sp>
          <p:nvSpPr>
            <p:cNvPr id="18" name="object 18"/>
            <p:cNvSpPr/>
            <p:nvPr/>
          </p:nvSpPr>
          <p:spPr>
            <a:xfrm>
              <a:off x="8061960" y="2634996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h="744220">
                  <a:moveTo>
                    <a:pt x="0" y="0"/>
                  </a:moveTo>
                  <a:lnTo>
                    <a:pt x="0" y="743712"/>
                  </a:lnTo>
                </a:path>
              </a:pathLst>
            </a:custGeom>
            <a:ln w="76200">
              <a:solidFill>
                <a:srgbClr val="C704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867" y="2515869"/>
              <a:ext cx="1254125" cy="862965"/>
            </a:xfrm>
            <a:custGeom>
              <a:avLst/>
              <a:gdLst/>
              <a:ahLst/>
              <a:cxnLst/>
              <a:rect l="l" t="t" r="r" b="b"/>
              <a:pathLst>
                <a:path w="1254125" h="862964">
                  <a:moveTo>
                    <a:pt x="228600" y="636143"/>
                  </a:moveTo>
                  <a:lnTo>
                    <a:pt x="152374" y="634923"/>
                  </a:lnTo>
                  <a:lnTo>
                    <a:pt x="160909" y="102997"/>
                  </a:lnTo>
                  <a:lnTo>
                    <a:pt x="84709" y="101727"/>
                  </a:lnTo>
                  <a:lnTo>
                    <a:pt x="76174" y="633691"/>
                  </a:lnTo>
                  <a:lnTo>
                    <a:pt x="0" y="632460"/>
                  </a:lnTo>
                  <a:lnTo>
                    <a:pt x="110617" y="862838"/>
                  </a:lnTo>
                  <a:lnTo>
                    <a:pt x="209423" y="672973"/>
                  </a:lnTo>
                  <a:lnTo>
                    <a:pt x="228600" y="636143"/>
                  </a:lnTo>
                  <a:close/>
                </a:path>
                <a:path w="1254125" h="862964">
                  <a:moveTo>
                    <a:pt x="1254125" y="81026"/>
                  </a:moveTo>
                  <a:lnTo>
                    <a:pt x="1159243" y="76136"/>
                  </a:lnTo>
                  <a:lnTo>
                    <a:pt x="1159344" y="74168"/>
                  </a:lnTo>
                  <a:lnTo>
                    <a:pt x="1163193" y="0"/>
                  </a:lnTo>
                  <a:lnTo>
                    <a:pt x="929005" y="102362"/>
                  </a:lnTo>
                  <a:lnTo>
                    <a:pt x="1151382" y="228346"/>
                  </a:lnTo>
                  <a:lnTo>
                    <a:pt x="1155306" y="152247"/>
                  </a:lnTo>
                  <a:lnTo>
                    <a:pt x="1250061" y="157226"/>
                  </a:lnTo>
                  <a:lnTo>
                    <a:pt x="1254125" y="81026"/>
                  </a:lnTo>
                  <a:close/>
                </a:path>
              </a:pathLst>
            </a:custGeom>
            <a:solidFill>
              <a:srgbClr val="C70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32676" y="2618232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76200">
              <a:solidFill>
                <a:srgbClr val="C704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9210" y="252806"/>
            <a:ext cx="4067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0000CC"/>
                </a:solidFill>
              </a:rPr>
              <a:t>Life</a:t>
            </a:r>
            <a:r>
              <a:rPr spc="-30" dirty="0">
                <a:solidFill>
                  <a:srgbClr val="0000CC"/>
                </a:solidFill>
              </a:rPr>
              <a:t> </a:t>
            </a:r>
            <a:r>
              <a:rPr spc="-15" dirty="0">
                <a:solidFill>
                  <a:srgbClr val="0000CC"/>
                </a:solidFill>
              </a:rPr>
              <a:t>Cycle</a:t>
            </a:r>
            <a:r>
              <a:rPr spc="-30" dirty="0">
                <a:solidFill>
                  <a:srgbClr val="0000CC"/>
                </a:solidFill>
              </a:rPr>
              <a:t> </a:t>
            </a:r>
            <a:r>
              <a:rPr spc="-5" dirty="0">
                <a:solidFill>
                  <a:srgbClr val="0000CC"/>
                </a:solidFill>
              </a:rPr>
              <a:t>Model</a:t>
            </a:r>
            <a:r>
              <a:rPr spc="10" dirty="0">
                <a:solidFill>
                  <a:srgbClr val="0000CC"/>
                </a:solidFill>
              </a:rPr>
              <a:t> </a:t>
            </a:r>
            <a:r>
              <a:rPr sz="1200" spc="-15" dirty="0">
                <a:solidFill>
                  <a:srgbClr val="0000CC"/>
                </a:solidFill>
              </a:rPr>
              <a:t>(CONT.)</a:t>
            </a:r>
            <a:endParaRPr sz="1200"/>
          </a:p>
        </p:txBody>
      </p:sp>
      <p:sp>
        <p:nvSpPr>
          <p:cNvPr id="4" name="object 4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102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962" y="1117853"/>
            <a:ext cx="8039734" cy="2451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6379" algn="l"/>
              </a:tabLst>
            </a:pPr>
            <a:r>
              <a:rPr sz="3000" spc="-5" dirty="0">
                <a:latin typeface="Calibri"/>
                <a:cs typeface="Calibri"/>
              </a:rPr>
              <a:t>When</a:t>
            </a:r>
            <a:r>
              <a:rPr sz="3000" spc="-15" dirty="0">
                <a:latin typeface="Calibri"/>
                <a:cs typeface="Calibri"/>
              </a:rPr>
              <a:t> software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being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developed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by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10" dirty="0">
                <a:latin typeface="Calibri"/>
                <a:cs typeface="Calibri"/>
              </a:rPr>
              <a:t> team:</a:t>
            </a:r>
            <a:endParaRPr sz="3000">
              <a:latin typeface="Calibri"/>
              <a:cs typeface="Calibri"/>
            </a:endParaRPr>
          </a:p>
          <a:p>
            <a:pPr marL="516890" marR="215900" indent="-193675">
              <a:lnSpc>
                <a:spcPct val="126000"/>
              </a:lnSpc>
              <a:spcBef>
                <a:spcPts val="1639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There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must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be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precise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understanding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among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team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members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as</a:t>
            </a:r>
            <a:r>
              <a:rPr sz="2700" spc="-5" dirty="0">
                <a:latin typeface="Calibri"/>
                <a:cs typeface="Calibri"/>
              </a:rPr>
              <a:t> to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when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do </a:t>
            </a:r>
            <a:r>
              <a:rPr sz="2700" spc="5" dirty="0">
                <a:latin typeface="Calibri"/>
                <a:cs typeface="Calibri"/>
              </a:rPr>
              <a:t>what,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tabLst>
                <a:tab pos="7045959" algn="l"/>
              </a:tabLst>
            </a:pPr>
            <a:r>
              <a:rPr sz="2700" spc="1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Otherwise,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it </a:t>
            </a:r>
            <a:r>
              <a:rPr sz="2700" spc="-20" dirty="0">
                <a:latin typeface="Calibri"/>
                <a:cs typeface="Calibri"/>
              </a:rPr>
              <a:t>w</a:t>
            </a:r>
            <a:r>
              <a:rPr sz="2700" spc="5" dirty="0">
                <a:latin typeface="Calibri"/>
                <a:cs typeface="Calibri"/>
              </a:rPr>
              <a:t>oul</a:t>
            </a:r>
            <a:r>
              <a:rPr sz="2700" spc="10" dirty="0">
                <a:latin typeface="Calibri"/>
                <a:cs typeface="Calibri"/>
              </a:rPr>
              <a:t>d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lead</a:t>
            </a:r>
            <a:r>
              <a:rPr sz="2700" spc="-20" dirty="0">
                <a:latin typeface="Calibri"/>
                <a:cs typeface="Calibri"/>
              </a:rPr>
              <a:t> t</a:t>
            </a:r>
            <a:r>
              <a:rPr sz="2700" spc="10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cha</a:t>
            </a:r>
            <a:r>
              <a:rPr sz="2700" spc="20" dirty="0">
                <a:latin typeface="Calibri"/>
                <a:cs typeface="Calibri"/>
              </a:rPr>
              <a:t>o</a:t>
            </a:r>
            <a:r>
              <a:rPr sz="2700" spc="5" dirty="0">
                <a:latin typeface="Calibri"/>
                <a:cs typeface="Calibri"/>
              </a:rPr>
              <a:t>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p</a:t>
            </a:r>
            <a:r>
              <a:rPr sz="2700" spc="-50" dirty="0">
                <a:latin typeface="Calibri"/>
                <a:cs typeface="Calibri"/>
              </a:rPr>
              <a:t>r</a:t>
            </a:r>
            <a:r>
              <a:rPr sz="2700" spc="5" dirty="0">
                <a:latin typeface="Calibri"/>
                <a:cs typeface="Calibri"/>
              </a:rPr>
              <a:t>oject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50" dirty="0">
                <a:latin typeface="Calibri"/>
                <a:cs typeface="Calibri"/>
              </a:rPr>
              <a:t>f</a:t>
            </a:r>
            <a:r>
              <a:rPr sz="2700" spc="5" dirty="0">
                <a:latin typeface="Calibri"/>
                <a:cs typeface="Calibri"/>
              </a:rPr>
              <a:t>ailu</a:t>
            </a:r>
            <a:r>
              <a:rPr sz="2700" spc="-40" dirty="0">
                <a:latin typeface="Calibri"/>
                <a:cs typeface="Calibri"/>
              </a:rPr>
              <a:t>r</a:t>
            </a:r>
            <a:r>
              <a:rPr sz="2700" spc="5" dirty="0">
                <a:latin typeface="Calibri"/>
                <a:cs typeface="Calibri"/>
              </a:rPr>
              <a:t>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3263" y="281685"/>
            <a:ext cx="30822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solidFill>
                  <a:srgbClr val="0000CC"/>
                </a:solidFill>
              </a:rPr>
              <a:t>Life</a:t>
            </a:r>
            <a:r>
              <a:rPr sz="3000" spc="-20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Cycle</a:t>
            </a:r>
            <a:r>
              <a:rPr sz="3000" spc="-3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Model </a:t>
            </a:r>
            <a:r>
              <a:rPr sz="950" spc="-10" dirty="0">
                <a:solidFill>
                  <a:srgbClr val="0000CC"/>
                </a:solidFill>
              </a:rPr>
              <a:t>(CONT.)</a:t>
            </a:r>
            <a:endParaRPr sz="950"/>
          </a:p>
        </p:txBody>
      </p:sp>
      <p:sp>
        <p:nvSpPr>
          <p:cNvPr id="4" name="object 4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87" y="662184"/>
            <a:ext cx="8655050" cy="3129915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770"/>
              </a:spcBef>
              <a:buSzPct val="87500"/>
              <a:buFont typeface="Arial MT"/>
              <a:buChar char="•"/>
              <a:tabLst>
                <a:tab pos="324485" algn="l"/>
                <a:tab pos="32512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software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project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never</a:t>
            </a:r>
            <a:r>
              <a:rPr sz="3200" spc="-5" dirty="0">
                <a:latin typeface="Calibri"/>
                <a:cs typeface="Calibri"/>
              </a:rPr>
              <a:t> succeed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if:</a:t>
            </a:r>
            <a:endParaRPr sz="32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45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one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engineer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starts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writing </a:t>
            </a:r>
            <a:r>
              <a:rPr sz="2800" spc="-10" dirty="0">
                <a:latin typeface="Calibri"/>
                <a:cs typeface="Calibri"/>
              </a:rPr>
              <a:t>code,</a:t>
            </a:r>
            <a:endParaRPr sz="28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another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concentrates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writing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test</a:t>
            </a:r>
            <a:r>
              <a:rPr sz="2800" spc="-10" dirty="0">
                <a:latin typeface="Calibri"/>
                <a:cs typeface="Calibri"/>
              </a:rPr>
              <a:t> document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first,</a:t>
            </a:r>
            <a:endParaRPr sz="28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345"/>
              </a:spcBef>
            </a:pPr>
            <a:r>
              <a:rPr sz="2800" spc="-20" dirty="0">
                <a:latin typeface="Arial MT"/>
                <a:cs typeface="Arial MT"/>
              </a:rPr>
              <a:t>–</a:t>
            </a:r>
            <a:r>
              <a:rPr sz="2800" spc="-20" dirty="0">
                <a:latin typeface="Calibri"/>
                <a:cs typeface="Calibri"/>
              </a:rPr>
              <a:t>yet</a:t>
            </a:r>
            <a:r>
              <a:rPr sz="2800" spc="-5" dirty="0">
                <a:latin typeface="Calibri"/>
                <a:cs typeface="Calibri"/>
              </a:rPr>
              <a:t> another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engineer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another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defines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I/O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his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portion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first.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036" y="78799"/>
            <a:ext cx="7729220" cy="3548379"/>
          </a:xfrm>
          <a:prstGeom prst="rect">
            <a:avLst/>
          </a:prstGeom>
        </p:spPr>
        <p:txBody>
          <a:bodyPr vert="horz" wrap="square" lIns="0" tIns="275590" rIns="0" bIns="0" rtlCol="0">
            <a:spAutoFit/>
          </a:bodyPr>
          <a:lstStyle/>
          <a:p>
            <a:pPr marL="2148205">
              <a:lnSpc>
                <a:spcPct val="100000"/>
              </a:lnSpc>
              <a:spcBef>
                <a:spcPts val="2170"/>
              </a:spcBef>
            </a:pP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Phase</a:t>
            </a:r>
            <a:r>
              <a:rPr sz="30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Entry</a:t>
            </a:r>
            <a:r>
              <a:rPr sz="30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Exit</a:t>
            </a:r>
            <a:r>
              <a:rPr sz="30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00CC"/>
                </a:solidFill>
                <a:latin typeface="Calibri"/>
                <a:cs typeface="Calibri"/>
              </a:rPr>
              <a:t>Criteria</a:t>
            </a:r>
            <a:endParaRPr sz="30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2270"/>
              </a:spcBef>
              <a:buFont typeface="Arial MT"/>
              <a:buChar char="•"/>
              <a:tabLst>
                <a:tab pos="246379" algn="l"/>
              </a:tabLst>
            </a:pP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life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cycle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model:</a:t>
            </a:r>
            <a:endParaRPr sz="32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895"/>
              </a:spcBef>
              <a:tabLst>
                <a:tab pos="1832610" algn="l"/>
              </a:tabLst>
            </a:pPr>
            <a:r>
              <a:rPr sz="3000" spc="-10" dirty="0">
                <a:latin typeface="Arial MT"/>
                <a:cs typeface="Arial MT"/>
              </a:rPr>
              <a:t>–</a:t>
            </a:r>
            <a:r>
              <a:rPr sz="3000" spc="-10" dirty="0">
                <a:latin typeface="Calibri"/>
                <a:cs typeface="Calibri"/>
              </a:rPr>
              <a:t>defines	</a:t>
            </a:r>
            <a:r>
              <a:rPr sz="3000" spc="-5" dirty="0">
                <a:latin typeface="Calibri"/>
                <a:cs typeface="Calibri"/>
              </a:rPr>
              <a:t>entry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20" dirty="0">
                <a:latin typeface="Calibri"/>
                <a:cs typeface="Calibri"/>
              </a:rPr>
              <a:t> exit</a:t>
            </a:r>
            <a:r>
              <a:rPr sz="3000" spc="-10" dirty="0">
                <a:latin typeface="Calibri"/>
                <a:cs typeface="Calibri"/>
              </a:rPr>
              <a:t> criteria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every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phase.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789"/>
              </a:spcBef>
            </a:pPr>
            <a:r>
              <a:rPr sz="3000" spc="-5" dirty="0">
                <a:latin typeface="Arial MT"/>
                <a:cs typeface="Arial MT"/>
              </a:rPr>
              <a:t>–</a:t>
            </a:r>
            <a:r>
              <a:rPr sz="3000" spc="-5" dirty="0">
                <a:latin typeface="Calibri"/>
                <a:cs typeface="Calibri"/>
              </a:rPr>
              <a:t>A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phase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considered</a:t>
            </a:r>
            <a:r>
              <a:rPr sz="3000" spc="-15" dirty="0">
                <a:latin typeface="Calibri"/>
                <a:cs typeface="Calibri"/>
              </a:rPr>
              <a:t> to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complete:</a:t>
            </a:r>
            <a:endParaRPr sz="30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764"/>
              </a:spcBef>
              <a:buFont typeface="Arial MT"/>
              <a:buChar char="•"/>
              <a:tabLst>
                <a:tab pos="790575" algn="l"/>
              </a:tabLst>
            </a:pPr>
            <a:r>
              <a:rPr sz="2700" spc="5" dirty="0">
                <a:latin typeface="Calibri"/>
                <a:cs typeface="Calibri"/>
              </a:rPr>
              <a:t>only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when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all </a:t>
            </a:r>
            <a:r>
              <a:rPr sz="2700" dirty="0">
                <a:latin typeface="Calibri"/>
                <a:cs typeface="Calibri"/>
              </a:rPr>
              <a:t>its </a:t>
            </a:r>
            <a:r>
              <a:rPr sz="2700" spc="-5" dirty="0">
                <a:latin typeface="Calibri"/>
                <a:cs typeface="Calibri"/>
              </a:rPr>
              <a:t>exit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criteria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satisfied.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58690" y="1112519"/>
            <a:ext cx="4165600" cy="341630"/>
            <a:chOff x="4758690" y="1112519"/>
            <a:chExt cx="4165600" cy="341630"/>
          </a:xfrm>
        </p:grpSpPr>
        <p:sp>
          <p:nvSpPr>
            <p:cNvPr id="4" name="object 4"/>
            <p:cNvSpPr/>
            <p:nvPr/>
          </p:nvSpPr>
          <p:spPr>
            <a:xfrm>
              <a:off x="5410962" y="1125473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533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533400" y="3048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962" y="1125473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3048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53962" y="113614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533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533400" y="3048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53962" y="113614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3048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43981" y="1176146"/>
              <a:ext cx="610235" cy="220979"/>
            </a:xfrm>
            <a:custGeom>
              <a:avLst/>
              <a:gdLst/>
              <a:ahLst/>
              <a:cxnLst/>
              <a:rect l="l" t="t" r="r" b="b"/>
              <a:pathLst>
                <a:path w="610234" h="220980">
                  <a:moveTo>
                    <a:pt x="479425" y="0"/>
                  </a:moveTo>
                  <a:lnTo>
                    <a:pt x="477798" y="88368"/>
                  </a:lnTo>
                  <a:lnTo>
                    <a:pt x="499872" y="88773"/>
                  </a:lnTo>
                  <a:lnTo>
                    <a:pt x="499110" y="132968"/>
                  </a:lnTo>
                  <a:lnTo>
                    <a:pt x="476978" y="132968"/>
                  </a:lnTo>
                  <a:lnTo>
                    <a:pt x="475361" y="220852"/>
                  </a:lnTo>
                  <a:lnTo>
                    <a:pt x="584828" y="132968"/>
                  </a:lnTo>
                  <a:lnTo>
                    <a:pt x="499110" y="132968"/>
                  </a:lnTo>
                  <a:lnTo>
                    <a:pt x="476985" y="132563"/>
                  </a:lnTo>
                  <a:lnTo>
                    <a:pt x="585333" y="132563"/>
                  </a:lnTo>
                  <a:lnTo>
                    <a:pt x="609980" y="112775"/>
                  </a:lnTo>
                  <a:lnTo>
                    <a:pt x="479425" y="0"/>
                  </a:lnTo>
                  <a:close/>
                </a:path>
                <a:path w="610234" h="220980">
                  <a:moveTo>
                    <a:pt x="477798" y="88368"/>
                  </a:moveTo>
                  <a:lnTo>
                    <a:pt x="476985" y="132563"/>
                  </a:lnTo>
                  <a:lnTo>
                    <a:pt x="499110" y="132968"/>
                  </a:lnTo>
                  <a:lnTo>
                    <a:pt x="499872" y="88773"/>
                  </a:lnTo>
                  <a:lnTo>
                    <a:pt x="477798" y="88368"/>
                  </a:lnTo>
                  <a:close/>
                </a:path>
                <a:path w="610234" h="220980">
                  <a:moveTo>
                    <a:pt x="762" y="79628"/>
                  </a:moveTo>
                  <a:lnTo>
                    <a:pt x="0" y="123825"/>
                  </a:lnTo>
                  <a:lnTo>
                    <a:pt x="476985" y="132563"/>
                  </a:lnTo>
                  <a:lnTo>
                    <a:pt x="477798" y="88368"/>
                  </a:lnTo>
                  <a:lnTo>
                    <a:pt x="762" y="79628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39634" y="113614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533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533400" y="3048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39634" y="113614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3048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58690" y="1176527"/>
              <a:ext cx="4165600" cy="236220"/>
            </a:xfrm>
            <a:custGeom>
              <a:avLst/>
              <a:gdLst/>
              <a:ahLst/>
              <a:cxnLst/>
              <a:rect l="l" t="t" r="r" b="b"/>
              <a:pathLst>
                <a:path w="4165600" h="236219">
                  <a:moveTo>
                    <a:pt x="652399" y="110490"/>
                  </a:moveTo>
                  <a:lnTo>
                    <a:pt x="625881" y="88392"/>
                  </a:lnTo>
                  <a:lnTo>
                    <a:pt x="519811" y="0"/>
                  </a:lnTo>
                  <a:lnTo>
                    <a:pt x="519811" y="88392"/>
                  </a:lnTo>
                  <a:lnTo>
                    <a:pt x="0" y="88392"/>
                  </a:lnTo>
                  <a:lnTo>
                    <a:pt x="0" y="132588"/>
                  </a:lnTo>
                  <a:lnTo>
                    <a:pt x="519811" y="132588"/>
                  </a:lnTo>
                  <a:lnTo>
                    <a:pt x="519811" y="220980"/>
                  </a:lnTo>
                  <a:lnTo>
                    <a:pt x="625881" y="132588"/>
                  </a:lnTo>
                  <a:lnTo>
                    <a:pt x="652399" y="110490"/>
                  </a:lnTo>
                  <a:close/>
                </a:path>
                <a:path w="4165600" h="236219">
                  <a:moveTo>
                    <a:pt x="2981071" y="112014"/>
                  </a:moveTo>
                  <a:lnTo>
                    <a:pt x="2954553" y="89916"/>
                  </a:lnTo>
                  <a:lnTo>
                    <a:pt x="2848483" y="1524"/>
                  </a:lnTo>
                  <a:lnTo>
                    <a:pt x="2848483" y="89916"/>
                  </a:lnTo>
                  <a:lnTo>
                    <a:pt x="2328672" y="89916"/>
                  </a:lnTo>
                  <a:lnTo>
                    <a:pt x="2328672" y="134112"/>
                  </a:lnTo>
                  <a:lnTo>
                    <a:pt x="2848483" y="134112"/>
                  </a:lnTo>
                  <a:lnTo>
                    <a:pt x="2848483" y="222504"/>
                  </a:lnTo>
                  <a:lnTo>
                    <a:pt x="2954553" y="134112"/>
                  </a:lnTo>
                  <a:lnTo>
                    <a:pt x="2981071" y="112014"/>
                  </a:lnTo>
                  <a:close/>
                </a:path>
                <a:path w="4165600" h="236219">
                  <a:moveTo>
                    <a:pt x="4165219" y="125730"/>
                  </a:moveTo>
                  <a:lnTo>
                    <a:pt x="4138701" y="103632"/>
                  </a:lnTo>
                  <a:lnTo>
                    <a:pt x="4032631" y="15240"/>
                  </a:lnTo>
                  <a:lnTo>
                    <a:pt x="4032631" y="103632"/>
                  </a:lnTo>
                  <a:lnTo>
                    <a:pt x="3512820" y="103632"/>
                  </a:lnTo>
                  <a:lnTo>
                    <a:pt x="3512820" y="147828"/>
                  </a:lnTo>
                  <a:lnTo>
                    <a:pt x="4032631" y="147828"/>
                  </a:lnTo>
                  <a:lnTo>
                    <a:pt x="4032631" y="236220"/>
                  </a:lnTo>
                  <a:lnTo>
                    <a:pt x="4138701" y="147828"/>
                  </a:lnTo>
                  <a:lnTo>
                    <a:pt x="4165219" y="12573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4883" y="270713"/>
            <a:ext cx="368807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0000CC"/>
                </a:solidFill>
              </a:rPr>
              <a:t>Life</a:t>
            </a:r>
            <a:r>
              <a:rPr sz="3600" spc="-25" dirty="0">
                <a:solidFill>
                  <a:srgbClr val="0000CC"/>
                </a:solidFill>
              </a:rPr>
              <a:t> </a:t>
            </a:r>
            <a:r>
              <a:rPr sz="3600" spc="-15" dirty="0">
                <a:solidFill>
                  <a:srgbClr val="0000CC"/>
                </a:solidFill>
              </a:rPr>
              <a:t>Cycle</a:t>
            </a:r>
            <a:r>
              <a:rPr sz="3600" spc="-25" dirty="0">
                <a:solidFill>
                  <a:srgbClr val="0000CC"/>
                </a:solidFill>
              </a:rPr>
              <a:t> </a:t>
            </a:r>
            <a:r>
              <a:rPr sz="3600" spc="-5" dirty="0">
                <a:solidFill>
                  <a:srgbClr val="0000CC"/>
                </a:solidFill>
              </a:rPr>
              <a:t>Model</a:t>
            </a:r>
            <a:r>
              <a:rPr sz="3600" spc="10" dirty="0">
                <a:solidFill>
                  <a:srgbClr val="0000CC"/>
                </a:solidFill>
              </a:rPr>
              <a:t> </a:t>
            </a:r>
            <a:r>
              <a:rPr sz="1100" dirty="0">
                <a:solidFill>
                  <a:srgbClr val="0000CC"/>
                </a:solidFill>
              </a:rPr>
              <a:t>(CONT.)</a:t>
            </a:r>
            <a:endParaRPr sz="1100"/>
          </a:p>
        </p:txBody>
      </p:sp>
      <p:sp>
        <p:nvSpPr>
          <p:cNvPr id="6" name="object 6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35" y="807591"/>
            <a:ext cx="9009380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101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10" dirty="0">
                <a:latin typeface="Calibri"/>
                <a:cs typeface="Calibri"/>
              </a:rPr>
              <a:t>What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phase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exit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criteria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software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requirements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specification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phase?</a:t>
            </a:r>
            <a:endParaRPr sz="2800">
              <a:latin typeface="Calibri"/>
              <a:cs typeface="Calibri"/>
            </a:endParaRPr>
          </a:p>
          <a:p>
            <a:pPr marL="515620" marR="501015" indent="-192405">
              <a:lnSpc>
                <a:spcPct val="110100"/>
              </a:lnSpc>
              <a:spcBef>
                <a:spcPts val="1400"/>
              </a:spcBef>
            </a:pPr>
            <a:r>
              <a:rPr sz="2800" spc="-15" dirty="0">
                <a:solidFill>
                  <a:srgbClr val="660033"/>
                </a:solidFill>
                <a:latin typeface="Arial MT"/>
                <a:cs typeface="Arial MT"/>
              </a:rPr>
              <a:t>–</a:t>
            </a:r>
            <a:r>
              <a:rPr sz="2800" spc="-15" dirty="0">
                <a:solidFill>
                  <a:srgbClr val="660033"/>
                </a:solidFill>
                <a:latin typeface="Calibri"/>
                <a:cs typeface="Calibri"/>
              </a:rPr>
              <a:t>Software</a:t>
            </a:r>
            <a:r>
              <a:rPr sz="2800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33"/>
                </a:solidFill>
                <a:latin typeface="Calibri"/>
                <a:cs typeface="Calibri"/>
              </a:rPr>
              <a:t>Requirements</a:t>
            </a:r>
            <a:r>
              <a:rPr sz="2800" spc="30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33"/>
                </a:solidFill>
                <a:latin typeface="Calibri"/>
                <a:cs typeface="Calibri"/>
              </a:rPr>
              <a:t>Specification</a:t>
            </a:r>
            <a:r>
              <a:rPr sz="2800" spc="5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33"/>
                </a:solidFill>
                <a:latin typeface="Calibri"/>
                <a:cs typeface="Calibri"/>
              </a:rPr>
              <a:t>(SRS)</a:t>
            </a:r>
            <a:r>
              <a:rPr sz="2800" spc="5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33"/>
                </a:solidFill>
                <a:latin typeface="Calibri"/>
                <a:cs typeface="Calibri"/>
              </a:rPr>
              <a:t>document</a:t>
            </a:r>
            <a:r>
              <a:rPr sz="2800" spc="20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60033"/>
                </a:solidFill>
                <a:latin typeface="Calibri"/>
                <a:cs typeface="Calibri"/>
              </a:rPr>
              <a:t>is </a:t>
            </a:r>
            <a:r>
              <a:rPr sz="2800" spc="-615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33"/>
                </a:solidFill>
                <a:latin typeface="Calibri"/>
                <a:cs typeface="Calibri"/>
              </a:rPr>
              <a:t>complete,</a:t>
            </a:r>
            <a:r>
              <a:rPr sz="2800" spc="10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33"/>
                </a:solidFill>
                <a:latin typeface="Calibri"/>
                <a:cs typeface="Calibri"/>
              </a:rPr>
              <a:t>reviewed,</a:t>
            </a:r>
            <a:r>
              <a:rPr sz="2800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60033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33"/>
                </a:solidFill>
                <a:latin typeface="Calibri"/>
                <a:cs typeface="Calibri"/>
              </a:rPr>
              <a:t>approved</a:t>
            </a:r>
            <a:r>
              <a:rPr sz="2800" spc="20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33"/>
                </a:solidFill>
                <a:latin typeface="Calibri"/>
                <a:cs typeface="Calibri"/>
              </a:rPr>
              <a:t>by</a:t>
            </a:r>
            <a:r>
              <a:rPr sz="2800" spc="5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60033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660033"/>
                </a:solidFill>
                <a:latin typeface="Calibri"/>
                <a:cs typeface="Calibri"/>
              </a:rPr>
              <a:t>customer.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35" y="3084398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600" y="3182111"/>
            <a:ext cx="8610600" cy="1050290"/>
          </a:xfrm>
          <a:prstGeom prst="rect">
            <a:avLst/>
          </a:prstGeom>
          <a:solidFill>
            <a:srgbClr val="FFFFCC"/>
          </a:solidFill>
          <a:ln w="9144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330">
              <a:lnSpc>
                <a:spcPts val="2690"/>
              </a:lnSpc>
            </a:pPr>
            <a:r>
              <a:rPr sz="2800" spc="-5" dirty="0">
                <a:latin typeface="Calibri"/>
                <a:cs typeface="Calibri"/>
              </a:rPr>
              <a:t>A phase</a:t>
            </a:r>
            <a:r>
              <a:rPr sz="2800" spc="-10" dirty="0">
                <a:latin typeface="Calibri"/>
                <a:cs typeface="Calibri"/>
              </a:rPr>
              <a:t> can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start:</a:t>
            </a:r>
            <a:endParaRPr sz="2800">
              <a:latin typeface="Calibri"/>
              <a:cs typeface="Calibri"/>
            </a:endParaRPr>
          </a:p>
          <a:p>
            <a:pPr marL="179705">
              <a:lnSpc>
                <a:spcPct val="100000"/>
              </a:lnSpc>
              <a:spcBef>
                <a:spcPts val="1739"/>
              </a:spcBef>
            </a:pP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Only</a:t>
            </a:r>
            <a:r>
              <a:rPr sz="28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if</a:t>
            </a:r>
            <a:r>
              <a:rPr sz="28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its</a:t>
            </a:r>
            <a:r>
              <a:rPr sz="28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phase-entry</a:t>
            </a:r>
            <a:r>
              <a:rPr sz="2800" spc="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criteria</a:t>
            </a:r>
            <a:r>
              <a:rPr sz="28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have</a:t>
            </a:r>
            <a:r>
              <a:rPr sz="28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been</a:t>
            </a:r>
            <a:r>
              <a:rPr sz="28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FF"/>
                </a:solidFill>
                <a:latin typeface="Calibri"/>
                <a:cs typeface="Calibri"/>
              </a:rPr>
              <a:t>satisfied.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2223516"/>
            <a:ext cx="1752600" cy="19491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78583" y="379552"/>
            <a:ext cx="54463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0000CC"/>
                </a:solidFill>
              </a:rPr>
              <a:t>Life</a:t>
            </a:r>
            <a:r>
              <a:rPr sz="3600" spc="-25" dirty="0">
                <a:solidFill>
                  <a:srgbClr val="0000CC"/>
                </a:solidFill>
              </a:rPr>
              <a:t> </a:t>
            </a:r>
            <a:r>
              <a:rPr sz="3600" spc="-15" dirty="0">
                <a:solidFill>
                  <a:srgbClr val="0000CC"/>
                </a:solidFill>
              </a:rPr>
              <a:t>Cycle</a:t>
            </a:r>
            <a:r>
              <a:rPr sz="3600" spc="-25" dirty="0">
                <a:solidFill>
                  <a:srgbClr val="0000CC"/>
                </a:solidFill>
              </a:rPr>
              <a:t> </a:t>
            </a:r>
            <a:r>
              <a:rPr sz="3600" spc="-5" dirty="0">
                <a:solidFill>
                  <a:srgbClr val="0000CC"/>
                </a:solidFill>
              </a:rPr>
              <a:t>Model:</a:t>
            </a:r>
            <a:r>
              <a:rPr sz="3600" spc="-10" dirty="0">
                <a:solidFill>
                  <a:srgbClr val="0000CC"/>
                </a:solidFill>
              </a:rPr>
              <a:t> Milestones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106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314" y="1123948"/>
            <a:ext cx="8050886" cy="25984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6379" algn="l"/>
              </a:tabLst>
            </a:pPr>
            <a:r>
              <a:rPr sz="3300" spc="5" dirty="0">
                <a:latin typeface="Calibri"/>
                <a:cs typeface="Calibri"/>
              </a:rPr>
              <a:t>Milestones</a:t>
            </a:r>
            <a:r>
              <a:rPr sz="3300" spc="-20" dirty="0">
                <a:latin typeface="Calibri"/>
                <a:cs typeface="Calibri"/>
              </a:rPr>
              <a:t> </a:t>
            </a:r>
            <a:r>
              <a:rPr sz="3300" spc="10" dirty="0">
                <a:latin typeface="Calibri"/>
                <a:cs typeface="Calibri"/>
              </a:rPr>
              <a:t>help </a:t>
            </a:r>
            <a:r>
              <a:rPr sz="3300" dirty="0">
                <a:latin typeface="Calibri"/>
                <a:cs typeface="Calibri"/>
              </a:rPr>
              <a:t>software</a:t>
            </a:r>
            <a:r>
              <a:rPr sz="3300" spc="-15" dirty="0">
                <a:latin typeface="Calibri"/>
                <a:cs typeface="Calibri"/>
              </a:rPr>
              <a:t> </a:t>
            </a:r>
            <a:r>
              <a:rPr sz="3300" spc="5" dirty="0">
                <a:latin typeface="Calibri"/>
                <a:cs typeface="Calibri"/>
              </a:rPr>
              <a:t>project</a:t>
            </a:r>
            <a:r>
              <a:rPr sz="3300" dirty="0">
                <a:latin typeface="Calibri"/>
                <a:cs typeface="Calibri"/>
              </a:rPr>
              <a:t> managers:</a:t>
            </a:r>
          </a:p>
          <a:p>
            <a:pPr marL="323215">
              <a:lnSpc>
                <a:spcPct val="100000"/>
              </a:lnSpc>
              <a:spcBef>
                <a:spcPts val="2475"/>
              </a:spcBef>
            </a:pPr>
            <a:r>
              <a:rPr sz="3000" spc="-45" dirty="0">
                <a:latin typeface="Arial MT"/>
                <a:cs typeface="Arial MT"/>
              </a:rPr>
              <a:t>–</a:t>
            </a:r>
            <a:r>
              <a:rPr sz="3000" spc="-45" dirty="0">
                <a:latin typeface="Calibri"/>
                <a:cs typeface="Calibri"/>
              </a:rPr>
              <a:t>Track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progress</a:t>
            </a:r>
            <a:r>
              <a:rPr sz="3000" spc="-5" dirty="0">
                <a:latin typeface="Calibri"/>
                <a:cs typeface="Calibri"/>
              </a:rPr>
              <a:t> of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project.</a:t>
            </a:r>
            <a:endParaRPr sz="3000" dirty="0">
              <a:latin typeface="Calibri"/>
              <a:cs typeface="Calibri"/>
            </a:endParaRPr>
          </a:p>
          <a:p>
            <a:pPr marL="516890" marR="3534410" indent="-193675">
              <a:lnSpc>
                <a:spcPct val="124700"/>
              </a:lnSpc>
              <a:spcBef>
                <a:spcPts val="1435"/>
              </a:spcBef>
            </a:pPr>
            <a:r>
              <a:rPr sz="30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Phase</a:t>
            </a:r>
            <a:r>
              <a:rPr sz="3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entry</a:t>
            </a:r>
            <a:r>
              <a:rPr sz="3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exit 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are </a:t>
            </a:r>
            <a:r>
              <a:rPr sz="3000" spc="-6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important</a:t>
            </a:r>
            <a:r>
              <a:rPr sz="30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0000FF"/>
                </a:solidFill>
                <a:latin typeface="Calibri"/>
                <a:cs typeface="Calibri"/>
              </a:rPr>
              <a:t>milestones.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1611" y="338150"/>
            <a:ext cx="59594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>
                <a:solidFill>
                  <a:srgbClr val="0000CC"/>
                </a:solidFill>
              </a:rPr>
              <a:t>Life Cycle </a:t>
            </a:r>
            <a:r>
              <a:rPr sz="3200" dirty="0">
                <a:solidFill>
                  <a:srgbClr val="0000CC"/>
                </a:solidFill>
              </a:rPr>
              <a:t>and</a:t>
            </a:r>
            <a:r>
              <a:rPr sz="3200" spc="-35" dirty="0">
                <a:solidFill>
                  <a:srgbClr val="0000CC"/>
                </a:solidFill>
              </a:rPr>
              <a:t> </a:t>
            </a:r>
            <a:r>
              <a:rPr sz="3200" spc="-5" dirty="0">
                <a:solidFill>
                  <a:srgbClr val="0000CC"/>
                </a:solidFill>
              </a:rPr>
              <a:t>Project</a:t>
            </a:r>
            <a:r>
              <a:rPr sz="3200" spc="-20" dirty="0">
                <a:solidFill>
                  <a:srgbClr val="0000CC"/>
                </a:solidFill>
              </a:rPr>
              <a:t> </a:t>
            </a:r>
            <a:r>
              <a:rPr sz="3200" spc="-10" dirty="0">
                <a:solidFill>
                  <a:srgbClr val="0000CC"/>
                </a:solidFill>
              </a:rPr>
              <a:t>Management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911" y="623550"/>
            <a:ext cx="8759825" cy="3644265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2600"/>
              </a:spcBef>
              <a:buFont typeface="Arial MT"/>
              <a:buChar char="•"/>
              <a:tabLst>
                <a:tab pos="244475" algn="l"/>
              </a:tabLst>
            </a:pPr>
            <a:r>
              <a:rPr sz="3600" dirty="0">
                <a:latin typeface="Calibri"/>
                <a:cs typeface="Calibri"/>
              </a:rPr>
              <a:t>When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 </a:t>
            </a:r>
            <a:r>
              <a:rPr sz="3600" spc="-25" dirty="0">
                <a:latin typeface="Calibri"/>
                <a:cs typeface="Calibri"/>
              </a:rPr>
              <a:t>life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cycle </a:t>
            </a:r>
            <a:r>
              <a:rPr sz="3600" dirty="0">
                <a:latin typeface="Calibri"/>
                <a:cs typeface="Calibri"/>
              </a:rPr>
              <a:t>model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is </a:t>
            </a:r>
            <a:r>
              <a:rPr sz="3600" spc="-20" dirty="0">
                <a:latin typeface="Calibri"/>
                <a:cs typeface="Calibri"/>
              </a:rPr>
              <a:t>followed:</a:t>
            </a:r>
            <a:endParaRPr sz="3600">
              <a:latin typeface="Calibri"/>
              <a:cs typeface="Calibri"/>
            </a:endParaRPr>
          </a:p>
          <a:p>
            <a:pPr marL="515620" marR="1241425" indent="-192405">
              <a:lnSpc>
                <a:spcPct val="125000"/>
              </a:lnSpc>
              <a:spcBef>
                <a:spcPts val="1265"/>
              </a:spcBef>
            </a:pPr>
            <a:r>
              <a:rPr sz="3200" spc="-5" dirty="0">
                <a:latin typeface="Arial MT"/>
                <a:cs typeface="Arial MT"/>
              </a:rPr>
              <a:t>–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project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manager </a:t>
            </a:r>
            <a:r>
              <a:rPr sz="3200" spc="-10" dirty="0">
                <a:latin typeface="Calibri"/>
                <a:cs typeface="Calibri"/>
              </a:rPr>
              <a:t>can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any</a:t>
            </a:r>
            <a:r>
              <a:rPr sz="3200" dirty="0">
                <a:latin typeface="Calibri"/>
                <a:cs typeface="Calibri"/>
              </a:rPr>
              <a:t> time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fairly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accurately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tell,</a:t>
            </a:r>
            <a:endParaRPr sz="3200">
              <a:latin typeface="Calibri"/>
              <a:cs typeface="Calibri"/>
            </a:endParaRPr>
          </a:p>
          <a:p>
            <a:pPr marL="789940" marR="5080" lvl="1" indent="-155575">
              <a:lnSpc>
                <a:spcPct val="125099"/>
              </a:lnSpc>
              <a:spcBef>
                <a:spcPts val="1200"/>
              </a:spcBef>
              <a:buFont typeface="Arial MT"/>
              <a:buChar char="•"/>
              <a:tabLst>
                <a:tab pos="790575" algn="l"/>
                <a:tab pos="3376295" algn="l"/>
              </a:tabLst>
            </a:pPr>
            <a:r>
              <a:rPr sz="3200" spc="-45" dirty="0">
                <a:latin typeface="Calibri"/>
                <a:cs typeface="Calibri"/>
              </a:rPr>
              <a:t>At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stage	</a:t>
            </a:r>
            <a:r>
              <a:rPr sz="3200" dirty="0">
                <a:latin typeface="Calibri"/>
                <a:cs typeface="Calibri"/>
              </a:rPr>
              <a:t>(e.g.,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design,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code,</a:t>
            </a:r>
            <a:r>
              <a:rPr sz="3200" spc="-20" dirty="0">
                <a:latin typeface="Calibri"/>
                <a:cs typeface="Calibri"/>
              </a:rPr>
              <a:t> test,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etc.)</a:t>
            </a:r>
            <a:r>
              <a:rPr sz="3200" spc="-5" dirty="0">
                <a:latin typeface="Calibri"/>
                <a:cs typeface="Calibri"/>
              </a:rPr>
              <a:t> the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project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11" y="161628"/>
            <a:ext cx="9058910" cy="3874135"/>
          </a:xfrm>
          <a:prstGeom prst="rect">
            <a:avLst/>
          </a:prstGeom>
        </p:spPr>
        <p:txBody>
          <a:bodyPr vert="horz" wrap="square" lIns="0" tIns="23622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860"/>
              </a:spcBef>
            </a:pP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Project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Management</a:t>
            </a:r>
            <a:r>
              <a:rPr sz="2700" b="1" spc="-3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Without</a:t>
            </a:r>
            <a:r>
              <a:rPr sz="2700" b="1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Life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Model</a:t>
            </a:r>
            <a:endParaRPr sz="27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780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becomes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difficult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track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progress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project.</a:t>
            </a:r>
            <a:endParaRPr sz="2800">
              <a:latin typeface="Calibri"/>
              <a:cs typeface="Calibri"/>
            </a:endParaRPr>
          </a:p>
          <a:p>
            <a:pPr marL="515620" marR="5080" indent="-192405">
              <a:lnSpc>
                <a:spcPct val="120100"/>
              </a:lnSpc>
              <a:spcBef>
                <a:spcPts val="134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project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manager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would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depend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guesses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team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members.</a:t>
            </a:r>
            <a:endParaRPr sz="28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5" dirty="0">
                <a:latin typeface="Calibri"/>
                <a:cs typeface="Calibri"/>
              </a:rPr>
              <a:t>This</a:t>
            </a:r>
            <a:r>
              <a:rPr sz="2800" spc="-10" dirty="0">
                <a:latin typeface="Calibri"/>
                <a:cs typeface="Calibri"/>
              </a:rPr>
              <a:t> usually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leads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problem:</a:t>
            </a:r>
            <a:endParaRPr sz="28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020"/>
              </a:spcBef>
              <a:tabLst>
                <a:tab pos="2614295" algn="l"/>
              </a:tabLst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known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	</a:t>
            </a:r>
            <a:r>
              <a:rPr sz="2800" b="1" spc="-10" dirty="0">
                <a:solidFill>
                  <a:srgbClr val="0000CC"/>
                </a:solidFill>
                <a:latin typeface="Calibri"/>
                <a:cs typeface="Calibri"/>
              </a:rPr>
              <a:t>99%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CC"/>
                </a:solidFill>
                <a:latin typeface="Calibri"/>
                <a:cs typeface="Calibri"/>
              </a:rPr>
              <a:t>complete</a:t>
            </a:r>
            <a:r>
              <a:rPr sz="2800" b="1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00CC"/>
                </a:solidFill>
                <a:latin typeface="Calibri"/>
                <a:cs typeface="Calibri"/>
              </a:rPr>
              <a:t>syndrome.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1664" y="266827"/>
            <a:ext cx="5512435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spc="5" dirty="0"/>
              <a:t>Project</a:t>
            </a:r>
            <a:r>
              <a:rPr sz="2700" spc="-20" dirty="0"/>
              <a:t> </a:t>
            </a:r>
            <a:r>
              <a:rPr sz="2700" dirty="0"/>
              <a:t>Deliverables:</a:t>
            </a:r>
            <a:r>
              <a:rPr sz="2700" spc="-35" dirty="0"/>
              <a:t> </a:t>
            </a:r>
            <a:r>
              <a:rPr sz="2700" spc="10" dirty="0"/>
              <a:t>Myth</a:t>
            </a:r>
            <a:r>
              <a:rPr sz="2700" spc="-25" dirty="0"/>
              <a:t> </a:t>
            </a:r>
            <a:r>
              <a:rPr sz="2700" spc="10" dirty="0"/>
              <a:t>and</a:t>
            </a:r>
            <a:r>
              <a:rPr sz="2700" spc="-5" dirty="0"/>
              <a:t> Reality</a:t>
            </a:r>
            <a:endParaRPr sz="2700"/>
          </a:p>
        </p:txBody>
      </p:sp>
      <p:sp>
        <p:nvSpPr>
          <p:cNvPr id="4" name="object 4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109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39" y="803910"/>
            <a:ext cx="8247380" cy="34848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Myth:</a:t>
            </a:r>
            <a:endParaRPr sz="2700">
              <a:latin typeface="Calibri"/>
              <a:cs typeface="Calibri"/>
            </a:endParaRPr>
          </a:p>
          <a:p>
            <a:pPr marL="355600" marR="82550" indent="-342900">
              <a:lnSpc>
                <a:spcPct val="120800"/>
              </a:lnSpc>
              <a:spcBef>
                <a:spcPts val="1460"/>
              </a:spcBef>
            </a:pPr>
            <a:r>
              <a:rPr sz="2700" spc="10" dirty="0">
                <a:latin typeface="Calibri"/>
                <a:cs typeface="Calibri"/>
              </a:rPr>
              <a:t>The </a:t>
            </a:r>
            <a:r>
              <a:rPr sz="2700" spc="5" dirty="0">
                <a:latin typeface="Calibri"/>
                <a:cs typeface="Calibri"/>
              </a:rPr>
              <a:t>only </a:t>
            </a:r>
            <a:r>
              <a:rPr sz="2700" dirty="0">
                <a:latin typeface="Calibri"/>
                <a:cs typeface="Calibri"/>
              </a:rPr>
              <a:t>deliverable </a:t>
            </a:r>
            <a:r>
              <a:rPr sz="2700" spc="-15" dirty="0">
                <a:latin typeface="Calibri"/>
                <a:cs typeface="Calibri"/>
              </a:rPr>
              <a:t>for </a:t>
            </a:r>
            <a:r>
              <a:rPr sz="2700" spc="10" dirty="0">
                <a:latin typeface="Calibri"/>
                <a:cs typeface="Calibri"/>
              </a:rPr>
              <a:t>a </a:t>
            </a:r>
            <a:r>
              <a:rPr sz="2700" dirty="0">
                <a:latin typeface="Calibri"/>
                <a:cs typeface="Calibri"/>
              </a:rPr>
              <a:t>successful </a:t>
            </a:r>
            <a:r>
              <a:rPr sz="2700" spc="-5" dirty="0">
                <a:latin typeface="Calibri"/>
                <a:cs typeface="Calibri"/>
              </a:rPr>
              <a:t>project </a:t>
            </a:r>
            <a:r>
              <a:rPr sz="2700" spc="5" dirty="0">
                <a:latin typeface="Calibri"/>
                <a:cs typeface="Calibri"/>
              </a:rPr>
              <a:t>is </a:t>
            </a:r>
            <a:r>
              <a:rPr sz="2700" spc="10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working </a:t>
            </a:r>
            <a:r>
              <a:rPr sz="2700" spc="-60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program.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Reality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 marL="355600" marR="5080" indent="-342900">
              <a:lnSpc>
                <a:spcPct val="121100"/>
              </a:lnSpc>
              <a:spcBef>
                <a:spcPts val="1455"/>
              </a:spcBef>
            </a:pPr>
            <a:r>
              <a:rPr sz="2700" dirty="0">
                <a:latin typeface="Calibri"/>
                <a:cs typeface="Calibri"/>
              </a:rPr>
              <a:t>Documentation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spc="5" dirty="0">
                <a:solidFill>
                  <a:srgbClr val="7E0000"/>
                </a:solidFill>
                <a:latin typeface="Calibri"/>
                <a:cs typeface="Calibri"/>
              </a:rPr>
              <a:t>all </a:t>
            </a:r>
            <a:r>
              <a:rPr sz="2700" spc="10" dirty="0">
                <a:solidFill>
                  <a:srgbClr val="7E0000"/>
                </a:solidFill>
                <a:latin typeface="Calibri"/>
                <a:cs typeface="Calibri"/>
              </a:rPr>
              <a:t>aspects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spc="-5" dirty="0">
                <a:latin typeface="Calibri"/>
                <a:cs typeface="Calibri"/>
              </a:rPr>
              <a:t>software </a:t>
            </a:r>
            <a:r>
              <a:rPr sz="2700" dirty="0">
                <a:latin typeface="Calibri"/>
                <a:cs typeface="Calibri"/>
              </a:rPr>
              <a:t>development </a:t>
            </a:r>
            <a:r>
              <a:rPr sz="2700" spc="-5" dirty="0">
                <a:latin typeface="Calibri"/>
                <a:cs typeface="Calibri"/>
              </a:rPr>
              <a:t>are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needed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help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operation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maintenance.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57800" y="1595627"/>
            <a:ext cx="3302635" cy="6540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6096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480"/>
              </a:spcBef>
            </a:pP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Life</a:t>
            </a:r>
            <a:r>
              <a:rPr sz="30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3000" b="1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Model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00CC"/>
                </a:solidFill>
                <a:latin typeface="Calibri"/>
                <a:cs typeface="Calibri"/>
              </a:rPr>
              <a:t>(CONT.)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111" y="78597"/>
            <a:ext cx="8121015" cy="111633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360"/>
              </a:spcBef>
              <a:buFont typeface="Arial MT"/>
              <a:buChar char="•"/>
              <a:tabLst>
                <a:tab pos="244475" algn="l"/>
              </a:tabLst>
            </a:pPr>
            <a:r>
              <a:rPr sz="2400" spc="-15" dirty="0">
                <a:latin typeface="Calibri"/>
                <a:cs typeface="Calibri"/>
              </a:rPr>
              <a:t>Many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life</a:t>
            </a:r>
            <a:r>
              <a:rPr sz="2400" spc="-5" dirty="0">
                <a:latin typeface="Calibri"/>
                <a:cs typeface="Calibri"/>
              </a:rPr>
              <a:t> cycle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dirty="0">
                <a:latin typeface="Calibri"/>
                <a:cs typeface="Calibri"/>
              </a:rPr>
              <a:t> been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proposed.</a:t>
            </a:r>
            <a:endParaRPr sz="28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244475" algn="l"/>
              </a:tabLst>
            </a:pPr>
            <a:r>
              <a:rPr sz="2400" spc="-4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confine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our</a:t>
            </a:r>
            <a:r>
              <a:rPr sz="2400" spc="-10" dirty="0">
                <a:latin typeface="Calibri"/>
                <a:cs typeface="Calibri"/>
              </a:rPr>
              <a:t> attention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only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few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commonly used </a:t>
            </a:r>
            <a:r>
              <a:rPr sz="2400" dirty="0">
                <a:latin typeface="Calibri"/>
                <a:cs typeface="Calibri"/>
              </a:rPr>
              <a:t>models.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007" y="1168908"/>
            <a:ext cx="1879600" cy="300799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Waterfall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400" spc="8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85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24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model,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Evolutionary,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400" spc="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5" dirty="0">
                <a:solidFill>
                  <a:srgbClr val="0000FF"/>
                </a:solidFill>
                <a:latin typeface="Calibri"/>
                <a:cs typeface="Calibri"/>
              </a:rPr>
              <a:t>Prototyping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400" spc="1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15" dirty="0">
                <a:solidFill>
                  <a:srgbClr val="0000FF"/>
                </a:solidFill>
                <a:latin typeface="Calibri"/>
                <a:cs typeface="Calibri"/>
              </a:rPr>
              <a:t>Spiral</a:t>
            </a:r>
            <a:r>
              <a:rPr sz="24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model,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400" spc="2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25" dirty="0">
                <a:solidFill>
                  <a:srgbClr val="0000FF"/>
                </a:solidFill>
                <a:latin typeface="Calibri"/>
                <a:cs typeface="Calibri"/>
              </a:rPr>
              <a:t>Agile</a:t>
            </a:r>
            <a:r>
              <a:rPr sz="24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2961" y="1506474"/>
            <a:ext cx="830580" cy="2228215"/>
          </a:xfrm>
          <a:custGeom>
            <a:avLst/>
            <a:gdLst/>
            <a:ahLst/>
            <a:cxnLst/>
            <a:rect l="l" t="t" r="r" b="b"/>
            <a:pathLst>
              <a:path w="830580" h="2228215">
                <a:moveTo>
                  <a:pt x="0" y="0"/>
                </a:moveTo>
                <a:lnTo>
                  <a:pt x="74649" y="1115"/>
                </a:lnTo>
                <a:lnTo>
                  <a:pt x="144909" y="4330"/>
                </a:lnTo>
                <a:lnTo>
                  <a:pt x="209606" y="9449"/>
                </a:lnTo>
                <a:lnTo>
                  <a:pt x="267567" y="16278"/>
                </a:lnTo>
                <a:lnTo>
                  <a:pt x="317620" y="24620"/>
                </a:lnTo>
                <a:lnTo>
                  <a:pt x="358591" y="34280"/>
                </a:lnTo>
                <a:lnTo>
                  <a:pt x="408599" y="56773"/>
                </a:lnTo>
                <a:lnTo>
                  <a:pt x="415289" y="69214"/>
                </a:lnTo>
                <a:lnTo>
                  <a:pt x="415289" y="1044828"/>
                </a:lnTo>
                <a:lnTo>
                  <a:pt x="421980" y="1057270"/>
                </a:lnTo>
                <a:lnTo>
                  <a:pt x="471988" y="1079763"/>
                </a:lnTo>
                <a:lnTo>
                  <a:pt x="512959" y="1089423"/>
                </a:lnTo>
                <a:lnTo>
                  <a:pt x="563012" y="1097765"/>
                </a:lnTo>
                <a:lnTo>
                  <a:pt x="620973" y="1104594"/>
                </a:lnTo>
                <a:lnTo>
                  <a:pt x="685670" y="1109713"/>
                </a:lnTo>
                <a:lnTo>
                  <a:pt x="755930" y="1112928"/>
                </a:lnTo>
                <a:lnTo>
                  <a:pt x="830580" y="1114044"/>
                </a:lnTo>
                <a:lnTo>
                  <a:pt x="755930" y="1115159"/>
                </a:lnTo>
                <a:lnTo>
                  <a:pt x="685670" y="1118374"/>
                </a:lnTo>
                <a:lnTo>
                  <a:pt x="620973" y="1123493"/>
                </a:lnTo>
                <a:lnTo>
                  <a:pt x="563012" y="1130322"/>
                </a:lnTo>
                <a:lnTo>
                  <a:pt x="512959" y="1138664"/>
                </a:lnTo>
                <a:lnTo>
                  <a:pt x="471988" y="1148324"/>
                </a:lnTo>
                <a:lnTo>
                  <a:pt x="421980" y="1170817"/>
                </a:lnTo>
                <a:lnTo>
                  <a:pt x="415289" y="1183258"/>
                </a:lnTo>
                <a:lnTo>
                  <a:pt x="415289" y="2158873"/>
                </a:lnTo>
                <a:lnTo>
                  <a:pt x="408599" y="2171314"/>
                </a:lnTo>
                <a:lnTo>
                  <a:pt x="358591" y="2193807"/>
                </a:lnTo>
                <a:lnTo>
                  <a:pt x="317620" y="2203467"/>
                </a:lnTo>
                <a:lnTo>
                  <a:pt x="267567" y="2211809"/>
                </a:lnTo>
                <a:lnTo>
                  <a:pt x="209606" y="2218638"/>
                </a:lnTo>
                <a:lnTo>
                  <a:pt x="144909" y="2223757"/>
                </a:lnTo>
                <a:lnTo>
                  <a:pt x="74649" y="2226972"/>
                </a:lnTo>
                <a:lnTo>
                  <a:pt x="0" y="2228088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1675" y="2425649"/>
            <a:ext cx="204406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" dirty="0">
                <a:solidFill>
                  <a:srgbClr val="0000FF"/>
                </a:solidFill>
                <a:latin typeface="Calibri"/>
                <a:cs typeface="Calibri"/>
              </a:rPr>
              <a:t>Traditional</a:t>
            </a:r>
            <a:r>
              <a:rPr sz="2000" b="1" spc="3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110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6800" y="3029711"/>
            <a:ext cx="3276600" cy="853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4224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120"/>
              </a:spcBef>
            </a:pPr>
            <a:r>
              <a:rPr sz="3200" b="1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32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0000CC"/>
                </a:solidFill>
                <a:latin typeface="Calibri"/>
                <a:cs typeface="Calibri"/>
              </a:rPr>
              <a:t>Life</a:t>
            </a:r>
            <a:r>
              <a:rPr sz="32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111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911" y="192033"/>
            <a:ext cx="8515985" cy="27711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15" dirty="0">
                <a:latin typeface="Calibri"/>
                <a:cs typeface="Calibri"/>
              </a:rPr>
              <a:t>Software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life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cycle </a:t>
            </a:r>
            <a:r>
              <a:rPr sz="2800" spc="-5" dirty="0">
                <a:latin typeface="Calibri"/>
                <a:cs typeface="Calibri"/>
              </a:rPr>
              <a:t>(or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process</a:t>
            </a:r>
            <a:r>
              <a:rPr sz="2800" spc="-10" dirty="0">
                <a:latin typeface="Calibri"/>
                <a:cs typeface="Calibri"/>
              </a:rPr>
              <a:t>):</a:t>
            </a:r>
            <a:endParaRPr sz="28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665"/>
              </a:spcBef>
            </a:pPr>
            <a:r>
              <a:rPr sz="2400" spc="20" dirty="0">
                <a:solidFill>
                  <a:srgbClr val="CC3300"/>
                </a:solidFill>
                <a:latin typeface="Arial MT"/>
                <a:cs typeface="Arial MT"/>
              </a:rPr>
              <a:t>–</a:t>
            </a:r>
            <a:r>
              <a:rPr sz="2400" b="1" spc="20" dirty="0">
                <a:solidFill>
                  <a:srgbClr val="CC3300"/>
                </a:solidFill>
                <a:latin typeface="Comic Sans MS"/>
                <a:cs typeface="Comic Sans MS"/>
              </a:rPr>
              <a:t>Series</a:t>
            </a:r>
            <a:r>
              <a:rPr sz="2400" b="1" spc="-25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CC3300"/>
                </a:solidFill>
                <a:latin typeface="Comic Sans MS"/>
                <a:cs typeface="Comic Sans MS"/>
              </a:rPr>
              <a:t>of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identifiable</a:t>
            </a:r>
            <a:r>
              <a:rPr sz="2400" b="1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stages</a:t>
            </a:r>
            <a:r>
              <a:rPr sz="2400" b="1" spc="-15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that</a:t>
            </a:r>
            <a:r>
              <a:rPr sz="2400" b="1" spc="-20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CC3300"/>
                </a:solidFill>
                <a:latin typeface="Comic Sans MS"/>
                <a:cs typeface="Comic Sans MS"/>
              </a:rPr>
              <a:t>a</a:t>
            </a:r>
            <a:r>
              <a:rPr sz="2400" b="1" spc="5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software</a:t>
            </a:r>
            <a:r>
              <a:rPr sz="2400" b="1" spc="-10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product</a:t>
            </a:r>
            <a:endParaRPr sz="2400">
              <a:latin typeface="Comic Sans MS"/>
              <a:cs typeface="Comic Sans MS"/>
            </a:endParaRPr>
          </a:p>
          <a:p>
            <a:pPr marL="515620">
              <a:lnSpc>
                <a:spcPct val="100000"/>
              </a:lnSpc>
              <a:spcBef>
                <a:spcPts val="530"/>
              </a:spcBef>
            </a:pP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undergoes</a:t>
            </a:r>
            <a:r>
              <a:rPr sz="2400" b="1" spc="-15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during</a:t>
            </a:r>
            <a:r>
              <a:rPr sz="2400" b="1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its</a:t>
            </a:r>
            <a:r>
              <a:rPr sz="2400" b="1" spc="-35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solidFill>
                  <a:srgbClr val="CC3300"/>
                </a:solidFill>
                <a:latin typeface="Comic Sans MS"/>
                <a:cs typeface="Comic Sans MS"/>
              </a:rPr>
              <a:t>life</a:t>
            </a:r>
            <a:r>
              <a:rPr sz="2400" b="1" spc="-20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10" dirty="0">
                <a:solidFill>
                  <a:srgbClr val="CC3300"/>
                </a:solidFill>
                <a:latin typeface="Comic Sans MS"/>
                <a:cs typeface="Comic Sans MS"/>
              </a:rPr>
              <a:t>time:</a:t>
            </a:r>
            <a:endParaRPr sz="2400">
              <a:latin typeface="Comic Sans MS"/>
              <a:cs typeface="Comic Sans MS"/>
            </a:endParaRPr>
          </a:p>
          <a:p>
            <a:pPr marL="789940" lvl="1" indent="-15621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790575" algn="l"/>
              </a:tabLst>
            </a:pP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Feasibility</a:t>
            </a:r>
            <a:r>
              <a:rPr sz="24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study</a:t>
            </a:r>
            <a:endParaRPr sz="24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790575" algn="l"/>
              </a:tabLst>
            </a:pP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Requirements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analysis</a:t>
            </a:r>
            <a:r>
              <a:rPr sz="24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specification,</a:t>
            </a:r>
            <a:endParaRPr sz="24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790575" algn="l"/>
              </a:tabLst>
            </a:pP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Design,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008" y="2937192"/>
            <a:ext cx="1928495" cy="134366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67640" indent="-15557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168275" algn="l"/>
              </a:tabLst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Coding,</a:t>
            </a:r>
            <a:endParaRPr sz="2400">
              <a:latin typeface="Calibri"/>
              <a:cs typeface="Calibri"/>
            </a:endParaRPr>
          </a:p>
          <a:p>
            <a:pPr marL="167640" indent="-15557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68275" algn="l"/>
              </a:tabLst>
            </a:pPr>
            <a:r>
              <a:rPr sz="2400" b="1" spc="-35" dirty="0">
                <a:solidFill>
                  <a:srgbClr val="0000FF"/>
                </a:solidFill>
                <a:latin typeface="Calibri"/>
                <a:cs typeface="Calibri"/>
              </a:rPr>
              <a:t>Testing</a:t>
            </a:r>
            <a:endParaRPr sz="2400">
              <a:latin typeface="Calibri"/>
              <a:cs typeface="Calibri"/>
            </a:endParaRPr>
          </a:p>
          <a:p>
            <a:pPr marL="167640" indent="-15557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68275" algn="l"/>
              </a:tabLst>
            </a:pP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Maintenance.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7223" y="292049"/>
            <a:ext cx="42779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0033CC"/>
                </a:solidFill>
              </a:rPr>
              <a:t>Classical </a:t>
            </a:r>
            <a:r>
              <a:rPr sz="3200" spc="-30" dirty="0">
                <a:solidFill>
                  <a:srgbClr val="0033CC"/>
                </a:solidFill>
              </a:rPr>
              <a:t>Waterfall</a:t>
            </a:r>
            <a:r>
              <a:rPr sz="3200" spc="-40" dirty="0">
                <a:solidFill>
                  <a:srgbClr val="0033CC"/>
                </a:solidFill>
              </a:rPr>
              <a:t> </a:t>
            </a:r>
            <a:r>
              <a:rPr sz="3200" spc="-5" dirty="0">
                <a:solidFill>
                  <a:srgbClr val="0033CC"/>
                </a:solidFill>
              </a:rPr>
              <a:t>Model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>
                <a:latin typeface="Arial MT"/>
                <a:cs typeface="Arial MT"/>
              </a:rPr>
              <a:t>–</a:t>
            </a:r>
            <a:r>
              <a:rPr spc="-400" dirty="0">
                <a:latin typeface="Arial MT"/>
                <a:cs typeface="Arial MT"/>
              </a:rPr>
              <a:t> </a:t>
            </a:r>
            <a:r>
              <a:rPr spc="-10" dirty="0"/>
              <a:t>Requirements</a:t>
            </a:r>
            <a:r>
              <a:rPr spc="5" dirty="0"/>
              <a:t> </a:t>
            </a:r>
            <a:r>
              <a:rPr spc="-5" dirty="0"/>
              <a:t>analysis</a:t>
            </a:r>
            <a:r>
              <a:rPr spc="-1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10" dirty="0"/>
              <a:t>specification,</a:t>
            </a: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>
                <a:latin typeface="Arial MT"/>
                <a:cs typeface="Arial MT"/>
              </a:rPr>
              <a:t>–</a:t>
            </a:r>
            <a:r>
              <a:rPr spc="-400" dirty="0">
                <a:latin typeface="Arial MT"/>
                <a:cs typeface="Arial MT"/>
              </a:rPr>
              <a:t> </a:t>
            </a:r>
            <a:r>
              <a:rPr spc="-5" dirty="0"/>
              <a:t>Desi</a:t>
            </a:r>
            <a:r>
              <a:rPr spc="-10" dirty="0"/>
              <a:t>g</a:t>
            </a:r>
            <a:r>
              <a:rPr spc="-5" dirty="0"/>
              <a:t>n,</a:t>
            </a: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>
                <a:latin typeface="Arial MT"/>
                <a:cs typeface="Arial MT"/>
              </a:rPr>
              <a:t>–</a:t>
            </a:r>
            <a:r>
              <a:rPr spc="-400" dirty="0">
                <a:latin typeface="Arial MT"/>
                <a:cs typeface="Arial MT"/>
              </a:rPr>
              <a:t> </a:t>
            </a:r>
            <a:r>
              <a:rPr spc="-5" dirty="0"/>
              <a:t>Codin</a:t>
            </a:r>
            <a:r>
              <a:rPr dirty="0"/>
              <a:t>g</a:t>
            </a:r>
            <a:r>
              <a:rPr spc="-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5" dirty="0"/>
              <a:t>uni</a:t>
            </a:r>
            <a:r>
              <a:rPr dirty="0"/>
              <a:t>t</a:t>
            </a:r>
            <a:r>
              <a:rPr spc="-5" dirty="0"/>
              <a:t> </a:t>
            </a:r>
            <a:r>
              <a:rPr spc="-25" dirty="0"/>
              <a:t>t</a:t>
            </a:r>
            <a:r>
              <a:rPr dirty="0"/>
              <a:t>e</a:t>
            </a:r>
            <a:r>
              <a:rPr spc="-20" dirty="0"/>
              <a:t>s</a:t>
            </a:r>
            <a:r>
              <a:rPr dirty="0"/>
              <a:t>tin</a:t>
            </a:r>
            <a:r>
              <a:rPr spc="10" dirty="0"/>
              <a:t>g</a:t>
            </a:r>
            <a:r>
              <a:rPr dirty="0"/>
              <a:t>,</a:t>
            </a: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>
                <a:latin typeface="Arial MT"/>
                <a:cs typeface="Arial MT"/>
              </a:rPr>
              <a:t>–</a:t>
            </a:r>
            <a:r>
              <a:rPr spc="-400" dirty="0">
                <a:latin typeface="Arial MT"/>
                <a:cs typeface="Arial MT"/>
              </a:rPr>
              <a:t> </a:t>
            </a:r>
            <a:r>
              <a:rPr dirty="0"/>
              <a:t>I</a:t>
            </a:r>
            <a:r>
              <a:rPr spc="-30" dirty="0"/>
              <a:t>nt</a:t>
            </a:r>
            <a:r>
              <a:rPr dirty="0"/>
              <a:t>eg</a:t>
            </a:r>
            <a:r>
              <a:rPr spc="-50" dirty="0"/>
              <a:t>r</a:t>
            </a:r>
            <a:r>
              <a:rPr spc="-25" dirty="0"/>
              <a:t>a</a:t>
            </a:r>
            <a:r>
              <a:rPr dirty="0"/>
              <a:t>ti</a:t>
            </a:r>
            <a:r>
              <a:rPr spc="-10" dirty="0"/>
              <a:t>o</a:t>
            </a:r>
            <a:r>
              <a:rPr dirty="0"/>
              <a:t>n</a:t>
            </a:r>
            <a:r>
              <a:rPr spc="15" dirty="0"/>
              <a:t> </a:t>
            </a:r>
            <a:r>
              <a:rPr dirty="0"/>
              <a:t>and </a:t>
            </a:r>
            <a:r>
              <a:rPr spc="-40" dirty="0"/>
              <a:t>s</a:t>
            </a:r>
            <a:r>
              <a:rPr spc="-25" dirty="0"/>
              <a:t>y</a:t>
            </a:r>
            <a:r>
              <a:rPr spc="-30" dirty="0"/>
              <a:t>st</a:t>
            </a:r>
            <a:r>
              <a:rPr dirty="0"/>
              <a:t>em</a:t>
            </a:r>
            <a:r>
              <a:rPr spc="5" dirty="0"/>
              <a:t> </a:t>
            </a:r>
            <a:r>
              <a:rPr spc="-30" dirty="0"/>
              <a:t>t</a:t>
            </a:r>
            <a:r>
              <a:rPr dirty="0"/>
              <a:t>e</a:t>
            </a:r>
            <a:r>
              <a:rPr spc="-20" dirty="0"/>
              <a:t>s</a:t>
            </a:r>
            <a:r>
              <a:rPr dirty="0"/>
              <a:t>tin</a:t>
            </a:r>
            <a:r>
              <a:rPr spc="10" dirty="0"/>
              <a:t>g</a:t>
            </a:r>
            <a:r>
              <a:rPr dirty="0"/>
              <a:t>,</a:t>
            </a: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>
                <a:latin typeface="Arial MT"/>
                <a:cs typeface="Arial MT"/>
              </a:rPr>
              <a:t>–</a:t>
            </a:r>
            <a:r>
              <a:rPr spc="-400" dirty="0">
                <a:latin typeface="Arial MT"/>
                <a:cs typeface="Arial MT"/>
              </a:rPr>
              <a:t> </a:t>
            </a:r>
            <a:r>
              <a:rPr dirty="0"/>
              <a:t>Mai</a:t>
            </a:r>
            <a:r>
              <a:rPr spc="-30" dirty="0"/>
              <a:t>nt</a:t>
            </a:r>
            <a:r>
              <a:rPr dirty="0"/>
              <a:t>e</a:t>
            </a:r>
            <a:r>
              <a:rPr spc="5" dirty="0"/>
              <a:t>n</a:t>
            </a:r>
            <a:r>
              <a:rPr dirty="0"/>
              <a:t>ance.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3" y="692237"/>
            <a:ext cx="8458200" cy="105981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330"/>
              </a:spcBef>
              <a:buFont typeface="Arial MT"/>
              <a:buChar char="•"/>
              <a:tabLst>
                <a:tab pos="246379" algn="l"/>
              </a:tabLst>
            </a:pPr>
            <a:r>
              <a:rPr sz="2500" spc="-10" dirty="0">
                <a:latin typeface="Calibri"/>
                <a:cs typeface="Calibri"/>
              </a:rPr>
              <a:t>Classical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waterfall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model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divides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life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cycle</a:t>
            </a:r>
            <a:r>
              <a:rPr sz="2500" spc="3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into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following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phases:</a:t>
            </a:r>
            <a:endParaRPr sz="25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150"/>
              </a:spcBef>
            </a:pPr>
            <a:r>
              <a:rPr sz="23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300" spc="-40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300" spc="-45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easibil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ty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3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tud</a:t>
            </a:r>
            <a:r>
              <a:rPr sz="2300" spc="-17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68796" y="2215895"/>
            <a:ext cx="1991995" cy="1993900"/>
          </a:xfrm>
          <a:custGeom>
            <a:avLst/>
            <a:gdLst/>
            <a:ahLst/>
            <a:cxnLst/>
            <a:rect l="l" t="t" r="r" b="b"/>
            <a:pathLst>
              <a:path w="1991995" h="1993900">
                <a:moveTo>
                  <a:pt x="0" y="996696"/>
                </a:moveTo>
                <a:lnTo>
                  <a:pt x="1148" y="948408"/>
                </a:lnTo>
                <a:lnTo>
                  <a:pt x="4559" y="900714"/>
                </a:lnTo>
                <a:lnTo>
                  <a:pt x="10179" y="853664"/>
                </a:lnTo>
                <a:lnTo>
                  <a:pt x="17958" y="807312"/>
                </a:lnTo>
                <a:lnTo>
                  <a:pt x="27842" y="761709"/>
                </a:lnTo>
                <a:lnTo>
                  <a:pt x="39780" y="716907"/>
                </a:lnTo>
                <a:lnTo>
                  <a:pt x="53718" y="672960"/>
                </a:lnTo>
                <a:lnTo>
                  <a:pt x="69607" y="629919"/>
                </a:lnTo>
                <a:lnTo>
                  <a:pt x="87392" y="587836"/>
                </a:lnTo>
                <a:lnTo>
                  <a:pt x="107021" y="546763"/>
                </a:lnTo>
                <a:lnTo>
                  <a:pt x="128444" y="506754"/>
                </a:lnTo>
                <a:lnTo>
                  <a:pt x="151607" y="467859"/>
                </a:lnTo>
                <a:lnTo>
                  <a:pt x="176458" y="430132"/>
                </a:lnTo>
                <a:lnTo>
                  <a:pt x="202946" y="393625"/>
                </a:lnTo>
                <a:lnTo>
                  <a:pt x="231017" y="358389"/>
                </a:lnTo>
                <a:lnTo>
                  <a:pt x="260620" y="324477"/>
                </a:lnTo>
                <a:lnTo>
                  <a:pt x="291703" y="291941"/>
                </a:lnTo>
                <a:lnTo>
                  <a:pt x="324213" y="260833"/>
                </a:lnTo>
                <a:lnTo>
                  <a:pt x="358098" y="231207"/>
                </a:lnTo>
                <a:lnTo>
                  <a:pt x="393307" y="203113"/>
                </a:lnTo>
                <a:lnTo>
                  <a:pt x="429786" y="176604"/>
                </a:lnTo>
                <a:lnTo>
                  <a:pt x="467484" y="151733"/>
                </a:lnTo>
                <a:lnTo>
                  <a:pt x="506349" y="128551"/>
                </a:lnTo>
                <a:lnTo>
                  <a:pt x="546328" y="107111"/>
                </a:lnTo>
                <a:lnTo>
                  <a:pt x="587369" y="87465"/>
                </a:lnTo>
                <a:lnTo>
                  <a:pt x="629421" y="69665"/>
                </a:lnTo>
                <a:lnTo>
                  <a:pt x="672430" y="53764"/>
                </a:lnTo>
                <a:lnTo>
                  <a:pt x="716345" y="39813"/>
                </a:lnTo>
                <a:lnTo>
                  <a:pt x="761114" y="27865"/>
                </a:lnTo>
                <a:lnTo>
                  <a:pt x="806683" y="17973"/>
                </a:lnTo>
                <a:lnTo>
                  <a:pt x="853003" y="10188"/>
                </a:lnTo>
                <a:lnTo>
                  <a:pt x="900019" y="4563"/>
                </a:lnTo>
                <a:lnTo>
                  <a:pt x="947680" y="1149"/>
                </a:lnTo>
                <a:lnTo>
                  <a:pt x="995933" y="0"/>
                </a:lnTo>
                <a:lnTo>
                  <a:pt x="1044187" y="1149"/>
                </a:lnTo>
                <a:lnTo>
                  <a:pt x="1091848" y="4563"/>
                </a:lnTo>
                <a:lnTo>
                  <a:pt x="1138864" y="10188"/>
                </a:lnTo>
                <a:lnTo>
                  <a:pt x="1185184" y="17973"/>
                </a:lnTo>
                <a:lnTo>
                  <a:pt x="1230753" y="27865"/>
                </a:lnTo>
                <a:lnTo>
                  <a:pt x="1275522" y="39813"/>
                </a:lnTo>
                <a:lnTo>
                  <a:pt x="1319437" y="53764"/>
                </a:lnTo>
                <a:lnTo>
                  <a:pt x="1362446" y="69665"/>
                </a:lnTo>
                <a:lnTo>
                  <a:pt x="1404498" y="87465"/>
                </a:lnTo>
                <a:lnTo>
                  <a:pt x="1445539" y="107111"/>
                </a:lnTo>
                <a:lnTo>
                  <a:pt x="1485518" y="128551"/>
                </a:lnTo>
                <a:lnTo>
                  <a:pt x="1524383" y="151733"/>
                </a:lnTo>
                <a:lnTo>
                  <a:pt x="1562081" y="176604"/>
                </a:lnTo>
                <a:lnTo>
                  <a:pt x="1598560" y="203113"/>
                </a:lnTo>
                <a:lnTo>
                  <a:pt x="1633769" y="231207"/>
                </a:lnTo>
                <a:lnTo>
                  <a:pt x="1667654" y="260833"/>
                </a:lnTo>
                <a:lnTo>
                  <a:pt x="1700164" y="291941"/>
                </a:lnTo>
                <a:lnTo>
                  <a:pt x="1731247" y="324477"/>
                </a:lnTo>
                <a:lnTo>
                  <a:pt x="1760850" y="358389"/>
                </a:lnTo>
                <a:lnTo>
                  <a:pt x="1788921" y="393625"/>
                </a:lnTo>
                <a:lnTo>
                  <a:pt x="1815409" y="430132"/>
                </a:lnTo>
                <a:lnTo>
                  <a:pt x="1840260" y="467859"/>
                </a:lnTo>
                <a:lnTo>
                  <a:pt x="1863423" y="506754"/>
                </a:lnTo>
                <a:lnTo>
                  <a:pt x="1884846" y="546763"/>
                </a:lnTo>
                <a:lnTo>
                  <a:pt x="1904475" y="587836"/>
                </a:lnTo>
                <a:lnTo>
                  <a:pt x="1922260" y="629919"/>
                </a:lnTo>
                <a:lnTo>
                  <a:pt x="1938149" y="672960"/>
                </a:lnTo>
                <a:lnTo>
                  <a:pt x="1952087" y="716907"/>
                </a:lnTo>
                <a:lnTo>
                  <a:pt x="1964025" y="761709"/>
                </a:lnTo>
                <a:lnTo>
                  <a:pt x="1973909" y="807312"/>
                </a:lnTo>
                <a:lnTo>
                  <a:pt x="1981688" y="853664"/>
                </a:lnTo>
                <a:lnTo>
                  <a:pt x="1987308" y="900714"/>
                </a:lnTo>
                <a:lnTo>
                  <a:pt x="1990719" y="948408"/>
                </a:lnTo>
                <a:lnTo>
                  <a:pt x="1991868" y="996696"/>
                </a:lnTo>
                <a:lnTo>
                  <a:pt x="1990719" y="1044983"/>
                </a:lnTo>
                <a:lnTo>
                  <a:pt x="1987308" y="1092677"/>
                </a:lnTo>
                <a:lnTo>
                  <a:pt x="1981688" y="1139727"/>
                </a:lnTo>
                <a:lnTo>
                  <a:pt x="1973909" y="1186079"/>
                </a:lnTo>
                <a:lnTo>
                  <a:pt x="1964025" y="1231682"/>
                </a:lnTo>
                <a:lnTo>
                  <a:pt x="1952087" y="1276484"/>
                </a:lnTo>
                <a:lnTo>
                  <a:pt x="1938149" y="1320431"/>
                </a:lnTo>
                <a:lnTo>
                  <a:pt x="1922260" y="1363472"/>
                </a:lnTo>
                <a:lnTo>
                  <a:pt x="1904475" y="1405555"/>
                </a:lnTo>
                <a:lnTo>
                  <a:pt x="1884846" y="1446628"/>
                </a:lnTo>
                <a:lnTo>
                  <a:pt x="1863423" y="1486637"/>
                </a:lnTo>
                <a:lnTo>
                  <a:pt x="1840260" y="1525532"/>
                </a:lnTo>
                <a:lnTo>
                  <a:pt x="1815409" y="1563259"/>
                </a:lnTo>
                <a:lnTo>
                  <a:pt x="1788921" y="1599766"/>
                </a:lnTo>
                <a:lnTo>
                  <a:pt x="1760850" y="1635002"/>
                </a:lnTo>
                <a:lnTo>
                  <a:pt x="1731247" y="1668914"/>
                </a:lnTo>
                <a:lnTo>
                  <a:pt x="1700164" y="1701450"/>
                </a:lnTo>
                <a:lnTo>
                  <a:pt x="1667654" y="1732558"/>
                </a:lnTo>
                <a:lnTo>
                  <a:pt x="1633769" y="1762184"/>
                </a:lnTo>
                <a:lnTo>
                  <a:pt x="1598560" y="1790278"/>
                </a:lnTo>
                <a:lnTo>
                  <a:pt x="1562081" y="1816787"/>
                </a:lnTo>
                <a:lnTo>
                  <a:pt x="1524383" y="1841658"/>
                </a:lnTo>
                <a:lnTo>
                  <a:pt x="1485518" y="1864840"/>
                </a:lnTo>
                <a:lnTo>
                  <a:pt x="1445539" y="1886280"/>
                </a:lnTo>
                <a:lnTo>
                  <a:pt x="1404498" y="1905926"/>
                </a:lnTo>
                <a:lnTo>
                  <a:pt x="1362446" y="1923726"/>
                </a:lnTo>
                <a:lnTo>
                  <a:pt x="1319437" y="1939627"/>
                </a:lnTo>
                <a:lnTo>
                  <a:pt x="1275522" y="1953578"/>
                </a:lnTo>
                <a:lnTo>
                  <a:pt x="1230753" y="1965526"/>
                </a:lnTo>
                <a:lnTo>
                  <a:pt x="1185184" y="1975418"/>
                </a:lnTo>
                <a:lnTo>
                  <a:pt x="1138864" y="1983203"/>
                </a:lnTo>
                <a:lnTo>
                  <a:pt x="1091848" y="1988828"/>
                </a:lnTo>
                <a:lnTo>
                  <a:pt x="1044187" y="1992242"/>
                </a:lnTo>
                <a:lnTo>
                  <a:pt x="995933" y="1993392"/>
                </a:lnTo>
                <a:lnTo>
                  <a:pt x="947680" y="1992242"/>
                </a:lnTo>
                <a:lnTo>
                  <a:pt x="900019" y="1988828"/>
                </a:lnTo>
                <a:lnTo>
                  <a:pt x="853003" y="1983203"/>
                </a:lnTo>
                <a:lnTo>
                  <a:pt x="806683" y="1975418"/>
                </a:lnTo>
                <a:lnTo>
                  <a:pt x="761114" y="1965526"/>
                </a:lnTo>
                <a:lnTo>
                  <a:pt x="716345" y="1953578"/>
                </a:lnTo>
                <a:lnTo>
                  <a:pt x="672430" y="1939627"/>
                </a:lnTo>
                <a:lnTo>
                  <a:pt x="629421" y="1923726"/>
                </a:lnTo>
                <a:lnTo>
                  <a:pt x="587369" y="1905926"/>
                </a:lnTo>
                <a:lnTo>
                  <a:pt x="546328" y="1886280"/>
                </a:lnTo>
                <a:lnTo>
                  <a:pt x="506349" y="1864840"/>
                </a:lnTo>
                <a:lnTo>
                  <a:pt x="467484" y="1841658"/>
                </a:lnTo>
                <a:lnTo>
                  <a:pt x="429786" y="1816787"/>
                </a:lnTo>
                <a:lnTo>
                  <a:pt x="393307" y="1790278"/>
                </a:lnTo>
                <a:lnTo>
                  <a:pt x="358098" y="1762184"/>
                </a:lnTo>
                <a:lnTo>
                  <a:pt x="324213" y="1732558"/>
                </a:lnTo>
                <a:lnTo>
                  <a:pt x="291703" y="1701450"/>
                </a:lnTo>
                <a:lnTo>
                  <a:pt x="260620" y="1668914"/>
                </a:lnTo>
                <a:lnTo>
                  <a:pt x="231017" y="1635002"/>
                </a:lnTo>
                <a:lnTo>
                  <a:pt x="202946" y="1599766"/>
                </a:lnTo>
                <a:lnTo>
                  <a:pt x="176458" y="1563259"/>
                </a:lnTo>
                <a:lnTo>
                  <a:pt x="151607" y="1525532"/>
                </a:lnTo>
                <a:lnTo>
                  <a:pt x="128444" y="1486637"/>
                </a:lnTo>
                <a:lnTo>
                  <a:pt x="107021" y="1446628"/>
                </a:lnTo>
                <a:lnTo>
                  <a:pt x="87392" y="1405555"/>
                </a:lnTo>
                <a:lnTo>
                  <a:pt x="69607" y="1363472"/>
                </a:lnTo>
                <a:lnTo>
                  <a:pt x="53718" y="1320431"/>
                </a:lnTo>
                <a:lnTo>
                  <a:pt x="39780" y="1276484"/>
                </a:lnTo>
                <a:lnTo>
                  <a:pt x="27842" y="1231682"/>
                </a:lnTo>
                <a:lnTo>
                  <a:pt x="17958" y="1186079"/>
                </a:lnTo>
                <a:lnTo>
                  <a:pt x="10179" y="1139727"/>
                </a:lnTo>
                <a:lnTo>
                  <a:pt x="4559" y="1092677"/>
                </a:lnTo>
                <a:lnTo>
                  <a:pt x="1148" y="1044983"/>
                </a:lnTo>
                <a:lnTo>
                  <a:pt x="0" y="996696"/>
                </a:lnTo>
                <a:close/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93230" y="2202942"/>
            <a:ext cx="986155" cy="19812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20"/>
              </a:spcBef>
            </a:pPr>
            <a:r>
              <a:rPr sz="950" b="1" spc="-5" dirty="0">
                <a:latin typeface="Comic Sans MS"/>
                <a:cs typeface="Comic Sans MS"/>
              </a:rPr>
              <a:t>Conceptualize</a:t>
            </a:r>
            <a:endParaRPr sz="950"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1157" y="2515361"/>
            <a:ext cx="782320" cy="218440"/>
          </a:xfrm>
          <a:custGeom>
            <a:avLst/>
            <a:gdLst/>
            <a:ahLst/>
            <a:cxnLst/>
            <a:rect l="l" t="t" r="r" b="b"/>
            <a:pathLst>
              <a:path w="782320" h="218439">
                <a:moveTo>
                  <a:pt x="781811" y="0"/>
                </a:moveTo>
                <a:lnTo>
                  <a:pt x="0" y="0"/>
                </a:lnTo>
                <a:lnTo>
                  <a:pt x="0" y="217931"/>
                </a:lnTo>
                <a:lnTo>
                  <a:pt x="781811" y="217931"/>
                </a:lnTo>
                <a:lnTo>
                  <a:pt x="78181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41157" y="2515361"/>
            <a:ext cx="782320" cy="218440"/>
          </a:xfrm>
          <a:prstGeom prst="rect">
            <a:avLst/>
          </a:prstGeom>
          <a:ln w="28955">
            <a:solidFill>
              <a:srgbClr val="CC33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latin typeface="Comic Sans MS"/>
                <a:cs typeface="Comic Sans MS"/>
              </a:rPr>
              <a:t>Specify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1950" y="2990850"/>
            <a:ext cx="782320" cy="21844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85"/>
              </a:spcBef>
            </a:pPr>
            <a:r>
              <a:rPr sz="1100" b="1" spc="-5" dirty="0">
                <a:latin typeface="Comic Sans MS"/>
                <a:cs typeface="Comic Sans MS"/>
              </a:rPr>
              <a:t>Design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5269" y="3675126"/>
            <a:ext cx="780415" cy="21971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omic Sans MS"/>
                <a:cs typeface="Comic Sans MS"/>
              </a:rPr>
              <a:t>Code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91350" y="4094226"/>
            <a:ext cx="777240" cy="218440"/>
          </a:xfrm>
          <a:prstGeom prst="rect">
            <a:avLst/>
          </a:prstGeom>
          <a:solidFill>
            <a:srgbClr val="FFFF99"/>
          </a:solidFill>
          <a:ln w="28955">
            <a:solidFill>
              <a:srgbClr val="CC33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234315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latin typeface="Comic Sans MS"/>
                <a:cs typeface="Comic Sans MS"/>
              </a:rPr>
              <a:t>Test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12358" y="3111245"/>
            <a:ext cx="782320" cy="218440"/>
          </a:xfrm>
          <a:custGeom>
            <a:avLst/>
            <a:gdLst/>
            <a:ahLst/>
            <a:cxnLst/>
            <a:rect l="l" t="t" r="r" b="b"/>
            <a:pathLst>
              <a:path w="782320" h="218439">
                <a:moveTo>
                  <a:pt x="781812" y="0"/>
                </a:moveTo>
                <a:lnTo>
                  <a:pt x="0" y="0"/>
                </a:lnTo>
                <a:lnTo>
                  <a:pt x="0" y="217931"/>
                </a:lnTo>
                <a:lnTo>
                  <a:pt x="781812" y="217931"/>
                </a:lnTo>
                <a:lnTo>
                  <a:pt x="781812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12358" y="3111245"/>
            <a:ext cx="782320" cy="218440"/>
          </a:xfrm>
          <a:prstGeom prst="rect">
            <a:avLst/>
          </a:prstGeom>
          <a:ln w="28955">
            <a:solidFill>
              <a:srgbClr val="CC33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latin typeface="Comic Sans MS"/>
                <a:cs typeface="Comic Sans MS"/>
              </a:rPr>
              <a:t>Maintain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99809" y="2556510"/>
            <a:ext cx="779145" cy="219710"/>
          </a:xfrm>
          <a:custGeom>
            <a:avLst/>
            <a:gdLst/>
            <a:ahLst/>
            <a:cxnLst/>
            <a:rect l="l" t="t" r="r" b="b"/>
            <a:pathLst>
              <a:path w="779145" h="219710">
                <a:moveTo>
                  <a:pt x="778763" y="0"/>
                </a:moveTo>
                <a:lnTo>
                  <a:pt x="0" y="0"/>
                </a:lnTo>
                <a:lnTo>
                  <a:pt x="0" y="219456"/>
                </a:lnTo>
                <a:lnTo>
                  <a:pt x="778763" y="219456"/>
                </a:lnTo>
                <a:lnTo>
                  <a:pt x="778763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99809" y="2556510"/>
            <a:ext cx="779145" cy="219710"/>
          </a:xfrm>
          <a:prstGeom prst="rect">
            <a:avLst/>
          </a:prstGeom>
          <a:ln w="28955">
            <a:solidFill>
              <a:srgbClr val="CC33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latin typeface="Comic Sans MS"/>
                <a:cs typeface="Comic Sans MS"/>
              </a:rPr>
              <a:t>Retire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30290" y="3704082"/>
            <a:ext cx="777240" cy="219710"/>
          </a:xfrm>
          <a:custGeom>
            <a:avLst/>
            <a:gdLst/>
            <a:ahLst/>
            <a:cxnLst/>
            <a:rect l="l" t="t" r="r" b="b"/>
            <a:pathLst>
              <a:path w="777240" h="219710">
                <a:moveTo>
                  <a:pt x="777239" y="0"/>
                </a:moveTo>
                <a:lnTo>
                  <a:pt x="0" y="0"/>
                </a:lnTo>
                <a:lnTo>
                  <a:pt x="0" y="219456"/>
                </a:lnTo>
                <a:lnTo>
                  <a:pt x="777239" y="219456"/>
                </a:lnTo>
                <a:lnTo>
                  <a:pt x="77723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30290" y="3704082"/>
            <a:ext cx="777240" cy="219710"/>
          </a:xfrm>
          <a:prstGeom prst="rect">
            <a:avLst/>
          </a:prstGeom>
          <a:ln w="28955">
            <a:solidFill>
              <a:srgbClr val="CC33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latin typeface="Comic Sans MS"/>
                <a:cs typeface="Comic Sans MS"/>
              </a:rPr>
              <a:t>Deliver</a:t>
            </a:r>
            <a:endParaRPr sz="110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20384" y="2039111"/>
            <a:ext cx="2311400" cy="2112645"/>
            <a:chOff x="6120384" y="2039111"/>
            <a:chExt cx="2311400" cy="2112645"/>
          </a:xfrm>
        </p:grpSpPr>
        <p:sp>
          <p:nvSpPr>
            <p:cNvPr id="19" name="object 19"/>
            <p:cNvSpPr/>
            <p:nvPr/>
          </p:nvSpPr>
          <p:spPr>
            <a:xfrm>
              <a:off x="6120384" y="2039111"/>
              <a:ext cx="662940" cy="516890"/>
            </a:xfrm>
            <a:custGeom>
              <a:avLst/>
              <a:gdLst/>
              <a:ahLst/>
              <a:cxnLst/>
              <a:rect l="l" t="t" r="r" b="b"/>
              <a:pathLst>
                <a:path w="662940" h="516889">
                  <a:moveTo>
                    <a:pt x="662939" y="0"/>
                  </a:moveTo>
                  <a:lnTo>
                    <a:pt x="0" y="0"/>
                  </a:lnTo>
                  <a:lnTo>
                    <a:pt x="0" y="516636"/>
                  </a:lnTo>
                  <a:lnTo>
                    <a:pt x="662939" y="516636"/>
                  </a:lnTo>
                  <a:lnTo>
                    <a:pt x="662939" y="0"/>
                  </a:lnTo>
                  <a:close/>
                </a:path>
              </a:pathLst>
            </a:custGeom>
            <a:solidFill>
              <a:srgbClr val="F5E4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02375" y="2269235"/>
              <a:ext cx="2129790" cy="1882139"/>
            </a:xfrm>
            <a:custGeom>
              <a:avLst/>
              <a:gdLst/>
              <a:ahLst/>
              <a:cxnLst/>
              <a:rect l="l" t="t" r="r" b="b"/>
              <a:pathLst>
                <a:path w="2129790" h="1882139">
                  <a:moveTo>
                    <a:pt x="169545" y="815086"/>
                  </a:moveTo>
                  <a:lnTo>
                    <a:pt x="147193" y="513588"/>
                  </a:lnTo>
                  <a:lnTo>
                    <a:pt x="0" y="777621"/>
                  </a:lnTo>
                  <a:lnTo>
                    <a:pt x="169545" y="815086"/>
                  </a:lnTo>
                  <a:close/>
                </a:path>
                <a:path w="2129790" h="1882139">
                  <a:moveTo>
                    <a:pt x="204724" y="1288415"/>
                  </a:moveTo>
                  <a:lnTo>
                    <a:pt x="66421" y="1019556"/>
                  </a:lnTo>
                  <a:lnTo>
                    <a:pt x="33782" y="1320165"/>
                  </a:lnTo>
                  <a:lnTo>
                    <a:pt x="204724" y="1288415"/>
                  </a:lnTo>
                  <a:close/>
                </a:path>
                <a:path w="2129790" h="1882139">
                  <a:moveTo>
                    <a:pt x="583057" y="1740979"/>
                  </a:moveTo>
                  <a:lnTo>
                    <a:pt x="308724" y="1613916"/>
                  </a:lnTo>
                  <a:lnTo>
                    <a:pt x="467868" y="1870989"/>
                  </a:lnTo>
                  <a:lnTo>
                    <a:pt x="583057" y="1740979"/>
                  </a:lnTo>
                  <a:close/>
                </a:path>
                <a:path w="2129790" h="1882139">
                  <a:moveTo>
                    <a:pt x="1755521" y="1796821"/>
                  </a:moveTo>
                  <a:lnTo>
                    <a:pt x="1660652" y="1651266"/>
                  </a:lnTo>
                  <a:lnTo>
                    <a:pt x="1465453" y="1882140"/>
                  </a:lnTo>
                  <a:lnTo>
                    <a:pt x="1755521" y="1796821"/>
                  </a:lnTo>
                  <a:close/>
                </a:path>
                <a:path w="2129790" h="1882139">
                  <a:moveTo>
                    <a:pt x="1787017" y="245364"/>
                  </a:moveTo>
                  <a:lnTo>
                    <a:pt x="1610487" y="0"/>
                  </a:lnTo>
                  <a:lnTo>
                    <a:pt x="1504569" y="137668"/>
                  </a:lnTo>
                  <a:lnTo>
                    <a:pt x="1787017" y="245364"/>
                  </a:lnTo>
                  <a:close/>
                </a:path>
                <a:path w="2129790" h="1882139">
                  <a:moveTo>
                    <a:pt x="2064004" y="421894"/>
                  </a:moveTo>
                  <a:lnTo>
                    <a:pt x="1893062" y="453263"/>
                  </a:lnTo>
                  <a:lnTo>
                    <a:pt x="2030857" y="722376"/>
                  </a:lnTo>
                  <a:lnTo>
                    <a:pt x="2064004" y="421894"/>
                  </a:lnTo>
                  <a:close/>
                </a:path>
                <a:path w="2129790" h="1882139">
                  <a:moveTo>
                    <a:pt x="2129282" y="1161669"/>
                  </a:moveTo>
                  <a:lnTo>
                    <a:pt x="1965706" y="1103249"/>
                  </a:lnTo>
                  <a:lnTo>
                    <a:pt x="1950085" y="1405128"/>
                  </a:lnTo>
                  <a:lnTo>
                    <a:pt x="2129282" y="11616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120633" y="4690668"/>
            <a:ext cx="487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888888"/>
                </a:solidFill>
                <a:latin typeface="Calibri"/>
                <a:cs typeface="Calibri"/>
              </a:rPr>
              <a:t>121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1178" y="492379"/>
            <a:ext cx="362839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dirty="0">
                <a:solidFill>
                  <a:srgbClr val="0033CC"/>
                </a:solidFill>
              </a:rPr>
              <a:t>Classical</a:t>
            </a:r>
            <a:r>
              <a:rPr sz="2700" spc="-70" dirty="0">
                <a:solidFill>
                  <a:srgbClr val="0033CC"/>
                </a:solidFill>
              </a:rPr>
              <a:t> </a:t>
            </a:r>
            <a:r>
              <a:rPr sz="2700" spc="-15" dirty="0">
                <a:solidFill>
                  <a:srgbClr val="0033CC"/>
                </a:solidFill>
              </a:rPr>
              <a:t>Waterfall</a:t>
            </a:r>
            <a:r>
              <a:rPr sz="2700" spc="-50" dirty="0">
                <a:solidFill>
                  <a:srgbClr val="0033CC"/>
                </a:solidFill>
              </a:rPr>
              <a:t> </a:t>
            </a:r>
            <a:r>
              <a:rPr sz="2700" spc="5" dirty="0">
                <a:solidFill>
                  <a:srgbClr val="0033CC"/>
                </a:solidFill>
              </a:rPr>
              <a:t>Model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362711" y="573023"/>
            <a:ext cx="3103245" cy="1176655"/>
            <a:chOff x="362711" y="573023"/>
            <a:chExt cx="3103245" cy="1176655"/>
          </a:xfrm>
        </p:grpSpPr>
        <p:sp>
          <p:nvSpPr>
            <p:cNvPr id="4" name="object 4"/>
            <p:cNvSpPr/>
            <p:nvPr/>
          </p:nvSpPr>
          <p:spPr>
            <a:xfrm>
              <a:off x="381761" y="592073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2289048" y="0"/>
                  </a:moveTo>
                  <a:lnTo>
                    <a:pt x="0" y="0"/>
                  </a:lnTo>
                  <a:lnTo>
                    <a:pt x="0" y="362712"/>
                  </a:lnTo>
                  <a:lnTo>
                    <a:pt x="2289048" y="362712"/>
                  </a:lnTo>
                  <a:lnTo>
                    <a:pt x="22890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761" y="592073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0" y="362712"/>
                  </a:moveTo>
                  <a:lnTo>
                    <a:pt x="2289048" y="362712"/>
                  </a:lnTo>
                  <a:lnTo>
                    <a:pt x="2289048" y="0"/>
                  </a:lnTo>
                  <a:lnTo>
                    <a:pt x="0" y="0"/>
                  </a:lnTo>
                  <a:lnTo>
                    <a:pt x="0" y="36271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8625" y="1325118"/>
              <a:ext cx="2247900" cy="405765"/>
            </a:xfrm>
            <a:custGeom>
              <a:avLst/>
              <a:gdLst/>
              <a:ahLst/>
              <a:cxnLst/>
              <a:rect l="l" t="t" r="r" b="b"/>
              <a:pathLst>
                <a:path w="2247900" h="405764">
                  <a:moveTo>
                    <a:pt x="2247900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247900" y="405384"/>
                  </a:lnTo>
                  <a:lnTo>
                    <a:pt x="22479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8625" y="1325118"/>
              <a:ext cx="2247900" cy="405765"/>
            </a:xfrm>
            <a:custGeom>
              <a:avLst/>
              <a:gdLst/>
              <a:ahLst/>
              <a:cxnLst/>
              <a:rect l="l" t="t" r="r" b="b"/>
              <a:pathLst>
                <a:path w="2247900" h="405764">
                  <a:moveTo>
                    <a:pt x="0" y="405384"/>
                  </a:moveTo>
                  <a:lnTo>
                    <a:pt x="2247900" y="405384"/>
                  </a:lnTo>
                  <a:lnTo>
                    <a:pt x="2247900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92327" y="561212"/>
            <a:ext cx="2693670" cy="1062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dirty="0">
                <a:latin typeface="Comic Sans MS"/>
                <a:cs typeface="Comic Sans MS"/>
              </a:rPr>
              <a:t>Feasibility</a:t>
            </a:r>
            <a:r>
              <a:rPr sz="1750" b="1" spc="30" dirty="0">
                <a:latin typeface="Comic Sans MS"/>
                <a:cs typeface="Comic Sans MS"/>
              </a:rPr>
              <a:t> </a:t>
            </a:r>
            <a:r>
              <a:rPr sz="1750" b="1" dirty="0">
                <a:latin typeface="Comic Sans MS"/>
                <a:cs typeface="Comic Sans MS"/>
              </a:rPr>
              <a:t>Study</a:t>
            </a:r>
            <a:endParaRPr sz="175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Comic Sans MS"/>
              <a:cs typeface="Comic Sans MS"/>
            </a:endParaRPr>
          </a:p>
          <a:p>
            <a:pPr marL="775335">
              <a:lnSpc>
                <a:spcPct val="100000"/>
              </a:lnSpc>
              <a:tabLst>
                <a:tab pos="1671955" algn="l"/>
              </a:tabLst>
            </a:pPr>
            <a:r>
              <a:rPr sz="2050" b="1" spc="-10" dirty="0">
                <a:latin typeface="Comic Sans MS"/>
                <a:cs typeface="Comic Sans MS"/>
              </a:rPr>
              <a:t>Req.	Analysis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88235" y="1906523"/>
            <a:ext cx="2284730" cy="447040"/>
            <a:chOff x="1888235" y="1906523"/>
            <a:chExt cx="2284730" cy="447040"/>
          </a:xfrm>
        </p:grpSpPr>
        <p:sp>
          <p:nvSpPr>
            <p:cNvPr id="10" name="object 10"/>
            <p:cNvSpPr/>
            <p:nvPr/>
          </p:nvSpPr>
          <p:spPr>
            <a:xfrm>
              <a:off x="1907285" y="1925573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2246376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6376" y="408431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07285" y="1925573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1"/>
                  </a:moveTo>
                  <a:lnTo>
                    <a:pt x="2246376" y="408431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27705" y="1888998"/>
            <a:ext cx="83058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10" dirty="0">
                <a:latin typeface="Comic Sans MS"/>
                <a:cs typeface="Comic Sans MS"/>
              </a:rPr>
              <a:t>Des</a:t>
            </a:r>
            <a:r>
              <a:rPr sz="2050" b="1" dirty="0">
                <a:latin typeface="Comic Sans MS"/>
                <a:cs typeface="Comic Sans MS"/>
              </a:rPr>
              <a:t>i</a:t>
            </a:r>
            <a:r>
              <a:rPr sz="2050" b="1" spc="-10" dirty="0">
                <a:latin typeface="Comic Sans MS"/>
                <a:cs typeface="Comic Sans MS"/>
              </a:rPr>
              <a:t>gn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05100" y="2537460"/>
            <a:ext cx="4125595" cy="1702435"/>
            <a:chOff x="2705100" y="2537460"/>
            <a:chExt cx="4125595" cy="1702435"/>
          </a:xfrm>
        </p:grpSpPr>
        <p:sp>
          <p:nvSpPr>
            <p:cNvPr id="14" name="object 14"/>
            <p:cNvSpPr/>
            <p:nvPr/>
          </p:nvSpPr>
          <p:spPr>
            <a:xfrm>
              <a:off x="2724150" y="2556510"/>
              <a:ext cx="2247900" cy="407034"/>
            </a:xfrm>
            <a:custGeom>
              <a:avLst/>
              <a:gdLst/>
              <a:ahLst/>
              <a:cxnLst/>
              <a:rect l="l" t="t" r="r" b="b"/>
              <a:pathLst>
                <a:path w="2247900" h="407035">
                  <a:moveTo>
                    <a:pt x="2247900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2247900" y="406907"/>
                  </a:lnTo>
                  <a:lnTo>
                    <a:pt x="22479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24150" y="2556510"/>
              <a:ext cx="2247900" cy="407034"/>
            </a:xfrm>
            <a:custGeom>
              <a:avLst/>
              <a:gdLst/>
              <a:ahLst/>
              <a:cxnLst/>
              <a:rect l="l" t="t" r="r" b="b"/>
              <a:pathLst>
                <a:path w="2247900" h="407035">
                  <a:moveTo>
                    <a:pt x="0" y="406907"/>
                  </a:moveTo>
                  <a:lnTo>
                    <a:pt x="2247900" y="406907"/>
                  </a:lnTo>
                  <a:lnTo>
                    <a:pt x="2247900" y="0"/>
                  </a:lnTo>
                  <a:lnTo>
                    <a:pt x="0" y="0"/>
                  </a:lnTo>
                  <a:lnTo>
                    <a:pt x="0" y="40690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95877" y="3182874"/>
              <a:ext cx="2247900" cy="407034"/>
            </a:xfrm>
            <a:custGeom>
              <a:avLst/>
              <a:gdLst/>
              <a:ahLst/>
              <a:cxnLst/>
              <a:rect l="l" t="t" r="r" b="b"/>
              <a:pathLst>
                <a:path w="2247900" h="407035">
                  <a:moveTo>
                    <a:pt x="2247900" y="0"/>
                  </a:moveTo>
                  <a:lnTo>
                    <a:pt x="0" y="0"/>
                  </a:lnTo>
                  <a:lnTo>
                    <a:pt x="0" y="406907"/>
                  </a:lnTo>
                  <a:lnTo>
                    <a:pt x="2247900" y="406907"/>
                  </a:lnTo>
                  <a:lnTo>
                    <a:pt x="22479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95877" y="3182874"/>
              <a:ext cx="2247900" cy="407034"/>
            </a:xfrm>
            <a:custGeom>
              <a:avLst/>
              <a:gdLst/>
              <a:ahLst/>
              <a:cxnLst/>
              <a:rect l="l" t="t" r="r" b="b"/>
              <a:pathLst>
                <a:path w="2247900" h="407035">
                  <a:moveTo>
                    <a:pt x="0" y="406907"/>
                  </a:moveTo>
                  <a:lnTo>
                    <a:pt x="2247900" y="406907"/>
                  </a:lnTo>
                  <a:lnTo>
                    <a:pt x="2247900" y="0"/>
                  </a:lnTo>
                  <a:lnTo>
                    <a:pt x="0" y="0"/>
                  </a:lnTo>
                  <a:lnTo>
                    <a:pt x="0" y="40690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63617" y="3812286"/>
              <a:ext cx="2247900" cy="408940"/>
            </a:xfrm>
            <a:custGeom>
              <a:avLst/>
              <a:gdLst/>
              <a:ahLst/>
              <a:cxnLst/>
              <a:rect l="l" t="t" r="r" b="b"/>
              <a:pathLst>
                <a:path w="2247900" h="408939">
                  <a:moveTo>
                    <a:pt x="2247899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7899" y="408431"/>
                  </a:lnTo>
                  <a:lnTo>
                    <a:pt x="224789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63617" y="3812286"/>
              <a:ext cx="2247900" cy="408940"/>
            </a:xfrm>
            <a:custGeom>
              <a:avLst/>
              <a:gdLst/>
              <a:ahLst/>
              <a:cxnLst/>
              <a:rect l="l" t="t" r="r" b="b"/>
              <a:pathLst>
                <a:path w="2247900" h="408939">
                  <a:moveTo>
                    <a:pt x="0" y="408431"/>
                  </a:moveTo>
                  <a:lnTo>
                    <a:pt x="2247899" y="408431"/>
                  </a:lnTo>
                  <a:lnTo>
                    <a:pt x="2247899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37635" y="2519934"/>
            <a:ext cx="3258185" cy="159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10" dirty="0">
                <a:latin typeface="Comic Sans MS"/>
                <a:cs typeface="Comic Sans MS"/>
              </a:rPr>
              <a:t>Coding</a:t>
            </a:r>
            <a:endParaRPr sz="2050">
              <a:latin typeface="Comic Sans MS"/>
              <a:cs typeface="Comic Sans MS"/>
            </a:endParaRPr>
          </a:p>
          <a:p>
            <a:pPr marL="934719">
              <a:lnSpc>
                <a:spcPct val="100000"/>
              </a:lnSpc>
              <a:spcBef>
                <a:spcPts val="2470"/>
              </a:spcBef>
            </a:pPr>
            <a:r>
              <a:rPr sz="2050" b="1" spc="-10" dirty="0">
                <a:latin typeface="Comic Sans MS"/>
                <a:cs typeface="Comic Sans MS"/>
              </a:rPr>
              <a:t>Testing</a:t>
            </a:r>
            <a:endParaRPr sz="2050">
              <a:latin typeface="Comic Sans MS"/>
              <a:cs typeface="Comic Sans MS"/>
            </a:endParaRPr>
          </a:p>
          <a:p>
            <a:pPr marL="1705610">
              <a:lnSpc>
                <a:spcPct val="100000"/>
              </a:lnSpc>
              <a:spcBef>
                <a:spcPts val="2495"/>
              </a:spcBef>
            </a:pPr>
            <a:r>
              <a:rPr sz="2050" b="1" spc="-15" dirty="0">
                <a:latin typeface="Comic Sans MS"/>
                <a:cs typeface="Comic Sans MS"/>
              </a:rPr>
              <a:t>Maintenance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675382" y="809244"/>
            <a:ext cx="3552825" cy="3004820"/>
            <a:chOff x="2675382" y="809244"/>
            <a:chExt cx="3552825" cy="3004820"/>
          </a:xfrm>
        </p:grpSpPr>
        <p:sp>
          <p:nvSpPr>
            <p:cNvPr id="22" name="object 22"/>
            <p:cNvSpPr/>
            <p:nvPr/>
          </p:nvSpPr>
          <p:spPr>
            <a:xfrm>
              <a:off x="2675382" y="82829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940" y="0"/>
                  </a:lnTo>
                </a:path>
              </a:pathLst>
            </a:custGeom>
            <a:ln w="38100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98648" y="828294"/>
              <a:ext cx="114300" cy="469900"/>
            </a:xfrm>
            <a:custGeom>
              <a:avLst/>
              <a:gdLst/>
              <a:ahLst/>
              <a:cxnLst/>
              <a:rect l="l" t="t" r="r" b="b"/>
              <a:pathLst>
                <a:path w="114300" h="469900">
                  <a:moveTo>
                    <a:pt x="38100" y="355091"/>
                  </a:moveTo>
                  <a:lnTo>
                    <a:pt x="0" y="355091"/>
                  </a:lnTo>
                  <a:lnTo>
                    <a:pt x="57150" y="469391"/>
                  </a:lnTo>
                  <a:lnTo>
                    <a:pt x="104775" y="374141"/>
                  </a:lnTo>
                  <a:lnTo>
                    <a:pt x="38100" y="374141"/>
                  </a:lnTo>
                  <a:lnTo>
                    <a:pt x="38100" y="355091"/>
                  </a:lnTo>
                  <a:close/>
                </a:path>
                <a:path w="114300" h="469900">
                  <a:moveTo>
                    <a:pt x="76200" y="0"/>
                  </a:moveTo>
                  <a:lnTo>
                    <a:pt x="38100" y="0"/>
                  </a:lnTo>
                  <a:lnTo>
                    <a:pt x="38100" y="374141"/>
                  </a:lnTo>
                  <a:lnTo>
                    <a:pt x="76200" y="374141"/>
                  </a:lnTo>
                  <a:lnTo>
                    <a:pt x="76200" y="0"/>
                  </a:lnTo>
                  <a:close/>
                </a:path>
                <a:path w="114300" h="469900">
                  <a:moveTo>
                    <a:pt x="114300" y="355091"/>
                  </a:moveTo>
                  <a:lnTo>
                    <a:pt x="76200" y="355091"/>
                  </a:lnTo>
                  <a:lnTo>
                    <a:pt x="76200" y="374141"/>
                  </a:lnTo>
                  <a:lnTo>
                    <a:pt x="104775" y="374141"/>
                  </a:lnTo>
                  <a:lnTo>
                    <a:pt x="114300" y="355091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37382" y="1533906"/>
              <a:ext cx="281940" cy="1905"/>
            </a:xfrm>
            <a:custGeom>
              <a:avLst/>
              <a:gdLst/>
              <a:ahLst/>
              <a:cxnLst/>
              <a:rect l="l" t="t" r="r" b="b"/>
              <a:pathLst>
                <a:path w="281939" h="1905">
                  <a:moveTo>
                    <a:pt x="-19050" y="762"/>
                  </a:moveTo>
                  <a:lnTo>
                    <a:pt x="300989" y="762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22548" y="1533906"/>
              <a:ext cx="114300" cy="391795"/>
            </a:xfrm>
            <a:custGeom>
              <a:avLst/>
              <a:gdLst/>
              <a:ahLst/>
              <a:cxnLst/>
              <a:rect l="l" t="t" r="r" b="b"/>
              <a:pathLst>
                <a:path w="114300" h="391794">
                  <a:moveTo>
                    <a:pt x="38100" y="277368"/>
                  </a:moveTo>
                  <a:lnTo>
                    <a:pt x="0" y="277368"/>
                  </a:lnTo>
                  <a:lnTo>
                    <a:pt x="57150" y="391668"/>
                  </a:lnTo>
                  <a:lnTo>
                    <a:pt x="104775" y="296418"/>
                  </a:lnTo>
                  <a:lnTo>
                    <a:pt x="38100" y="296418"/>
                  </a:lnTo>
                  <a:lnTo>
                    <a:pt x="38100" y="277368"/>
                  </a:lnTo>
                  <a:close/>
                </a:path>
                <a:path w="114300" h="391794">
                  <a:moveTo>
                    <a:pt x="76200" y="0"/>
                  </a:moveTo>
                  <a:lnTo>
                    <a:pt x="38100" y="0"/>
                  </a:lnTo>
                  <a:lnTo>
                    <a:pt x="38100" y="296418"/>
                  </a:lnTo>
                  <a:lnTo>
                    <a:pt x="76200" y="296418"/>
                  </a:lnTo>
                  <a:lnTo>
                    <a:pt x="76200" y="0"/>
                  </a:lnTo>
                  <a:close/>
                </a:path>
                <a:path w="114300" h="391794">
                  <a:moveTo>
                    <a:pt x="114300" y="277368"/>
                  </a:moveTo>
                  <a:lnTo>
                    <a:pt x="76200" y="277368"/>
                  </a:lnTo>
                  <a:lnTo>
                    <a:pt x="76200" y="296418"/>
                  </a:lnTo>
                  <a:lnTo>
                    <a:pt x="104775" y="296418"/>
                  </a:lnTo>
                  <a:lnTo>
                    <a:pt x="114300" y="277368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61282" y="2163318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939" y="0"/>
                  </a:lnTo>
                </a:path>
              </a:pathLst>
            </a:custGeom>
            <a:ln w="38100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44542" y="2163191"/>
              <a:ext cx="114300" cy="393700"/>
            </a:xfrm>
            <a:custGeom>
              <a:avLst/>
              <a:gdLst/>
              <a:ahLst/>
              <a:cxnLst/>
              <a:rect l="l" t="t" r="r" b="b"/>
              <a:pathLst>
                <a:path w="114300" h="393700">
                  <a:moveTo>
                    <a:pt x="38026" y="279103"/>
                  </a:moveTo>
                  <a:lnTo>
                    <a:pt x="0" y="279272"/>
                  </a:lnTo>
                  <a:lnTo>
                    <a:pt x="57531" y="393319"/>
                  </a:lnTo>
                  <a:lnTo>
                    <a:pt x="104565" y="298195"/>
                  </a:lnTo>
                  <a:lnTo>
                    <a:pt x="38100" y="298195"/>
                  </a:lnTo>
                  <a:lnTo>
                    <a:pt x="38026" y="279103"/>
                  </a:lnTo>
                  <a:close/>
                </a:path>
                <a:path w="114300" h="393700">
                  <a:moveTo>
                    <a:pt x="76127" y="278934"/>
                  </a:moveTo>
                  <a:lnTo>
                    <a:pt x="38026" y="279103"/>
                  </a:lnTo>
                  <a:lnTo>
                    <a:pt x="38100" y="298195"/>
                  </a:lnTo>
                  <a:lnTo>
                    <a:pt x="76200" y="297941"/>
                  </a:lnTo>
                  <a:lnTo>
                    <a:pt x="76127" y="278934"/>
                  </a:lnTo>
                  <a:close/>
                </a:path>
                <a:path w="114300" h="393700">
                  <a:moveTo>
                    <a:pt x="114173" y="278764"/>
                  </a:moveTo>
                  <a:lnTo>
                    <a:pt x="76127" y="278934"/>
                  </a:lnTo>
                  <a:lnTo>
                    <a:pt x="76200" y="297941"/>
                  </a:lnTo>
                  <a:lnTo>
                    <a:pt x="38100" y="298195"/>
                  </a:lnTo>
                  <a:lnTo>
                    <a:pt x="104565" y="298195"/>
                  </a:lnTo>
                  <a:lnTo>
                    <a:pt x="114173" y="278764"/>
                  </a:lnTo>
                  <a:close/>
                </a:path>
                <a:path w="114300" h="393700">
                  <a:moveTo>
                    <a:pt x="75057" y="0"/>
                  </a:moveTo>
                  <a:lnTo>
                    <a:pt x="36957" y="253"/>
                  </a:lnTo>
                  <a:lnTo>
                    <a:pt x="38026" y="279103"/>
                  </a:lnTo>
                  <a:lnTo>
                    <a:pt x="76127" y="278934"/>
                  </a:lnTo>
                  <a:lnTo>
                    <a:pt x="75057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65954" y="2789682"/>
              <a:ext cx="281940" cy="1905"/>
            </a:xfrm>
            <a:custGeom>
              <a:avLst/>
              <a:gdLst/>
              <a:ahLst/>
              <a:cxnLst/>
              <a:rect l="l" t="t" r="r" b="b"/>
              <a:pathLst>
                <a:path w="281939" h="1905">
                  <a:moveTo>
                    <a:pt x="-19050" y="762"/>
                  </a:moveTo>
                  <a:lnTo>
                    <a:pt x="300990" y="762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49214" y="2789554"/>
              <a:ext cx="114300" cy="396875"/>
            </a:xfrm>
            <a:custGeom>
              <a:avLst/>
              <a:gdLst/>
              <a:ahLst/>
              <a:cxnLst/>
              <a:rect l="l" t="t" r="r" b="b"/>
              <a:pathLst>
                <a:path w="114300" h="396875">
                  <a:moveTo>
                    <a:pt x="38027" y="282151"/>
                  </a:moveTo>
                  <a:lnTo>
                    <a:pt x="0" y="282320"/>
                  </a:lnTo>
                  <a:lnTo>
                    <a:pt x="57531" y="396367"/>
                  </a:lnTo>
                  <a:lnTo>
                    <a:pt x="104670" y="301244"/>
                  </a:lnTo>
                  <a:lnTo>
                    <a:pt x="38100" y="301244"/>
                  </a:lnTo>
                  <a:lnTo>
                    <a:pt x="38027" y="282151"/>
                  </a:lnTo>
                  <a:close/>
                </a:path>
                <a:path w="114300" h="396875">
                  <a:moveTo>
                    <a:pt x="76127" y="281982"/>
                  </a:moveTo>
                  <a:lnTo>
                    <a:pt x="38027" y="282151"/>
                  </a:lnTo>
                  <a:lnTo>
                    <a:pt x="38100" y="301244"/>
                  </a:lnTo>
                  <a:lnTo>
                    <a:pt x="76200" y="300989"/>
                  </a:lnTo>
                  <a:lnTo>
                    <a:pt x="76127" y="281982"/>
                  </a:lnTo>
                  <a:close/>
                </a:path>
                <a:path w="114300" h="396875">
                  <a:moveTo>
                    <a:pt x="114300" y="281813"/>
                  </a:moveTo>
                  <a:lnTo>
                    <a:pt x="76127" y="281982"/>
                  </a:lnTo>
                  <a:lnTo>
                    <a:pt x="76200" y="300989"/>
                  </a:lnTo>
                  <a:lnTo>
                    <a:pt x="38100" y="301244"/>
                  </a:lnTo>
                  <a:lnTo>
                    <a:pt x="104670" y="301244"/>
                  </a:lnTo>
                  <a:lnTo>
                    <a:pt x="114300" y="281813"/>
                  </a:lnTo>
                  <a:close/>
                </a:path>
                <a:path w="114300" h="396875">
                  <a:moveTo>
                    <a:pt x="75057" y="0"/>
                  </a:moveTo>
                  <a:lnTo>
                    <a:pt x="36957" y="253"/>
                  </a:lnTo>
                  <a:lnTo>
                    <a:pt x="38027" y="282151"/>
                  </a:lnTo>
                  <a:lnTo>
                    <a:pt x="76127" y="281982"/>
                  </a:lnTo>
                  <a:lnTo>
                    <a:pt x="75057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48350" y="3341370"/>
              <a:ext cx="318770" cy="1905"/>
            </a:xfrm>
            <a:custGeom>
              <a:avLst/>
              <a:gdLst/>
              <a:ahLst/>
              <a:cxnLst/>
              <a:rect l="l" t="t" r="r" b="b"/>
              <a:pathLst>
                <a:path w="318770" h="1904">
                  <a:moveTo>
                    <a:pt x="-19050" y="761"/>
                  </a:moveTo>
                  <a:lnTo>
                    <a:pt x="337565" y="761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13526" y="3341242"/>
              <a:ext cx="114300" cy="473075"/>
            </a:xfrm>
            <a:custGeom>
              <a:avLst/>
              <a:gdLst/>
              <a:ahLst/>
              <a:cxnLst/>
              <a:rect l="l" t="t" r="r" b="b"/>
              <a:pathLst>
                <a:path w="114300" h="473075">
                  <a:moveTo>
                    <a:pt x="38105" y="358393"/>
                  </a:moveTo>
                  <a:lnTo>
                    <a:pt x="0" y="358647"/>
                  </a:lnTo>
                  <a:lnTo>
                    <a:pt x="57912" y="472566"/>
                  </a:lnTo>
                  <a:lnTo>
                    <a:pt x="104683" y="377443"/>
                  </a:lnTo>
                  <a:lnTo>
                    <a:pt x="38226" y="377443"/>
                  </a:lnTo>
                  <a:lnTo>
                    <a:pt x="38105" y="358393"/>
                  </a:lnTo>
                  <a:close/>
                </a:path>
                <a:path w="114300" h="473075">
                  <a:moveTo>
                    <a:pt x="76205" y="358139"/>
                  </a:moveTo>
                  <a:lnTo>
                    <a:pt x="38105" y="358393"/>
                  </a:lnTo>
                  <a:lnTo>
                    <a:pt x="38226" y="377443"/>
                  </a:lnTo>
                  <a:lnTo>
                    <a:pt x="76326" y="377189"/>
                  </a:lnTo>
                  <a:lnTo>
                    <a:pt x="76205" y="358139"/>
                  </a:lnTo>
                  <a:close/>
                </a:path>
                <a:path w="114300" h="473075">
                  <a:moveTo>
                    <a:pt x="114300" y="357885"/>
                  </a:moveTo>
                  <a:lnTo>
                    <a:pt x="76205" y="358139"/>
                  </a:lnTo>
                  <a:lnTo>
                    <a:pt x="76326" y="377189"/>
                  </a:lnTo>
                  <a:lnTo>
                    <a:pt x="38226" y="377443"/>
                  </a:lnTo>
                  <a:lnTo>
                    <a:pt x="104683" y="377443"/>
                  </a:lnTo>
                  <a:lnTo>
                    <a:pt x="114300" y="357885"/>
                  </a:lnTo>
                  <a:close/>
                </a:path>
                <a:path w="114300" h="473075">
                  <a:moveTo>
                    <a:pt x="73913" y="0"/>
                  </a:moveTo>
                  <a:lnTo>
                    <a:pt x="35813" y="253"/>
                  </a:lnTo>
                  <a:lnTo>
                    <a:pt x="38105" y="358393"/>
                  </a:lnTo>
                  <a:lnTo>
                    <a:pt x="76205" y="358139"/>
                  </a:lnTo>
                  <a:lnTo>
                    <a:pt x="73913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644896" y="1760220"/>
            <a:ext cx="3194685" cy="780415"/>
          </a:xfrm>
          <a:prstGeom prst="rect">
            <a:avLst/>
          </a:prstGeom>
          <a:solidFill>
            <a:srgbClr val="FFFFCC"/>
          </a:solidFill>
          <a:ln w="9144">
            <a:solidFill>
              <a:srgbClr val="FF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075" marR="758825">
              <a:lnSpc>
                <a:spcPts val="2690"/>
              </a:lnSpc>
              <a:spcBef>
                <a:spcPts val="254"/>
              </a:spcBef>
            </a:pP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Simplest</a:t>
            </a:r>
            <a:r>
              <a:rPr sz="24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4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most </a:t>
            </a:r>
            <a:r>
              <a:rPr sz="2400" b="1" spc="-5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intuitive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49233" y="4792776"/>
            <a:ext cx="259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solidFill>
                  <a:srgbClr val="888888"/>
                </a:solidFill>
                <a:latin typeface="Calibri"/>
                <a:cs typeface="Calibri"/>
              </a:rPr>
              <a:t>122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8508" y="180847"/>
            <a:ext cx="4069715" cy="492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50" spc="-10" dirty="0">
                <a:solidFill>
                  <a:srgbClr val="0033CC"/>
                </a:solidFill>
              </a:rPr>
              <a:t>Relative</a:t>
            </a:r>
            <a:r>
              <a:rPr sz="3050" spc="-50" dirty="0">
                <a:solidFill>
                  <a:srgbClr val="0033CC"/>
                </a:solidFill>
              </a:rPr>
              <a:t> </a:t>
            </a:r>
            <a:r>
              <a:rPr sz="3050" spc="-20" dirty="0">
                <a:solidFill>
                  <a:srgbClr val="0033CC"/>
                </a:solidFill>
              </a:rPr>
              <a:t>Effort</a:t>
            </a:r>
            <a:r>
              <a:rPr sz="3050" spc="-5" dirty="0">
                <a:solidFill>
                  <a:srgbClr val="0033CC"/>
                </a:solidFill>
              </a:rPr>
              <a:t> </a:t>
            </a:r>
            <a:r>
              <a:rPr sz="3050" spc="-15" dirty="0">
                <a:solidFill>
                  <a:srgbClr val="0033CC"/>
                </a:solidFill>
              </a:rPr>
              <a:t>for</a:t>
            </a:r>
            <a:r>
              <a:rPr sz="3050" spc="-25" dirty="0">
                <a:solidFill>
                  <a:srgbClr val="0033CC"/>
                </a:solidFill>
              </a:rPr>
              <a:t> </a:t>
            </a:r>
            <a:r>
              <a:rPr sz="3050" spc="5" dirty="0">
                <a:solidFill>
                  <a:srgbClr val="0033CC"/>
                </a:solidFill>
              </a:rPr>
              <a:t>Phases</a:t>
            </a:r>
            <a:endParaRPr sz="3050"/>
          </a:p>
        </p:txBody>
      </p:sp>
      <p:grpSp>
        <p:nvGrpSpPr>
          <p:cNvPr id="3" name="object 3"/>
          <p:cNvGrpSpPr/>
          <p:nvPr/>
        </p:nvGrpSpPr>
        <p:grpSpPr>
          <a:xfrm>
            <a:off x="60960" y="649223"/>
            <a:ext cx="5963920" cy="3703320"/>
            <a:chOff x="60960" y="649223"/>
            <a:chExt cx="5963920" cy="3703320"/>
          </a:xfrm>
        </p:grpSpPr>
        <p:sp>
          <p:nvSpPr>
            <p:cNvPr id="4" name="object 4"/>
            <p:cNvSpPr/>
            <p:nvPr/>
          </p:nvSpPr>
          <p:spPr>
            <a:xfrm>
              <a:off x="228600" y="653795"/>
              <a:ext cx="5791200" cy="3694429"/>
            </a:xfrm>
            <a:custGeom>
              <a:avLst/>
              <a:gdLst/>
              <a:ahLst/>
              <a:cxnLst/>
              <a:rect l="l" t="t" r="r" b="b"/>
              <a:pathLst>
                <a:path w="5791200" h="3694429">
                  <a:moveTo>
                    <a:pt x="0" y="3694176"/>
                  </a:moveTo>
                  <a:lnTo>
                    <a:pt x="5791200" y="3694176"/>
                  </a:lnTo>
                  <a:lnTo>
                    <a:pt x="5791200" y="0"/>
                  </a:lnTo>
                  <a:lnTo>
                    <a:pt x="0" y="0"/>
                  </a:lnTo>
                  <a:lnTo>
                    <a:pt x="0" y="3694176"/>
                  </a:lnTo>
                  <a:close/>
                </a:path>
              </a:pathLst>
            </a:custGeom>
            <a:ln w="9144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" y="1947671"/>
              <a:ext cx="494550" cy="6454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416" y="1932431"/>
              <a:ext cx="3769614" cy="69113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668" y="2436875"/>
              <a:ext cx="496062" cy="5737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547" y="2423159"/>
              <a:ext cx="5074158" cy="6134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547" y="2788919"/>
              <a:ext cx="1061465" cy="61340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29311" y="635330"/>
            <a:ext cx="5611495" cy="348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marR="711835" indent="-233679">
              <a:lnSpc>
                <a:spcPct val="110200"/>
              </a:lnSpc>
              <a:spcBef>
                <a:spcPts val="10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5" dirty="0">
                <a:latin typeface="Calibri"/>
                <a:cs typeface="Calibri"/>
              </a:rPr>
              <a:t>Phases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between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feasibility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study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and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testing</a:t>
            </a:r>
            <a:endParaRPr sz="2450">
              <a:latin typeface="Calibri"/>
              <a:cs typeface="Calibri"/>
            </a:endParaRPr>
          </a:p>
          <a:p>
            <a:pPr marL="193675" marR="1933575" lvl="1" indent="-193675" algn="r">
              <a:lnSpc>
                <a:spcPct val="100000"/>
              </a:lnSpc>
              <a:spcBef>
                <a:spcPts val="875"/>
              </a:spcBef>
              <a:buFont typeface="Arial MT"/>
              <a:buChar char="–"/>
              <a:tabLst>
                <a:tab pos="193675" algn="l"/>
              </a:tabLst>
            </a:pPr>
            <a:r>
              <a:rPr sz="2150" spc="10" dirty="0">
                <a:latin typeface="Calibri"/>
                <a:cs typeface="Calibri"/>
              </a:rPr>
              <a:t>Called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0099"/>
                </a:solidFill>
                <a:latin typeface="Calibri"/>
                <a:cs typeface="Calibri"/>
              </a:rPr>
              <a:t>development</a:t>
            </a:r>
            <a:r>
              <a:rPr sz="2150" spc="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99"/>
                </a:solidFill>
                <a:latin typeface="Calibri"/>
                <a:cs typeface="Calibri"/>
              </a:rPr>
              <a:t>phases.</a:t>
            </a:r>
            <a:endParaRPr sz="2150">
              <a:latin typeface="Calibri"/>
              <a:cs typeface="Calibri"/>
            </a:endParaRPr>
          </a:p>
          <a:p>
            <a:pPr marL="245745" marR="1993264" indent="-246379" algn="r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5" dirty="0">
                <a:latin typeface="Calibri"/>
                <a:cs typeface="Calibri"/>
              </a:rPr>
              <a:t>Among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all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life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cycle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phases</a:t>
            </a:r>
            <a:endParaRPr sz="2450">
              <a:latin typeface="Calibri"/>
              <a:cs typeface="Calibri"/>
            </a:endParaRPr>
          </a:p>
          <a:p>
            <a:pPr marL="516890" lvl="1" indent="-193675">
              <a:lnSpc>
                <a:spcPct val="100000"/>
              </a:lnSpc>
              <a:spcBef>
                <a:spcPts val="875"/>
              </a:spcBef>
              <a:buFont typeface="Arial MT"/>
              <a:buChar char="–"/>
              <a:tabLst>
                <a:tab pos="517525" algn="l"/>
                <a:tab pos="4043679" algn="l"/>
              </a:tabLst>
            </a:pPr>
            <a:r>
              <a:rPr sz="2150" spc="5" dirty="0">
                <a:solidFill>
                  <a:srgbClr val="800000"/>
                </a:solidFill>
                <a:latin typeface="Calibri"/>
                <a:cs typeface="Calibri"/>
              </a:rPr>
              <a:t>Maintenance</a:t>
            </a:r>
            <a:r>
              <a:rPr sz="2150" spc="4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800000"/>
                </a:solidFill>
                <a:latin typeface="Calibri"/>
                <a:cs typeface="Calibri"/>
              </a:rPr>
              <a:t>phase</a:t>
            </a:r>
            <a:r>
              <a:rPr sz="2150" spc="2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800000"/>
                </a:solidFill>
                <a:latin typeface="Calibri"/>
                <a:cs typeface="Calibri"/>
              </a:rPr>
              <a:t>consumes	maximum</a:t>
            </a:r>
            <a:endParaRPr sz="2150">
              <a:latin typeface="Calibri"/>
              <a:cs typeface="Calibri"/>
            </a:endParaRPr>
          </a:p>
          <a:p>
            <a:pPr marL="516890">
              <a:lnSpc>
                <a:spcPct val="100000"/>
              </a:lnSpc>
              <a:spcBef>
                <a:spcPts val="300"/>
              </a:spcBef>
            </a:pPr>
            <a:r>
              <a:rPr sz="2150" spc="-15" dirty="0">
                <a:solidFill>
                  <a:srgbClr val="800000"/>
                </a:solidFill>
                <a:latin typeface="Calibri"/>
                <a:cs typeface="Calibri"/>
              </a:rPr>
              <a:t>effort.</a:t>
            </a:r>
            <a:endParaRPr sz="21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5" dirty="0">
                <a:latin typeface="Calibri"/>
                <a:cs typeface="Calibri"/>
              </a:rPr>
              <a:t>Among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development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phases,</a:t>
            </a:r>
            <a:endParaRPr sz="2450">
              <a:latin typeface="Calibri"/>
              <a:cs typeface="Calibri"/>
            </a:endParaRPr>
          </a:p>
          <a:p>
            <a:pPr marL="516890" lvl="1" indent="-193675">
              <a:lnSpc>
                <a:spcPct val="100000"/>
              </a:lnSpc>
              <a:spcBef>
                <a:spcPts val="875"/>
              </a:spcBef>
              <a:buFont typeface="Arial MT"/>
              <a:buChar char="–"/>
              <a:tabLst>
                <a:tab pos="517525" algn="l"/>
              </a:tabLst>
            </a:pPr>
            <a:r>
              <a:rPr sz="2150" spc="-25" dirty="0">
                <a:latin typeface="Calibri"/>
                <a:cs typeface="Calibri"/>
              </a:rPr>
              <a:t>Testing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phase consumes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the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maximum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effort.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80641" y="1174758"/>
            <a:ext cx="2007870" cy="2122170"/>
            <a:chOff x="6680641" y="1174758"/>
            <a:chExt cx="2007870" cy="2122170"/>
          </a:xfrm>
        </p:grpSpPr>
        <p:sp>
          <p:nvSpPr>
            <p:cNvPr id="12" name="object 12"/>
            <p:cNvSpPr/>
            <p:nvPr/>
          </p:nvSpPr>
          <p:spPr>
            <a:xfrm>
              <a:off x="6707351" y="3269549"/>
              <a:ext cx="71120" cy="18415"/>
            </a:xfrm>
            <a:custGeom>
              <a:avLst/>
              <a:gdLst/>
              <a:ahLst/>
              <a:cxnLst/>
              <a:rect l="l" t="t" r="r" b="b"/>
              <a:pathLst>
                <a:path w="71120" h="18414">
                  <a:moveTo>
                    <a:pt x="0" y="17790"/>
                  </a:moveTo>
                  <a:lnTo>
                    <a:pt x="70928" y="17790"/>
                  </a:lnTo>
                  <a:lnTo>
                    <a:pt x="70928" y="0"/>
                  </a:lnTo>
                  <a:lnTo>
                    <a:pt x="0" y="0"/>
                  </a:lnTo>
                  <a:lnTo>
                    <a:pt x="0" y="1779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11849" y="3273929"/>
              <a:ext cx="27305" cy="18415"/>
            </a:xfrm>
            <a:custGeom>
              <a:avLst/>
              <a:gdLst/>
              <a:ahLst/>
              <a:cxnLst/>
              <a:rect l="l" t="t" r="r" b="b"/>
              <a:pathLst>
                <a:path w="27304" h="18414">
                  <a:moveTo>
                    <a:pt x="0" y="17790"/>
                  </a:moveTo>
                  <a:lnTo>
                    <a:pt x="26751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47313" y="3273929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0" y="0"/>
                  </a:moveTo>
                  <a:lnTo>
                    <a:pt x="30966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8220" y="3269549"/>
              <a:ext cx="301625" cy="18415"/>
            </a:xfrm>
            <a:custGeom>
              <a:avLst/>
              <a:gdLst/>
              <a:ahLst/>
              <a:cxnLst/>
              <a:rect l="l" t="t" r="r" b="b"/>
              <a:pathLst>
                <a:path w="301625" h="18414">
                  <a:moveTo>
                    <a:pt x="0" y="17790"/>
                  </a:moveTo>
                  <a:lnTo>
                    <a:pt x="301498" y="17790"/>
                  </a:lnTo>
                  <a:lnTo>
                    <a:pt x="301498" y="0"/>
                  </a:lnTo>
                  <a:lnTo>
                    <a:pt x="0" y="0"/>
                  </a:lnTo>
                  <a:lnTo>
                    <a:pt x="0" y="1779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8220" y="3273929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498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07344" y="3278381"/>
              <a:ext cx="452755" cy="0"/>
            </a:xfrm>
            <a:custGeom>
              <a:avLst/>
              <a:gdLst/>
              <a:ahLst/>
              <a:cxnLst/>
              <a:rect l="l" t="t" r="r" b="b"/>
              <a:pathLst>
                <a:path w="452754">
                  <a:moveTo>
                    <a:pt x="0" y="0"/>
                  </a:moveTo>
                  <a:lnTo>
                    <a:pt x="452374" y="0"/>
                  </a:lnTo>
                </a:path>
              </a:pathLst>
            </a:custGeom>
            <a:ln w="179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48380" y="3269549"/>
              <a:ext cx="302260" cy="18415"/>
            </a:xfrm>
            <a:custGeom>
              <a:avLst/>
              <a:gdLst/>
              <a:ahLst/>
              <a:cxnLst/>
              <a:rect l="l" t="t" r="r" b="b"/>
              <a:pathLst>
                <a:path w="302259" h="18414">
                  <a:moveTo>
                    <a:pt x="0" y="17790"/>
                  </a:moveTo>
                  <a:lnTo>
                    <a:pt x="301655" y="17790"/>
                  </a:lnTo>
                  <a:lnTo>
                    <a:pt x="301655" y="0"/>
                  </a:lnTo>
                  <a:lnTo>
                    <a:pt x="0" y="0"/>
                  </a:lnTo>
                  <a:lnTo>
                    <a:pt x="0" y="1779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48380" y="3273929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59">
                  <a:moveTo>
                    <a:pt x="0" y="0"/>
                  </a:moveTo>
                  <a:lnTo>
                    <a:pt x="301655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48380" y="3269423"/>
              <a:ext cx="302260" cy="18415"/>
            </a:xfrm>
            <a:custGeom>
              <a:avLst/>
              <a:gdLst/>
              <a:ahLst/>
              <a:cxnLst/>
              <a:rect l="l" t="t" r="r" b="b"/>
              <a:pathLst>
                <a:path w="302259" h="18414">
                  <a:moveTo>
                    <a:pt x="0" y="17915"/>
                  </a:moveTo>
                  <a:lnTo>
                    <a:pt x="301655" y="17915"/>
                  </a:lnTo>
                  <a:lnTo>
                    <a:pt x="301655" y="0"/>
                  </a:lnTo>
                  <a:lnTo>
                    <a:pt x="0" y="0"/>
                  </a:lnTo>
                  <a:lnTo>
                    <a:pt x="0" y="17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07344" y="3285082"/>
              <a:ext cx="843280" cy="0"/>
            </a:xfrm>
            <a:custGeom>
              <a:avLst/>
              <a:gdLst/>
              <a:ahLst/>
              <a:cxnLst/>
              <a:rect l="l" t="t" r="r" b="b"/>
              <a:pathLst>
                <a:path w="843279">
                  <a:moveTo>
                    <a:pt x="0" y="0"/>
                  </a:moveTo>
                  <a:lnTo>
                    <a:pt x="842691" y="0"/>
                  </a:lnTo>
                </a:path>
              </a:pathLst>
            </a:custGeom>
            <a:ln w="45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29976" y="3269549"/>
              <a:ext cx="301625" cy="18415"/>
            </a:xfrm>
            <a:custGeom>
              <a:avLst/>
              <a:gdLst/>
              <a:ahLst/>
              <a:cxnLst/>
              <a:rect l="l" t="t" r="r" b="b"/>
              <a:pathLst>
                <a:path w="301625" h="18414">
                  <a:moveTo>
                    <a:pt x="0" y="17790"/>
                  </a:moveTo>
                  <a:lnTo>
                    <a:pt x="301428" y="17790"/>
                  </a:lnTo>
                  <a:lnTo>
                    <a:pt x="301428" y="0"/>
                  </a:lnTo>
                  <a:lnTo>
                    <a:pt x="0" y="0"/>
                  </a:lnTo>
                  <a:lnTo>
                    <a:pt x="0" y="1779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29976" y="3273929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428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29976" y="3269423"/>
              <a:ext cx="301625" cy="18415"/>
            </a:xfrm>
            <a:custGeom>
              <a:avLst/>
              <a:gdLst/>
              <a:ahLst/>
              <a:cxnLst/>
              <a:rect l="l" t="t" r="r" b="b"/>
              <a:pathLst>
                <a:path w="301625" h="18414">
                  <a:moveTo>
                    <a:pt x="0" y="17915"/>
                  </a:moveTo>
                  <a:lnTo>
                    <a:pt x="301428" y="17915"/>
                  </a:lnTo>
                  <a:lnTo>
                    <a:pt x="301428" y="0"/>
                  </a:lnTo>
                  <a:lnTo>
                    <a:pt x="0" y="0"/>
                  </a:lnTo>
                  <a:lnTo>
                    <a:pt x="0" y="17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29976" y="3285082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428" y="0"/>
                  </a:lnTo>
                </a:path>
              </a:pathLst>
            </a:custGeom>
            <a:ln w="45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20065" y="3269549"/>
              <a:ext cx="302260" cy="18415"/>
            </a:xfrm>
            <a:custGeom>
              <a:avLst/>
              <a:gdLst/>
              <a:ahLst/>
              <a:cxnLst/>
              <a:rect l="l" t="t" r="r" b="b"/>
              <a:pathLst>
                <a:path w="302259" h="18414">
                  <a:moveTo>
                    <a:pt x="0" y="17790"/>
                  </a:moveTo>
                  <a:lnTo>
                    <a:pt x="301772" y="17790"/>
                  </a:lnTo>
                  <a:lnTo>
                    <a:pt x="301772" y="0"/>
                  </a:lnTo>
                  <a:lnTo>
                    <a:pt x="0" y="0"/>
                  </a:lnTo>
                  <a:lnTo>
                    <a:pt x="0" y="1779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20065" y="3273929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59">
                  <a:moveTo>
                    <a:pt x="0" y="0"/>
                  </a:moveTo>
                  <a:lnTo>
                    <a:pt x="301772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20065" y="3269423"/>
              <a:ext cx="302260" cy="18415"/>
            </a:xfrm>
            <a:custGeom>
              <a:avLst/>
              <a:gdLst/>
              <a:ahLst/>
              <a:cxnLst/>
              <a:rect l="l" t="t" r="r" b="b"/>
              <a:pathLst>
                <a:path w="302259" h="18414">
                  <a:moveTo>
                    <a:pt x="0" y="17915"/>
                  </a:moveTo>
                  <a:lnTo>
                    <a:pt x="301772" y="17915"/>
                  </a:lnTo>
                  <a:lnTo>
                    <a:pt x="301772" y="0"/>
                  </a:lnTo>
                  <a:lnTo>
                    <a:pt x="0" y="0"/>
                  </a:lnTo>
                  <a:lnTo>
                    <a:pt x="0" y="17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20065" y="3285082"/>
              <a:ext cx="302260" cy="0"/>
            </a:xfrm>
            <a:custGeom>
              <a:avLst/>
              <a:gdLst/>
              <a:ahLst/>
              <a:cxnLst/>
              <a:rect l="l" t="t" r="r" b="b"/>
              <a:pathLst>
                <a:path w="302259">
                  <a:moveTo>
                    <a:pt x="0" y="0"/>
                  </a:moveTo>
                  <a:lnTo>
                    <a:pt x="301772" y="0"/>
                  </a:lnTo>
                </a:path>
              </a:pathLst>
            </a:custGeom>
            <a:ln w="45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01489" y="3269549"/>
              <a:ext cx="275590" cy="18415"/>
            </a:xfrm>
            <a:custGeom>
              <a:avLst/>
              <a:gdLst/>
              <a:ahLst/>
              <a:cxnLst/>
              <a:rect l="l" t="t" r="r" b="b"/>
              <a:pathLst>
                <a:path w="275590" h="18414">
                  <a:moveTo>
                    <a:pt x="0" y="17790"/>
                  </a:moveTo>
                  <a:lnTo>
                    <a:pt x="274990" y="17790"/>
                  </a:lnTo>
                  <a:lnTo>
                    <a:pt x="274990" y="0"/>
                  </a:lnTo>
                  <a:lnTo>
                    <a:pt x="0" y="0"/>
                  </a:lnTo>
                  <a:lnTo>
                    <a:pt x="0" y="1779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401489" y="3273929"/>
              <a:ext cx="271145" cy="0"/>
            </a:xfrm>
            <a:custGeom>
              <a:avLst/>
              <a:gdLst/>
              <a:ahLst/>
              <a:cxnLst/>
              <a:rect l="l" t="t" r="r" b="b"/>
              <a:pathLst>
                <a:path w="271145">
                  <a:moveTo>
                    <a:pt x="0" y="0"/>
                  </a:moveTo>
                  <a:lnTo>
                    <a:pt x="270751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01489" y="3269423"/>
              <a:ext cx="284480" cy="18415"/>
            </a:xfrm>
            <a:custGeom>
              <a:avLst/>
              <a:gdLst/>
              <a:ahLst/>
              <a:cxnLst/>
              <a:rect l="l" t="t" r="r" b="b"/>
              <a:pathLst>
                <a:path w="284479" h="18414">
                  <a:moveTo>
                    <a:pt x="0" y="17915"/>
                  </a:moveTo>
                  <a:lnTo>
                    <a:pt x="283969" y="17915"/>
                  </a:lnTo>
                  <a:lnTo>
                    <a:pt x="283969" y="0"/>
                  </a:lnTo>
                  <a:lnTo>
                    <a:pt x="0" y="0"/>
                  </a:lnTo>
                  <a:lnTo>
                    <a:pt x="0" y="17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707344" y="3285082"/>
              <a:ext cx="1978660" cy="9525"/>
            </a:xfrm>
            <a:custGeom>
              <a:avLst/>
              <a:gdLst/>
              <a:ahLst/>
              <a:cxnLst/>
              <a:rect l="l" t="t" r="r" b="b"/>
              <a:pathLst>
                <a:path w="1978659" h="9525">
                  <a:moveTo>
                    <a:pt x="1694145" y="0"/>
                  </a:moveTo>
                  <a:lnTo>
                    <a:pt x="1978115" y="0"/>
                  </a:lnTo>
                </a:path>
                <a:path w="1978659" h="9525">
                  <a:moveTo>
                    <a:pt x="0" y="8957"/>
                  </a:moveTo>
                  <a:lnTo>
                    <a:pt x="1978115" y="8957"/>
                  </a:lnTo>
                </a:path>
              </a:pathLst>
            </a:custGeom>
            <a:ln w="45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11849" y="2927814"/>
              <a:ext cx="27305" cy="17780"/>
            </a:xfrm>
            <a:custGeom>
              <a:avLst/>
              <a:gdLst/>
              <a:ahLst/>
              <a:cxnLst/>
              <a:rect l="l" t="t" r="r" b="b"/>
              <a:pathLst>
                <a:path w="27304" h="17780">
                  <a:moveTo>
                    <a:pt x="0" y="17778"/>
                  </a:moveTo>
                  <a:lnTo>
                    <a:pt x="26751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47313" y="2927814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2722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11849" y="2581664"/>
              <a:ext cx="27305" cy="17780"/>
            </a:xfrm>
            <a:custGeom>
              <a:avLst/>
              <a:gdLst/>
              <a:ahLst/>
              <a:cxnLst/>
              <a:rect l="l" t="t" r="r" b="b"/>
              <a:pathLst>
                <a:path w="27304" h="17780">
                  <a:moveTo>
                    <a:pt x="0" y="17778"/>
                  </a:moveTo>
                  <a:lnTo>
                    <a:pt x="26751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747313" y="2572951"/>
              <a:ext cx="1574800" cy="0"/>
            </a:xfrm>
            <a:custGeom>
              <a:avLst/>
              <a:gdLst/>
              <a:ahLst/>
              <a:cxnLst/>
              <a:rect l="l" t="t" r="r" b="b"/>
              <a:pathLst>
                <a:path w="1574800">
                  <a:moveTo>
                    <a:pt x="0" y="0"/>
                  </a:moveTo>
                  <a:lnTo>
                    <a:pt x="1574524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11849" y="2226801"/>
              <a:ext cx="27305" cy="26670"/>
            </a:xfrm>
            <a:custGeom>
              <a:avLst/>
              <a:gdLst/>
              <a:ahLst/>
              <a:cxnLst/>
              <a:rect l="l" t="t" r="r" b="b"/>
              <a:pathLst>
                <a:path w="27304" h="26669">
                  <a:moveTo>
                    <a:pt x="0" y="26608"/>
                  </a:moveTo>
                  <a:lnTo>
                    <a:pt x="26751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47313" y="2217853"/>
              <a:ext cx="1574800" cy="0"/>
            </a:xfrm>
            <a:custGeom>
              <a:avLst/>
              <a:gdLst/>
              <a:ahLst/>
              <a:cxnLst/>
              <a:rect l="l" t="t" r="r" b="b"/>
              <a:pathLst>
                <a:path w="1574800">
                  <a:moveTo>
                    <a:pt x="0" y="0"/>
                  </a:moveTo>
                  <a:lnTo>
                    <a:pt x="1574524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11849" y="1880769"/>
              <a:ext cx="27305" cy="17780"/>
            </a:xfrm>
            <a:custGeom>
              <a:avLst/>
              <a:gdLst/>
              <a:ahLst/>
              <a:cxnLst/>
              <a:rect l="l" t="t" r="r" b="b"/>
              <a:pathLst>
                <a:path w="27304" h="17780">
                  <a:moveTo>
                    <a:pt x="0" y="17778"/>
                  </a:moveTo>
                  <a:lnTo>
                    <a:pt x="26751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747313" y="1871703"/>
              <a:ext cx="1574800" cy="0"/>
            </a:xfrm>
            <a:custGeom>
              <a:avLst/>
              <a:gdLst/>
              <a:ahLst/>
              <a:cxnLst/>
              <a:rect l="l" t="t" r="r" b="b"/>
              <a:pathLst>
                <a:path w="1574800">
                  <a:moveTo>
                    <a:pt x="0" y="0"/>
                  </a:moveTo>
                  <a:lnTo>
                    <a:pt x="1574524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11849" y="1525553"/>
              <a:ext cx="27305" cy="17780"/>
            </a:xfrm>
            <a:custGeom>
              <a:avLst/>
              <a:gdLst/>
              <a:ahLst/>
              <a:cxnLst/>
              <a:rect l="l" t="t" r="r" b="b"/>
              <a:pathLst>
                <a:path w="27304" h="17780">
                  <a:moveTo>
                    <a:pt x="0" y="17778"/>
                  </a:moveTo>
                  <a:lnTo>
                    <a:pt x="26751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47313" y="1525553"/>
              <a:ext cx="1574800" cy="0"/>
            </a:xfrm>
            <a:custGeom>
              <a:avLst/>
              <a:gdLst/>
              <a:ahLst/>
              <a:cxnLst/>
              <a:rect l="l" t="t" r="r" b="b"/>
              <a:pathLst>
                <a:path w="1574800">
                  <a:moveTo>
                    <a:pt x="0" y="0"/>
                  </a:moveTo>
                  <a:lnTo>
                    <a:pt x="1574524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11849" y="1179521"/>
              <a:ext cx="1960880" cy="17780"/>
            </a:xfrm>
            <a:custGeom>
              <a:avLst/>
              <a:gdLst/>
              <a:ahLst/>
              <a:cxnLst/>
              <a:rect l="l" t="t" r="r" b="b"/>
              <a:pathLst>
                <a:path w="1960879" h="17780">
                  <a:moveTo>
                    <a:pt x="0" y="17778"/>
                  </a:moveTo>
                  <a:lnTo>
                    <a:pt x="26751" y="0"/>
                  </a:lnTo>
                </a:path>
                <a:path w="1960879" h="17780">
                  <a:moveTo>
                    <a:pt x="35464" y="0"/>
                  </a:moveTo>
                  <a:lnTo>
                    <a:pt x="1960391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11849" y="1179521"/>
              <a:ext cx="35560" cy="2112645"/>
            </a:xfrm>
            <a:custGeom>
              <a:avLst/>
              <a:gdLst/>
              <a:ahLst/>
              <a:cxnLst/>
              <a:rect l="l" t="t" r="r" b="b"/>
              <a:pathLst>
                <a:path w="35559" h="2112645">
                  <a:moveTo>
                    <a:pt x="0" y="2112198"/>
                  </a:moveTo>
                  <a:lnTo>
                    <a:pt x="0" y="17778"/>
                  </a:lnTo>
                  <a:lnTo>
                    <a:pt x="35464" y="0"/>
                  </a:lnTo>
                  <a:lnTo>
                    <a:pt x="35464" y="2094408"/>
                  </a:lnTo>
                  <a:lnTo>
                    <a:pt x="0" y="2112198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629976" y="1525553"/>
              <a:ext cx="1042669" cy="1402715"/>
            </a:xfrm>
            <a:custGeom>
              <a:avLst/>
              <a:gdLst/>
              <a:ahLst/>
              <a:cxnLst/>
              <a:rect l="l" t="t" r="r" b="b"/>
              <a:pathLst>
                <a:path w="1042670" h="1402714">
                  <a:moveTo>
                    <a:pt x="0" y="1402261"/>
                  </a:moveTo>
                  <a:lnTo>
                    <a:pt x="301428" y="1402261"/>
                  </a:lnTo>
                </a:path>
                <a:path w="1042670" h="1402714">
                  <a:moveTo>
                    <a:pt x="390089" y="1402261"/>
                  </a:moveTo>
                  <a:lnTo>
                    <a:pt x="691862" y="1402261"/>
                  </a:lnTo>
                </a:path>
                <a:path w="1042670" h="1402714">
                  <a:moveTo>
                    <a:pt x="771513" y="1402261"/>
                  </a:moveTo>
                  <a:lnTo>
                    <a:pt x="1042264" y="1402261"/>
                  </a:lnTo>
                </a:path>
                <a:path w="1042670" h="1402714">
                  <a:moveTo>
                    <a:pt x="771513" y="1047398"/>
                  </a:moveTo>
                  <a:lnTo>
                    <a:pt x="1042264" y="1047398"/>
                  </a:lnTo>
                </a:path>
                <a:path w="1042670" h="1402714">
                  <a:moveTo>
                    <a:pt x="771513" y="692300"/>
                  </a:moveTo>
                  <a:lnTo>
                    <a:pt x="1042264" y="692300"/>
                  </a:lnTo>
                </a:path>
                <a:path w="1042670" h="1402714">
                  <a:moveTo>
                    <a:pt x="771513" y="346150"/>
                  </a:moveTo>
                  <a:lnTo>
                    <a:pt x="1042264" y="346150"/>
                  </a:lnTo>
                </a:path>
                <a:path w="1042670" h="1402714">
                  <a:moveTo>
                    <a:pt x="771513" y="0"/>
                  </a:moveTo>
                  <a:lnTo>
                    <a:pt x="1042264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747313" y="1179521"/>
              <a:ext cx="1934210" cy="2094864"/>
            </a:xfrm>
            <a:custGeom>
              <a:avLst/>
              <a:gdLst/>
              <a:ahLst/>
              <a:cxnLst/>
              <a:rect l="l" t="t" r="r" b="b"/>
              <a:pathLst>
                <a:path w="1934209" h="2094864">
                  <a:moveTo>
                    <a:pt x="0" y="2094408"/>
                  </a:moveTo>
                  <a:lnTo>
                    <a:pt x="0" y="0"/>
                  </a:lnTo>
                  <a:lnTo>
                    <a:pt x="1933639" y="0"/>
                  </a:lnTo>
                  <a:lnTo>
                    <a:pt x="1933640" y="2094408"/>
                  </a:lnTo>
                  <a:lnTo>
                    <a:pt x="0" y="2094408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8272" y="3198568"/>
              <a:ext cx="124422" cy="9765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248379" y="2994572"/>
              <a:ext cx="27305" cy="293370"/>
            </a:xfrm>
            <a:custGeom>
              <a:avLst/>
              <a:gdLst/>
              <a:ahLst/>
              <a:cxnLst/>
              <a:rect l="l" t="t" r="r" b="b"/>
              <a:pathLst>
                <a:path w="27304" h="293370">
                  <a:moveTo>
                    <a:pt x="26727" y="0"/>
                  </a:moveTo>
                  <a:lnTo>
                    <a:pt x="0" y="17542"/>
                  </a:lnTo>
                  <a:lnTo>
                    <a:pt x="0" y="292767"/>
                  </a:lnTo>
                  <a:lnTo>
                    <a:pt x="26727" y="274977"/>
                  </a:lnTo>
                  <a:lnTo>
                    <a:pt x="26727" y="0"/>
                  </a:lnTo>
                  <a:close/>
                </a:path>
              </a:pathLst>
            </a:custGeom>
            <a:solidFill>
              <a:srgbClr val="8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252853" y="2998928"/>
              <a:ext cx="27305" cy="293370"/>
            </a:xfrm>
            <a:custGeom>
              <a:avLst/>
              <a:gdLst/>
              <a:ahLst/>
              <a:cxnLst/>
              <a:rect l="l" t="t" r="r" b="b"/>
              <a:pathLst>
                <a:path w="27304" h="293370">
                  <a:moveTo>
                    <a:pt x="0" y="292791"/>
                  </a:moveTo>
                  <a:lnTo>
                    <a:pt x="0" y="17542"/>
                  </a:lnTo>
                  <a:lnTo>
                    <a:pt x="26727" y="0"/>
                  </a:lnTo>
                  <a:lnTo>
                    <a:pt x="26727" y="275000"/>
                  </a:lnTo>
                  <a:lnTo>
                    <a:pt x="0" y="292791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59719" y="3012091"/>
              <a:ext cx="88900" cy="275590"/>
            </a:xfrm>
            <a:custGeom>
              <a:avLst/>
              <a:gdLst/>
              <a:ahLst/>
              <a:cxnLst/>
              <a:rect l="l" t="t" r="r" b="b"/>
              <a:pathLst>
                <a:path w="88900" h="275589">
                  <a:moveTo>
                    <a:pt x="88661" y="0"/>
                  </a:moveTo>
                  <a:lnTo>
                    <a:pt x="0" y="0"/>
                  </a:lnTo>
                  <a:lnTo>
                    <a:pt x="0" y="275248"/>
                  </a:lnTo>
                  <a:lnTo>
                    <a:pt x="88661" y="275248"/>
                  </a:lnTo>
                  <a:lnTo>
                    <a:pt x="88661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164193" y="3016471"/>
              <a:ext cx="88900" cy="275590"/>
            </a:xfrm>
            <a:custGeom>
              <a:avLst/>
              <a:gdLst/>
              <a:ahLst/>
              <a:cxnLst/>
              <a:rect l="l" t="t" r="r" b="b"/>
              <a:pathLst>
                <a:path w="88900" h="275589">
                  <a:moveTo>
                    <a:pt x="0" y="275248"/>
                  </a:moveTo>
                  <a:lnTo>
                    <a:pt x="0" y="0"/>
                  </a:lnTo>
                  <a:lnTo>
                    <a:pt x="88660" y="0"/>
                  </a:lnTo>
                  <a:lnTo>
                    <a:pt x="88660" y="275248"/>
                  </a:lnTo>
                  <a:lnTo>
                    <a:pt x="0" y="275248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59719" y="2994572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115387" y="0"/>
                  </a:moveTo>
                  <a:lnTo>
                    <a:pt x="26727" y="0"/>
                  </a:lnTo>
                  <a:lnTo>
                    <a:pt x="0" y="17542"/>
                  </a:lnTo>
                  <a:lnTo>
                    <a:pt x="88660" y="17542"/>
                  </a:lnTo>
                  <a:lnTo>
                    <a:pt x="115387" y="0"/>
                  </a:lnTo>
                  <a:close/>
                </a:path>
              </a:pathLst>
            </a:custGeom>
            <a:solidFill>
              <a:srgbClr val="BE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164193" y="2998928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88660" y="17542"/>
                  </a:moveTo>
                  <a:lnTo>
                    <a:pt x="115387" y="0"/>
                  </a:lnTo>
                  <a:lnTo>
                    <a:pt x="26727" y="0"/>
                  </a:lnTo>
                  <a:lnTo>
                    <a:pt x="0" y="17542"/>
                  </a:lnTo>
                  <a:lnTo>
                    <a:pt x="88660" y="17542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629983" y="2852579"/>
              <a:ext cx="35560" cy="434975"/>
            </a:xfrm>
            <a:custGeom>
              <a:avLst/>
              <a:gdLst/>
              <a:ahLst/>
              <a:cxnLst/>
              <a:rect l="l" t="t" r="r" b="b"/>
              <a:pathLst>
                <a:path w="35559" h="434975">
                  <a:moveTo>
                    <a:pt x="35440" y="0"/>
                  </a:moveTo>
                  <a:lnTo>
                    <a:pt x="0" y="17778"/>
                  </a:lnTo>
                  <a:lnTo>
                    <a:pt x="0" y="434759"/>
                  </a:lnTo>
                  <a:lnTo>
                    <a:pt x="35440" y="416969"/>
                  </a:lnTo>
                  <a:lnTo>
                    <a:pt x="35440" y="0"/>
                  </a:lnTo>
                  <a:close/>
                </a:path>
              </a:pathLst>
            </a:custGeom>
            <a:solidFill>
              <a:srgbClr val="8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634457" y="2856936"/>
              <a:ext cx="35560" cy="434975"/>
            </a:xfrm>
            <a:custGeom>
              <a:avLst/>
              <a:gdLst/>
              <a:ahLst/>
              <a:cxnLst/>
              <a:rect l="l" t="t" r="r" b="b"/>
              <a:pathLst>
                <a:path w="35559" h="434975">
                  <a:moveTo>
                    <a:pt x="0" y="434783"/>
                  </a:moveTo>
                  <a:lnTo>
                    <a:pt x="0" y="17778"/>
                  </a:lnTo>
                  <a:lnTo>
                    <a:pt x="35558" y="0"/>
                  </a:lnTo>
                  <a:lnTo>
                    <a:pt x="35558" y="416993"/>
                  </a:lnTo>
                  <a:lnTo>
                    <a:pt x="0" y="434783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550035" y="2870370"/>
              <a:ext cx="80010" cy="417195"/>
            </a:xfrm>
            <a:custGeom>
              <a:avLst/>
              <a:gdLst/>
              <a:ahLst/>
              <a:cxnLst/>
              <a:rect l="l" t="t" r="r" b="b"/>
              <a:pathLst>
                <a:path w="80009" h="417195">
                  <a:moveTo>
                    <a:pt x="79940" y="0"/>
                  </a:moveTo>
                  <a:lnTo>
                    <a:pt x="0" y="0"/>
                  </a:lnTo>
                  <a:lnTo>
                    <a:pt x="0" y="416969"/>
                  </a:lnTo>
                  <a:lnTo>
                    <a:pt x="79940" y="416969"/>
                  </a:lnTo>
                  <a:lnTo>
                    <a:pt x="7994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554627" y="2874714"/>
              <a:ext cx="80010" cy="417195"/>
            </a:xfrm>
            <a:custGeom>
              <a:avLst/>
              <a:gdLst/>
              <a:ahLst/>
              <a:cxnLst/>
              <a:rect l="l" t="t" r="r" b="b"/>
              <a:pathLst>
                <a:path w="80009" h="417195">
                  <a:moveTo>
                    <a:pt x="0" y="417004"/>
                  </a:moveTo>
                  <a:lnTo>
                    <a:pt x="0" y="0"/>
                  </a:lnTo>
                  <a:lnTo>
                    <a:pt x="79829" y="0"/>
                  </a:lnTo>
                  <a:lnTo>
                    <a:pt x="79829" y="417004"/>
                  </a:lnTo>
                  <a:lnTo>
                    <a:pt x="0" y="417004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550035" y="2852579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115387" y="0"/>
                  </a:moveTo>
                  <a:lnTo>
                    <a:pt x="26492" y="0"/>
                  </a:lnTo>
                  <a:lnTo>
                    <a:pt x="0" y="17778"/>
                  </a:lnTo>
                  <a:lnTo>
                    <a:pt x="79947" y="17778"/>
                  </a:lnTo>
                  <a:lnTo>
                    <a:pt x="115387" y="0"/>
                  </a:lnTo>
                  <a:close/>
                </a:path>
              </a:pathLst>
            </a:custGeom>
            <a:solidFill>
              <a:srgbClr val="BE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54627" y="2856936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79829" y="17778"/>
                  </a:moveTo>
                  <a:lnTo>
                    <a:pt x="115387" y="0"/>
                  </a:lnTo>
                  <a:lnTo>
                    <a:pt x="26374" y="0"/>
                  </a:lnTo>
                  <a:lnTo>
                    <a:pt x="0" y="17778"/>
                  </a:lnTo>
                  <a:lnTo>
                    <a:pt x="79829" y="17778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020064" y="2639473"/>
              <a:ext cx="35560" cy="648335"/>
            </a:xfrm>
            <a:custGeom>
              <a:avLst/>
              <a:gdLst/>
              <a:ahLst/>
              <a:cxnLst/>
              <a:rect l="l" t="t" r="r" b="b"/>
              <a:pathLst>
                <a:path w="35559" h="648335">
                  <a:moveTo>
                    <a:pt x="35558" y="0"/>
                  </a:moveTo>
                  <a:lnTo>
                    <a:pt x="0" y="26844"/>
                  </a:lnTo>
                  <a:lnTo>
                    <a:pt x="0" y="647865"/>
                  </a:lnTo>
                  <a:lnTo>
                    <a:pt x="35558" y="630075"/>
                  </a:lnTo>
                  <a:lnTo>
                    <a:pt x="35558" y="0"/>
                  </a:lnTo>
                  <a:close/>
                </a:path>
              </a:pathLst>
            </a:custGeom>
            <a:solidFill>
              <a:srgbClr val="8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024656" y="2643830"/>
              <a:ext cx="35560" cy="648335"/>
            </a:xfrm>
            <a:custGeom>
              <a:avLst/>
              <a:gdLst/>
              <a:ahLst/>
              <a:cxnLst/>
              <a:rect l="l" t="t" r="r" b="b"/>
              <a:pathLst>
                <a:path w="35559" h="648335">
                  <a:moveTo>
                    <a:pt x="0" y="647889"/>
                  </a:moveTo>
                  <a:lnTo>
                    <a:pt x="0" y="26844"/>
                  </a:lnTo>
                  <a:lnTo>
                    <a:pt x="35440" y="0"/>
                  </a:lnTo>
                  <a:lnTo>
                    <a:pt x="35440" y="630099"/>
                  </a:lnTo>
                  <a:lnTo>
                    <a:pt x="0" y="647889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931404" y="2666259"/>
              <a:ext cx="88900" cy="621665"/>
            </a:xfrm>
            <a:custGeom>
              <a:avLst/>
              <a:gdLst/>
              <a:ahLst/>
              <a:cxnLst/>
              <a:rect l="l" t="t" r="r" b="b"/>
              <a:pathLst>
                <a:path w="88900" h="621664">
                  <a:moveTo>
                    <a:pt x="88661" y="0"/>
                  </a:moveTo>
                  <a:lnTo>
                    <a:pt x="0" y="0"/>
                  </a:lnTo>
                  <a:lnTo>
                    <a:pt x="0" y="621080"/>
                  </a:lnTo>
                  <a:lnTo>
                    <a:pt x="88661" y="621080"/>
                  </a:lnTo>
                  <a:lnTo>
                    <a:pt x="88661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935996" y="2670674"/>
              <a:ext cx="88900" cy="621665"/>
            </a:xfrm>
            <a:custGeom>
              <a:avLst/>
              <a:gdLst/>
              <a:ahLst/>
              <a:cxnLst/>
              <a:rect l="l" t="t" r="r" b="b"/>
              <a:pathLst>
                <a:path w="88900" h="621664">
                  <a:moveTo>
                    <a:pt x="0" y="621045"/>
                  </a:moveTo>
                  <a:lnTo>
                    <a:pt x="0" y="0"/>
                  </a:lnTo>
                  <a:lnTo>
                    <a:pt x="88660" y="0"/>
                  </a:lnTo>
                  <a:lnTo>
                    <a:pt x="88660" y="621045"/>
                  </a:lnTo>
                  <a:lnTo>
                    <a:pt x="0" y="621045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931404" y="2639473"/>
              <a:ext cx="124460" cy="27305"/>
            </a:xfrm>
            <a:custGeom>
              <a:avLst/>
              <a:gdLst/>
              <a:ahLst/>
              <a:cxnLst/>
              <a:rect l="l" t="t" r="r" b="b"/>
              <a:pathLst>
                <a:path w="124459" h="27305">
                  <a:moveTo>
                    <a:pt x="124218" y="0"/>
                  </a:moveTo>
                  <a:lnTo>
                    <a:pt x="26845" y="0"/>
                  </a:lnTo>
                  <a:lnTo>
                    <a:pt x="0" y="26844"/>
                  </a:lnTo>
                  <a:lnTo>
                    <a:pt x="88660" y="26844"/>
                  </a:lnTo>
                  <a:lnTo>
                    <a:pt x="124218" y="0"/>
                  </a:lnTo>
                  <a:close/>
                </a:path>
              </a:pathLst>
            </a:custGeom>
            <a:solidFill>
              <a:srgbClr val="BE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935996" y="2643830"/>
              <a:ext cx="124460" cy="27305"/>
            </a:xfrm>
            <a:custGeom>
              <a:avLst/>
              <a:gdLst/>
              <a:ahLst/>
              <a:cxnLst/>
              <a:rect l="l" t="t" r="r" b="b"/>
              <a:pathLst>
                <a:path w="124459" h="27305">
                  <a:moveTo>
                    <a:pt x="88660" y="26844"/>
                  </a:moveTo>
                  <a:lnTo>
                    <a:pt x="124100" y="0"/>
                  </a:lnTo>
                  <a:lnTo>
                    <a:pt x="26727" y="0"/>
                  </a:lnTo>
                  <a:lnTo>
                    <a:pt x="0" y="26844"/>
                  </a:lnTo>
                  <a:lnTo>
                    <a:pt x="88660" y="26844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401549" y="1175164"/>
              <a:ext cx="35560" cy="2112645"/>
            </a:xfrm>
            <a:custGeom>
              <a:avLst/>
              <a:gdLst/>
              <a:ahLst/>
              <a:cxnLst/>
              <a:rect l="l" t="t" r="r" b="b"/>
              <a:pathLst>
                <a:path w="35559" h="2112645">
                  <a:moveTo>
                    <a:pt x="35440" y="0"/>
                  </a:moveTo>
                  <a:lnTo>
                    <a:pt x="0" y="17778"/>
                  </a:lnTo>
                  <a:lnTo>
                    <a:pt x="0" y="2112174"/>
                  </a:lnTo>
                  <a:lnTo>
                    <a:pt x="35440" y="2094384"/>
                  </a:lnTo>
                  <a:lnTo>
                    <a:pt x="35440" y="0"/>
                  </a:lnTo>
                  <a:close/>
                </a:path>
              </a:pathLst>
            </a:custGeom>
            <a:solidFill>
              <a:srgbClr val="8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406024" y="1179521"/>
              <a:ext cx="35560" cy="2112645"/>
            </a:xfrm>
            <a:custGeom>
              <a:avLst/>
              <a:gdLst/>
              <a:ahLst/>
              <a:cxnLst/>
              <a:rect l="l" t="t" r="r" b="b"/>
              <a:pathLst>
                <a:path w="35559" h="2112645">
                  <a:moveTo>
                    <a:pt x="0" y="2112198"/>
                  </a:moveTo>
                  <a:lnTo>
                    <a:pt x="0" y="17778"/>
                  </a:lnTo>
                  <a:lnTo>
                    <a:pt x="35440" y="0"/>
                  </a:lnTo>
                  <a:lnTo>
                    <a:pt x="35440" y="2094408"/>
                  </a:lnTo>
                  <a:lnTo>
                    <a:pt x="0" y="2112198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321838" y="1192896"/>
              <a:ext cx="80010" cy="2094864"/>
            </a:xfrm>
            <a:custGeom>
              <a:avLst/>
              <a:gdLst/>
              <a:ahLst/>
              <a:cxnLst/>
              <a:rect l="l" t="t" r="r" b="b"/>
              <a:pathLst>
                <a:path w="80009" h="2094864">
                  <a:moveTo>
                    <a:pt x="79650" y="0"/>
                  </a:moveTo>
                  <a:lnTo>
                    <a:pt x="0" y="0"/>
                  </a:lnTo>
                  <a:lnTo>
                    <a:pt x="0" y="2094443"/>
                  </a:lnTo>
                  <a:lnTo>
                    <a:pt x="79650" y="2094443"/>
                  </a:lnTo>
                  <a:lnTo>
                    <a:pt x="7965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326312" y="1197299"/>
              <a:ext cx="80010" cy="2094864"/>
            </a:xfrm>
            <a:custGeom>
              <a:avLst/>
              <a:gdLst/>
              <a:ahLst/>
              <a:cxnLst/>
              <a:rect l="l" t="t" r="r" b="b"/>
              <a:pathLst>
                <a:path w="80009" h="2094864">
                  <a:moveTo>
                    <a:pt x="0" y="2094420"/>
                  </a:moveTo>
                  <a:lnTo>
                    <a:pt x="0" y="0"/>
                  </a:lnTo>
                  <a:lnTo>
                    <a:pt x="79711" y="0"/>
                  </a:lnTo>
                  <a:lnTo>
                    <a:pt x="79712" y="2094420"/>
                  </a:lnTo>
                  <a:lnTo>
                    <a:pt x="0" y="209442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21838" y="1175164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115152" y="0"/>
                  </a:moveTo>
                  <a:lnTo>
                    <a:pt x="26492" y="0"/>
                  </a:lnTo>
                  <a:lnTo>
                    <a:pt x="0" y="17778"/>
                  </a:lnTo>
                  <a:lnTo>
                    <a:pt x="79711" y="17778"/>
                  </a:lnTo>
                  <a:lnTo>
                    <a:pt x="115152" y="0"/>
                  </a:lnTo>
                  <a:close/>
                </a:path>
              </a:pathLst>
            </a:custGeom>
            <a:solidFill>
              <a:srgbClr val="BE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26312" y="1179521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79711" y="17778"/>
                  </a:moveTo>
                  <a:lnTo>
                    <a:pt x="115152" y="0"/>
                  </a:lnTo>
                  <a:lnTo>
                    <a:pt x="26492" y="0"/>
                  </a:lnTo>
                  <a:lnTo>
                    <a:pt x="0" y="17778"/>
                  </a:lnTo>
                  <a:lnTo>
                    <a:pt x="79711" y="17778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685404" y="1197299"/>
              <a:ext cx="26670" cy="2094864"/>
            </a:xfrm>
            <a:custGeom>
              <a:avLst/>
              <a:gdLst/>
              <a:ahLst/>
              <a:cxnLst/>
              <a:rect l="l" t="t" r="r" b="b"/>
              <a:pathLst>
                <a:path w="26670" h="2094864">
                  <a:moveTo>
                    <a:pt x="26445" y="2094420"/>
                  </a:moveTo>
                  <a:lnTo>
                    <a:pt x="26444" y="8948"/>
                  </a:lnTo>
                </a:path>
                <a:path w="26670" h="2094864">
                  <a:moveTo>
                    <a:pt x="26445" y="2094420"/>
                  </a:moveTo>
                  <a:lnTo>
                    <a:pt x="0" y="2094420"/>
                  </a:lnTo>
                </a:path>
                <a:path w="26670" h="2094864">
                  <a:moveTo>
                    <a:pt x="26445" y="1748293"/>
                  </a:moveTo>
                  <a:lnTo>
                    <a:pt x="0" y="1748293"/>
                  </a:lnTo>
                </a:path>
                <a:path w="26670" h="2094864">
                  <a:moveTo>
                    <a:pt x="26445" y="1402143"/>
                  </a:moveTo>
                  <a:lnTo>
                    <a:pt x="0" y="1402143"/>
                  </a:lnTo>
                </a:path>
                <a:path w="26670" h="2094864">
                  <a:moveTo>
                    <a:pt x="26445" y="1056111"/>
                  </a:moveTo>
                  <a:lnTo>
                    <a:pt x="0" y="1056111"/>
                  </a:lnTo>
                </a:path>
                <a:path w="26670" h="2094864">
                  <a:moveTo>
                    <a:pt x="26445" y="701248"/>
                  </a:moveTo>
                  <a:lnTo>
                    <a:pt x="0" y="701248"/>
                  </a:lnTo>
                </a:path>
                <a:path w="26670" h="2094864">
                  <a:moveTo>
                    <a:pt x="26445" y="346032"/>
                  </a:moveTo>
                  <a:lnTo>
                    <a:pt x="0" y="346032"/>
                  </a:lnTo>
                </a:path>
                <a:path w="26670" h="2094864">
                  <a:moveTo>
                    <a:pt x="26444" y="0"/>
                  </a:moveTo>
                  <a:lnTo>
                    <a:pt x="0" y="0"/>
                  </a:lnTo>
                </a:path>
              </a:pathLst>
            </a:custGeom>
            <a:ln w="90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419651" y="949158"/>
            <a:ext cx="241935" cy="246570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00" b="1" spc="-20" dirty="0">
                <a:latin typeface="Times New Roman"/>
                <a:cs typeface="Times New Roman"/>
              </a:rPr>
              <a:t>60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700" b="1" spc="-20" dirty="0">
                <a:latin typeface="Times New Roman"/>
                <a:cs typeface="Times New Roman"/>
              </a:rPr>
              <a:t>50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700" b="1" spc="-20" dirty="0">
                <a:latin typeface="Times New Roman"/>
                <a:cs typeface="Times New Roman"/>
              </a:rPr>
              <a:t>40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700" b="1" spc="-20" dirty="0">
                <a:latin typeface="Times New Roman"/>
                <a:cs typeface="Times New Roman"/>
              </a:rPr>
              <a:t>30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700" b="1" spc="-20" dirty="0">
                <a:latin typeface="Times New Roman"/>
                <a:cs typeface="Times New Roman"/>
              </a:rPr>
              <a:t>20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700" b="1" spc="-20" dirty="0">
                <a:latin typeface="Times New Roman"/>
                <a:cs typeface="Times New Roman"/>
              </a:rPr>
              <a:t>10</a:t>
            </a:r>
            <a:endParaRPr sz="170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  <a:spcBef>
                <a:spcPts val="750"/>
              </a:spcBef>
            </a:pPr>
            <a:r>
              <a:rPr sz="1700" b="1" spc="1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711849" y="3291719"/>
            <a:ext cx="1934210" cy="26670"/>
          </a:xfrm>
          <a:custGeom>
            <a:avLst/>
            <a:gdLst/>
            <a:ahLst/>
            <a:cxnLst/>
            <a:rect l="l" t="t" r="r" b="b"/>
            <a:pathLst>
              <a:path w="1934209" h="26670">
                <a:moveTo>
                  <a:pt x="0" y="0"/>
                </a:moveTo>
                <a:lnTo>
                  <a:pt x="1924715" y="0"/>
                </a:lnTo>
              </a:path>
              <a:path w="1934209" h="26670">
                <a:moveTo>
                  <a:pt x="0" y="0"/>
                </a:moveTo>
                <a:lnTo>
                  <a:pt x="0" y="26538"/>
                </a:lnTo>
              </a:path>
              <a:path w="1934209" h="26670">
                <a:moveTo>
                  <a:pt x="390399" y="0"/>
                </a:moveTo>
                <a:lnTo>
                  <a:pt x="390399" y="26538"/>
                </a:lnTo>
              </a:path>
              <a:path w="1934209" h="26670">
                <a:moveTo>
                  <a:pt x="780492" y="0"/>
                </a:moveTo>
                <a:lnTo>
                  <a:pt x="780492" y="26538"/>
                </a:lnTo>
              </a:path>
              <a:path w="1934209" h="26670">
                <a:moveTo>
                  <a:pt x="1161860" y="0"/>
                </a:moveTo>
                <a:lnTo>
                  <a:pt x="1161860" y="26538"/>
                </a:lnTo>
              </a:path>
              <a:path w="1934209" h="26670">
                <a:moveTo>
                  <a:pt x="1552295" y="0"/>
                </a:moveTo>
                <a:lnTo>
                  <a:pt x="1552295" y="26538"/>
                </a:lnTo>
              </a:path>
              <a:path w="1934209" h="26670">
                <a:moveTo>
                  <a:pt x="1933663" y="0"/>
                </a:moveTo>
                <a:lnTo>
                  <a:pt x="1933663" y="26538"/>
                </a:lnTo>
              </a:path>
            </a:pathLst>
          </a:custGeom>
          <a:ln w="90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6765614" y="3302449"/>
            <a:ext cx="1811655" cy="90296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635">
              <a:lnSpc>
                <a:spcPts val="1980"/>
              </a:lnSpc>
            </a:pPr>
            <a:r>
              <a:rPr sz="1700" b="1" spc="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15" dirty="0">
                <a:latin typeface="Times New Roman"/>
                <a:cs typeface="Times New Roman"/>
              </a:rPr>
              <a:t>q</a:t>
            </a:r>
            <a:r>
              <a:rPr sz="1700" b="1" dirty="0">
                <a:latin typeface="Times New Roman"/>
                <a:cs typeface="Times New Roman"/>
              </a:rPr>
              <a:t>.</a:t>
            </a:r>
            <a:r>
              <a:rPr sz="1700" b="1" spc="-90" dirty="0">
                <a:latin typeface="Times New Roman"/>
                <a:cs typeface="Times New Roman"/>
              </a:rPr>
              <a:t> </a:t>
            </a:r>
            <a:r>
              <a:rPr sz="1700" b="1" spc="15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endParaRPr sz="1700">
              <a:latin typeface="Times New Roman"/>
              <a:cs typeface="Times New Roman"/>
            </a:endParaRPr>
          </a:p>
          <a:p>
            <a:pPr marL="189865" marR="28575" indent="53340" algn="r">
              <a:lnSpc>
                <a:spcPts val="3070"/>
              </a:lnSpc>
              <a:spcBef>
                <a:spcPts val="204"/>
              </a:spcBef>
            </a:pPr>
            <a:r>
              <a:rPr sz="1700" b="1" spc="5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-40" dirty="0">
                <a:latin typeface="Times New Roman"/>
                <a:cs typeface="Times New Roman"/>
              </a:rPr>
              <a:t>s</a:t>
            </a:r>
            <a:r>
              <a:rPr sz="1700" b="1" spc="5" dirty="0">
                <a:latin typeface="Times New Roman"/>
                <a:cs typeface="Times New Roman"/>
              </a:rPr>
              <a:t>i</a:t>
            </a:r>
            <a:r>
              <a:rPr sz="1700" b="1" spc="-95" dirty="0">
                <a:latin typeface="Times New Roman"/>
                <a:cs typeface="Times New Roman"/>
              </a:rPr>
              <a:t>g</a:t>
            </a:r>
            <a:r>
              <a:rPr sz="1700" b="1" dirty="0">
                <a:latin typeface="Times New Roman"/>
                <a:cs typeface="Times New Roman"/>
              </a:rPr>
              <a:t>n  </a:t>
            </a:r>
            <a:r>
              <a:rPr sz="1700" b="1" spc="5" dirty="0">
                <a:latin typeface="Times New Roman"/>
                <a:cs typeface="Times New Roman"/>
              </a:rPr>
              <a:t>C</a:t>
            </a:r>
            <a:r>
              <a:rPr sz="1700" b="1" spc="-30" dirty="0">
                <a:latin typeface="Times New Roman"/>
                <a:cs typeface="Times New Roman"/>
              </a:rPr>
              <a:t>o</a:t>
            </a:r>
            <a:r>
              <a:rPr sz="1700" b="1" spc="15" dirty="0">
                <a:latin typeface="Times New Roman"/>
                <a:cs typeface="Times New Roman"/>
              </a:rPr>
              <a:t>d</a:t>
            </a:r>
            <a:r>
              <a:rPr sz="1700" b="1" spc="-65" dirty="0">
                <a:latin typeface="Times New Roman"/>
                <a:cs typeface="Times New Roman"/>
              </a:rPr>
              <a:t>i</a:t>
            </a:r>
            <a:r>
              <a:rPr sz="1700" b="1" spc="15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g</a:t>
            </a:r>
            <a:endParaRPr sz="1700">
              <a:latin typeface="Times New Roman"/>
              <a:cs typeface="Times New Roman"/>
            </a:endParaRPr>
          </a:p>
          <a:p>
            <a:pPr marL="12700" marR="5080" indent="452120" algn="r">
              <a:lnSpc>
                <a:spcPts val="3000"/>
              </a:lnSpc>
            </a:pPr>
            <a:r>
              <a:rPr sz="1700" b="1" spc="-10" dirty="0">
                <a:latin typeface="Times New Roman"/>
                <a:cs typeface="Times New Roman"/>
              </a:rPr>
              <a:t>Test </a:t>
            </a:r>
            <a:r>
              <a:rPr sz="1700" b="1" spc="-409" dirty="0">
                <a:latin typeface="Times New Roman"/>
                <a:cs typeface="Times New Roman"/>
              </a:rPr>
              <a:t> </a:t>
            </a:r>
            <a:r>
              <a:rPr sz="1700" b="1" spc="-25" dirty="0">
                <a:latin typeface="Times New Roman"/>
                <a:cs typeface="Times New Roman"/>
              </a:rPr>
              <a:t>M</a:t>
            </a:r>
            <a:r>
              <a:rPr sz="1700" b="1" spc="-30" dirty="0">
                <a:latin typeface="Times New Roman"/>
                <a:cs typeface="Times New Roman"/>
              </a:rPr>
              <a:t>a</a:t>
            </a:r>
            <a:r>
              <a:rPr sz="1700" b="1" spc="5" dirty="0">
                <a:latin typeface="Times New Roman"/>
                <a:cs typeface="Times New Roman"/>
              </a:rPr>
              <a:t>i</a:t>
            </a:r>
            <a:r>
              <a:rPr sz="1700" b="1" spc="-50" dirty="0">
                <a:latin typeface="Times New Roman"/>
                <a:cs typeface="Times New Roman"/>
              </a:rPr>
              <a:t>n</a:t>
            </a:r>
            <a:r>
              <a:rPr sz="1700" b="1" spc="-20" dirty="0">
                <a:latin typeface="Times New Roman"/>
                <a:cs typeface="Times New Roman"/>
              </a:rPr>
              <a:t>t</a:t>
            </a:r>
            <a:r>
              <a:rPr sz="1700" b="1" spc="15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ce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140147" y="1804379"/>
            <a:ext cx="265430" cy="1297940"/>
          </a:xfrm>
          <a:prstGeom prst="rect">
            <a:avLst/>
          </a:prstGeom>
        </p:spPr>
        <p:txBody>
          <a:bodyPr vert="vert270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350" b="1" dirty="0">
                <a:latin typeface="Comic Sans MS"/>
                <a:cs typeface="Comic Sans MS"/>
              </a:rPr>
              <a:t>Relative</a:t>
            </a:r>
            <a:r>
              <a:rPr sz="1350" b="1" spc="-45" dirty="0">
                <a:latin typeface="Comic Sans MS"/>
                <a:cs typeface="Comic Sans MS"/>
              </a:rPr>
              <a:t> </a:t>
            </a:r>
            <a:r>
              <a:rPr sz="1350" b="1" spc="-5" dirty="0">
                <a:latin typeface="Comic Sans MS"/>
                <a:cs typeface="Comic Sans MS"/>
              </a:rPr>
              <a:t>Effort</a:t>
            </a:r>
            <a:endParaRPr sz="1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2600" y="2417064"/>
            <a:ext cx="2804160" cy="7289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8425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775"/>
              </a:spcBef>
            </a:pPr>
            <a:r>
              <a:rPr sz="3000" b="1" spc="-5" dirty="0">
                <a:solidFill>
                  <a:srgbClr val="0033CC"/>
                </a:solidFill>
                <a:latin typeface="Calibri"/>
                <a:cs typeface="Calibri"/>
              </a:rPr>
              <a:t>Process</a:t>
            </a:r>
            <a:r>
              <a:rPr sz="3000" b="1" spc="-4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33CC"/>
                </a:solidFill>
                <a:latin typeface="Calibri"/>
                <a:cs typeface="Calibri"/>
              </a:rPr>
              <a:t>Model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111" y="213063"/>
            <a:ext cx="8329295" cy="2028189"/>
          </a:xfrm>
          <a:prstGeom prst="rect">
            <a:avLst/>
          </a:prstGeom>
        </p:spPr>
        <p:txBody>
          <a:bodyPr vert="horz" wrap="square" lIns="0" tIns="20701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630"/>
              </a:spcBef>
              <a:buFont typeface="Arial MT"/>
              <a:buChar char="•"/>
              <a:tabLst>
                <a:tab pos="245745" algn="l"/>
                <a:tab pos="246379" algn="l"/>
              </a:tabLst>
            </a:pPr>
            <a:r>
              <a:rPr sz="2300" spc="-5" dirty="0">
                <a:latin typeface="Calibri"/>
                <a:cs typeface="Calibri"/>
              </a:rPr>
              <a:t>Most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organizations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usually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define:</a:t>
            </a:r>
            <a:endParaRPr sz="2300">
              <a:latin typeface="Calibri"/>
              <a:cs typeface="Calibri"/>
            </a:endParaRPr>
          </a:p>
          <a:p>
            <a:pPr marL="516890" lvl="1" indent="-194310">
              <a:lnSpc>
                <a:spcPct val="100000"/>
              </a:lnSpc>
              <a:spcBef>
                <a:spcPts val="1335"/>
              </a:spcBef>
              <a:buFont typeface="Arial MT"/>
              <a:buChar char="–"/>
              <a:tabLst>
                <a:tab pos="517525" algn="l"/>
              </a:tabLst>
            </a:pPr>
            <a:r>
              <a:rPr sz="2000" spc="-5" dirty="0">
                <a:latin typeface="Calibri"/>
                <a:cs typeface="Calibri"/>
              </a:rPr>
              <a:t>Standards on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outputs </a:t>
            </a:r>
            <a:r>
              <a:rPr sz="2000" spc="-10" dirty="0">
                <a:latin typeface="Calibri"/>
                <a:cs typeface="Calibri"/>
              </a:rPr>
              <a:t>(deliverables)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produced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every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phase</a:t>
            </a:r>
            <a:endParaRPr sz="2000">
              <a:latin typeface="Calibri"/>
              <a:cs typeface="Calibri"/>
            </a:endParaRPr>
          </a:p>
          <a:p>
            <a:pPr marL="516890" lvl="1" indent="-194310">
              <a:lnSpc>
                <a:spcPct val="100000"/>
              </a:lnSpc>
              <a:spcBef>
                <a:spcPts val="1275"/>
              </a:spcBef>
              <a:buFont typeface="Arial MT"/>
              <a:buChar char="–"/>
              <a:tabLst>
                <a:tab pos="517525" algn="l"/>
              </a:tabLst>
            </a:pPr>
            <a:r>
              <a:rPr sz="2000" spc="-5" dirty="0">
                <a:latin typeface="Calibri"/>
                <a:cs typeface="Calibri"/>
              </a:rPr>
              <a:t>Entry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exit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criteria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every</a:t>
            </a:r>
            <a:r>
              <a:rPr sz="2000" dirty="0">
                <a:latin typeface="Calibri"/>
                <a:cs typeface="Calibri"/>
              </a:rPr>
              <a:t> phase.</a:t>
            </a:r>
            <a:endParaRPr sz="200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245745" algn="l"/>
                <a:tab pos="246379" algn="l"/>
                <a:tab pos="2668905" algn="l"/>
              </a:tabLst>
            </a:pPr>
            <a:r>
              <a:rPr sz="2300" dirty="0">
                <a:latin typeface="Calibri"/>
                <a:cs typeface="Calibri"/>
              </a:rPr>
              <a:t>They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also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prescribe	</a:t>
            </a:r>
            <a:r>
              <a:rPr sz="2300" dirty="0">
                <a:latin typeface="Calibri"/>
                <a:cs typeface="Calibri"/>
              </a:rPr>
              <a:t>methodologies</a:t>
            </a:r>
            <a:r>
              <a:rPr sz="2300" spc="-15" dirty="0">
                <a:latin typeface="Calibri"/>
                <a:cs typeface="Calibri"/>
              </a:rPr>
              <a:t> for: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007" y="2224114"/>
            <a:ext cx="2879090" cy="189420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206375" indent="-194310">
              <a:lnSpc>
                <a:spcPct val="100000"/>
              </a:lnSpc>
              <a:spcBef>
                <a:spcPts val="1365"/>
              </a:spcBef>
              <a:buFont typeface="Arial MT"/>
              <a:buChar char="–"/>
              <a:tabLst>
                <a:tab pos="207010" algn="l"/>
              </a:tabLst>
            </a:pP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Specification,</a:t>
            </a:r>
            <a:endParaRPr sz="2000">
              <a:latin typeface="Calibri"/>
              <a:cs typeface="Calibri"/>
            </a:endParaRPr>
          </a:p>
          <a:p>
            <a:pPr marL="206375" indent="-194310">
              <a:lnSpc>
                <a:spcPct val="100000"/>
              </a:lnSpc>
              <a:spcBef>
                <a:spcPts val="1275"/>
              </a:spcBef>
              <a:buFont typeface="Arial MT"/>
              <a:buChar char="–"/>
              <a:tabLst>
                <a:tab pos="207010" algn="l"/>
              </a:tabLst>
            </a:pP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Design,</a:t>
            </a:r>
            <a:endParaRPr sz="2000">
              <a:latin typeface="Calibri"/>
              <a:cs typeface="Calibri"/>
            </a:endParaRPr>
          </a:p>
          <a:p>
            <a:pPr marL="206375" indent="-194310">
              <a:lnSpc>
                <a:spcPct val="100000"/>
              </a:lnSpc>
              <a:spcBef>
                <a:spcPts val="1285"/>
              </a:spcBef>
              <a:buFont typeface="Arial MT"/>
              <a:buChar char="–"/>
              <a:tabLst>
                <a:tab pos="207010" algn="l"/>
              </a:tabLst>
            </a:pP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Testing,</a:t>
            </a:r>
            <a:endParaRPr sz="2000">
              <a:latin typeface="Calibri"/>
              <a:cs typeface="Calibri"/>
            </a:endParaRPr>
          </a:p>
          <a:p>
            <a:pPr marL="206375" indent="-194310">
              <a:lnSpc>
                <a:spcPct val="100000"/>
              </a:lnSpc>
              <a:spcBef>
                <a:spcPts val="1285"/>
              </a:spcBef>
              <a:buFont typeface="Arial MT"/>
              <a:buChar char="–"/>
              <a:tabLst>
                <a:tab pos="207010" algn="l"/>
              </a:tabLst>
            </a:pP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Project</a:t>
            </a:r>
            <a:r>
              <a:rPr sz="2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management,</a:t>
            </a:r>
            <a:r>
              <a:rPr sz="2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5304" y="231089"/>
            <a:ext cx="45789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33CC"/>
                </a:solidFill>
              </a:rPr>
              <a:t>Classical</a:t>
            </a:r>
            <a:r>
              <a:rPr sz="3000" spc="-15" dirty="0">
                <a:solidFill>
                  <a:srgbClr val="0033CC"/>
                </a:solidFill>
              </a:rPr>
              <a:t> </a:t>
            </a:r>
            <a:r>
              <a:rPr sz="3000" spc="-30" dirty="0">
                <a:solidFill>
                  <a:srgbClr val="0033CC"/>
                </a:solidFill>
              </a:rPr>
              <a:t>Waterfall</a:t>
            </a:r>
            <a:r>
              <a:rPr sz="3000" spc="-25" dirty="0">
                <a:solidFill>
                  <a:srgbClr val="0033CC"/>
                </a:solidFill>
              </a:rPr>
              <a:t> </a:t>
            </a:r>
            <a:r>
              <a:rPr sz="3000" spc="-5" dirty="0">
                <a:solidFill>
                  <a:srgbClr val="0033CC"/>
                </a:solidFill>
              </a:rPr>
              <a:t>Model</a:t>
            </a:r>
            <a:r>
              <a:rPr sz="3000" dirty="0">
                <a:solidFill>
                  <a:srgbClr val="0033CC"/>
                </a:solidFill>
              </a:rPr>
              <a:t> </a:t>
            </a:r>
            <a:r>
              <a:rPr sz="1200" spc="-10" dirty="0">
                <a:solidFill>
                  <a:srgbClr val="0033CC"/>
                </a:solidFill>
              </a:rPr>
              <a:t>(CONT.)</a:t>
            </a:r>
            <a:endParaRPr sz="1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3547" y="1484375"/>
            <a:ext cx="5083302" cy="6941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361" y="635355"/>
            <a:ext cx="8703310" cy="3119755"/>
          </a:xfrm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964"/>
              </a:spcBef>
              <a:buFont typeface="Arial MT"/>
              <a:buChar char="•"/>
              <a:tabLst>
                <a:tab pos="246379" algn="l"/>
                <a:tab pos="5206365" algn="l"/>
              </a:tabLst>
            </a:pP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guidelines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and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methodologies	of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an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organization: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875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Called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organization's </a:t>
            </a:r>
            <a:r>
              <a:rPr sz="2450" spc="-15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45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development</a:t>
            </a:r>
            <a:r>
              <a:rPr sz="2450" spc="-20" dirty="0">
                <a:solidFill>
                  <a:srgbClr val="0000FF"/>
                </a:solidFill>
                <a:latin typeface="Calibri"/>
                <a:cs typeface="Calibri"/>
              </a:rPr>
              <a:t> methodology.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1870"/>
              </a:spcBef>
              <a:buFont typeface="Arial MT"/>
              <a:buChar char="•"/>
              <a:tabLst>
                <a:tab pos="246379" algn="l"/>
              </a:tabLst>
            </a:pPr>
            <a:r>
              <a:rPr sz="2700" spc="-5" dirty="0">
                <a:latin typeface="Calibri"/>
                <a:cs typeface="Calibri"/>
              </a:rPr>
              <a:t>Software</a:t>
            </a:r>
            <a:r>
              <a:rPr sz="2700" dirty="0">
                <a:latin typeface="Calibri"/>
                <a:cs typeface="Calibri"/>
              </a:rPr>
              <a:t> development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organizations:</a:t>
            </a:r>
            <a:endParaRPr sz="2700">
              <a:latin typeface="Calibri"/>
              <a:cs typeface="Calibri"/>
            </a:endParaRPr>
          </a:p>
          <a:p>
            <a:pPr marL="516890" marR="873125" indent="-194310">
              <a:lnSpc>
                <a:spcPct val="120800"/>
              </a:lnSpc>
              <a:spcBef>
                <a:spcPts val="1200"/>
              </a:spcBef>
              <a:tabLst>
                <a:tab pos="3899535" algn="l"/>
              </a:tabLst>
            </a:pPr>
            <a:r>
              <a:rPr sz="2450" dirty="0">
                <a:latin typeface="Arial MT"/>
                <a:cs typeface="Arial MT"/>
              </a:rPr>
              <a:t>–</a:t>
            </a:r>
            <a:r>
              <a:rPr sz="2450" spc="40" dirty="0">
                <a:latin typeface="Arial MT"/>
                <a:cs typeface="Arial MT"/>
              </a:rPr>
              <a:t> </a:t>
            </a:r>
            <a:r>
              <a:rPr sz="2700" spc="5" dirty="0">
                <a:latin typeface="Calibri"/>
                <a:cs typeface="Calibri"/>
              </a:rPr>
              <a:t>Expect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fresh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engineers	</a:t>
            </a:r>
            <a:r>
              <a:rPr sz="2700" spc="-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master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organization's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software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development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methodology.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116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37268" y="1981136"/>
            <a:ext cx="3043555" cy="1854835"/>
            <a:chOff x="3037268" y="1981136"/>
            <a:chExt cx="3043555" cy="1854835"/>
          </a:xfrm>
        </p:grpSpPr>
        <p:sp>
          <p:nvSpPr>
            <p:cNvPr id="3" name="object 3"/>
            <p:cNvSpPr/>
            <p:nvPr/>
          </p:nvSpPr>
          <p:spPr>
            <a:xfrm>
              <a:off x="3050285" y="1994153"/>
              <a:ext cx="3017520" cy="1828800"/>
            </a:xfrm>
            <a:custGeom>
              <a:avLst/>
              <a:gdLst/>
              <a:ahLst/>
              <a:cxnLst/>
              <a:rect l="l" t="t" r="r" b="b"/>
              <a:pathLst>
                <a:path w="3017520" h="1828800">
                  <a:moveTo>
                    <a:pt x="1508760" y="0"/>
                  </a:moveTo>
                  <a:lnTo>
                    <a:pt x="0" y="1828800"/>
                  </a:lnTo>
                  <a:lnTo>
                    <a:pt x="3017519" y="1828800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50285" y="1994153"/>
              <a:ext cx="3017520" cy="1828800"/>
            </a:xfrm>
            <a:custGeom>
              <a:avLst/>
              <a:gdLst/>
              <a:ahLst/>
              <a:cxnLst/>
              <a:rect l="l" t="t" r="r" b="b"/>
              <a:pathLst>
                <a:path w="3017520" h="1828800">
                  <a:moveTo>
                    <a:pt x="0" y="1828800"/>
                  </a:moveTo>
                  <a:lnTo>
                    <a:pt x="1508760" y="0"/>
                  </a:lnTo>
                  <a:lnTo>
                    <a:pt x="3017519" y="1828800"/>
                  </a:lnTo>
                  <a:lnTo>
                    <a:pt x="0" y="18288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889628" y="2985008"/>
            <a:ext cx="13417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3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00"/>
                </a:solidFill>
                <a:latin typeface="Comic Sans MS"/>
                <a:cs typeface="Comic Sans MS"/>
              </a:rPr>
              <a:t>Feasibility </a:t>
            </a:r>
            <a:r>
              <a:rPr sz="2000" b="1" spc="-855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2000" b="1" spc="5" dirty="0">
                <a:solidFill>
                  <a:srgbClr val="FFFF00"/>
                </a:solidFill>
                <a:latin typeface="Comic Sans MS"/>
                <a:cs typeface="Comic Sans MS"/>
              </a:rPr>
              <a:t>D</a:t>
            </a:r>
            <a:r>
              <a:rPr sz="2000" b="1" spc="-5" dirty="0">
                <a:solidFill>
                  <a:srgbClr val="FFFF00"/>
                </a:solidFill>
                <a:latin typeface="Comic Sans MS"/>
                <a:cs typeface="Comic Sans MS"/>
              </a:rPr>
              <a:t>i</a:t>
            </a:r>
            <a:r>
              <a:rPr sz="2000" b="1" spc="5" dirty="0">
                <a:solidFill>
                  <a:srgbClr val="FFFF00"/>
                </a:solidFill>
                <a:latin typeface="Comic Sans MS"/>
                <a:cs typeface="Comic Sans MS"/>
              </a:rPr>
              <a:t>m</a:t>
            </a:r>
            <a:r>
              <a:rPr sz="2000" b="1" spc="-5" dirty="0">
                <a:solidFill>
                  <a:srgbClr val="FFFF00"/>
                </a:solidFill>
                <a:latin typeface="Comic Sans MS"/>
                <a:cs typeface="Comic Sans MS"/>
              </a:rPr>
              <a:t>ensions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2561" y="249758"/>
            <a:ext cx="26041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Feasibility</a:t>
            </a:r>
            <a:r>
              <a:rPr sz="3000" spc="-50" dirty="0"/>
              <a:t> </a:t>
            </a:r>
            <a:r>
              <a:rPr sz="3000" spc="-5" dirty="0"/>
              <a:t>Study</a:t>
            </a:r>
            <a:endParaRPr sz="30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1011" y="2705112"/>
            <a:ext cx="1666493" cy="14836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106414" y="3122498"/>
            <a:ext cx="11322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00"/>
                </a:solidFill>
                <a:latin typeface="Comic Sans MS"/>
                <a:cs typeface="Comic Sans MS"/>
              </a:rPr>
              <a:t>Schedule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FFFF00"/>
                </a:solidFill>
                <a:latin typeface="Comic Sans MS"/>
                <a:cs typeface="Comic Sans MS"/>
              </a:rPr>
              <a:t>feasibility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3436" y="2705112"/>
            <a:ext cx="1684782" cy="14836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88617" y="3122498"/>
            <a:ext cx="11322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00"/>
                </a:solidFill>
                <a:latin typeface="Comic Sans MS"/>
                <a:cs typeface="Comic Sans MS"/>
              </a:rPr>
              <a:t>Technical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FFFF00"/>
                </a:solidFill>
                <a:latin typeface="Comic Sans MS"/>
                <a:cs typeface="Comic Sans MS"/>
              </a:rPr>
              <a:t>feasibility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0084" y="397763"/>
            <a:ext cx="1620774" cy="165125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11548" y="642315"/>
            <a:ext cx="109410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52400" algn="just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Economic </a:t>
            </a:r>
            <a:r>
              <a:rPr sz="1400" b="1" dirty="0">
                <a:solidFill>
                  <a:srgbClr val="FFFF00"/>
                </a:solidFill>
                <a:latin typeface="Comic Sans MS"/>
                <a:cs typeface="Comic Sans MS"/>
              </a:rPr>
              <a:t> feasibility </a:t>
            </a:r>
            <a:r>
              <a:rPr sz="1400" b="1" spc="5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(also </a:t>
            </a:r>
            <a:r>
              <a:rPr sz="1400" b="1" dirty="0">
                <a:solidFill>
                  <a:srgbClr val="FFFF00"/>
                </a:solidFill>
                <a:latin typeface="Comic Sans MS"/>
                <a:cs typeface="Comic Sans MS"/>
              </a:rPr>
              <a:t>called </a:t>
            </a:r>
            <a:r>
              <a:rPr sz="1400" b="1" spc="5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b="1" dirty="0">
                <a:solidFill>
                  <a:srgbClr val="FFFF00"/>
                </a:solidFill>
                <a:latin typeface="Comic Sans MS"/>
                <a:cs typeface="Comic Sans MS"/>
              </a:rPr>
              <a:t>cost/b</a:t>
            </a:r>
            <a:r>
              <a:rPr sz="1400" b="1" spc="-10" dirty="0">
                <a:solidFill>
                  <a:srgbClr val="FFFF00"/>
                </a:solidFill>
                <a:latin typeface="Comic Sans MS"/>
                <a:cs typeface="Comic Sans MS"/>
              </a:rPr>
              <a:t>e</a:t>
            </a: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n</a:t>
            </a:r>
            <a:r>
              <a:rPr sz="1400" b="1" spc="-10" dirty="0">
                <a:solidFill>
                  <a:srgbClr val="FFFF00"/>
                </a:solidFill>
                <a:latin typeface="Comic Sans MS"/>
                <a:cs typeface="Comic Sans MS"/>
              </a:rPr>
              <a:t>ef</a:t>
            </a: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it  </a:t>
            </a:r>
            <a:r>
              <a:rPr sz="1400" b="1" dirty="0">
                <a:solidFill>
                  <a:srgbClr val="FFFF00"/>
                </a:solidFill>
                <a:latin typeface="Comic Sans MS"/>
                <a:cs typeface="Comic Sans MS"/>
              </a:rPr>
              <a:t>feasibility)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117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3040" y="1200911"/>
            <a:ext cx="3413760" cy="6737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8260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380"/>
              </a:spcBef>
            </a:pPr>
            <a:r>
              <a:rPr sz="3250" b="1" spc="-5" dirty="0">
                <a:latin typeface="Calibri"/>
                <a:cs typeface="Calibri"/>
              </a:rPr>
              <a:t>Feasibility</a:t>
            </a:r>
            <a:r>
              <a:rPr sz="3250" b="1" spc="-40" dirty="0">
                <a:latin typeface="Calibri"/>
                <a:cs typeface="Calibri"/>
              </a:rPr>
              <a:t> </a:t>
            </a:r>
            <a:r>
              <a:rPr sz="3250" b="1" spc="5" dirty="0">
                <a:latin typeface="Calibri"/>
                <a:cs typeface="Calibri"/>
              </a:rPr>
              <a:t>Study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118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911" y="267118"/>
            <a:ext cx="8375650" cy="848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5080" indent="-233679">
              <a:lnSpc>
                <a:spcPct val="110200"/>
              </a:lnSpc>
              <a:spcBef>
                <a:spcPts val="95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5" dirty="0">
                <a:latin typeface="Calibri"/>
                <a:cs typeface="Calibri"/>
              </a:rPr>
              <a:t>Main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aim</a:t>
            </a:r>
            <a:r>
              <a:rPr sz="2450" dirty="0">
                <a:latin typeface="Calibri"/>
                <a:cs typeface="Calibri"/>
              </a:rPr>
              <a:t> of </a:t>
            </a:r>
            <a:r>
              <a:rPr sz="2450" spc="-10" dirty="0">
                <a:latin typeface="Calibri"/>
                <a:cs typeface="Calibri"/>
              </a:rPr>
              <a:t>feasibility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study: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determine</a:t>
            </a:r>
            <a:r>
              <a:rPr sz="2450" spc="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whether</a:t>
            </a:r>
            <a:r>
              <a:rPr sz="2450" spc="-2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developing</a:t>
            </a:r>
            <a:r>
              <a:rPr sz="2450" spc="-2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the </a:t>
            </a:r>
            <a:r>
              <a:rPr sz="2450" spc="-5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0099"/>
                </a:solidFill>
                <a:latin typeface="Calibri"/>
                <a:cs typeface="Calibri"/>
              </a:rPr>
              <a:t>software </a:t>
            </a:r>
            <a:r>
              <a:rPr sz="2450" dirty="0">
                <a:solidFill>
                  <a:srgbClr val="000099"/>
                </a:solidFill>
                <a:latin typeface="Calibri"/>
                <a:cs typeface="Calibri"/>
              </a:rPr>
              <a:t>is: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7807" y="1107862"/>
            <a:ext cx="2877185" cy="95885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965"/>
              </a:spcBef>
              <a:buFont typeface="Arial MT"/>
              <a:buChar char="–"/>
              <a:tabLst>
                <a:tab pos="269240" algn="l"/>
              </a:tabLst>
            </a:pPr>
            <a:r>
              <a:rPr sz="2150" b="1" dirty="0">
                <a:solidFill>
                  <a:srgbClr val="000099"/>
                </a:solidFill>
                <a:latin typeface="Calibri"/>
                <a:cs typeface="Calibri"/>
              </a:rPr>
              <a:t>Financially</a:t>
            </a:r>
            <a:r>
              <a:rPr sz="2150" b="1" spc="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0099"/>
                </a:solidFill>
                <a:latin typeface="Calibri"/>
                <a:cs typeface="Calibri"/>
              </a:rPr>
              <a:t>worthwhile</a:t>
            </a:r>
            <a:endParaRPr sz="2150">
              <a:latin typeface="Calibri"/>
              <a:cs typeface="Calibri"/>
            </a:endParaRPr>
          </a:p>
          <a:p>
            <a:pPr marL="268605" indent="-256540">
              <a:lnSpc>
                <a:spcPct val="100000"/>
              </a:lnSpc>
              <a:spcBef>
                <a:spcPts val="960"/>
              </a:spcBef>
              <a:buFont typeface="Arial MT"/>
              <a:buChar char="–"/>
              <a:tabLst>
                <a:tab pos="269240" algn="l"/>
              </a:tabLst>
            </a:pPr>
            <a:r>
              <a:rPr sz="2150" b="1" spc="-15" dirty="0">
                <a:solidFill>
                  <a:srgbClr val="000099"/>
                </a:solidFill>
                <a:latin typeface="Calibri"/>
                <a:cs typeface="Calibri"/>
              </a:rPr>
              <a:t>Technically</a:t>
            </a:r>
            <a:r>
              <a:rPr sz="2150" b="1" spc="-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0099"/>
                </a:solidFill>
                <a:latin typeface="Calibri"/>
                <a:cs typeface="Calibri"/>
              </a:rPr>
              <a:t>feasible</a:t>
            </a:r>
            <a:r>
              <a:rPr sz="2450" b="1" dirty="0">
                <a:solidFill>
                  <a:srgbClr val="000099"/>
                </a:solidFill>
                <a:latin typeface="Calibri"/>
                <a:cs typeface="Calibri"/>
              </a:rPr>
              <a:t>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911" y="2031524"/>
            <a:ext cx="6266180" cy="234061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1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spc="-15" dirty="0">
                <a:latin typeface="Calibri"/>
                <a:cs typeface="Calibri"/>
              </a:rPr>
              <a:t>Roughly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understand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what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customer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wants:</a:t>
            </a:r>
            <a:endParaRPr sz="2450">
              <a:latin typeface="Calibri"/>
              <a:cs typeface="Calibri"/>
            </a:endParaRPr>
          </a:p>
          <a:p>
            <a:pPr marL="516890" lvl="1" indent="-194310">
              <a:lnSpc>
                <a:spcPct val="100000"/>
              </a:lnSpc>
              <a:spcBef>
                <a:spcPts val="1005"/>
              </a:spcBef>
              <a:buFont typeface="Arial MT"/>
              <a:buChar char="–"/>
              <a:tabLst>
                <a:tab pos="517525" algn="l"/>
              </a:tabLst>
            </a:pP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 which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would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system,</a:t>
            </a:r>
            <a:endParaRPr sz="2150">
              <a:latin typeface="Calibri"/>
              <a:cs typeface="Calibri"/>
            </a:endParaRPr>
          </a:p>
          <a:p>
            <a:pPr marL="516890" lvl="1" indent="-194310">
              <a:lnSpc>
                <a:spcPct val="100000"/>
              </a:lnSpc>
              <a:spcBef>
                <a:spcPts val="950"/>
              </a:spcBef>
              <a:buFont typeface="Arial MT"/>
              <a:buChar char="–"/>
              <a:tabLst>
                <a:tab pos="517525" algn="l"/>
              </a:tabLst>
            </a:pP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Processing</a:t>
            </a:r>
            <a:r>
              <a:rPr sz="2150" b="1" spc="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needed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these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data,</a:t>
            </a:r>
            <a:endParaRPr sz="2150">
              <a:latin typeface="Calibri"/>
              <a:cs typeface="Calibri"/>
            </a:endParaRPr>
          </a:p>
          <a:p>
            <a:pPr marL="516890" lvl="1" indent="-194310">
              <a:lnSpc>
                <a:spcPct val="100000"/>
              </a:lnSpc>
              <a:spcBef>
                <a:spcPts val="950"/>
              </a:spcBef>
              <a:buFont typeface="Arial MT"/>
              <a:buChar char="–"/>
              <a:tabLst>
                <a:tab pos="517525" algn="l"/>
              </a:tabLst>
            </a:pP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produced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system,</a:t>
            </a:r>
            <a:endParaRPr sz="2150">
              <a:latin typeface="Calibri"/>
              <a:cs typeface="Calibri"/>
            </a:endParaRPr>
          </a:p>
          <a:p>
            <a:pPr marL="516890" lvl="1" indent="-194310">
              <a:lnSpc>
                <a:spcPct val="100000"/>
              </a:lnSpc>
              <a:spcBef>
                <a:spcPts val="950"/>
              </a:spcBef>
              <a:buFont typeface="Arial MT"/>
              <a:buChar char="–"/>
              <a:tabLst>
                <a:tab pos="517525" algn="l"/>
              </a:tabLst>
            </a:pPr>
            <a:r>
              <a:rPr sz="2150" b="1" spc="-15" dirty="0">
                <a:solidFill>
                  <a:srgbClr val="C00000"/>
                </a:solidFill>
                <a:latin typeface="Calibri"/>
                <a:cs typeface="Calibri"/>
              </a:rPr>
              <a:t>Various</a:t>
            </a:r>
            <a:r>
              <a:rPr sz="2150" b="1" spc="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constraints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 behavior</a:t>
            </a:r>
            <a:r>
              <a:rPr sz="215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 system.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91883" y="2115311"/>
            <a:ext cx="1856739" cy="6737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8260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380"/>
              </a:spcBef>
            </a:pPr>
            <a:r>
              <a:rPr sz="3250" b="1" spc="-10" dirty="0">
                <a:latin typeface="Calibri"/>
                <a:cs typeface="Calibri"/>
              </a:rPr>
              <a:t>First</a:t>
            </a:r>
            <a:r>
              <a:rPr sz="3250" b="1" spc="-50" dirty="0">
                <a:latin typeface="Calibri"/>
                <a:cs typeface="Calibri"/>
              </a:rPr>
              <a:t> </a:t>
            </a:r>
            <a:r>
              <a:rPr sz="3250" b="1" spc="-5" dirty="0">
                <a:latin typeface="Calibri"/>
                <a:cs typeface="Calibri"/>
              </a:rPr>
              <a:t>Step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1800" y="1950720"/>
            <a:ext cx="2194560" cy="93471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9431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530"/>
              </a:spcBef>
            </a:pPr>
            <a:r>
              <a:rPr sz="3250" b="1" dirty="0">
                <a:latin typeface="Calibri"/>
                <a:cs typeface="Calibri"/>
              </a:rPr>
              <a:t>Case</a:t>
            </a:r>
            <a:r>
              <a:rPr sz="3250" b="1" spc="-35" dirty="0">
                <a:latin typeface="Calibri"/>
                <a:cs typeface="Calibri"/>
              </a:rPr>
              <a:t> </a:t>
            </a:r>
            <a:r>
              <a:rPr sz="3250" b="1" spc="5" dirty="0">
                <a:latin typeface="Calibri"/>
                <a:cs typeface="Calibri"/>
              </a:rPr>
              <a:t>Study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119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39" y="303407"/>
            <a:ext cx="7071359" cy="3957954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spc="-5" dirty="0">
                <a:solidFill>
                  <a:srgbClr val="0000FF"/>
                </a:solidFill>
                <a:latin typeface="Calibri"/>
                <a:cs typeface="Calibri"/>
              </a:rPr>
              <a:t>SPF Scheme 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Calibri"/>
                <a:cs typeface="Calibri"/>
              </a:rPr>
              <a:t>CFL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spc="-5" dirty="0">
                <a:latin typeface="Calibri"/>
                <a:cs typeface="Calibri"/>
              </a:rPr>
              <a:t>CFL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has</a:t>
            </a:r>
            <a:r>
              <a:rPr sz="2300" dirty="0">
                <a:latin typeface="Calibri"/>
                <a:cs typeface="Calibri"/>
              </a:rPr>
              <a:t> a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large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number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of employees,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exceeding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50,000.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Majority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of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these </a:t>
            </a:r>
            <a:r>
              <a:rPr sz="2300" spc="-10" dirty="0">
                <a:latin typeface="Calibri"/>
                <a:cs typeface="Calibri"/>
              </a:rPr>
              <a:t>are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casual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labourers</a:t>
            </a:r>
            <a:endParaRPr sz="23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dirty="0">
                <a:latin typeface="Calibri"/>
                <a:cs typeface="Calibri"/>
              </a:rPr>
              <a:t>Mining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being a</a:t>
            </a:r>
            <a:r>
              <a:rPr sz="2300" spc="-5" dirty="0">
                <a:latin typeface="Calibri"/>
                <a:cs typeface="Calibri"/>
              </a:rPr>
              <a:t> risky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profession: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7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Casualties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high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spc="-5" dirty="0">
                <a:latin typeface="Calibri"/>
                <a:cs typeface="Calibri"/>
              </a:rPr>
              <a:t>Though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there</a:t>
            </a:r>
            <a:r>
              <a:rPr sz="2300" dirty="0">
                <a:latin typeface="Calibri"/>
                <a:cs typeface="Calibri"/>
              </a:rPr>
              <a:t> is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PF: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7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But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settlement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time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high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spc="-10" dirty="0">
                <a:latin typeface="Calibri"/>
                <a:cs typeface="Calibri"/>
              </a:rPr>
              <a:t>There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need </a:t>
            </a:r>
            <a:r>
              <a:rPr sz="2300" spc="-5" dirty="0">
                <a:latin typeface="Calibri"/>
                <a:cs typeface="Calibri"/>
              </a:rPr>
              <a:t>of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SPF: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78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For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faster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disbursement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benefits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9098" y="192405"/>
            <a:ext cx="37636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Feasibility:</a:t>
            </a:r>
            <a:r>
              <a:rPr sz="3200" spc="-65" dirty="0"/>
              <a:t> </a:t>
            </a:r>
            <a:r>
              <a:rPr sz="3200" spc="-5" dirty="0"/>
              <a:t>Case</a:t>
            </a:r>
            <a:r>
              <a:rPr sz="3200" spc="-30" dirty="0"/>
              <a:t> </a:t>
            </a:r>
            <a:r>
              <a:rPr sz="3200" spc="-5" dirty="0"/>
              <a:t>Study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31140" y="753617"/>
            <a:ext cx="8376920" cy="4328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331595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  <a:tab pos="1812289" algn="l"/>
              </a:tabLst>
            </a:pPr>
            <a:r>
              <a:rPr sz="2800" spc="-5" dirty="0">
                <a:latin typeface="Calibri"/>
                <a:cs typeface="Calibri"/>
              </a:rPr>
              <a:t>Manager	visits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office,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finds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main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functionalities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required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Visits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site,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finds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out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Suggests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alternate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solutions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Determines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best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Presents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CFL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Officials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  <a:tab pos="2004060" algn="l"/>
              </a:tabLst>
            </a:pPr>
            <a:r>
              <a:rPr sz="2800" spc="-5" dirty="0">
                <a:latin typeface="Calibri"/>
                <a:cs typeface="Calibri"/>
              </a:rPr>
              <a:t>Go/No-Go	Decision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6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888888"/>
                </a:solidFill>
                <a:latin typeface="Calibri"/>
                <a:cs typeface="Calibri"/>
              </a:rPr>
              <a:t>129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111" y="200659"/>
            <a:ext cx="8653145" cy="393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655" algn="ctr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Calibri"/>
                <a:cs typeface="Calibri"/>
              </a:rPr>
              <a:t>Activities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During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Feasibility </a:t>
            </a:r>
            <a:r>
              <a:rPr sz="3000" b="1" dirty="0">
                <a:latin typeface="Calibri"/>
                <a:cs typeface="Calibri"/>
              </a:rPr>
              <a:t>Study</a:t>
            </a:r>
            <a:endParaRPr sz="30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44475" algn="l"/>
              </a:tabLst>
            </a:pPr>
            <a:r>
              <a:rPr sz="3200" spc="-35" dirty="0">
                <a:solidFill>
                  <a:srgbClr val="0000FF"/>
                </a:solidFill>
                <a:latin typeface="Calibri"/>
                <a:cs typeface="Calibri"/>
              </a:rPr>
              <a:t>Work</a:t>
            </a:r>
            <a:r>
              <a:rPr sz="32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out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 an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overall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understanding</a:t>
            </a:r>
            <a:r>
              <a:rPr sz="3200" spc="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 the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problem.</a:t>
            </a:r>
            <a:endParaRPr sz="32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155"/>
              </a:spcBef>
              <a:buFont typeface="Arial MT"/>
              <a:buChar char="•"/>
              <a:tabLst>
                <a:tab pos="244475" algn="l"/>
              </a:tabLst>
            </a:pP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Formulate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000FF"/>
                </a:solidFill>
                <a:latin typeface="Calibri"/>
                <a:cs typeface="Calibri"/>
              </a:rPr>
              <a:t>different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solution</a:t>
            </a:r>
            <a:r>
              <a:rPr sz="32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strategies.</a:t>
            </a:r>
            <a:endParaRPr sz="32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150"/>
              </a:spcBef>
              <a:buFont typeface="Arial MT"/>
              <a:buChar char="•"/>
              <a:tabLst>
                <a:tab pos="244475" algn="l"/>
              </a:tabLst>
            </a:pP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Examine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alternate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solution</a:t>
            </a:r>
            <a:r>
              <a:rPr sz="32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0000FF"/>
                </a:solidFill>
                <a:latin typeface="Calibri"/>
                <a:cs typeface="Calibri"/>
              </a:rPr>
              <a:t>strategies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 in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terms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of:</a:t>
            </a:r>
            <a:endParaRPr sz="32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110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spc="-15" dirty="0">
                <a:latin typeface="Calibri"/>
                <a:cs typeface="Calibri"/>
              </a:rPr>
              <a:t>resources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required,</a:t>
            </a:r>
            <a:endParaRPr sz="28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spc="-20" dirty="0">
                <a:latin typeface="Calibri"/>
                <a:cs typeface="Calibri"/>
              </a:rPr>
              <a:t>cost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spc="-15" dirty="0">
                <a:latin typeface="Calibri"/>
                <a:cs typeface="Calibri"/>
              </a:rPr>
              <a:t>development</a:t>
            </a:r>
            <a:r>
              <a:rPr sz="2800" spc="-5" dirty="0">
                <a:latin typeface="Calibri"/>
                <a:cs typeface="Calibri"/>
              </a:rPr>
              <a:t> time.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121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0752" y="2334767"/>
            <a:ext cx="5209540" cy="6019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5334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420"/>
              </a:spcBef>
            </a:pPr>
            <a:r>
              <a:rPr sz="2800" b="1" spc="-5" dirty="0">
                <a:solidFill>
                  <a:srgbClr val="0033CC"/>
                </a:solidFill>
                <a:latin typeface="Calibri"/>
                <a:cs typeface="Calibri"/>
              </a:rPr>
              <a:t>Activities</a:t>
            </a:r>
            <a:r>
              <a:rPr sz="2800" b="1" spc="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33CC"/>
                </a:solidFill>
                <a:latin typeface="Calibri"/>
                <a:cs typeface="Calibri"/>
              </a:rPr>
              <a:t>during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33CC"/>
                </a:solidFill>
                <a:latin typeface="Calibri"/>
                <a:cs typeface="Calibri"/>
              </a:rPr>
              <a:t>Feasibility</a:t>
            </a:r>
            <a:r>
              <a:rPr sz="2800" b="1" spc="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33CC"/>
                </a:solidFill>
                <a:latin typeface="Calibri"/>
                <a:cs typeface="Calibri"/>
              </a:rPr>
              <a:t>Study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122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685" y="0"/>
            <a:ext cx="7491095" cy="2112645"/>
          </a:xfrm>
          <a:prstGeom prst="rect">
            <a:avLst/>
          </a:prstGeom>
        </p:spPr>
        <p:txBody>
          <a:bodyPr vert="horz" wrap="square" lIns="0" tIns="26416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2080"/>
              </a:spcBef>
              <a:buFont typeface="Arial MT"/>
              <a:buChar char="•"/>
              <a:tabLst>
                <a:tab pos="245110" algn="l"/>
              </a:tabLst>
            </a:pPr>
            <a:r>
              <a:rPr sz="3200" spc="-20" dirty="0">
                <a:latin typeface="Calibri"/>
                <a:cs typeface="Calibri"/>
              </a:rPr>
              <a:t>Perform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cost/benefit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analysis:</a:t>
            </a:r>
            <a:endParaRPr sz="32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725"/>
              </a:spcBef>
            </a:pPr>
            <a:r>
              <a:rPr sz="2800" spc="-10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Calibri"/>
                <a:cs typeface="Calibri"/>
              </a:rPr>
              <a:t>Determine</a:t>
            </a:r>
            <a:r>
              <a:rPr sz="2800" spc="-5" dirty="0">
                <a:latin typeface="Calibri"/>
                <a:cs typeface="Calibri"/>
              </a:rPr>
              <a:t> which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solution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best.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685"/>
              </a:spcBef>
            </a:pPr>
            <a:r>
              <a:rPr sz="3200" spc="-15" dirty="0">
                <a:latin typeface="Arial MT"/>
                <a:cs typeface="Arial MT"/>
              </a:rPr>
              <a:t>–</a:t>
            </a:r>
            <a:r>
              <a:rPr sz="3200" spc="-15" dirty="0">
                <a:latin typeface="Calibri"/>
                <a:cs typeface="Calibri"/>
              </a:rPr>
              <a:t>May</a:t>
            </a:r>
            <a:r>
              <a:rPr sz="3200" dirty="0">
                <a:latin typeface="Calibri"/>
                <a:cs typeface="Calibri"/>
              </a:rPr>
              <a:t> also </a:t>
            </a:r>
            <a:r>
              <a:rPr sz="3200" spc="-5" dirty="0">
                <a:latin typeface="Calibri"/>
                <a:cs typeface="Calibri"/>
              </a:rPr>
              <a:t>find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none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solutions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910" y="2145284"/>
            <a:ext cx="2882265" cy="2237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" dirty="0">
                <a:latin typeface="Calibri"/>
                <a:cs typeface="Calibri"/>
              </a:rPr>
              <a:t>feasible </a:t>
            </a:r>
            <a:r>
              <a:rPr sz="3200" spc="-5" dirty="0">
                <a:latin typeface="Calibri"/>
                <a:cs typeface="Calibri"/>
              </a:rPr>
              <a:t>due</a:t>
            </a:r>
            <a:r>
              <a:rPr sz="3200" spc="-20" dirty="0">
                <a:latin typeface="Calibri"/>
                <a:cs typeface="Calibri"/>
              </a:rPr>
              <a:t> to:</a:t>
            </a:r>
            <a:endParaRPr sz="3200">
              <a:latin typeface="Calibri"/>
              <a:cs typeface="Calibri"/>
            </a:endParaRPr>
          </a:p>
          <a:p>
            <a:pPr marL="287020" indent="-155575">
              <a:lnSpc>
                <a:spcPct val="100000"/>
              </a:lnSpc>
              <a:spcBef>
                <a:spcPts val="1725"/>
              </a:spcBef>
              <a:buFont typeface="Arial MT"/>
              <a:buChar char="•"/>
              <a:tabLst>
                <a:tab pos="287020" algn="l"/>
              </a:tabLst>
            </a:pPr>
            <a:r>
              <a:rPr sz="2400" spc="-5" dirty="0">
                <a:latin typeface="Calibri"/>
                <a:cs typeface="Calibri"/>
              </a:rPr>
              <a:t>high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cost,</a:t>
            </a:r>
            <a:endParaRPr sz="2400">
              <a:latin typeface="Calibri"/>
              <a:cs typeface="Calibri"/>
            </a:endParaRPr>
          </a:p>
          <a:p>
            <a:pPr marL="287020" indent="-155575">
              <a:lnSpc>
                <a:spcPct val="100000"/>
              </a:lnSpc>
              <a:spcBef>
                <a:spcPts val="1600"/>
              </a:spcBef>
              <a:buFont typeface="Arial MT"/>
              <a:buChar char="•"/>
              <a:tabLst>
                <a:tab pos="287020" algn="l"/>
              </a:tabLst>
            </a:pPr>
            <a:r>
              <a:rPr sz="2400" spc="-10" dirty="0">
                <a:latin typeface="Calibri"/>
                <a:cs typeface="Calibri"/>
              </a:rPr>
              <a:t>resource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constraints,</a:t>
            </a:r>
            <a:endParaRPr sz="2400">
              <a:latin typeface="Calibri"/>
              <a:cs typeface="Calibri"/>
            </a:endParaRPr>
          </a:p>
          <a:p>
            <a:pPr marL="287020" indent="-15557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87020" algn="l"/>
              </a:tabLst>
            </a:pPr>
            <a:r>
              <a:rPr sz="2400" spc="-10" dirty="0">
                <a:latin typeface="Calibri"/>
                <a:cs typeface="Calibri"/>
              </a:rPr>
              <a:t>technical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reasons.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8454" y="151333"/>
            <a:ext cx="50780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Cost</a:t>
            </a:r>
            <a:r>
              <a:rPr sz="3600" spc="-30" dirty="0"/>
              <a:t> </a:t>
            </a:r>
            <a:r>
              <a:rPr sz="3600" spc="-5" dirty="0"/>
              <a:t>benefit</a:t>
            </a:r>
            <a:r>
              <a:rPr sz="3600" spc="-10" dirty="0"/>
              <a:t> </a:t>
            </a:r>
            <a:r>
              <a:rPr sz="3600" spc="-5" dirty="0"/>
              <a:t>analysis</a:t>
            </a:r>
            <a:r>
              <a:rPr sz="3600" spc="-15" dirty="0"/>
              <a:t> (CBA)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123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792861"/>
            <a:ext cx="6444615" cy="33508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10" dirty="0">
                <a:latin typeface="Calibri"/>
                <a:cs typeface="Calibri"/>
              </a:rPr>
              <a:t>Need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identify all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costs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---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these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could </a:t>
            </a:r>
            <a:r>
              <a:rPr sz="2700" spc="5" dirty="0">
                <a:latin typeface="Calibri"/>
                <a:cs typeface="Calibri"/>
              </a:rPr>
              <a:t>be: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20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Development</a:t>
            </a:r>
            <a:r>
              <a:rPr sz="245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FF"/>
                </a:solidFill>
                <a:latin typeface="Calibri"/>
                <a:cs typeface="Calibri"/>
              </a:rPr>
              <a:t>costs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94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Set-up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8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Operational</a:t>
            </a:r>
            <a:r>
              <a:rPr sz="245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00FF"/>
                </a:solidFill>
                <a:latin typeface="Calibri"/>
                <a:cs typeface="Calibri"/>
              </a:rPr>
              <a:t>costs</a:t>
            </a:r>
            <a:endParaRPr sz="24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5" dirty="0">
                <a:latin typeface="Calibri"/>
                <a:cs typeface="Calibri"/>
              </a:rPr>
              <a:t>Identify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value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benefits</a:t>
            </a:r>
            <a:endParaRPr sz="27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2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5" dirty="0">
                <a:latin typeface="Calibri"/>
                <a:cs typeface="Calibri"/>
              </a:rPr>
              <a:t>Check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benefits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are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greater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0" dirty="0">
                <a:latin typeface="Calibri"/>
                <a:cs typeface="Calibri"/>
              </a:rPr>
              <a:t>than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costs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35" dirty="0"/>
              <a:t> </a:t>
            </a:r>
            <a:r>
              <a:rPr spc="-5" dirty="0"/>
              <a:t>business</a:t>
            </a:r>
            <a:r>
              <a:rPr spc="-10" dirty="0"/>
              <a:t> 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8327" y="735583"/>
            <a:ext cx="3918585" cy="12954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5745" marR="5080" indent="-233679">
              <a:lnSpc>
                <a:spcPts val="3080"/>
              </a:lnSpc>
              <a:spcBef>
                <a:spcPts val="85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b="1" spc="-5" dirty="0">
                <a:solidFill>
                  <a:srgbClr val="006600"/>
                </a:solidFill>
                <a:latin typeface="Calibri"/>
                <a:cs typeface="Calibri"/>
              </a:rPr>
              <a:t>Benefits of </a:t>
            </a:r>
            <a:r>
              <a:rPr sz="2450" b="1" spc="-10" dirty="0">
                <a:solidFill>
                  <a:srgbClr val="006600"/>
                </a:solidFill>
                <a:latin typeface="Calibri"/>
                <a:cs typeface="Calibri"/>
              </a:rPr>
              <a:t>delivered project </a:t>
            </a:r>
            <a:r>
              <a:rPr sz="2450" b="1" spc="-54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6600"/>
                </a:solidFill>
                <a:latin typeface="Calibri"/>
                <a:cs typeface="Calibri"/>
              </a:rPr>
              <a:t>must</a:t>
            </a:r>
            <a:r>
              <a:rPr sz="2450" b="1" spc="-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6600"/>
                </a:solidFill>
                <a:latin typeface="Calibri"/>
                <a:cs typeface="Calibri"/>
              </a:rPr>
              <a:t>outweigh</a:t>
            </a:r>
            <a:r>
              <a:rPr sz="2450" b="1" spc="-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6600"/>
                </a:solidFill>
                <a:latin typeface="Calibri"/>
                <a:cs typeface="Calibri"/>
              </a:rPr>
              <a:t>costs</a:t>
            </a:r>
            <a:endParaRPr sz="2450">
              <a:latin typeface="Calibri"/>
              <a:cs typeface="Calibri"/>
            </a:endParaRPr>
          </a:p>
          <a:p>
            <a:pPr marL="245745" indent="-233679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246379" algn="l"/>
              </a:tabLst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Costs</a:t>
            </a:r>
            <a:r>
              <a:rPr sz="245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include: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7783" y="2014024"/>
            <a:ext cx="1855470" cy="92265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0"/>
              </a:spcBef>
              <a:buFont typeface="Calibri"/>
              <a:buChar char="-"/>
              <a:tabLst>
                <a:tab pos="299085" algn="l"/>
                <a:tab pos="299720" algn="l"/>
              </a:tabLst>
            </a:pPr>
            <a:r>
              <a:rPr sz="2150" b="1" dirty="0">
                <a:latin typeface="Calibri"/>
                <a:cs typeface="Calibri"/>
              </a:rPr>
              <a:t>Development</a:t>
            </a:r>
            <a:endParaRPr sz="21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950"/>
              </a:spcBef>
              <a:buFont typeface="Calibri"/>
              <a:buChar char="-"/>
              <a:tabLst>
                <a:tab pos="299085" algn="l"/>
                <a:tab pos="299720" algn="l"/>
              </a:tabLst>
            </a:pPr>
            <a:r>
              <a:rPr sz="2150" b="1" spc="-5" dirty="0">
                <a:latin typeface="Calibri"/>
                <a:cs typeface="Calibri"/>
              </a:rPr>
              <a:t>Operation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8327" y="2887791"/>
            <a:ext cx="2476500" cy="144843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225"/>
              </a:spcBef>
              <a:buFont typeface="Calibri"/>
              <a:buChar char="•"/>
              <a:tabLst>
                <a:tab pos="246379" algn="l"/>
              </a:tabLst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Benefits:</a:t>
            </a:r>
            <a:endParaRPr sz="2450">
              <a:latin typeface="Calibri"/>
              <a:cs typeface="Calibri"/>
            </a:endParaRPr>
          </a:p>
          <a:p>
            <a:pPr marL="518159" lvl="1" indent="-287020">
              <a:lnSpc>
                <a:spcPct val="100000"/>
              </a:lnSpc>
              <a:spcBef>
                <a:spcPts val="1025"/>
              </a:spcBef>
              <a:buFont typeface="Calibri"/>
              <a:buChar char="–"/>
              <a:tabLst>
                <a:tab pos="518159" algn="l"/>
                <a:tab pos="518795" algn="l"/>
              </a:tabLst>
            </a:pPr>
            <a:r>
              <a:rPr sz="2150" b="1" dirty="0">
                <a:latin typeface="Calibri"/>
                <a:cs typeface="Calibri"/>
              </a:rPr>
              <a:t>Quantifiable</a:t>
            </a:r>
            <a:endParaRPr sz="2150">
              <a:latin typeface="Calibri"/>
              <a:cs typeface="Calibri"/>
            </a:endParaRPr>
          </a:p>
          <a:p>
            <a:pPr marL="518159" lvl="1" indent="-287020">
              <a:lnSpc>
                <a:spcPct val="100000"/>
              </a:lnSpc>
              <a:spcBef>
                <a:spcPts val="944"/>
              </a:spcBef>
              <a:buFont typeface="Calibri"/>
              <a:buChar char="–"/>
              <a:tabLst>
                <a:tab pos="518159" algn="l"/>
                <a:tab pos="518795" algn="l"/>
              </a:tabLst>
            </a:pPr>
            <a:r>
              <a:rPr sz="2150" b="1" dirty="0">
                <a:latin typeface="Calibri"/>
                <a:cs typeface="Calibri"/>
              </a:rPr>
              <a:t>Non-quantifiable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78673" y="1920049"/>
            <a:ext cx="872490" cy="2385695"/>
            <a:chOff x="1578673" y="1920049"/>
            <a:chExt cx="872490" cy="2385695"/>
          </a:xfrm>
        </p:grpSpPr>
        <p:sp>
          <p:nvSpPr>
            <p:cNvPr id="7" name="object 7"/>
            <p:cNvSpPr/>
            <p:nvPr/>
          </p:nvSpPr>
          <p:spPr>
            <a:xfrm>
              <a:off x="1583436" y="1924811"/>
              <a:ext cx="862965" cy="2376170"/>
            </a:xfrm>
            <a:custGeom>
              <a:avLst/>
              <a:gdLst/>
              <a:ahLst/>
              <a:cxnLst/>
              <a:rect l="l" t="t" r="r" b="b"/>
              <a:pathLst>
                <a:path w="862964" h="2376170">
                  <a:moveTo>
                    <a:pt x="862584" y="0"/>
                  </a:moveTo>
                  <a:lnTo>
                    <a:pt x="0" y="0"/>
                  </a:lnTo>
                  <a:lnTo>
                    <a:pt x="0" y="2375916"/>
                  </a:lnTo>
                  <a:lnTo>
                    <a:pt x="862584" y="2375916"/>
                  </a:lnTo>
                  <a:lnTo>
                    <a:pt x="86258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83436" y="1924811"/>
              <a:ext cx="862965" cy="2376170"/>
            </a:xfrm>
            <a:custGeom>
              <a:avLst/>
              <a:gdLst/>
              <a:ahLst/>
              <a:cxnLst/>
              <a:rect l="l" t="t" r="r" b="b"/>
              <a:pathLst>
                <a:path w="862964" h="2376170">
                  <a:moveTo>
                    <a:pt x="0" y="2375916"/>
                  </a:moveTo>
                  <a:lnTo>
                    <a:pt x="862584" y="2375916"/>
                  </a:lnTo>
                  <a:lnTo>
                    <a:pt x="862584" y="0"/>
                  </a:lnTo>
                  <a:lnTo>
                    <a:pt x="0" y="0"/>
                  </a:lnTo>
                  <a:lnTo>
                    <a:pt x="0" y="237591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83436" y="2874340"/>
            <a:ext cx="862965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25"/>
              </a:spcBef>
            </a:pPr>
            <a:r>
              <a:rPr sz="2700" b="1" dirty="0">
                <a:latin typeface="Comic Sans MS"/>
                <a:cs typeface="Comic Sans MS"/>
              </a:rPr>
              <a:t>Rs</a:t>
            </a:r>
            <a:endParaRPr sz="27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72549" y="2674429"/>
            <a:ext cx="820419" cy="1631314"/>
            <a:chOff x="2872549" y="2674429"/>
            <a:chExt cx="820419" cy="1631314"/>
          </a:xfrm>
        </p:grpSpPr>
        <p:sp>
          <p:nvSpPr>
            <p:cNvPr id="11" name="object 11"/>
            <p:cNvSpPr/>
            <p:nvPr/>
          </p:nvSpPr>
          <p:spPr>
            <a:xfrm>
              <a:off x="2877311" y="2679192"/>
              <a:ext cx="810895" cy="1621790"/>
            </a:xfrm>
            <a:custGeom>
              <a:avLst/>
              <a:gdLst/>
              <a:ahLst/>
              <a:cxnLst/>
              <a:rect l="l" t="t" r="r" b="b"/>
              <a:pathLst>
                <a:path w="810895" h="1621789">
                  <a:moveTo>
                    <a:pt x="810767" y="0"/>
                  </a:moveTo>
                  <a:lnTo>
                    <a:pt x="0" y="0"/>
                  </a:lnTo>
                  <a:lnTo>
                    <a:pt x="0" y="1621536"/>
                  </a:lnTo>
                  <a:lnTo>
                    <a:pt x="810767" y="1621536"/>
                  </a:lnTo>
                  <a:lnTo>
                    <a:pt x="81076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77311" y="2679192"/>
              <a:ext cx="810895" cy="1621790"/>
            </a:xfrm>
            <a:custGeom>
              <a:avLst/>
              <a:gdLst/>
              <a:ahLst/>
              <a:cxnLst/>
              <a:rect l="l" t="t" r="r" b="b"/>
              <a:pathLst>
                <a:path w="810895" h="1621789">
                  <a:moveTo>
                    <a:pt x="0" y="1621536"/>
                  </a:moveTo>
                  <a:lnTo>
                    <a:pt x="810767" y="1621536"/>
                  </a:lnTo>
                  <a:lnTo>
                    <a:pt x="810767" y="0"/>
                  </a:lnTo>
                  <a:lnTo>
                    <a:pt x="0" y="0"/>
                  </a:lnTo>
                  <a:lnTo>
                    <a:pt x="0" y="16215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77311" y="3281934"/>
            <a:ext cx="81089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125"/>
              </a:spcBef>
            </a:pPr>
            <a:r>
              <a:rPr sz="2350" b="1" spc="10" dirty="0">
                <a:latin typeface="Comic Sans MS"/>
                <a:cs typeface="Comic Sans MS"/>
              </a:rPr>
              <a:t>Rs</a:t>
            </a:r>
            <a:endParaRPr sz="2350">
              <a:latin typeface="Comic Sans MS"/>
              <a:cs typeface="Comic Sans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50619" y="4300728"/>
            <a:ext cx="2809240" cy="0"/>
          </a:xfrm>
          <a:custGeom>
            <a:avLst/>
            <a:gdLst/>
            <a:ahLst/>
            <a:cxnLst/>
            <a:rect l="l" t="t" r="r" b="b"/>
            <a:pathLst>
              <a:path w="2809240">
                <a:moveTo>
                  <a:pt x="0" y="0"/>
                </a:moveTo>
                <a:lnTo>
                  <a:pt x="280873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29333" y="1391158"/>
            <a:ext cx="120777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b="1" dirty="0">
                <a:solidFill>
                  <a:srgbClr val="000066"/>
                </a:solidFill>
                <a:latin typeface="Comic Sans MS"/>
                <a:cs typeface="Comic Sans MS"/>
              </a:rPr>
              <a:t>Benefits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23833" y="4830876"/>
            <a:ext cx="31051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124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88310" y="2092528"/>
            <a:ext cx="78676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b="1" spc="10" dirty="0">
                <a:solidFill>
                  <a:srgbClr val="000066"/>
                </a:solidFill>
                <a:latin typeface="Comic Sans MS"/>
                <a:cs typeface="Comic Sans MS"/>
              </a:rPr>
              <a:t>C</a:t>
            </a:r>
            <a:r>
              <a:rPr sz="2300" b="1" spc="-10" dirty="0">
                <a:solidFill>
                  <a:srgbClr val="000066"/>
                </a:solidFill>
                <a:latin typeface="Comic Sans MS"/>
                <a:cs typeface="Comic Sans MS"/>
              </a:rPr>
              <a:t>o</a:t>
            </a:r>
            <a:r>
              <a:rPr sz="2300" b="1" spc="5" dirty="0">
                <a:solidFill>
                  <a:srgbClr val="000066"/>
                </a:solidFill>
                <a:latin typeface="Comic Sans MS"/>
                <a:cs typeface="Comic Sans MS"/>
              </a:rPr>
              <a:t>sts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20633" y="4690668"/>
            <a:ext cx="487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888888"/>
                </a:solidFill>
                <a:latin typeface="Calibri"/>
                <a:cs typeface="Calibri"/>
              </a:rPr>
              <a:t>134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5267" y="1731251"/>
            <a:ext cx="4935474" cy="7063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16626" y="4459325"/>
            <a:ext cx="1548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162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CEADA"/>
                </a:solidFill>
                <a:latin typeface="Calibri"/>
                <a:cs typeface="Calibri"/>
              </a:rPr>
              <a:t>Rajib Mall </a:t>
            </a:r>
            <a:r>
              <a:rPr sz="1800" dirty="0">
                <a:solidFill>
                  <a:srgbClr val="FCEAD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CEADA"/>
                </a:solidFill>
                <a:latin typeface="Calibri"/>
                <a:cs typeface="Calibri"/>
              </a:rPr>
              <a:t>CSE</a:t>
            </a:r>
            <a:r>
              <a:rPr sz="1800" spc="-65" dirty="0">
                <a:solidFill>
                  <a:srgbClr val="FCEAD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CEADA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72940" y="4486661"/>
            <a:ext cx="108585" cy="657225"/>
            <a:chOff x="4472940" y="4486661"/>
            <a:chExt cx="108585" cy="6572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2940" y="4486661"/>
              <a:ext cx="108076" cy="65683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28566" y="4508753"/>
              <a:ext cx="1905" cy="590550"/>
            </a:xfrm>
            <a:custGeom>
              <a:avLst/>
              <a:gdLst/>
              <a:ahLst/>
              <a:cxnLst/>
              <a:rect l="l" t="t" r="r" b="b"/>
              <a:pathLst>
                <a:path w="1904" h="590550">
                  <a:moveTo>
                    <a:pt x="1650" y="0"/>
                  </a:moveTo>
                  <a:lnTo>
                    <a:pt x="0" y="590550"/>
                  </a:lnTo>
                </a:path>
              </a:pathLst>
            </a:custGeom>
            <a:ln w="25908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36</TotalTime>
  <Words>4849</Words>
  <Application>Microsoft Office PowerPoint</Application>
  <PresentationFormat>On-screen Show (16:9)</PresentationFormat>
  <Paragraphs>919</Paragraphs>
  <Slides>125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37" baseType="lpstr">
      <vt:lpstr>Arial MT</vt:lpstr>
      <vt:lpstr>Calibri</vt:lpstr>
      <vt:lpstr>Cambria</vt:lpstr>
      <vt:lpstr>Comic Sans MS</vt:lpstr>
      <vt:lpstr>Courier New</vt:lpstr>
      <vt:lpstr>Symbol</vt:lpstr>
      <vt:lpstr>Times New Roman</vt:lpstr>
      <vt:lpstr>Tw Cen MT</vt:lpstr>
      <vt:lpstr>Tw Cen MT Condensed</vt:lpstr>
      <vt:lpstr>Wingdings</vt:lpstr>
      <vt:lpstr>Wingdings 3</vt:lpstr>
      <vt:lpstr>Integral</vt:lpstr>
      <vt:lpstr>Introduction</vt:lpstr>
      <vt:lpstr>What is Software Engineering?</vt:lpstr>
      <vt:lpstr>IEEE Definition</vt:lpstr>
      <vt:lpstr>Software Crisis</vt:lpstr>
      <vt:lpstr>Software Crisis (cont.)</vt:lpstr>
      <vt:lpstr>Then why not have entirely hardware systems?...</vt:lpstr>
      <vt:lpstr>28% Successful</vt:lpstr>
      <vt:lpstr>Which Factors are Contributing to the Software  Crisis?</vt:lpstr>
      <vt:lpstr>Programming: an Art or  Engineering?</vt:lpstr>
      <vt:lpstr>PowerPoint Presentation</vt:lpstr>
      <vt:lpstr>PowerPoint Presentation</vt:lpstr>
      <vt:lpstr>Exploratory Style</vt:lpstr>
      <vt:lpstr>What is Wrong with the Exploratory Style?</vt:lpstr>
      <vt:lpstr>What is Wrong with the Exploratory Style?</vt:lpstr>
      <vt:lpstr>PowerPoint Presentation</vt:lpstr>
      <vt:lpstr>PowerPoint Presentation</vt:lpstr>
      <vt:lpstr>Implication in Program Development</vt:lpstr>
      <vt:lpstr>PowerPoint Presentation</vt:lpstr>
      <vt:lpstr>Two Fundamental  Techniques to Handle  Complexity</vt:lpstr>
      <vt:lpstr>What is Abstraction?</vt:lpstr>
      <vt:lpstr>PowerPoint Presentation</vt:lpstr>
      <vt:lpstr>You would study an Abstraction…</vt:lpstr>
      <vt:lpstr>PowerPoint Presentation</vt:lpstr>
      <vt:lpstr>PowerPoint Presentation</vt:lpstr>
      <vt:lpstr>Abstraction of Complex Problems -- An Example</vt:lpstr>
      <vt:lpstr>PowerPoint Presentation</vt:lpstr>
      <vt:lpstr>Quiz</vt:lpstr>
      <vt:lpstr>Decomposition</vt:lpstr>
      <vt:lpstr>Decomposition</vt:lpstr>
      <vt:lpstr>Decomposition: Another Example</vt:lpstr>
      <vt:lpstr>PowerPoint Presentation</vt:lpstr>
      <vt:lpstr>Why Study Software Engineering? (2)</vt:lpstr>
      <vt:lpstr>PowerPoint Presentation</vt:lpstr>
      <vt:lpstr>PowerPoint Presentation</vt:lpstr>
      <vt:lpstr>PowerPoint Presentation</vt:lpstr>
      <vt:lpstr>Packaged software —  prewritten software available for  purchase</vt:lpstr>
      <vt:lpstr>Types of Software Projects</vt:lpstr>
      <vt:lpstr>Software Services</vt:lpstr>
      <vt:lpstr>Factors responsible for accelerated growth of services…</vt:lpstr>
      <vt:lpstr>PowerPoint Presentation</vt:lpstr>
      <vt:lpstr>Scenario of Indian Software Companies</vt:lpstr>
      <vt:lpstr>A Few Changes in Software Project Characteristics over Last 40 Years</vt:lpstr>
      <vt:lpstr>Traditional versus Modern Projects</vt:lpstr>
      <vt:lpstr>Computer Systems Engineering</vt:lpstr>
      <vt:lpstr>Computer Systems Engineering</vt:lpstr>
      <vt:lpstr>Computer Systems Engineering (CONT.)</vt:lpstr>
      <vt:lpstr>Computer Systems Engineering (CONT.)</vt:lpstr>
      <vt:lpstr>Emergence of Software  Engineering Techniques</vt:lpstr>
      <vt:lpstr>PowerPoint Presentation</vt:lpstr>
      <vt:lpstr>PowerPoint Presentation</vt:lpstr>
      <vt:lpstr>High-Level Language Programming (Early 60s)</vt:lpstr>
      <vt:lpstr>High-Level Language Programming (Early 60s)</vt:lpstr>
      <vt:lpstr>Control Flow-Based Design (late 60s)</vt:lpstr>
      <vt:lpstr>Control Flow-Based Design (late 60s)</vt:lpstr>
      <vt:lpstr>Control Flow-Based Design (late 60s)</vt:lpstr>
      <vt:lpstr>Control Flow-Based Design (late 60s)</vt:lpstr>
      <vt:lpstr>Control Flow-Based Design</vt:lpstr>
      <vt:lpstr>Spaghetti Code Structure</vt:lpstr>
      <vt:lpstr>Control Flow-Based Design (Late 60s)</vt:lpstr>
      <vt:lpstr>Control Flow-Based Design (Late 60s)</vt:lpstr>
      <vt:lpstr>PowerPoint Presentation</vt:lpstr>
      <vt:lpstr>Control Flow-Based Design (Late 60s)</vt:lpstr>
      <vt:lpstr>Control Flow-Based Design (Late 60s)</vt:lpstr>
      <vt:lpstr>Control-flow Based Design (Late 60s)</vt:lpstr>
      <vt:lpstr>Structured Programming</vt:lpstr>
      <vt:lpstr>Structured Programs</vt:lpstr>
      <vt:lpstr>Advantages of Structured programming</vt:lpstr>
      <vt:lpstr>Structured Programming</vt:lpstr>
      <vt:lpstr>Data Structure-Oriented Design (Early 70s)</vt:lpstr>
      <vt:lpstr>Data Structure-Oriented Design (Early 70s)</vt:lpstr>
      <vt:lpstr>Data Structure Oriented Design (Early 70s)</vt:lpstr>
      <vt:lpstr>Data Structure Oriented Design (Early 70s)</vt:lpstr>
      <vt:lpstr>A Data Structure Oriented Design</vt:lpstr>
      <vt:lpstr>Data Structure Oriented Design (Early 70s)</vt:lpstr>
      <vt:lpstr>Data Flow-Oriented Design</vt:lpstr>
      <vt:lpstr>PowerPoint Presentation</vt:lpstr>
      <vt:lpstr>Data Flow-Oriented Design (Late 70s)</vt:lpstr>
      <vt:lpstr>Data Flow Model of a Car Assembly Unit</vt:lpstr>
      <vt:lpstr>Object-Oriented Design (80s)</vt:lpstr>
      <vt:lpstr>Object-Oriented Design (80s)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Differences between the exploratory style and modern software development practices (CONT.)</vt:lpstr>
      <vt:lpstr>PowerPoint Presentation</vt:lpstr>
      <vt:lpstr>PowerPoint Presentation</vt:lpstr>
      <vt:lpstr>Review Questions</vt:lpstr>
      <vt:lpstr>Life Cycle Models</vt:lpstr>
      <vt:lpstr>Software  Life Cycle</vt:lpstr>
      <vt:lpstr>Life Cycle Model</vt:lpstr>
      <vt:lpstr>Life Cycle Model (CONT.)</vt:lpstr>
      <vt:lpstr>Why Model Life Cycle?</vt:lpstr>
      <vt:lpstr>Life Cycle Model (CONT.)</vt:lpstr>
      <vt:lpstr>Life Cycle Model (CONT.)</vt:lpstr>
      <vt:lpstr>Life Cycle Model (CONT.)</vt:lpstr>
      <vt:lpstr>Life Cycle Model (CONT.)</vt:lpstr>
      <vt:lpstr>PowerPoint Presentation</vt:lpstr>
      <vt:lpstr>Life Cycle Model (CONT.)</vt:lpstr>
      <vt:lpstr>Life Cycle Model: Milestones</vt:lpstr>
      <vt:lpstr>Life Cycle and Project Management</vt:lpstr>
      <vt:lpstr>PowerPoint Presentation</vt:lpstr>
      <vt:lpstr>Project Deliverables: Myth and Reality</vt:lpstr>
      <vt:lpstr>PowerPoint Presentation</vt:lpstr>
      <vt:lpstr>PowerPoint Presentation</vt:lpstr>
      <vt:lpstr>Classical Waterfall Model</vt:lpstr>
      <vt:lpstr>Classical Waterfall Model</vt:lpstr>
      <vt:lpstr>Relative Effort for Phases</vt:lpstr>
      <vt:lpstr>PowerPoint Presentation</vt:lpstr>
      <vt:lpstr>Classical Waterfall Model (CONT.)</vt:lpstr>
      <vt:lpstr>Feasibility Study</vt:lpstr>
      <vt:lpstr>PowerPoint Presentation</vt:lpstr>
      <vt:lpstr>PowerPoint Presentation</vt:lpstr>
      <vt:lpstr>Feasibility: Case Study</vt:lpstr>
      <vt:lpstr>PowerPoint Presentation</vt:lpstr>
      <vt:lpstr>PowerPoint Presentation</vt:lpstr>
      <vt:lpstr>Cost benefit analysis (CBA)</vt:lpstr>
      <vt:lpstr>The business case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i4344 sushanta</dc:creator>
  <cp:lastModifiedBy>santosh</cp:lastModifiedBy>
  <cp:revision>3</cp:revision>
  <dcterms:created xsi:type="dcterms:W3CDTF">2023-07-29T06:59:29Z</dcterms:created>
  <dcterms:modified xsi:type="dcterms:W3CDTF">2023-08-07T04:21:13Z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2019-07-12T00:00:00Z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2023-07-29T00:00:00Z</vt:filetime>
  </property>
</Properties>
</file>