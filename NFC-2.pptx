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2" r:id="rId1"/>
  </p:sldMasterIdLst>
  <p:notesMasterIdLst>
    <p:notesMasterId r:id="rId16"/>
  </p:notesMasterIdLst>
  <p:sldIdLst>
    <p:sldId id="256" r:id="rId2"/>
    <p:sldId id="267" r:id="rId3"/>
    <p:sldId id="257" r:id="rId4"/>
    <p:sldId id="269" r:id="rId5"/>
    <p:sldId id="258" r:id="rId6"/>
    <p:sldId id="260" r:id="rId7"/>
    <p:sldId id="261" r:id="rId8"/>
    <p:sldId id="262" r:id="rId9"/>
    <p:sldId id="270" r:id="rId10"/>
    <p:sldId id="263" r:id="rId11"/>
    <p:sldId id="264" r:id="rId12"/>
    <p:sldId id="265" r:id="rId13"/>
    <p:sldId id="271" r:id="rId14"/>
    <p:sldId id="266" r:id="rId15"/>
  </p:sldIdLst>
  <p:sldSz cx="9144000" cy="5143500" type="screen16x9"/>
  <p:notesSz cx="9144000" cy="51435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65"/>
    <p:restoredTop sz="94682"/>
  </p:normalViewPr>
  <p:slideViewPr>
    <p:cSldViewPr>
      <p:cViewPr varScale="1">
        <p:scale>
          <a:sx n="154" d="100"/>
          <a:sy n="154" d="100"/>
        </p:scale>
        <p:origin x="208" y="3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08474987-2E5A-2147-B627-C19D6939B338}" type="datetimeFigureOut">
              <a:rPr lang="en-US" smtClean="0"/>
              <a:t>8/31/26</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A0D135C8-B79E-E143-BA45-2D779F27E3CB}" type="slidenum">
              <a:rPr lang="en-US" smtClean="0"/>
              <a:t>‹#›</a:t>
            </a:fld>
            <a:endParaRPr lang="en-US"/>
          </a:p>
        </p:txBody>
      </p:sp>
    </p:spTree>
    <p:extLst>
      <p:ext uri="{BB962C8B-B14F-4D97-AF65-F5344CB8AC3E}">
        <p14:creationId xmlns:p14="http://schemas.microsoft.com/office/powerpoint/2010/main" val="1982850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9712501653</a:t>
            </a:r>
          </a:p>
          <a:p>
            <a:endParaRPr lang="en-US" dirty="0"/>
          </a:p>
        </p:txBody>
      </p:sp>
      <p:sp>
        <p:nvSpPr>
          <p:cNvPr id="4" name="Slide Number Placeholder 3"/>
          <p:cNvSpPr>
            <a:spLocks noGrp="1"/>
          </p:cNvSpPr>
          <p:nvPr>
            <p:ph type="sldNum" sz="quarter" idx="5"/>
          </p:nvPr>
        </p:nvSpPr>
        <p:spPr/>
        <p:txBody>
          <a:bodyPr/>
          <a:lstStyle/>
          <a:p>
            <a:fld id="{A0D135C8-B79E-E143-BA45-2D779F27E3CB}" type="slidenum">
              <a:rPr lang="en-US" smtClean="0"/>
              <a:t>14</a:t>
            </a:fld>
            <a:endParaRPr lang="en-US"/>
          </a:p>
        </p:txBody>
      </p:sp>
    </p:spTree>
    <p:extLst>
      <p:ext uri="{BB962C8B-B14F-4D97-AF65-F5344CB8AC3E}">
        <p14:creationId xmlns:p14="http://schemas.microsoft.com/office/powerpoint/2010/main" val="4047351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7217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0389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21030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77579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8/31/26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72142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8/31/26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040337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8/31/26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855826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55326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74303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73195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02320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7795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203344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12373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94607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1D8BD707-D9CF-40AE-B4C6-C98DA3205C09}" type="datetimeFigureOut">
              <a:rPr lang="en-US" smtClean="0"/>
              <a:t>8/31/26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691619357"/>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89207" y="1558063"/>
            <a:ext cx="7691755" cy="1618615"/>
          </a:xfrm>
          <a:prstGeom prst="rect">
            <a:avLst/>
          </a:prstGeom>
        </p:spPr>
        <p:txBody>
          <a:bodyPr vert="horz" wrap="square" lIns="0" tIns="0" rIns="0" bIns="0" rtlCol="0">
            <a:spAutoFit/>
          </a:bodyPr>
          <a:lstStyle/>
          <a:p>
            <a:pPr marL="2963545" marR="5080" indent="-2951480">
              <a:lnSpc>
                <a:spcPts val="6420"/>
              </a:lnSpc>
            </a:pPr>
            <a:r>
              <a:rPr sz="5100" spc="-5" dirty="0"/>
              <a:t>Near Field</a:t>
            </a:r>
            <a:r>
              <a:rPr sz="5100" dirty="0"/>
              <a:t> </a:t>
            </a:r>
            <a:r>
              <a:rPr sz="5100" spc="-5" dirty="0"/>
              <a:t>Communication </a:t>
            </a:r>
            <a:r>
              <a:rPr sz="5100" spc="-1400" dirty="0"/>
              <a:t> </a:t>
            </a:r>
            <a:r>
              <a:rPr sz="5100" spc="-5" dirty="0"/>
              <a:t>(NFC)</a:t>
            </a:r>
            <a:endParaRPr sz="5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304800" y="438150"/>
            <a:ext cx="3520306" cy="440011"/>
          </a:xfrm>
          <a:prstGeom prst="rect">
            <a:avLst/>
          </a:prstGeom>
          <a:noFill/>
          <a:ln/>
        </p:spPr>
        <p:txBody>
          <a:bodyPr wrap="none" lIns="0" tIns="0" rIns="0" bIns="0" rtlCol="0" anchor="t"/>
          <a:lstStyle/>
          <a:p>
            <a:pPr>
              <a:lnSpc>
                <a:spcPts val="3438"/>
              </a:lnSpc>
            </a:pPr>
            <a:r>
              <a:rPr lang="en-US" sz="2750" b="1" dirty="0">
                <a:solidFill>
                  <a:srgbClr val="002060"/>
                </a:solidFill>
                <a:latin typeface="Lucida Sans" panose="020B0602030504020204" pitchFamily="34" charset="0"/>
                <a:ea typeface="Overpass Bold" pitchFamily="34" charset="-122"/>
                <a:cs typeface="Overpass Bold" pitchFamily="34" charset="-120"/>
              </a:rPr>
              <a:t>What is NFC?</a:t>
            </a:r>
            <a:endParaRPr lang="en-US" sz="2750" dirty="0">
              <a:solidFill>
                <a:srgbClr val="002060"/>
              </a:solidFill>
              <a:latin typeface="Lucida Sans" panose="020B0602030504020204" pitchFamily="34" charset="0"/>
            </a:endParaRPr>
          </a:p>
        </p:txBody>
      </p:sp>
      <p:sp>
        <p:nvSpPr>
          <p:cNvPr id="3" name="Text 1"/>
          <p:cNvSpPr/>
          <p:nvPr/>
        </p:nvSpPr>
        <p:spPr>
          <a:xfrm>
            <a:off x="523577" y="1504950"/>
            <a:ext cx="8096845" cy="478780"/>
          </a:xfrm>
          <a:prstGeom prst="rect">
            <a:avLst/>
          </a:prstGeom>
          <a:noFill/>
          <a:ln/>
        </p:spPr>
        <p:txBody>
          <a:bodyPr wrap="square" lIns="0" tIns="0" rIns="0" bIns="0" rtlCol="0" anchor="t"/>
          <a:lstStyle/>
          <a:p>
            <a:pPr>
              <a:lnSpc>
                <a:spcPts val="1875"/>
              </a:lnSpc>
            </a:pPr>
            <a:r>
              <a:rPr lang="en-US" sz="1200" dirty="0">
                <a:solidFill>
                  <a:srgbClr val="002060"/>
                </a:solidFill>
                <a:latin typeface="Lucida Sans" panose="020B0602030504020204" pitchFamily="34" charset="0"/>
                <a:ea typeface="Overpass" pitchFamily="34" charset="-122"/>
                <a:cs typeface="Overpass" pitchFamily="34" charset="-120"/>
              </a:rPr>
              <a:t>Near Field Communication (NFC) is a short-range wireless technology that makes life easier and more convenient for consumers around the world.</a:t>
            </a:r>
            <a:endParaRPr lang="en-US" sz="1200" dirty="0">
              <a:solidFill>
                <a:srgbClr val="002060"/>
              </a:solidFill>
              <a:latin typeface="Lucida Sans" panose="020B0602030504020204" pitchFamily="34" charset="0"/>
            </a:endParaRPr>
          </a:p>
        </p:txBody>
      </p:sp>
      <p:sp>
        <p:nvSpPr>
          <p:cNvPr id="4" name="Text 2"/>
          <p:cNvSpPr/>
          <p:nvPr/>
        </p:nvSpPr>
        <p:spPr>
          <a:xfrm>
            <a:off x="523577" y="2151980"/>
            <a:ext cx="8096845" cy="239390"/>
          </a:xfrm>
          <a:prstGeom prst="rect">
            <a:avLst/>
          </a:prstGeom>
          <a:noFill/>
          <a:ln/>
        </p:spPr>
        <p:txBody>
          <a:bodyPr wrap="none" lIns="0" tIns="0" rIns="0" bIns="0" rtlCol="0" anchor="t"/>
          <a:lstStyle/>
          <a:p>
            <a:pPr>
              <a:lnSpc>
                <a:spcPts val="1875"/>
              </a:lnSpc>
            </a:pPr>
            <a:r>
              <a:rPr lang="en-US" sz="1200" dirty="0">
                <a:solidFill>
                  <a:srgbClr val="002060"/>
                </a:solidFill>
                <a:latin typeface="Lucida Sans" panose="020B0602030504020204" pitchFamily="34" charset="0"/>
                <a:ea typeface="Overpass" pitchFamily="34" charset="-122"/>
                <a:cs typeface="Overpass" pitchFamily="34" charset="-120"/>
              </a:rPr>
              <a:t>It enables communication between two electronic devices over a distance of 4 cm (about 1.5 inches) or less.</a:t>
            </a:r>
            <a:endParaRPr lang="en-US" sz="1200" dirty="0">
              <a:solidFill>
                <a:srgbClr val="002060"/>
              </a:solidFill>
              <a:latin typeface="Lucida Sans" panose="020B0602030504020204" pitchFamily="34" charset="0"/>
            </a:endParaRPr>
          </a:p>
        </p:txBody>
      </p:sp>
      <p:sp>
        <p:nvSpPr>
          <p:cNvPr id="5" name="Text 3"/>
          <p:cNvSpPr/>
          <p:nvPr/>
        </p:nvSpPr>
        <p:spPr>
          <a:xfrm>
            <a:off x="523577" y="2559621"/>
            <a:ext cx="8096845" cy="239390"/>
          </a:xfrm>
          <a:prstGeom prst="rect">
            <a:avLst/>
          </a:prstGeom>
          <a:noFill/>
          <a:ln/>
        </p:spPr>
        <p:txBody>
          <a:bodyPr wrap="none" lIns="0" tIns="0" rIns="0" bIns="0" rtlCol="0" anchor="t"/>
          <a:lstStyle/>
          <a:p>
            <a:pPr>
              <a:lnSpc>
                <a:spcPts val="1875"/>
              </a:lnSpc>
            </a:pPr>
            <a:r>
              <a:rPr lang="en-US" sz="1200" dirty="0">
                <a:solidFill>
                  <a:srgbClr val="002060"/>
                </a:solidFill>
                <a:latin typeface="Lucida Sans" panose="020B0602030504020204" pitchFamily="34" charset="0"/>
                <a:ea typeface="Overpass" pitchFamily="34" charset="-122"/>
                <a:cs typeface="Overpass" pitchFamily="34" charset="-120"/>
              </a:rPr>
              <a:t>NFC is the technology behind contactless cards, mobile payments, and simple data sharing with just a tap.</a:t>
            </a:r>
            <a:endParaRPr lang="en-US" sz="1200" dirty="0">
              <a:solidFill>
                <a:srgbClr val="002060"/>
              </a:solidFill>
              <a:latin typeface="Lucida Sans" panose="020B0602030504020204" pitchFamily="34" charset="0"/>
            </a:endParaRPr>
          </a:p>
        </p:txBody>
      </p:sp>
      <p:sp>
        <p:nvSpPr>
          <p:cNvPr id="6" name="Text 4"/>
          <p:cNvSpPr/>
          <p:nvPr/>
        </p:nvSpPr>
        <p:spPr>
          <a:xfrm>
            <a:off x="523577" y="2967261"/>
            <a:ext cx="8096845" cy="239390"/>
          </a:xfrm>
          <a:prstGeom prst="rect">
            <a:avLst/>
          </a:prstGeom>
          <a:noFill/>
          <a:ln/>
        </p:spPr>
        <p:txBody>
          <a:bodyPr wrap="none" lIns="0" tIns="0" rIns="0" bIns="0" rtlCol="0" anchor="t"/>
          <a:lstStyle/>
          <a:p>
            <a:pPr>
              <a:lnSpc>
                <a:spcPts val="1875"/>
              </a:lnSpc>
            </a:pPr>
            <a:r>
              <a:rPr lang="en-US" sz="1200" b="1" dirty="0">
                <a:solidFill>
                  <a:srgbClr val="002060"/>
                </a:solidFill>
                <a:latin typeface="Lucida Sans" panose="020B0602030504020204" pitchFamily="34" charset="0"/>
                <a:ea typeface="Overpass" pitchFamily="34" charset="-122"/>
                <a:cs typeface="Overpass" pitchFamily="34" charset="-120"/>
              </a:rPr>
              <a:t>Key takeaway:</a:t>
            </a:r>
            <a:r>
              <a:rPr lang="en-US" sz="1200" dirty="0">
                <a:solidFill>
                  <a:srgbClr val="002060"/>
                </a:solidFill>
                <a:latin typeface="Lucida Sans" panose="020B0602030504020204" pitchFamily="34" charset="0"/>
                <a:ea typeface="Overpass" pitchFamily="34" charset="-122"/>
                <a:cs typeface="Overpass" pitchFamily="34" charset="-120"/>
              </a:rPr>
              <a:t> It's all about simple, secure, and intuitive interaction.</a:t>
            </a:r>
            <a:endParaRPr lang="en-US" sz="1200" dirty="0">
              <a:solidFill>
                <a:srgbClr val="002060"/>
              </a:solidFill>
              <a:latin typeface="Lucida Sans" panose="020B060203050402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2021" y="987146"/>
            <a:ext cx="4775200" cy="3547110"/>
          </a:xfrm>
          <a:prstGeom prst="rect">
            <a:avLst/>
          </a:prstGeom>
        </p:spPr>
        <p:txBody>
          <a:bodyPr vert="horz" wrap="square" lIns="0" tIns="12700" rIns="0" bIns="0" rtlCol="0">
            <a:spAutoFit/>
          </a:bodyPr>
          <a:lstStyle/>
          <a:p>
            <a:pPr marL="329565" marR="5080" indent="-317500" algn="just">
              <a:lnSpc>
                <a:spcPct val="150100"/>
              </a:lnSpc>
              <a:spcBef>
                <a:spcPts val="100"/>
              </a:spcBef>
              <a:buFont typeface="Arial MT"/>
              <a:buChar char="●"/>
              <a:tabLst>
                <a:tab pos="330200" algn="l"/>
              </a:tabLst>
            </a:pPr>
            <a:r>
              <a:rPr sz="1400" dirty="0">
                <a:latin typeface="Arial MT"/>
                <a:cs typeface="Arial MT"/>
              </a:rPr>
              <a:t>A </a:t>
            </a:r>
            <a:r>
              <a:rPr sz="1400" spc="-5" dirty="0">
                <a:latin typeface="Arial MT"/>
                <a:cs typeface="Arial MT"/>
              </a:rPr>
              <a:t>short-range wireless</a:t>
            </a:r>
            <a:r>
              <a:rPr sz="1400" dirty="0">
                <a:latin typeface="Arial MT"/>
                <a:cs typeface="Arial MT"/>
              </a:rPr>
              <a:t> </a:t>
            </a:r>
            <a:r>
              <a:rPr sz="1400" spc="-5" dirty="0">
                <a:latin typeface="Arial MT"/>
                <a:cs typeface="Arial MT"/>
              </a:rPr>
              <a:t>connectivity technology </a:t>
            </a:r>
            <a:r>
              <a:rPr sz="1400" dirty="0">
                <a:latin typeface="Arial MT"/>
                <a:cs typeface="Arial MT"/>
              </a:rPr>
              <a:t>mainly </a:t>
            </a:r>
            <a:r>
              <a:rPr sz="1400" spc="5" dirty="0">
                <a:latin typeface="Arial MT"/>
                <a:cs typeface="Arial MT"/>
              </a:rPr>
              <a:t> </a:t>
            </a:r>
            <a:r>
              <a:rPr sz="1400" dirty="0">
                <a:latin typeface="Arial MT"/>
                <a:cs typeface="Arial MT"/>
              </a:rPr>
              <a:t>aimed</a:t>
            </a:r>
            <a:r>
              <a:rPr sz="1400" spc="-30" dirty="0">
                <a:latin typeface="Arial MT"/>
                <a:cs typeface="Arial MT"/>
              </a:rPr>
              <a:t> </a:t>
            </a:r>
            <a:r>
              <a:rPr sz="1400" dirty="0">
                <a:latin typeface="Arial MT"/>
                <a:cs typeface="Arial MT"/>
              </a:rPr>
              <a:t>for</a:t>
            </a:r>
            <a:r>
              <a:rPr sz="1400" spc="-20" dirty="0">
                <a:latin typeface="Arial MT"/>
                <a:cs typeface="Arial MT"/>
              </a:rPr>
              <a:t> </a:t>
            </a:r>
            <a:r>
              <a:rPr sz="1400" dirty="0">
                <a:latin typeface="Arial MT"/>
                <a:cs typeface="Arial MT"/>
              </a:rPr>
              <a:t>mobile</a:t>
            </a:r>
            <a:r>
              <a:rPr sz="1400" spc="-20" dirty="0">
                <a:latin typeface="Arial MT"/>
                <a:cs typeface="Arial MT"/>
              </a:rPr>
              <a:t> </a:t>
            </a:r>
            <a:r>
              <a:rPr sz="1400" spc="-5" dirty="0">
                <a:latin typeface="Arial MT"/>
                <a:cs typeface="Arial MT"/>
              </a:rPr>
              <a:t>or</a:t>
            </a:r>
            <a:r>
              <a:rPr sz="1400" spc="-20" dirty="0">
                <a:latin typeface="Arial MT"/>
                <a:cs typeface="Arial MT"/>
              </a:rPr>
              <a:t> </a:t>
            </a:r>
            <a:r>
              <a:rPr sz="1400" spc="-5" dirty="0">
                <a:latin typeface="Arial MT"/>
                <a:cs typeface="Arial MT"/>
              </a:rPr>
              <a:t>handheld</a:t>
            </a:r>
            <a:r>
              <a:rPr sz="1400" spc="-30" dirty="0">
                <a:latin typeface="Arial MT"/>
                <a:cs typeface="Arial MT"/>
              </a:rPr>
              <a:t> </a:t>
            </a:r>
            <a:r>
              <a:rPr sz="1400" spc="-5" dirty="0">
                <a:latin typeface="Arial MT"/>
                <a:cs typeface="Arial MT"/>
              </a:rPr>
              <a:t>devices.</a:t>
            </a:r>
            <a:endParaRPr sz="1400">
              <a:latin typeface="Arial MT"/>
              <a:cs typeface="Arial MT"/>
            </a:endParaRPr>
          </a:p>
          <a:p>
            <a:pPr marL="329565" marR="5715" indent="-317500" algn="just">
              <a:lnSpc>
                <a:spcPct val="150000"/>
              </a:lnSpc>
              <a:buChar char="●"/>
              <a:tabLst>
                <a:tab pos="330200" algn="l"/>
              </a:tabLst>
            </a:pPr>
            <a:r>
              <a:rPr sz="1400" dirty="0">
                <a:latin typeface="Arial MT"/>
                <a:cs typeface="Arial MT"/>
              </a:rPr>
              <a:t>A </a:t>
            </a:r>
            <a:r>
              <a:rPr sz="1400" spc="-5" dirty="0">
                <a:latin typeface="Arial MT"/>
                <a:cs typeface="Arial MT"/>
              </a:rPr>
              <a:t>subset </a:t>
            </a:r>
            <a:r>
              <a:rPr sz="1400" spc="-10" dirty="0">
                <a:latin typeface="Arial MT"/>
                <a:cs typeface="Arial MT"/>
              </a:rPr>
              <a:t>of</a:t>
            </a:r>
            <a:r>
              <a:rPr sz="1400" spc="-5" dirty="0">
                <a:latin typeface="Arial MT"/>
                <a:cs typeface="Arial MT"/>
              </a:rPr>
              <a:t> </a:t>
            </a:r>
            <a:r>
              <a:rPr sz="1400" spc="-10" dirty="0">
                <a:latin typeface="Arial MT"/>
                <a:cs typeface="Arial MT"/>
              </a:rPr>
              <a:t>RFID</a:t>
            </a:r>
            <a:r>
              <a:rPr sz="1400" spc="-5" dirty="0">
                <a:latin typeface="Arial MT"/>
                <a:cs typeface="Arial MT"/>
              </a:rPr>
              <a:t> technology with</a:t>
            </a:r>
            <a:r>
              <a:rPr sz="1400" spc="375" dirty="0">
                <a:latin typeface="Arial MT"/>
                <a:cs typeface="Arial MT"/>
              </a:rPr>
              <a:t> </a:t>
            </a:r>
            <a:r>
              <a:rPr sz="1400" spc="-5" dirty="0">
                <a:latin typeface="Arial MT"/>
                <a:cs typeface="Arial MT"/>
              </a:rPr>
              <a:t>the exception that </a:t>
            </a:r>
            <a:r>
              <a:rPr sz="1400" dirty="0">
                <a:latin typeface="Arial MT"/>
                <a:cs typeface="Arial MT"/>
              </a:rPr>
              <a:t> </a:t>
            </a:r>
            <a:r>
              <a:rPr sz="1400" spc="-5" dirty="0">
                <a:latin typeface="Arial MT"/>
                <a:cs typeface="Arial MT"/>
              </a:rPr>
              <a:t>NFC</a:t>
            </a:r>
            <a:r>
              <a:rPr sz="1400" dirty="0">
                <a:latin typeface="Arial MT"/>
                <a:cs typeface="Arial MT"/>
              </a:rPr>
              <a:t> is</a:t>
            </a:r>
            <a:r>
              <a:rPr sz="1400" spc="5" dirty="0">
                <a:latin typeface="Arial MT"/>
                <a:cs typeface="Arial MT"/>
              </a:rPr>
              <a:t> </a:t>
            </a:r>
            <a:r>
              <a:rPr sz="1400" spc="-5" dirty="0">
                <a:latin typeface="Arial MT"/>
                <a:cs typeface="Arial MT"/>
              </a:rPr>
              <a:t>designed</a:t>
            </a:r>
            <a:r>
              <a:rPr sz="1400" dirty="0">
                <a:latin typeface="Arial MT"/>
                <a:cs typeface="Arial MT"/>
              </a:rPr>
              <a:t> </a:t>
            </a:r>
            <a:r>
              <a:rPr sz="1400" spc="-5" dirty="0">
                <a:latin typeface="Arial MT"/>
                <a:cs typeface="Arial MT"/>
              </a:rPr>
              <a:t>for</a:t>
            </a:r>
            <a:r>
              <a:rPr sz="1400" dirty="0">
                <a:latin typeface="Arial MT"/>
                <a:cs typeface="Arial MT"/>
              </a:rPr>
              <a:t> use</a:t>
            </a:r>
            <a:r>
              <a:rPr sz="1400" spc="5" dirty="0">
                <a:latin typeface="Arial MT"/>
                <a:cs typeface="Arial MT"/>
              </a:rPr>
              <a:t> </a:t>
            </a:r>
            <a:r>
              <a:rPr sz="1400" spc="-5" dirty="0">
                <a:latin typeface="Arial MT"/>
                <a:cs typeface="Arial MT"/>
              </a:rPr>
              <a:t>by</a:t>
            </a:r>
            <a:r>
              <a:rPr sz="1400" dirty="0">
                <a:latin typeface="Arial MT"/>
                <a:cs typeface="Arial MT"/>
              </a:rPr>
              <a:t> </a:t>
            </a:r>
            <a:r>
              <a:rPr sz="1400" spc="-5" dirty="0">
                <a:latin typeface="Arial MT"/>
                <a:cs typeface="Arial MT"/>
              </a:rPr>
              <a:t>devices</a:t>
            </a:r>
            <a:r>
              <a:rPr sz="1400" dirty="0">
                <a:latin typeface="Arial MT"/>
                <a:cs typeface="Arial MT"/>
              </a:rPr>
              <a:t> </a:t>
            </a:r>
            <a:r>
              <a:rPr sz="1400" spc="-5" dirty="0">
                <a:latin typeface="Arial MT"/>
                <a:cs typeface="Arial MT"/>
              </a:rPr>
              <a:t>within</a:t>
            </a:r>
            <a:r>
              <a:rPr sz="1400" dirty="0">
                <a:latin typeface="Arial MT"/>
                <a:cs typeface="Arial MT"/>
              </a:rPr>
              <a:t> </a:t>
            </a:r>
            <a:r>
              <a:rPr sz="1400" spc="-5" dirty="0">
                <a:latin typeface="Arial MT"/>
                <a:cs typeface="Arial MT"/>
              </a:rPr>
              <a:t>close </a:t>
            </a:r>
            <a:r>
              <a:rPr sz="1400" dirty="0">
                <a:latin typeface="Arial MT"/>
                <a:cs typeface="Arial MT"/>
              </a:rPr>
              <a:t> </a:t>
            </a:r>
            <a:r>
              <a:rPr sz="1400" spc="-5" dirty="0">
                <a:latin typeface="Arial MT"/>
                <a:cs typeface="Arial MT"/>
              </a:rPr>
              <a:t>proximity </a:t>
            </a:r>
            <a:r>
              <a:rPr sz="1400" spc="5" dirty="0">
                <a:latin typeface="Arial MT"/>
                <a:cs typeface="Arial MT"/>
              </a:rPr>
              <a:t>to </a:t>
            </a:r>
            <a:r>
              <a:rPr sz="1400" spc="-5" dirty="0">
                <a:latin typeface="Arial MT"/>
                <a:cs typeface="Arial MT"/>
              </a:rPr>
              <a:t>each other (less than 10cm) thus providing </a:t>
            </a:r>
            <a:r>
              <a:rPr sz="1400" dirty="0">
                <a:latin typeface="Arial MT"/>
                <a:cs typeface="Arial MT"/>
              </a:rPr>
              <a:t> more</a:t>
            </a:r>
            <a:r>
              <a:rPr sz="1400" spc="-30" dirty="0">
                <a:latin typeface="Arial MT"/>
                <a:cs typeface="Arial MT"/>
              </a:rPr>
              <a:t> </a:t>
            </a:r>
            <a:r>
              <a:rPr sz="1400" spc="-5" dirty="0">
                <a:latin typeface="Arial MT"/>
                <a:cs typeface="Arial MT"/>
              </a:rPr>
              <a:t>privacy</a:t>
            </a:r>
            <a:r>
              <a:rPr sz="1400" spc="-10" dirty="0">
                <a:latin typeface="Arial MT"/>
                <a:cs typeface="Arial MT"/>
              </a:rPr>
              <a:t> </a:t>
            </a:r>
            <a:r>
              <a:rPr sz="1400" spc="-5" dirty="0">
                <a:latin typeface="Arial MT"/>
                <a:cs typeface="Arial MT"/>
              </a:rPr>
              <a:t>and</a:t>
            </a:r>
            <a:r>
              <a:rPr sz="1400" spc="-20" dirty="0">
                <a:latin typeface="Arial MT"/>
                <a:cs typeface="Arial MT"/>
              </a:rPr>
              <a:t> </a:t>
            </a:r>
            <a:r>
              <a:rPr sz="1400" dirty="0">
                <a:latin typeface="Arial MT"/>
                <a:cs typeface="Arial MT"/>
              </a:rPr>
              <a:t>security.</a:t>
            </a:r>
            <a:endParaRPr sz="1400">
              <a:latin typeface="Arial MT"/>
              <a:cs typeface="Arial MT"/>
            </a:endParaRPr>
          </a:p>
          <a:p>
            <a:pPr marL="329565" indent="-317500" algn="just">
              <a:lnSpc>
                <a:spcPct val="100000"/>
              </a:lnSpc>
              <a:spcBef>
                <a:spcPts val="840"/>
              </a:spcBef>
              <a:buChar char="●"/>
              <a:tabLst>
                <a:tab pos="330200" algn="l"/>
              </a:tabLst>
            </a:pPr>
            <a:r>
              <a:rPr sz="1400" spc="-5" dirty="0">
                <a:latin typeface="Arial MT"/>
                <a:cs typeface="Arial MT"/>
              </a:rPr>
              <a:t>Allows</a:t>
            </a:r>
            <a:r>
              <a:rPr sz="1400" spc="765" dirty="0">
                <a:latin typeface="Arial MT"/>
                <a:cs typeface="Arial MT"/>
              </a:rPr>
              <a:t> </a:t>
            </a:r>
            <a:r>
              <a:rPr sz="1400" spc="-5" dirty="0">
                <a:latin typeface="Arial MT"/>
                <a:cs typeface="Arial MT"/>
              </a:rPr>
              <a:t>two-way</a:t>
            </a:r>
            <a:r>
              <a:rPr sz="1400" spc="745" dirty="0">
                <a:latin typeface="Arial MT"/>
                <a:cs typeface="Arial MT"/>
              </a:rPr>
              <a:t> </a:t>
            </a:r>
            <a:r>
              <a:rPr sz="1400" spc="-5" dirty="0">
                <a:latin typeface="Arial MT"/>
                <a:cs typeface="Arial MT"/>
              </a:rPr>
              <a:t>communication</a:t>
            </a:r>
            <a:r>
              <a:rPr sz="1400" spc="745" dirty="0">
                <a:latin typeface="Arial MT"/>
                <a:cs typeface="Arial MT"/>
              </a:rPr>
              <a:t> </a:t>
            </a:r>
            <a:r>
              <a:rPr sz="1400" spc="-5" dirty="0">
                <a:latin typeface="Arial MT"/>
                <a:cs typeface="Arial MT"/>
              </a:rPr>
              <a:t>between</a:t>
            </a:r>
            <a:r>
              <a:rPr sz="1400" spc="760" dirty="0">
                <a:latin typeface="Arial MT"/>
                <a:cs typeface="Arial MT"/>
              </a:rPr>
              <a:t> </a:t>
            </a:r>
            <a:r>
              <a:rPr sz="1400" spc="-5" dirty="0">
                <a:latin typeface="Arial MT"/>
                <a:cs typeface="Arial MT"/>
              </a:rPr>
              <a:t>endpoints,</a:t>
            </a:r>
            <a:endParaRPr sz="1400">
              <a:latin typeface="Arial MT"/>
              <a:cs typeface="Arial MT"/>
            </a:endParaRPr>
          </a:p>
          <a:p>
            <a:pPr marL="329565">
              <a:lnSpc>
                <a:spcPct val="100000"/>
              </a:lnSpc>
              <a:spcBef>
                <a:spcPts val="840"/>
              </a:spcBef>
            </a:pPr>
            <a:r>
              <a:rPr sz="1400" dirty="0">
                <a:latin typeface="Arial MT"/>
                <a:cs typeface="Arial MT"/>
              </a:rPr>
              <a:t>whereas</a:t>
            </a:r>
            <a:r>
              <a:rPr sz="1400" spc="-35" dirty="0">
                <a:latin typeface="Arial MT"/>
                <a:cs typeface="Arial MT"/>
              </a:rPr>
              <a:t> </a:t>
            </a:r>
            <a:r>
              <a:rPr sz="1400" spc="-5" dirty="0">
                <a:latin typeface="Arial MT"/>
                <a:cs typeface="Arial MT"/>
              </a:rPr>
              <a:t>RFID</a:t>
            </a:r>
            <a:r>
              <a:rPr sz="1400" spc="-20" dirty="0">
                <a:latin typeface="Arial MT"/>
                <a:cs typeface="Arial MT"/>
              </a:rPr>
              <a:t> </a:t>
            </a:r>
            <a:r>
              <a:rPr sz="1400" dirty="0">
                <a:latin typeface="Arial MT"/>
                <a:cs typeface="Arial MT"/>
              </a:rPr>
              <a:t>system</a:t>
            </a:r>
            <a:r>
              <a:rPr sz="1400" spc="-35" dirty="0">
                <a:latin typeface="Arial MT"/>
                <a:cs typeface="Arial MT"/>
              </a:rPr>
              <a:t> </a:t>
            </a:r>
            <a:r>
              <a:rPr sz="1400" spc="-5" dirty="0">
                <a:latin typeface="Arial MT"/>
                <a:cs typeface="Arial MT"/>
              </a:rPr>
              <a:t>was</a:t>
            </a:r>
            <a:r>
              <a:rPr sz="1400" dirty="0">
                <a:latin typeface="Arial MT"/>
                <a:cs typeface="Arial MT"/>
              </a:rPr>
              <a:t> </a:t>
            </a:r>
            <a:r>
              <a:rPr sz="1400" spc="-5" dirty="0">
                <a:latin typeface="Arial MT"/>
                <a:cs typeface="Arial MT"/>
              </a:rPr>
              <a:t>one-way</a:t>
            </a:r>
            <a:r>
              <a:rPr sz="1400" spc="-20" dirty="0">
                <a:latin typeface="Arial MT"/>
                <a:cs typeface="Arial MT"/>
              </a:rPr>
              <a:t> </a:t>
            </a:r>
            <a:r>
              <a:rPr sz="1400" dirty="0">
                <a:latin typeface="Arial MT"/>
                <a:cs typeface="Arial MT"/>
              </a:rPr>
              <a:t>only</a:t>
            </a:r>
            <a:endParaRPr sz="1400">
              <a:latin typeface="Arial MT"/>
              <a:cs typeface="Arial MT"/>
            </a:endParaRPr>
          </a:p>
          <a:p>
            <a:pPr marL="329565" indent="-317500" algn="just">
              <a:lnSpc>
                <a:spcPct val="100000"/>
              </a:lnSpc>
              <a:spcBef>
                <a:spcPts val="840"/>
              </a:spcBef>
              <a:buChar char="●"/>
              <a:tabLst>
                <a:tab pos="330200" algn="l"/>
              </a:tabLst>
            </a:pPr>
            <a:r>
              <a:rPr sz="1400" dirty="0">
                <a:latin typeface="Arial MT"/>
                <a:cs typeface="Arial MT"/>
              </a:rPr>
              <a:t>Operates</a:t>
            </a:r>
            <a:r>
              <a:rPr sz="1400" spc="-65" dirty="0">
                <a:latin typeface="Arial MT"/>
                <a:cs typeface="Arial MT"/>
              </a:rPr>
              <a:t> </a:t>
            </a:r>
            <a:r>
              <a:rPr sz="1400" spc="-5" dirty="0">
                <a:latin typeface="Arial MT"/>
                <a:cs typeface="Arial MT"/>
              </a:rPr>
              <a:t>at</a:t>
            </a:r>
            <a:r>
              <a:rPr sz="1400" spc="-10" dirty="0">
                <a:latin typeface="Arial MT"/>
                <a:cs typeface="Arial MT"/>
              </a:rPr>
              <a:t> </a:t>
            </a:r>
            <a:r>
              <a:rPr sz="1400" spc="-5" dirty="0">
                <a:latin typeface="Arial MT"/>
                <a:cs typeface="Arial MT"/>
              </a:rPr>
              <a:t>13.56</a:t>
            </a:r>
            <a:r>
              <a:rPr sz="1400" spc="-55" dirty="0">
                <a:latin typeface="Arial MT"/>
                <a:cs typeface="Arial MT"/>
              </a:rPr>
              <a:t> </a:t>
            </a:r>
            <a:r>
              <a:rPr sz="1400" spc="-10" dirty="0">
                <a:latin typeface="Arial MT"/>
                <a:cs typeface="Arial MT"/>
              </a:rPr>
              <a:t>MHz</a:t>
            </a:r>
            <a:endParaRPr sz="1400">
              <a:latin typeface="Arial MT"/>
              <a:cs typeface="Arial MT"/>
            </a:endParaRPr>
          </a:p>
          <a:p>
            <a:pPr marL="329565" marR="6985" indent="-317500" algn="just">
              <a:lnSpc>
                <a:spcPct val="150000"/>
              </a:lnSpc>
              <a:buChar char="●"/>
              <a:tabLst>
                <a:tab pos="330200" algn="l"/>
              </a:tabLst>
            </a:pPr>
            <a:r>
              <a:rPr sz="1400" dirty="0">
                <a:latin typeface="Arial MT"/>
                <a:cs typeface="Arial MT"/>
              </a:rPr>
              <a:t>Low</a:t>
            </a:r>
            <a:r>
              <a:rPr sz="1400" spc="5" dirty="0">
                <a:latin typeface="Arial MT"/>
                <a:cs typeface="Arial MT"/>
              </a:rPr>
              <a:t> </a:t>
            </a:r>
            <a:r>
              <a:rPr sz="1400" spc="-5" dirty="0">
                <a:latin typeface="Arial MT"/>
                <a:cs typeface="Arial MT"/>
              </a:rPr>
              <a:t>Data</a:t>
            </a:r>
            <a:r>
              <a:rPr sz="1400" dirty="0">
                <a:latin typeface="Arial MT"/>
                <a:cs typeface="Arial MT"/>
              </a:rPr>
              <a:t> </a:t>
            </a:r>
            <a:r>
              <a:rPr sz="1400" spc="-5" dirty="0">
                <a:latin typeface="Arial MT"/>
                <a:cs typeface="Arial MT"/>
              </a:rPr>
              <a:t>transfer</a:t>
            </a:r>
            <a:r>
              <a:rPr sz="1400" dirty="0">
                <a:latin typeface="Arial MT"/>
                <a:cs typeface="Arial MT"/>
              </a:rPr>
              <a:t> </a:t>
            </a:r>
            <a:r>
              <a:rPr sz="1400" spc="-5" dirty="0">
                <a:latin typeface="Arial MT"/>
                <a:cs typeface="Arial MT"/>
              </a:rPr>
              <a:t>rate:</a:t>
            </a:r>
            <a:r>
              <a:rPr sz="1400" dirty="0">
                <a:latin typeface="Arial MT"/>
                <a:cs typeface="Arial MT"/>
              </a:rPr>
              <a:t> </a:t>
            </a:r>
            <a:r>
              <a:rPr sz="1400" spc="-5" dirty="0">
                <a:latin typeface="Arial MT"/>
                <a:cs typeface="Arial MT"/>
              </a:rPr>
              <a:t>up</a:t>
            </a:r>
            <a:r>
              <a:rPr sz="1400" dirty="0">
                <a:latin typeface="Arial MT"/>
                <a:cs typeface="Arial MT"/>
              </a:rPr>
              <a:t> to</a:t>
            </a:r>
            <a:r>
              <a:rPr sz="1400" spc="5" dirty="0">
                <a:latin typeface="Arial MT"/>
                <a:cs typeface="Arial MT"/>
              </a:rPr>
              <a:t> </a:t>
            </a:r>
            <a:r>
              <a:rPr sz="1400" spc="-5" dirty="0">
                <a:latin typeface="Arial MT"/>
                <a:cs typeface="Arial MT"/>
              </a:rPr>
              <a:t>424</a:t>
            </a:r>
            <a:r>
              <a:rPr sz="1400" dirty="0">
                <a:latin typeface="Arial MT"/>
                <a:cs typeface="Arial MT"/>
              </a:rPr>
              <a:t> </a:t>
            </a:r>
            <a:r>
              <a:rPr sz="1400" spc="-5" dirty="0">
                <a:latin typeface="Arial MT"/>
                <a:cs typeface="Arial MT"/>
              </a:rPr>
              <a:t>kbits/second</a:t>
            </a:r>
            <a:r>
              <a:rPr sz="1400" dirty="0">
                <a:latin typeface="Arial MT"/>
                <a:cs typeface="Arial MT"/>
              </a:rPr>
              <a:t> </a:t>
            </a:r>
            <a:r>
              <a:rPr sz="1400" spc="-10" dirty="0">
                <a:latin typeface="Arial MT"/>
                <a:cs typeface="Arial MT"/>
              </a:rPr>
              <a:t>thus </a:t>
            </a:r>
            <a:r>
              <a:rPr sz="1400" spc="-375" dirty="0">
                <a:latin typeface="Arial MT"/>
                <a:cs typeface="Arial MT"/>
              </a:rPr>
              <a:t> </a:t>
            </a:r>
            <a:r>
              <a:rPr sz="1400" dirty="0">
                <a:latin typeface="Arial MT"/>
                <a:cs typeface="Arial MT"/>
              </a:rPr>
              <a:t>reducing</a:t>
            </a:r>
            <a:r>
              <a:rPr sz="1400" spc="-55" dirty="0">
                <a:latin typeface="Arial MT"/>
                <a:cs typeface="Arial MT"/>
              </a:rPr>
              <a:t> </a:t>
            </a:r>
            <a:r>
              <a:rPr sz="1400" spc="-5" dirty="0">
                <a:latin typeface="Arial MT"/>
                <a:cs typeface="Arial MT"/>
              </a:rPr>
              <a:t>power</a:t>
            </a:r>
            <a:r>
              <a:rPr sz="1400" spc="-10" dirty="0">
                <a:latin typeface="Arial MT"/>
                <a:cs typeface="Arial MT"/>
              </a:rPr>
              <a:t> </a:t>
            </a:r>
            <a:r>
              <a:rPr sz="1400" spc="-5" dirty="0">
                <a:latin typeface="Arial MT"/>
                <a:cs typeface="Arial MT"/>
              </a:rPr>
              <a:t>consumption.</a:t>
            </a:r>
            <a:endParaRPr sz="1400">
              <a:latin typeface="Arial MT"/>
              <a:cs typeface="Arial MT"/>
            </a:endParaRPr>
          </a:p>
        </p:txBody>
      </p:sp>
      <p:sp>
        <p:nvSpPr>
          <p:cNvPr id="3" name="object 3"/>
          <p:cNvSpPr txBox="1">
            <a:spLocks noGrp="1"/>
          </p:cNvSpPr>
          <p:nvPr>
            <p:ph type="title"/>
          </p:nvPr>
        </p:nvSpPr>
        <p:spPr>
          <a:xfrm>
            <a:off x="2428494" y="347548"/>
            <a:ext cx="4730750" cy="406400"/>
          </a:xfrm>
          <a:prstGeom prst="rect">
            <a:avLst/>
          </a:prstGeom>
        </p:spPr>
        <p:txBody>
          <a:bodyPr vert="horz" wrap="square" lIns="0" tIns="12065" rIns="0" bIns="0" rtlCol="0">
            <a:spAutoFit/>
          </a:bodyPr>
          <a:lstStyle/>
          <a:p>
            <a:pPr marL="12700">
              <a:lnSpc>
                <a:spcPct val="100000"/>
              </a:lnSpc>
              <a:spcBef>
                <a:spcPts val="95"/>
              </a:spcBef>
            </a:pPr>
            <a:r>
              <a:rPr spc="-5" dirty="0"/>
              <a:t>Near</a:t>
            </a:r>
            <a:r>
              <a:rPr spc="-10" dirty="0"/>
              <a:t> </a:t>
            </a:r>
            <a:r>
              <a:rPr spc="-5" dirty="0"/>
              <a:t>Field Communication</a:t>
            </a:r>
            <a:r>
              <a:rPr dirty="0"/>
              <a:t> </a:t>
            </a:r>
            <a:r>
              <a:rPr spc="-5" dirty="0"/>
              <a:t>(NFC)</a:t>
            </a:r>
          </a:p>
        </p:txBody>
      </p:sp>
      <p:pic>
        <p:nvPicPr>
          <p:cNvPr id="4" name="object 4"/>
          <p:cNvPicPr/>
          <p:nvPr/>
        </p:nvPicPr>
        <p:blipFill>
          <a:blip r:embed="rId2" cstate="print"/>
          <a:stretch>
            <a:fillRect/>
          </a:stretch>
        </p:blipFill>
        <p:spPr>
          <a:xfrm>
            <a:off x="4972811" y="1295607"/>
            <a:ext cx="3921251" cy="22644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23578" y="742280"/>
            <a:ext cx="3520306" cy="440011"/>
          </a:xfrm>
          <a:prstGeom prst="rect">
            <a:avLst/>
          </a:prstGeom>
          <a:noFill/>
          <a:ln/>
        </p:spPr>
        <p:txBody>
          <a:bodyPr wrap="none" lIns="0" tIns="0" rIns="0" bIns="0" rtlCol="0" anchor="t"/>
          <a:lstStyle/>
          <a:p>
            <a:pPr>
              <a:lnSpc>
                <a:spcPts val="3438"/>
              </a:lnSpc>
            </a:pPr>
            <a:r>
              <a:rPr lang="en-US" sz="2750" b="1" dirty="0">
                <a:solidFill>
                  <a:srgbClr val="002060"/>
                </a:solidFill>
                <a:latin typeface="Lucida Sans" panose="020B0602030504020204" pitchFamily="34" charset="0"/>
                <a:ea typeface="Overpass Bold" pitchFamily="34" charset="-122"/>
                <a:cs typeface="Overpass Bold" pitchFamily="34" charset="-120"/>
              </a:rPr>
              <a:t>The Origins of NFC</a:t>
            </a:r>
            <a:endParaRPr lang="en-US" sz="2750" dirty="0">
              <a:solidFill>
                <a:srgbClr val="002060"/>
              </a:solidFill>
              <a:latin typeface="Lucida Sans" panose="020B0602030504020204" pitchFamily="34" charset="0"/>
            </a:endParaRPr>
          </a:p>
        </p:txBody>
      </p:sp>
      <p:sp>
        <p:nvSpPr>
          <p:cNvPr id="3" name="Shape 1"/>
          <p:cNvSpPr/>
          <p:nvPr/>
        </p:nvSpPr>
        <p:spPr>
          <a:xfrm>
            <a:off x="4562475" y="1481509"/>
            <a:ext cx="19050" cy="2919710"/>
          </a:xfrm>
          <a:prstGeom prst="roundRect">
            <a:avLst>
              <a:gd name="adj" fmla="val 329856"/>
            </a:avLst>
          </a:prstGeom>
          <a:solidFill>
            <a:srgbClr val="971B55"/>
          </a:solidFill>
          <a:ln/>
        </p:spPr>
        <p:txBody>
          <a:bodyPr/>
          <a:lstStyle/>
          <a:p>
            <a:endParaRPr lang="en-US">
              <a:solidFill>
                <a:srgbClr val="002060"/>
              </a:solidFill>
            </a:endParaRPr>
          </a:p>
        </p:txBody>
      </p:sp>
      <p:sp>
        <p:nvSpPr>
          <p:cNvPr id="4" name="Shape 2"/>
          <p:cNvSpPr/>
          <p:nvPr/>
        </p:nvSpPr>
        <p:spPr>
          <a:xfrm>
            <a:off x="4291831" y="1640235"/>
            <a:ext cx="299219" cy="19050"/>
          </a:xfrm>
          <a:prstGeom prst="roundRect">
            <a:avLst>
              <a:gd name="adj" fmla="val 329856"/>
            </a:avLst>
          </a:prstGeom>
          <a:solidFill>
            <a:srgbClr val="971B55"/>
          </a:solidFill>
          <a:ln/>
        </p:spPr>
        <p:txBody>
          <a:bodyPr/>
          <a:lstStyle/>
          <a:p>
            <a:endParaRPr lang="en-US">
              <a:solidFill>
                <a:srgbClr val="002060"/>
              </a:solidFill>
            </a:endParaRPr>
          </a:p>
        </p:txBody>
      </p:sp>
      <p:sp>
        <p:nvSpPr>
          <p:cNvPr id="5" name="Shape 3"/>
          <p:cNvSpPr/>
          <p:nvPr/>
        </p:nvSpPr>
        <p:spPr>
          <a:xfrm>
            <a:off x="4515929" y="1593689"/>
            <a:ext cx="112142" cy="112142"/>
          </a:xfrm>
          <a:prstGeom prst="roundRect">
            <a:avLst>
              <a:gd name="adj" fmla="val 254811"/>
            </a:avLst>
          </a:prstGeom>
          <a:solidFill>
            <a:srgbClr val="F20374"/>
          </a:solidFill>
          <a:ln/>
        </p:spPr>
        <p:txBody>
          <a:bodyPr/>
          <a:lstStyle/>
          <a:p>
            <a:endParaRPr lang="en-US">
              <a:solidFill>
                <a:srgbClr val="002060"/>
              </a:solidFill>
            </a:endParaRPr>
          </a:p>
        </p:txBody>
      </p:sp>
      <p:sp>
        <p:nvSpPr>
          <p:cNvPr id="6" name="Text 4"/>
          <p:cNvSpPr/>
          <p:nvPr/>
        </p:nvSpPr>
        <p:spPr>
          <a:xfrm>
            <a:off x="2213446" y="1532930"/>
            <a:ext cx="1760116" cy="219968"/>
          </a:xfrm>
          <a:prstGeom prst="rect">
            <a:avLst/>
          </a:prstGeom>
          <a:noFill/>
          <a:ln/>
        </p:spPr>
        <p:txBody>
          <a:bodyPr wrap="none" lIns="0" tIns="0" rIns="0" bIns="0" rtlCol="0" anchor="t"/>
          <a:lstStyle/>
          <a:p>
            <a:pPr algn="r">
              <a:lnSpc>
                <a:spcPts val="1719"/>
              </a:lnSpc>
            </a:pPr>
            <a:r>
              <a:rPr lang="en-US" sz="1375" b="1" dirty="0">
                <a:solidFill>
                  <a:srgbClr val="002060"/>
                </a:solidFill>
                <a:latin typeface="Lucida Sans" panose="020B0602030504020204" pitchFamily="34" charset="0"/>
                <a:ea typeface="Overpass Bold" pitchFamily="34" charset="-122"/>
                <a:cs typeface="Overpass Bold" pitchFamily="34" charset="-120"/>
              </a:rPr>
              <a:t>Roots in RFID: 1983</a:t>
            </a:r>
            <a:endParaRPr lang="en-US" sz="1375" dirty="0">
              <a:solidFill>
                <a:srgbClr val="002060"/>
              </a:solidFill>
              <a:latin typeface="Lucida Sans" panose="020B0602030504020204" pitchFamily="34" charset="0"/>
            </a:endParaRPr>
          </a:p>
        </p:txBody>
      </p:sp>
      <p:sp>
        <p:nvSpPr>
          <p:cNvPr id="7" name="Text 5"/>
          <p:cNvSpPr/>
          <p:nvPr/>
        </p:nvSpPr>
        <p:spPr>
          <a:xfrm>
            <a:off x="523578" y="1842641"/>
            <a:ext cx="3449985" cy="718170"/>
          </a:xfrm>
          <a:prstGeom prst="rect">
            <a:avLst/>
          </a:prstGeom>
          <a:noFill/>
          <a:ln/>
        </p:spPr>
        <p:txBody>
          <a:bodyPr wrap="square" lIns="0" tIns="0" rIns="0" bIns="0" rtlCol="0" anchor="t"/>
          <a:lstStyle/>
          <a:p>
            <a:pPr algn="r">
              <a:lnSpc>
                <a:spcPts val="1875"/>
              </a:lnSpc>
            </a:pPr>
            <a:r>
              <a:rPr lang="en-US" sz="1156" dirty="0">
                <a:solidFill>
                  <a:srgbClr val="002060"/>
                </a:solidFill>
                <a:latin typeface="Lucida Sans" panose="020B0602030504020204" pitchFamily="34" charset="0"/>
                <a:ea typeface="Overpass" pitchFamily="34" charset="-122"/>
                <a:cs typeface="Overpass" pitchFamily="34" charset="-120"/>
              </a:rPr>
              <a:t>NFC is built upon Radio-Frequency Identification (RFID) technology. The first patent related to RFID was filed by Charles Walton.</a:t>
            </a:r>
            <a:endParaRPr lang="en-US" sz="1156" dirty="0">
              <a:solidFill>
                <a:srgbClr val="002060"/>
              </a:solidFill>
              <a:latin typeface="Lucida Sans" panose="020B0602030504020204" pitchFamily="34" charset="0"/>
            </a:endParaRPr>
          </a:p>
        </p:txBody>
      </p:sp>
      <p:sp>
        <p:nvSpPr>
          <p:cNvPr id="8" name="Shape 6"/>
          <p:cNvSpPr/>
          <p:nvPr/>
        </p:nvSpPr>
        <p:spPr>
          <a:xfrm>
            <a:off x="4552950" y="2537892"/>
            <a:ext cx="299219" cy="19050"/>
          </a:xfrm>
          <a:prstGeom prst="roundRect">
            <a:avLst>
              <a:gd name="adj" fmla="val 329856"/>
            </a:avLst>
          </a:prstGeom>
          <a:solidFill>
            <a:srgbClr val="971B55"/>
          </a:solidFill>
          <a:ln/>
        </p:spPr>
        <p:txBody>
          <a:bodyPr/>
          <a:lstStyle/>
          <a:p>
            <a:endParaRPr lang="en-US">
              <a:solidFill>
                <a:srgbClr val="002060"/>
              </a:solidFill>
            </a:endParaRPr>
          </a:p>
        </p:txBody>
      </p:sp>
      <p:sp>
        <p:nvSpPr>
          <p:cNvPr id="9" name="Shape 7"/>
          <p:cNvSpPr/>
          <p:nvPr/>
        </p:nvSpPr>
        <p:spPr>
          <a:xfrm>
            <a:off x="4515929" y="2491346"/>
            <a:ext cx="112142" cy="112142"/>
          </a:xfrm>
          <a:prstGeom prst="roundRect">
            <a:avLst>
              <a:gd name="adj" fmla="val 254811"/>
            </a:avLst>
          </a:prstGeom>
          <a:solidFill>
            <a:srgbClr val="F20374"/>
          </a:solidFill>
          <a:ln/>
        </p:spPr>
        <p:txBody>
          <a:bodyPr/>
          <a:lstStyle/>
          <a:p>
            <a:endParaRPr lang="en-US">
              <a:solidFill>
                <a:srgbClr val="002060"/>
              </a:solidFill>
            </a:endParaRPr>
          </a:p>
        </p:txBody>
      </p:sp>
      <p:sp>
        <p:nvSpPr>
          <p:cNvPr id="10" name="Text 8"/>
          <p:cNvSpPr/>
          <p:nvPr/>
        </p:nvSpPr>
        <p:spPr>
          <a:xfrm>
            <a:off x="5170439" y="2430587"/>
            <a:ext cx="1887289" cy="219968"/>
          </a:xfrm>
          <a:prstGeom prst="rect">
            <a:avLst/>
          </a:prstGeom>
          <a:noFill/>
          <a:ln/>
        </p:spPr>
        <p:txBody>
          <a:bodyPr wrap="none" lIns="0" tIns="0" rIns="0" bIns="0" rtlCol="0" anchor="t"/>
          <a:lstStyle/>
          <a:p>
            <a:pPr>
              <a:lnSpc>
                <a:spcPts val="1719"/>
              </a:lnSpc>
            </a:pPr>
            <a:r>
              <a:rPr lang="en-US" sz="1375" b="1" dirty="0">
                <a:solidFill>
                  <a:srgbClr val="002060"/>
                </a:solidFill>
                <a:latin typeface="Lucida Sans" panose="020B0602030504020204" pitchFamily="34" charset="0"/>
                <a:ea typeface="Overpass Bold" pitchFamily="34" charset="-122"/>
                <a:cs typeface="Overpass Bold" pitchFamily="34" charset="-120"/>
              </a:rPr>
              <a:t>The Birth of NFC: 2002</a:t>
            </a:r>
            <a:endParaRPr lang="en-US" sz="1375" dirty="0">
              <a:solidFill>
                <a:srgbClr val="002060"/>
              </a:solidFill>
              <a:latin typeface="Lucida Sans" panose="020B0602030504020204" pitchFamily="34" charset="0"/>
            </a:endParaRPr>
          </a:p>
        </p:txBody>
      </p:sp>
      <p:sp>
        <p:nvSpPr>
          <p:cNvPr id="11" name="Text 9"/>
          <p:cNvSpPr/>
          <p:nvPr/>
        </p:nvSpPr>
        <p:spPr>
          <a:xfrm>
            <a:off x="5170438" y="2740298"/>
            <a:ext cx="3449985" cy="718170"/>
          </a:xfrm>
          <a:prstGeom prst="rect">
            <a:avLst/>
          </a:prstGeom>
          <a:noFill/>
          <a:ln/>
        </p:spPr>
        <p:txBody>
          <a:bodyPr wrap="square" lIns="0" tIns="0" rIns="0" bIns="0" rtlCol="0" anchor="t"/>
          <a:lstStyle/>
          <a:p>
            <a:pPr>
              <a:lnSpc>
                <a:spcPts val="1875"/>
              </a:lnSpc>
            </a:pPr>
            <a:r>
              <a:rPr lang="en-US" sz="1156" dirty="0">
                <a:solidFill>
                  <a:srgbClr val="002060"/>
                </a:solidFill>
                <a:latin typeface="Lucida Sans" panose="020B0602030504020204" pitchFamily="34" charset="0"/>
                <a:ea typeface="Overpass" pitchFamily="34" charset="-122"/>
                <a:cs typeface="Overpass" pitchFamily="34" charset="-120"/>
              </a:rPr>
              <a:t>Sony and NXP Semiconductors collaborated to develop the specific technology we now know as NFC.</a:t>
            </a:r>
            <a:endParaRPr lang="en-US" sz="1156" dirty="0">
              <a:solidFill>
                <a:srgbClr val="002060"/>
              </a:solidFill>
              <a:latin typeface="Lucida Sans" panose="020B0602030504020204" pitchFamily="34" charset="0"/>
            </a:endParaRPr>
          </a:p>
        </p:txBody>
      </p:sp>
      <p:sp>
        <p:nvSpPr>
          <p:cNvPr id="12" name="Shape 10"/>
          <p:cNvSpPr/>
          <p:nvPr/>
        </p:nvSpPr>
        <p:spPr>
          <a:xfrm>
            <a:off x="4291831" y="3311649"/>
            <a:ext cx="299219" cy="19050"/>
          </a:xfrm>
          <a:prstGeom prst="roundRect">
            <a:avLst>
              <a:gd name="adj" fmla="val 329856"/>
            </a:avLst>
          </a:prstGeom>
          <a:solidFill>
            <a:srgbClr val="971B55"/>
          </a:solidFill>
          <a:ln/>
        </p:spPr>
        <p:txBody>
          <a:bodyPr/>
          <a:lstStyle/>
          <a:p>
            <a:endParaRPr lang="en-US">
              <a:solidFill>
                <a:srgbClr val="002060"/>
              </a:solidFill>
            </a:endParaRPr>
          </a:p>
        </p:txBody>
      </p:sp>
      <p:sp>
        <p:nvSpPr>
          <p:cNvPr id="13" name="Shape 11"/>
          <p:cNvSpPr/>
          <p:nvPr/>
        </p:nvSpPr>
        <p:spPr>
          <a:xfrm>
            <a:off x="4515929" y="3265103"/>
            <a:ext cx="112142" cy="112142"/>
          </a:xfrm>
          <a:prstGeom prst="roundRect">
            <a:avLst>
              <a:gd name="adj" fmla="val 254811"/>
            </a:avLst>
          </a:prstGeom>
          <a:solidFill>
            <a:srgbClr val="F20374"/>
          </a:solidFill>
          <a:ln/>
        </p:spPr>
        <p:txBody>
          <a:bodyPr/>
          <a:lstStyle/>
          <a:p>
            <a:endParaRPr lang="en-US">
              <a:solidFill>
                <a:srgbClr val="002060"/>
              </a:solidFill>
            </a:endParaRPr>
          </a:p>
        </p:txBody>
      </p:sp>
      <p:sp>
        <p:nvSpPr>
          <p:cNvPr id="14" name="Text 12"/>
          <p:cNvSpPr/>
          <p:nvPr/>
        </p:nvSpPr>
        <p:spPr>
          <a:xfrm>
            <a:off x="2124001" y="3204344"/>
            <a:ext cx="1849561" cy="219968"/>
          </a:xfrm>
          <a:prstGeom prst="rect">
            <a:avLst/>
          </a:prstGeom>
          <a:noFill/>
          <a:ln/>
        </p:spPr>
        <p:txBody>
          <a:bodyPr wrap="none" lIns="0" tIns="0" rIns="0" bIns="0" rtlCol="0" anchor="t"/>
          <a:lstStyle/>
          <a:p>
            <a:pPr algn="r">
              <a:lnSpc>
                <a:spcPts val="1719"/>
              </a:lnSpc>
            </a:pPr>
            <a:r>
              <a:rPr lang="en-US" sz="1375" b="1" dirty="0">
                <a:solidFill>
                  <a:srgbClr val="002060"/>
                </a:solidFill>
                <a:latin typeface="Lucida Sans" panose="020B0602030504020204" pitchFamily="34" charset="0"/>
                <a:ea typeface="Overpass Bold" pitchFamily="34" charset="-122"/>
                <a:cs typeface="Overpass Bold" pitchFamily="34" charset="-120"/>
              </a:rPr>
              <a:t>Standardization: 2004</a:t>
            </a:r>
            <a:endParaRPr lang="en-US" sz="1375" dirty="0">
              <a:solidFill>
                <a:srgbClr val="002060"/>
              </a:solidFill>
              <a:latin typeface="Lucida Sans" panose="020B0602030504020204" pitchFamily="34" charset="0"/>
            </a:endParaRPr>
          </a:p>
        </p:txBody>
      </p:sp>
      <p:sp>
        <p:nvSpPr>
          <p:cNvPr id="15" name="Text 13"/>
          <p:cNvSpPr/>
          <p:nvPr/>
        </p:nvSpPr>
        <p:spPr>
          <a:xfrm>
            <a:off x="523578" y="3514055"/>
            <a:ext cx="3449985" cy="718170"/>
          </a:xfrm>
          <a:prstGeom prst="rect">
            <a:avLst/>
          </a:prstGeom>
          <a:noFill/>
          <a:ln/>
        </p:spPr>
        <p:txBody>
          <a:bodyPr wrap="square" lIns="0" tIns="0" rIns="0" bIns="0" rtlCol="0" anchor="t"/>
          <a:lstStyle/>
          <a:p>
            <a:pPr algn="r">
              <a:lnSpc>
                <a:spcPts val="1875"/>
              </a:lnSpc>
            </a:pPr>
            <a:r>
              <a:rPr lang="en-US" sz="1156" dirty="0">
                <a:solidFill>
                  <a:srgbClr val="002060"/>
                </a:solidFill>
                <a:latin typeface="Lucida Sans" panose="020B0602030504020204" pitchFamily="34" charset="0"/>
                <a:ea typeface="Overpass" pitchFamily="34" charset="-122"/>
                <a:cs typeface="Overpass" pitchFamily="34" charset="-120"/>
              </a:rPr>
              <a:t>The NFC Forum was established by Nokia, Philips (now NXP), and Sony to advance the technology and ensure interoperability.</a:t>
            </a:r>
            <a:endParaRPr lang="en-US" sz="1156" dirty="0">
              <a:solidFill>
                <a:srgbClr val="002060"/>
              </a:solidFill>
              <a:latin typeface="Lucida Sans" panose="020B0602030504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duotone>
              <a:prstClr val="black"/>
              <a:schemeClr val="accent4">
                <a:tint val="45000"/>
                <a:satMod val="400000"/>
              </a:schemeClr>
            </a:duotone>
          </a:blip>
          <a:stretch>
            <a:fillRect/>
          </a:stretch>
        </p:blipFill>
        <p:spPr>
          <a:xfrm>
            <a:off x="1444170" y="727592"/>
            <a:ext cx="6254341" cy="4314259"/>
          </a:xfrm>
          <a:prstGeom prst="rect">
            <a:avLst/>
          </a:prstGeom>
        </p:spPr>
      </p:pic>
      <p:sp>
        <p:nvSpPr>
          <p:cNvPr id="3" name="object 3"/>
          <p:cNvSpPr txBox="1">
            <a:spLocks noGrp="1"/>
          </p:cNvSpPr>
          <p:nvPr>
            <p:ph type="title"/>
          </p:nvPr>
        </p:nvSpPr>
        <p:spPr>
          <a:xfrm>
            <a:off x="457200" y="101995"/>
            <a:ext cx="5653278" cy="520014"/>
          </a:xfrm>
          <a:prstGeom prst="rect">
            <a:avLst/>
          </a:prstGeom>
        </p:spPr>
        <p:txBody>
          <a:bodyPr vert="horz" wrap="square" lIns="0" tIns="12065" rIns="0" bIns="0" rtlCol="0">
            <a:spAutoFit/>
          </a:bodyPr>
          <a:lstStyle/>
          <a:p>
            <a:pPr marL="12700">
              <a:lnSpc>
                <a:spcPct val="100000"/>
              </a:lnSpc>
              <a:spcBef>
                <a:spcPts val="95"/>
              </a:spcBef>
            </a:pPr>
            <a:r>
              <a:rPr spc="-5" dirty="0"/>
              <a:t>Comparison</a:t>
            </a:r>
            <a:r>
              <a:rPr spc="-10" dirty="0"/>
              <a:t> </a:t>
            </a:r>
            <a:r>
              <a:rPr spc="-5" dirty="0"/>
              <a:t>with</a:t>
            </a:r>
            <a:r>
              <a:rPr spc="-15" dirty="0"/>
              <a:t> </a:t>
            </a:r>
            <a:r>
              <a:rPr spc="-5" dirty="0"/>
              <a:t>Bluetooth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34003" y="287781"/>
            <a:ext cx="2475230" cy="406400"/>
          </a:xfrm>
          <a:prstGeom prst="rect">
            <a:avLst/>
          </a:prstGeom>
        </p:spPr>
        <p:txBody>
          <a:bodyPr vert="horz" wrap="square" lIns="0" tIns="12065" rIns="0" bIns="0" rtlCol="0">
            <a:spAutoFit/>
          </a:bodyPr>
          <a:lstStyle/>
          <a:p>
            <a:pPr marL="12700">
              <a:lnSpc>
                <a:spcPct val="100000"/>
              </a:lnSpc>
              <a:spcBef>
                <a:spcPts val="95"/>
              </a:spcBef>
            </a:pPr>
            <a:r>
              <a:rPr spc="-5" dirty="0"/>
              <a:t>NFC</a:t>
            </a:r>
            <a:r>
              <a:rPr spc="-55" dirty="0"/>
              <a:t> </a:t>
            </a:r>
            <a:r>
              <a:rPr spc="-5" dirty="0"/>
              <a:t>Applications</a:t>
            </a:r>
          </a:p>
        </p:txBody>
      </p:sp>
      <p:pic>
        <p:nvPicPr>
          <p:cNvPr id="3" name="object 3"/>
          <p:cNvPicPr/>
          <p:nvPr/>
        </p:nvPicPr>
        <p:blipFill>
          <a:blip r:embed="rId2" cstate="print"/>
          <a:stretch>
            <a:fillRect/>
          </a:stretch>
        </p:blipFill>
        <p:spPr>
          <a:xfrm>
            <a:off x="623316" y="906780"/>
            <a:ext cx="7257288" cy="31104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230974"/>
            <a:ext cx="4608576" cy="520014"/>
          </a:xfrm>
          <a:prstGeom prst="rect">
            <a:avLst/>
          </a:prstGeom>
        </p:spPr>
        <p:txBody>
          <a:bodyPr vert="horz" wrap="square" lIns="0" tIns="12065" rIns="0" bIns="0" rtlCol="0">
            <a:spAutoFit/>
          </a:bodyPr>
          <a:lstStyle/>
          <a:p>
            <a:pPr marL="12700">
              <a:lnSpc>
                <a:spcPct val="100000"/>
              </a:lnSpc>
              <a:spcBef>
                <a:spcPts val="95"/>
              </a:spcBef>
            </a:pPr>
            <a:r>
              <a:rPr spc="-5" dirty="0"/>
              <a:t>Operation</a:t>
            </a:r>
            <a:r>
              <a:rPr spc="-25" dirty="0"/>
              <a:t> </a:t>
            </a:r>
            <a:r>
              <a:rPr spc="-5" dirty="0"/>
              <a:t>of</a:t>
            </a:r>
            <a:r>
              <a:rPr spc="-30" dirty="0"/>
              <a:t> </a:t>
            </a:r>
            <a:r>
              <a:rPr spc="-5" dirty="0"/>
              <a:t>NFC</a:t>
            </a:r>
          </a:p>
        </p:txBody>
      </p:sp>
      <p:sp>
        <p:nvSpPr>
          <p:cNvPr id="3" name="object 3"/>
          <p:cNvSpPr txBox="1"/>
          <p:nvPr/>
        </p:nvSpPr>
        <p:spPr>
          <a:xfrm>
            <a:off x="530758" y="1153865"/>
            <a:ext cx="8380095" cy="1464945"/>
          </a:xfrm>
          <a:prstGeom prst="rect">
            <a:avLst/>
          </a:prstGeom>
        </p:spPr>
        <p:txBody>
          <a:bodyPr vert="horz" wrap="square" lIns="0" tIns="37465" rIns="0" bIns="0" rtlCol="0">
            <a:spAutoFit/>
          </a:bodyPr>
          <a:lstStyle/>
          <a:p>
            <a:pPr marL="329565" indent="-317500">
              <a:lnSpc>
                <a:spcPct val="100000"/>
              </a:lnSpc>
              <a:spcBef>
                <a:spcPts val="295"/>
              </a:spcBef>
              <a:buChar char="●"/>
              <a:tabLst>
                <a:tab pos="329565" algn="l"/>
                <a:tab pos="330200" algn="l"/>
              </a:tabLst>
            </a:pPr>
            <a:r>
              <a:rPr sz="1400" dirty="0">
                <a:latin typeface="Arial MT"/>
                <a:cs typeface="Arial MT"/>
              </a:rPr>
              <a:t>In</a:t>
            </a:r>
            <a:r>
              <a:rPr sz="1400" spc="-15" dirty="0">
                <a:latin typeface="Arial MT"/>
                <a:cs typeface="Arial MT"/>
              </a:rPr>
              <a:t> </a:t>
            </a:r>
            <a:r>
              <a:rPr sz="1400" spc="-5" dirty="0">
                <a:latin typeface="Arial MT"/>
                <a:cs typeface="Arial MT"/>
              </a:rPr>
              <a:t>NFC</a:t>
            </a:r>
            <a:r>
              <a:rPr sz="1400" spc="5" dirty="0">
                <a:latin typeface="Arial MT"/>
                <a:cs typeface="Arial MT"/>
              </a:rPr>
              <a:t> </a:t>
            </a:r>
            <a:r>
              <a:rPr sz="1400" spc="-5" dirty="0">
                <a:latin typeface="Arial MT"/>
                <a:cs typeface="Arial MT"/>
              </a:rPr>
              <a:t>communication,</a:t>
            </a:r>
            <a:r>
              <a:rPr sz="1400" spc="-30" dirty="0">
                <a:latin typeface="Arial MT"/>
                <a:cs typeface="Arial MT"/>
              </a:rPr>
              <a:t> </a:t>
            </a:r>
            <a:r>
              <a:rPr sz="1400" dirty="0">
                <a:latin typeface="Arial MT"/>
                <a:cs typeface="Arial MT"/>
              </a:rPr>
              <a:t>one</a:t>
            </a:r>
            <a:r>
              <a:rPr sz="1400" spc="-15" dirty="0">
                <a:latin typeface="Arial MT"/>
                <a:cs typeface="Arial MT"/>
              </a:rPr>
              <a:t> </a:t>
            </a:r>
            <a:r>
              <a:rPr sz="1400" spc="-5" dirty="0">
                <a:latin typeface="Arial MT"/>
                <a:cs typeface="Arial MT"/>
              </a:rPr>
              <a:t>device</a:t>
            </a:r>
            <a:r>
              <a:rPr sz="1400" dirty="0">
                <a:latin typeface="Arial MT"/>
                <a:cs typeface="Arial MT"/>
              </a:rPr>
              <a:t> must</a:t>
            </a:r>
            <a:r>
              <a:rPr sz="1400" spc="-15" dirty="0">
                <a:latin typeface="Arial MT"/>
                <a:cs typeface="Arial MT"/>
              </a:rPr>
              <a:t> </a:t>
            </a:r>
            <a:r>
              <a:rPr sz="1400" spc="-5" dirty="0">
                <a:latin typeface="Arial MT"/>
                <a:cs typeface="Arial MT"/>
              </a:rPr>
              <a:t>have </a:t>
            </a:r>
            <a:r>
              <a:rPr sz="1400" dirty="0">
                <a:latin typeface="Arial MT"/>
                <a:cs typeface="Arial MT"/>
              </a:rPr>
              <a:t>an </a:t>
            </a:r>
            <a:r>
              <a:rPr sz="1400" spc="-5" dirty="0">
                <a:latin typeface="Arial MT"/>
                <a:cs typeface="Arial MT"/>
              </a:rPr>
              <a:t>NFC</a:t>
            </a:r>
            <a:r>
              <a:rPr sz="1400" spc="5" dirty="0">
                <a:latin typeface="Arial MT"/>
                <a:cs typeface="Arial MT"/>
              </a:rPr>
              <a:t> </a:t>
            </a:r>
            <a:r>
              <a:rPr sz="1400" spc="-5" dirty="0">
                <a:latin typeface="Arial MT"/>
                <a:cs typeface="Arial MT"/>
              </a:rPr>
              <a:t>reader/writer</a:t>
            </a:r>
            <a:r>
              <a:rPr sz="1400" spc="-35" dirty="0">
                <a:latin typeface="Arial MT"/>
                <a:cs typeface="Arial MT"/>
              </a:rPr>
              <a:t> </a:t>
            </a:r>
            <a:r>
              <a:rPr sz="1400" dirty="0">
                <a:latin typeface="Arial MT"/>
                <a:cs typeface="Arial MT"/>
              </a:rPr>
              <a:t>and</a:t>
            </a:r>
            <a:r>
              <a:rPr sz="1400" spc="-15" dirty="0">
                <a:latin typeface="Arial MT"/>
                <a:cs typeface="Arial MT"/>
              </a:rPr>
              <a:t> </a:t>
            </a:r>
            <a:r>
              <a:rPr sz="1400" dirty="0">
                <a:latin typeface="Arial MT"/>
                <a:cs typeface="Arial MT"/>
              </a:rPr>
              <a:t>the</a:t>
            </a:r>
            <a:r>
              <a:rPr sz="1400" spc="-15" dirty="0">
                <a:latin typeface="Arial MT"/>
                <a:cs typeface="Arial MT"/>
              </a:rPr>
              <a:t> </a:t>
            </a:r>
            <a:r>
              <a:rPr sz="1400" dirty="0">
                <a:latin typeface="Arial MT"/>
                <a:cs typeface="Arial MT"/>
              </a:rPr>
              <a:t>other</a:t>
            </a:r>
            <a:r>
              <a:rPr sz="1400" spc="-30" dirty="0">
                <a:latin typeface="Arial MT"/>
                <a:cs typeface="Arial MT"/>
              </a:rPr>
              <a:t> </a:t>
            </a:r>
            <a:r>
              <a:rPr sz="1400" dirty="0">
                <a:latin typeface="Arial MT"/>
                <a:cs typeface="Arial MT"/>
              </a:rPr>
              <a:t>an</a:t>
            </a:r>
            <a:r>
              <a:rPr sz="1400" spc="-15" dirty="0">
                <a:latin typeface="Arial MT"/>
                <a:cs typeface="Arial MT"/>
              </a:rPr>
              <a:t> </a:t>
            </a:r>
            <a:r>
              <a:rPr sz="1400" spc="-5" dirty="0">
                <a:latin typeface="Arial MT"/>
                <a:cs typeface="Arial MT"/>
              </a:rPr>
              <a:t>NFC</a:t>
            </a:r>
            <a:r>
              <a:rPr sz="1400" spc="5" dirty="0">
                <a:latin typeface="Arial MT"/>
                <a:cs typeface="Arial MT"/>
              </a:rPr>
              <a:t> </a:t>
            </a:r>
            <a:r>
              <a:rPr sz="1400" dirty="0">
                <a:latin typeface="Arial MT"/>
                <a:cs typeface="Arial MT"/>
              </a:rPr>
              <a:t>tag.</a:t>
            </a:r>
            <a:endParaRPr sz="1400">
              <a:latin typeface="Arial MT"/>
              <a:cs typeface="Arial MT"/>
            </a:endParaRPr>
          </a:p>
          <a:p>
            <a:pPr marL="329565" indent="-317500">
              <a:lnSpc>
                <a:spcPct val="100000"/>
              </a:lnSpc>
              <a:spcBef>
                <a:spcPts val="244"/>
              </a:spcBef>
              <a:buSzPct val="103703"/>
              <a:buChar char="●"/>
              <a:tabLst>
                <a:tab pos="329565" algn="l"/>
                <a:tab pos="330200" algn="l"/>
              </a:tabLst>
            </a:pPr>
            <a:r>
              <a:rPr sz="1350" dirty="0">
                <a:latin typeface="Arial MT"/>
                <a:cs typeface="Arial MT"/>
              </a:rPr>
              <a:t>NFC</a:t>
            </a:r>
            <a:r>
              <a:rPr sz="1350" spc="-20" dirty="0">
                <a:latin typeface="Arial MT"/>
                <a:cs typeface="Arial MT"/>
              </a:rPr>
              <a:t> </a:t>
            </a:r>
            <a:r>
              <a:rPr sz="1350" dirty="0">
                <a:latin typeface="Arial MT"/>
                <a:cs typeface="Arial MT"/>
              </a:rPr>
              <a:t>readers</a:t>
            </a:r>
            <a:r>
              <a:rPr sz="1350" spc="-30" dirty="0">
                <a:latin typeface="Arial MT"/>
                <a:cs typeface="Arial MT"/>
              </a:rPr>
              <a:t> </a:t>
            </a:r>
            <a:r>
              <a:rPr sz="1350" dirty="0">
                <a:latin typeface="Arial MT"/>
                <a:cs typeface="Arial MT"/>
              </a:rPr>
              <a:t>need</a:t>
            </a:r>
            <a:r>
              <a:rPr sz="1350" spc="-20" dirty="0">
                <a:latin typeface="Arial MT"/>
                <a:cs typeface="Arial MT"/>
              </a:rPr>
              <a:t> </a:t>
            </a:r>
            <a:r>
              <a:rPr sz="1350" dirty="0">
                <a:latin typeface="Arial MT"/>
                <a:cs typeface="Arial MT"/>
              </a:rPr>
              <a:t>a</a:t>
            </a:r>
            <a:r>
              <a:rPr sz="1350" spc="5" dirty="0">
                <a:latin typeface="Arial MT"/>
                <a:cs typeface="Arial MT"/>
              </a:rPr>
              <a:t> </a:t>
            </a:r>
            <a:r>
              <a:rPr sz="1350" dirty="0">
                <a:latin typeface="Arial MT"/>
                <a:cs typeface="Arial MT"/>
              </a:rPr>
              <a:t>power</a:t>
            </a:r>
            <a:r>
              <a:rPr sz="1350" spc="-10" dirty="0">
                <a:latin typeface="Arial MT"/>
                <a:cs typeface="Arial MT"/>
              </a:rPr>
              <a:t> </a:t>
            </a:r>
            <a:r>
              <a:rPr sz="1350" dirty="0">
                <a:latin typeface="Arial MT"/>
                <a:cs typeface="Arial MT"/>
              </a:rPr>
              <a:t>source</a:t>
            </a:r>
            <a:r>
              <a:rPr sz="1350" spc="-45" dirty="0">
                <a:latin typeface="Arial MT"/>
                <a:cs typeface="Arial MT"/>
              </a:rPr>
              <a:t> </a:t>
            </a:r>
            <a:r>
              <a:rPr sz="1350" spc="-5" dirty="0">
                <a:latin typeface="Arial MT"/>
                <a:cs typeface="Arial MT"/>
              </a:rPr>
              <a:t>to</a:t>
            </a:r>
            <a:r>
              <a:rPr sz="1350" spc="5" dirty="0">
                <a:latin typeface="Arial MT"/>
                <a:cs typeface="Arial MT"/>
              </a:rPr>
              <a:t> </a:t>
            </a:r>
            <a:r>
              <a:rPr sz="1350" dirty="0">
                <a:latin typeface="Arial MT"/>
                <a:cs typeface="Arial MT"/>
              </a:rPr>
              <a:t>pass</a:t>
            </a:r>
            <a:r>
              <a:rPr sz="1350" spc="-20" dirty="0">
                <a:latin typeface="Arial MT"/>
                <a:cs typeface="Arial MT"/>
              </a:rPr>
              <a:t> </a:t>
            </a:r>
            <a:r>
              <a:rPr sz="1350" dirty="0">
                <a:latin typeface="Arial MT"/>
                <a:cs typeface="Arial MT"/>
              </a:rPr>
              <a:t>an</a:t>
            </a:r>
            <a:r>
              <a:rPr sz="1350" spc="-10" dirty="0">
                <a:latin typeface="Arial MT"/>
                <a:cs typeface="Arial MT"/>
              </a:rPr>
              <a:t> </a:t>
            </a:r>
            <a:r>
              <a:rPr sz="1350" dirty="0">
                <a:latin typeface="Arial MT"/>
                <a:cs typeface="Arial MT"/>
              </a:rPr>
              <a:t>electric</a:t>
            </a:r>
            <a:r>
              <a:rPr sz="1350" spc="-15" dirty="0">
                <a:latin typeface="Arial MT"/>
                <a:cs typeface="Arial MT"/>
              </a:rPr>
              <a:t> </a:t>
            </a:r>
            <a:r>
              <a:rPr sz="1350" dirty="0">
                <a:latin typeface="Arial MT"/>
                <a:cs typeface="Arial MT"/>
              </a:rPr>
              <a:t>current</a:t>
            </a:r>
            <a:r>
              <a:rPr sz="1350" spc="-40" dirty="0">
                <a:latin typeface="Arial MT"/>
                <a:cs typeface="Arial MT"/>
              </a:rPr>
              <a:t> </a:t>
            </a:r>
            <a:r>
              <a:rPr sz="1350" dirty="0">
                <a:latin typeface="Arial MT"/>
                <a:cs typeface="Arial MT"/>
              </a:rPr>
              <a:t>through</a:t>
            </a:r>
            <a:r>
              <a:rPr sz="1350" spc="-20" dirty="0">
                <a:latin typeface="Arial MT"/>
                <a:cs typeface="Arial MT"/>
              </a:rPr>
              <a:t> </a:t>
            </a:r>
            <a:r>
              <a:rPr sz="1350" dirty="0">
                <a:latin typeface="Arial MT"/>
                <a:cs typeface="Arial MT"/>
              </a:rPr>
              <a:t>a</a:t>
            </a:r>
            <a:r>
              <a:rPr sz="1350" spc="-10" dirty="0">
                <a:latin typeface="Arial MT"/>
                <a:cs typeface="Arial MT"/>
              </a:rPr>
              <a:t> </a:t>
            </a:r>
            <a:r>
              <a:rPr sz="1350" dirty="0">
                <a:latin typeface="Arial MT"/>
                <a:cs typeface="Arial MT"/>
              </a:rPr>
              <a:t>coil</a:t>
            </a:r>
            <a:r>
              <a:rPr sz="1350" spc="-15" dirty="0">
                <a:latin typeface="Arial MT"/>
                <a:cs typeface="Arial MT"/>
              </a:rPr>
              <a:t> </a:t>
            </a:r>
            <a:r>
              <a:rPr sz="1350" dirty="0">
                <a:latin typeface="Arial MT"/>
                <a:cs typeface="Arial MT"/>
              </a:rPr>
              <a:t>of</a:t>
            </a:r>
            <a:r>
              <a:rPr sz="1350" spc="-5" dirty="0">
                <a:latin typeface="Arial MT"/>
                <a:cs typeface="Arial MT"/>
              </a:rPr>
              <a:t> </a:t>
            </a:r>
            <a:r>
              <a:rPr sz="1350" dirty="0">
                <a:latin typeface="Arial MT"/>
                <a:cs typeface="Arial MT"/>
              </a:rPr>
              <a:t>their</a:t>
            </a:r>
            <a:r>
              <a:rPr sz="1350" spc="-10" dirty="0">
                <a:latin typeface="Arial MT"/>
                <a:cs typeface="Arial MT"/>
              </a:rPr>
              <a:t> </a:t>
            </a:r>
            <a:r>
              <a:rPr sz="1350" dirty="0">
                <a:latin typeface="Arial MT"/>
                <a:cs typeface="Arial MT"/>
              </a:rPr>
              <a:t>own.</a:t>
            </a:r>
            <a:r>
              <a:rPr sz="1350" spc="-5" dirty="0">
                <a:latin typeface="Arial MT"/>
                <a:cs typeface="Arial MT"/>
              </a:rPr>
              <a:t> </a:t>
            </a:r>
            <a:r>
              <a:rPr sz="1350" dirty="0">
                <a:latin typeface="Arial MT"/>
                <a:cs typeface="Arial MT"/>
              </a:rPr>
              <a:t>This</a:t>
            </a:r>
            <a:r>
              <a:rPr sz="1350" spc="-10" dirty="0">
                <a:latin typeface="Arial MT"/>
                <a:cs typeface="Arial MT"/>
              </a:rPr>
              <a:t> </a:t>
            </a:r>
            <a:r>
              <a:rPr sz="1350" dirty="0">
                <a:latin typeface="Arial MT"/>
                <a:cs typeface="Arial MT"/>
              </a:rPr>
              <a:t>generates</a:t>
            </a:r>
            <a:endParaRPr sz="1350">
              <a:latin typeface="Arial MT"/>
              <a:cs typeface="Arial MT"/>
            </a:endParaRPr>
          </a:p>
          <a:p>
            <a:pPr marL="329565" marR="5080">
              <a:lnSpc>
                <a:spcPct val="114799"/>
              </a:lnSpc>
              <a:spcBef>
                <a:spcPts val="10"/>
              </a:spcBef>
            </a:pPr>
            <a:r>
              <a:rPr sz="1350" dirty="0">
                <a:latin typeface="Arial MT"/>
                <a:cs typeface="Arial MT"/>
              </a:rPr>
              <a:t>an </a:t>
            </a:r>
            <a:r>
              <a:rPr sz="1350" spc="-5" dirty="0">
                <a:latin typeface="Arial MT"/>
                <a:cs typeface="Arial MT"/>
              </a:rPr>
              <a:t>alternating </a:t>
            </a:r>
            <a:r>
              <a:rPr sz="1350" dirty="0">
                <a:latin typeface="Arial MT"/>
                <a:cs typeface="Arial MT"/>
              </a:rPr>
              <a:t>magnetic </a:t>
            </a:r>
            <a:r>
              <a:rPr sz="1350" spc="-5" dirty="0">
                <a:latin typeface="Arial MT"/>
                <a:cs typeface="Arial MT"/>
              </a:rPr>
              <a:t>field in the </a:t>
            </a:r>
            <a:r>
              <a:rPr sz="1350" dirty="0">
                <a:latin typeface="Arial MT"/>
                <a:cs typeface="Arial MT"/>
              </a:rPr>
              <a:t>reader’s </a:t>
            </a:r>
            <a:r>
              <a:rPr sz="1350" spc="-5" dirty="0">
                <a:latin typeface="Arial MT"/>
                <a:cs typeface="Arial MT"/>
              </a:rPr>
              <a:t>immediate </a:t>
            </a:r>
            <a:r>
              <a:rPr sz="1350" spc="-10" dirty="0">
                <a:latin typeface="Arial MT"/>
                <a:cs typeface="Arial MT"/>
              </a:rPr>
              <a:t>vicinity. </a:t>
            </a:r>
            <a:r>
              <a:rPr sz="1350" spc="-5" dirty="0">
                <a:latin typeface="Arial MT"/>
                <a:cs typeface="Arial MT"/>
              </a:rPr>
              <a:t>Bringing </a:t>
            </a:r>
            <a:r>
              <a:rPr sz="1350" dirty="0">
                <a:latin typeface="Arial MT"/>
                <a:cs typeface="Arial MT"/>
              </a:rPr>
              <a:t>a </a:t>
            </a:r>
            <a:r>
              <a:rPr sz="1350" spc="-5" dirty="0">
                <a:latin typeface="Arial MT"/>
                <a:cs typeface="Arial MT"/>
              </a:rPr>
              <a:t>tag in this </a:t>
            </a:r>
            <a:r>
              <a:rPr sz="1350" dirty="0">
                <a:latin typeface="Arial MT"/>
                <a:cs typeface="Arial MT"/>
              </a:rPr>
              <a:t>magnetic </a:t>
            </a:r>
            <a:r>
              <a:rPr sz="1350" spc="-5" dirty="0">
                <a:latin typeface="Arial MT"/>
                <a:cs typeface="Arial MT"/>
              </a:rPr>
              <a:t>field’s </a:t>
            </a:r>
            <a:r>
              <a:rPr sz="1350" dirty="0">
                <a:latin typeface="Arial MT"/>
                <a:cs typeface="Arial MT"/>
              </a:rPr>
              <a:t>range </a:t>
            </a:r>
            <a:r>
              <a:rPr sz="1350" spc="-365" dirty="0">
                <a:latin typeface="Arial MT"/>
                <a:cs typeface="Arial MT"/>
              </a:rPr>
              <a:t> </a:t>
            </a:r>
            <a:r>
              <a:rPr sz="1350" dirty="0">
                <a:latin typeface="Arial MT"/>
                <a:cs typeface="Arial MT"/>
              </a:rPr>
              <a:t>finally</a:t>
            </a:r>
            <a:r>
              <a:rPr sz="1350" spc="-15" dirty="0">
                <a:latin typeface="Arial MT"/>
                <a:cs typeface="Arial MT"/>
              </a:rPr>
              <a:t> </a:t>
            </a:r>
            <a:r>
              <a:rPr sz="1350" dirty="0">
                <a:latin typeface="Arial MT"/>
                <a:cs typeface="Arial MT"/>
              </a:rPr>
              <a:t>results</a:t>
            </a:r>
            <a:r>
              <a:rPr sz="1350" spc="-40" dirty="0">
                <a:latin typeface="Arial MT"/>
                <a:cs typeface="Arial MT"/>
              </a:rPr>
              <a:t> </a:t>
            </a:r>
            <a:r>
              <a:rPr sz="1350" dirty="0">
                <a:latin typeface="Arial MT"/>
                <a:cs typeface="Arial MT"/>
              </a:rPr>
              <a:t>in </a:t>
            </a:r>
            <a:r>
              <a:rPr sz="1350" spc="-5" dirty="0">
                <a:latin typeface="Arial MT"/>
                <a:cs typeface="Arial MT"/>
              </a:rPr>
              <a:t>inductive</a:t>
            </a:r>
            <a:r>
              <a:rPr sz="1350" spc="-15" dirty="0">
                <a:latin typeface="Arial MT"/>
                <a:cs typeface="Arial MT"/>
              </a:rPr>
              <a:t> </a:t>
            </a:r>
            <a:r>
              <a:rPr sz="1350" dirty="0">
                <a:latin typeface="Arial MT"/>
                <a:cs typeface="Arial MT"/>
              </a:rPr>
              <a:t>coupling</a:t>
            </a:r>
            <a:r>
              <a:rPr sz="1350" spc="-40" dirty="0">
                <a:latin typeface="Arial MT"/>
                <a:cs typeface="Arial MT"/>
              </a:rPr>
              <a:t> </a:t>
            </a:r>
            <a:r>
              <a:rPr sz="1350" dirty="0">
                <a:latin typeface="Arial MT"/>
                <a:cs typeface="Arial MT"/>
              </a:rPr>
              <a:t>between</a:t>
            </a:r>
            <a:r>
              <a:rPr sz="1350" spc="-30" dirty="0">
                <a:latin typeface="Arial MT"/>
                <a:cs typeface="Arial MT"/>
              </a:rPr>
              <a:t> </a:t>
            </a:r>
            <a:r>
              <a:rPr sz="1350" spc="-5" dirty="0">
                <a:latin typeface="Arial MT"/>
                <a:cs typeface="Arial MT"/>
              </a:rPr>
              <a:t>the two</a:t>
            </a:r>
            <a:r>
              <a:rPr sz="1350" dirty="0">
                <a:latin typeface="Arial MT"/>
                <a:cs typeface="Arial MT"/>
              </a:rPr>
              <a:t> coils</a:t>
            </a:r>
            <a:endParaRPr sz="1350">
              <a:latin typeface="Arial MT"/>
              <a:cs typeface="Arial MT"/>
            </a:endParaRPr>
          </a:p>
          <a:p>
            <a:pPr marL="329565" indent="-317500">
              <a:lnSpc>
                <a:spcPct val="100000"/>
              </a:lnSpc>
              <a:spcBef>
                <a:spcPts val="250"/>
              </a:spcBef>
              <a:buChar char="●"/>
              <a:tabLst>
                <a:tab pos="329565" algn="l"/>
                <a:tab pos="330200" algn="l"/>
              </a:tabLst>
            </a:pPr>
            <a:r>
              <a:rPr sz="1400" spc="-5" dirty="0">
                <a:latin typeface="Arial MT"/>
                <a:cs typeface="Arial MT"/>
              </a:rPr>
              <a:t>The</a:t>
            </a:r>
            <a:r>
              <a:rPr sz="1400" spc="-20" dirty="0">
                <a:latin typeface="Arial MT"/>
                <a:cs typeface="Arial MT"/>
              </a:rPr>
              <a:t> </a:t>
            </a:r>
            <a:r>
              <a:rPr sz="1400" dirty="0">
                <a:latin typeface="Arial MT"/>
                <a:cs typeface="Arial MT"/>
              </a:rPr>
              <a:t>tag</a:t>
            </a:r>
            <a:r>
              <a:rPr sz="1400" spc="-20" dirty="0">
                <a:latin typeface="Arial MT"/>
                <a:cs typeface="Arial MT"/>
              </a:rPr>
              <a:t> </a:t>
            </a:r>
            <a:r>
              <a:rPr sz="1400" dirty="0">
                <a:latin typeface="Arial MT"/>
                <a:cs typeface="Arial MT"/>
              </a:rPr>
              <a:t>is</a:t>
            </a:r>
            <a:r>
              <a:rPr sz="1400" spc="-5" dirty="0">
                <a:latin typeface="Arial MT"/>
                <a:cs typeface="Arial MT"/>
              </a:rPr>
              <a:t> </a:t>
            </a:r>
            <a:r>
              <a:rPr sz="1400" dirty="0">
                <a:latin typeface="Arial MT"/>
                <a:cs typeface="Arial MT"/>
              </a:rPr>
              <a:t>essentially</a:t>
            </a:r>
            <a:r>
              <a:rPr sz="1400" spc="-40" dirty="0">
                <a:latin typeface="Arial MT"/>
                <a:cs typeface="Arial MT"/>
              </a:rPr>
              <a:t> </a:t>
            </a:r>
            <a:r>
              <a:rPr sz="1400" dirty="0">
                <a:latin typeface="Arial MT"/>
                <a:cs typeface="Arial MT"/>
              </a:rPr>
              <a:t>an</a:t>
            </a:r>
            <a:r>
              <a:rPr sz="1400" spc="-15" dirty="0">
                <a:latin typeface="Arial MT"/>
                <a:cs typeface="Arial MT"/>
              </a:rPr>
              <a:t> </a:t>
            </a:r>
            <a:r>
              <a:rPr sz="1400" dirty="0">
                <a:latin typeface="Arial MT"/>
                <a:cs typeface="Arial MT"/>
              </a:rPr>
              <a:t>integrated</a:t>
            </a:r>
            <a:r>
              <a:rPr sz="1400" spc="-45" dirty="0">
                <a:latin typeface="Arial MT"/>
                <a:cs typeface="Arial MT"/>
              </a:rPr>
              <a:t> </a:t>
            </a:r>
            <a:r>
              <a:rPr sz="1400" dirty="0">
                <a:latin typeface="Arial MT"/>
                <a:cs typeface="Arial MT"/>
              </a:rPr>
              <a:t>circuit</a:t>
            </a:r>
            <a:r>
              <a:rPr sz="1400" spc="-30" dirty="0">
                <a:latin typeface="Arial MT"/>
                <a:cs typeface="Arial MT"/>
              </a:rPr>
              <a:t> </a:t>
            </a:r>
            <a:r>
              <a:rPr sz="1400" dirty="0">
                <a:latin typeface="Arial MT"/>
                <a:cs typeface="Arial MT"/>
              </a:rPr>
              <a:t>containing</a:t>
            </a:r>
            <a:r>
              <a:rPr sz="1400" spc="-45" dirty="0">
                <a:latin typeface="Arial MT"/>
                <a:cs typeface="Arial MT"/>
              </a:rPr>
              <a:t> </a:t>
            </a:r>
            <a:r>
              <a:rPr sz="1400" dirty="0">
                <a:latin typeface="Arial MT"/>
                <a:cs typeface="Arial MT"/>
              </a:rPr>
              <a:t>data,</a:t>
            </a:r>
            <a:r>
              <a:rPr sz="1400" spc="-25" dirty="0">
                <a:latin typeface="Arial MT"/>
                <a:cs typeface="Arial MT"/>
              </a:rPr>
              <a:t> </a:t>
            </a:r>
            <a:r>
              <a:rPr sz="1400" dirty="0">
                <a:latin typeface="Arial MT"/>
                <a:cs typeface="Arial MT"/>
              </a:rPr>
              <a:t>connected</a:t>
            </a:r>
            <a:r>
              <a:rPr sz="1400" spc="-45" dirty="0">
                <a:latin typeface="Arial MT"/>
                <a:cs typeface="Arial MT"/>
              </a:rPr>
              <a:t> </a:t>
            </a:r>
            <a:r>
              <a:rPr sz="1400" dirty="0">
                <a:latin typeface="Arial MT"/>
                <a:cs typeface="Arial MT"/>
              </a:rPr>
              <a:t>to</a:t>
            </a:r>
            <a:r>
              <a:rPr sz="1400" spc="-20" dirty="0">
                <a:latin typeface="Arial MT"/>
                <a:cs typeface="Arial MT"/>
              </a:rPr>
              <a:t> </a:t>
            </a:r>
            <a:r>
              <a:rPr sz="1400" dirty="0">
                <a:latin typeface="Arial MT"/>
                <a:cs typeface="Arial MT"/>
              </a:rPr>
              <a:t>an</a:t>
            </a:r>
            <a:r>
              <a:rPr sz="1400" spc="-20" dirty="0">
                <a:latin typeface="Arial MT"/>
                <a:cs typeface="Arial MT"/>
              </a:rPr>
              <a:t> </a:t>
            </a:r>
            <a:r>
              <a:rPr sz="1400" dirty="0">
                <a:latin typeface="Arial MT"/>
                <a:cs typeface="Arial MT"/>
              </a:rPr>
              <a:t>antenna</a:t>
            </a:r>
            <a:r>
              <a:rPr sz="1400" spc="-40" dirty="0">
                <a:latin typeface="Arial MT"/>
                <a:cs typeface="Arial MT"/>
              </a:rPr>
              <a:t> </a:t>
            </a:r>
            <a:r>
              <a:rPr sz="1400" dirty="0">
                <a:latin typeface="Arial MT"/>
                <a:cs typeface="Arial MT"/>
              </a:rPr>
              <a:t>that</a:t>
            </a:r>
            <a:r>
              <a:rPr sz="1400" spc="-30" dirty="0">
                <a:latin typeface="Arial MT"/>
                <a:cs typeface="Arial MT"/>
              </a:rPr>
              <a:t> </a:t>
            </a:r>
            <a:r>
              <a:rPr sz="1400" dirty="0">
                <a:latin typeface="Arial MT"/>
                <a:cs typeface="Arial MT"/>
              </a:rPr>
              <a:t>can</a:t>
            </a:r>
            <a:r>
              <a:rPr sz="1400" spc="-20" dirty="0">
                <a:latin typeface="Arial MT"/>
                <a:cs typeface="Arial MT"/>
              </a:rPr>
              <a:t> </a:t>
            </a:r>
            <a:r>
              <a:rPr sz="1400" dirty="0">
                <a:latin typeface="Arial MT"/>
                <a:cs typeface="Arial MT"/>
              </a:rPr>
              <a:t>be</a:t>
            </a:r>
            <a:r>
              <a:rPr sz="1400" spc="-10" dirty="0">
                <a:latin typeface="Arial MT"/>
                <a:cs typeface="Arial MT"/>
              </a:rPr>
              <a:t> </a:t>
            </a:r>
            <a:r>
              <a:rPr sz="1400" dirty="0">
                <a:latin typeface="Arial MT"/>
                <a:cs typeface="Arial MT"/>
              </a:rPr>
              <a:t>read</a:t>
            </a:r>
            <a:endParaRPr sz="1400">
              <a:latin typeface="Arial MT"/>
              <a:cs typeface="Arial MT"/>
            </a:endParaRPr>
          </a:p>
          <a:p>
            <a:pPr marL="329565">
              <a:lnSpc>
                <a:spcPct val="100000"/>
              </a:lnSpc>
              <a:spcBef>
                <a:spcPts val="250"/>
              </a:spcBef>
            </a:pPr>
            <a:r>
              <a:rPr sz="1400" dirty="0">
                <a:latin typeface="Arial MT"/>
                <a:cs typeface="Arial MT"/>
              </a:rPr>
              <a:t>and</a:t>
            </a:r>
            <a:r>
              <a:rPr sz="1400" spc="-35" dirty="0">
                <a:latin typeface="Arial MT"/>
                <a:cs typeface="Arial MT"/>
              </a:rPr>
              <a:t> </a:t>
            </a:r>
            <a:r>
              <a:rPr sz="1400" spc="-5" dirty="0">
                <a:latin typeface="Arial MT"/>
                <a:cs typeface="Arial MT"/>
              </a:rPr>
              <a:t>written</a:t>
            </a:r>
            <a:r>
              <a:rPr sz="1400" spc="-30" dirty="0">
                <a:latin typeface="Arial MT"/>
                <a:cs typeface="Arial MT"/>
              </a:rPr>
              <a:t> </a:t>
            </a:r>
            <a:r>
              <a:rPr sz="1400" dirty="0">
                <a:latin typeface="Arial MT"/>
                <a:cs typeface="Arial MT"/>
              </a:rPr>
              <a:t>by</a:t>
            </a:r>
            <a:r>
              <a:rPr sz="1400" spc="-20" dirty="0">
                <a:latin typeface="Arial MT"/>
                <a:cs typeface="Arial MT"/>
              </a:rPr>
              <a:t> </a:t>
            </a:r>
            <a:r>
              <a:rPr sz="1400" dirty="0">
                <a:latin typeface="Arial MT"/>
                <a:cs typeface="Arial MT"/>
              </a:rPr>
              <a:t>the</a:t>
            </a:r>
            <a:r>
              <a:rPr sz="1400" spc="-30" dirty="0">
                <a:latin typeface="Arial MT"/>
                <a:cs typeface="Arial MT"/>
              </a:rPr>
              <a:t> </a:t>
            </a:r>
            <a:r>
              <a:rPr sz="1400" dirty="0">
                <a:latin typeface="Arial MT"/>
                <a:cs typeface="Arial MT"/>
              </a:rPr>
              <a:t>reader.</a:t>
            </a:r>
            <a:endParaRPr sz="1400">
              <a:latin typeface="Arial MT"/>
              <a:cs typeface="Arial MT"/>
            </a:endParaRPr>
          </a:p>
        </p:txBody>
      </p:sp>
      <p:pic>
        <p:nvPicPr>
          <p:cNvPr id="4" name="object 4"/>
          <p:cNvPicPr/>
          <p:nvPr/>
        </p:nvPicPr>
        <p:blipFill>
          <a:blip r:embed="rId2" cstate="print"/>
          <a:stretch>
            <a:fillRect/>
          </a:stretch>
        </p:blipFill>
        <p:spPr>
          <a:xfrm>
            <a:off x="160020" y="789431"/>
            <a:ext cx="8782812" cy="4130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60726" y="532841"/>
            <a:ext cx="3623945" cy="406400"/>
          </a:xfrm>
          <a:prstGeom prst="rect">
            <a:avLst/>
          </a:prstGeom>
        </p:spPr>
        <p:txBody>
          <a:bodyPr vert="horz" wrap="square" lIns="0" tIns="12065" rIns="0" bIns="0" rtlCol="0">
            <a:spAutoFit/>
          </a:bodyPr>
          <a:lstStyle/>
          <a:p>
            <a:pPr marL="12700">
              <a:lnSpc>
                <a:spcPct val="100000"/>
              </a:lnSpc>
              <a:spcBef>
                <a:spcPts val="95"/>
              </a:spcBef>
            </a:pPr>
            <a:r>
              <a:rPr spc="-5" dirty="0"/>
              <a:t>Operation</a:t>
            </a:r>
            <a:r>
              <a:rPr spc="-10" dirty="0"/>
              <a:t> </a:t>
            </a:r>
            <a:r>
              <a:rPr spc="-5" dirty="0"/>
              <a:t>of</a:t>
            </a:r>
            <a:r>
              <a:rPr spc="-20" dirty="0"/>
              <a:t> </a:t>
            </a:r>
            <a:r>
              <a:rPr spc="-5" dirty="0"/>
              <a:t>NFC</a:t>
            </a:r>
            <a:r>
              <a:rPr spc="-10" dirty="0"/>
              <a:t> </a:t>
            </a:r>
            <a:r>
              <a:rPr spc="-5" dirty="0"/>
              <a:t>(Ctd…)</a:t>
            </a:r>
          </a:p>
        </p:txBody>
      </p:sp>
      <p:sp>
        <p:nvSpPr>
          <p:cNvPr id="3" name="object 3"/>
          <p:cNvSpPr txBox="1"/>
          <p:nvPr/>
        </p:nvSpPr>
        <p:spPr>
          <a:xfrm>
            <a:off x="530758" y="1179935"/>
            <a:ext cx="7915275" cy="3684904"/>
          </a:xfrm>
          <a:prstGeom prst="rect">
            <a:avLst/>
          </a:prstGeom>
        </p:spPr>
        <p:txBody>
          <a:bodyPr vert="horz" wrap="square" lIns="0" tIns="135255" rIns="0" bIns="0" rtlCol="0">
            <a:spAutoFit/>
          </a:bodyPr>
          <a:lstStyle/>
          <a:p>
            <a:pPr marL="329565" indent="-317500">
              <a:lnSpc>
                <a:spcPct val="100000"/>
              </a:lnSpc>
              <a:spcBef>
                <a:spcPts val="1065"/>
              </a:spcBef>
              <a:buSzPct val="87500"/>
              <a:buChar char="●"/>
              <a:tabLst>
                <a:tab pos="329565" algn="l"/>
                <a:tab pos="330200" algn="l"/>
              </a:tabLst>
            </a:pPr>
            <a:r>
              <a:rPr sz="1600" spc="-5" dirty="0">
                <a:latin typeface="Arial MT"/>
                <a:cs typeface="Arial MT"/>
              </a:rPr>
              <a:t>The</a:t>
            </a:r>
            <a:r>
              <a:rPr sz="1600" spc="235" dirty="0">
                <a:latin typeface="Arial MT"/>
                <a:cs typeface="Arial MT"/>
              </a:rPr>
              <a:t> </a:t>
            </a:r>
            <a:r>
              <a:rPr sz="1600" spc="-5" dirty="0">
                <a:latin typeface="Arial MT"/>
                <a:cs typeface="Arial MT"/>
              </a:rPr>
              <a:t>device</a:t>
            </a:r>
            <a:r>
              <a:rPr sz="1600" spc="245" dirty="0">
                <a:latin typeface="Arial MT"/>
                <a:cs typeface="Arial MT"/>
              </a:rPr>
              <a:t> </a:t>
            </a:r>
            <a:r>
              <a:rPr sz="1600" spc="-5" dirty="0">
                <a:latin typeface="Arial MT"/>
                <a:cs typeface="Arial MT"/>
              </a:rPr>
              <a:t>that</a:t>
            </a:r>
            <a:r>
              <a:rPr sz="1600" spc="245" dirty="0">
                <a:latin typeface="Arial MT"/>
                <a:cs typeface="Arial MT"/>
              </a:rPr>
              <a:t> </a:t>
            </a:r>
            <a:r>
              <a:rPr sz="1600" spc="-5" dirty="0">
                <a:latin typeface="Arial MT"/>
                <a:cs typeface="Arial MT"/>
              </a:rPr>
              <a:t>generates</a:t>
            </a:r>
            <a:r>
              <a:rPr sz="1600" spc="254" dirty="0">
                <a:latin typeface="Arial MT"/>
                <a:cs typeface="Arial MT"/>
              </a:rPr>
              <a:t> </a:t>
            </a:r>
            <a:r>
              <a:rPr sz="1600" spc="-5" dirty="0">
                <a:latin typeface="Arial MT"/>
                <a:cs typeface="Arial MT"/>
              </a:rPr>
              <a:t>the</a:t>
            </a:r>
            <a:r>
              <a:rPr sz="1600" spc="240" dirty="0">
                <a:latin typeface="Arial MT"/>
                <a:cs typeface="Arial MT"/>
              </a:rPr>
              <a:t> </a:t>
            </a:r>
            <a:r>
              <a:rPr sz="1600" spc="-5" dirty="0">
                <a:latin typeface="Arial MT"/>
                <a:cs typeface="Arial MT"/>
              </a:rPr>
              <a:t>electromagnetic</a:t>
            </a:r>
            <a:r>
              <a:rPr sz="1600" spc="245" dirty="0">
                <a:latin typeface="Arial MT"/>
                <a:cs typeface="Arial MT"/>
              </a:rPr>
              <a:t> </a:t>
            </a:r>
            <a:r>
              <a:rPr sz="1600" spc="-5" dirty="0">
                <a:latin typeface="Arial MT"/>
                <a:cs typeface="Arial MT"/>
              </a:rPr>
              <a:t>field</a:t>
            </a:r>
            <a:r>
              <a:rPr sz="1600" spc="250" dirty="0">
                <a:latin typeface="Arial MT"/>
                <a:cs typeface="Arial MT"/>
              </a:rPr>
              <a:t> </a:t>
            </a:r>
            <a:r>
              <a:rPr sz="1600" dirty="0">
                <a:latin typeface="Arial MT"/>
                <a:cs typeface="Arial MT"/>
              </a:rPr>
              <a:t>is</a:t>
            </a:r>
            <a:r>
              <a:rPr sz="1600" spc="240" dirty="0">
                <a:latin typeface="Arial MT"/>
                <a:cs typeface="Arial MT"/>
              </a:rPr>
              <a:t> </a:t>
            </a:r>
            <a:r>
              <a:rPr sz="1600" spc="-10" dirty="0">
                <a:latin typeface="Arial MT"/>
                <a:cs typeface="Arial MT"/>
              </a:rPr>
              <a:t>called</a:t>
            </a:r>
            <a:r>
              <a:rPr sz="1600" spc="240" dirty="0">
                <a:latin typeface="Arial MT"/>
                <a:cs typeface="Arial MT"/>
              </a:rPr>
              <a:t> </a:t>
            </a:r>
            <a:r>
              <a:rPr sz="1600" spc="-5" dirty="0">
                <a:latin typeface="Arial MT"/>
                <a:cs typeface="Arial MT"/>
              </a:rPr>
              <a:t>poller</a:t>
            </a:r>
            <a:r>
              <a:rPr sz="1600" spc="245" dirty="0">
                <a:latin typeface="Arial MT"/>
                <a:cs typeface="Arial MT"/>
              </a:rPr>
              <a:t> </a:t>
            </a:r>
            <a:r>
              <a:rPr sz="1600" spc="-5" dirty="0">
                <a:latin typeface="Arial MT"/>
                <a:cs typeface="Arial MT"/>
              </a:rPr>
              <a:t>(initiator),</a:t>
            </a:r>
            <a:r>
              <a:rPr sz="1600" spc="245" dirty="0">
                <a:latin typeface="Arial MT"/>
                <a:cs typeface="Arial MT"/>
              </a:rPr>
              <a:t> </a:t>
            </a:r>
            <a:r>
              <a:rPr sz="1600" spc="-10" dirty="0">
                <a:latin typeface="Arial MT"/>
                <a:cs typeface="Arial MT"/>
              </a:rPr>
              <a:t>and</a:t>
            </a:r>
            <a:endParaRPr sz="1600">
              <a:latin typeface="Arial MT"/>
              <a:cs typeface="Arial MT"/>
            </a:endParaRPr>
          </a:p>
          <a:p>
            <a:pPr marL="329565" algn="just">
              <a:lnSpc>
                <a:spcPct val="100000"/>
              </a:lnSpc>
              <a:spcBef>
                <a:spcPts val="960"/>
              </a:spcBef>
            </a:pPr>
            <a:r>
              <a:rPr sz="1600" spc="-5" dirty="0">
                <a:latin typeface="Arial MT"/>
                <a:cs typeface="Arial MT"/>
              </a:rPr>
              <a:t>the</a:t>
            </a:r>
            <a:r>
              <a:rPr sz="1600" spc="10" dirty="0">
                <a:latin typeface="Arial MT"/>
                <a:cs typeface="Arial MT"/>
              </a:rPr>
              <a:t> </a:t>
            </a:r>
            <a:r>
              <a:rPr sz="1600" spc="-5" dirty="0">
                <a:latin typeface="Arial MT"/>
                <a:cs typeface="Arial MT"/>
              </a:rPr>
              <a:t>second</a:t>
            </a:r>
            <a:r>
              <a:rPr sz="1600" spc="10" dirty="0">
                <a:latin typeface="Arial MT"/>
                <a:cs typeface="Arial MT"/>
              </a:rPr>
              <a:t> </a:t>
            </a:r>
            <a:r>
              <a:rPr sz="1600" spc="-5" dirty="0">
                <a:latin typeface="Arial MT"/>
                <a:cs typeface="Arial MT"/>
              </a:rPr>
              <a:t>device</a:t>
            </a:r>
            <a:r>
              <a:rPr sz="1600" spc="-25" dirty="0">
                <a:latin typeface="Arial MT"/>
                <a:cs typeface="Arial MT"/>
              </a:rPr>
              <a:t> </a:t>
            </a:r>
            <a:r>
              <a:rPr sz="1600" dirty="0">
                <a:latin typeface="Arial MT"/>
                <a:cs typeface="Arial MT"/>
              </a:rPr>
              <a:t>is</a:t>
            </a:r>
            <a:r>
              <a:rPr sz="1600" spc="10" dirty="0">
                <a:latin typeface="Arial MT"/>
                <a:cs typeface="Arial MT"/>
              </a:rPr>
              <a:t> </a:t>
            </a:r>
            <a:r>
              <a:rPr sz="1600" spc="-5" dirty="0">
                <a:latin typeface="Arial MT"/>
                <a:cs typeface="Arial MT"/>
              </a:rPr>
              <a:t>the</a:t>
            </a:r>
            <a:r>
              <a:rPr sz="1600" spc="10" dirty="0">
                <a:latin typeface="Arial MT"/>
                <a:cs typeface="Arial MT"/>
              </a:rPr>
              <a:t> </a:t>
            </a:r>
            <a:r>
              <a:rPr sz="1600" spc="-5" dirty="0">
                <a:latin typeface="Arial MT"/>
                <a:cs typeface="Arial MT"/>
              </a:rPr>
              <a:t>listener/</a:t>
            </a:r>
            <a:r>
              <a:rPr sz="1600" spc="5" dirty="0">
                <a:latin typeface="Arial MT"/>
                <a:cs typeface="Arial MT"/>
              </a:rPr>
              <a:t> </a:t>
            </a:r>
            <a:r>
              <a:rPr sz="1600" spc="-5" dirty="0">
                <a:latin typeface="Arial MT"/>
                <a:cs typeface="Arial MT"/>
              </a:rPr>
              <a:t>tag</a:t>
            </a:r>
            <a:r>
              <a:rPr sz="1600" spc="10" dirty="0">
                <a:latin typeface="Arial MT"/>
                <a:cs typeface="Arial MT"/>
              </a:rPr>
              <a:t> </a:t>
            </a:r>
            <a:r>
              <a:rPr sz="1600" spc="-5" dirty="0">
                <a:latin typeface="Arial MT"/>
                <a:cs typeface="Arial MT"/>
              </a:rPr>
              <a:t>/target.</a:t>
            </a:r>
            <a:endParaRPr sz="1600">
              <a:latin typeface="Arial MT"/>
              <a:cs typeface="Arial MT"/>
            </a:endParaRPr>
          </a:p>
          <a:p>
            <a:pPr marL="329565" indent="-317500">
              <a:lnSpc>
                <a:spcPct val="100000"/>
              </a:lnSpc>
              <a:spcBef>
                <a:spcPts val="960"/>
              </a:spcBef>
              <a:buSzPct val="87500"/>
              <a:buChar char="●"/>
              <a:tabLst>
                <a:tab pos="329565" algn="l"/>
                <a:tab pos="330200" algn="l"/>
              </a:tabLst>
            </a:pPr>
            <a:r>
              <a:rPr sz="1600" spc="-5" dirty="0">
                <a:latin typeface="Arial MT"/>
                <a:cs typeface="Arial MT"/>
              </a:rPr>
              <a:t>This</a:t>
            </a:r>
            <a:r>
              <a:rPr sz="1600" spc="250" dirty="0">
                <a:latin typeface="Arial MT"/>
                <a:cs typeface="Arial MT"/>
              </a:rPr>
              <a:t> </a:t>
            </a:r>
            <a:r>
              <a:rPr sz="1600" spc="-5" dirty="0">
                <a:latin typeface="Arial MT"/>
                <a:cs typeface="Arial MT"/>
              </a:rPr>
              <a:t>generated</a:t>
            </a:r>
            <a:r>
              <a:rPr sz="1600" spc="245" dirty="0">
                <a:latin typeface="Arial MT"/>
                <a:cs typeface="Arial MT"/>
              </a:rPr>
              <a:t> </a:t>
            </a:r>
            <a:r>
              <a:rPr sz="1600" spc="-5" dirty="0">
                <a:latin typeface="Arial MT"/>
                <a:cs typeface="Arial MT"/>
              </a:rPr>
              <a:t>field</a:t>
            </a:r>
            <a:r>
              <a:rPr sz="1600" spc="245" dirty="0">
                <a:latin typeface="Arial MT"/>
                <a:cs typeface="Arial MT"/>
              </a:rPr>
              <a:t> </a:t>
            </a:r>
            <a:r>
              <a:rPr sz="1600" spc="-10" dirty="0">
                <a:latin typeface="Arial MT"/>
                <a:cs typeface="Arial MT"/>
              </a:rPr>
              <a:t>is</a:t>
            </a:r>
            <a:r>
              <a:rPr sz="1600" spc="250" dirty="0">
                <a:latin typeface="Arial MT"/>
                <a:cs typeface="Arial MT"/>
              </a:rPr>
              <a:t> </a:t>
            </a:r>
            <a:r>
              <a:rPr sz="1600" spc="-5" dirty="0">
                <a:latin typeface="Arial MT"/>
                <a:cs typeface="Arial MT"/>
              </a:rPr>
              <a:t>inductively</a:t>
            </a:r>
            <a:r>
              <a:rPr sz="1600" spc="245" dirty="0">
                <a:latin typeface="Arial MT"/>
                <a:cs typeface="Arial MT"/>
              </a:rPr>
              <a:t> </a:t>
            </a:r>
            <a:r>
              <a:rPr sz="1600" spc="-5" dirty="0">
                <a:latin typeface="Arial MT"/>
                <a:cs typeface="Arial MT"/>
              </a:rPr>
              <a:t>coupled</a:t>
            </a:r>
            <a:r>
              <a:rPr sz="1600" spc="245" dirty="0">
                <a:latin typeface="Arial MT"/>
                <a:cs typeface="Arial MT"/>
              </a:rPr>
              <a:t> </a:t>
            </a:r>
            <a:r>
              <a:rPr sz="1600" spc="-10" dirty="0">
                <a:latin typeface="Arial MT"/>
                <a:cs typeface="Arial MT"/>
              </a:rPr>
              <a:t>with</a:t>
            </a:r>
            <a:r>
              <a:rPr sz="1600" spc="245" dirty="0">
                <a:latin typeface="Arial MT"/>
                <a:cs typeface="Arial MT"/>
              </a:rPr>
              <a:t> </a:t>
            </a:r>
            <a:r>
              <a:rPr sz="1600" dirty="0">
                <a:latin typeface="Arial MT"/>
                <a:cs typeface="Arial MT"/>
              </a:rPr>
              <a:t>the</a:t>
            </a:r>
            <a:r>
              <a:rPr sz="1600" spc="245" dirty="0">
                <a:latin typeface="Arial MT"/>
                <a:cs typeface="Arial MT"/>
              </a:rPr>
              <a:t> </a:t>
            </a:r>
            <a:r>
              <a:rPr sz="1600" spc="-5" dirty="0">
                <a:latin typeface="Arial MT"/>
                <a:cs typeface="Arial MT"/>
              </a:rPr>
              <a:t>other</a:t>
            </a:r>
            <a:r>
              <a:rPr sz="1600" spc="245" dirty="0">
                <a:latin typeface="Arial MT"/>
                <a:cs typeface="Arial MT"/>
              </a:rPr>
              <a:t> </a:t>
            </a:r>
            <a:r>
              <a:rPr sz="1600" spc="-5" dirty="0">
                <a:latin typeface="Arial MT"/>
                <a:cs typeface="Arial MT"/>
              </a:rPr>
              <a:t>device</a:t>
            </a:r>
            <a:r>
              <a:rPr sz="1600" spc="245" dirty="0">
                <a:latin typeface="Arial MT"/>
                <a:cs typeface="Arial MT"/>
              </a:rPr>
              <a:t> </a:t>
            </a:r>
            <a:r>
              <a:rPr sz="1600" dirty="0">
                <a:latin typeface="Arial MT"/>
                <a:cs typeface="Arial MT"/>
              </a:rPr>
              <a:t>in</a:t>
            </a:r>
            <a:r>
              <a:rPr sz="1600" spc="245" dirty="0">
                <a:latin typeface="Arial MT"/>
                <a:cs typeface="Arial MT"/>
              </a:rPr>
              <a:t> </a:t>
            </a:r>
            <a:r>
              <a:rPr sz="1600" spc="-5" dirty="0">
                <a:latin typeface="Arial MT"/>
                <a:cs typeface="Arial MT"/>
              </a:rPr>
              <a:t>the</a:t>
            </a:r>
            <a:r>
              <a:rPr sz="1600" spc="245" dirty="0">
                <a:latin typeface="Arial MT"/>
                <a:cs typeface="Arial MT"/>
              </a:rPr>
              <a:t> </a:t>
            </a:r>
            <a:r>
              <a:rPr sz="1600" spc="-5" dirty="0">
                <a:latin typeface="Arial MT"/>
                <a:cs typeface="Arial MT"/>
              </a:rPr>
              <a:t>near</a:t>
            </a:r>
            <a:r>
              <a:rPr sz="1600" spc="235" dirty="0">
                <a:latin typeface="Arial MT"/>
                <a:cs typeface="Arial MT"/>
              </a:rPr>
              <a:t> </a:t>
            </a:r>
            <a:r>
              <a:rPr sz="1600" spc="-5" dirty="0">
                <a:latin typeface="Arial MT"/>
                <a:cs typeface="Arial MT"/>
              </a:rPr>
              <a:t>field,</a:t>
            </a:r>
            <a:endParaRPr sz="1600">
              <a:latin typeface="Arial MT"/>
              <a:cs typeface="Arial MT"/>
            </a:endParaRPr>
          </a:p>
          <a:p>
            <a:pPr marL="329565" algn="just">
              <a:lnSpc>
                <a:spcPct val="100000"/>
              </a:lnSpc>
              <a:spcBef>
                <a:spcPts val="960"/>
              </a:spcBef>
            </a:pPr>
            <a:r>
              <a:rPr sz="1600" spc="-5" dirty="0">
                <a:latin typeface="Arial MT"/>
                <a:cs typeface="Arial MT"/>
              </a:rPr>
              <a:t>much</a:t>
            </a:r>
            <a:r>
              <a:rPr sz="1600" spc="5" dirty="0">
                <a:latin typeface="Arial MT"/>
                <a:cs typeface="Arial MT"/>
              </a:rPr>
              <a:t> </a:t>
            </a:r>
            <a:r>
              <a:rPr sz="1600" dirty="0">
                <a:latin typeface="Arial MT"/>
                <a:cs typeface="Arial MT"/>
              </a:rPr>
              <a:t>like</a:t>
            </a:r>
            <a:r>
              <a:rPr sz="1600" spc="-30" dirty="0">
                <a:latin typeface="Arial MT"/>
                <a:cs typeface="Arial MT"/>
              </a:rPr>
              <a:t> </a:t>
            </a:r>
            <a:r>
              <a:rPr sz="1600" dirty="0">
                <a:latin typeface="Arial MT"/>
                <a:cs typeface="Arial MT"/>
              </a:rPr>
              <a:t>in</a:t>
            </a:r>
            <a:r>
              <a:rPr sz="1600" spc="-10" dirty="0">
                <a:latin typeface="Arial MT"/>
                <a:cs typeface="Arial MT"/>
              </a:rPr>
              <a:t> </a:t>
            </a:r>
            <a:r>
              <a:rPr sz="1600" spc="-5" dirty="0">
                <a:latin typeface="Arial MT"/>
                <a:cs typeface="Arial MT"/>
              </a:rPr>
              <a:t>a</a:t>
            </a:r>
            <a:r>
              <a:rPr sz="1600" spc="-10" dirty="0">
                <a:latin typeface="Arial MT"/>
                <a:cs typeface="Arial MT"/>
              </a:rPr>
              <a:t> </a:t>
            </a:r>
            <a:r>
              <a:rPr sz="1600" spc="-5" dirty="0">
                <a:latin typeface="Arial MT"/>
                <a:cs typeface="Arial MT"/>
              </a:rPr>
              <a:t>transformer.</a:t>
            </a:r>
            <a:endParaRPr sz="1600">
              <a:latin typeface="Arial MT"/>
              <a:cs typeface="Arial MT"/>
            </a:endParaRPr>
          </a:p>
          <a:p>
            <a:pPr marL="329565" marR="6350" indent="-317500" algn="just">
              <a:lnSpc>
                <a:spcPct val="150000"/>
              </a:lnSpc>
              <a:spcBef>
                <a:spcPts val="5"/>
              </a:spcBef>
              <a:buSzPct val="87500"/>
              <a:buChar char="●"/>
              <a:tabLst>
                <a:tab pos="330200" algn="l"/>
              </a:tabLst>
            </a:pPr>
            <a:r>
              <a:rPr sz="1600" spc="-10" dirty="0">
                <a:latin typeface="Arial MT"/>
                <a:cs typeface="Arial MT"/>
              </a:rPr>
              <a:t>Data</a:t>
            </a:r>
            <a:r>
              <a:rPr sz="1600" spc="-5" dirty="0">
                <a:latin typeface="Arial MT"/>
                <a:cs typeface="Arial MT"/>
              </a:rPr>
              <a:t> transmission</a:t>
            </a:r>
            <a:r>
              <a:rPr sz="1600" dirty="0">
                <a:latin typeface="Arial MT"/>
                <a:cs typeface="Arial MT"/>
              </a:rPr>
              <a:t> from</a:t>
            </a:r>
            <a:r>
              <a:rPr sz="1600" spc="5" dirty="0">
                <a:latin typeface="Arial MT"/>
                <a:cs typeface="Arial MT"/>
              </a:rPr>
              <a:t> </a:t>
            </a:r>
            <a:r>
              <a:rPr sz="1600" spc="-5" dirty="0">
                <a:latin typeface="Arial MT"/>
                <a:cs typeface="Arial MT"/>
              </a:rPr>
              <a:t>poller</a:t>
            </a:r>
            <a:r>
              <a:rPr sz="1600" dirty="0">
                <a:latin typeface="Arial MT"/>
                <a:cs typeface="Arial MT"/>
              </a:rPr>
              <a:t> </a:t>
            </a:r>
            <a:r>
              <a:rPr sz="1600" spc="-5" dirty="0">
                <a:latin typeface="Arial MT"/>
                <a:cs typeface="Arial MT"/>
              </a:rPr>
              <a:t>to</a:t>
            </a:r>
            <a:r>
              <a:rPr sz="1600" dirty="0">
                <a:latin typeface="Arial MT"/>
                <a:cs typeface="Arial MT"/>
              </a:rPr>
              <a:t> </a:t>
            </a:r>
            <a:r>
              <a:rPr sz="1600" spc="-5" dirty="0">
                <a:latin typeface="Arial MT"/>
                <a:cs typeface="Arial MT"/>
              </a:rPr>
              <a:t>listener</a:t>
            </a:r>
            <a:r>
              <a:rPr sz="1600" dirty="0">
                <a:latin typeface="Arial MT"/>
                <a:cs typeface="Arial MT"/>
              </a:rPr>
              <a:t> </a:t>
            </a:r>
            <a:r>
              <a:rPr sz="1600" spc="-5" dirty="0">
                <a:latin typeface="Arial MT"/>
                <a:cs typeface="Arial MT"/>
              </a:rPr>
              <a:t>involves</a:t>
            </a:r>
            <a:r>
              <a:rPr sz="1600" dirty="0">
                <a:latin typeface="Arial MT"/>
                <a:cs typeface="Arial MT"/>
              </a:rPr>
              <a:t> </a:t>
            </a:r>
            <a:r>
              <a:rPr sz="1600" spc="-5" dirty="0">
                <a:latin typeface="Arial MT"/>
                <a:cs typeface="Arial MT"/>
              </a:rPr>
              <a:t>the</a:t>
            </a:r>
            <a:r>
              <a:rPr sz="1600" dirty="0">
                <a:latin typeface="Arial MT"/>
                <a:cs typeface="Arial MT"/>
              </a:rPr>
              <a:t> </a:t>
            </a:r>
            <a:r>
              <a:rPr sz="1600" spc="-5" dirty="0">
                <a:latin typeface="Arial MT"/>
                <a:cs typeface="Arial MT"/>
              </a:rPr>
              <a:t>poller</a:t>
            </a:r>
            <a:r>
              <a:rPr sz="1600" spc="430" dirty="0">
                <a:latin typeface="Arial MT"/>
                <a:cs typeface="Arial MT"/>
              </a:rPr>
              <a:t> </a:t>
            </a:r>
            <a:r>
              <a:rPr sz="1600" spc="-5" dirty="0">
                <a:latin typeface="Arial MT"/>
                <a:cs typeface="Arial MT"/>
              </a:rPr>
              <a:t>modulating</a:t>
            </a:r>
            <a:r>
              <a:rPr sz="1600" spc="434" dirty="0">
                <a:latin typeface="Arial MT"/>
                <a:cs typeface="Arial MT"/>
              </a:rPr>
              <a:t> </a:t>
            </a:r>
            <a:r>
              <a:rPr sz="1600" dirty="0">
                <a:latin typeface="Arial MT"/>
                <a:cs typeface="Arial MT"/>
              </a:rPr>
              <a:t>the </a:t>
            </a:r>
            <a:r>
              <a:rPr sz="1600" spc="5" dirty="0">
                <a:latin typeface="Arial MT"/>
                <a:cs typeface="Arial MT"/>
              </a:rPr>
              <a:t> </a:t>
            </a:r>
            <a:r>
              <a:rPr sz="1600" spc="-5" dirty="0">
                <a:latin typeface="Arial MT"/>
                <a:cs typeface="Arial MT"/>
              </a:rPr>
              <a:t>amplitude</a:t>
            </a:r>
            <a:r>
              <a:rPr sz="1600" spc="5" dirty="0">
                <a:latin typeface="Arial MT"/>
                <a:cs typeface="Arial MT"/>
              </a:rPr>
              <a:t> </a:t>
            </a:r>
            <a:r>
              <a:rPr sz="1600" spc="-5" dirty="0">
                <a:latin typeface="Arial MT"/>
                <a:cs typeface="Arial MT"/>
              </a:rPr>
              <a:t>of</a:t>
            </a:r>
            <a:r>
              <a:rPr sz="1600" spc="10" dirty="0">
                <a:latin typeface="Arial MT"/>
                <a:cs typeface="Arial MT"/>
              </a:rPr>
              <a:t> </a:t>
            </a:r>
            <a:r>
              <a:rPr sz="1600" spc="-5" dirty="0">
                <a:latin typeface="Arial MT"/>
                <a:cs typeface="Arial MT"/>
              </a:rPr>
              <a:t>its</a:t>
            </a:r>
            <a:r>
              <a:rPr sz="1600" spc="-10" dirty="0">
                <a:latin typeface="Arial MT"/>
                <a:cs typeface="Arial MT"/>
              </a:rPr>
              <a:t> </a:t>
            </a:r>
            <a:r>
              <a:rPr sz="1600" spc="-5" dirty="0">
                <a:latin typeface="Arial MT"/>
                <a:cs typeface="Arial MT"/>
              </a:rPr>
              <a:t>field,</a:t>
            </a:r>
            <a:r>
              <a:rPr sz="1600" spc="5" dirty="0">
                <a:latin typeface="Arial MT"/>
                <a:cs typeface="Arial MT"/>
              </a:rPr>
              <a:t> </a:t>
            </a:r>
            <a:r>
              <a:rPr sz="1600" spc="-10" dirty="0">
                <a:latin typeface="Arial MT"/>
                <a:cs typeface="Arial MT"/>
              </a:rPr>
              <a:t>which</a:t>
            </a:r>
            <a:r>
              <a:rPr sz="1600" dirty="0">
                <a:latin typeface="Arial MT"/>
                <a:cs typeface="Arial MT"/>
              </a:rPr>
              <a:t> is</a:t>
            </a:r>
            <a:r>
              <a:rPr sz="1600" spc="5" dirty="0">
                <a:latin typeface="Arial MT"/>
                <a:cs typeface="Arial MT"/>
              </a:rPr>
              <a:t> </a:t>
            </a:r>
            <a:r>
              <a:rPr sz="1600" spc="-5" dirty="0">
                <a:latin typeface="Arial MT"/>
                <a:cs typeface="Arial MT"/>
              </a:rPr>
              <a:t>registered</a:t>
            </a:r>
            <a:r>
              <a:rPr sz="1600" spc="10" dirty="0">
                <a:latin typeface="Arial MT"/>
                <a:cs typeface="Arial MT"/>
              </a:rPr>
              <a:t> </a:t>
            </a:r>
            <a:r>
              <a:rPr sz="1600" spc="-5" dirty="0">
                <a:latin typeface="Arial MT"/>
                <a:cs typeface="Arial MT"/>
              </a:rPr>
              <a:t>by</a:t>
            </a:r>
            <a:r>
              <a:rPr sz="1600" spc="10" dirty="0">
                <a:latin typeface="Arial MT"/>
                <a:cs typeface="Arial MT"/>
              </a:rPr>
              <a:t> </a:t>
            </a:r>
            <a:r>
              <a:rPr sz="1600" spc="-5" dirty="0">
                <a:latin typeface="Arial MT"/>
                <a:cs typeface="Arial MT"/>
              </a:rPr>
              <a:t>the</a:t>
            </a:r>
            <a:r>
              <a:rPr sz="1600" spc="10" dirty="0">
                <a:latin typeface="Arial MT"/>
                <a:cs typeface="Arial MT"/>
              </a:rPr>
              <a:t> </a:t>
            </a:r>
            <a:r>
              <a:rPr sz="1600" spc="-5" dirty="0">
                <a:latin typeface="Arial MT"/>
                <a:cs typeface="Arial MT"/>
              </a:rPr>
              <a:t>listener.</a:t>
            </a:r>
            <a:endParaRPr sz="1600">
              <a:latin typeface="Arial MT"/>
              <a:cs typeface="Arial MT"/>
            </a:endParaRPr>
          </a:p>
          <a:p>
            <a:pPr marL="329565" marR="5080" indent="-317500" algn="just">
              <a:lnSpc>
                <a:spcPts val="2880"/>
              </a:lnSpc>
              <a:spcBef>
                <a:spcPts val="254"/>
              </a:spcBef>
              <a:buSzPct val="87500"/>
              <a:buChar char="●"/>
              <a:tabLst>
                <a:tab pos="330200" algn="l"/>
              </a:tabLst>
            </a:pPr>
            <a:r>
              <a:rPr sz="1600" spc="-5" dirty="0">
                <a:latin typeface="Arial MT"/>
                <a:cs typeface="Arial MT"/>
              </a:rPr>
              <a:t>The transmission from listener </a:t>
            </a:r>
            <a:r>
              <a:rPr sz="1600" dirty="0">
                <a:latin typeface="Arial MT"/>
                <a:cs typeface="Arial MT"/>
              </a:rPr>
              <a:t>to poller </a:t>
            </a:r>
            <a:r>
              <a:rPr sz="1600" spc="-5" dirty="0">
                <a:latin typeface="Arial MT"/>
                <a:cs typeface="Arial MT"/>
              </a:rPr>
              <a:t>takes place </a:t>
            </a:r>
            <a:r>
              <a:rPr sz="1600" dirty="0">
                <a:latin typeface="Arial MT"/>
                <a:cs typeface="Arial MT"/>
              </a:rPr>
              <a:t>by </a:t>
            </a:r>
            <a:r>
              <a:rPr sz="1600" spc="-5" dirty="0">
                <a:latin typeface="Arial MT"/>
                <a:cs typeface="Arial MT"/>
              </a:rPr>
              <a:t>means of load modulation: </a:t>
            </a:r>
            <a:r>
              <a:rPr sz="1600" dirty="0">
                <a:latin typeface="Arial MT"/>
                <a:cs typeface="Arial MT"/>
              </a:rPr>
              <a:t> </a:t>
            </a:r>
            <a:r>
              <a:rPr sz="1600" spc="-5" dirty="0">
                <a:latin typeface="Arial MT"/>
                <a:cs typeface="Arial MT"/>
              </a:rPr>
              <a:t>The listener can change the </a:t>
            </a:r>
            <a:r>
              <a:rPr sz="1600" dirty="0">
                <a:latin typeface="Arial MT"/>
                <a:cs typeface="Arial MT"/>
              </a:rPr>
              <a:t>amount of </a:t>
            </a:r>
            <a:r>
              <a:rPr sz="1600" spc="-5" dirty="0">
                <a:latin typeface="Arial MT"/>
                <a:cs typeface="Arial MT"/>
              </a:rPr>
              <a:t>drawn </a:t>
            </a:r>
            <a:r>
              <a:rPr sz="1600" dirty="0">
                <a:latin typeface="Arial MT"/>
                <a:cs typeface="Arial MT"/>
              </a:rPr>
              <a:t>energy </a:t>
            </a:r>
            <a:r>
              <a:rPr sz="1600" spc="-5" dirty="0">
                <a:latin typeface="Arial MT"/>
                <a:cs typeface="Arial MT"/>
              </a:rPr>
              <a:t>over time (by changing the </a:t>
            </a:r>
            <a:r>
              <a:rPr sz="1600" dirty="0">
                <a:latin typeface="Arial MT"/>
                <a:cs typeface="Arial MT"/>
              </a:rPr>
              <a:t> </a:t>
            </a:r>
            <a:r>
              <a:rPr sz="1600" spc="-5" dirty="0">
                <a:latin typeface="Arial MT"/>
                <a:cs typeface="Arial MT"/>
              </a:rPr>
              <a:t>impedance).</a:t>
            </a:r>
            <a:r>
              <a:rPr sz="1600" spc="350" dirty="0">
                <a:latin typeface="Arial MT"/>
                <a:cs typeface="Arial MT"/>
              </a:rPr>
              <a:t> </a:t>
            </a:r>
            <a:r>
              <a:rPr sz="1600" spc="-5" dirty="0">
                <a:latin typeface="Arial MT"/>
                <a:cs typeface="Arial MT"/>
              </a:rPr>
              <a:t>Feedback</a:t>
            </a:r>
            <a:r>
              <a:rPr sz="1600" spc="360" dirty="0">
                <a:latin typeface="Arial MT"/>
                <a:cs typeface="Arial MT"/>
              </a:rPr>
              <a:t> </a:t>
            </a:r>
            <a:r>
              <a:rPr sz="1600" spc="-5" dirty="0">
                <a:latin typeface="Arial MT"/>
                <a:cs typeface="Arial MT"/>
              </a:rPr>
              <a:t>changes</a:t>
            </a:r>
            <a:r>
              <a:rPr sz="1600" spc="350" dirty="0">
                <a:latin typeface="Arial MT"/>
                <a:cs typeface="Arial MT"/>
              </a:rPr>
              <a:t> </a:t>
            </a:r>
            <a:r>
              <a:rPr sz="1600" spc="-5" dirty="0">
                <a:latin typeface="Arial MT"/>
                <a:cs typeface="Arial MT"/>
              </a:rPr>
              <a:t>the</a:t>
            </a:r>
            <a:r>
              <a:rPr sz="1600" spc="365" dirty="0">
                <a:latin typeface="Arial MT"/>
                <a:cs typeface="Arial MT"/>
              </a:rPr>
              <a:t> </a:t>
            </a:r>
            <a:r>
              <a:rPr sz="1600" spc="-5" dirty="0">
                <a:latin typeface="Arial MT"/>
                <a:cs typeface="Arial MT"/>
              </a:rPr>
              <a:t>amplitude</a:t>
            </a:r>
            <a:r>
              <a:rPr sz="1600" spc="355" dirty="0">
                <a:latin typeface="Arial MT"/>
                <a:cs typeface="Arial MT"/>
              </a:rPr>
              <a:t> </a:t>
            </a:r>
            <a:r>
              <a:rPr sz="1600" spc="-5" dirty="0">
                <a:latin typeface="Arial MT"/>
                <a:cs typeface="Arial MT"/>
              </a:rPr>
              <a:t>of</a:t>
            </a:r>
            <a:r>
              <a:rPr sz="1600" spc="360" dirty="0">
                <a:latin typeface="Arial MT"/>
                <a:cs typeface="Arial MT"/>
              </a:rPr>
              <a:t> </a:t>
            </a:r>
            <a:r>
              <a:rPr sz="1600" spc="-5" dirty="0">
                <a:latin typeface="Arial MT"/>
                <a:cs typeface="Arial MT"/>
              </a:rPr>
              <a:t>the</a:t>
            </a:r>
            <a:r>
              <a:rPr sz="1600" spc="355" dirty="0">
                <a:latin typeface="Arial MT"/>
                <a:cs typeface="Arial MT"/>
              </a:rPr>
              <a:t> </a:t>
            </a:r>
            <a:r>
              <a:rPr sz="1600" spc="-5" dirty="0">
                <a:latin typeface="Arial MT"/>
                <a:cs typeface="Arial MT"/>
              </a:rPr>
              <a:t>alternating</a:t>
            </a:r>
            <a:r>
              <a:rPr sz="1600" spc="355" dirty="0">
                <a:latin typeface="Arial MT"/>
                <a:cs typeface="Arial MT"/>
              </a:rPr>
              <a:t> </a:t>
            </a:r>
            <a:r>
              <a:rPr sz="1600" spc="-5" dirty="0">
                <a:latin typeface="Arial MT"/>
                <a:cs typeface="Arial MT"/>
              </a:rPr>
              <a:t>electromagnetic</a:t>
            </a:r>
            <a:endParaRPr sz="1600">
              <a:latin typeface="Arial MT"/>
              <a:cs typeface="Arial MT"/>
            </a:endParaRPr>
          </a:p>
          <a:p>
            <a:pPr marL="329565" algn="just">
              <a:lnSpc>
                <a:spcPct val="100000"/>
              </a:lnSpc>
              <a:spcBef>
                <a:spcPts val="710"/>
              </a:spcBef>
            </a:pPr>
            <a:r>
              <a:rPr sz="1600" spc="-5" dirty="0">
                <a:latin typeface="Arial MT"/>
                <a:cs typeface="Arial MT"/>
              </a:rPr>
              <a:t>field,</a:t>
            </a:r>
            <a:r>
              <a:rPr sz="1600" dirty="0">
                <a:latin typeface="Arial MT"/>
                <a:cs typeface="Arial MT"/>
              </a:rPr>
              <a:t> </a:t>
            </a:r>
            <a:r>
              <a:rPr sz="1600" spc="-10" dirty="0">
                <a:latin typeface="Arial MT"/>
                <a:cs typeface="Arial MT"/>
              </a:rPr>
              <a:t>which</a:t>
            </a:r>
            <a:r>
              <a:rPr sz="1600" spc="10" dirty="0">
                <a:latin typeface="Arial MT"/>
                <a:cs typeface="Arial MT"/>
              </a:rPr>
              <a:t> </a:t>
            </a:r>
            <a:r>
              <a:rPr sz="1600" spc="-5" dirty="0">
                <a:latin typeface="Arial MT"/>
                <a:cs typeface="Arial MT"/>
              </a:rPr>
              <a:t>the</a:t>
            </a:r>
            <a:r>
              <a:rPr sz="1600" spc="10" dirty="0">
                <a:latin typeface="Arial MT"/>
                <a:cs typeface="Arial MT"/>
              </a:rPr>
              <a:t> </a:t>
            </a:r>
            <a:r>
              <a:rPr sz="1600" spc="-5" dirty="0">
                <a:latin typeface="Arial MT"/>
                <a:cs typeface="Arial MT"/>
              </a:rPr>
              <a:t>poller</a:t>
            </a:r>
            <a:r>
              <a:rPr sz="1600" spc="-10" dirty="0">
                <a:latin typeface="Arial MT"/>
                <a:cs typeface="Arial MT"/>
              </a:rPr>
              <a:t> </a:t>
            </a:r>
            <a:r>
              <a:rPr sz="1600" spc="-5" dirty="0">
                <a:latin typeface="Arial MT"/>
                <a:cs typeface="Arial MT"/>
              </a:rPr>
              <a:t>can</a:t>
            </a:r>
            <a:r>
              <a:rPr sz="1600" dirty="0">
                <a:latin typeface="Arial MT"/>
                <a:cs typeface="Arial MT"/>
              </a:rPr>
              <a:t> </a:t>
            </a:r>
            <a:r>
              <a:rPr sz="1600" spc="-5" dirty="0">
                <a:latin typeface="Arial MT"/>
                <a:cs typeface="Arial MT"/>
              </a:rPr>
              <a:t>register.</a:t>
            </a:r>
            <a:endParaRPr sz="160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538" y="361950"/>
            <a:ext cx="4200748" cy="440011"/>
          </a:xfrm>
          <a:prstGeom prst="rect">
            <a:avLst/>
          </a:prstGeom>
          <a:noFill/>
          <a:ln/>
        </p:spPr>
        <p:txBody>
          <a:bodyPr wrap="none" lIns="0" tIns="0" rIns="0" bIns="0" rtlCol="0" anchor="t"/>
          <a:lstStyle/>
          <a:p>
            <a:pPr>
              <a:lnSpc>
                <a:spcPts val="3438"/>
              </a:lnSpc>
            </a:pPr>
            <a:r>
              <a:rPr lang="en-US" sz="2750" b="1" dirty="0">
                <a:solidFill>
                  <a:srgbClr val="002060"/>
                </a:solidFill>
                <a:latin typeface="Lucida Sans" panose="020B0602030504020204" pitchFamily="34" charset="0"/>
                <a:ea typeface="Overpass Bold" pitchFamily="34" charset="-122"/>
                <a:cs typeface="Overpass Bold" pitchFamily="34" charset="-120"/>
              </a:rPr>
              <a:t>NFC's Modes of Operation</a:t>
            </a:r>
            <a:endParaRPr lang="en-US" sz="2750" dirty="0">
              <a:solidFill>
                <a:srgbClr val="002060"/>
              </a:solidFill>
              <a:latin typeface="Lucida Sans" panose="020B0602030504020204" pitchFamily="34" charset="0"/>
            </a:endParaRPr>
          </a:p>
        </p:txBody>
      </p:sp>
      <p:sp>
        <p:nvSpPr>
          <p:cNvPr id="3" name="Shape 1"/>
          <p:cNvSpPr/>
          <p:nvPr/>
        </p:nvSpPr>
        <p:spPr>
          <a:xfrm>
            <a:off x="523577" y="1734518"/>
            <a:ext cx="2599209" cy="2413694"/>
          </a:xfrm>
          <a:prstGeom prst="roundRect">
            <a:avLst>
              <a:gd name="adj" fmla="val 2603"/>
            </a:avLst>
          </a:prstGeom>
          <a:solidFill>
            <a:srgbClr val="7E023C"/>
          </a:solidFill>
          <a:ln w="7620">
            <a:solidFill>
              <a:srgbClr val="971B55"/>
            </a:solidFill>
            <a:prstDash val="solid"/>
          </a:ln>
        </p:spPr>
        <p:txBody>
          <a:bodyPr/>
          <a:lstStyle/>
          <a:p>
            <a:endParaRPr lang="en-US"/>
          </a:p>
        </p:txBody>
      </p:sp>
      <p:sp>
        <p:nvSpPr>
          <p:cNvPr id="4" name="Shape 2"/>
          <p:cNvSpPr/>
          <p:nvPr/>
        </p:nvSpPr>
        <p:spPr>
          <a:xfrm>
            <a:off x="677912" y="1888852"/>
            <a:ext cx="448791" cy="448791"/>
          </a:xfrm>
          <a:prstGeom prst="roundRect">
            <a:avLst>
              <a:gd name="adj" fmla="val 12732932"/>
            </a:avLst>
          </a:prstGeom>
          <a:solidFill>
            <a:srgbClr val="F20374"/>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01291" y="1987004"/>
            <a:ext cx="201960" cy="252413"/>
          </a:xfrm>
          <a:prstGeom prst="rect">
            <a:avLst/>
          </a:prstGeom>
        </p:spPr>
      </p:pic>
      <p:sp>
        <p:nvSpPr>
          <p:cNvPr id="6" name="Text 3"/>
          <p:cNvSpPr/>
          <p:nvPr/>
        </p:nvSpPr>
        <p:spPr>
          <a:xfrm>
            <a:off x="677912" y="2487216"/>
            <a:ext cx="1760116" cy="219968"/>
          </a:xfrm>
          <a:prstGeom prst="rect">
            <a:avLst/>
          </a:prstGeom>
          <a:noFill/>
          <a:ln/>
        </p:spPr>
        <p:txBody>
          <a:bodyPr wrap="none" lIns="0" tIns="0" rIns="0" bIns="0" rtlCol="0" anchor="t"/>
          <a:lstStyle/>
          <a:p>
            <a:pPr>
              <a:lnSpc>
                <a:spcPts val="1719"/>
              </a:lnSpc>
            </a:pPr>
            <a:r>
              <a:rPr lang="en-US" sz="1375" b="1" dirty="0">
                <a:solidFill>
                  <a:srgbClr val="E5E0DF"/>
                </a:solidFill>
                <a:latin typeface="Lucida Sans" panose="020B0602030504020204" pitchFamily="34" charset="0"/>
                <a:ea typeface="Overpass Bold" pitchFamily="34" charset="-122"/>
                <a:cs typeface="Overpass Bold" pitchFamily="34" charset="-120"/>
              </a:rPr>
              <a:t>Reader/Writer Mode</a:t>
            </a:r>
            <a:endParaRPr lang="en-US" sz="1375" dirty="0">
              <a:latin typeface="Lucida Sans" panose="020B0602030504020204" pitchFamily="34" charset="0"/>
            </a:endParaRPr>
          </a:p>
        </p:txBody>
      </p:sp>
      <p:sp>
        <p:nvSpPr>
          <p:cNvPr id="7" name="Text 4"/>
          <p:cNvSpPr/>
          <p:nvPr/>
        </p:nvSpPr>
        <p:spPr>
          <a:xfrm>
            <a:off x="677912" y="2796927"/>
            <a:ext cx="2290539" cy="957560"/>
          </a:xfrm>
          <a:prstGeom prst="rect">
            <a:avLst/>
          </a:prstGeom>
          <a:noFill/>
          <a:ln/>
        </p:spPr>
        <p:txBody>
          <a:bodyPr wrap="square" lIns="0" tIns="0" rIns="0" bIns="0" rtlCol="0" anchor="t"/>
          <a:lstStyle/>
          <a:p>
            <a:pPr>
              <a:lnSpc>
                <a:spcPts val="1875"/>
              </a:lnSpc>
            </a:pPr>
            <a:r>
              <a:rPr lang="en-US" sz="1156" dirty="0">
                <a:solidFill>
                  <a:srgbClr val="E5E0DF"/>
                </a:solidFill>
                <a:latin typeface="Lucida Sans" panose="020B0602030504020204" pitchFamily="34" charset="0"/>
                <a:ea typeface="Overpass" pitchFamily="34" charset="-122"/>
                <a:cs typeface="Overpass" pitchFamily="34" charset="-120"/>
              </a:rPr>
              <a:t>An NFC device (like a phone) reads or writes data to an NFC tag. </a:t>
            </a:r>
            <a:r>
              <a:rPr lang="en-US" sz="1156" b="1" dirty="0">
                <a:solidFill>
                  <a:srgbClr val="E5E0DF"/>
                </a:solidFill>
                <a:latin typeface="Lucida Sans" panose="020B0602030504020204" pitchFamily="34" charset="0"/>
                <a:ea typeface="Overpass" pitchFamily="34" charset="-122"/>
                <a:cs typeface="Overpass" pitchFamily="34" charset="-120"/>
              </a:rPr>
              <a:t>Example:</a:t>
            </a:r>
            <a:r>
              <a:rPr lang="en-US" sz="1156" dirty="0">
                <a:solidFill>
                  <a:srgbClr val="E5E0DF"/>
                </a:solidFill>
                <a:latin typeface="Lucida Sans" panose="020B0602030504020204" pitchFamily="34" charset="0"/>
                <a:ea typeface="Overpass" pitchFamily="34" charset="-122"/>
                <a:cs typeface="Overpass" pitchFamily="34" charset="-120"/>
              </a:rPr>
              <a:t> Tapping a smart poster to open a website.</a:t>
            </a:r>
            <a:endParaRPr lang="en-US" sz="1156" dirty="0">
              <a:latin typeface="Lucida Sans" panose="020B0602030504020204" pitchFamily="34" charset="0"/>
            </a:endParaRPr>
          </a:p>
        </p:txBody>
      </p:sp>
      <p:sp>
        <p:nvSpPr>
          <p:cNvPr id="8" name="Shape 5"/>
          <p:cNvSpPr/>
          <p:nvPr/>
        </p:nvSpPr>
        <p:spPr>
          <a:xfrm>
            <a:off x="3272358" y="1734518"/>
            <a:ext cx="2599209" cy="2413694"/>
          </a:xfrm>
          <a:prstGeom prst="roundRect">
            <a:avLst>
              <a:gd name="adj" fmla="val 2603"/>
            </a:avLst>
          </a:prstGeom>
          <a:solidFill>
            <a:srgbClr val="7E023C"/>
          </a:solidFill>
          <a:ln w="7620">
            <a:solidFill>
              <a:srgbClr val="971B55"/>
            </a:solidFill>
            <a:prstDash val="solid"/>
          </a:ln>
        </p:spPr>
        <p:txBody>
          <a:bodyPr/>
          <a:lstStyle/>
          <a:p>
            <a:endParaRPr lang="en-US"/>
          </a:p>
        </p:txBody>
      </p:sp>
      <p:sp>
        <p:nvSpPr>
          <p:cNvPr id="9" name="Shape 6"/>
          <p:cNvSpPr/>
          <p:nvPr/>
        </p:nvSpPr>
        <p:spPr>
          <a:xfrm>
            <a:off x="3426693" y="1888852"/>
            <a:ext cx="448791" cy="448791"/>
          </a:xfrm>
          <a:prstGeom prst="roundRect">
            <a:avLst>
              <a:gd name="adj" fmla="val 12732932"/>
            </a:avLst>
          </a:prstGeom>
          <a:solidFill>
            <a:srgbClr val="F20374"/>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3550072" y="1987004"/>
            <a:ext cx="201960" cy="252413"/>
          </a:xfrm>
          <a:prstGeom prst="rect">
            <a:avLst/>
          </a:prstGeom>
        </p:spPr>
      </p:pic>
      <p:sp>
        <p:nvSpPr>
          <p:cNvPr id="11" name="Text 7"/>
          <p:cNvSpPr/>
          <p:nvPr/>
        </p:nvSpPr>
        <p:spPr>
          <a:xfrm>
            <a:off x="3426694" y="2487216"/>
            <a:ext cx="2069678" cy="219968"/>
          </a:xfrm>
          <a:prstGeom prst="rect">
            <a:avLst/>
          </a:prstGeom>
          <a:noFill/>
          <a:ln/>
        </p:spPr>
        <p:txBody>
          <a:bodyPr wrap="none" lIns="0" tIns="0" rIns="0" bIns="0" rtlCol="0" anchor="t"/>
          <a:lstStyle/>
          <a:p>
            <a:pPr>
              <a:lnSpc>
                <a:spcPts val="1719"/>
              </a:lnSpc>
            </a:pPr>
            <a:r>
              <a:rPr lang="en-US" sz="1375" b="1" dirty="0">
                <a:solidFill>
                  <a:srgbClr val="E5E0DF"/>
                </a:solidFill>
                <a:latin typeface="Lucida Sans" panose="020B0602030504020204" pitchFamily="34" charset="0"/>
                <a:ea typeface="Overpass Bold" pitchFamily="34" charset="-122"/>
                <a:cs typeface="Overpass Bold" pitchFamily="34" charset="-120"/>
              </a:rPr>
              <a:t>Peer-to-Peer (P2P) Mode</a:t>
            </a:r>
            <a:endParaRPr lang="en-US" sz="1375" dirty="0">
              <a:latin typeface="Lucida Sans" panose="020B0602030504020204" pitchFamily="34" charset="0"/>
            </a:endParaRPr>
          </a:p>
        </p:txBody>
      </p:sp>
      <p:sp>
        <p:nvSpPr>
          <p:cNvPr id="12" name="Text 8"/>
          <p:cNvSpPr/>
          <p:nvPr/>
        </p:nvSpPr>
        <p:spPr>
          <a:xfrm>
            <a:off x="3426694" y="2796927"/>
            <a:ext cx="2290539" cy="1196950"/>
          </a:xfrm>
          <a:prstGeom prst="rect">
            <a:avLst/>
          </a:prstGeom>
          <a:noFill/>
          <a:ln/>
        </p:spPr>
        <p:txBody>
          <a:bodyPr wrap="square" lIns="0" tIns="0" rIns="0" bIns="0" rtlCol="0" anchor="t"/>
          <a:lstStyle/>
          <a:p>
            <a:pPr>
              <a:lnSpc>
                <a:spcPts val="1875"/>
              </a:lnSpc>
            </a:pPr>
            <a:r>
              <a:rPr lang="en-US" sz="1156" dirty="0">
                <a:solidFill>
                  <a:srgbClr val="E5E0DF"/>
                </a:solidFill>
                <a:latin typeface="Lucida Sans" panose="020B0602030504020204" pitchFamily="34" charset="0"/>
                <a:ea typeface="Overpass" pitchFamily="34" charset="-122"/>
                <a:cs typeface="Overpass" pitchFamily="34" charset="-120"/>
              </a:rPr>
              <a:t>Two NFC-enabled devices exchange data with each other. </a:t>
            </a:r>
            <a:r>
              <a:rPr lang="en-US" sz="1156" b="1" dirty="0">
                <a:solidFill>
                  <a:srgbClr val="E5E0DF"/>
                </a:solidFill>
                <a:latin typeface="Lucida Sans" panose="020B0602030504020204" pitchFamily="34" charset="0"/>
                <a:ea typeface="Overpass" pitchFamily="34" charset="-122"/>
                <a:cs typeface="Overpass" pitchFamily="34" charset="-120"/>
              </a:rPr>
              <a:t>Example:</a:t>
            </a:r>
            <a:r>
              <a:rPr lang="en-US" sz="1156" dirty="0">
                <a:solidFill>
                  <a:srgbClr val="E5E0DF"/>
                </a:solidFill>
                <a:latin typeface="Lucida Sans" panose="020B0602030504020204" pitchFamily="34" charset="0"/>
                <a:ea typeface="Overpass" pitchFamily="34" charset="-122"/>
                <a:cs typeface="Overpass" pitchFamily="34" charset="-120"/>
              </a:rPr>
              <a:t> Sharing a photo or contact by tapping two phones together.</a:t>
            </a:r>
            <a:endParaRPr lang="en-US" sz="1156" dirty="0">
              <a:latin typeface="Lucida Sans" panose="020B0602030504020204" pitchFamily="34" charset="0"/>
            </a:endParaRPr>
          </a:p>
        </p:txBody>
      </p:sp>
      <p:sp>
        <p:nvSpPr>
          <p:cNvPr id="13" name="Shape 9"/>
          <p:cNvSpPr/>
          <p:nvPr/>
        </p:nvSpPr>
        <p:spPr>
          <a:xfrm>
            <a:off x="6021140" y="1734518"/>
            <a:ext cx="2599283" cy="2413694"/>
          </a:xfrm>
          <a:prstGeom prst="roundRect">
            <a:avLst>
              <a:gd name="adj" fmla="val 2603"/>
            </a:avLst>
          </a:prstGeom>
          <a:solidFill>
            <a:srgbClr val="7E023C"/>
          </a:solidFill>
          <a:ln w="7620">
            <a:solidFill>
              <a:srgbClr val="971B55"/>
            </a:solidFill>
            <a:prstDash val="solid"/>
          </a:ln>
        </p:spPr>
        <p:txBody>
          <a:bodyPr/>
          <a:lstStyle/>
          <a:p>
            <a:endParaRPr lang="en-US"/>
          </a:p>
        </p:txBody>
      </p:sp>
      <p:sp>
        <p:nvSpPr>
          <p:cNvPr id="14" name="Shape 10"/>
          <p:cNvSpPr/>
          <p:nvPr/>
        </p:nvSpPr>
        <p:spPr>
          <a:xfrm>
            <a:off x="6175475" y="1888852"/>
            <a:ext cx="448791" cy="448791"/>
          </a:xfrm>
          <a:prstGeom prst="roundRect">
            <a:avLst>
              <a:gd name="adj" fmla="val 12732932"/>
            </a:avLst>
          </a:prstGeom>
          <a:solidFill>
            <a:srgbClr val="F20374"/>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6298853" y="1987004"/>
            <a:ext cx="201960" cy="252413"/>
          </a:xfrm>
          <a:prstGeom prst="rect">
            <a:avLst/>
          </a:prstGeom>
        </p:spPr>
      </p:pic>
      <p:sp>
        <p:nvSpPr>
          <p:cNvPr id="16" name="Text 11"/>
          <p:cNvSpPr/>
          <p:nvPr/>
        </p:nvSpPr>
        <p:spPr>
          <a:xfrm>
            <a:off x="6175475" y="2487216"/>
            <a:ext cx="1760116" cy="219968"/>
          </a:xfrm>
          <a:prstGeom prst="rect">
            <a:avLst/>
          </a:prstGeom>
          <a:noFill/>
          <a:ln/>
        </p:spPr>
        <p:txBody>
          <a:bodyPr wrap="none" lIns="0" tIns="0" rIns="0" bIns="0" rtlCol="0" anchor="t"/>
          <a:lstStyle/>
          <a:p>
            <a:pPr>
              <a:lnSpc>
                <a:spcPts val="1719"/>
              </a:lnSpc>
            </a:pPr>
            <a:r>
              <a:rPr lang="en-US" sz="1375" b="1" dirty="0">
                <a:solidFill>
                  <a:srgbClr val="E5E0DF"/>
                </a:solidFill>
                <a:latin typeface="Lucida Sans" panose="020B0602030504020204" pitchFamily="34" charset="0"/>
                <a:ea typeface="Overpass Bold" pitchFamily="34" charset="-122"/>
                <a:cs typeface="Overpass Bold" pitchFamily="34" charset="-120"/>
              </a:rPr>
              <a:t>Card Emulation Mode</a:t>
            </a:r>
            <a:endParaRPr lang="en-US" sz="1375" dirty="0">
              <a:latin typeface="Lucida Sans" panose="020B0602030504020204" pitchFamily="34" charset="0"/>
            </a:endParaRPr>
          </a:p>
        </p:txBody>
      </p:sp>
      <p:sp>
        <p:nvSpPr>
          <p:cNvPr id="17" name="Text 12"/>
          <p:cNvSpPr/>
          <p:nvPr/>
        </p:nvSpPr>
        <p:spPr>
          <a:xfrm>
            <a:off x="6175474" y="2796927"/>
            <a:ext cx="2353064" cy="1196950"/>
          </a:xfrm>
          <a:prstGeom prst="rect">
            <a:avLst/>
          </a:prstGeom>
          <a:noFill/>
          <a:ln/>
        </p:spPr>
        <p:txBody>
          <a:bodyPr wrap="square" lIns="0" tIns="0" rIns="0" bIns="0" rtlCol="0" anchor="t"/>
          <a:lstStyle/>
          <a:p>
            <a:pPr>
              <a:lnSpc>
                <a:spcPts val="1875"/>
              </a:lnSpc>
            </a:pPr>
            <a:r>
              <a:rPr lang="en-US" sz="1156" dirty="0">
                <a:solidFill>
                  <a:srgbClr val="E5E0DF"/>
                </a:solidFill>
                <a:latin typeface="Lucida Sans" panose="020B0602030504020204" pitchFamily="34" charset="0"/>
                <a:ea typeface="Overpass" pitchFamily="34" charset="-122"/>
                <a:cs typeface="Overpass" pitchFamily="34" charset="-120"/>
              </a:rPr>
              <a:t>An NFC device acts as a contactless smart card. </a:t>
            </a:r>
            <a:r>
              <a:rPr lang="en-US" sz="1156" b="1" dirty="0">
                <a:solidFill>
                  <a:srgbClr val="E5E0DF"/>
                </a:solidFill>
                <a:latin typeface="Lucida Sans" panose="020B0602030504020204" pitchFamily="34" charset="0"/>
                <a:ea typeface="Overpass" pitchFamily="34" charset="-122"/>
                <a:cs typeface="Overpass" pitchFamily="34" charset="-120"/>
              </a:rPr>
              <a:t>Example:</a:t>
            </a:r>
            <a:r>
              <a:rPr lang="en-US" sz="1156" dirty="0">
                <a:solidFill>
                  <a:srgbClr val="E5E0DF"/>
                </a:solidFill>
                <a:latin typeface="Lucida Sans" panose="020B0602030504020204" pitchFamily="34" charset="0"/>
                <a:ea typeface="Overpass" pitchFamily="34" charset="-122"/>
                <a:cs typeface="Overpass" pitchFamily="34" charset="-120"/>
              </a:rPr>
              <a:t> Using your smartphone to pay at a terminal or enter a secured building.</a:t>
            </a:r>
            <a:endParaRPr lang="en-US" sz="1156" dirty="0">
              <a:latin typeface="Lucida Sans" panose="020B0602030504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94851"/>
            <a:ext cx="7886700" cy="994172"/>
          </a:xfrm>
          <a:prstGeom prst="rect">
            <a:avLst/>
          </a:prstGeom>
        </p:spPr>
        <p:txBody>
          <a:bodyPr vert="horz" wrap="square" lIns="0" tIns="12065" rIns="0" bIns="0" rtlCol="0">
            <a:spAutoFit/>
          </a:bodyPr>
          <a:lstStyle/>
          <a:p>
            <a:pPr marL="12700">
              <a:lnSpc>
                <a:spcPct val="100000"/>
              </a:lnSpc>
              <a:spcBef>
                <a:spcPts val="95"/>
              </a:spcBef>
            </a:pPr>
            <a:r>
              <a:rPr spc="-5" dirty="0"/>
              <a:t>NFC</a:t>
            </a:r>
            <a:r>
              <a:rPr spc="-35" dirty="0"/>
              <a:t> </a:t>
            </a:r>
            <a:r>
              <a:rPr spc="-5" dirty="0"/>
              <a:t>Reader</a:t>
            </a:r>
            <a:r>
              <a:rPr spc="-35" dirty="0"/>
              <a:t> </a:t>
            </a:r>
            <a:r>
              <a:rPr spc="-5" dirty="0"/>
              <a:t>mode</a:t>
            </a:r>
          </a:p>
        </p:txBody>
      </p:sp>
      <p:pic>
        <p:nvPicPr>
          <p:cNvPr id="3" name="object 3"/>
          <p:cNvPicPr/>
          <p:nvPr/>
        </p:nvPicPr>
        <p:blipFill>
          <a:blip r:embed="rId2" cstate="print"/>
          <a:stretch>
            <a:fillRect/>
          </a:stretch>
        </p:blipFill>
        <p:spPr>
          <a:xfrm>
            <a:off x="1742694" y="775261"/>
            <a:ext cx="5658612" cy="2654808"/>
          </a:xfrm>
          <a:prstGeom prst="rect">
            <a:avLst/>
          </a:prstGeom>
        </p:spPr>
      </p:pic>
      <p:sp>
        <p:nvSpPr>
          <p:cNvPr id="4" name="object 4"/>
          <p:cNvSpPr txBox="1"/>
          <p:nvPr/>
        </p:nvSpPr>
        <p:spPr>
          <a:xfrm>
            <a:off x="343001" y="3803095"/>
            <a:ext cx="8540750" cy="1148080"/>
          </a:xfrm>
          <a:prstGeom prst="rect">
            <a:avLst/>
          </a:prstGeom>
        </p:spPr>
        <p:txBody>
          <a:bodyPr vert="horz" wrap="square" lIns="0" tIns="49530" rIns="0" bIns="0" rtlCol="0">
            <a:spAutoFit/>
          </a:bodyPr>
          <a:lstStyle/>
          <a:p>
            <a:pPr marL="329565" indent="-317500">
              <a:lnSpc>
                <a:spcPct val="100000"/>
              </a:lnSpc>
              <a:spcBef>
                <a:spcPts val="390"/>
              </a:spcBef>
              <a:buSzPct val="87500"/>
              <a:buChar char="●"/>
              <a:tabLst>
                <a:tab pos="329565" algn="l"/>
                <a:tab pos="330200" algn="l"/>
              </a:tabLst>
            </a:pPr>
            <a:r>
              <a:rPr sz="1600" spc="-5" dirty="0">
                <a:latin typeface="Arial MT"/>
                <a:cs typeface="Arial MT"/>
              </a:rPr>
              <a:t>An NFC</a:t>
            </a:r>
            <a:r>
              <a:rPr sz="1600" dirty="0">
                <a:latin typeface="Arial MT"/>
                <a:cs typeface="Arial MT"/>
              </a:rPr>
              <a:t> </a:t>
            </a:r>
            <a:r>
              <a:rPr sz="1600" spc="-5" dirty="0">
                <a:latin typeface="Arial MT"/>
                <a:cs typeface="Arial MT"/>
              </a:rPr>
              <a:t>device</a:t>
            </a:r>
            <a:r>
              <a:rPr sz="1600" spc="-15" dirty="0">
                <a:latin typeface="Arial MT"/>
                <a:cs typeface="Arial MT"/>
              </a:rPr>
              <a:t> </a:t>
            </a:r>
            <a:r>
              <a:rPr sz="1600" spc="-5" dirty="0">
                <a:latin typeface="Arial MT"/>
                <a:cs typeface="Arial MT"/>
              </a:rPr>
              <a:t>is</a:t>
            </a:r>
            <a:r>
              <a:rPr sz="1600" spc="5" dirty="0">
                <a:latin typeface="Arial MT"/>
                <a:cs typeface="Arial MT"/>
              </a:rPr>
              <a:t> </a:t>
            </a:r>
            <a:r>
              <a:rPr sz="1600" spc="-5" dirty="0">
                <a:latin typeface="Arial MT"/>
                <a:cs typeface="Arial MT"/>
              </a:rPr>
              <a:t>in</a:t>
            </a:r>
            <a:r>
              <a:rPr sz="1600" spc="-15" dirty="0">
                <a:latin typeface="Arial MT"/>
                <a:cs typeface="Arial MT"/>
              </a:rPr>
              <a:t> </a:t>
            </a:r>
            <a:r>
              <a:rPr sz="1600" spc="-5" dirty="0">
                <a:latin typeface="Arial MT"/>
                <a:cs typeface="Arial MT"/>
              </a:rPr>
              <a:t>"</a:t>
            </a:r>
            <a:r>
              <a:rPr sz="1600" b="1" spc="-5" dirty="0">
                <a:latin typeface="Arial"/>
                <a:cs typeface="Arial"/>
              </a:rPr>
              <a:t>reader</a:t>
            </a:r>
            <a:r>
              <a:rPr sz="1600" b="1" spc="10" dirty="0">
                <a:latin typeface="Arial"/>
                <a:cs typeface="Arial"/>
              </a:rPr>
              <a:t> </a:t>
            </a:r>
            <a:r>
              <a:rPr sz="1600" b="1" spc="-5" dirty="0">
                <a:latin typeface="Arial"/>
                <a:cs typeface="Arial"/>
              </a:rPr>
              <a:t>mode</a:t>
            </a:r>
            <a:r>
              <a:rPr sz="1600" spc="-5" dirty="0">
                <a:latin typeface="Arial MT"/>
                <a:cs typeface="Arial MT"/>
              </a:rPr>
              <a:t>"</a:t>
            </a:r>
            <a:r>
              <a:rPr sz="1600" spc="20" dirty="0">
                <a:latin typeface="Arial MT"/>
                <a:cs typeface="Arial MT"/>
              </a:rPr>
              <a:t> </a:t>
            </a:r>
            <a:r>
              <a:rPr sz="1600" spc="-5" dirty="0">
                <a:latin typeface="Arial MT"/>
                <a:cs typeface="Arial MT"/>
              </a:rPr>
              <a:t>when</a:t>
            </a:r>
            <a:r>
              <a:rPr sz="1600" spc="5" dirty="0">
                <a:latin typeface="Arial MT"/>
                <a:cs typeface="Arial MT"/>
              </a:rPr>
              <a:t> </a:t>
            </a:r>
            <a:r>
              <a:rPr sz="1600" spc="-5" dirty="0">
                <a:latin typeface="Arial MT"/>
                <a:cs typeface="Arial MT"/>
              </a:rPr>
              <a:t>it</a:t>
            </a:r>
            <a:r>
              <a:rPr sz="1600" dirty="0">
                <a:latin typeface="Arial MT"/>
                <a:cs typeface="Arial MT"/>
              </a:rPr>
              <a:t> </a:t>
            </a:r>
            <a:r>
              <a:rPr sz="1600" spc="-5" dirty="0">
                <a:latin typeface="Arial MT"/>
                <a:cs typeface="Arial MT"/>
              </a:rPr>
              <a:t>acts</a:t>
            </a:r>
            <a:r>
              <a:rPr sz="1600" spc="5" dirty="0">
                <a:latin typeface="Arial MT"/>
                <a:cs typeface="Arial MT"/>
              </a:rPr>
              <a:t> </a:t>
            </a:r>
            <a:r>
              <a:rPr sz="1600" spc="-5" dirty="0">
                <a:latin typeface="Arial MT"/>
                <a:cs typeface="Arial MT"/>
              </a:rPr>
              <a:t>as</a:t>
            </a:r>
            <a:r>
              <a:rPr sz="1600" dirty="0">
                <a:latin typeface="Arial MT"/>
                <a:cs typeface="Arial MT"/>
              </a:rPr>
              <a:t> </a:t>
            </a:r>
            <a:r>
              <a:rPr sz="1600" spc="-5" dirty="0">
                <a:latin typeface="Arial MT"/>
                <a:cs typeface="Arial MT"/>
              </a:rPr>
              <a:t>an</a:t>
            </a:r>
            <a:r>
              <a:rPr sz="1600" spc="15" dirty="0">
                <a:latin typeface="Arial MT"/>
                <a:cs typeface="Arial MT"/>
              </a:rPr>
              <a:t> </a:t>
            </a:r>
            <a:r>
              <a:rPr sz="1600" spc="-5" dirty="0">
                <a:latin typeface="Arial MT"/>
                <a:cs typeface="Arial MT"/>
              </a:rPr>
              <a:t>NFC reader.</a:t>
            </a:r>
            <a:endParaRPr sz="1600">
              <a:latin typeface="Arial MT"/>
              <a:cs typeface="Arial MT"/>
            </a:endParaRPr>
          </a:p>
          <a:p>
            <a:pPr marL="329565" marR="5080" indent="-317500">
              <a:lnSpc>
                <a:spcPct val="114999"/>
              </a:lnSpc>
              <a:spcBef>
                <a:spcPts val="5"/>
              </a:spcBef>
              <a:buSzPct val="87500"/>
              <a:buChar char="●"/>
              <a:tabLst>
                <a:tab pos="329565" algn="l"/>
                <a:tab pos="330200" algn="l"/>
              </a:tabLst>
            </a:pPr>
            <a:r>
              <a:rPr sz="1600" spc="-5" dirty="0">
                <a:latin typeface="Arial MT"/>
                <a:cs typeface="Arial MT"/>
              </a:rPr>
              <a:t>The</a:t>
            </a:r>
            <a:r>
              <a:rPr sz="1600" spc="5" dirty="0">
                <a:latin typeface="Arial MT"/>
                <a:cs typeface="Arial MT"/>
              </a:rPr>
              <a:t> </a:t>
            </a:r>
            <a:r>
              <a:rPr sz="1600" spc="-5" dirty="0">
                <a:latin typeface="Arial MT"/>
                <a:cs typeface="Arial MT"/>
              </a:rPr>
              <a:t>NFC reader</a:t>
            </a:r>
            <a:r>
              <a:rPr sz="1600" spc="25" dirty="0">
                <a:latin typeface="Arial MT"/>
                <a:cs typeface="Arial MT"/>
              </a:rPr>
              <a:t> </a:t>
            </a:r>
            <a:r>
              <a:rPr sz="1600" spc="-5" dirty="0">
                <a:latin typeface="Arial MT"/>
                <a:cs typeface="Arial MT"/>
              </a:rPr>
              <a:t>mode</a:t>
            </a:r>
            <a:r>
              <a:rPr sz="1600" spc="10" dirty="0">
                <a:latin typeface="Arial MT"/>
                <a:cs typeface="Arial MT"/>
              </a:rPr>
              <a:t> </a:t>
            </a:r>
            <a:r>
              <a:rPr sz="1600" spc="-5" dirty="0">
                <a:latin typeface="Arial MT"/>
                <a:cs typeface="Arial MT"/>
              </a:rPr>
              <a:t>allows</a:t>
            </a:r>
            <a:r>
              <a:rPr sz="1600" spc="-10" dirty="0">
                <a:latin typeface="Arial MT"/>
                <a:cs typeface="Arial MT"/>
              </a:rPr>
              <a:t> </a:t>
            </a:r>
            <a:r>
              <a:rPr sz="1600" spc="-5" dirty="0">
                <a:latin typeface="Arial MT"/>
                <a:cs typeface="Arial MT"/>
              </a:rPr>
              <a:t>the</a:t>
            </a:r>
            <a:r>
              <a:rPr sz="1600" spc="15" dirty="0">
                <a:latin typeface="Arial MT"/>
                <a:cs typeface="Arial MT"/>
              </a:rPr>
              <a:t> </a:t>
            </a:r>
            <a:r>
              <a:rPr sz="1600" spc="-5" dirty="0">
                <a:latin typeface="Arial MT"/>
                <a:cs typeface="Arial MT"/>
              </a:rPr>
              <a:t>NFC device</a:t>
            </a:r>
            <a:r>
              <a:rPr sz="1600" spc="-15" dirty="0">
                <a:latin typeface="Arial MT"/>
                <a:cs typeface="Arial MT"/>
              </a:rPr>
              <a:t> </a:t>
            </a:r>
            <a:r>
              <a:rPr sz="1600" spc="-5" dirty="0">
                <a:latin typeface="Arial MT"/>
                <a:cs typeface="Arial MT"/>
              </a:rPr>
              <a:t>to</a:t>
            </a:r>
            <a:r>
              <a:rPr sz="1600" spc="15" dirty="0">
                <a:latin typeface="Arial MT"/>
                <a:cs typeface="Arial MT"/>
              </a:rPr>
              <a:t> </a:t>
            </a:r>
            <a:r>
              <a:rPr sz="1600" spc="-5" dirty="0">
                <a:latin typeface="Arial MT"/>
                <a:cs typeface="Arial MT"/>
              </a:rPr>
              <a:t>read</a:t>
            </a:r>
            <a:r>
              <a:rPr sz="1600" spc="5" dirty="0">
                <a:latin typeface="Arial MT"/>
                <a:cs typeface="Arial MT"/>
              </a:rPr>
              <a:t> </a:t>
            </a:r>
            <a:r>
              <a:rPr sz="1600" spc="-5" dirty="0">
                <a:latin typeface="Arial MT"/>
                <a:cs typeface="Arial MT"/>
              </a:rPr>
              <a:t>or</a:t>
            </a:r>
            <a:r>
              <a:rPr sz="1600" spc="20" dirty="0">
                <a:latin typeface="Arial MT"/>
                <a:cs typeface="Arial MT"/>
              </a:rPr>
              <a:t> </a:t>
            </a:r>
            <a:r>
              <a:rPr sz="1600" spc="-5" dirty="0">
                <a:latin typeface="Arial MT"/>
                <a:cs typeface="Arial MT"/>
              </a:rPr>
              <a:t>write</a:t>
            </a:r>
            <a:r>
              <a:rPr sz="1600" spc="10" dirty="0">
                <a:latin typeface="Arial MT"/>
                <a:cs typeface="Arial MT"/>
              </a:rPr>
              <a:t> </a:t>
            </a:r>
            <a:r>
              <a:rPr sz="1600" spc="-5" dirty="0">
                <a:latin typeface="Arial MT"/>
                <a:cs typeface="Arial MT"/>
              </a:rPr>
              <a:t>passive</a:t>
            </a:r>
            <a:r>
              <a:rPr sz="1600" spc="-15" dirty="0">
                <a:latin typeface="Arial MT"/>
                <a:cs typeface="Arial MT"/>
              </a:rPr>
              <a:t> </a:t>
            </a:r>
            <a:r>
              <a:rPr sz="1600" spc="-5" dirty="0">
                <a:latin typeface="Arial MT"/>
                <a:cs typeface="Arial MT"/>
              </a:rPr>
              <a:t>NFC</a:t>
            </a:r>
            <a:r>
              <a:rPr sz="1600" dirty="0">
                <a:latin typeface="Arial MT"/>
                <a:cs typeface="Arial MT"/>
              </a:rPr>
              <a:t> </a:t>
            </a:r>
            <a:r>
              <a:rPr sz="1600" spc="-5" dirty="0">
                <a:latin typeface="Arial MT"/>
                <a:cs typeface="Arial MT"/>
              </a:rPr>
              <a:t>tags</a:t>
            </a:r>
            <a:r>
              <a:rPr sz="1600" spc="10" dirty="0">
                <a:latin typeface="Arial MT"/>
                <a:cs typeface="Arial MT"/>
              </a:rPr>
              <a:t> </a:t>
            </a:r>
            <a:r>
              <a:rPr sz="1600" spc="-5" dirty="0">
                <a:latin typeface="Arial MT"/>
                <a:cs typeface="Arial MT"/>
              </a:rPr>
              <a:t>and </a:t>
            </a:r>
            <a:r>
              <a:rPr sz="1600" dirty="0">
                <a:latin typeface="Arial MT"/>
                <a:cs typeface="Arial MT"/>
              </a:rPr>
              <a:t> </a:t>
            </a:r>
            <a:r>
              <a:rPr sz="1600" spc="-5" dirty="0">
                <a:latin typeface="Arial MT"/>
                <a:cs typeface="Arial MT"/>
              </a:rPr>
              <a:t>stickers.</a:t>
            </a:r>
            <a:r>
              <a:rPr sz="1600" dirty="0">
                <a:latin typeface="Arial MT"/>
                <a:cs typeface="Arial MT"/>
              </a:rPr>
              <a:t> </a:t>
            </a:r>
            <a:r>
              <a:rPr sz="1600" spc="-5" dirty="0">
                <a:latin typeface="Arial MT"/>
                <a:cs typeface="Arial MT"/>
              </a:rPr>
              <a:t>NFC</a:t>
            </a:r>
            <a:r>
              <a:rPr sz="1600" spc="5" dirty="0">
                <a:latin typeface="Arial MT"/>
                <a:cs typeface="Arial MT"/>
              </a:rPr>
              <a:t> </a:t>
            </a:r>
            <a:r>
              <a:rPr sz="1600" spc="-5" dirty="0">
                <a:latin typeface="Arial MT"/>
                <a:cs typeface="Arial MT"/>
              </a:rPr>
              <a:t>applications</a:t>
            </a:r>
            <a:r>
              <a:rPr sz="1600" spc="20" dirty="0">
                <a:latin typeface="Arial MT"/>
                <a:cs typeface="Arial MT"/>
              </a:rPr>
              <a:t> </a:t>
            </a:r>
            <a:r>
              <a:rPr sz="1600" spc="-5" dirty="0">
                <a:latin typeface="Arial MT"/>
                <a:cs typeface="Arial MT"/>
              </a:rPr>
              <a:t>such as</a:t>
            </a:r>
            <a:r>
              <a:rPr sz="1600" spc="10" dirty="0">
                <a:latin typeface="Arial MT"/>
                <a:cs typeface="Arial MT"/>
              </a:rPr>
              <a:t> </a:t>
            </a:r>
            <a:r>
              <a:rPr sz="1600" spc="-5" dirty="0">
                <a:latin typeface="Arial MT"/>
                <a:cs typeface="Arial MT"/>
              </a:rPr>
              <a:t>transportation</a:t>
            </a:r>
            <a:r>
              <a:rPr sz="1600" spc="45" dirty="0">
                <a:latin typeface="Arial MT"/>
                <a:cs typeface="Arial MT"/>
              </a:rPr>
              <a:t> </a:t>
            </a:r>
            <a:r>
              <a:rPr sz="1600" spc="-5" dirty="0">
                <a:latin typeface="Arial MT"/>
                <a:cs typeface="Arial MT"/>
              </a:rPr>
              <a:t>or</a:t>
            </a:r>
            <a:r>
              <a:rPr sz="1600" spc="15" dirty="0">
                <a:latin typeface="Arial MT"/>
                <a:cs typeface="Arial MT"/>
              </a:rPr>
              <a:t> </a:t>
            </a:r>
            <a:r>
              <a:rPr sz="1600" spc="-5" dirty="0">
                <a:latin typeface="Arial MT"/>
                <a:cs typeface="Arial MT"/>
              </a:rPr>
              <a:t>ticketing systems</a:t>
            </a:r>
            <a:r>
              <a:rPr sz="1600" spc="35" dirty="0">
                <a:latin typeface="Arial MT"/>
                <a:cs typeface="Arial MT"/>
              </a:rPr>
              <a:t> </a:t>
            </a:r>
            <a:r>
              <a:rPr sz="1600" spc="-5" dirty="0">
                <a:latin typeface="Arial MT"/>
                <a:cs typeface="Arial MT"/>
              </a:rPr>
              <a:t>use</a:t>
            </a:r>
            <a:r>
              <a:rPr sz="1600" spc="5" dirty="0">
                <a:latin typeface="Arial MT"/>
                <a:cs typeface="Arial MT"/>
              </a:rPr>
              <a:t> </a:t>
            </a:r>
            <a:r>
              <a:rPr sz="1600" spc="-5" dirty="0">
                <a:latin typeface="Arial MT"/>
                <a:cs typeface="Arial MT"/>
              </a:rPr>
              <a:t>this</a:t>
            </a:r>
            <a:r>
              <a:rPr sz="1600" spc="10" dirty="0">
                <a:latin typeface="Arial MT"/>
                <a:cs typeface="Arial MT"/>
              </a:rPr>
              <a:t> </a:t>
            </a:r>
            <a:r>
              <a:rPr sz="1600" spc="-5" dirty="0">
                <a:latin typeface="Arial MT"/>
                <a:cs typeface="Arial MT"/>
              </a:rPr>
              <a:t>mode.</a:t>
            </a:r>
            <a:r>
              <a:rPr sz="1600" spc="20" dirty="0">
                <a:latin typeface="Arial MT"/>
                <a:cs typeface="Arial MT"/>
              </a:rPr>
              <a:t> </a:t>
            </a:r>
            <a:r>
              <a:rPr sz="1600" spc="-5" dirty="0">
                <a:latin typeface="Arial MT"/>
                <a:cs typeface="Arial MT"/>
              </a:rPr>
              <a:t>Even </a:t>
            </a:r>
            <a:r>
              <a:rPr sz="1600" spc="-430" dirty="0">
                <a:latin typeface="Arial MT"/>
                <a:cs typeface="Arial MT"/>
              </a:rPr>
              <a:t> </a:t>
            </a:r>
            <a:r>
              <a:rPr sz="1600" spc="-5" dirty="0">
                <a:latin typeface="Arial MT"/>
                <a:cs typeface="Arial MT"/>
              </a:rPr>
              <a:t>the</a:t>
            </a:r>
            <a:r>
              <a:rPr sz="1600" spc="10" dirty="0">
                <a:latin typeface="Arial MT"/>
                <a:cs typeface="Arial MT"/>
              </a:rPr>
              <a:t> </a:t>
            </a:r>
            <a:r>
              <a:rPr sz="1600" spc="-5" dirty="0">
                <a:latin typeface="Arial MT"/>
                <a:cs typeface="Arial MT"/>
              </a:rPr>
              <a:t>key</a:t>
            </a:r>
            <a:r>
              <a:rPr sz="1600" dirty="0">
                <a:latin typeface="Arial MT"/>
                <a:cs typeface="Arial MT"/>
              </a:rPr>
              <a:t> </a:t>
            </a:r>
            <a:r>
              <a:rPr sz="1600" spc="-5" dirty="0">
                <a:latin typeface="Arial MT"/>
                <a:cs typeface="Arial MT"/>
              </a:rPr>
              <a:t>card</a:t>
            </a:r>
            <a:r>
              <a:rPr sz="1600" spc="5" dirty="0">
                <a:latin typeface="Arial MT"/>
                <a:cs typeface="Arial MT"/>
              </a:rPr>
              <a:t> </a:t>
            </a:r>
            <a:r>
              <a:rPr sz="1600" spc="-5" dirty="0">
                <a:latin typeface="Arial MT"/>
                <a:cs typeface="Arial MT"/>
              </a:rPr>
              <a:t>to</a:t>
            </a:r>
            <a:r>
              <a:rPr sz="1600" spc="10" dirty="0">
                <a:latin typeface="Arial MT"/>
                <a:cs typeface="Arial MT"/>
              </a:rPr>
              <a:t> </a:t>
            </a:r>
            <a:r>
              <a:rPr sz="1600" spc="-5" dirty="0">
                <a:latin typeface="Arial MT"/>
                <a:cs typeface="Arial MT"/>
              </a:rPr>
              <a:t>open</a:t>
            </a:r>
            <a:r>
              <a:rPr sz="1600" dirty="0">
                <a:latin typeface="Arial MT"/>
                <a:cs typeface="Arial MT"/>
              </a:rPr>
              <a:t> </a:t>
            </a:r>
            <a:r>
              <a:rPr sz="1600" spc="-5" dirty="0">
                <a:latin typeface="Arial MT"/>
                <a:cs typeface="Arial MT"/>
              </a:rPr>
              <a:t>a Tesla's car door</a:t>
            </a:r>
            <a:r>
              <a:rPr sz="1600" spc="15" dirty="0">
                <a:latin typeface="Arial MT"/>
                <a:cs typeface="Arial MT"/>
              </a:rPr>
              <a:t> </a:t>
            </a:r>
            <a:r>
              <a:rPr sz="1600" spc="-5" dirty="0">
                <a:latin typeface="Arial MT"/>
                <a:cs typeface="Arial MT"/>
              </a:rPr>
              <a:t>operates</a:t>
            </a:r>
            <a:r>
              <a:rPr sz="1600" spc="15" dirty="0">
                <a:latin typeface="Arial MT"/>
                <a:cs typeface="Arial MT"/>
              </a:rPr>
              <a:t> </a:t>
            </a:r>
            <a:r>
              <a:rPr sz="1600" spc="-5" dirty="0">
                <a:latin typeface="Arial MT"/>
                <a:cs typeface="Arial MT"/>
              </a:rPr>
              <a:t>in</a:t>
            </a:r>
            <a:r>
              <a:rPr sz="1600" spc="-10" dirty="0">
                <a:latin typeface="Arial MT"/>
                <a:cs typeface="Arial MT"/>
              </a:rPr>
              <a:t> </a:t>
            </a:r>
            <a:r>
              <a:rPr sz="1600" spc="-5" dirty="0">
                <a:latin typeface="Arial MT"/>
                <a:cs typeface="Arial MT"/>
              </a:rPr>
              <a:t>this</a:t>
            </a:r>
            <a:r>
              <a:rPr sz="1600" dirty="0">
                <a:latin typeface="Arial MT"/>
                <a:cs typeface="Arial MT"/>
              </a:rPr>
              <a:t> </a:t>
            </a:r>
            <a:r>
              <a:rPr sz="1600" spc="-5" dirty="0">
                <a:latin typeface="Arial MT"/>
                <a:cs typeface="Arial MT"/>
              </a:rPr>
              <a:t>mode.</a:t>
            </a:r>
            <a:endParaRPr sz="160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80098"/>
            <a:ext cx="6309486" cy="520014"/>
          </a:xfrm>
          <a:prstGeom prst="rect">
            <a:avLst/>
          </a:prstGeom>
        </p:spPr>
        <p:txBody>
          <a:bodyPr vert="horz" wrap="square" lIns="0" tIns="12065" rIns="0" bIns="0" rtlCol="0">
            <a:spAutoFit/>
          </a:bodyPr>
          <a:lstStyle/>
          <a:p>
            <a:pPr marL="12700">
              <a:lnSpc>
                <a:spcPct val="100000"/>
              </a:lnSpc>
              <a:spcBef>
                <a:spcPts val="95"/>
              </a:spcBef>
            </a:pPr>
            <a:r>
              <a:rPr spc="-5" dirty="0"/>
              <a:t>NFC</a:t>
            </a:r>
            <a:r>
              <a:rPr spc="-20" dirty="0"/>
              <a:t> </a:t>
            </a:r>
            <a:r>
              <a:rPr spc="-5" dirty="0"/>
              <a:t>Card Emulation</a:t>
            </a:r>
            <a:r>
              <a:rPr spc="-20" dirty="0"/>
              <a:t> </a:t>
            </a:r>
            <a:r>
              <a:rPr spc="-5" dirty="0"/>
              <a:t>mode</a:t>
            </a:r>
          </a:p>
        </p:txBody>
      </p:sp>
      <p:sp>
        <p:nvSpPr>
          <p:cNvPr id="3" name="object 3"/>
          <p:cNvSpPr txBox="1"/>
          <p:nvPr/>
        </p:nvSpPr>
        <p:spPr>
          <a:xfrm>
            <a:off x="323189" y="3764650"/>
            <a:ext cx="8485505" cy="1132205"/>
          </a:xfrm>
          <a:prstGeom prst="rect">
            <a:avLst/>
          </a:prstGeom>
        </p:spPr>
        <p:txBody>
          <a:bodyPr vert="horz" wrap="square" lIns="0" tIns="34290" rIns="0" bIns="0" rtlCol="0">
            <a:spAutoFit/>
          </a:bodyPr>
          <a:lstStyle/>
          <a:p>
            <a:pPr marL="349250" indent="-337185">
              <a:lnSpc>
                <a:spcPct val="100000"/>
              </a:lnSpc>
              <a:spcBef>
                <a:spcPts val="270"/>
              </a:spcBef>
              <a:buSzPct val="106250"/>
              <a:buChar char="●"/>
              <a:tabLst>
                <a:tab pos="349250" algn="l"/>
                <a:tab pos="349885" algn="l"/>
              </a:tabLst>
            </a:pPr>
            <a:r>
              <a:rPr sz="1600" spc="-5" dirty="0">
                <a:latin typeface="Arial MT"/>
                <a:cs typeface="Arial MT"/>
              </a:rPr>
              <a:t>The</a:t>
            </a:r>
            <a:r>
              <a:rPr sz="1600" spc="5" dirty="0">
                <a:latin typeface="Arial MT"/>
                <a:cs typeface="Arial MT"/>
              </a:rPr>
              <a:t> </a:t>
            </a:r>
            <a:r>
              <a:rPr sz="1600" spc="-5" dirty="0">
                <a:latin typeface="Arial MT"/>
                <a:cs typeface="Arial MT"/>
              </a:rPr>
              <a:t>NFC</a:t>
            </a:r>
            <a:r>
              <a:rPr sz="1600" dirty="0">
                <a:latin typeface="Arial MT"/>
                <a:cs typeface="Arial MT"/>
              </a:rPr>
              <a:t> </a:t>
            </a:r>
            <a:r>
              <a:rPr sz="1600" spc="-5" dirty="0">
                <a:latin typeface="Arial MT"/>
                <a:cs typeface="Arial MT"/>
              </a:rPr>
              <a:t>"</a:t>
            </a:r>
            <a:r>
              <a:rPr sz="1600" b="1" spc="-5" dirty="0">
                <a:latin typeface="Arial"/>
                <a:cs typeface="Arial"/>
              </a:rPr>
              <a:t>card</a:t>
            </a:r>
            <a:r>
              <a:rPr sz="1600" b="1" spc="15" dirty="0">
                <a:latin typeface="Arial"/>
                <a:cs typeface="Arial"/>
              </a:rPr>
              <a:t> </a:t>
            </a:r>
            <a:r>
              <a:rPr sz="1600" b="1" spc="-5" dirty="0">
                <a:latin typeface="Arial"/>
                <a:cs typeface="Arial"/>
              </a:rPr>
              <a:t>emulation</a:t>
            </a:r>
            <a:r>
              <a:rPr sz="1600" b="1" spc="30" dirty="0">
                <a:latin typeface="Arial"/>
                <a:cs typeface="Arial"/>
              </a:rPr>
              <a:t> </a:t>
            </a:r>
            <a:r>
              <a:rPr sz="1600" b="1" spc="-5" dirty="0">
                <a:latin typeface="Arial"/>
                <a:cs typeface="Arial"/>
              </a:rPr>
              <a:t>mode</a:t>
            </a:r>
            <a:r>
              <a:rPr sz="1600" spc="-5" dirty="0">
                <a:latin typeface="Arial MT"/>
                <a:cs typeface="Arial MT"/>
              </a:rPr>
              <a:t>"</a:t>
            </a:r>
            <a:r>
              <a:rPr sz="1600" spc="20" dirty="0">
                <a:latin typeface="Arial MT"/>
                <a:cs typeface="Arial MT"/>
              </a:rPr>
              <a:t> </a:t>
            </a:r>
            <a:r>
              <a:rPr sz="1600" spc="-5" dirty="0">
                <a:latin typeface="Arial MT"/>
                <a:cs typeface="Arial MT"/>
              </a:rPr>
              <a:t>allows the</a:t>
            </a:r>
            <a:r>
              <a:rPr sz="1600" spc="10" dirty="0">
                <a:latin typeface="Arial MT"/>
                <a:cs typeface="Arial MT"/>
              </a:rPr>
              <a:t> </a:t>
            </a:r>
            <a:r>
              <a:rPr sz="1600" spc="-5" dirty="0">
                <a:latin typeface="Arial MT"/>
                <a:cs typeface="Arial MT"/>
              </a:rPr>
              <a:t>NFC</a:t>
            </a:r>
            <a:r>
              <a:rPr sz="1600" spc="10" dirty="0">
                <a:latin typeface="Arial MT"/>
                <a:cs typeface="Arial MT"/>
              </a:rPr>
              <a:t> </a:t>
            </a:r>
            <a:r>
              <a:rPr sz="1600" spc="-5" dirty="0">
                <a:latin typeface="Arial MT"/>
                <a:cs typeface="Arial MT"/>
              </a:rPr>
              <a:t>device</a:t>
            </a:r>
            <a:r>
              <a:rPr sz="1600" spc="-20" dirty="0">
                <a:latin typeface="Arial MT"/>
                <a:cs typeface="Arial MT"/>
              </a:rPr>
              <a:t> </a:t>
            </a:r>
            <a:r>
              <a:rPr sz="1600" spc="-5" dirty="0">
                <a:latin typeface="Arial MT"/>
                <a:cs typeface="Arial MT"/>
              </a:rPr>
              <a:t>itself to</a:t>
            </a:r>
            <a:r>
              <a:rPr sz="1600" spc="15" dirty="0">
                <a:latin typeface="Arial MT"/>
                <a:cs typeface="Arial MT"/>
              </a:rPr>
              <a:t> </a:t>
            </a:r>
            <a:r>
              <a:rPr sz="1600" spc="-5" dirty="0">
                <a:latin typeface="Arial MT"/>
                <a:cs typeface="Arial MT"/>
              </a:rPr>
              <a:t>act</a:t>
            </a:r>
            <a:r>
              <a:rPr sz="1600" spc="15" dirty="0">
                <a:latin typeface="Arial MT"/>
                <a:cs typeface="Arial MT"/>
              </a:rPr>
              <a:t> </a:t>
            </a:r>
            <a:r>
              <a:rPr sz="1600" spc="-5" dirty="0">
                <a:latin typeface="Arial MT"/>
                <a:cs typeface="Arial MT"/>
              </a:rPr>
              <a:t>as</a:t>
            </a:r>
            <a:r>
              <a:rPr sz="1600" dirty="0">
                <a:latin typeface="Arial MT"/>
                <a:cs typeface="Arial MT"/>
              </a:rPr>
              <a:t> </a:t>
            </a:r>
            <a:r>
              <a:rPr sz="1600" spc="-5" dirty="0">
                <a:latin typeface="Arial MT"/>
                <a:cs typeface="Arial MT"/>
              </a:rPr>
              <a:t>an</a:t>
            </a:r>
            <a:r>
              <a:rPr sz="1600" dirty="0">
                <a:latin typeface="Arial MT"/>
                <a:cs typeface="Arial MT"/>
              </a:rPr>
              <a:t> </a:t>
            </a:r>
            <a:r>
              <a:rPr sz="1600" spc="-5" dirty="0">
                <a:latin typeface="Arial MT"/>
                <a:cs typeface="Arial MT"/>
              </a:rPr>
              <a:t>NFC</a:t>
            </a:r>
            <a:r>
              <a:rPr sz="1600" dirty="0">
                <a:latin typeface="Arial MT"/>
                <a:cs typeface="Arial MT"/>
              </a:rPr>
              <a:t> </a:t>
            </a:r>
            <a:r>
              <a:rPr sz="1600" spc="-5" dirty="0">
                <a:latin typeface="Arial MT"/>
                <a:cs typeface="Arial MT"/>
              </a:rPr>
              <a:t>card.</a:t>
            </a:r>
            <a:endParaRPr sz="1600">
              <a:latin typeface="Arial MT"/>
              <a:cs typeface="Arial MT"/>
            </a:endParaRPr>
          </a:p>
          <a:p>
            <a:pPr marL="349250" marR="5080" indent="-337185">
              <a:lnSpc>
                <a:spcPct val="114999"/>
              </a:lnSpc>
              <a:buSzPct val="106250"/>
              <a:buChar char="●"/>
              <a:tabLst>
                <a:tab pos="349250" algn="l"/>
                <a:tab pos="349885" algn="l"/>
              </a:tabLst>
            </a:pPr>
            <a:r>
              <a:rPr sz="1600" spc="-5" dirty="0">
                <a:latin typeface="Arial MT"/>
                <a:cs typeface="Arial MT"/>
              </a:rPr>
              <a:t>The</a:t>
            </a:r>
            <a:r>
              <a:rPr sz="1600" spc="10" dirty="0">
                <a:latin typeface="Arial MT"/>
                <a:cs typeface="Arial MT"/>
              </a:rPr>
              <a:t> </a:t>
            </a:r>
            <a:r>
              <a:rPr sz="1600" spc="-5" dirty="0">
                <a:latin typeface="Arial MT"/>
                <a:cs typeface="Arial MT"/>
              </a:rPr>
              <a:t>emulated</a:t>
            </a:r>
            <a:r>
              <a:rPr sz="1600" dirty="0">
                <a:latin typeface="Arial MT"/>
                <a:cs typeface="Arial MT"/>
              </a:rPr>
              <a:t> </a:t>
            </a:r>
            <a:r>
              <a:rPr sz="1600" spc="-5" dirty="0">
                <a:latin typeface="Arial MT"/>
                <a:cs typeface="Arial MT"/>
              </a:rPr>
              <a:t>NFC</a:t>
            </a:r>
            <a:r>
              <a:rPr sz="1600" spc="10" dirty="0">
                <a:latin typeface="Arial MT"/>
                <a:cs typeface="Arial MT"/>
              </a:rPr>
              <a:t> </a:t>
            </a:r>
            <a:r>
              <a:rPr sz="1600" spc="-5" dirty="0">
                <a:latin typeface="Arial MT"/>
                <a:cs typeface="Arial MT"/>
              </a:rPr>
              <a:t>card</a:t>
            </a:r>
            <a:r>
              <a:rPr sz="1600" dirty="0">
                <a:latin typeface="Arial MT"/>
                <a:cs typeface="Arial MT"/>
              </a:rPr>
              <a:t> </a:t>
            </a:r>
            <a:r>
              <a:rPr sz="1600" spc="-5" dirty="0">
                <a:latin typeface="Arial MT"/>
                <a:cs typeface="Arial MT"/>
              </a:rPr>
              <a:t>can</a:t>
            </a:r>
            <a:r>
              <a:rPr sz="1600" spc="10" dirty="0">
                <a:latin typeface="Arial MT"/>
                <a:cs typeface="Arial MT"/>
              </a:rPr>
              <a:t> </a:t>
            </a:r>
            <a:r>
              <a:rPr sz="1600" spc="-5" dirty="0">
                <a:latin typeface="Arial MT"/>
                <a:cs typeface="Arial MT"/>
              </a:rPr>
              <a:t>then</a:t>
            </a:r>
            <a:r>
              <a:rPr sz="1600" spc="15" dirty="0">
                <a:latin typeface="Arial MT"/>
                <a:cs typeface="Arial MT"/>
              </a:rPr>
              <a:t> </a:t>
            </a:r>
            <a:r>
              <a:rPr sz="1600" spc="-5" dirty="0">
                <a:latin typeface="Arial MT"/>
                <a:cs typeface="Arial MT"/>
              </a:rPr>
              <a:t>be</a:t>
            </a:r>
            <a:r>
              <a:rPr sz="1600" spc="15" dirty="0">
                <a:latin typeface="Arial MT"/>
                <a:cs typeface="Arial MT"/>
              </a:rPr>
              <a:t> </a:t>
            </a:r>
            <a:r>
              <a:rPr sz="1600" spc="-5" dirty="0">
                <a:latin typeface="Arial MT"/>
                <a:cs typeface="Arial MT"/>
              </a:rPr>
              <a:t>accessed</a:t>
            </a:r>
            <a:r>
              <a:rPr sz="1600" spc="-10" dirty="0">
                <a:latin typeface="Arial MT"/>
                <a:cs typeface="Arial MT"/>
              </a:rPr>
              <a:t> </a:t>
            </a:r>
            <a:r>
              <a:rPr sz="1600" spc="-5" dirty="0">
                <a:latin typeface="Arial MT"/>
                <a:cs typeface="Arial MT"/>
              </a:rPr>
              <a:t>by</a:t>
            </a:r>
            <a:r>
              <a:rPr sz="1600" spc="5" dirty="0">
                <a:latin typeface="Arial MT"/>
                <a:cs typeface="Arial MT"/>
              </a:rPr>
              <a:t> </a:t>
            </a:r>
            <a:r>
              <a:rPr sz="1600" spc="-5" dirty="0">
                <a:latin typeface="Arial MT"/>
                <a:cs typeface="Arial MT"/>
              </a:rPr>
              <a:t>another</a:t>
            </a:r>
            <a:r>
              <a:rPr sz="1600" spc="20" dirty="0">
                <a:latin typeface="Arial MT"/>
                <a:cs typeface="Arial MT"/>
              </a:rPr>
              <a:t> </a:t>
            </a:r>
            <a:r>
              <a:rPr sz="1600" spc="-5" dirty="0">
                <a:latin typeface="Arial MT"/>
                <a:cs typeface="Arial MT"/>
              </a:rPr>
              <a:t>NFC</a:t>
            </a:r>
            <a:r>
              <a:rPr sz="1600" spc="10" dirty="0">
                <a:latin typeface="Arial MT"/>
                <a:cs typeface="Arial MT"/>
              </a:rPr>
              <a:t> </a:t>
            </a:r>
            <a:r>
              <a:rPr sz="1600" spc="-5" dirty="0">
                <a:latin typeface="Arial MT"/>
                <a:cs typeface="Arial MT"/>
              </a:rPr>
              <a:t>reader,</a:t>
            </a:r>
            <a:r>
              <a:rPr sz="1600" spc="20" dirty="0">
                <a:latin typeface="Arial MT"/>
                <a:cs typeface="Arial MT"/>
              </a:rPr>
              <a:t> </a:t>
            </a:r>
            <a:r>
              <a:rPr sz="1600" spc="-5" dirty="0">
                <a:latin typeface="Arial MT"/>
                <a:cs typeface="Arial MT"/>
              </a:rPr>
              <a:t>such</a:t>
            </a:r>
            <a:r>
              <a:rPr sz="1600" dirty="0">
                <a:latin typeface="Arial MT"/>
                <a:cs typeface="Arial MT"/>
              </a:rPr>
              <a:t> </a:t>
            </a:r>
            <a:r>
              <a:rPr sz="1600" spc="-5" dirty="0">
                <a:latin typeface="Arial MT"/>
                <a:cs typeface="Arial MT"/>
              </a:rPr>
              <a:t>as</a:t>
            </a:r>
            <a:r>
              <a:rPr sz="1600" spc="15" dirty="0">
                <a:latin typeface="Arial MT"/>
                <a:cs typeface="Arial MT"/>
              </a:rPr>
              <a:t> </a:t>
            </a:r>
            <a:r>
              <a:rPr sz="1600" spc="-5" dirty="0">
                <a:latin typeface="Arial MT"/>
                <a:cs typeface="Arial MT"/>
              </a:rPr>
              <a:t>a</a:t>
            </a:r>
            <a:r>
              <a:rPr sz="1600" spc="15" dirty="0">
                <a:latin typeface="Arial MT"/>
                <a:cs typeface="Arial MT"/>
              </a:rPr>
              <a:t> </a:t>
            </a:r>
            <a:r>
              <a:rPr sz="1600" dirty="0">
                <a:latin typeface="Arial MT"/>
                <a:cs typeface="Arial MT"/>
              </a:rPr>
              <a:t>point-of- </a:t>
            </a:r>
            <a:r>
              <a:rPr sz="1600" spc="-430" dirty="0">
                <a:latin typeface="Arial MT"/>
                <a:cs typeface="Arial MT"/>
              </a:rPr>
              <a:t> </a:t>
            </a:r>
            <a:r>
              <a:rPr sz="1600" spc="-5" dirty="0">
                <a:latin typeface="Arial MT"/>
                <a:cs typeface="Arial MT"/>
              </a:rPr>
              <a:t>sale</a:t>
            </a:r>
            <a:r>
              <a:rPr sz="1600" spc="-15" dirty="0">
                <a:latin typeface="Arial MT"/>
                <a:cs typeface="Arial MT"/>
              </a:rPr>
              <a:t> </a:t>
            </a:r>
            <a:r>
              <a:rPr sz="1600" spc="-5" dirty="0">
                <a:latin typeface="Arial MT"/>
                <a:cs typeface="Arial MT"/>
              </a:rPr>
              <a:t>machine.</a:t>
            </a:r>
            <a:r>
              <a:rPr sz="1600" dirty="0">
                <a:latin typeface="Arial MT"/>
                <a:cs typeface="Arial MT"/>
              </a:rPr>
              <a:t> </a:t>
            </a:r>
            <a:r>
              <a:rPr sz="1600" spc="-5" dirty="0">
                <a:latin typeface="Arial MT"/>
                <a:cs typeface="Arial MT"/>
              </a:rPr>
              <a:t>The</a:t>
            </a:r>
            <a:r>
              <a:rPr sz="1600" spc="15" dirty="0">
                <a:latin typeface="Arial MT"/>
                <a:cs typeface="Arial MT"/>
              </a:rPr>
              <a:t> </a:t>
            </a:r>
            <a:r>
              <a:rPr sz="1600" spc="-5" dirty="0">
                <a:latin typeface="Arial MT"/>
                <a:cs typeface="Arial MT"/>
              </a:rPr>
              <a:t>best</a:t>
            </a:r>
            <a:r>
              <a:rPr sz="1600" spc="15" dirty="0">
                <a:latin typeface="Arial MT"/>
                <a:cs typeface="Arial MT"/>
              </a:rPr>
              <a:t> </a:t>
            </a:r>
            <a:r>
              <a:rPr sz="1600" spc="-5" dirty="0">
                <a:latin typeface="Arial MT"/>
                <a:cs typeface="Arial MT"/>
              </a:rPr>
              <a:t>example</a:t>
            </a:r>
            <a:r>
              <a:rPr sz="1600" dirty="0">
                <a:latin typeface="Arial MT"/>
                <a:cs typeface="Arial MT"/>
              </a:rPr>
              <a:t> </a:t>
            </a:r>
            <a:r>
              <a:rPr sz="1600" spc="-5" dirty="0">
                <a:latin typeface="Arial MT"/>
                <a:cs typeface="Arial MT"/>
              </a:rPr>
              <a:t>of</a:t>
            </a:r>
            <a:r>
              <a:rPr sz="1600" spc="15" dirty="0">
                <a:latin typeface="Arial MT"/>
                <a:cs typeface="Arial MT"/>
              </a:rPr>
              <a:t> </a:t>
            </a:r>
            <a:r>
              <a:rPr sz="1600" spc="-5" dirty="0">
                <a:latin typeface="Arial MT"/>
                <a:cs typeface="Arial MT"/>
              </a:rPr>
              <a:t>this</a:t>
            </a:r>
            <a:r>
              <a:rPr sz="1600" spc="5" dirty="0">
                <a:latin typeface="Arial MT"/>
                <a:cs typeface="Arial MT"/>
              </a:rPr>
              <a:t> </a:t>
            </a:r>
            <a:r>
              <a:rPr sz="1600" spc="-5" dirty="0">
                <a:latin typeface="Arial MT"/>
                <a:cs typeface="Arial MT"/>
              </a:rPr>
              <a:t>mode</a:t>
            </a:r>
            <a:r>
              <a:rPr sz="1600" spc="20" dirty="0">
                <a:latin typeface="Arial MT"/>
                <a:cs typeface="Arial MT"/>
              </a:rPr>
              <a:t> </a:t>
            </a:r>
            <a:r>
              <a:rPr sz="1600" spc="-5" dirty="0">
                <a:latin typeface="Arial MT"/>
                <a:cs typeface="Arial MT"/>
              </a:rPr>
              <a:t>is Apple</a:t>
            </a:r>
            <a:r>
              <a:rPr sz="1600" spc="-15" dirty="0">
                <a:latin typeface="Arial MT"/>
                <a:cs typeface="Arial MT"/>
              </a:rPr>
              <a:t> </a:t>
            </a:r>
            <a:r>
              <a:rPr sz="1600" spc="-10" dirty="0">
                <a:latin typeface="Arial MT"/>
                <a:cs typeface="Arial MT"/>
              </a:rPr>
              <a:t>Pay.</a:t>
            </a:r>
            <a:r>
              <a:rPr sz="1600" spc="25" dirty="0">
                <a:latin typeface="Arial MT"/>
                <a:cs typeface="Arial MT"/>
              </a:rPr>
              <a:t> </a:t>
            </a:r>
            <a:r>
              <a:rPr sz="1600" spc="-5" dirty="0">
                <a:latin typeface="Arial MT"/>
                <a:cs typeface="Arial MT"/>
              </a:rPr>
              <a:t>In</a:t>
            </a:r>
            <a:r>
              <a:rPr sz="1600" spc="15" dirty="0">
                <a:latin typeface="Arial MT"/>
                <a:cs typeface="Arial MT"/>
              </a:rPr>
              <a:t> </a:t>
            </a:r>
            <a:r>
              <a:rPr sz="1600" spc="-5" dirty="0">
                <a:latin typeface="Arial MT"/>
                <a:cs typeface="Arial MT"/>
              </a:rPr>
              <a:t>this</a:t>
            </a:r>
            <a:r>
              <a:rPr sz="1600" spc="5" dirty="0">
                <a:latin typeface="Arial MT"/>
                <a:cs typeface="Arial MT"/>
              </a:rPr>
              <a:t> </a:t>
            </a:r>
            <a:r>
              <a:rPr sz="1600" spc="-5" dirty="0">
                <a:latin typeface="Arial MT"/>
                <a:cs typeface="Arial MT"/>
              </a:rPr>
              <a:t>case,</a:t>
            </a:r>
            <a:r>
              <a:rPr sz="1600" dirty="0">
                <a:latin typeface="Arial MT"/>
                <a:cs typeface="Arial MT"/>
              </a:rPr>
              <a:t> </a:t>
            </a:r>
            <a:r>
              <a:rPr sz="1600" spc="-5" dirty="0">
                <a:latin typeface="Arial MT"/>
                <a:cs typeface="Arial MT"/>
              </a:rPr>
              <a:t>the</a:t>
            </a:r>
            <a:r>
              <a:rPr sz="1600" spc="15" dirty="0">
                <a:latin typeface="Arial MT"/>
                <a:cs typeface="Arial MT"/>
              </a:rPr>
              <a:t> </a:t>
            </a:r>
            <a:r>
              <a:rPr sz="1600" spc="-5" dirty="0">
                <a:latin typeface="Arial MT"/>
                <a:cs typeface="Arial MT"/>
              </a:rPr>
              <a:t>iPhone</a:t>
            </a:r>
            <a:endParaRPr sz="1600">
              <a:latin typeface="Arial MT"/>
              <a:cs typeface="Arial MT"/>
            </a:endParaRPr>
          </a:p>
          <a:p>
            <a:pPr marL="349250">
              <a:lnSpc>
                <a:spcPct val="100000"/>
              </a:lnSpc>
              <a:spcBef>
                <a:spcPts val="290"/>
              </a:spcBef>
            </a:pPr>
            <a:r>
              <a:rPr sz="1600" spc="-5" dirty="0">
                <a:latin typeface="Arial MT"/>
                <a:cs typeface="Arial MT"/>
              </a:rPr>
              <a:t>becomes</a:t>
            </a:r>
            <a:r>
              <a:rPr sz="1600" spc="10" dirty="0">
                <a:latin typeface="Arial MT"/>
                <a:cs typeface="Arial MT"/>
              </a:rPr>
              <a:t> </a:t>
            </a:r>
            <a:r>
              <a:rPr sz="1600" spc="-5" dirty="0">
                <a:latin typeface="Arial MT"/>
                <a:cs typeface="Arial MT"/>
              </a:rPr>
              <a:t>a</a:t>
            </a:r>
            <a:r>
              <a:rPr sz="1600" spc="15" dirty="0">
                <a:latin typeface="Arial MT"/>
                <a:cs typeface="Arial MT"/>
              </a:rPr>
              <a:t> </a:t>
            </a:r>
            <a:r>
              <a:rPr sz="1600" spc="-5" dirty="0">
                <a:latin typeface="Arial MT"/>
                <a:cs typeface="Arial MT"/>
              </a:rPr>
              <a:t>contactless credit</a:t>
            </a:r>
            <a:r>
              <a:rPr sz="1600" spc="5" dirty="0">
                <a:latin typeface="Arial MT"/>
                <a:cs typeface="Arial MT"/>
              </a:rPr>
              <a:t> </a:t>
            </a:r>
            <a:r>
              <a:rPr sz="1600" spc="-5" dirty="0">
                <a:latin typeface="Arial MT"/>
                <a:cs typeface="Arial MT"/>
              </a:rPr>
              <a:t>card,</a:t>
            </a:r>
            <a:r>
              <a:rPr sz="1600" spc="20" dirty="0">
                <a:latin typeface="Arial MT"/>
                <a:cs typeface="Arial MT"/>
              </a:rPr>
              <a:t> </a:t>
            </a:r>
            <a:r>
              <a:rPr sz="1600" spc="-5" dirty="0">
                <a:latin typeface="Arial MT"/>
                <a:cs typeface="Arial MT"/>
              </a:rPr>
              <a:t>and</a:t>
            </a:r>
            <a:r>
              <a:rPr sz="1600" dirty="0">
                <a:latin typeface="Arial MT"/>
                <a:cs typeface="Arial MT"/>
              </a:rPr>
              <a:t> </a:t>
            </a:r>
            <a:r>
              <a:rPr sz="1600" spc="-10" dirty="0">
                <a:latin typeface="Arial MT"/>
                <a:cs typeface="Arial MT"/>
              </a:rPr>
              <a:t>we</a:t>
            </a:r>
            <a:r>
              <a:rPr sz="1600" spc="20" dirty="0">
                <a:latin typeface="Arial MT"/>
                <a:cs typeface="Arial MT"/>
              </a:rPr>
              <a:t> </a:t>
            </a:r>
            <a:r>
              <a:rPr sz="1600" spc="-5" dirty="0">
                <a:latin typeface="Arial MT"/>
                <a:cs typeface="Arial MT"/>
              </a:rPr>
              <a:t>can</a:t>
            </a:r>
            <a:r>
              <a:rPr sz="1600" dirty="0">
                <a:latin typeface="Arial MT"/>
                <a:cs typeface="Arial MT"/>
              </a:rPr>
              <a:t> </a:t>
            </a:r>
            <a:r>
              <a:rPr sz="1600" spc="-5" dirty="0">
                <a:latin typeface="Arial MT"/>
                <a:cs typeface="Arial MT"/>
              </a:rPr>
              <a:t>then</a:t>
            </a:r>
            <a:r>
              <a:rPr sz="1600" spc="15" dirty="0">
                <a:latin typeface="Arial MT"/>
                <a:cs typeface="Arial MT"/>
              </a:rPr>
              <a:t> </a:t>
            </a:r>
            <a:r>
              <a:rPr sz="1600" spc="-5" dirty="0">
                <a:latin typeface="Arial MT"/>
                <a:cs typeface="Arial MT"/>
              </a:rPr>
              <a:t>use</a:t>
            </a:r>
            <a:r>
              <a:rPr sz="1600" spc="5" dirty="0">
                <a:latin typeface="Arial MT"/>
                <a:cs typeface="Arial MT"/>
              </a:rPr>
              <a:t> </a:t>
            </a:r>
            <a:r>
              <a:rPr sz="1600" spc="-5" dirty="0">
                <a:latin typeface="Arial MT"/>
                <a:cs typeface="Arial MT"/>
              </a:rPr>
              <a:t>it</a:t>
            </a:r>
            <a:r>
              <a:rPr sz="1600" spc="15" dirty="0">
                <a:latin typeface="Arial MT"/>
                <a:cs typeface="Arial MT"/>
              </a:rPr>
              <a:t> </a:t>
            </a:r>
            <a:r>
              <a:rPr sz="1600" spc="-5" dirty="0">
                <a:latin typeface="Arial MT"/>
                <a:cs typeface="Arial MT"/>
              </a:rPr>
              <a:t>to</a:t>
            </a:r>
            <a:r>
              <a:rPr sz="1600" spc="15" dirty="0">
                <a:latin typeface="Arial MT"/>
                <a:cs typeface="Arial MT"/>
              </a:rPr>
              <a:t> </a:t>
            </a:r>
            <a:r>
              <a:rPr sz="1600" spc="-5" dirty="0">
                <a:latin typeface="Arial MT"/>
                <a:cs typeface="Arial MT"/>
              </a:rPr>
              <a:t>buy</a:t>
            </a:r>
            <a:r>
              <a:rPr sz="1600" spc="15" dirty="0">
                <a:latin typeface="Arial MT"/>
                <a:cs typeface="Arial MT"/>
              </a:rPr>
              <a:t> </a:t>
            </a:r>
            <a:r>
              <a:rPr sz="1600" spc="-5" dirty="0">
                <a:latin typeface="Arial MT"/>
                <a:cs typeface="Arial MT"/>
              </a:rPr>
              <a:t>goods</a:t>
            </a:r>
            <a:r>
              <a:rPr sz="1600" spc="10" dirty="0">
                <a:latin typeface="Arial MT"/>
                <a:cs typeface="Arial MT"/>
              </a:rPr>
              <a:t> </a:t>
            </a:r>
            <a:r>
              <a:rPr sz="1600" spc="-5" dirty="0">
                <a:latin typeface="Arial MT"/>
                <a:cs typeface="Arial MT"/>
              </a:rPr>
              <a:t>in</a:t>
            </a:r>
            <a:r>
              <a:rPr sz="1600" spc="30" dirty="0">
                <a:latin typeface="Arial MT"/>
                <a:cs typeface="Arial MT"/>
              </a:rPr>
              <a:t> </a:t>
            </a:r>
            <a:r>
              <a:rPr sz="1600" spc="-5" dirty="0">
                <a:latin typeface="Arial MT"/>
                <a:cs typeface="Arial MT"/>
              </a:rPr>
              <a:t>stores</a:t>
            </a:r>
            <a:endParaRPr sz="1600">
              <a:latin typeface="Arial MT"/>
              <a:cs typeface="Arial MT"/>
            </a:endParaRPr>
          </a:p>
        </p:txBody>
      </p:sp>
      <p:grpSp>
        <p:nvGrpSpPr>
          <p:cNvPr id="4" name="object 4"/>
          <p:cNvGrpSpPr/>
          <p:nvPr/>
        </p:nvGrpSpPr>
        <p:grpSpPr>
          <a:xfrm>
            <a:off x="1818132" y="713231"/>
            <a:ext cx="5454650" cy="2833370"/>
            <a:chOff x="1818132" y="713231"/>
            <a:chExt cx="5454650" cy="2833370"/>
          </a:xfrm>
        </p:grpSpPr>
        <p:pic>
          <p:nvPicPr>
            <p:cNvPr id="5" name="object 5"/>
            <p:cNvPicPr/>
            <p:nvPr/>
          </p:nvPicPr>
          <p:blipFill>
            <a:blip r:embed="rId2" cstate="print"/>
            <a:stretch>
              <a:fillRect/>
            </a:stretch>
          </p:blipFill>
          <p:spPr>
            <a:xfrm>
              <a:off x="1818132" y="713231"/>
              <a:ext cx="5454396" cy="2833116"/>
            </a:xfrm>
            <a:prstGeom prst="rect">
              <a:avLst/>
            </a:prstGeom>
          </p:spPr>
        </p:pic>
        <p:sp>
          <p:nvSpPr>
            <p:cNvPr id="6" name="object 6"/>
            <p:cNvSpPr/>
            <p:nvPr/>
          </p:nvSpPr>
          <p:spPr>
            <a:xfrm>
              <a:off x="1865376" y="790955"/>
              <a:ext cx="1969135" cy="439420"/>
            </a:xfrm>
            <a:custGeom>
              <a:avLst/>
              <a:gdLst/>
              <a:ahLst/>
              <a:cxnLst/>
              <a:rect l="l" t="t" r="r" b="b"/>
              <a:pathLst>
                <a:path w="1969135" h="439419">
                  <a:moveTo>
                    <a:pt x="1969007" y="0"/>
                  </a:moveTo>
                  <a:lnTo>
                    <a:pt x="0" y="0"/>
                  </a:lnTo>
                  <a:lnTo>
                    <a:pt x="0" y="438912"/>
                  </a:lnTo>
                  <a:lnTo>
                    <a:pt x="1969007" y="438912"/>
                  </a:lnTo>
                  <a:lnTo>
                    <a:pt x="1969007" y="0"/>
                  </a:lnTo>
                  <a:close/>
                </a:path>
              </a:pathLst>
            </a:custGeom>
            <a:solidFill>
              <a:srgbClr val="FFFFFF"/>
            </a:solidFill>
          </p:spPr>
          <p:txBody>
            <a:bodyPr wrap="square" lIns="0" tIns="0" rIns="0" bIns="0" rtlCol="0"/>
            <a:lstStyle/>
            <a:p>
              <a:endParaRPr/>
            </a:p>
          </p:txBody>
        </p:sp>
        <p:sp>
          <p:nvSpPr>
            <p:cNvPr id="7" name="object 7"/>
            <p:cNvSpPr/>
            <p:nvPr/>
          </p:nvSpPr>
          <p:spPr>
            <a:xfrm>
              <a:off x="1865376" y="790955"/>
              <a:ext cx="1969135" cy="439420"/>
            </a:xfrm>
            <a:custGeom>
              <a:avLst/>
              <a:gdLst/>
              <a:ahLst/>
              <a:cxnLst/>
              <a:rect l="l" t="t" r="r" b="b"/>
              <a:pathLst>
                <a:path w="1969135" h="439419">
                  <a:moveTo>
                    <a:pt x="0" y="438912"/>
                  </a:moveTo>
                  <a:lnTo>
                    <a:pt x="1969007" y="438912"/>
                  </a:lnTo>
                  <a:lnTo>
                    <a:pt x="1969007" y="0"/>
                  </a:lnTo>
                  <a:lnTo>
                    <a:pt x="0" y="0"/>
                  </a:lnTo>
                  <a:lnTo>
                    <a:pt x="0" y="438912"/>
                  </a:lnTo>
                  <a:close/>
                </a:path>
              </a:pathLst>
            </a:custGeom>
            <a:ln w="9525">
              <a:solidFill>
                <a:srgbClr val="FFFFFF"/>
              </a:solidFill>
            </a:ln>
          </p:spPr>
          <p:txBody>
            <a:bodyPr wrap="square" lIns="0" tIns="0" rIns="0" bIns="0" rtlCol="0"/>
            <a:lstStyle/>
            <a:p>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1" y="154774"/>
            <a:ext cx="7204074" cy="520014"/>
          </a:xfrm>
          <a:prstGeom prst="rect">
            <a:avLst/>
          </a:prstGeom>
        </p:spPr>
        <p:txBody>
          <a:bodyPr vert="horz" wrap="square" lIns="0" tIns="12065" rIns="0" bIns="0" rtlCol="0">
            <a:spAutoFit/>
          </a:bodyPr>
          <a:lstStyle/>
          <a:p>
            <a:pPr marL="12700">
              <a:lnSpc>
                <a:spcPct val="100000"/>
              </a:lnSpc>
              <a:spcBef>
                <a:spcPts val="95"/>
              </a:spcBef>
            </a:pPr>
            <a:r>
              <a:rPr spc="-5" dirty="0"/>
              <a:t>NFC</a:t>
            </a:r>
            <a:r>
              <a:rPr spc="-10" dirty="0"/>
              <a:t> </a:t>
            </a:r>
            <a:r>
              <a:rPr spc="-5" dirty="0"/>
              <a:t>Peer to</a:t>
            </a:r>
            <a:r>
              <a:rPr spc="10" dirty="0"/>
              <a:t> </a:t>
            </a:r>
            <a:r>
              <a:rPr dirty="0"/>
              <a:t>Peer</a:t>
            </a:r>
            <a:r>
              <a:rPr spc="-5" dirty="0"/>
              <a:t> Communication</a:t>
            </a:r>
            <a:r>
              <a:rPr spc="-10" dirty="0"/>
              <a:t> </a:t>
            </a:r>
            <a:r>
              <a:rPr spc="-5" dirty="0"/>
              <a:t>mode</a:t>
            </a:r>
          </a:p>
        </p:txBody>
      </p:sp>
      <p:sp>
        <p:nvSpPr>
          <p:cNvPr id="3" name="object 3"/>
          <p:cNvSpPr txBox="1"/>
          <p:nvPr/>
        </p:nvSpPr>
        <p:spPr>
          <a:xfrm>
            <a:off x="304901" y="4089908"/>
            <a:ext cx="8544560" cy="975994"/>
          </a:xfrm>
          <a:prstGeom prst="rect">
            <a:avLst/>
          </a:prstGeom>
        </p:spPr>
        <p:txBody>
          <a:bodyPr vert="horz" wrap="square" lIns="0" tIns="12700" rIns="0" bIns="0" rtlCol="0">
            <a:spAutoFit/>
          </a:bodyPr>
          <a:lstStyle/>
          <a:p>
            <a:pPr marL="367665" indent="-355600">
              <a:lnSpc>
                <a:spcPct val="100000"/>
              </a:lnSpc>
              <a:spcBef>
                <a:spcPts val="100"/>
              </a:spcBef>
              <a:buSzPct val="142857"/>
              <a:buChar char="●"/>
              <a:tabLst>
                <a:tab pos="367665" algn="l"/>
                <a:tab pos="368300" algn="l"/>
              </a:tabLst>
            </a:pPr>
            <a:r>
              <a:rPr sz="1400" dirty="0">
                <a:latin typeface="Arial MT"/>
                <a:cs typeface="Arial MT"/>
              </a:rPr>
              <a:t>Finally</a:t>
            </a:r>
            <a:r>
              <a:rPr sz="1400" spc="-25" dirty="0">
                <a:latin typeface="Arial MT"/>
                <a:cs typeface="Arial MT"/>
              </a:rPr>
              <a:t> </a:t>
            </a:r>
            <a:r>
              <a:rPr sz="1400" dirty="0">
                <a:latin typeface="Arial MT"/>
                <a:cs typeface="Arial MT"/>
              </a:rPr>
              <a:t>is</a:t>
            </a:r>
            <a:r>
              <a:rPr sz="1400" spc="-20" dirty="0">
                <a:latin typeface="Arial MT"/>
                <a:cs typeface="Arial MT"/>
              </a:rPr>
              <a:t> </a:t>
            </a:r>
            <a:r>
              <a:rPr sz="1400" dirty="0">
                <a:latin typeface="Arial MT"/>
                <a:cs typeface="Arial MT"/>
              </a:rPr>
              <a:t>the</a:t>
            </a:r>
            <a:r>
              <a:rPr sz="1400" spc="-25" dirty="0">
                <a:latin typeface="Arial MT"/>
                <a:cs typeface="Arial MT"/>
              </a:rPr>
              <a:t> </a:t>
            </a:r>
            <a:r>
              <a:rPr sz="1400" spc="-5" dirty="0">
                <a:latin typeface="Arial MT"/>
                <a:cs typeface="Arial MT"/>
              </a:rPr>
              <a:t>NFC</a:t>
            </a:r>
            <a:r>
              <a:rPr sz="1400" spc="-15" dirty="0">
                <a:latin typeface="Arial MT"/>
                <a:cs typeface="Arial MT"/>
              </a:rPr>
              <a:t> </a:t>
            </a:r>
            <a:r>
              <a:rPr sz="1400" dirty="0">
                <a:latin typeface="Arial MT"/>
                <a:cs typeface="Arial MT"/>
              </a:rPr>
              <a:t>"</a:t>
            </a:r>
            <a:r>
              <a:rPr sz="1400" b="1" dirty="0">
                <a:latin typeface="Arial"/>
                <a:cs typeface="Arial"/>
              </a:rPr>
              <a:t>P2P</a:t>
            </a:r>
            <a:r>
              <a:rPr sz="1400" b="1" spc="-15" dirty="0">
                <a:latin typeface="Arial"/>
                <a:cs typeface="Arial"/>
              </a:rPr>
              <a:t> </a:t>
            </a:r>
            <a:r>
              <a:rPr sz="1400" b="1" spc="-5" dirty="0">
                <a:latin typeface="Arial"/>
                <a:cs typeface="Arial"/>
              </a:rPr>
              <a:t>mode</a:t>
            </a:r>
            <a:r>
              <a:rPr sz="1400" spc="-5" dirty="0">
                <a:latin typeface="Arial MT"/>
                <a:cs typeface="Arial MT"/>
              </a:rPr>
              <a:t>."</a:t>
            </a:r>
            <a:endParaRPr sz="1400">
              <a:latin typeface="Arial MT"/>
              <a:cs typeface="Arial MT"/>
            </a:endParaRPr>
          </a:p>
          <a:p>
            <a:pPr marL="367665" indent="-355600">
              <a:lnSpc>
                <a:spcPct val="100000"/>
              </a:lnSpc>
              <a:spcBef>
                <a:spcPts val="254"/>
              </a:spcBef>
              <a:buSzPct val="142857"/>
              <a:buChar char="●"/>
              <a:tabLst>
                <a:tab pos="367665" algn="l"/>
                <a:tab pos="368300" algn="l"/>
              </a:tabLst>
            </a:pPr>
            <a:r>
              <a:rPr sz="1400" spc="-5" dirty="0">
                <a:latin typeface="Arial MT"/>
                <a:cs typeface="Arial MT"/>
              </a:rPr>
              <a:t>This</a:t>
            </a:r>
            <a:r>
              <a:rPr sz="1400" spc="-10" dirty="0">
                <a:latin typeface="Arial MT"/>
                <a:cs typeface="Arial MT"/>
              </a:rPr>
              <a:t> </a:t>
            </a:r>
            <a:r>
              <a:rPr sz="1400" dirty="0">
                <a:latin typeface="Arial MT"/>
                <a:cs typeface="Arial MT"/>
              </a:rPr>
              <a:t>"peer</a:t>
            </a:r>
            <a:r>
              <a:rPr sz="1400" spc="-30" dirty="0">
                <a:latin typeface="Arial MT"/>
                <a:cs typeface="Arial MT"/>
              </a:rPr>
              <a:t> </a:t>
            </a:r>
            <a:r>
              <a:rPr sz="1400" dirty="0">
                <a:latin typeface="Arial MT"/>
                <a:cs typeface="Arial MT"/>
              </a:rPr>
              <a:t>to</a:t>
            </a:r>
            <a:r>
              <a:rPr sz="1400" spc="-15" dirty="0">
                <a:latin typeface="Arial MT"/>
                <a:cs typeface="Arial MT"/>
              </a:rPr>
              <a:t> </a:t>
            </a:r>
            <a:r>
              <a:rPr sz="1400" dirty="0">
                <a:latin typeface="Arial MT"/>
                <a:cs typeface="Arial MT"/>
              </a:rPr>
              <a:t>peer"</a:t>
            </a:r>
            <a:r>
              <a:rPr sz="1400" spc="-5" dirty="0">
                <a:latin typeface="Arial MT"/>
                <a:cs typeface="Arial MT"/>
              </a:rPr>
              <a:t> mode</a:t>
            </a:r>
            <a:r>
              <a:rPr sz="1400" spc="-15" dirty="0">
                <a:latin typeface="Arial MT"/>
                <a:cs typeface="Arial MT"/>
              </a:rPr>
              <a:t> </a:t>
            </a:r>
            <a:r>
              <a:rPr sz="1400" spc="-5" dirty="0">
                <a:latin typeface="Arial MT"/>
                <a:cs typeface="Arial MT"/>
              </a:rPr>
              <a:t>allows</a:t>
            </a:r>
            <a:r>
              <a:rPr sz="1400" dirty="0">
                <a:latin typeface="Arial MT"/>
                <a:cs typeface="Arial MT"/>
              </a:rPr>
              <a:t> the</a:t>
            </a:r>
            <a:r>
              <a:rPr sz="1400" spc="-15" dirty="0">
                <a:latin typeface="Arial MT"/>
                <a:cs typeface="Arial MT"/>
              </a:rPr>
              <a:t> </a:t>
            </a:r>
            <a:r>
              <a:rPr sz="1400" spc="-5" dirty="0">
                <a:latin typeface="Arial MT"/>
                <a:cs typeface="Arial MT"/>
              </a:rPr>
              <a:t>NFC</a:t>
            </a:r>
            <a:r>
              <a:rPr sz="1400" spc="5" dirty="0">
                <a:latin typeface="Arial MT"/>
                <a:cs typeface="Arial MT"/>
              </a:rPr>
              <a:t> </a:t>
            </a:r>
            <a:r>
              <a:rPr sz="1400" spc="-5" dirty="0">
                <a:latin typeface="Arial MT"/>
                <a:cs typeface="Arial MT"/>
              </a:rPr>
              <a:t>device</a:t>
            </a:r>
            <a:r>
              <a:rPr sz="1400" spc="-15" dirty="0">
                <a:latin typeface="Arial MT"/>
                <a:cs typeface="Arial MT"/>
              </a:rPr>
              <a:t> </a:t>
            </a:r>
            <a:r>
              <a:rPr sz="1400" dirty="0">
                <a:latin typeface="Arial MT"/>
                <a:cs typeface="Arial MT"/>
              </a:rPr>
              <a:t>to</a:t>
            </a:r>
            <a:r>
              <a:rPr sz="1400" spc="-15" dirty="0">
                <a:latin typeface="Arial MT"/>
                <a:cs typeface="Arial MT"/>
              </a:rPr>
              <a:t> </a:t>
            </a:r>
            <a:r>
              <a:rPr sz="1400" spc="-5" dirty="0">
                <a:latin typeface="Arial MT"/>
                <a:cs typeface="Arial MT"/>
              </a:rPr>
              <a:t>exchange</a:t>
            </a:r>
            <a:r>
              <a:rPr sz="1400" spc="-15" dirty="0">
                <a:latin typeface="Arial MT"/>
                <a:cs typeface="Arial MT"/>
              </a:rPr>
              <a:t> </a:t>
            </a:r>
            <a:r>
              <a:rPr sz="1400" dirty="0">
                <a:latin typeface="Arial MT"/>
                <a:cs typeface="Arial MT"/>
              </a:rPr>
              <a:t>data</a:t>
            </a:r>
            <a:r>
              <a:rPr sz="1400" spc="-20" dirty="0">
                <a:latin typeface="Arial MT"/>
                <a:cs typeface="Arial MT"/>
              </a:rPr>
              <a:t> </a:t>
            </a:r>
            <a:r>
              <a:rPr sz="1400" spc="-5" dirty="0">
                <a:latin typeface="Arial MT"/>
                <a:cs typeface="Arial MT"/>
              </a:rPr>
              <a:t>with</a:t>
            </a:r>
            <a:r>
              <a:rPr sz="1400" spc="10" dirty="0">
                <a:latin typeface="Arial MT"/>
                <a:cs typeface="Arial MT"/>
              </a:rPr>
              <a:t> </a:t>
            </a:r>
            <a:r>
              <a:rPr sz="1400" dirty="0">
                <a:latin typeface="Arial MT"/>
                <a:cs typeface="Arial MT"/>
              </a:rPr>
              <a:t>another</a:t>
            </a:r>
            <a:r>
              <a:rPr sz="1400" spc="-35" dirty="0">
                <a:latin typeface="Arial MT"/>
                <a:cs typeface="Arial MT"/>
              </a:rPr>
              <a:t> </a:t>
            </a:r>
            <a:r>
              <a:rPr sz="1400" spc="-5" dirty="0">
                <a:latin typeface="Arial MT"/>
                <a:cs typeface="Arial MT"/>
              </a:rPr>
              <a:t>NFC</a:t>
            </a:r>
            <a:r>
              <a:rPr sz="1400" dirty="0">
                <a:latin typeface="Arial MT"/>
                <a:cs typeface="Arial MT"/>
              </a:rPr>
              <a:t> peer.</a:t>
            </a:r>
            <a:r>
              <a:rPr sz="1400" spc="-20" dirty="0">
                <a:latin typeface="Arial MT"/>
                <a:cs typeface="Arial MT"/>
              </a:rPr>
              <a:t> </a:t>
            </a:r>
            <a:r>
              <a:rPr sz="1400" dirty="0">
                <a:latin typeface="Arial MT"/>
                <a:cs typeface="Arial MT"/>
              </a:rPr>
              <a:t>One</a:t>
            </a:r>
            <a:r>
              <a:rPr sz="1400" spc="-15" dirty="0">
                <a:latin typeface="Arial MT"/>
                <a:cs typeface="Arial MT"/>
              </a:rPr>
              <a:t> </a:t>
            </a:r>
            <a:r>
              <a:rPr sz="1400" spc="-5" dirty="0">
                <a:latin typeface="Arial MT"/>
                <a:cs typeface="Arial MT"/>
              </a:rPr>
              <a:t>example</a:t>
            </a:r>
            <a:endParaRPr sz="1400">
              <a:latin typeface="Arial MT"/>
              <a:cs typeface="Arial MT"/>
            </a:endParaRPr>
          </a:p>
          <a:p>
            <a:pPr marL="367665">
              <a:lnSpc>
                <a:spcPct val="100000"/>
              </a:lnSpc>
              <a:spcBef>
                <a:spcPts val="250"/>
              </a:spcBef>
            </a:pPr>
            <a:r>
              <a:rPr sz="1400" dirty="0">
                <a:latin typeface="Arial MT"/>
                <a:cs typeface="Arial MT"/>
              </a:rPr>
              <a:t>of</a:t>
            </a:r>
            <a:r>
              <a:rPr sz="1400" spc="-15" dirty="0">
                <a:latin typeface="Arial MT"/>
                <a:cs typeface="Arial MT"/>
              </a:rPr>
              <a:t> </a:t>
            </a:r>
            <a:r>
              <a:rPr sz="1400" dirty="0">
                <a:latin typeface="Arial MT"/>
                <a:cs typeface="Arial MT"/>
              </a:rPr>
              <a:t>this</a:t>
            </a:r>
            <a:r>
              <a:rPr sz="1400" spc="-10" dirty="0">
                <a:latin typeface="Arial MT"/>
                <a:cs typeface="Arial MT"/>
              </a:rPr>
              <a:t> </a:t>
            </a:r>
            <a:r>
              <a:rPr sz="1400" dirty="0">
                <a:latin typeface="Arial MT"/>
                <a:cs typeface="Arial MT"/>
              </a:rPr>
              <a:t>mode</a:t>
            </a:r>
            <a:r>
              <a:rPr sz="1400" spc="-20" dirty="0">
                <a:latin typeface="Arial MT"/>
                <a:cs typeface="Arial MT"/>
              </a:rPr>
              <a:t> </a:t>
            </a:r>
            <a:r>
              <a:rPr sz="1400" dirty="0">
                <a:latin typeface="Arial MT"/>
                <a:cs typeface="Arial MT"/>
              </a:rPr>
              <a:t>is</a:t>
            </a:r>
            <a:r>
              <a:rPr sz="1400" spc="-10" dirty="0">
                <a:latin typeface="Arial MT"/>
                <a:cs typeface="Arial MT"/>
              </a:rPr>
              <a:t> </a:t>
            </a:r>
            <a:r>
              <a:rPr sz="1400" dirty="0">
                <a:latin typeface="Arial MT"/>
                <a:cs typeface="Arial MT"/>
              </a:rPr>
              <a:t>the</a:t>
            </a:r>
            <a:r>
              <a:rPr sz="1400" spc="-20" dirty="0">
                <a:latin typeface="Arial MT"/>
                <a:cs typeface="Arial MT"/>
              </a:rPr>
              <a:t> </a:t>
            </a:r>
            <a:r>
              <a:rPr sz="1400" dirty="0">
                <a:latin typeface="Arial MT"/>
                <a:cs typeface="Arial MT"/>
              </a:rPr>
              <a:t>Android</a:t>
            </a:r>
            <a:r>
              <a:rPr sz="1400" spc="-35" dirty="0">
                <a:latin typeface="Arial MT"/>
                <a:cs typeface="Arial MT"/>
              </a:rPr>
              <a:t> </a:t>
            </a:r>
            <a:r>
              <a:rPr sz="1400" dirty="0">
                <a:latin typeface="Arial MT"/>
                <a:cs typeface="Arial MT"/>
              </a:rPr>
              <a:t>Beam</a:t>
            </a:r>
            <a:r>
              <a:rPr sz="1400" spc="-10" dirty="0">
                <a:latin typeface="Arial MT"/>
                <a:cs typeface="Arial MT"/>
              </a:rPr>
              <a:t> </a:t>
            </a:r>
            <a:r>
              <a:rPr sz="1400" dirty="0">
                <a:latin typeface="Arial MT"/>
                <a:cs typeface="Arial MT"/>
              </a:rPr>
              <a:t>feature</a:t>
            </a:r>
            <a:r>
              <a:rPr sz="1400" spc="-40" dirty="0">
                <a:latin typeface="Arial MT"/>
                <a:cs typeface="Arial MT"/>
              </a:rPr>
              <a:t> </a:t>
            </a:r>
            <a:r>
              <a:rPr sz="1400" dirty="0">
                <a:latin typeface="Arial MT"/>
                <a:cs typeface="Arial MT"/>
              </a:rPr>
              <a:t>introduced</a:t>
            </a:r>
            <a:r>
              <a:rPr sz="1400" spc="-40" dirty="0">
                <a:latin typeface="Arial MT"/>
                <a:cs typeface="Arial MT"/>
              </a:rPr>
              <a:t> </a:t>
            </a:r>
            <a:r>
              <a:rPr sz="1400" dirty="0">
                <a:latin typeface="Arial MT"/>
                <a:cs typeface="Arial MT"/>
              </a:rPr>
              <a:t>by</a:t>
            </a:r>
            <a:r>
              <a:rPr sz="1400" spc="-10" dirty="0">
                <a:latin typeface="Arial MT"/>
                <a:cs typeface="Arial MT"/>
              </a:rPr>
              <a:t> </a:t>
            </a:r>
            <a:r>
              <a:rPr sz="1400" dirty="0">
                <a:latin typeface="Arial MT"/>
                <a:cs typeface="Arial MT"/>
              </a:rPr>
              <a:t>Google</a:t>
            </a:r>
            <a:r>
              <a:rPr sz="1400" spc="-35" dirty="0">
                <a:latin typeface="Arial MT"/>
                <a:cs typeface="Arial MT"/>
              </a:rPr>
              <a:t> </a:t>
            </a:r>
            <a:r>
              <a:rPr sz="1400" dirty="0">
                <a:latin typeface="Arial MT"/>
                <a:cs typeface="Arial MT"/>
              </a:rPr>
              <a:t>back</a:t>
            </a:r>
            <a:r>
              <a:rPr sz="1400" spc="-20" dirty="0">
                <a:latin typeface="Arial MT"/>
                <a:cs typeface="Arial MT"/>
              </a:rPr>
              <a:t> </a:t>
            </a:r>
            <a:r>
              <a:rPr sz="1400" dirty="0">
                <a:latin typeface="Arial MT"/>
                <a:cs typeface="Arial MT"/>
              </a:rPr>
              <a:t>in</a:t>
            </a:r>
            <a:r>
              <a:rPr sz="1400" spc="-5" dirty="0">
                <a:latin typeface="Arial MT"/>
                <a:cs typeface="Arial MT"/>
              </a:rPr>
              <a:t> </a:t>
            </a:r>
            <a:r>
              <a:rPr sz="1400" dirty="0">
                <a:latin typeface="Arial MT"/>
                <a:cs typeface="Arial MT"/>
              </a:rPr>
              <a:t>2011.</a:t>
            </a:r>
            <a:r>
              <a:rPr sz="1400" spc="-25" dirty="0">
                <a:latin typeface="Arial MT"/>
                <a:cs typeface="Arial MT"/>
              </a:rPr>
              <a:t> </a:t>
            </a:r>
            <a:r>
              <a:rPr sz="1400" dirty="0">
                <a:latin typeface="Arial MT"/>
                <a:cs typeface="Arial MT"/>
              </a:rPr>
              <a:t>Besides</a:t>
            </a:r>
            <a:r>
              <a:rPr sz="1400" spc="-25" dirty="0">
                <a:latin typeface="Arial MT"/>
                <a:cs typeface="Arial MT"/>
              </a:rPr>
              <a:t> </a:t>
            </a:r>
            <a:r>
              <a:rPr sz="1400" dirty="0">
                <a:latin typeface="Arial MT"/>
                <a:cs typeface="Arial MT"/>
              </a:rPr>
              <a:t>that,</a:t>
            </a:r>
            <a:r>
              <a:rPr sz="1400" spc="-40" dirty="0">
                <a:latin typeface="Arial MT"/>
                <a:cs typeface="Arial MT"/>
              </a:rPr>
              <a:t> </a:t>
            </a:r>
            <a:r>
              <a:rPr sz="1400" dirty="0">
                <a:latin typeface="Arial MT"/>
                <a:cs typeface="Arial MT"/>
              </a:rPr>
              <a:t>this</a:t>
            </a:r>
            <a:r>
              <a:rPr sz="1400" spc="-10" dirty="0">
                <a:latin typeface="Arial MT"/>
                <a:cs typeface="Arial MT"/>
              </a:rPr>
              <a:t> </a:t>
            </a:r>
            <a:r>
              <a:rPr sz="1400" dirty="0">
                <a:latin typeface="Arial MT"/>
                <a:cs typeface="Arial MT"/>
              </a:rPr>
              <a:t>mode</a:t>
            </a:r>
            <a:r>
              <a:rPr sz="1400" spc="-20" dirty="0">
                <a:latin typeface="Arial MT"/>
                <a:cs typeface="Arial MT"/>
              </a:rPr>
              <a:t> </a:t>
            </a:r>
            <a:r>
              <a:rPr sz="1400" dirty="0">
                <a:latin typeface="Arial MT"/>
                <a:cs typeface="Arial MT"/>
              </a:rPr>
              <a:t>is</a:t>
            </a:r>
            <a:endParaRPr sz="1400">
              <a:latin typeface="Arial MT"/>
              <a:cs typeface="Arial MT"/>
            </a:endParaRPr>
          </a:p>
          <a:p>
            <a:pPr marL="367665">
              <a:lnSpc>
                <a:spcPct val="100000"/>
              </a:lnSpc>
              <a:spcBef>
                <a:spcPts val="254"/>
              </a:spcBef>
            </a:pPr>
            <a:r>
              <a:rPr sz="1400" dirty="0">
                <a:latin typeface="Arial MT"/>
                <a:cs typeface="Arial MT"/>
              </a:rPr>
              <a:t>not</a:t>
            </a:r>
            <a:r>
              <a:rPr sz="1400" spc="-20" dirty="0">
                <a:latin typeface="Arial MT"/>
                <a:cs typeface="Arial MT"/>
              </a:rPr>
              <a:t> </a:t>
            </a:r>
            <a:r>
              <a:rPr sz="1400" spc="-5" dirty="0">
                <a:latin typeface="Arial MT"/>
                <a:cs typeface="Arial MT"/>
              </a:rPr>
              <a:t>widely</a:t>
            </a:r>
            <a:r>
              <a:rPr sz="1400" spc="-10" dirty="0">
                <a:latin typeface="Arial MT"/>
                <a:cs typeface="Arial MT"/>
              </a:rPr>
              <a:t> </a:t>
            </a:r>
            <a:r>
              <a:rPr sz="1400" dirty="0">
                <a:latin typeface="Arial MT"/>
                <a:cs typeface="Arial MT"/>
              </a:rPr>
              <a:t>used</a:t>
            </a:r>
            <a:r>
              <a:rPr sz="1400" spc="-35" dirty="0">
                <a:latin typeface="Arial MT"/>
                <a:cs typeface="Arial MT"/>
              </a:rPr>
              <a:t> </a:t>
            </a:r>
            <a:r>
              <a:rPr sz="1400" dirty="0">
                <a:latin typeface="Arial MT"/>
                <a:cs typeface="Arial MT"/>
              </a:rPr>
              <a:t>in</a:t>
            </a:r>
            <a:r>
              <a:rPr sz="1400" spc="-15" dirty="0">
                <a:latin typeface="Arial MT"/>
                <a:cs typeface="Arial MT"/>
              </a:rPr>
              <a:t> </a:t>
            </a:r>
            <a:r>
              <a:rPr sz="1400" dirty="0">
                <a:latin typeface="Arial MT"/>
                <a:cs typeface="Arial MT"/>
              </a:rPr>
              <a:t>the</a:t>
            </a:r>
            <a:r>
              <a:rPr sz="1400" spc="-25" dirty="0">
                <a:latin typeface="Arial MT"/>
                <a:cs typeface="Arial MT"/>
              </a:rPr>
              <a:t> </a:t>
            </a:r>
            <a:r>
              <a:rPr sz="1400" dirty="0">
                <a:latin typeface="Arial MT"/>
                <a:cs typeface="Arial MT"/>
              </a:rPr>
              <a:t>real</a:t>
            </a:r>
            <a:r>
              <a:rPr sz="1400" spc="-25" dirty="0">
                <a:latin typeface="Arial MT"/>
                <a:cs typeface="Arial MT"/>
              </a:rPr>
              <a:t> </a:t>
            </a:r>
            <a:r>
              <a:rPr sz="1400" spc="-5" dirty="0">
                <a:latin typeface="Arial MT"/>
                <a:cs typeface="Arial MT"/>
              </a:rPr>
              <a:t>world.</a:t>
            </a:r>
            <a:endParaRPr sz="1400">
              <a:latin typeface="Arial MT"/>
              <a:cs typeface="Arial MT"/>
            </a:endParaRPr>
          </a:p>
        </p:txBody>
      </p:sp>
      <p:grpSp>
        <p:nvGrpSpPr>
          <p:cNvPr id="4" name="object 4"/>
          <p:cNvGrpSpPr/>
          <p:nvPr/>
        </p:nvGrpSpPr>
        <p:grpSpPr>
          <a:xfrm>
            <a:off x="1495044" y="865632"/>
            <a:ext cx="5553710" cy="2833370"/>
            <a:chOff x="1495044" y="865632"/>
            <a:chExt cx="5553710" cy="2833370"/>
          </a:xfrm>
        </p:grpSpPr>
        <p:pic>
          <p:nvPicPr>
            <p:cNvPr id="5" name="object 5"/>
            <p:cNvPicPr/>
            <p:nvPr/>
          </p:nvPicPr>
          <p:blipFill>
            <a:blip r:embed="rId2" cstate="print"/>
            <a:stretch>
              <a:fillRect/>
            </a:stretch>
          </p:blipFill>
          <p:spPr>
            <a:xfrm>
              <a:off x="1495044" y="865632"/>
              <a:ext cx="5553456" cy="2833116"/>
            </a:xfrm>
            <a:prstGeom prst="rect">
              <a:avLst/>
            </a:prstGeom>
          </p:spPr>
        </p:pic>
        <p:sp>
          <p:nvSpPr>
            <p:cNvPr id="6" name="object 6"/>
            <p:cNvSpPr/>
            <p:nvPr/>
          </p:nvSpPr>
          <p:spPr>
            <a:xfrm>
              <a:off x="1525524" y="893064"/>
              <a:ext cx="1967864" cy="439420"/>
            </a:xfrm>
            <a:custGeom>
              <a:avLst/>
              <a:gdLst/>
              <a:ahLst/>
              <a:cxnLst/>
              <a:rect l="l" t="t" r="r" b="b"/>
              <a:pathLst>
                <a:path w="1967864" h="439419">
                  <a:moveTo>
                    <a:pt x="1967483" y="0"/>
                  </a:moveTo>
                  <a:lnTo>
                    <a:pt x="0" y="0"/>
                  </a:lnTo>
                  <a:lnTo>
                    <a:pt x="0" y="438912"/>
                  </a:lnTo>
                  <a:lnTo>
                    <a:pt x="1967483" y="438912"/>
                  </a:lnTo>
                  <a:lnTo>
                    <a:pt x="1967483" y="0"/>
                  </a:lnTo>
                  <a:close/>
                </a:path>
              </a:pathLst>
            </a:custGeom>
            <a:solidFill>
              <a:srgbClr val="FFFFFF"/>
            </a:solidFill>
          </p:spPr>
          <p:txBody>
            <a:bodyPr wrap="square" lIns="0" tIns="0" rIns="0" bIns="0" rtlCol="0"/>
            <a:lstStyle/>
            <a:p>
              <a:endParaRPr/>
            </a:p>
          </p:txBody>
        </p:sp>
        <p:sp>
          <p:nvSpPr>
            <p:cNvPr id="7" name="object 7"/>
            <p:cNvSpPr/>
            <p:nvPr/>
          </p:nvSpPr>
          <p:spPr>
            <a:xfrm>
              <a:off x="1525524" y="893064"/>
              <a:ext cx="1967864" cy="439420"/>
            </a:xfrm>
            <a:custGeom>
              <a:avLst/>
              <a:gdLst/>
              <a:ahLst/>
              <a:cxnLst/>
              <a:rect l="l" t="t" r="r" b="b"/>
              <a:pathLst>
                <a:path w="1967864" h="439419">
                  <a:moveTo>
                    <a:pt x="0" y="438912"/>
                  </a:moveTo>
                  <a:lnTo>
                    <a:pt x="1967483" y="438912"/>
                  </a:lnTo>
                  <a:lnTo>
                    <a:pt x="1967483" y="0"/>
                  </a:lnTo>
                  <a:lnTo>
                    <a:pt x="0" y="0"/>
                  </a:lnTo>
                  <a:lnTo>
                    <a:pt x="0" y="438912"/>
                  </a:lnTo>
                  <a:close/>
                </a:path>
              </a:pathLst>
            </a:custGeom>
            <a:ln w="9525">
              <a:solidFill>
                <a:srgbClr val="FFFFFF"/>
              </a:solidFill>
            </a:ln>
          </p:spPr>
          <p:txBody>
            <a:bodyPr wrap="square" lIns="0" tIns="0" rIns="0" bIns="0" rtlCol="0"/>
            <a:lstStyle/>
            <a:p>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03474" y="318269"/>
            <a:ext cx="3214464" cy="339105"/>
          </a:xfrm>
          <a:prstGeom prst="rect">
            <a:avLst/>
          </a:prstGeom>
          <a:noFill/>
          <a:ln/>
        </p:spPr>
        <p:txBody>
          <a:bodyPr wrap="none" lIns="0" tIns="0" rIns="0" bIns="0" rtlCol="0" anchor="t"/>
          <a:lstStyle/>
          <a:p>
            <a:pPr>
              <a:lnSpc>
                <a:spcPts val="2656"/>
              </a:lnSpc>
            </a:pPr>
            <a:r>
              <a:rPr lang="en-US" sz="2750" b="1" dirty="0">
                <a:solidFill>
                  <a:srgbClr val="002060"/>
                </a:solidFill>
                <a:latin typeface="Lucida Sans" panose="020B0602030504020204" pitchFamily="34" charset="0"/>
                <a:ea typeface="Overpass Bold" pitchFamily="34" charset="-122"/>
                <a:cs typeface="Overpass Bold" pitchFamily="34" charset="-120"/>
              </a:rPr>
              <a:t>Layers of Communication</a:t>
            </a:r>
            <a:endParaRPr lang="en-US" sz="2750" dirty="0">
              <a:solidFill>
                <a:srgbClr val="002060"/>
              </a:solidFill>
              <a:latin typeface="Lucida Sans" panose="020B0602030504020204" pitchFamily="34" charset="0"/>
            </a:endParaRPr>
          </a:p>
        </p:txBody>
      </p:sp>
      <p:sp>
        <p:nvSpPr>
          <p:cNvPr id="3" name="Text 1"/>
          <p:cNvSpPr/>
          <p:nvPr/>
        </p:nvSpPr>
        <p:spPr>
          <a:xfrm>
            <a:off x="403473" y="887909"/>
            <a:ext cx="8337054" cy="368796"/>
          </a:xfrm>
          <a:prstGeom prst="rect">
            <a:avLst/>
          </a:prstGeom>
          <a:noFill/>
          <a:ln/>
        </p:spPr>
        <p:txBody>
          <a:bodyPr wrap="square" lIns="0" tIns="0" rIns="0" bIns="0" rtlCol="0" anchor="t"/>
          <a:lstStyle/>
          <a:p>
            <a:pPr>
              <a:lnSpc>
                <a:spcPts val="1438"/>
              </a:lnSpc>
            </a:pPr>
            <a:r>
              <a:rPr lang="en-US" sz="1000" dirty="0">
                <a:solidFill>
                  <a:srgbClr val="002060"/>
                </a:solidFill>
                <a:latin typeface="Lucida Sans" panose="020B0602030504020204" pitchFamily="34" charset="0"/>
                <a:ea typeface="Overpass" pitchFamily="34" charset="-122"/>
                <a:cs typeface="Overpass" pitchFamily="34" charset="-120"/>
              </a:rPr>
              <a:t>The NFC protocol stack operates in distinct layers, each handling specific aspects of communication. This layered approach ensures interoperability and modularity, similar to the OSI model but simplified for NFC's unique requirements.</a:t>
            </a:r>
            <a:endParaRPr lang="en-US" sz="1000" dirty="0">
              <a:solidFill>
                <a:srgbClr val="002060"/>
              </a:solidFill>
              <a:latin typeface="Lucida Sans" panose="020B0602030504020204" pitchFamily="34" charset="0"/>
            </a:endParaRPr>
          </a:p>
        </p:txBody>
      </p:sp>
      <p:pic>
        <p:nvPicPr>
          <p:cNvPr id="4" name="Image 0" descr="preencoded.png"/>
          <p:cNvPicPr>
            <a:picLocks noChangeAspect="1"/>
          </p:cNvPicPr>
          <p:nvPr/>
        </p:nvPicPr>
        <p:blipFill>
          <a:blip r:embed="rId3"/>
          <a:stretch>
            <a:fillRect/>
          </a:stretch>
        </p:blipFill>
        <p:spPr>
          <a:xfrm>
            <a:off x="1799927" y="1386408"/>
            <a:ext cx="1375544" cy="1022375"/>
          </a:xfrm>
          <a:prstGeom prst="rect">
            <a:avLst/>
          </a:prstGeom>
        </p:spPr>
      </p:pic>
      <p:sp>
        <p:nvSpPr>
          <p:cNvPr id="5" name="Text 2"/>
          <p:cNvSpPr/>
          <p:nvPr/>
        </p:nvSpPr>
        <p:spPr>
          <a:xfrm>
            <a:off x="2406625" y="1932311"/>
            <a:ext cx="162074" cy="202629"/>
          </a:xfrm>
          <a:prstGeom prst="rect">
            <a:avLst/>
          </a:prstGeom>
          <a:noFill/>
          <a:ln/>
        </p:spPr>
        <p:txBody>
          <a:bodyPr wrap="none" lIns="0" tIns="0" rIns="0" bIns="0" rtlCol="0" anchor="t"/>
          <a:lstStyle/>
          <a:p>
            <a:pPr algn="ctr">
              <a:lnSpc>
                <a:spcPts val="2031"/>
              </a:lnSpc>
            </a:pPr>
            <a:r>
              <a:rPr lang="en-US" sz="1250" b="1" dirty="0">
                <a:solidFill>
                  <a:srgbClr val="002060"/>
                </a:solidFill>
                <a:latin typeface="Lucida Sans" panose="020B0602030504020204" pitchFamily="34" charset="0"/>
                <a:ea typeface="Overpass Bold" pitchFamily="34" charset="-122"/>
                <a:cs typeface="Overpass Bold" pitchFamily="34" charset="-120"/>
              </a:rPr>
              <a:t>1</a:t>
            </a:r>
            <a:endParaRPr lang="en-US" sz="1250" dirty="0">
              <a:solidFill>
                <a:srgbClr val="002060"/>
              </a:solidFill>
              <a:latin typeface="Lucida Sans" panose="020B0602030504020204" pitchFamily="34" charset="0"/>
            </a:endParaRPr>
          </a:p>
        </p:txBody>
      </p:sp>
      <p:sp>
        <p:nvSpPr>
          <p:cNvPr id="6" name="Text 3"/>
          <p:cNvSpPr/>
          <p:nvPr/>
        </p:nvSpPr>
        <p:spPr>
          <a:xfrm>
            <a:off x="3290739" y="1593875"/>
            <a:ext cx="1356419" cy="169515"/>
          </a:xfrm>
          <a:prstGeom prst="rect">
            <a:avLst/>
          </a:prstGeom>
          <a:noFill/>
          <a:ln/>
        </p:spPr>
        <p:txBody>
          <a:bodyPr wrap="none" lIns="0" tIns="0" rIns="0" bIns="0" rtlCol="0" anchor="t"/>
          <a:lstStyle/>
          <a:p>
            <a:pPr>
              <a:lnSpc>
                <a:spcPts val="1313"/>
              </a:lnSpc>
            </a:pPr>
            <a:r>
              <a:rPr lang="en-US" sz="1063" b="1" dirty="0">
                <a:solidFill>
                  <a:srgbClr val="002060"/>
                </a:solidFill>
                <a:latin typeface="Lucida Sans" panose="020B0602030504020204" pitchFamily="34" charset="0"/>
                <a:ea typeface="Overpass Bold" pitchFamily="34" charset="-122"/>
                <a:cs typeface="Overpass Bold" pitchFamily="34" charset="-120"/>
              </a:rPr>
              <a:t>RF / Physical Layer</a:t>
            </a:r>
            <a:endParaRPr lang="en-US" sz="1063" dirty="0">
              <a:solidFill>
                <a:srgbClr val="002060"/>
              </a:solidFill>
              <a:latin typeface="Lucida Sans" panose="020B0602030504020204" pitchFamily="34" charset="0"/>
            </a:endParaRPr>
          </a:p>
        </p:txBody>
      </p:sp>
      <p:sp>
        <p:nvSpPr>
          <p:cNvPr id="7" name="Text 4"/>
          <p:cNvSpPr/>
          <p:nvPr/>
        </p:nvSpPr>
        <p:spPr>
          <a:xfrm>
            <a:off x="3290739" y="1832521"/>
            <a:ext cx="5334521" cy="368796"/>
          </a:xfrm>
          <a:prstGeom prst="rect">
            <a:avLst/>
          </a:prstGeom>
          <a:noFill/>
          <a:ln/>
        </p:spPr>
        <p:txBody>
          <a:bodyPr wrap="square" lIns="0" tIns="0" rIns="0" bIns="0" rtlCol="0" anchor="t"/>
          <a:lstStyle/>
          <a:p>
            <a:pPr>
              <a:lnSpc>
                <a:spcPts val="1438"/>
              </a:lnSpc>
            </a:pPr>
            <a:r>
              <a:rPr lang="en-US" sz="1000" dirty="0">
                <a:solidFill>
                  <a:srgbClr val="002060"/>
                </a:solidFill>
                <a:latin typeface="Lucida Sans" panose="020B0602030504020204" pitchFamily="34" charset="0"/>
                <a:ea typeface="Overpass" pitchFamily="34" charset="-122"/>
                <a:cs typeface="Overpass" pitchFamily="34" charset="-120"/>
              </a:rPr>
              <a:t>This foundational layer defines the radio frequency (</a:t>
            </a:r>
            <a:r>
              <a:rPr lang="en-US" sz="1000" b="1" dirty="0">
                <a:solidFill>
                  <a:srgbClr val="002060"/>
                </a:solidFill>
                <a:latin typeface="Lucida Sans" panose="020B0602030504020204" pitchFamily="34" charset="0"/>
                <a:ea typeface="Overpass" pitchFamily="34" charset="-122"/>
                <a:cs typeface="Overpass" pitchFamily="34" charset="-120"/>
              </a:rPr>
              <a:t>13.56 MHz</a:t>
            </a:r>
            <a:r>
              <a:rPr lang="en-US" sz="1000" dirty="0">
                <a:solidFill>
                  <a:srgbClr val="002060"/>
                </a:solidFill>
                <a:latin typeface="Lucida Sans" panose="020B0602030504020204" pitchFamily="34" charset="0"/>
                <a:ea typeface="Overpass" pitchFamily="34" charset="-122"/>
                <a:cs typeface="Overpass" pitchFamily="34" charset="-120"/>
              </a:rPr>
              <a:t>), modulation schemes, and signal interface, based on the </a:t>
            </a:r>
            <a:r>
              <a:rPr lang="en-US" sz="1000" b="1" dirty="0">
                <a:solidFill>
                  <a:srgbClr val="002060"/>
                </a:solidFill>
                <a:latin typeface="Lucida Sans" panose="020B0602030504020204" pitchFamily="34" charset="0"/>
                <a:ea typeface="Overpass" pitchFamily="34" charset="-122"/>
                <a:cs typeface="Overpass" pitchFamily="34" charset="-120"/>
              </a:rPr>
              <a:t>ISO/IEC 18092 standard</a:t>
            </a:r>
            <a:r>
              <a:rPr lang="en-US" sz="1000" dirty="0">
                <a:solidFill>
                  <a:srgbClr val="002060"/>
                </a:solidFill>
                <a:latin typeface="Lucida Sans" panose="020B0602030504020204" pitchFamily="34" charset="0"/>
                <a:ea typeface="Overpass" pitchFamily="34" charset="-122"/>
                <a:cs typeface="Overpass" pitchFamily="34" charset="-120"/>
              </a:rPr>
              <a:t>.</a:t>
            </a:r>
            <a:endParaRPr lang="en-US" sz="1000" dirty="0">
              <a:solidFill>
                <a:srgbClr val="002060"/>
              </a:solidFill>
              <a:latin typeface="Lucida Sans" panose="020B0602030504020204" pitchFamily="34" charset="0"/>
            </a:endParaRPr>
          </a:p>
        </p:txBody>
      </p:sp>
      <p:sp>
        <p:nvSpPr>
          <p:cNvPr id="8" name="Shape 5"/>
          <p:cNvSpPr/>
          <p:nvPr/>
        </p:nvSpPr>
        <p:spPr>
          <a:xfrm>
            <a:off x="3204270" y="2417192"/>
            <a:ext cx="5507459" cy="7144"/>
          </a:xfrm>
          <a:prstGeom prst="roundRect">
            <a:avLst>
              <a:gd name="adj" fmla="val 677867"/>
            </a:avLst>
          </a:prstGeom>
          <a:solidFill>
            <a:srgbClr val="971B55"/>
          </a:solidFill>
          <a:ln/>
        </p:spPr>
        <p:txBody>
          <a:bodyPr/>
          <a:lstStyle/>
          <a:p>
            <a:endParaRPr lang="en-US">
              <a:solidFill>
                <a:srgbClr val="002060"/>
              </a:solidFill>
            </a:endParaRPr>
          </a:p>
        </p:txBody>
      </p:sp>
      <p:pic>
        <p:nvPicPr>
          <p:cNvPr id="9" name="Image 1" descr="preencoded.png"/>
          <p:cNvPicPr>
            <a:picLocks noChangeAspect="1"/>
          </p:cNvPicPr>
          <p:nvPr/>
        </p:nvPicPr>
        <p:blipFill>
          <a:blip r:embed="rId4"/>
          <a:stretch>
            <a:fillRect/>
          </a:stretch>
        </p:blipFill>
        <p:spPr>
          <a:xfrm>
            <a:off x="1112118" y="2437581"/>
            <a:ext cx="2751163" cy="1022375"/>
          </a:xfrm>
          <a:prstGeom prst="rect">
            <a:avLst/>
          </a:prstGeom>
        </p:spPr>
      </p:pic>
      <p:sp>
        <p:nvSpPr>
          <p:cNvPr id="10" name="Text 6"/>
          <p:cNvSpPr/>
          <p:nvPr/>
        </p:nvSpPr>
        <p:spPr>
          <a:xfrm>
            <a:off x="2406625" y="2847455"/>
            <a:ext cx="162074" cy="202629"/>
          </a:xfrm>
          <a:prstGeom prst="rect">
            <a:avLst/>
          </a:prstGeom>
          <a:noFill/>
          <a:ln/>
        </p:spPr>
        <p:txBody>
          <a:bodyPr wrap="none" lIns="0" tIns="0" rIns="0" bIns="0" rtlCol="0" anchor="t"/>
          <a:lstStyle/>
          <a:p>
            <a:pPr algn="ctr">
              <a:lnSpc>
                <a:spcPts val="2031"/>
              </a:lnSpc>
            </a:pPr>
            <a:r>
              <a:rPr lang="en-US" sz="1250" b="1" dirty="0">
                <a:solidFill>
                  <a:srgbClr val="002060"/>
                </a:solidFill>
                <a:latin typeface="Lucida Sans" panose="020B0602030504020204" pitchFamily="34" charset="0"/>
                <a:ea typeface="Overpass Bold" pitchFamily="34" charset="-122"/>
                <a:cs typeface="Overpass Bold" pitchFamily="34" charset="-120"/>
              </a:rPr>
              <a:t>2</a:t>
            </a:r>
            <a:endParaRPr lang="en-US" sz="1250" dirty="0">
              <a:solidFill>
                <a:srgbClr val="002060"/>
              </a:solidFill>
              <a:latin typeface="Lucida Sans" panose="020B0602030504020204" pitchFamily="34" charset="0"/>
            </a:endParaRPr>
          </a:p>
        </p:txBody>
      </p:sp>
      <p:sp>
        <p:nvSpPr>
          <p:cNvPr id="11" name="Text 7"/>
          <p:cNvSpPr/>
          <p:nvPr/>
        </p:nvSpPr>
        <p:spPr>
          <a:xfrm>
            <a:off x="3978548" y="2645048"/>
            <a:ext cx="2351261" cy="169515"/>
          </a:xfrm>
          <a:prstGeom prst="rect">
            <a:avLst/>
          </a:prstGeom>
          <a:noFill/>
          <a:ln/>
        </p:spPr>
        <p:txBody>
          <a:bodyPr wrap="none" lIns="0" tIns="0" rIns="0" bIns="0" rtlCol="0" anchor="t"/>
          <a:lstStyle/>
          <a:p>
            <a:pPr>
              <a:lnSpc>
                <a:spcPts val="1313"/>
              </a:lnSpc>
            </a:pPr>
            <a:r>
              <a:rPr lang="en-US" sz="1063" b="1" dirty="0">
                <a:solidFill>
                  <a:srgbClr val="002060"/>
                </a:solidFill>
                <a:latin typeface="Lucida Sans" panose="020B0602030504020204" pitchFamily="34" charset="0"/>
                <a:ea typeface="Overpass Bold" pitchFamily="34" charset="-122"/>
                <a:cs typeface="Overpass Bold" pitchFamily="34" charset="-120"/>
              </a:rPr>
              <a:t>Data Link / Logical Link Layer (LLCP)</a:t>
            </a:r>
            <a:endParaRPr lang="en-US" sz="1063" dirty="0">
              <a:solidFill>
                <a:srgbClr val="002060"/>
              </a:solidFill>
              <a:latin typeface="Lucida Sans" panose="020B0602030504020204" pitchFamily="34" charset="0"/>
            </a:endParaRPr>
          </a:p>
        </p:txBody>
      </p:sp>
      <p:sp>
        <p:nvSpPr>
          <p:cNvPr id="12" name="Text 8"/>
          <p:cNvSpPr/>
          <p:nvPr/>
        </p:nvSpPr>
        <p:spPr>
          <a:xfrm>
            <a:off x="3978548" y="2883694"/>
            <a:ext cx="4646712" cy="368796"/>
          </a:xfrm>
          <a:prstGeom prst="rect">
            <a:avLst/>
          </a:prstGeom>
          <a:noFill/>
          <a:ln/>
        </p:spPr>
        <p:txBody>
          <a:bodyPr wrap="square" lIns="0" tIns="0" rIns="0" bIns="0" rtlCol="0" anchor="t"/>
          <a:lstStyle/>
          <a:p>
            <a:pPr>
              <a:lnSpc>
                <a:spcPts val="1438"/>
              </a:lnSpc>
            </a:pPr>
            <a:r>
              <a:rPr lang="en-US" sz="1000" dirty="0">
                <a:solidFill>
                  <a:srgbClr val="002060"/>
                </a:solidFill>
                <a:latin typeface="Lucida Sans" panose="020B0602030504020204" pitchFamily="34" charset="0"/>
                <a:ea typeface="Overpass" pitchFamily="34" charset="-122"/>
                <a:cs typeface="Overpass" pitchFamily="34" charset="-120"/>
              </a:rPr>
              <a:t>Manages the connection between devices and ensures reliable data exchange. It handles error detection and flow control, guaranteeing data integrity during communication.</a:t>
            </a:r>
            <a:endParaRPr lang="en-US" sz="1000" dirty="0">
              <a:solidFill>
                <a:srgbClr val="002060"/>
              </a:solidFill>
              <a:latin typeface="Lucida Sans" panose="020B0602030504020204" pitchFamily="34" charset="0"/>
            </a:endParaRPr>
          </a:p>
        </p:txBody>
      </p:sp>
      <p:sp>
        <p:nvSpPr>
          <p:cNvPr id="13" name="Shape 9"/>
          <p:cNvSpPr/>
          <p:nvPr/>
        </p:nvSpPr>
        <p:spPr>
          <a:xfrm>
            <a:off x="3892079" y="3468365"/>
            <a:ext cx="4819650" cy="7144"/>
          </a:xfrm>
          <a:prstGeom prst="roundRect">
            <a:avLst>
              <a:gd name="adj" fmla="val 677867"/>
            </a:avLst>
          </a:prstGeom>
          <a:solidFill>
            <a:srgbClr val="971B55"/>
          </a:solidFill>
          <a:ln/>
        </p:spPr>
        <p:txBody>
          <a:bodyPr/>
          <a:lstStyle/>
          <a:p>
            <a:endParaRPr lang="en-US">
              <a:solidFill>
                <a:srgbClr val="002060"/>
              </a:solidFill>
            </a:endParaRPr>
          </a:p>
        </p:txBody>
      </p:sp>
      <p:pic>
        <p:nvPicPr>
          <p:cNvPr id="14" name="Image 2" descr="preencoded.png"/>
          <p:cNvPicPr>
            <a:picLocks noChangeAspect="1"/>
          </p:cNvPicPr>
          <p:nvPr/>
        </p:nvPicPr>
        <p:blipFill>
          <a:blip r:embed="rId5"/>
          <a:stretch>
            <a:fillRect/>
          </a:stretch>
        </p:blipFill>
        <p:spPr>
          <a:xfrm>
            <a:off x="424309" y="3488754"/>
            <a:ext cx="4126781" cy="1022375"/>
          </a:xfrm>
          <a:prstGeom prst="rect">
            <a:avLst/>
          </a:prstGeom>
        </p:spPr>
      </p:pic>
      <p:sp>
        <p:nvSpPr>
          <p:cNvPr id="15" name="Text 10"/>
          <p:cNvSpPr/>
          <p:nvPr/>
        </p:nvSpPr>
        <p:spPr>
          <a:xfrm>
            <a:off x="2406625" y="3898627"/>
            <a:ext cx="162074" cy="202629"/>
          </a:xfrm>
          <a:prstGeom prst="rect">
            <a:avLst/>
          </a:prstGeom>
          <a:noFill/>
          <a:ln/>
        </p:spPr>
        <p:txBody>
          <a:bodyPr wrap="none" lIns="0" tIns="0" rIns="0" bIns="0" rtlCol="0" anchor="t"/>
          <a:lstStyle/>
          <a:p>
            <a:pPr algn="ctr">
              <a:lnSpc>
                <a:spcPts val="2031"/>
              </a:lnSpc>
            </a:pPr>
            <a:r>
              <a:rPr lang="en-US" sz="1250" b="1" dirty="0">
                <a:solidFill>
                  <a:srgbClr val="002060"/>
                </a:solidFill>
                <a:latin typeface="Lucida Sans" panose="020B0602030504020204" pitchFamily="34" charset="0"/>
                <a:ea typeface="Overpass Bold" pitchFamily="34" charset="-122"/>
                <a:cs typeface="Overpass Bold" pitchFamily="34" charset="-120"/>
              </a:rPr>
              <a:t>3</a:t>
            </a:r>
            <a:endParaRPr lang="en-US" sz="1250" dirty="0">
              <a:solidFill>
                <a:srgbClr val="002060"/>
              </a:solidFill>
              <a:latin typeface="Lucida Sans" panose="020B0602030504020204" pitchFamily="34" charset="0"/>
            </a:endParaRPr>
          </a:p>
        </p:txBody>
      </p:sp>
      <p:sp>
        <p:nvSpPr>
          <p:cNvPr id="16" name="Text 11"/>
          <p:cNvSpPr/>
          <p:nvPr/>
        </p:nvSpPr>
        <p:spPr>
          <a:xfrm>
            <a:off x="4666357" y="3604022"/>
            <a:ext cx="1356419" cy="169515"/>
          </a:xfrm>
          <a:prstGeom prst="rect">
            <a:avLst/>
          </a:prstGeom>
          <a:noFill/>
          <a:ln/>
        </p:spPr>
        <p:txBody>
          <a:bodyPr wrap="none" lIns="0" tIns="0" rIns="0" bIns="0" rtlCol="0" anchor="t"/>
          <a:lstStyle/>
          <a:p>
            <a:pPr>
              <a:lnSpc>
                <a:spcPts val="1313"/>
              </a:lnSpc>
            </a:pPr>
            <a:r>
              <a:rPr lang="en-US" sz="1063" b="1" dirty="0">
                <a:solidFill>
                  <a:srgbClr val="002060"/>
                </a:solidFill>
                <a:latin typeface="Lucida Sans" panose="020B0602030504020204" pitchFamily="34" charset="0"/>
                <a:ea typeface="Overpass Bold" pitchFamily="34" charset="-122"/>
                <a:cs typeface="Overpass Bold" pitchFamily="34" charset="-120"/>
              </a:rPr>
              <a:t>Application Layer</a:t>
            </a:r>
            <a:endParaRPr lang="en-US" sz="1063" dirty="0">
              <a:solidFill>
                <a:srgbClr val="002060"/>
              </a:solidFill>
              <a:latin typeface="Lucida Sans" panose="020B0602030504020204" pitchFamily="34" charset="0"/>
            </a:endParaRPr>
          </a:p>
        </p:txBody>
      </p:sp>
      <p:sp>
        <p:nvSpPr>
          <p:cNvPr id="17" name="Text 12"/>
          <p:cNvSpPr/>
          <p:nvPr/>
        </p:nvSpPr>
        <p:spPr>
          <a:xfrm>
            <a:off x="4666356" y="3842668"/>
            <a:ext cx="4257836" cy="553194"/>
          </a:xfrm>
          <a:prstGeom prst="rect">
            <a:avLst/>
          </a:prstGeom>
          <a:noFill/>
          <a:ln/>
        </p:spPr>
        <p:txBody>
          <a:bodyPr wrap="square" lIns="0" tIns="0" rIns="0" bIns="0" rtlCol="0" anchor="t"/>
          <a:lstStyle/>
          <a:p>
            <a:pPr>
              <a:lnSpc>
                <a:spcPts val="1438"/>
              </a:lnSpc>
            </a:pPr>
            <a:r>
              <a:rPr lang="en-US" sz="1000" dirty="0">
                <a:solidFill>
                  <a:srgbClr val="002060"/>
                </a:solidFill>
                <a:latin typeface="Lucida Sans" panose="020B0602030504020204" pitchFamily="34" charset="0"/>
                <a:ea typeface="Overpass" pitchFamily="34" charset="-122"/>
                <a:cs typeface="Overpass" pitchFamily="34" charset="-120"/>
              </a:rPr>
              <a:t>This is where data formats like the </a:t>
            </a:r>
            <a:r>
              <a:rPr lang="en-US" sz="1000" b="1" dirty="0">
                <a:solidFill>
                  <a:srgbClr val="002060"/>
                </a:solidFill>
                <a:latin typeface="Lucida Sans" panose="020B0602030504020204" pitchFamily="34" charset="0"/>
                <a:ea typeface="Overpass" pitchFamily="34" charset="-122"/>
                <a:cs typeface="Overpass" pitchFamily="34" charset="-120"/>
              </a:rPr>
              <a:t>NFC Data Exchange Format (NDEF)</a:t>
            </a:r>
            <a:r>
              <a:rPr lang="en-US" sz="1000" dirty="0">
                <a:solidFill>
                  <a:srgbClr val="002060"/>
                </a:solidFill>
                <a:latin typeface="Lucida Sans" panose="020B0602030504020204" pitchFamily="34" charset="0"/>
                <a:ea typeface="Overpass" pitchFamily="34" charset="-122"/>
                <a:cs typeface="Overpass" pitchFamily="34" charset="-120"/>
              </a:rPr>
              <a:t> reside. It processes the actual information being exchanged, such as vCards for contact sharing or URLs for launching web pages.</a:t>
            </a:r>
            <a:endParaRPr lang="en-US" sz="1000" dirty="0">
              <a:solidFill>
                <a:srgbClr val="002060"/>
              </a:solidFill>
              <a:latin typeface="Lucida Sans" panose="020B0602030504020204" pitchFamily="34" charset="0"/>
            </a:endParaRPr>
          </a:p>
        </p:txBody>
      </p:sp>
      <p:sp>
        <p:nvSpPr>
          <p:cNvPr id="18" name="Text 13"/>
          <p:cNvSpPr/>
          <p:nvPr/>
        </p:nvSpPr>
        <p:spPr>
          <a:xfrm>
            <a:off x="403473" y="4640834"/>
            <a:ext cx="8337054" cy="184398"/>
          </a:xfrm>
          <a:prstGeom prst="rect">
            <a:avLst/>
          </a:prstGeom>
          <a:noFill/>
          <a:ln/>
        </p:spPr>
        <p:txBody>
          <a:bodyPr wrap="none" lIns="0" tIns="0" rIns="0" bIns="0" rtlCol="0" anchor="t"/>
          <a:lstStyle/>
          <a:p>
            <a:pPr>
              <a:lnSpc>
                <a:spcPts val="1438"/>
              </a:lnSpc>
            </a:pPr>
            <a:r>
              <a:rPr lang="en-US" sz="906" dirty="0">
                <a:solidFill>
                  <a:srgbClr val="002060"/>
                </a:solidFill>
                <a:latin typeface="Lucida Sans" panose="020B0602030504020204" pitchFamily="34" charset="0"/>
                <a:ea typeface="Overpass" pitchFamily="34" charset="-122"/>
                <a:cs typeface="Overpass" pitchFamily="34" charset="-120"/>
              </a:rPr>
              <a:t>Each layer builds upon the one below it, allowing NFC to provide seamless and secure short-range communication for a wide array of applications.</a:t>
            </a:r>
            <a:endParaRPr lang="en-US" sz="906" dirty="0">
              <a:solidFill>
                <a:srgbClr val="002060"/>
              </a:solidFill>
              <a:latin typeface="Lucida Sans" panose="020B0602030504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0"/>
            <a:ext cx="6086450" cy="520014"/>
          </a:xfrm>
          <a:prstGeom prst="rect">
            <a:avLst/>
          </a:prstGeom>
        </p:spPr>
        <p:txBody>
          <a:bodyPr vert="horz" wrap="square" lIns="0" tIns="12065" rIns="0" bIns="0" rtlCol="0">
            <a:spAutoFit/>
          </a:bodyPr>
          <a:lstStyle/>
          <a:p>
            <a:pPr marL="12700">
              <a:lnSpc>
                <a:spcPct val="100000"/>
              </a:lnSpc>
              <a:spcBef>
                <a:spcPts val="95"/>
              </a:spcBef>
            </a:pPr>
            <a:r>
              <a:rPr spc="-5" dirty="0"/>
              <a:t>Incorporation</a:t>
            </a:r>
            <a:r>
              <a:rPr spc="-10" dirty="0"/>
              <a:t> </a:t>
            </a:r>
            <a:r>
              <a:rPr spc="-5" dirty="0"/>
              <a:t>of NFC</a:t>
            </a:r>
            <a:r>
              <a:rPr dirty="0"/>
              <a:t> </a:t>
            </a:r>
            <a:r>
              <a:rPr spc="-5" dirty="0"/>
              <a:t>in</a:t>
            </a:r>
            <a:r>
              <a:rPr spc="-15" dirty="0"/>
              <a:t> </a:t>
            </a:r>
            <a:r>
              <a:rPr spc="-5" dirty="0"/>
              <a:t>IoT</a:t>
            </a:r>
          </a:p>
        </p:txBody>
      </p:sp>
      <p:sp>
        <p:nvSpPr>
          <p:cNvPr id="3" name="object 3"/>
          <p:cNvSpPr txBox="1">
            <a:spLocks noGrp="1"/>
          </p:cNvSpPr>
          <p:nvPr>
            <p:ph idx="1"/>
          </p:nvPr>
        </p:nvSpPr>
        <p:spPr>
          <a:xfrm>
            <a:off x="609600" y="742950"/>
            <a:ext cx="8362950" cy="4248855"/>
          </a:xfrm>
          <a:prstGeom prst="rect">
            <a:avLst/>
          </a:prstGeom>
        </p:spPr>
        <p:txBody>
          <a:bodyPr vert="horz" wrap="square" lIns="0" tIns="12700" rIns="0" bIns="0" rtlCol="0">
            <a:spAutoFit/>
          </a:bodyPr>
          <a:lstStyle/>
          <a:p>
            <a:pPr marL="374015" marR="283845" indent="-317500">
              <a:lnSpc>
                <a:spcPct val="140000"/>
              </a:lnSpc>
              <a:spcBef>
                <a:spcPts val="100"/>
              </a:spcBef>
              <a:buChar char="●"/>
              <a:tabLst>
                <a:tab pos="374650" algn="l"/>
                <a:tab pos="375285" algn="l"/>
              </a:tabLst>
            </a:pPr>
            <a:r>
              <a:rPr sz="1600" spc="5" dirty="0"/>
              <a:t>With</a:t>
            </a:r>
            <a:r>
              <a:rPr sz="1600" spc="-25" dirty="0"/>
              <a:t> </a:t>
            </a:r>
            <a:r>
              <a:rPr sz="1600" dirty="0"/>
              <a:t>a</a:t>
            </a:r>
            <a:r>
              <a:rPr sz="1600" spc="-15" dirty="0"/>
              <a:t> </a:t>
            </a:r>
            <a:r>
              <a:rPr sz="1600" spc="-5" dirty="0"/>
              <a:t>straight</a:t>
            </a:r>
            <a:r>
              <a:rPr lang="en-US" sz="1600" spc="-5" dirty="0"/>
              <a:t> </a:t>
            </a:r>
            <a:r>
              <a:rPr sz="1600" spc="-5" dirty="0"/>
              <a:t>forward</a:t>
            </a:r>
            <a:r>
              <a:rPr sz="1600" spc="-25" dirty="0"/>
              <a:t> </a:t>
            </a:r>
            <a:r>
              <a:rPr sz="1600" spc="-5" dirty="0"/>
              <a:t>tap-and-go</a:t>
            </a:r>
            <a:r>
              <a:rPr sz="1600" spc="-45" dirty="0"/>
              <a:t> </a:t>
            </a:r>
            <a:r>
              <a:rPr sz="1600" dirty="0"/>
              <a:t>mechanism,</a:t>
            </a:r>
            <a:r>
              <a:rPr sz="1600" spc="-35" dirty="0"/>
              <a:t> </a:t>
            </a:r>
            <a:r>
              <a:rPr sz="1600" spc="-5" dirty="0"/>
              <a:t>NFC</a:t>
            </a:r>
            <a:r>
              <a:rPr sz="1600" spc="5" dirty="0"/>
              <a:t> </a:t>
            </a:r>
            <a:r>
              <a:rPr sz="1600" dirty="0"/>
              <a:t>makes</a:t>
            </a:r>
            <a:r>
              <a:rPr sz="1600" spc="-25" dirty="0"/>
              <a:t> </a:t>
            </a:r>
            <a:r>
              <a:rPr sz="1600" dirty="0"/>
              <a:t>it</a:t>
            </a:r>
            <a:r>
              <a:rPr sz="1600" spc="-10" dirty="0"/>
              <a:t> </a:t>
            </a:r>
            <a:r>
              <a:rPr sz="1600" dirty="0"/>
              <a:t>simple</a:t>
            </a:r>
            <a:r>
              <a:rPr sz="1600" spc="-15" dirty="0"/>
              <a:t> </a:t>
            </a:r>
            <a:r>
              <a:rPr sz="1600" dirty="0"/>
              <a:t>and</a:t>
            </a:r>
            <a:r>
              <a:rPr sz="1600" spc="-15" dirty="0"/>
              <a:t> </a:t>
            </a:r>
            <a:r>
              <a:rPr sz="1600" spc="-5" dirty="0"/>
              <a:t>intuitive</a:t>
            </a:r>
            <a:r>
              <a:rPr sz="1600" spc="-15" dirty="0"/>
              <a:t> </a:t>
            </a:r>
            <a:r>
              <a:rPr sz="1600" dirty="0"/>
              <a:t>to</a:t>
            </a:r>
            <a:r>
              <a:rPr sz="1600" spc="-15" dirty="0"/>
              <a:t> </a:t>
            </a:r>
            <a:r>
              <a:rPr sz="1600" dirty="0"/>
              <a:t>connect</a:t>
            </a:r>
            <a:r>
              <a:rPr sz="1600" spc="-30" dirty="0"/>
              <a:t> </a:t>
            </a:r>
            <a:r>
              <a:rPr sz="1600" spc="-5" dirty="0"/>
              <a:t>two </a:t>
            </a:r>
            <a:r>
              <a:rPr sz="1600" spc="-375" dirty="0"/>
              <a:t> </a:t>
            </a:r>
            <a:r>
              <a:rPr sz="1600" spc="-5" dirty="0"/>
              <a:t>different</a:t>
            </a:r>
            <a:r>
              <a:rPr sz="1600" spc="-45" dirty="0"/>
              <a:t> </a:t>
            </a:r>
            <a:r>
              <a:rPr sz="1600" dirty="0"/>
              <a:t>IoT</a:t>
            </a:r>
            <a:r>
              <a:rPr sz="1600" spc="-25" dirty="0"/>
              <a:t> </a:t>
            </a:r>
            <a:r>
              <a:rPr sz="1600" spc="-5" dirty="0"/>
              <a:t>devices.</a:t>
            </a:r>
          </a:p>
          <a:p>
            <a:pPr marL="374015" indent="-317500">
              <a:lnSpc>
                <a:spcPct val="100000"/>
              </a:lnSpc>
              <a:spcBef>
                <a:spcPts val="670"/>
              </a:spcBef>
              <a:buChar char="●"/>
              <a:tabLst>
                <a:tab pos="374650" algn="l"/>
                <a:tab pos="375285" algn="l"/>
              </a:tabLst>
            </a:pPr>
            <a:r>
              <a:rPr sz="1600" dirty="0"/>
              <a:t>Because</a:t>
            </a:r>
            <a:r>
              <a:rPr sz="1600" spc="-45" dirty="0"/>
              <a:t> </a:t>
            </a:r>
            <a:r>
              <a:rPr sz="1600" spc="-5" dirty="0"/>
              <a:t>NFC</a:t>
            </a:r>
            <a:r>
              <a:rPr sz="1600" dirty="0"/>
              <a:t> chips</a:t>
            </a:r>
            <a:r>
              <a:rPr sz="1600" spc="-25" dirty="0"/>
              <a:t> </a:t>
            </a:r>
            <a:r>
              <a:rPr sz="1600" spc="-5" dirty="0"/>
              <a:t>must</a:t>
            </a:r>
            <a:r>
              <a:rPr sz="1600" spc="-10" dirty="0"/>
              <a:t> </a:t>
            </a:r>
            <a:r>
              <a:rPr sz="1600" dirty="0"/>
              <a:t>be</a:t>
            </a:r>
            <a:r>
              <a:rPr sz="1600" spc="-15" dirty="0"/>
              <a:t> </a:t>
            </a:r>
            <a:r>
              <a:rPr sz="1600" dirty="0"/>
              <a:t>in</a:t>
            </a:r>
            <a:r>
              <a:rPr sz="1600" spc="-5" dirty="0"/>
              <a:t> </a:t>
            </a:r>
            <a:r>
              <a:rPr sz="1600" dirty="0"/>
              <a:t>close</a:t>
            </a:r>
            <a:r>
              <a:rPr sz="1600" spc="-25" dirty="0"/>
              <a:t> </a:t>
            </a:r>
            <a:r>
              <a:rPr sz="1600" spc="-5" dirty="0"/>
              <a:t>proximity</a:t>
            </a:r>
            <a:r>
              <a:rPr sz="1600" spc="-10" dirty="0"/>
              <a:t> </a:t>
            </a:r>
            <a:r>
              <a:rPr sz="1600" dirty="0"/>
              <a:t>of</a:t>
            </a:r>
            <a:r>
              <a:rPr sz="1600" spc="-15" dirty="0"/>
              <a:t> </a:t>
            </a:r>
            <a:r>
              <a:rPr sz="1600" dirty="0"/>
              <a:t>each</a:t>
            </a:r>
            <a:r>
              <a:rPr sz="1600" spc="-15" dirty="0"/>
              <a:t> </a:t>
            </a:r>
            <a:r>
              <a:rPr sz="1600" dirty="0"/>
              <a:t>other</a:t>
            </a:r>
            <a:r>
              <a:rPr sz="1600" spc="-25" dirty="0"/>
              <a:t> </a:t>
            </a:r>
            <a:r>
              <a:rPr sz="1600" dirty="0"/>
              <a:t>to</a:t>
            </a:r>
            <a:r>
              <a:rPr sz="1600" spc="-15" dirty="0"/>
              <a:t> </a:t>
            </a:r>
            <a:r>
              <a:rPr sz="1600" dirty="0"/>
              <a:t>initiate</a:t>
            </a:r>
            <a:r>
              <a:rPr sz="1600" spc="-25" dirty="0"/>
              <a:t> </a:t>
            </a:r>
            <a:r>
              <a:rPr sz="1600" dirty="0"/>
              <a:t>a</a:t>
            </a:r>
            <a:r>
              <a:rPr sz="1600" spc="-5" dirty="0"/>
              <a:t> transaction,</a:t>
            </a:r>
            <a:r>
              <a:rPr sz="1600" spc="-35" dirty="0"/>
              <a:t> </a:t>
            </a:r>
            <a:r>
              <a:rPr sz="1600" spc="-5" dirty="0"/>
              <a:t>NFC</a:t>
            </a:r>
            <a:r>
              <a:rPr sz="1600" dirty="0"/>
              <a:t> is</a:t>
            </a:r>
            <a:r>
              <a:rPr sz="1600" spc="-10" dirty="0"/>
              <a:t> </a:t>
            </a:r>
            <a:r>
              <a:rPr sz="1600" dirty="0"/>
              <a:t>a</a:t>
            </a:r>
            <a:r>
              <a:rPr sz="1600" spc="-10" dirty="0"/>
              <a:t> </a:t>
            </a:r>
            <a:r>
              <a:rPr sz="1600" dirty="0"/>
              <a:t>clear</a:t>
            </a:r>
          </a:p>
          <a:p>
            <a:pPr marL="374015">
              <a:lnSpc>
                <a:spcPct val="100000"/>
              </a:lnSpc>
              <a:spcBef>
                <a:spcPts val="670"/>
              </a:spcBef>
            </a:pPr>
            <a:r>
              <a:rPr sz="1600" dirty="0"/>
              <a:t>sign</a:t>
            </a:r>
            <a:r>
              <a:rPr sz="1600" spc="-20" dirty="0"/>
              <a:t> </a:t>
            </a:r>
            <a:r>
              <a:rPr sz="1600" dirty="0"/>
              <a:t>that</a:t>
            </a:r>
            <a:r>
              <a:rPr sz="1600" spc="-25" dirty="0"/>
              <a:t> </a:t>
            </a:r>
            <a:r>
              <a:rPr sz="1600" dirty="0"/>
              <a:t>the</a:t>
            </a:r>
            <a:r>
              <a:rPr sz="1600" spc="-20" dirty="0"/>
              <a:t> </a:t>
            </a:r>
            <a:r>
              <a:rPr sz="1600" dirty="0"/>
              <a:t>user</a:t>
            </a:r>
            <a:r>
              <a:rPr sz="1600" spc="-25" dirty="0"/>
              <a:t> </a:t>
            </a:r>
            <a:r>
              <a:rPr sz="1600" dirty="0"/>
              <a:t>intends</a:t>
            </a:r>
            <a:r>
              <a:rPr sz="1600" spc="-35" dirty="0"/>
              <a:t> </a:t>
            </a:r>
            <a:r>
              <a:rPr sz="1600" dirty="0"/>
              <a:t>to</a:t>
            </a:r>
            <a:r>
              <a:rPr sz="1600" spc="-15" dirty="0"/>
              <a:t> </a:t>
            </a:r>
            <a:r>
              <a:rPr sz="1600" dirty="0"/>
              <a:t>take</a:t>
            </a:r>
            <a:r>
              <a:rPr sz="1600" spc="-15" dirty="0"/>
              <a:t> </a:t>
            </a:r>
            <a:r>
              <a:rPr sz="1600" dirty="0"/>
              <a:t>a</a:t>
            </a:r>
            <a:r>
              <a:rPr sz="1600" spc="-15" dirty="0"/>
              <a:t> </a:t>
            </a:r>
            <a:r>
              <a:rPr sz="1600" dirty="0"/>
              <a:t>certain</a:t>
            </a:r>
            <a:r>
              <a:rPr sz="1600" spc="-30" dirty="0"/>
              <a:t> </a:t>
            </a:r>
            <a:r>
              <a:rPr sz="1600" dirty="0"/>
              <a:t>action.</a:t>
            </a:r>
            <a:r>
              <a:rPr sz="1600" spc="-40" dirty="0"/>
              <a:t> </a:t>
            </a:r>
            <a:r>
              <a:rPr sz="1600" dirty="0"/>
              <a:t>The</a:t>
            </a:r>
            <a:r>
              <a:rPr sz="1600" spc="-20" dirty="0"/>
              <a:t> </a:t>
            </a:r>
            <a:r>
              <a:rPr sz="1600" dirty="0"/>
              <a:t>short</a:t>
            </a:r>
            <a:r>
              <a:rPr sz="1600" spc="-20" dirty="0"/>
              <a:t> </a:t>
            </a:r>
            <a:r>
              <a:rPr sz="1600" dirty="0"/>
              <a:t>range</a:t>
            </a:r>
            <a:r>
              <a:rPr sz="1600" spc="-30" dirty="0"/>
              <a:t> </a:t>
            </a:r>
            <a:r>
              <a:rPr sz="1600" dirty="0"/>
              <a:t>of</a:t>
            </a:r>
            <a:r>
              <a:rPr sz="1600" spc="-10" dirty="0"/>
              <a:t> </a:t>
            </a:r>
            <a:r>
              <a:rPr sz="1600" spc="-5" dirty="0"/>
              <a:t>NFC</a:t>
            </a:r>
            <a:r>
              <a:rPr sz="1600" dirty="0"/>
              <a:t> also</a:t>
            </a:r>
            <a:r>
              <a:rPr sz="1600" spc="-10" dirty="0"/>
              <a:t> </a:t>
            </a:r>
            <a:r>
              <a:rPr sz="1600" dirty="0"/>
              <a:t>protects</a:t>
            </a:r>
            <a:r>
              <a:rPr sz="1600" spc="-50" dirty="0"/>
              <a:t> </a:t>
            </a:r>
            <a:r>
              <a:rPr sz="1600" dirty="0"/>
              <a:t>against</a:t>
            </a:r>
          </a:p>
          <a:p>
            <a:pPr marL="374015">
              <a:lnSpc>
                <a:spcPct val="100000"/>
              </a:lnSpc>
              <a:spcBef>
                <a:spcPts val="675"/>
              </a:spcBef>
            </a:pPr>
            <a:r>
              <a:rPr sz="1600" spc="-5" dirty="0"/>
              <a:t>unauthorized</a:t>
            </a:r>
            <a:r>
              <a:rPr sz="1600" spc="-55" dirty="0"/>
              <a:t> </a:t>
            </a:r>
            <a:r>
              <a:rPr sz="1600" dirty="0"/>
              <a:t>access</a:t>
            </a:r>
            <a:r>
              <a:rPr sz="1600" spc="-45" dirty="0"/>
              <a:t> </a:t>
            </a:r>
            <a:r>
              <a:rPr sz="1600" dirty="0"/>
              <a:t>by</a:t>
            </a:r>
            <a:r>
              <a:rPr sz="1600" spc="-20" dirty="0"/>
              <a:t> </a:t>
            </a:r>
            <a:r>
              <a:rPr sz="1600" dirty="0"/>
              <a:t>hackers.</a:t>
            </a:r>
          </a:p>
          <a:p>
            <a:pPr marL="374015" marR="102870" indent="-317500">
              <a:lnSpc>
                <a:spcPct val="140000"/>
              </a:lnSpc>
              <a:buChar char="●"/>
              <a:tabLst>
                <a:tab pos="374650" algn="l"/>
                <a:tab pos="375285" algn="l"/>
              </a:tabLst>
            </a:pPr>
            <a:r>
              <a:rPr sz="1600" spc="-5" dirty="0"/>
              <a:t>NFC</a:t>
            </a:r>
            <a:r>
              <a:rPr sz="1600" dirty="0"/>
              <a:t> includes</a:t>
            </a:r>
            <a:r>
              <a:rPr sz="1600" spc="-35" dirty="0"/>
              <a:t> </a:t>
            </a:r>
            <a:r>
              <a:rPr sz="1600" dirty="0"/>
              <a:t>built-in</a:t>
            </a:r>
            <a:r>
              <a:rPr sz="1600" spc="-25" dirty="0"/>
              <a:t> </a:t>
            </a:r>
            <a:r>
              <a:rPr sz="1600" dirty="0"/>
              <a:t>features</a:t>
            </a:r>
            <a:r>
              <a:rPr sz="1600" spc="-40" dirty="0"/>
              <a:t> </a:t>
            </a:r>
            <a:r>
              <a:rPr sz="1600" dirty="0"/>
              <a:t>such</a:t>
            </a:r>
            <a:r>
              <a:rPr sz="1600" spc="-25" dirty="0"/>
              <a:t> </a:t>
            </a:r>
            <a:r>
              <a:rPr sz="1600" dirty="0"/>
              <a:t>as </a:t>
            </a:r>
            <a:r>
              <a:rPr sz="1600" spc="-5" dirty="0"/>
              <a:t>encryption</a:t>
            </a:r>
            <a:r>
              <a:rPr sz="1600" spc="-35" dirty="0"/>
              <a:t> </a:t>
            </a:r>
            <a:r>
              <a:rPr sz="1600" dirty="0"/>
              <a:t>that</a:t>
            </a:r>
            <a:r>
              <a:rPr sz="1600" spc="-25" dirty="0"/>
              <a:t> </a:t>
            </a:r>
            <a:r>
              <a:rPr sz="1600" dirty="0"/>
              <a:t>cut</a:t>
            </a:r>
            <a:r>
              <a:rPr sz="1600" spc="-10" dirty="0"/>
              <a:t> </a:t>
            </a:r>
            <a:r>
              <a:rPr sz="1600" spc="-5" dirty="0"/>
              <a:t>down</a:t>
            </a:r>
            <a:r>
              <a:rPr sz="1600" dirty="0"/>
              <a:t> on</a:t>
            </a:r>
            <a:r>
              <a:rPr sz="1600" spc="-5" dirty="0"/>
              <a:t> </a:t>
            </a:r>
            <a:r>
              <a:rPr sz="1600" dirty="0"/>
              <a:t>the</a:t>
            </a:r>
            <a:r>
              <a:rPr sz="1600" spc="-15" dirty="0"/>
              <a:t> </a:t>
            </a:r>
            <a:r>
              <a:rPr sz="1600" spc="-5" dirty="0"/>
              <a:t>potential</a:t>
            </a:r>
            <a:r>
              <a:rPr sz="1600" spc="-35" dirty="0"/>
              <a:t> </a:t>
            </a:r>
            <a:r>
              <a:rPr sz="1600" dirty="0"/>
              <a:t>for</a:t>
            </a:r>
            <a:r>
              <a:rPr sz="1600" spc="-15" dirty="0"/>
              <a:t> </a:t>
            </a:r>
            <a:r>
              <a:rPr sz="1600" dirty="0"/>
              <a:t>eavesdropping </a:t>
            </a:r>
            <a:r>
              <a:rPr sz="1600" spc="-375" dirty="0"/>
              <a:t> </a:t>
            </a:r>
            <a:r>
              <a:rPr sz="1600" dirty="0"/>
              <a:t>and</a:t>
            </a:r>
            <a:r>
              <a:rPr sz="1600" spc="-25" dirty="0"/>
              <a:t> </a:t>
            </a:r>
            <a:r>
              <a:rPr sz="1600" dirty="0"/>
              <a:t>other</a:t>
            </a:r>
            <a:r>
              <a:rPr sz="1600" spc="-30" dirty="0"/>
              <a:t> </a:t>
            </a:r>
            <a:r>
              <a:rPr sz="1600" dirty="0"/>
              <a:t>malicious</a:t>
            </a:r>
            <a:r>
              <a:rPr sz="1600" spc="-30" dirty="0"/>
              <a:t> </a:t>
            </a:r>
            <a:r>
              <a:rPr sz="1600" spc="-5" dirty="0"/>
              <a:t>activities.</a:t>
            </a:r>
          </a:p>
          <a:p>
            <a:pPr marL="374015" indent="-317500">
              <a:lnSpc>
                <a:spcPct val="100000"/>
              </a:lnSpc>
              <a:spcBef>
                <a:spcPts val="675"/>
              </a:spcBef>
              <a:buChar char="●"/>
              <a:tabLst>
                <a:tab pos="374650" algn="l"/>
                <a:tab pos="375285" algn="l"/>
              </a:tabLst>
            </a:pPr>
            <a:r>
              <a:rPr sz="1600" spc="-5" dirty="0"/>
              <a:t>Even</a:t>
            </a:r>
            <a:r>
              <a:rPr sz="1600" spc="5" dirty="0"/>
              <a:t> </a:t>
            </a:r>
            <a:r>
              <a:rPr sz="1600" dirty="0"/>
              <a:t>objects</a:t>
            </a:r>
            <a:r>
              <a:rPr sz="1600" spc="-35" dirty="0"/>
              <a:t> </a:t>
            </a:r>
            <a:r>
              <a:rPr sz="1600" spc="-5" dirty="0"/>
              <a:t>without</a:t>
            </a:r>
            <a:r>
              <a:rPr sz="1600" spc="-10" dirty="0"/>
              <a:t> </a:t>
            </a:r>
            <a:r>
              <a:rPr sz="1600" spc="-5" dirty="0"/>
              <a:t>power </a:t>
            </a:r>
            <a:r>
              <a:rPr sz="1600" dirty="0"/>
              <a:t>or</a:t>
            </a:r>
            <a:r>
              <a:rPr sz="1600" spc="-15" dirty="0"/>
              <a:t> </a:t>
            </a:r>
            <a:r>
              <a:rPr sz="1600" dirty="0"/>
              <a:t>an IoT</a:t>
            </a:r>
            <a:r>
              <a:rPr sz="1600" spc="-25" dirty="0"/>
              <a:t> </a:t>
            </a:r>
            <a:r>
              <a:rPr sz="1600" dirty="0"/>
              <a:t>connection</a:t>
            </a:r>
            <a:r>
              <a:rPr sz="1600" spc="-40" dirty="0"/>
              <a:t> </a:t>
            </a:r>
            <a:r>
              <a:rPr sz="1600" dirty="0"/>
              <a:t>can</a:t>
            </a:r>
            <a:r>
              <a:rPr sz="1600" spc="-30" dirty="0"/>
              <a:t> </a:t>
            </a:r>
            <a:r>
              <a:rPr sz="1600" dirty="0"/>
              <a:t>passively</a:t>
            </a:r>
            <a:r>
              <a:rPr sz="1600" spc="-10" dirty="0"/>
              <a:t> </a:t>
            </a:r>
            <a:r>
              <a:rPr sz="1600" spc="-5" dirty="0"/>
              <a:t>exchange</a:t>
            </a:r>
            <a:r>
              <a:rPr sz="1600" spc="-30" dirty="0"/>
              <a:t> </a:t>
            </a:r>
            <a:r>
              <a:rPr sz="1600" dirty="0"/>
              <a:t>data</a:t>
            </a:r>
            <a:r>
              <a:rPr sz="1600" spc="-15" dirty="0"/>
              <a:t> </a:t>
            </a:r>
            <a:r>
              <a:rPr sz="1600" spc="-5" dirty="0"/>
              <a:t>via</a:t>
            </a:r>
            <a:r>
              <a:rPr sz="1600" spc="10" dirty="0"/>
              <a:t> </a:t>
            </a:r>
            <a:r>
              <a:rPr sz="1600" spc="-5" dirty="0"/>
              <a:t>NFC</a:t>
            </a:r>
            <a:r>
              <a:rPr sz="1600" dirty="0"/>
              <a:t> tags.</a:t>
            </a:r>
            <a:r>
              <a:rPr sz="1600" spc="-35" dirty="0"/>
              <a:t> </a:t>
            </a:r>
            <a:r>
              <a:rPr sz="1600" dirty="0"/>
              <a:t>Users</a:t>
            </a:r>
          </a:p>
          <a:p>
            <a:pPr marL="374015">
              <a:lnSpc>
                <a:spcPct val="100000"/>
              </a:lnSpc>
              <a:spcBef>
                <a:spcPts val="675"/>
              </a:spcBef>
            </a:pPr>
            <a:r>
              <a:rPr sz="1600" spc="-5" dirty="0"/>
              <a:t>with</a:t>
            </a:r>
            <a:r>
              <a:rPr sz="1600" spc="5" dirty="0"/>
              <a:t> </a:t>
            </a:r>
            <a:r>
              <a:rPr sz="1600" dirty="0"/>
              <a:t>an</a:t>
            </a:r>
            <a:r>
              <a:rPr sz="1600" spc="-15" dirty="0"/>
              <a:t> </a:t>
            </a:r>
            <a:r>
              <a:rPr sz="1600" spc="-5" dirty="0"/>
              <a:t>NFC-enabled</a:t>
            </a:r>
            <a:r>
              <a:rPr sz="1600" spc="-25" dirty="0"/>
              <a:t> </a:t>
            </a:r>
            <a:r>
              <a:rPr sz="1600" spc="-5" dirty="0"/>
              <a:t>device </a:t>
            </a:r>
            <a:r>
              <a:rPr sz="1600" dirty="0"/>
              <a:t>can</a:t>
            </a:r>
            <a:r>
              <a:rPr sz="1600" spc="-15" dirty="0"/>
              <a:t> </a:t>
            </a:r>
            <a:r>
              <a:rPr sz="1600" dirty="0"/>
              <a:t>tap</a:t>
            </a:r>
            <a:r>
              <a:rPr sz="1600" spc="-30" dirty="0"/>
              <a:t> </a:t>
            </a:r>
            <a:r>
              <a:rPr sz="1600" dirty="0"/>
              <a:t>the</a:t>
            </a:r>
            <a:r>
              <a:rPr sz="1600" spc="-15" dirty="0"/>
              <a:t> </a:t>
            </a:r>
            <a:r>
              <a:rPr sz="1600" spc="-5" dirty="0"/>
              <a:t>gadget</a:t>
            </a:r>
            <a:r>
              <a:rPr sz="1600" spc="-25" dirty="0"/>
              <a:t> </a:t>
            </a:r>
            <a:r>
              <a:rPr sz="1600" dirty="0"/>
              <a:t>to</a:t>
            </a:r>
            <a:r>
              <a:rPr sz="1600" spc="-15" dirty="0"/>
              <a:t> </a:t>
            </a:r>
            <a:r>
              <a:rPr sz="1600" spc="-5" dirty="0"/>
              <a:t>get</a:t>
            </a:r>
            <a:r>
              <a:rPr sz="1600" spc="-30" dirty="0"/>
              <a:t> </a:t>
            </a:r>
            <a:r>
              <a:rPr sz="1600" spc="-5" dirty="0"/>
              <a:t>information</a:t>
            </a:r>
            <a:r>
              <a:rPr sz="1600" spc="-35" dirty="0"/>
              <a:t> </a:t>
            </a:r>
            <a:r>
              <a:rPr sz="1600" dirty="0"/>
              <a:t>such</a:t>
            </a:r>
            <a:r>
              <a:rPr sz="1600" spc="-25" dirty="0"/>
              <a:t> </a:t>
            </a:r>
            <a:r>
              <a:rPr sz="1600" spc="-5" dirty="0"/>
              <a:t>as</a:t>
            </a:r>
            <a:r>
              <a:rPr sz="1600" spc="-10" dirty="0"/>
              <a:t> </a:t>
            </a:r>
            <a:r>
              <a:rPr sz="1600" spc="-5" dirty="0"/>
              <a:t>URLs.</a:t>
            </a:r>
          </a:p>
          <a:p>
            <a:pPr marL="374015" indent="-317500">
              <a:lnSpc>
                <a:spcPct val="100000"/>
              </a:lnSpc>
              <a:spcBef>
                <a:spcPts val="670"/>
              </a:spcBef>
              <a:buChar char="●"/>
              <a:tabLst>
                <a:tab pos="374650" algn="l"/>
                <a:tab pos="375285" algn="l"/>
              </a:tabLst>
            </a:pPr>
            <a:r>
              <a:rPr sz="1600" dirty="0"/>
              <a:t>An</a:t>
            </a:r>
            <a:r>
              <a:rPr sz="1600" spc="-10" dirty="0"/>
              <a:t> </a:t>
            </a:r>
            <a:r>
              <a:rPr sz="1600" spc="-5" dirty="0"/>
              <a:t>NFC</a:t>
            </a:r>
            <a:r>
              <a:rPr sz="1600" dirty="0"/>
              <a:t> tag</a:t>
            </a:r>
            <a:r>
              <a:rPr sz="1600" spc="-20" dirty="0"/>
              <a:t> </a:t>
            </a:r>
            <a:r>
              <a:rPr sz="1600" dirty="0"/>
              <a:t>can</a:t>
            </a:r>
            <a:r>
              <a:rPr sz="1600" spc="-25" dirty="0"/>
              <a:t> </a:t>
            </a:r>
            <a:r>
              <a:rPr sz="1600" spc="-5" dirty="0"/>
              <a:t>harvest</a:t>
            </a:r>
            <a:r>
              <a:rPr sz="1600" spc="-10" dirty="0"/>
              <a:t> </a:t>
            </a:r>
            <a:r>
              <a:rPr sz="1600" dirty="0"/>
              <a:t>energy</a:t>
            </a:r>
            <a:r>
              <a:rPr sz="1600" spc="-40" dirty="0"/>
              <a:t> </a:t>
            </a:r>
            <a:r>
              <a:rPr sz="1600" dirty="0"/>
              <a:t>to</a:t>
            </a:r>
            <a:r>
              <a:rPr sz="1600" spc="-5" dirty="0"/>
              <a:t> power </a:t>
            </a:r>
            <a:r>
              <a:rPr sz="1600" dirty="0"/>
              <a:t>other</a:t>
            </a:r>
            <a:r>
              <a:rPr sz="1600" spc="-45" dirty="0"/>
              <a:t> </a:t>
            </a:r>
            <a:r>
              <a:rPr sz="1600" dirty="0"/>
              <a:t>circuits</a:t>
            </a:r>
            <a:r>
              <a:rPr sz="1600" spc="-35" dirty="0"/>
              <a:t> </a:t>
            </a:r>
            <a:r>
              <a:rPr sz="1600" dirty="0"/>
              <a:t>or</a:t>
            </a:r>
            <a:r>
              <a:rPr sz="1600" spc="-5" dirty="0"/>
              <a:t> devices.</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17271</TotalTime>
  <Words>1083</Words>
  <Application>Microsoft Macintosh PowerPoint</Application>
  <PresentationFormat>On-screen Show (16:9)</PresentationFormat>
  <Paragraphs>82</Paragraphs>
  <Slides>14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Arial MT</vt:lpstr>
      <vt:lpstr>Lucida Sans</vt:lpstr>
      <vt:lpstr>Office Theme</vt:lpstr>
      <vt:lpstr>Near Field Communication  (NFC)</vt:lpstr>
      <vt:lpstr>PowerPoint Presentation</vt:lpstr>
      <vt:lpstr>Near Field Communication (NFC)</vt:lpstr>
      <vt:lpstr>PowerPoint Presentation</vt:lpstr>
      <vt:lpstr>Comparison with Bluetooth</vt:lpstr>
      <vt:lpstr>NFC Applications</vt:lpstr>
      <vt:lpstr>Operation of NFC</vt:lpstr>
      <vt:lpstr>Operation of NFC (Ctd…)</vt:lpstr>
      <vt:lpstr>PowerPoint Presentation</vt:lpstr>
      <vt:lpstr>NFC Reader mode</vt:lpstr>
      <vt:lpstr>NFC Card Emulation mode</vt:lpstr>
      <vt:lpstr>NFC Peer to Peer Communication mode</vt:lpstr>
      <vt:lpstr>PowerPoint Presentation</vt:lpstr>
      <vt:lpstr>Incorporation of NFC in IoT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vivek pandit</dc:creator>
  <cp:lastModifiedBy>AbhishekS Kumar</cp:lastModifiedBy>
  <cp:revision>9</cp:revision>
  <dcterms:created xsi:type="dcterms:W3CDTF">2024-08-14T08:38:39Z</dcterms:created>
  <dcterms:modified xsi:type="dcterms:W3CDTF">2026-08-31T05:08:03Z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2023-11-19T00:00:00Z</vt:filetime>
  </property>
  <property fmtid="{D5CDD505-2E9C-101B-9397-08002B2CF9AE}" pid="3" name="Creator">
    <vt:lpwstr>Microsoft® PowerPoint® 2016</vt:lpwstr>
  </property>
  <property fmtid="{D5CDD505-2E9C-101B-9397-08002B2CF9AE}" pid="4" name="LastSaved">
    <vt:filetime>2024-08-14T00:00:00Z</vt:filetime>
  </property>
</Properties>
</file>