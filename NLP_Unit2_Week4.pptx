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18"/>
  </p:notesMasterIdLst>
  <p:sldIdLst>
    <p:sldId id="474" r:id="rId6"/>
    <p:sldId id="472" r:id="rId7"/>
    <p:sldId id="256" r:id="rId8"/>
    <p:sldId id="493" r:id="rId9"/>
    <p:sldId id="489" r:id="rId10"/>
    <p:sldId id="490" r:id="rId11"/>
    <p:sldId id="491" r:id="rId12"/>
    <p:sldId id="492" r:id="rId13"/>
    <p:sldId id="494" r:id="rId14"/>
    <p:sldId id="495" r:id="rId15"/>
    <p:sldId id="496" r:id="rId16"/>
    <p:sldId id="500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8BB6C9-1517-E4B2-E950-456A194B9932}" v="17" dt="2026-08-19T06:31:46.8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47" autoAdjust="0"/>
    <p:restoredTop sz="90056" autoAdjust="0"/>
  </p:normalViewPr>
  <p:slideViewPr>
    <p:cSldViewPr>
      <p:cViewPr varScale="1">
        <p:scale>
          <a:sx n="82" d="100"/>
          <a:sy n="82" d="100"/>
        </p:scale>
        <p:origin x="132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garkumar Shah" userId="S::jigarkumar.shah@pdpu.ac.in::17b48325-d6f6-485c-a5ad-71e3af6ef2e9" providerId="AD" clId="Web-{AA8BB6C9-1517-E4B2-E950-456A194B9932}"/>
    <pc:docChg chg="addSld delSld modSld">
      <pc:chgData name="Jigarkumar Shah" userId="S::jigarkumar.shah@pdpu.ac.in::17b48325-d6f6-485c-a5ad-71e3af6ef2e9" providerId="AD" clId="Web-{AA8BB6C9-1517-E4B2-E950-456A194B9932}" dt="2026-08-19T06:31:46.869" v="19"/>
      <pc:docMkLst>
        <pc:docMk/>
      </pc:docMkLst>
      <pc:sldChg chg="modSp add del">
        <pc:chgData name="Jigarkumar Shah" userId="S::jigarkumar.shah@pdpu.ac.in::17b48325-d6f6-485c-a5ad-71e3af6ef2e9" providerId="AD" clId="Web-{AA8BB6C9-1517-E4B2-E950-456A194B9932}" dt="2026-08-19T06:31:46.869" v="19"/>
        <pc:sldMkLst>
          <pc:docMk/>
          <pc:sldMk cId="2293345289" sldId="490"/>
        </pc:sldMkLst>
        <pc:spChg chg="mod">
          <ac:chgData name="Jigarkumar Shah" userId="S::jigarkumar.shah@pdpu.ac.in::17b48325-d6f6-485c-a5ad-71e3af6ef2e9" providerId="AD" clId="Web-{AA8BB6C9-1517-E4B2-E950-456A194B9932}" dt="2026-08-19T06:31:15.416" v="17" actId="20577"/>
          <ac:spMkLst>
            <pc:docMk/>
            <pc:sldMk cId="2293345289" sldId="490"/>
            <ac:spMk id="6" creationId="{4FE1305F-989D-8DF5-4453-C2ABCD0734A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F9673B-F029-4EB6-981F-6118A75E367B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1F8E48-716F-463C-9A2D-BA57804D2BA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2100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483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62F1F-95C1-45CA-84F0-B138AAEBAF81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60D6-FD85-46FC-B621-90CF24064286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D685E-EC22-4A30-9C5A-5527B3C4452F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AA1E3-69D8-4A03-B392-4B3DA43B89F5}" type="datetime1">
              <a:rPr lang="en-IN" smtClean="0"/>
              <a:t>18-08-2026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0FA67-6AED-47ED-98CB-817068A34CDD}" type="datetime1">
              <a:rPr lang="en-IN" smtClean="0"/>
              <a:t>18-08-2026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EBA68-83D6-4A7C-9443-03C3BAB145F5}" type="datetime1">
              <a:rPr lang="en-IN" smtClean="0"/>
              <a:t>18-08-2026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F257B-BAD3-4E20-B0B4-3EA4E039C483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41437-D38A-47BA-AECD-4B3F5E59E416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AACA0-1FF6-43FE-9E2F-4E13179A1744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CC08-E355-4133-96C3-E543032B013A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62F1F-95C1-45CA-84F0-B138AAEBAF81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1040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883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60D6-FD85-46FC-B621-90CF24064286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7198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D685E-EC22-4A30-9C5A-5527B3C4452F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9962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AA1E3-69D8-4A03-B392-4B3DA43B89F5}" type="datetime1">
              <a:rPr lang="en-IN" smtClean="0"/>
              <a:t>18-08-2026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5546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0FA67-6AED-47ED-98CB-817068A34CDD}" type="datetime1">
              <a:rPr lang="en-IN" smtClean="0"/>
              <a:t>18-08-2026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0235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EBA68-83D6-4A7C-9443-03C3BAB145F5}" type="datetime1">
              <a:rPr lang="en-IN" smtClean="0"/>
              <a:t>18-08-2026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3340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F257B-BAD3-4E20-B0B4-3EA4E039C483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935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41437-D38A-47BA-AECD-4B3F5E59E416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2975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AACA0-1FF6-43FE-9E2F-4E13179A1744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9580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CC08-E355-4133-96C3-E543032B013A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6490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5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400">
                <a:solidFill>
                  <a:schemeClr val="bg2"/>
                </a:solidFill>
              </a:defRPr>
            </a:lvl1pPr>
          </a:lstStyle>
          <a:p>
            <a:fld id="{9034A2FE-D172-435F-AA4B-518E3133ACED}" type="datetime1">
              <a:rPr lang="en-IN" smtClean="0"/>
              <a:t>18-08-2026</a:t>
            </a:fld>
            <a:endParaRPr lang="en-US"/>
          </a:p>
        </p:txBody>
      </p:sp>
      <p:sp>
        <p:nvSpPr>
          <p:cNvPr id="29185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Dr. Jigar Shah  (Asst. Prof., ICT, PDEU, Gandhinagar)</a:t>
            </a:r>
          </a:p>
        </p:txBody>
      </p:sp>
      <p:sp>
        <p:nvSpPr>
          <p:cNvPr id="291856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fld id="{34829615-EA85-47CB-9745-0124BEE5BE2A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91859" name="Rectangle 19"/>
          <p:cNvSpPr>
            <a:spLocks noChangeArrowheads="1"/>
          </p:cNvSpPr>
          <p:nvPr userDrawn="1"/>
        </p:nvSpPr>
        <p:spPr bwMode="gray">
          <a:xfrm>
            <a:off x="114300" y="2830513"/>
            <a:ext cx="8890000" cy="42862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kumimoji="1" lang="en-US" sz="2400"/>
          </a:p>
        </p:txBody>
      </p:sp>
      <p:sp>
        <p:nvSpPr>
          <p:cNvPr id="291860" name="Rectangle 20"/>
          <p:cNvSpPr>
            <a:spLocks noChangeArrowheads="1"/>
          </p:cNvSpPr>
          <p:nvPr userDrawn="1"/>
        </p:nvSpPr>
        <p:spPr bwMode="gray">
          <a:xfrm>
            <a:off x="122238" y="4167188"/>
            <a:ext cx="8890000" cy="4286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hlink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kumimoji="1" lang="en-US" sz="2400"/>
          </a:p>
        </p:txBody>
      </p:sp>
    </p:spTree>
    <p:extLst>
      <p:ext uri="{BB962C8B-B14F-4D97-AF65-F5344CB8AC3E}">
        <p14:creationId xmlns:p14="http://schemas.microsoft.com/office/powerpoint/2010/main" val="1329828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ADB42-1EA6-48BD-91C6-255795457A8A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ADB42-1EA6-48BD-91C6-255795457A8A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280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view/dl4nlp-nptel/home" TargetMode="External"/><Relationship Id="rId2" Type="http://schemas.openxmlformats.org/officeDocument/2006/relationships/hyperlink" Target="https://nptel.ac.in/courses/108105572" TargetMode="Externa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E4ABEA-BDC3-2120-8281-B22F09EFA2C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8810AA-E5FB-460E-942C-C27A9A3AE343}" type="datetime1">
              <a:rPr kumimoji="0" lang="en-IN" sz="1400" b="0" i="0" u="none" strike="noStrike" kern="1200" cap="none" spc="0" normalizeH="0" baseline="0" noProof="0" smtClean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18-08-2026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A8607D-C84B-CCA0-EA1A-4A2C48DEE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66938" y="4495800"/>
            <a:ext cx="4919662" cy="1121786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(Asst. Prof., ICT, PDEU, Gandhinagar)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EC276-6BC7-413A-A5B4-111DE22303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29615-EA85-47CB-9745-0124BEE5BE2A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2A28BB-0490-8F52-656F-F58CA031F6CF}"/>
              </a:ext>
            </a:extLst>
          </p:cNvPr>
          <p:cNvSpPr txBox="1"/>
          <p:nvPr/>
        </p:nvSpPr>
        <p:spPr>
          <a:xfrm>
            <a:off x="190500" y="3136612"/>
            <a:ext cx="876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NATURAL LANGUAGE PROCESSING (20IC403T)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685A48-2DDE-6ACA-3346-DAC0DB8CE44D}"/>
              </a:ext>
            </a:extLst>
          </p:cNvPr>
          <p:cNvSpPr txBox="1"/>
          <p:nvPr/>
        </p:nvSpPr>
        <p:spPr>
          <a:xfrm>
            <a:off x="3824006" y="1600200"/>
            <a:ext cx="1756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ICT - Semester 7 </a:t>
            </a:r>
          </a:p>
        </p:txBody>
      </p:sp>
    </p:spTree>
    <p:extLst>
      <p:ext uri="{BB962C8B-B14F-4D97-AF65-F5344CB8AC3E}">
        <p14:creationId xmlns:p14="http://schemas.microsoft.com/office/powerpoint/2010/main" val="38619077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622F9-07AC-C8AA-8388-D126FCDE8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5693"/>
            <a:ext cx="8229600" cy="1143000"/>
          </a:xfrm>
        </p:spPr>
        <p:txBody>
          <a:bodyPr>
            <a:normAutofit/>
          </a:bodyPr>
          <a:lstStyle/>
          <a:p>
            <a:r>
              <a:rPr lang="en-IN" sz="4200" b="1" dirty="0">
                <a:solidFill>
                  <a:srgbClr val="FF0000"/>
                </a:solidFill>
              </a:rPr>
              <a:t>Reference Books (Theory):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9863C-144C-3302-280F-B3BD8140F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902969"/>
            <a:ext cx="8644812" cy="1713165"/>
          </a:xfrm>
        </p:spPr>
        <p:txBody>
          <a:bodyPr>
            <a:normAutofit fontScale="55000" lnSpcReduction="20000"/>
          </a:bodyPr>
          <a:lstStyle/>
          <a:p>
            <a:pPr marL="342900" lvl="3" indent="-342900" algn="just">
              <a:spcAft>
                <a:spcPts val="800"/>
              </a:spcAft>
              <a:buFont typeface="Arial" pitchFamily="34" charset="0"/>
              <a:buChar char="•"/>
            </a:pPr>
            <a:r>
              <a:rPr lang="en-IN" sz="3200" dirty="0" err="1"/>
              <a:t>Jurafsky</a:t>
            </a:r>
            <a:r>
              <a:rPr lang="en-IN" sz="3200" dirty="0"/>
              <a:t>, Daniel, and James H. Martin, Speech and Language Processing: An Introduction to Natural Language Processing, Speech Recognition, and Computational Linguistics, Prentice Hall. 2026 Edition.</a:t>
            </a:r>
          </a:p>
          <a:p>
            <a:pPr algn="just"/>
            <a:r>
              <a:rPr lang="en-US" sz="3300" dirty="0"/>
              <a:t>Yoav Goldberg, Graeme Hirst. Neural Network Methods in Natural Language </a:t>
            </a:r>
            <a:r>
              <a:rPr lang="en-IN" sz="3300" dirty="0"/>
              <a:t>Processing, Morgan &amp; Claypool Publishers.</a:t>
            </a:r>
          </a:p>
          <a:p>
            <a:pPr algn="just"/>
            <a:r>
              <a:rPr lang="en-IN" sz="3300" dirty="0"/>
              <a:t>Kamath, Uday, et al. Large Language Models: A Deep Dive.</a:t>
            </a:r>
          </a:p>
          <a:p>
            <a:pPr marL="457200" lvl="3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IN" sz="3200" u="none" strike="noStrike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67359-D01E-14D9-6D3E-D923EF605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18-08-2026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19723-4A9C-B1F0-3CCD-A22E1F35C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AEE55-61E0-9E7B-699D-595BC39BB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3F5C05-218D-C5A7-3D24-F59BE766B1D3}"/>
              </a:ext>
            </a:extLst>
          </p:cNvPr>
          <p:cNvSpPr txBox="1"/>
          <p:nvPr/>
        </p:nvSpPr>
        <p:spPr>
          <a:xfrm>
            <a:off x="533400" y="4343400"/>
            <a:ext cx="8153400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Online Video Course and Support Materials: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NPTEL Course: Deep Learning for Natural Language Processing, IIT Kharagpur, Prof. Pawan Goyal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hlinkClick r:id="rId2"/>
            </a:endParaRPr>
          </a:p>
          <a:p>
            <a:pPr marL="1028700" marR="0" lvl="1" indent="-5715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2"/>
              </a:rPr>
              <a:t>https://nptel.ac.in/courses/108105572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1028700" marR="0" lvl="1" indent="-5715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3"/>
              </a:rPr>
              <a:t>https://sites.google.com/view/dl4nlp-nptel/home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571500" marR="0" lvl="0" indent="-5715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D519CB4-8EBB-1110-DDF4-A2154048CE01}"/>
              </a:ext>
            </a:extLst>
          </p:cNvPr>
          <p:cNvSpPr txBox="1">
            <a:spLocks/>
          </p:cNvSpPr>
          <p:nvPr/>
        </p:nvSpPr>
        <p:spPr>
          <a:xfrm>
            <a:off x="457200" y="2379768"/>
            <a:ext cx="8458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Reference Book (Hands-on Practical):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6B7B342-07F7-F812-AC27-DCD3E1A8CD14}"/>
              </a:ext>
            </a:extLst>
          </p:cNvPr>
          <p:cNvSpPr txBox="1">
            <a:spLocks/>
          </p:cNvSpPr>
          <p:nvPr/>
        </p:nvSpPr>
        <p:spPr>
          <a:xfrm>
            <a:off x="455645" y="3366908"/>
            <a:ext cx="8458200" cy="1371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Bird, Steven, Ewan Klein, and Edward Loper. Natural language processing with Python: </a:t>
            </a:r>
            <a:r>
              <a:rPr kumimoji="0" lang="en-IN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analyzing</a:t>
            </a: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text with the natural language toolkit. O'Reilly Media, Inc.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IN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Thanaki</a:t>
            </a: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Jalaj. Python natural language processing. </a:t>
            </a:r>
            <a:r>
              <a:rPr kumimoji="0" lang="en-IN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Packt</a:t>
            </a: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Publishing Ltd.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Alammar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J., &amp; Grootendorst, M. Hands-On Large Language Models, </a:t>
            </a: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O'Reilly.</a:t>
            </a:r>
          </a:p>
        </p:txBody>
      </p:sp>
    </p:spTree>
    <p:extLst>
      <p:ext uri="{BB962C8B-B14F-4D97-AF65-F5344CB8AC3E}">
        <p14:creationId xmlns:p14="http://schemas.microsoft.com/office/powerpoint/2010/main" val="332002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858" name="Rectangle 2"/>
          <p:cNvSpPr>
            <a:spLocks noGrp="1" noChangeArrowheads="1"/>
          </p:cNvSpPr>
          <p:nvPr>
            <p:ph type="ctrTitle" idx="4294967295"/>
          </p:nvPr>
        </p:nvSpPr>
        <p:spPr bwMode="auto">
          <a:xfrm>
            <a:off x="228601" y="2781299"/>
            <a:ext cx="8915399" cy="129540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>
            <a:normAutofit fontScale="90000"/>
          </a:bodyPr>
          <a:lstStyle/>
          <a:p>
            <a:r>
              <a:rPr lang="en-US" b="1" dirty="0"/>
              <a:t>UNIT 2</a:t>
            </a:r>
            <a:br>
              <a:rPr lang="en-US" sz="3600" dirty="0"/>
            </a:br>
            <a:r>
              <a:rPr lang="en-US" sz="3300" dirty="0"/>
              <a:t> </a:t>
            </a:r>
            <a:r>
              <a:rPr lang="en-IN" b="1" dirty="0"/>
              <a:t>FEATURE REPRESENTATIONS AND EXTRACTIONS IN NLP</a:t>
            </a:r>
            <a:endParaRPr lang="en-US" sz="36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E4ABEA-BDC3-2120-8281-B22F09EFA2C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8810AA-E5FB-460E-942C-C27A9A3AE343}" type="datetime1">
              <a:rPr kumimoji="0" lang="en-IN" sz="1400" b="0" i="0" u="none" strike="noStrike" kern="1200" cap="none" spc="0" normalizeH="0" baseline="0" noProof="0" smtClean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18-08-2026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A8607D-C84B-CCA0-EA1A-4A2C48DEE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66938" y="4495800"/>
            <a:ext cx="4919662" cy="1121786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(Asst. Prof., ICT, PDEU, Gandhinagar)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EC276-6BC7-413A-A5B4-111DE22303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29615-EA85-47CB-9745-0124BEE5BE2A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2A28BB-0490-8F52-656F-F58CA031F6CF}"/>
              </a:ext>
            </a:extLst>
          </p:cNvPr>
          <p:cNvSpPr txBox="1"/>
          <p:nvPr/>
        </p:nvSpPr>
        <p:spPr>
          <a:xfrm>
            <a:off x="1524000" y="993632"/>
            <a:ext cx="6324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NATURAL LANGUAGE PROCESSING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685A48-2DDE-6ACA-3346-DAC0DB8CE44D}"/>
              </a:ext>
            </a:extLst>
          </p:cNvPr>
          <p:cNvSpPr txBox="1"/>
          <p:nvPr/>
        </p:nvSpPr>
        <p:spPr>
          <a:xfrm>
            <a:off x="3865273" y="1601426"/>
            <a:ext cx="1703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ICT - Semester 7</a:t>
            </a:r>
          </a:p>
        </p:txBody>
      </p:sp>
    </p:spTree>
    <p:extLst>
      <p:ext uri="{BB962C8B-B14F-4D97-AF65-F5344CB8AC3E}">
        <p14:creationId xmlns:p14="http://schemas.microsoft.com/office/powerpoint/2010/main" val="296045711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521A54A-4BA3-76D7-F46B-DEC2099E0A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533400"/>
            <a:ext cx="7772400" cy="1470025"/>
          </a:xfrm>
        </p:spPr>
        <p:txBody>
          <a:bodyPr/>
          <a:lstStyle/>
          <a:p>
            <a:r>
              <a:rPr lang="en-IN" dirty="0"/>
              <a:t>Topics to cover: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20A82740-040C-77B0-4076-3686F33B0C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1828800"/>
            <a:ext cx="6400800" cy="2035176"/>
          </a:xfrm>
        </p:spPr>
        <p:txBody>
          <a:bodyPr>
            <a:normAutofit fontScale="55000" lnSpcReduction="20000"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dirty="0"/>
              <a:t>One-Hot Encoding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dirty="0"/>
              <a:t>Bag of Words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dirty="0"/>
              <a:t>TF-IDF Vectorization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dirty="0"/>
              <a:t>N-gram Language Models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dirty="0"/>
              <a:t>Word2Vec Embeddings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dirty="0"/>
              <a:t>Glove Embeddings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dirty="0" err="1"/>
              <a:t>FastText</a:t>
            </a:r>
            <a:r>
              <a:rPr lang="en-IN" dirty="0"/>
              <a:t> Embedding</a:t>
            </a:r>
          </a:p>
          <a:p>
            <a:pPr algn="l"/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DA108A-F893-57E3-4A42-B9FC0D16F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34A2FE-D172-435F-AA4B-518E3133ACED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18-08-2026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42B62D-551C-15B8-CD3B-BC9719D6D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97FFA8-E90D-7DD4-885C-FDD628BED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29615-EA85-47CB-9745-0124BEE5BE2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823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CD124C7-D21B-DA40-718D-1BD9CBFCD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62349"/>
            <a:ext cx="8229600" cy="1143000"/>
          </a:xfrm>
        </p:spPr>
        <p:txBody>
          <a:bodyPr>
            <a:normAutofit/>
          </a:bodyPr>
          <a:lstStyle/>
          <a:p>
            <a:r>
              <a:rPr lang="en-IN" dirty="0"/>
              <a:t>Text Representation in NLP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698FB9-6AE0-9E87-C23D-3EBD0D52D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343964"/>
            <a:ext cx="8229600" cy="1006456"/>
          </a:xfrm>
        </p:spPr>
        <p:txBody>
          <a:bodyPr>
            <a:normAutofit fontScale="47500" lnSpcReduction="20000"/>
          </a:bodyPr>
          <a:lstStyle/>
          <a:p>
            <a:endParaRPr lang="en-IN" dirty="0"/>
          </a:p>
          <a:p>
            <a:pPr algn="just"/>
            <a:r>
              <a:rPr lang="en-US" sz="3800" dirty="0"/>
              <a:t>Text representation is a technique used in NLP to transform raw text into numerical features that capture information needed for computational processing and learning. </a:t>
            </a:r>
            <a:endParaRPr lang="en-IN" sz="38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DB283C-603F-BB53-DD89-FB89F7F71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34A2FE-D172-435F-AA4B-518E3133ACED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18-08-2026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A3423B-247D-5010-F373-4C5768CE6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5122F-62B8-AEDD-30DA-ED2D28A03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29615-EA85-47CB-9745-0124BEE5BE2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E9C94D-B224-153E-2A4C-CE44FECCD7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912"/>
          <a:stretch>
            <a:fillRect/>
          </a:stretch>
        </p:blipFill>
        <p:spPr>
          <a:xfrm>
            <a:off x="457200" y="507580"/>
            <a:ext cx="8001000" cy="4718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376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5EFCD-D5EF-0E66-F468-DBAFC33FF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EFD59C1-6FC1-F65F-28BE-C59714FC9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6525"/>
            <a:ext cx="8229600" cy="1143000"/>
          </a:xfrm>
        </p:spPr>
        <p:txBody>
          <a:bodyPr>
            <a:normAutofit/>
          </a:bodyPr>
          <a:lstStyle/>
          <a:p>
            <a:r>
              <a:rPr lang="en-IN" dirty="0"/>
              <a:t>Text Representation in NLP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E1305F-989D-8DF5-4453-C2ABCD073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>
            <a:normAutofit fontScale="85000" lnSpcReduction="10000"/>
          </a:bodyPr>
          <a:lstStyle/>
          <a:p>
            <a:r>
              <a:rPr lang="en-IN" dirty="0"/>
              <a:t>Discrete Text Representation:</a:t>
            </a:r>
          </a:p>
          <a:p>
            <a:pPr lvl="1"/>
            <a:r>
              <a:rPr lang="en-IN" dirty="0"/>
              <a:t>One Hot Encoding</a:t>
            </a:r>
          </a:p>
          <a:p>
            <a:pPr lvl="1"/>
            <a:r>
              <a:rPr lang="en-IN" dirty="0"/>
              <a:t>Bag of words</a:t>
            </a:r>
          </a:p>
          <a:p>
            <a:pPr lvl="1"/>
            <a:r>
              <a:rPr lang="en-US" dirty="0"/>
              <a:t>TF-IDF (Term Frequency – Inverse Document Frequency)</a:t>
            </a:r>
          </a:p>
          <a:p>
            <a:r>
              <a:rPr lang="en-IN" dirty="0"/>
              <a:t>Distributed word representation</a:t>
            </a:r>
          </a:p>
          <a:p>
            <a:pPr lvl="1"/>
            <a:r>
              <a:rPr lang="en-IN" dirty="0"/>
              <a:t>Word2Vec</a:t>
            </a:r>
          </a:p>
          <a:p>
            <a:pPr lvl="2"/>
            <a:r>
              <a:rPr lang="en-IN" dirty="0"/>
              <a:t>Skip Gram model</a:t>
            </a:r>
          </a:p>
          <a:p>
            <a:pPr lvl="2"/>
            <a:r>
              <a:rPr lang="en-US" dirty="0"/>
              <a:t>Continuous Bag Of Words model</a:t>
            </a:r>
          </a:p>
          <a:p>
            <a:pPr lvl="1"/>
            <a:r>
              <a:rPr lang="en-IN" dirty="0"/>
              <a:t> Word Embeddings in NLP </a:t>
            </a:r>
          </a:p>
          <a:p>
            <a:pPr lvl="2"/>
            <a:r>
              <a:rPr lang="en-IN" dirty="0" err="1"/>
              <a:t>GloVe</a:t>
            </a:r>
            <a:r>
              <a:rPr lang="en-IN" dirty="0"/>
              <a:t> Embedding</a:t>
            </a:r>
          </a:p>
          <a:p>
            <a:pPr lvl="2"/>
            <a:r>
              <a:rPr lang="en-IN" dirty="0" err="1"/>
              <a:t>FastText</a:t>
            </a:r>
            <a:r>
              <a:rPr lang="en-IN" dirty="0"/>
              <a:t> Embedding</a:t>
            </a:r>
          </a:p>
          <a:p>
            <a:pPr lvl="1"/>
            <a:endParaRPr lang="en-IN" dirty="0"/>
          </a:p>
          <a:p>
            <a:endParaRPr lang="en-IN" dirty="0"/>
          </a:p>
          <a:p>
            <a:pPr lvl="1"/>
            <a:endParaRPr lang="en-IN" dirty="0"/>
          </a:p>
          <a:p>
            <a:pPr marL="457200" lvl="1" indent="0">
              <a:buNone/>
            </a:pPr>
            <a:endParaRPr lang="en-IN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8DE57F-4647-5A9B-AF4A-F6A090E45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A2FE-D172-435F-AA4B-518E3133ACED}" type="datetime1">
              <a:rPr lang="en-IN" smtClean="0"/>
              <a:t>18-08-2026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AE4D40-F39D-51B7-7042-011F1AD50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10C781-1600-3272-B37E-600CECB58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29615-EA85-47CB-9745-0124BEE5BE2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345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A641E-F716-22FF-C492-6511DA6CC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DF169-DFCF-5097-B1A4-8F338876F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1D16A-9D4A-1E48-BEFC-9B9C75EC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18-08-2026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AF64E-BB6A-3420-1498-097943973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9DCF5-9084-5414-8482-9F8D0EEC6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244A47-92BA-2C82-010B-40A1B241D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48226"/>
            <a:ext cx="8686800" cy="5161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985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15009-BEE2-C7A5-CDFC-BA76C51CF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2AD54-F58C-EA51-C140-B2927BF8D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3AD37-B04A-87E2-6410-1E1F5D8BA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18-08-2026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29449-3AD3-802B-D744-58DC1B7A8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6AB52-5F9C-E2EE-0CAA-75D3C097C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3D780C-3BDF-041B-8E15-05286B33E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638"/>
            <a:ext cx="8991600" cy="38642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BD79D3F-121A-7E83-4085-C71FFA2CA46D}"/>
              </a:ext>
            </a:extLst>
          </p:cNvPr>
          <p:cNvSpPr txBox="1"/>
          <p:nvPr/>
        </p:nvSpPr>
        <p:spPr>
          <a:xfrm>
            <a:off x="381000" y="1905000"/>
            <a:ext cx="8610600" cy="458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Vector dimension = number of words in vocabulary (e.g., 500,000)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DA1983-24C0-FDB2-4421-75C2B40CF1E7}"/>
              </a:ext>
            </a:extLst>
          </p:cNvPr>
          <p:cNvSpPr txBox="1"/>
          <p:nvPr/>
        </p:nvSpPr>
        <p:spPr>
          <a:xfrm>
            <a:off x="381000" y="5277982"/>
            <a:ext cx="8534400" cy="84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vectors are orthogonal, and there is no natural notion of similarity between one-hot vectors!</a:t>
            </a:r>
          </a:p>
        </p:txBody>
      </p:sp>
    </p:spTree>
    <p:extLst>
      <p:ext uri="{BB962C8B-B14F-4D97-AF65-F5344CB8AC3E}">
        <p14:creationId xmlns:p14="http://schemas.microsoft.com/office/powerpoint/2010/main" val="3010332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FD8DC-0114-DF30-6AB5-2C87CC991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5A850-E077-7F6B-2A87-0D0A482DD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02F31-006D-B3B9-75F7-3A057E089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18-08-2026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C455F-406E-2C25-5629-D7B8DEA69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09242-DD37-A20E-CE7C-3FEA14612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CD70F6-DD65-75B9-9C43-1A566E116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7" y="533400"/>
            <a:ext cx="8976049" cy="319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185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3BC63-ECEE-FDF6-7202-0ECEBB9A1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E7D1C-9892-87CE-2A8F-73908EE37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E0773-F606-9742-02C4-AF573E46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18-08-2026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F0EC5-1776-3E27-2212-90BEDC76A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4D671-BD40-CE6F-E0A1-C993B171F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86B98B-15C5-3392-4DD9-4594A4453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82" y="329455"/>
            <a:ext cx="9144000" cy="6280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8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6080B-CB4D-FAA0-6FA9-BB5B7131E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844AA-539A-A281-CD14-62105954B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389ED-284C-27AD-9291-50D0BA442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18-08-2026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DFC2D-44C2-9A49-1DB3-3771F7441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6705C-05FF-3CFA-AB06-418A984C2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DD4190-2D15-05D1-9E7C-BCB13560D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0"/>
            <a:ext cx="9144000" cy="6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129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E8CC7-E42D-AD12-640A-9775D38F3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551"/>
            <a:ext cx="8229600" cy="594049"/>
          </a:xfrm>
        </p:spPr>
        <p:txBody>
          <a:bodyPr>
            <a:normAutofit fontScale="90000"/>
          </a:bodyPr>
          <a:lstStyle/>
          <a:p>
            <a:r>
              <a:rPr lang="en-IN" dirty="0"/>
              <a:t>How to overcome limitations?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ABF25-07AD-FFE3-4D65-2F53E0B91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685800"/>
            <a:ext cx="8229600" cy="452596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The meaning of a word is its use in the language.</a:t>
            </a:r>
          </a:p>
          <a:p>
            <a:pPr marL="857250" lvl="1" indent="-3683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200"/>
              <a:buChar char="●"/>
            </a:pPr>
            <a:r>
              <a:rPr lang="en-US" b="1" i="1" dirty="0">
                <a:solidFill>
                  <a:schemeClr val="dk1"/>
                </a:solidFill>
              </a:rPr>
              <a:t>How can we define the word meaning that encodes this notion of similarity?</a:t>
            </a:r>
          </a:p>
          <a:p>
            <a:pPr marL="857250" lvl="1" indent="-3683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200"/>
              <a:buChar char="●"/>
            </a:pPr>
            <a:r>
              <a:rPr lang="en-US" b="1" i="1" dirty="0">
                <a:solidFill>
                  <a:schemeClr val="dk1"/>
                </a:solidFill>
              </a:rPr>
              <a:t>Can we use shorter vectors?</a:t>
            </a:r>
          </a:p>
          <a:p>
            <a:pPr marL="857250" lvl="1" indent="-457200">
              <a:lnSpc>
                <a:spcPct val="90000"/>
              </a:lnSpc>
              <a:spcBef>
                <a:spcPts val="0"/>
              </a:spcBef>
              <a:buSzPts val="3200"/>
            </a:pPr>
            <a:r>
              <a:rPr lang="en-US" dirty="0"/>
              <a:t>One way to define "usage": </a:t>
            </a:r>
          </a:p>
          <a:p>
            <a:pPr marL="857250" lvl="1" indent="-457200">
              <a:lnSpc>
                <a:spcPct val="90000"/>
              </a:lnSpc>
              <a:spcBef>
                <a:spcPts val="1400"/>
              </a:spcBef>
              <a:buSzPts val="3200"/>
            </a:pPr>
            <a:r>
              <a:rPr lang="en-US" dirty="0"/>
              <a:t>	words are defined by their environments (the words around them)</a:t>
            </a:r>
          </a:p>
          <a:p>
            <a:pPr marL="1257300" lvl="2" indent="-3683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200"/>
              <a:buFont typeface="Arial" pitchFamily="34" charset="0"/>
              <a:buChar char="●"/>
            </a:pPr>
            <a:r>
              <a:rPr lang="en-US" b="1" dirty="0"/>
              <a:t>If A and B have almost identical environments we say that they are synonyms</a:t>
            </a:r>
            <a:r>
              <a:rPr lang="en-US" dirty="0"/>
              <a:t>.</a:t>
            </a:r>
          </a:p>
          <a:p>
            <a:pPr marL="857250" lvl="1" indent="-457200">
              <a:lnSpc>
                <a:spcPct val="85000"/>
              </a:lnSpc>
              <a:spcBef>
                <a:spcPts val="0"/>
              </a:spcBef>
              <a:buClr>
                <a:srgbClr val="3F3F3F"/>
              </a:buClr>
              <a:buSzPts val="3600"/>
            </a:pPr>
            <a:r>
              <a:rPr lang="en-US" sz="3200" dirty="0"/>
              <a:t>Defining meaning as a point in space based on distribution</a:t>
            </a:r>
          </a:p>
          <a:p>
            <a:pPr marL="857250" lvl="1" indent="-457200">
              <a:lnSpc>
                <a:spcPct val="90000"/>
              </a:lnSpc>
              <a:spcBef>
                <a:spcPts val="0"/>
              </a:spcBef>
              <a:buSzPct val="100000"/>
            </a:pPr>
            <a:r>
              <a:rPr lang="en-US" dirty="0"/>
              <a:t>Each word = a vector </a:t>
            </a:r>
          </a:p>
          <a:p>
            <a:pPr marL="857250" lvl="1" indent="-457200">
              <a:lnSpc>
                <a:spcPct val="90000"/>
              </a:lnSpc>
              <a:spcBef>
                <a:spcPts val="1400"/>
              </a:spcBef>
              <a:buSzPct val="100000"/>
            </a:pPr>
            <a:r>
              <a:rPr lang="en-US" dirty="0"/>
              <a:t>Similar words are "</a:t>
            </a:r>
            <a:r>
              <a:rPr lang="en-US" b="1" dirty="0"/>
              <a:t>nearby in semantic space</a:t>
            </a:r>
            <a:r>
              <a:rPr lang="en-US" dirty="0"/>
              <a:t>"</a:t>
            </a:r>
          </a:p>
          <a:p>
            <a:pPr marL="857250" lvl="1" indent="-457200">
              <a:lnSpc>
                <a:spcPct val="90000"/>
              </a:lnSpc>
              <a:spcBef>
                <a:spcPts val="1400"/>
              </a:spcBef>
              <a:buSzPct val="100000"/>
            </a:pPr>
            <a:r>
              <a:rPr lang="en-US" dirty="0"/>
              <a:t>We build this space automatically by seeing which words are </a:t>
            </a:r>
            <a:r>
              <a:rPr lang="en-US" b="1" dirty="0"/>
              <a:t>nearby in text</a:t>
            </a:r>
            <a:endParaRPr lang="en-US" dirty="0"/>
          </a:p>
          <a:p>
            <a:pPr marL="857250" lvl="1" indent="-457200">
              <a:lnSpc>
                <a:spcPct val="85000"/>
              </a:lnSpc>
              <a:spcBef>
                <a:spcPts val="0"/>
              </a:spcBef>
              <a:buClr>
                <a:srgbClr val="3F3F3F"/>
              </a:buClr>
              <a:buSzPts val="3600"/>
            </a:pPr>
            <a:endParaRPr lang="en-US" b="1" i="1" dirty="0">
              <a:solidFill>
                <a:schemeClr val="dk1"/>
              </a:solidFill>
            </a:endParaRP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8B0B95-8E63-B7A3-6777-72547D52C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18-08-2026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59E75-C276-7BD0-9068-E9FB0F95B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6F591-404E-FF51-514D-70B4EC11A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D2A51E-92E2-2FC4-D77A-AE447C47F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4194893"/>
            <a:ext cx="5867400" cy="263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772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99728A6127F4F89CAF9F3240C8CFF" ma:contentTypeVersion="3" ma:contentTypeDescription="Create a new document." ma:contentTypeScope="" ma:versionID="7e7402f0dab3fcc782adb50016726280">
  <xsd:schema xmlns:xsd="http://www.w3.org/2001/XMLSchema" xmlns:xs="http://www.w3.org/2001/XMLSchema" xmlns:p="http://schemas.microsoft.com/office/2006/metadata/properties" xmlns:ns2="79306fda-43a2-430c-89ae-9679da3ec0e1" targetNamespace="http://schemas.microsoft.com/office/2006/metadata/properties" ma:root="true" ma:fieldsID="d53381ab9528536bd2d8f002f0f3cf7e" ns2:_="">
    <xsd:import namespace="79306fda-43a2-430c-89ae-9679da3ec0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306fda-43a2-430c-89ae-9679da3ec0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94F6DE7-AC98-4C43-9BA5-9FE253EC6E9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FD44D7F-8299-4848-92F8-D8AFC33EBD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9306fda-43a2-430c-89ae-9679da3ec0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8D119C-BCD9-49EE-86B1-389F14C6DE5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13635</TotalTime>
  <Words>655</Words>
  <Application>Microsoft Office PowerPoint</Application>
  <PresentationFormat>On-screen Show (4:3)</PresentationFormat>
  <Paragraphs>96</Paragraphs>
  <Slides>12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Office Theme</vt:lpstr>
      <vt:lpstr>1_Office Theme</vt:lpstr>
      <vt:lpstr>PowerPoint Presentation</vt:lpstr>
      <vt:lpstr>Reference Books (Theory):</vt:lpstr>
      <vt:lpstr>UNIT 2  FEATURE REPRESENTATIONS AND EXTRACTIONS IN NLP</vt:lpstr>
      <vt:lpstr>Topics to cover:</vt:lpstr>
      <vt:lpstr>Text Representation in NLP</vt:lpstr>
      <vt:lpstr>Text Representation in NLP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to overcome limitations?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 Probability Theory &amp; Random Variables</dc:title>
  <dc:creator>Jigar</dc:creator>
  <cp:lastModifiedBy>Jigarkumar Shah</cp:lastModifiedBy>
  <cp:revision>1239</cp:revision>
  <dcterms:created xsi:type="dcterms:W3CDTF">2006-08-16T00:00:00Z</dcterms:created>
  <dcterms:modified xsi:type="dcterms:W3CDTF">2026-08-19T06:31:49Z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0x010100EEC99728A6127F4F89CAF9F3240C8CFF</vt:lpwstr>
  </property>
</Properties>
</file>